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9" r:id="rId2"/>
    <p:sldId id="265" r:id="rId3"/>
    <p:sldId id="266" r:id="rId4"/>
    <p:sldId id="308" r:id="rId5"/>
    <p:sldId id="282" r:id="rId6"/>
    <p:sldId id="283" r:id="rId7"/>
    <p:sldId id="285" r:id="rId8"/>
    <p:sldId id="286" r:id="rId9"/>
    <p:sldId id="298" r:id="rId10"/>
    <p:sldId id="299" r:id="rId11"/>
    <p:sldId id="268" r:id="rId12"/>
    <p:sldId id="307" r:id="rId13"/>
    <p:sldId id="270" r:id="rId14"/>
    <p:sldId id="312" r:id="rId15"/>
    <p:sldId id="291" r:id="rId16"/>
    <p:sldId id="272" r:id="rId17"/>
    <p:sldId id="301" r:id="rId18"/>
    <p:sldId id="306" r:id="rId19"/>
    <p:sldId id="304" r:id="rId20"/>
    <p:sldId id="305" r:id="rId21"/>
    <p:sldId id="280" r:id="rId22"/>
    <p:sldId id="281" r:id="rId23"/>
    <p:sldId id="287" r:id="rId24"/>
    <p:sldId id="288" r:id="rId25"/>
    <p:sldId id="310" r:id="rId26"/>
    <p:sldId id="31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74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936"/>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FB1F9F8-2F33-48A0-B6E1-CBD34DA86FA7}" type="datetime1">
              <a:rPr lang="en-IN" smtClean="0"/>
              <a:pPr/>
              <a:t>27-02-2014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38AF320-491D-4762-9CEF-3E1E34D8F95D}" type="datetime1">
              <a:rPr lang="en-IN" smtClean="0"/>
              <a:pPr/>
              <a:t>27-02-2014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82208E44-E056-4529-AB17-D5D4ED060997}" type="datetime1">
              <a:rPr lang="en-IN" smtClean="0"/>
              <a:pPr/>
              <a:t>27-02-2014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919CFB88-53D3-4CA9-98AE-144A38B513BC}" type="datetime1">
              <a:rPr lang="en-IN" smtClean="0"/>
              <a:pPr/>
              <a:t>27-02-2014</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6D0D0566-7D22-4575-A4D4-6F2EADBD37EA}" type="datetime1">
              <a:rPr lang="en-IN" smtClean="0"/>
              <a:pPr/>
              <a:t>27-02-2014</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8F8992E-3A7A-498B-BA4F-ED4E9E99F9C5}" type="datetime1">
              <a:rPr lang="en-IN" smtClean="0"/>
              <a:pPr/>
              <a:t>27-02-2014</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64542FCF-AAF1-43F7-BF4B-ACFF6C5E1F9E}" type="datetime1">
              <a:rPr lang="en-IN" smtClean="0"/>
              <a:pPr/>
              <a:t>27-02-2014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C22291EF-5C9A-4DA0-9BCB-C3A40F654C61}" type="datetime1">
              <a:rPr lang="en-IN" smtClean="0"/>
              <a:pPr/>
              <a:t>27-02-2014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F9511ED-0BE1-4F2B-B63D-1D3DD25330C5}" type="datetime1">
              <a:rPr lang="en-IN" smtClean="0"/>
              <a:pPr/>
              <a:t>27-02-2014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5D982D4-3B7D-49CC-89D2-CE37596BBCA6}" type="datetime1">
              <a:rPr lang="en-IN" smtClean="0"/>
              <a:pPr/>
              <a:t>27-02-2014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a:prstGeom prst="rect">
            <a:avLst/>
          </a:prstGeo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xmlns="" val="113624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3"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3"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6" cstate="print"/>
          <a:srcRect l="1923" b="5336"/>
          <a:stretch>
            <a:fillRect/>
          </a:stretch>
        </p:blipFill>
        <p:spPr>
          <a:xfrm>
            <a:off x="6629400" y="-1"/>
            <a:ext cx="2193193" cy="692697"/>
          </a:xfrm>
          <a:prstGeom prst="rect">
            <a:avLst/>
          </a:prstGeom>
        </p:spPr>
      </p:pic>
      <p:grpSp>
        <p:nvGrpSpPr>
          <p:cNvPr id="2"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www.dsdm.org/"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www.martinfowler.com/articles/agileOffshore.html"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Course Name :    Software Engineering</a:t>
            </a:r>
            <a:endParaRPr lang="en-US"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T V Rao</a:t>
            </a:r>
          </a:p>
          <a:p>
            <a:r>
              <a:rPr lang="en-US" dirty="0" smtClean="0"/>
              <a:t>Agile Process Models</a:t>
            </a:r>
            <a:endParaRPr lang="en-US" dirty="0"/>
          </a:p>
        </p:txBody>
      </p:sp>
    </p:spTree>
    <p:extLst>
      <p:ext uri="{BB962C8B-B14F-4D97-AF65-F5344CB8AC3E}">
        <p14:creationId xmlns:p14="http://schemas.microsoft.com/office/powerpoint/2010/main" xmlns=""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5" name="Rectangle 3"/>
          <p:cNvSpPr>
            <a:spLocks noGrp="1" noRot="1" noChangeArrowheads="1"/>
          </p:cNvSpPr>
          <p:nvPr>
            <p:ph type="body" idx="4294967295"/>
          </p:nvPr>
        </p:nvSpPr>
        <p:spPr>
          <a:xfrm>
            <a:off x="158824" y="1484313"/>
            <a:ext cx="8229600" cy="4525962"/>
          </a:xfrm>
        </p:spPr>
        <p:txBody>
          <a:bodyPr>
            <a:normAutofit fontScale="92500" lnSpcReduction="10000"/>
          </a:bodyPr>
          <a:lstStyle/>
          <a:p>
            <a:r>
              <a:rPr lang="en-US" dirty="0"/>
              <a:t>The most widely used agile process, originally proposed by Kent Beck</a:t>
            </a:r>
          </a:p>
          <a:p>
            <a:r>
              <a:rPr lang="en-US" dirty="0"/>
              <a:t>XP Planning</a:t>
            </a:r>
          </a:p>
          <a:p>
            <a:pPr lvl="1"/>
            <a:r>
              <a:rPr lang="en-US" dirty="0"/>
              <a:t>Begins with the creation of “</a:t>
            </a:r>
            <a:r>
              <a:rPr lang="en-US" i="1" dirty="0"/>
              <a:t>user stories</a:t>
            </a:r>
            <a:r>
              <a:rPr lang="en-US" dirty="0"/>
              <a:t>”</a:t>
            </a:r>
          </a:p>
          <a:p>
            <a:pPr lvl="1"/>
            <a:r>
              <a:rPr lang="en-US" dirty="0"/>
              <a:t>Agile team assesses each story and assigns a </a:t>
            </a:r>
            <a:r>
              <a:rPr lang="en-US" i="1" dirty="0"/>
              <a:t>cost</a:t>
            </a:r>
          </a:p>
          <a:p>
            <a:pPr lvl="1"/>
            <a:r>
              <a:rPr lang="en-US" dirty="0"/>
              <a:t>Stories are grouped to </a:t>
            </a:r>
            <a:r>
              <a:rPr lang="en-US" dirty="0" smtClean="0"/>
              <a:t>form </a:t>
            </a:r>
            <a:r>
              <a:rPr lang="en-US" dirty="0"/>
              <a:t>a </a:t>
            </a:r>
            <a:r>
              <a:rPr lang="en-US" i="1" dirty="0"/>
              <a:t>deliverable increment</a:t>
            </a:r>
          </a:p>
          <a:p>
            <a:pPr lvl="1"/>
            <a:r>
              <a:rPr lang="en-US" dirty="0"/>
              <a:t>A </a:t>
            </a:r>
            <a:r>
              <a:rPr lang="en-US" i="1" dirty="0"/>
              <a:t>commitment</a:t>
            </a:r>
            <a:r>
              <a:rPr lang="en-US" dirty="0"/>
              <a:t> is made on delivery date</a:t>
            </a:r>
          </a:p>
          <a:p>
            <a:pPr lvl="1"/>
            <a:r>
              <a:rPr lang="en-US" dirty="0"/>
              <a:t>After the first increment “</a:t>
            </a:r>
            <a:r>
              <a:rPr lang="en-US" i="1" dirty="0"/>
              <a:t>project velocity</a:t>
            </a:r>
            <a:r>
              <a:rPr lang="en-US" dirty="0"/>
              <a:t>” is used to help define subsequent delivery dates for other increments</a:t>
            </a:r>
          </a:p>
        </p:txBody>
      </p:sp>
      <p:sp>
        <p:nvSpPr>
          <p:cNvPr id="832514" name="Rectangle 2"/>
          <p:cNvSpPr>
            <a:spLocks noGrp="1" noRot="1" noChangeArrowheads="1"/>
          </p:cNvSpPr>
          <p:nvPr>
            <p:ph type="title" idx="4294967295"/>
          </p:nvPr>
        </p:nvSpPr>
        <p:spPr>
          <a:xfrm>
            <a:off x="35496" y="260648"/>
            <a:ext cx="5976663" cy="777875"/>
          </a:xfrm>
          <a:prstGeom prst="rect">
            <a:avLst/>
          </a:prstGeom>
        </p:spPr>
        <p:txBody>
          <a:bodyPr>
            <a:normAutofit fontScale="90000"/>
          </a:bodyPr>
          <a:lstStyle/>
          <a:p>
            <a:r>
              <a:rPr lang="en-US" b="1" dirty="0"/>
              <a:t>Extreme Programming (XP)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9" name="Rectangle 3"/>
          <p:cNvSpPr>
            <a:spLocks noGrp="1" noRot="1" noChangeArrowheads="1"/>
          </p:cNvSpPr>
          <p:nvPr>
            <p:ph type="body" idx="4294967295"/>
          </p:nvPr>
        </p:nvSpPr>
        <p:spPr>
          <a:xfrm>
            <a:off x="302840" y="1495326"/>
            <a:ext cx="8229600" cy="4525962"/>
          </a:xfrm>
        </p:spPr>
        <p:txBody>
          <a:bodyPr>
            <a:normAutofit/>
          </a:bodyPr>
          <a:lstStyle/>
          <a:p>
            <a:pPr marL="285750" indent="-285750">
              <a:lnSpc>
                <a:spcPct val="90000"/>
              </a:lnSpc>
            </a:pPr>
            <a:r>
              <a:rPr lang="en-US" sz="2000" dirty="0"/>
              <a:t>XP Design</a:t>
            </a:r>
          </a:p>
          <a:p>
            <a:pPr marL="685800" lvl="1" indent="-228600">
              <a:lnSpc>
                <a:spcPct val="90000"/>
              </a:lnSpc>
            </a:pPr>
            <a:r>
              <a:rPr lang="en-US" sz="1800" dirty="0"/>
              <a:t>Follows the </a:t>
            </a:r>
            <a:r>
              <a:rPr lang="en-US" sz="1800" i="1" dirty="0"/>
              <a:t>KIS principle</a:t>
            </a:r>
          </a:p>
          <a:p>
            <a:pPr marL="685800" lvl="1" indent="-228600">
              <a:lnSpc>
                <a:spcPct val="90000"/>
              </a:lnSpc>
            </a:pPr>
            <a:r>
              <a:rPr lang="en-US" sz="1800" dirty="0"/>
              <a:t>Encourage the use of </a:t>
            </a:r>
            <a:r>
              <a:rPr lang="en-US" sz="1800" i="1" dirty="0"/>
              <a:t>CRC </a:t>
            </a:r>
            <a:r>
              <a:rPr lang="en-US" sz="1800" i="1" dirty="0" smtClean="0"/>
              <a:t>cards</a:t>
            </a:r>
            <a:endParaRPr lang="en-US" sz="1800" i="1" dirty="0"/>
          </a:p>
          <a:p>
            <a:pPr marL="685800" lvl="1" indent="-228600">
              <a:lnSpc>
                <a:spcPct val="90000"/>
              </a:lnSpc>
            </a:pPr>
            <a:r>
              <a:rPr lang="en-US" sz="1800" dirty="0"/>
              <a:t>For difficult design problems, suggests the creation of “</a:t>
            </a:r>
            <a:r>
              <a:rPr lang="en-US" sz="1800" i="1" dirty="0"/>
              <a:t>spike solutions</a:t>
            </a:r>
            <a:r>
              <a:rPr lang="en-US" sz="1800" dirty="0"/>
              <a:t>”—a design prototype</a:t>
            </a:r>
          </a:p>
          <a:p>
            <a:pPr marL="685800" lvl="1" indent="-228600">
              <a:lnSpc>
                <a:spcPct val="90000"/>
              </a:lnSpc>
            </a:pPr>
            <a:r>
              <a:rPr lang="en-US" sz="1800" dirty="0"/>
              <a:t>Encourages “</a:t>
            </a:r>
            <a:r>
              <a:rPr lang="en-US" sz="1800" i="1" dirty="0"/>
              <a:t>refactoring</a:t>
            </a:r>
            <a:r>
              <a:rPr lang="en-US" sz="1800" dirty="0"/>
              <a:t>”—an iterative refinement of the internal program design</a:t>
            </a:r>
          </a:p>
          <a:p>
            <a:pPr marL="285750" indent="-285750">
              <a:lnSpc>
                <a:spcPct val="90000"/>
              </a:lnSpc>
              <a:spcBef>
                <a:spcPts val="600"/>
              </a:spcBef>
            </a:pPr>
            <a:r>
              <a:rPr lang="en-US" sz="2000" dirty="0"/>
              <a:t>XP Coding</a:t>
            </a:r>
          </a:p>
          <a:p>
            <a:pPr marL="685800" lvl="1" indent="-228600">
              <a:lnSpc>
                <a:spcPct val="90000"/>
              </a:lnSpc>
            </a:pPr>
            <a:r>
              <a:rPr lang="en-US" sz="1800" dirty="0"/>
              <a:t>Recommends the </a:t>
            </a:r>
            <a:r>
              <a:rPr lang="en-US" sz="1800" i="1" dirty="0"/>
              <a:t>construction of a unit test </a:t>
            </a:r>
            <a:r>
              <a:rPr lang="en-US" sz="1800" dirty="0"/>
              <a:t>for a store </a:t>
            </a:r>
            <a:r>
              <a:rPr lang="en-US" sz="1800" i="1" dirty="0"/>
              <a:t>before</a:t>
            </a:r>
            <a:r>
              <a:rPr lang="en-US" sz="1800" dirty="0"/>
              <a:t> coding commences</a:t>
            </a:r>
          </a:p>
          <a:p>
            <a:pPr marL="685800" lvl="1" indent="-228600">
              <a:lnSpc>
                <a:spcPct val="90000"/>
              </a:lnSpc>
            </a:pPr>
            <a:r>
              <a:rPr lang="en-US" sz="1800" dirty="0"/>
              <a:t>Encourages “</a:t>
            </a:r>
            <a:r>
              <a:rPr lang="en-US" sz="1800" i="1" dirty="0"/>
              <a:t>pair programming</a:t>
            </a:r>
            <a:r>
              <a:rPr lang="en-US" sz="1800" dirty="0"/>
              <a:t>”</a:t>
            </a:r>
          </a:p>
          <a:p>
            <a:pPr marL="285750" indent="-285750">
              <a:lnSpc>
                <a:spcPct val="90000"/>
              </a:lnSpc>
              <a:spcBef>
                <a:spcPts val="600"/>
              </a:spcBef>
            </a:pPr>
            <a:r>
              <a:rPr lang="en-US" sz="2000" dirty="0"/>
              <a:t>XP Testing</a:t>
            </a:r>
          </a:p>
          <a:p>
            <a:pPr marL="685800" lvl="1" indent="-228600">
              <a:lnSpc>
                <a:spcPct val="90000"/>
              </a:lnSpc>
            </a:pPr>
            <a:r>
              <a:rPr lang="en-US" sz="1800" dirty="0"/>
              <a:t>All </a:t>
            </a:r>
            <a:r>
              <a:rPr lang="en-US" sz="1800" i="1" dirty="0"/>
              <a:t>unit tests are executed daily</a:t>
            </a:r>
          </a:p>
          <a:p>
            <a:pPr marL="685800" lvl="1" indent="-228600">
              <a:lnSpc>
                <a:spcPct val="90000"/>
              </a:lnSpc>
            </a:pPr>
            <a:r>
              <a:rPr lang="en-US" sz="1800" dirty="0">
                <a:solidFill>
                  <a:schemeClr val="folHlink"/>
                </a:solidFill>
              </a:rPr>
              <a:t>“</a:t>
            </a:r>
            <a:r>
              <a:rPr lang="en-US" sz="1800" i="1" dirty="0"/>
              <a:t>Acceptance tests</a:t>
            </a:r>
            <a:r>
              <a:rPr lang="en-US" sz="1800" dirty="0">
                <a:solidFill>
                  <a:schemeClr val="folHlink"/>
                </a:solidFill>
              </a:rPr>
              <a:t>”</a:t>
            </a:r>
            <a:r>
              <a:rPr lang="en-US" sz="1800" dirty="0"/>
              <a:t> are defined by the customer and </a:t>
            </a:r>
            <a:r>
              <a:rPr lang="en-US" sz="1800" dirty="0" smtClean="0"/>
              <a:t>executed </a:t>
            </a:r>
            <a:r>
              <a:rPr lang="en-US" sz="1800" dirty="0"/>
              <a:t>to assess customer visible functionality</a:t>
            </a:r>
          </a:p>
          <a:p>
            <a:pPr marL="685800" lvl="1" indent="-228600">
              <a:lnSpc>
                <a:spcPct val="90000"/>
              </a:lnSpc>
            </a:pPr>
            <a:endParaRPr lang="en-US" sz="1800" dirty="0"/>
          </a:p>
        </p:txBody>
      </p:sp>
      <p:sp>
        <p:nvSpPr>
          <p:cNvPr id="6" name="Rectangle 2"/>
          <p:cNvSpPr txBox="1">
            <a:spLocks noRot="1" noChangeArrowheads="1"/>
          </p:cNvSpPr>
          <p:nvPr/>
        </p:nvSpPr>
        <p:spPr>
          <a:xfrm>
            <a:off x="35496" y="260648"/>
            <a:ext cx="5976663" cy="777875"/>
          </a:xfrm>
          <a:prstGeom prst="rect">
            <a:avLst/>
          </a:prstGeom>
        </p:spPr>
        <p:txBody>
          <a:bodyP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Extreme Programming (XP)</a:t>
            </a: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162050" y="1555204"/>
            <a:ext cx="6819900" cy="4610100"/>
          </a:xfrm>
          <a:prstGeom prst="rect">
            <a:avLst/>
          </a:prstGeom>
          <a:noFill/>
          <a:ln w="9525">
            <a:noFill/>
            <a:miter lim="800000"/>
            <a:headEnd/>
            <a:tailEnd/>
          </a:ln>
        </p:spPr>
      </p:pic>
      <p:sp>
        <p:nvSpPr>
          <p:cNvPr id="5" name="Rectangle 2"/>
          <p:cNvSpPr txBox="1">
            <a:spLocks noRot="1" noChangeArrowheads="1"/>
          </p:cNvSpPr>
          <p:nvPr/>
        </p:nvSpPr>
        <p:spPr>
          <a:xfrm>
            <a:off x="35496" y="260648"/>
            <a:ext cx="5976663" cy="777875"/>
          </a:xfrm>
          <a:prstGeom prst="rect">
            <a:avLst/>
          </a:prstGeom>
        </p:spPr>
        <p:txBody>
          <a:bodyP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Extreme Programming (XP)</a:t>
            </a: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8824" y="1486049"/>
            <a:ext cx="8229600" cy="4967287"/>
          </a:xfrm>
        </p:spPr>
        <p:txBody>
          <a:bodyPr>
            <a:normAutofit/>
          </a:bodyPr>
          <a:lstStyle/>
          <a:p>
            <a:pPr>
              <a:spcBef>
                <a:spcPts val="1800"/>
              </a:spcBef>
            </a:pPr>
            <a:r>
              <a:rPr lang="en-US" sz="2800" dirty="0" smtClean="0"/>
              <a:t>Programming team look for possible software improvements and make these improvements even where there is no immediate need for them.</a:t>
            </a:r>
          </a:p>
          <a:p>
            <a:pPr>
              <a:spcBef>
                <a:spcPts val="1800"/>
              </a:spcBef>
            </a:pPr>
            <a:r>
              <a:rPr lang="en-US" sz="2800" dirty="0" smtClean="0"/>
              <a:t>This improves the understandability of the software and so reduces the need for documentation.</a:t>
            </a:r>
          </a:p>
          <a:p>
            <a:pPr>
              <a:spcBef>
                <a:spcPts val="1800"/>
              </a:spcBef>
            </a:pPr>
            <a:r>
              <a:rPr lang="en-US" sz="2800" dirty="0" smtClean="0"/>
              <a:t>Changes are easier to make because the code is well-structured and clear.</a:t>
            </a:r>
          </a:p>
          <a:p>
            <a:pPr>
              <a:spcBef>
                <a:spcPts val="1800"/>
              </a:spcBef>
            </a:pPr>
            <a:r>
              <a:rPr lang="en-US" sz="2800" dirty="0" smtClean="0"/>
              <a:t>However, some changes requires architecture refactoring and this is much more expensive.</a:t>
            </a:r>
            <a:endParaRPr lang="en-US" sz="2800" dirty="0"/>
          </a:p>
        </p:txBody>
      </p:sp>
      <p:sp>
        <p:nvSpPr>
          <p:cNvPr id="2" name="Title 1"/>
          <p:cNvSpPr>
            <a:spLocks noGrp="1"/>
          </p:cNvSpPr>
          <p:nvPr>
            <p:ph type="title" idx="4294967295"/>
          </p:nvPr>
        </p:nvSpPr>
        <p:spPr>
          <a:xfrm>
            <a:off x="0" y="275308"/>
            <a:ext cx="2699792" cy="633412"/>
          </a:xfrm>
          <a:prstGeom prst="rect">
            <a:avLst/>
          </a:prstGeom>
        </p:spPr>
        <p:txBody>
          <a:bodyPr>
            <a:normAutofit fontScale="90000"/>
          </a:bodyPr>
          <a:lstStyle/>
          <a:p>
            <a:r>
              <a:rPr lang="en-US" b="1" dirty="0" smtClean="0"/>
              <a:t>Refactoring</a:t>
            </a:r>
            <a:endParaRPr lang="en-US"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600200"/>
            <a:ext cx="8229600" cy="4525963"/>
          </a:xfrm>
        </p:spPr>
        <p:txBody>
          <a:bodyPr/>
          <a:lstStyle/>
          <a:p>
            <a:pPr>
              <a:spcBef>
                <a:spcPts val="1800"/>
              </a:spcBef>
            </a:pPr>
            <a:r>
              <a:rPr lang="en-US" dirty="0" smtClean="0"/>
              <a:t>Re-organization of a class hierarchy to remove duplicate code.</a:t>
            </a:r>
          </a:p>
          <a:p>
            <a:pPr>
              <a:spcBef>
                <a:spcPts val="1800"/>
              </a:spcBef>
            </a:pPr>
            <a:r>
              <a:rPr lang="en-US" dirty="0" smtClean="0"/>
              <a:t>Tidying up and renaming attributes and methods to make them easier to understand.</a:t>
            </a:r>
          </a:p>
          <a:p>
            <a:pPr>
              <a:spcBef>
                <a:spcPts val="1800"/>
              </a:spcBef>
            </a:pPr>
            <a:r>
              <a:rPr lang="en-US" dirty="0" smtClean="0"/>
              <a:t>The replacement of inline code with calls to methods that have been included in a program library.</a:t>
            </a:r>
            <a:endParaRPr lang="en-US" dirty="0"/>
          </a:p>
        </p:txBody>
      </p:sp>
      <p:sp>
        <p:nvSpPr>
          <p:cNvPr id="2" name="Title 1"/>
          <p:cNvSpPr>
            <a:spLocks noGrp="1"/>
          </p:cNvSpPr>
          <p:nvPr>
            <p:ph type="title" idx="4294967295"/>
          </p:nvPr>
        </p:nvSpPr>
        <p:spPr>
          <a:xfrm>
            <a:off x="72008" y="260648"/>
            <a:ext cx="5220072" cy="648816"/>
          </a:xfrm>
          <a:prstGeom prst="rect">
            <a:avLst/>
          </a:prstGeom>
        </p:spPr>
        <p:txBody>
          <a:bodyPr>
            <a:normAutofit fontScale="90000"/>
          </a:bodyPr>
          <a:lstStyle/>
          <a:p>
            <a:r>
              <a:rPr lang="en-US" b="1" dirty="0" smtClean="0"/>
              <a:t>Examples of refactoring</a:t>
            </a:r>
            <a:endParaRPr lang="en-US"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30832" y="1567457"/>
            <a:ext cx="8229600" cy="4741863"/>
          </a:xfrm>
        </p:spPr>
        <p:txBody>
          <a:bodyPr>
            <a:normAutofit fontScale="77500" lnSpcReduction="20000"/>
          </a:bodyPr>
          <a:lstStyle/>
          <a:p>
            <a:pPr>
              <a:spcBef>
                <a:spcPts val="1800"/>
              </a:spcBef>
            </a:pPr>
            <a:r>
              <a:rPr lang="en-GB" dirty="0" smtClean="0"/>
              <a:t>In pair programming, programmers sit together at the same workstation to develop the software.</a:t>
            </a:r>
          </a:p>
          <a:p>
            <a:pPr>
              <a:spcBef>
                <a:spcPts val="1800"/>
              </a:spcBef>
            </a:pPr>
            <a:r>
              <a:rPr lang="en-GB" dirty="0" smtClean="0"/>
              <a:t>Pairs are created dynamically so that all team members work with each other during the development process.</a:t>
            </a:r>
          </a:p>
          <a:p>
            <a:pPr>
              <a:spcBef>
                <a:spcPts val="1800"/>
              </a:spcBef>
            </a:pPr>
            <a:r>
              <a:rPr lang="en-GB" dirty="0" smtClean="0"/>
              <a:t>The sharing of knowledge that happens during pair programming is very important as it reduces the overall risks to a project when team members leave.</a:t>
            </a:r>
          </a:p>
          <a:p>
            <a:pPr>
              <a:spcBef>
                <a:spcPts val="1800"/>
              </a:spcBef>
            </a:pPr>
            <a:r>
              <a:rPr lang="en-US" dirty="0" smtClean="0"/>
              <a:t>It serves as an informal review process as each line of code is looked at by more than 1 person.</a:t>
            </a:r>
            <a:endParaRPr lang="en-GB" dirty="0" smtClean="0"/>
          </a:p>
          <a:p>
            <a:pPr>
              <a:spcBef>
                <a:spcPts val="1800"/>
              </a:spcBef>
            </a:pPr>
            <a:r>
              <a:rPr lang="en-GB" dirty="0" smtClean="0"/>
              <a:t>Pair programming is not necessarily inefficient and there is evidence that a pair working together is more efficient than 2 programmers working separately. </a:t>
            </a:r>
            <a:endParaRPr lang="en-US" dirty="0" smtClean="0"/>
          </a:p>
          <a:p>
            <a:pPr>
              <a:spcBef>
                <a:spcPts val="1800"/>
              </a:spcBef>
            </a:pPr>
            <a:endParaRPr lang="en-GB" dirty="0" smtClean="0"/>
          </a:p>
        </p:txBody>
      </p:sp>
      <p:sp>
        <p:nvSpPr>
          <p:cNvPr id="2" name="Title 1"/>
          <p:cNvSpPr>
            <a:spLocks noGrp="1"/>
          </p:cNvSpPr>
          <p:nvPr>
            <p:ph type="title" idx="4294967295"/>
          </p:nvPr>
        </p:nvSpPr>
        <p:spPr>
          <a:xfrm>
            <a:off x="0" y="260003"/>
            <a:ext cx="4067944" cy="720725"/>
          </a:xfrm>
          <a:prstGeom prst="rect">
            <a:avLst/>
          </a:prstGeom>
        </p:spPr>
        <p:txBody>
          <a:bodyPr>
            <a:normAutofit fontScale="90000"/>
          </a:bodyPr>
          <a:lstStyle/>
          <a:p>
            <a:r>
              <a:rPr lang="en-US" b="1" dirty="0" smtClean="0"/>
              <a:t>Pair programming</a:t>
            </a:r>
            <a:endParaRPr lang="en-US"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30832" y="1495425"/>
            <a:ext cx="8229600" cy="4525963"/>
          </a:xfrm>
        </p:spPr>
        <p:txBody>
          <a:bodyPr>
            <a:normAutofit fontScale="85000" lnSpcReduction="20000"/>
          </a:bodyPr>
          <a:lstStyle/>
          <a:p>
            <a:r>
              <a:rPr lang="en-GB" dirty="0" smtClean="0"/>
              <a:t>It supports the idea of collective ownership and responsibility for the system.</a:t>
            </a:r>
          </a:p>
          <a:p>
            <a:pPr lvl="1"/>
            <a:r>
              <a:rPr lang="en-GB" dirty="0" smtClean="0"/>
              <a:t>Individuals are not held responsible for problems with the code. Instead, the team has collective responsibility for resolving these problems.</a:t>
            </a:r>
          </a:p>
          <a:p>
            <a:pPr>
              <a:spcBef>
                <a:spcPts val="1200"/>
              </a:spcBef>
            </a:pPr>
            <a:r>
              <a:rPr lang="en-GB" dirty="0" smtClean="0"/>
              <a:t>It acts as an informal review process because each line of code is looked at by at least two people.</a:t>
            </a:r>
          </a:p>
          <a:p>
            <a:pPr>
              <a:spcBef>
                <a:spcPts val="1200"/>
              </a:spcBef>
            </a:pPr>
            <a:r>
              <a:rPr lang="en-GB" dirty="0" smtClean="0"/>
              <a:t>It helps support refactoring, which is a process of software improvement.</a:t>
            </a:r>
          </a:p>
          <a:p>
            <a:pPr lvl="1"/>
            <a:r>
              <a:rPr lang="en-GB" dirty="0" smtClean="0"/>
              <a:t>Where pair programming and collective ownership are used, others benefit immediately from the refactoring so they are likely to support the process. </a:t>
            </a:r>
          </a:p>
          <a:p>
            <a:pPr lvl="1"/>
            <a:endParaRPr lang="en-US" dirty="0"/>
          </a:p>
        </p:txBody>
      </p:sp>
      <p:sp>
        <p:nvSpPr>
          <p:cNvPr id="2" name="Title 1"/>
          <p:cNvSpPr>
            <a:spLocks noGrp="1"/>
          </p:cNvSpPr>
          <p:nvPr>
            <p:ph type="title" idx="4294967295"/>
          </p:nvPr>
        </p:nvSpPr>
        <p:spPr>
          <a:xfrm>
            <a:off x="72008" y="188640"/>
            <a:ext cx="4067944" cy="936104"/>
          </a:xfrm>
          <a:prstGeom prst="rect">
            <a:avLst/>
          </a:prstGeom>
        </p:spPr>
        <p:txBody>
          <a:bodyPr>
            <a:normAutofit fontScale="90000"/>
          </a:bodyPr>
          <a:lstStyle/>
          <a:p>
            <a:pPr>
              <a:lnSpc>
                <a:spcPts val="3200"/>
              </a:lnSpc>
            </a:pPr>
            <a:r>
              <a:rPr lang="en-US" b="1" dirty="0" smtClean="0"/>
              <a:t>Advantages of Pair programming</a:t>
            </a:r>
            <a:br>
              <a:rPr lang="en-US" b="1" dirty="0" smtClean="0"/>
            </a:br>
            <a:endParaRPr lang="en-US"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23528" y="1412777"/>
            <a:ext cx="8229600" cy="5112567"/>
          </a:xfrm>
        </p:spPr>
        <p:txBody>
          <a:bodyPr>
            <a:normAutofit/>
          </a:bodyPr>
          <a:lstStyle/>
          <a:p>
            <a:r>
              <a:rPr lang="en-US" sz="2400" dirty="0" smtClean="0"/>
              <a:t>Incorporates six new practices to ensure that XP works for significant projects in large organization.</a:t>
            </a:r>
          </a:p>
          <a:p>
            <a:r>
              <a:rPr lang="en-US" sz="2400" dirty="0" smtClean="0"/>
              <a:t>Incorporates six new practices</a:t>
            </a:r>
          </a:p>
          <a:p>
            <a:pPr lvl="1"/>
            <a:r>
              <a:rPr lang="en-US" sz="2000" dirty="0" smtClean="0"/>
              <a:t>Readiness Assessment</a:t>
            </a:r>
          </a:p>
          <a:p>
            <a:pPr lvl="2"/>
            <a:r>
              <a:rPr lang="en-US" sz="1800" dirty="0" smtClean="0"/>
              <a:t>Ascertain environment, team, culture</a:t>
            </a:r>
          </a:p>
          <a:p>
            <a:pPr lvl="1"/>
            <a:r>
              <a:rPr lang="en-US" sz="2000" dirty="0" smtClean="0"/>
              <a:t>Project Community</a:t>
            </a:r>
          </a:p>
          <a:p>
            <a:pPr lvl="2"/>
            <a:r>
              <a:rPr lang="en-US" sz="1800" dirty="0" smtClean="0"/>
              <a:t>Right people – team becomes community</a:t>
            </a:r>
          </a:p>
          <a:p>
            <a:pPr lvl="1"/>
            <a:r>
              <a:rPr lang="en-US" sz="2000" dirty="0" smtClean="0"/>
              <a:t>Project Chartering</a:t>
            </a:r>
          </a:p>
          <a:p>
            <a:pPr lvl="2"/>
            <a:r>
              <a:rPr lang="en-US" sz="1800" dirty="0" smtClean="0"/>
              <a:t>Appropriate business justification within org</a:t>
            </a:r>
          </a:p>
          <a:p>
            <a:pPr lvl="1"/>
            <a:r>
              <a:rPr lang="en-US" sz="2000" dirty="0" smtClean="0"/>
              <a:t>Test-driven management</a:t>
            </a:r>
          </a:p>
          <a:p>
            <a:pPr lvl="2"/>
            <a:r>
              <a:rPr lang="en-US" sz="1800" dirty="0" smtClean="0"/>
              <a:t>State of the project as per measurable destinations</a:t>
            </a:r>
          </a:p>
          <a:p>
            <a:pPr lvl="1"/>
            <a:r>
              <a:rPr lang="en-US" sz="2000" dirty="0" smtClean="0"/>
              <a:t>Retrospectives</a:t>
            </a:r>
          </a:p>
          <a:p>
            <a:pPr lvl="2"/>
            <a:r>
              <a:rPr lang="en-US" sz="1800" dirty="0" smtClean="0"/>
              <a:t>Specialized technical review after delivery of increment</a:t>
            </a:r>
          </a:p>
          <a:p>
            <a:pPr lvl="1"/>
            <a:r>
              <a:rPr lang="en-US" sz="2000" dirty="0" smtClean="0"/>
              <a:t>Continuous learning </a:t>
            </a:r>
            <a:endParaRPr lang="en-IN" sz="2000" dirty="0"/>
          </a:p>
        </p:txBody>
      </p:sp>
      <p:sp>
        <p:nvSpPr>
          <p:cNvPr id="2" name="Title 1"/>
          <p:cNvSpPr>
            <a:spLocks noGrp="1"/>
          </p:cNvSpPr>
          <p:nvPr>
            <p:ph type="title" idx="4294967295"/>
          </p:nvPr>
        </p:nvSpPr>
        <p:spPr>
          <a:xfrm>
            <a:off x="0" y="142875"/>
            <a:ext cx="3203848" cy="582613"/>
          </a:xfrm>
          <a:prstGeom prst="rect">
            <a:avLst/>
          </a:prstGeom>
        </p:spPr>
        <p:txBody>
          <a:bodyPr>
            <a:normAutofit fontScale="90000"/>
          </a:bodyPr>
          <a:lstStyle/>
          <a:p>
            <a:r>
              <a:rPr lang="en-US" b="1" dirty="0" smtClean="0"/>
              <a:t>Industrial XP</a:t>
            </a:r>
            <a:endParaRPr lang="en-IN" sz="2200"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74848" y="1556692"/>
            <a:ext cx="8229600" cy="4536604"/>
          </a:xfrm>
        </p:spPr>
        <p:txBody>
          <a:bodyPr>
            <a:normAutofit fontScale="92500" lnSpcReduction="20000"/>
          </a:bodyPr>
          <a:lstStyle/>
          <a:p>
            <a:pPr>
              <a:buNone/>
            </a:pPr>
            <a:r>
              <a:rPr lang="en-US" dirty="0" smtClean="0"/>
              <a:t>Concerns expressed by critics </a:t>
            </a:r>
            <a:r>
              <a:rPr lang="en-US" dirty="0" err="1" smtClean="0"/>
              <a:t>w.r.t</a:t>
            </a:r>
            <a:r>
              <a:rPr lang="en-US" dirty="0" smtClean="0"/>
              <a:t>. XP include</a:t>
            </a:r>
          </a:p>
          <a:p>
            <a:pPr marL="576000">
              <a:buNone/>
            </a:pPr>
            <a:r>
              <a:rPr lang="en-US" dirty="0" smtClean="0"/>
              <a:t>Requirements volatility</a:t>
            </a:r>
          </a:p>
          <a:p>
            <a:pPr marL="576000" lvl="1">
              <a:buNone/>
            </a:pPr>
            <a:r>
              <a:rPr lang="en-US" dirty="0" smtClean="0"/>
              <a:t>  -rework may be unmanageable</a:t>
            </a:r>
          </a:p>
          <a:p>
            <a:pPr marL="576000">
              <a:buNone/>
            </a:pPr>
            <a:r>
              <a:rPr lang="en-US" dirty="0" smtClean="0"/>
              <a:t>Conflicting customer needs</a:t>
            </a:r>
          </a:p>
          <a:p>
            <a:pPr marL="576000" lvl="1">
              <a:buNone/>
            </a:pPr>
            <a:r>
              <a:rPr lang="en-US" dirty="0" smtClean="0"/>
              <a:t>  -team cannot reconcile conflicting demands</a:t>
            </a:r>
          </a:p>
          <a:p>
            <a:pPr marL="576000">
              <a:buNone/>
            </a:pPr>
            <a:r>
              <a:rPr lang="en-US" dirty="0" smtClean="0"/>
              <a:t>Requirements are expressed informally</a:t>
            </a:r>
          </a:p>
          <a:p>
            <a:pPr marL="576000" lvl="1">
              <a:buNone/>
            </a:pPr>
            <a:r>
              <a:rPr lang="en-US" dirty="0" smtClean="0"/>
              <a:t>  -omissions, inconsistencies, errors</a:t>
            </a:r>
          </a:p>
          <a:p>
            <a:pPr marL="576000">
              <a:buNone/>
            </a:pPr>
            <a:r>
              <a:rPr lang="en-US" dirty="0" smtClean="0"/>
              <a:t>Lack of formal design</a:t>
            </a:r>
          </a:p>
          <a:p>
            <a:pPr marL="576000" lvl="1" indent="0">
              <a:buNone/>
            </a:pPr>
            <a:r>
              <a:rPr lang="en-US" dirty="0" smtClean="0"/>
              <a:t>-Without architectural design, structure of the software lacks quality and maintainability</a:t>
            </a:r>
          </a:p>
          <a:p>
            <a:pPr>
              <a:buNone/>
            </a:pPr>
            <a:endParaRPr lang="en-IN" dirty="0"/>
          </a:p>
        </p:txBody>
      </p:sp>
      <p:sp>
        <p:nvSpPr>
          <p:cNvPr id="2" name="Title 1"/>
          <p:cNvSpPr>
            <a:spLocks noGrp="1"/>
          </p:cNvSpPr>
          <p:nvPr>
            <p:ph type="title" idx="4294967295"/>
          </p:nvPr>
        </p:nvSpPr>
        <p:spPr>
          <a:xfrm>
            <a:off x="216024" y="214883"/>
            <a:ext cx="3347864" cy="621829"/>
          </a:xfrm>
          <a:prstGeom prst="rect">
            <a:avLst/>
          </a:prstGeom>
        </p:spPr>
        <p:txBody>
          <a:bodyPr>
            <a:normAutofit fontScale="90000"/>
          </a:bodyPr>
          <a:lstStyle/>
          <a:p>
            <a:r>
              <a:rPr lang="en-US" b="1" dirty="0" smtClean="0"/>
              <a:t>Criticism of XP</a:t>
            </a:r>
            <a:endParaRPr lang="en-IN"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7" name="Rectangle 3"/>
          <p:cNvSpPr>
            <a:spLocks noGrp="1" noRot="1" noChangeArrowheads="1"/>
          </p:cNvSpPr>
          <p:nvPr>
            <p:ph type="body" idx="4294967295"/>
          </p:nvPr>
        </p:nvSpPr>
        <p:spPr>
          <a:xfrm>
            <a:off x="467544" y="1484784"/>
            <a:ext cx="7848600" cy="4521298"/>
          </a:xfrm>
        </p:spPr>
        <p:txBody>
          <a:bodyPr>
            <a:normAutofit lnSpcReduction="10000"/>
          </a:bodyPr>
          <a:lstStyle/>
          <a:p>
            <a:r>
              <a:rPr lang="en-US" dirty="0"/>
              <a:t>Originally proposed by Jim </a:t>
            </a:r>
            <a:r>
              <a:rPr lang="en-US" dirty="0" err="1"/>
              <a:t>Highsmith</a:t>
            </a:r>
            <a:endParaRPr lang="en-US" dirty="0"/>
          </a:p>
          <a:p>
            <a:r>
              <a:rPr lang="en-US" dirty="0"/>
              <a:t>ASD — distinguishing  features</a:t>
            </a:r>
          </a:p>
          <a:p>
            <a:pPr lvl="1"/>
            <a:r>
              <a:rPr lang="en-US" i="1" dirty="0"/>
              <a:t>Mission-driven</a:t>
            </a:r>
            <a:r>
              <a:rPr lang="en-US" dirty="0"/>
              <a:t> planning</a:t>
            </a:r>
          </a:p>
          <a:p>
            <a:pPr lvl="1"/>
            <a:r>
              <a:rPr lang="en-US" i="1" dirty="0"/>
              <a:t>Component-based focus</a:t>
            </a:r>
          </a:p>
          <a:p>
            <a:pPr lvl="1"/>
            <a:r>
              <a:rPr lang="en-US" dirty="0"/>
              <a:t>Uses “</a:t>
            </a:r>
            <a:r>
              <a:rPr lang="en-US" i="1" dirty="0"/>
              <a:t>time-boxing</a:t>
            </a:r>
            <a:r>
              <a:rPr lang="en-US" dirty="0" smtClean="0"/>
              <a:t>”</a:t>
            </a:r>
            <a:endParaRPr lang="en-US" dirty="0"/>
          </a:p>
          <a:p>
            <a:pPr lvl="1"/>
            <a:r>
              <a:rPr lang="en-US" dirty="0"/>
              <a:t>Explicit consideration of </a:t>
            </a:r>
            <a:r>
              <a:rPr lang="en-US" i="1" dirty="0"/>
              <a:t>risks</a:t>
            </a:r>
          </a:p>
          <a:p>
            <a:pPr lvl="1"/>
            <a:r>
              <a:rPr lang="en-US" dirty="0"/>
              <a:t>Emphasizes </a:t>
            </a:r>
            <a:r>
              <a:rPr lang="en-US" i="1" dirty="0"/>
              <a:t>collaboration</a:t>
            </a:r>
            <a:r>
              <a:rPr lang="en-US" dirty="0"/>
              <a:t> for requirements gathering</a:t>
            </a:r>
          </a:p>
          <a:p>
            <a:pPr lvl="1"/>
            <a:r>
              <a:rPr lang="en-US" dirty="0"/>
              <a:t>Emphasizes “</a:t>
            </a:r>
            <a:r>
              <a:rPr lang="en-US" i="1" dirty="0"/>
              <a:t>learning</a:t>
            </a:r>
            <a:r>
              <a:rPr lang="en-US" dirty="0"/>
              <a:t>” throughout the process</a:t>
            </a:r>
          </a:p>
          <a:p>
            <a:endParaRPr lang="en-US" dirty="0"/>
          </a:p>
        </p:txBody>
      </p:sp>
      <p:sp>
        <p:nvSpPr>
          <p:cNvPr id="835586" name="Rectangle 2"/>
          <p:cNvSpPr>
            <a:spLocks noGrp="1" noRot="1" noChangeArrowheads="1"/>
          </p:cNvSpPr>
          <p:nvPr>
            <p:ph type="title" idx="4294967295"/>
          </p:nvPr>
        </p:nvSpPr>
        <p:spPr>
          <a:xfrm>
            <a:off x="107504" y="188641"/>
            <a:ext cx="5112568" cy="792087"/>
          </a:xfrm>
          <a:prstGeom prst="rect">
            <a:avLst/>
          </a:prstGeom>
        </p:spPr>
        <p:txBody>
          <a:bodyPr>
            <a:normAutofit fontScale="90000"/>
          </a:bodyPr>
          <a:lstStyle/>
          <a:p>
            <a:pPr>
              <a:lnSpc>
                <a:spcPts val="3200"/>
              </a:lnSpc>
            </a:pPr>
            <a:r>
              <a:rPr lang="en-US" b="1" dirty="0"/>
              <a:t>Adaptive </a:t>
            </a:r>
            <a:r>
              <a:rPr lang="en-US" b="1" dirty="0" smtClean="0"/>
              <a:t/>
            </a:r>
            <a:br>
              <a:rPr lang="en-US" b="1" dirty="0" smtClean="0"/>
            </a:br>
            <a:r>
              <a:rPr lang="en-US" b="1" dirty="0" smtClean="0"/>
              <a:t>Software </a:t>
            </a:r>
            <a:r>
              <a:rPr lang="en-US" b="1" dirty="0"/>
              <a:t>Development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060276" y="1655787"/>
            <a:ext cx="6896100" cy="4581525"/>
          </a:xfrm>
          <a:prstGeom prst="rect">
            <a:avLst/>
          </a:prstGeom>
          <a:noFill/>
          <a:ln w="9525">
            <a:noFill/>
            <a:miter lim="800000"/>
            <a:headEnd/>
            <a:tailEnd/>
          </a:ln>
        </p:spPr>
      </p:pic>
      <p:sp>
        <p:nvSpPr>
          <p:cNvPr id="5" name="Rectangle 2"/>
          <p:cNvSpPr txBox="1">
            <a:spLocks noRot="1" noChangeArrowheads="1"/>
          </p:cNvSpPr>
          <p:nvPr/>
        </p:nvSpPr>
        <p:spPr>
          <a:xfrm>
            <a:off x="35496" y="308645"/>
            <a:ext cx="6480720" cy="600075"/>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smtClean="0">
                <a:ln>
                  <a:noFill/>
                </a:ln>
                <a:solidFill>
                  <a:schemeClr val="tx1"/>
                </a:solidFill>
                <a:effectLst/>
                <a:uLnTx/>
                <a:uFillTx/>
                <a:latin typeface="+mj-lt"/>
                <a:ea typeface="+mj-ea"/>
                <a:cs typeface="+mj-cs"/>
              </a:rPr>
              <a:t>Adaptive Software Development</a:t>
            </a:r>
            <a:endParaRPr kumimoji="0" lang="en-US" sz="36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5" name="Rectangle 3"/>
          <p:cNvSpPr>
            <a:spLocks noGrp="1" noRot="1" noChangeArrowheads="1"/>
          </p:cNvSpPr>
          <p:nvPr>
            <p:ph type="body" idx="4294967295"/>
          </p:nvPr>
        </p:nvSpPr>
        <p:spPr>
          <a:xfrm>
            <a:off x="230832" y="1578471"/>
            <a:ext cx="8229600" cy="4658841"/>
          </a:xfrm>
        </p:spPr>
        <p:txBody>
          <a:bodyPr>
            <a:normAutofit lnSpcReduction="10000"/>
          </a:bodyPr>
          <a:lstStyle/>
          <a:p>
            <a:pPr marL="285750" indent="-285750">
              <a:lnSpc>
                <a:spcPct val="90000"/>
              </a:lnSpc>
            </a:pPr>
            <a:r>
              <a:rPr lang="en-US" sz="2800" dirty="0"/>
              <a:t>Promoted by the DSDM Consortium (</a:t>
            </a:r>
            <a:r>
              <a:rPr lang="en-US" sz="2800" dirty="0">
                <a:hlinkClick r:id="rId2"/>
              </a:rPr>
              <a:t>www.dsdm.org</a:t>
            </a:r>
            <a:r>
              <a:rPr lang="en-US" sz="2800" dirty="0"/>
              <a:t>)</a:t>
            </a:r>
          </a:p>
          <a:p>
            <a:pPr marL="285750" indent="-285750">
              <a:lnSpc>
                <a:spcPct val="90000"/>
              </a:lnSpc>
            </a:pPr>
            <a:r>
              <a:rPr lang="en-US" sz="2800" dirty="0"/>
              <a:t>DSDM—distinguishing features</a:t>
            </a:r>
          </a:p>
          <a:p>
            <a:pPr marL="685800" lvl="1" indent="-228600">
              <a:lnSpc>
                <a:spcPct val="90000"/>
              </a:lnSpc>
            </a:pPr>
            <a:r>
              <a:rPr lang="en-US" sz="2400" dirty="0"/>
              <a:t>Similar in most respects to XP and/or ASD</a:t>
            </a:r>
          </a:p>
          <a:p>
            <a:pPr marL="685800" lvl="1" indent="-228600">
              <a:lnSpc>
                <a:spcPct val="90000"/>
              </a:lnSpc>
            </a:pPr>
            <a:r>
              <a:rPr lang="en-US" sz="2400" dirty="0"/>
              <a:t>Nine guiding principles</a:t>
            </a:r>
          </a:p>
          <a:p>
            <a:pPr lvl="2">
              <a:lnSpc>
                <a:spcPct val="90000"/>
              </a:lnSpc>
              <a:spcBef>
                <a:spcPts val="600"/>
              </a:spcBef>
            </a:pPr>
            <a:r>
              <a:rPr lang="en-US" sz="1800" dirty="0">
                <a:solidFill>
                  <a:schemeClr val="tx2">
                    <a:lumMod val="50000"/>
                  </a:schemeClr>
                </a:solidFill>
              </a:rPr>
              <a:t>Active user involvement is imperative. </a:t>
            </a:r>
          </a:p>
          <a:p>
            <a:pPr lvl="2">
              <a:lnSpc>
                <a:spcPct val="90000"/>
              </a:lnSpc>
              <a:spcBef>
                <a:spcPts val="600"/>
              </a:spcBef>
            </a:pPr>
            <a:r>
              <a:rPr lang="en-US" sz="1800" dirty="0">
                <a:solidFill>
                  <a:schemeClr val="tx2">
                    <a:lumMod val="50000"/>
                  </a:schemeClr>
                </a:solidFill>
              </a:rPr>
              <a:t>DSDM teams must be empowered to make decisions.</a:t>
            </a:r>
          </a:p>
          <a:p>
            <a:pPr lvl="2">
              <a:lnSpc>
                <a:spcPct val="90000"/>
              </a:lnSpc>
              <a:spcBef>
                <a:spcPts val="600"/>
              </a:spcBef>
            </a:pPr>
            <a:r>
              <a:rPr lang="en-US" sz="1800" dirty="0">
                <a:solidFill>
                  <a:schemeClr val="tx2">
                    <a:lumMod val="50000"/>
                  </a:schemeClr>
                </a:solidFill>
              </a:rPr>
              <a:t>The focus is on frequent delivery of products. </a:t>
            </a:r>
          </a:p>
          <a:p>
            <a:pPr lvl="2">
              <a:lnSpc>
                <a:spcPct val="90000"/>
              </a:lnSpc>
              <a:spcBef>
                <a:spcPts val="600"/>
              </a:spcBef>
            </a:pPr>
            <a:r>
              <a:rPr lang="en-US" sz="1800" dirty="0">
                <a:solidFill>
                  <a:schemeClr val="tx2">
                    <a:lumMod val="50000"/>
                  </a:schemeClr>
                </a:solidFill>
              </a:rPr>
              <a:t>Fitness for business purpose is the essential criterion for acceptance of deliverables.</a:t>
            </a:r>
          </a:p>
          <a:p>
            <a:pPr lvl="2">
              <a:lnSpc>
                <a:spcPct val="90000"/>
              </a:lnSpc>
              <a:spcBef>
                <a:spcPts val="600"/>
              </a:spcBef>
            </a:pPr>
            <a:r>
              <a:rPr lang="en-US" sz="1800" dirty="0">
                <a:solidFill>
                  <a:schemeClr val="tx2">
                    <a:lumMod val="50000"/>
                  </a:schemeClr>
                </a:solidFill>
              </a:rPr>
              <a:t>Iterative and incremental development is necessary to converge on an accurate business solution.</a:t>
            </a:r>
          </a:p>
          <a:p>
            <a:pPr lvl="2">
              <a:lnSpc>
                <a:spcPct val="90000"/>
              </a:lnSpc>
              <a:spcBef>
                <a:spcPts val="600"/>
              </a:spcBef>
            </a:pPr>
            <a:r>
              <a:rPr lang="en-US" sz="1800" dirty="0">
                <a:solidFill>
                  <a:schemeClr val="tx2">
                    <a:lumMod val="50000"/>
                  </a:schemeClr>
                </a:solidFill>
              </a:rPr>
              <a:t>All changes during development are reversible.</a:t>
            </a:r>
          </a:p>
          <a:p>
            <a:pPr lvl="2">
              <a:lnSpc>
                <a:spcPct val="90000"/>
              </a:lnSpc>
              <a:spcBef>
                <a:spcPts val="600"/>
              </a:spcBef>
            </a:pPr>
            <a:r>
              <a:rPr lang="en-US" sz="1800" dirty="0">
                <a:solidFill>
                  <a:schemeClr val="tx2">
                    <a:lumMod val="50000"/>
                  </a:schemeClr>
                </a:solidFill>
              </a:rPr>
              <a:t>Requirements are </a:t>
            </a:r>
            <a:r>
              <a:rPr lang="en-US" sz="1800" dirty="0" err="1">
                <a:solidFill>
                  <a:schemeClr val="tx2">
                    <a:lumMod val="50000"/>
                  </a:schemeClr>
                </a:solidFill>
              </a:rPr>
              <a:t>baselined</a:t>
            </a:r>
            <a:r>
              <a:rPr lang="en-US" sz="1800" dirty="0">
                <a:solidFill>
                  <a:schemeClr val="tx2">
                    <a:lumMod val="50000"/>
                  </a:schemeClr>
                </a:solidFill>
              </a:rPr>
              <a:t> at a high level</a:t>
            </a:r>
          </a:p>
          <a:p>
            <a:pPr lvl="2">
              <a:lnSpc>
                <a:spcPct val="90000"/>
              </a:lnSpc>
              <a:spcBef>
                <a:spcPts val="600"/>
              </a:spcBef>
            </a:pPr>
            <a:r>
              <a:rPr lang="en-US" sz="1800" dirty="0">
                <a:solidFill>
                  <a:schemeClr val="tx2">
                    <a:lumMod val="50000"/>
                  </a:schemeClr>
                </a:solidFill>
              </a:rPr>
              <a:t>Testing is integrated throughout the life-cycle.</a:t>
            </a:r>
            <a:endParaRPr lang="en-US" sz="2800" b="1" dirty="0">
              <a:solidFill>
                <a:schemeClr val="tx2">
                  <a:lumMod val="50000"/>
                </a:schemeClr>
              </a:solidFill>
              <a:effectLst/>
            </a:endParaRPr>
          </a:p>
        </p:txBody>
      </p:sp>
      <p:sp>
        <p:nvSpPr>
          <p:cNvPr id="837634" name="Rectangle 2"/>
          <p:cNvSpPr>
            <a:spLocks noGrp="1" noRot="1" noChangeArrowheads="1"/>
          </p:cNvSpPr>
          <p:nvPr>
            <p:ph type="title" idx="4294967295"/>
          </p:nvPr>
        </p:nvSpPr>
        <p:spPr>
          <a:xfrm>
            <a:off x="0" y="214312"/>
            <a:ext cx="4067944" cy="694407"/>
          </a:xfrm>
          <a:prstGeom prst="rect">
            <a:avLst/>
          </a:prstGeom>
        </p:spPr>
        <p:txBody>
          <a:bodyPr>
            <a:noAutofit/>
          </a:bodyPr>
          <a:lstStyle/>
          <a:p>
            <a:pPr>
              <a:lnSpc>
                <a:spcPts val="2800"/>
              </a:lnSpc>
            </a:pPr>
            <a:r>
              <a:rPr lang="en-US" sz="3200" b="1" dirty="0"/>
              <a:t>Dynamic Systems Development Method</a:t>
            </a:r>
            <a:endParaRPr lang="en-US"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Rot="1" noChangeArrowheads="1"/>
          </p:cNvSpPr>
          <p:nvPr/>
        </p:nvSpPr>
        <p:spPr>
          <a:xfrm>
            <a:off x="230832" y="1578471"/>
            <a:ext cx="8229600" cy="4658841"/>
          </a:xfrm>
          <a:prstGeom prst="rect">
            <a:avLst/>
          </a:prstGeom>
        </p:spPr>
        <p:txBody>
          <a:bodyPr vert="horz" lIns="91440" tIns="45720" rIns="91440" bIns="45720" rtlCol="0">
            <a:normAutofit fontScale="92500"/>
          </a:bodyPr>
          <a:lstStyle/>
          <a:p>
            <a:pPr marL="285750" marR="0" lvl="0"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DSDM life cycle has three iterative cycles</a:t>
            </a:r>
            <a:r>
              <a:rPr kumimoji="0" lang="en-US" sz="2800" b="0" i="0" u="none" strike="noStrike" kern="1200" cap="none" spc="0" normalizeH="0" noProof="0" dirty="0" smtClean="0">
                <a:ln>
                  <a:noFill/>
                </a:ln>
                <a:solidFill>
                  <a:schemeClr val="tx1"/>
                </a:solidFill>
                <a:effectLst/>
                <a:uLnTx/>
                <a:uFillTx/>
                <a:latin typeface="+mn-lt"/>
                <a:ea typeface="+mn-ea"/>
                <a:cs typeface="+mn-cs"/>
              </a:rPr>
              <a:t> preceded by two activities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Feasibility study</a:t>
            </a:r>
          </a:p>
          <a:p>
            <a:pPr marL="1600200" lvl="3" indent="-228600">
              <a:lnSpc>
                <a:spcPct val="90000"/>
              </a:lnSpc>
              <a:spcBef>
                <a:spcPct val="20000"/>
              </a:spcBef>
            </a:pPr>
            <a:r>
              <a:rPr lang="en-US" sz="1900" dirty="0" smtClean="0"/>
              <a:t>Is the application a viable candidate for the DSDM process?</a:t>
            </a:r>
            <a:endParaRPr kumimoji="0" lang="en-US" sz="1900" b="0" i="0" u="none" strike="noStrike" kern="1200" cap="none" spc="0" normalizeH="0" baseline="0" noProof="0" dirty="0" smtClean="0">
              <a:ln>
                <a:noFill/>
              </a:ln>
              <a:solidFill>
                <a:schemeClr val="tx1"/>
              </a:solidFill>
              <a:effectLst/>
              <a:uLnTx/>
              <a:uFillTx/>
              <a:latin typeface="+mn-lt"/>
              <a:ea typeface="+mn-ea"/>
              <a:cs typeface="+mn-cs"/>
            </a:endParaRPr>
          </a:p>
          <a:p>
            <a:pPr marL="685800" lvl="1" indent="-228600">
              <a:lnSpc>
                <a:spcPct val="90000"/>
              </a:lnSpc>
              <a:spcBef>
                <a:spcPct val="20000"/>
              </a:spcBef>
              <a:buFont typeface="Arial" pitchFamily="34" charset="0"/>
              <a:buChar char="–"/>
              <a:defRPr/>
            </a:pPr>
            <a:r>
              <a:rPr lang="en-US" sz="2400" dirty="0" smtClean="0"/>
              <a:t>Business study</a:t>
            </a:r>
          </a:p>
          <a:p>
            <a:pPr marL="1600200" lvl="3" indent="-228600">
              <a:lnSpc>
                <a:spcPct val="90000"/>
              </a:lnSpc>
              <a:spcBef>
                <a:spcPct val="20000"/>
              </a:spcBef>
            </a:pPr>
            <a:r>
              <a:rPr lang="en-US" sz="1900" dirty="0" smtClean="0"/>
              <a:t>Establish functional &amp; information requirements to provide business value</a:t>
            </a:r>
          </a:p>
          <a:p>
            <a:pPr marL="685800" marR="0" lvl="1" indent="-2286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Functional </a:t>
            </a:r>
            <a:r>
              <a:rPr lang="en-US" sz="2400" dirty="0" smtClean="0"/>
              <a:t>m</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odel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iteration</a:t>
            </a:r>
          </a:p>
          <a:p>
            <a:pPr marL="1600200" lvl="3" indent="-228600">
              <a:lnSpc>
                <a:spcPct val="90000"/>
              </a:lnSpc>
              <a:spcBef>
                <a:spcPct val="20000"/>
              </a:spcBef>
            </a:pPr>
            <a:r>
              <a:rPr lang="en-US" sz="1900" dirty="0" smtClean="0"/>
              <a:t>Build incremental prototypes to demonstrate functionality</a:t>
            </a:r>
          </a:p>
          <a:p>
            <a:pPr marL="685800" marR="0" lvl="1" indent="-2286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Design &amp; build iteration</a:t>
            </a:r>
          </a:p>
          <a:p>
            <a:pPr marL="1600200" marR="0" lvl="3" indent="-228600" fontAlgn="auto">
              <a:lnSpc>
                <a:spcPct val="90000"/>
              </a:lnSpc>
              <a:spcBef>
                <a:spcPct val="20000"/>
              </a:spcBef>
              <a:spcAft>
                <a:spcPts val="0"/>
              </a:spcAft>
              <a:buClrTx/>
              <a:buSzTx/>
              <a:tabLst/>
              <a:defRPr/>
            </a:pPr>
            <a:r>
              <a:rPr lang="en-US" sz="1900" dirty="0" smtClean="0"/>
              <a:t>Revisit prototype &amp; engineer it to provide operational business value</a:t>
            </a:r>
          </a:p>
          <a:p>
            <a:pPr marL="685800" marR="0" lvl="1" indent="-228600" algn="l" defTabSz="914400" rtl="0" eaLnBrk="1" fontAlgn="auto" latinLnBrk="0" hangingPunct="1">
              <a:lnSpc>
                <a:spcPct val="90000"/>
              </a:lnSpc>
              <a:spcBef>
                <a:spcPct val="20000"/>
              </a:spcBef>
              <a:spcAft>
                <a:spcPts val="0"/>
              </a:spcAft>
              <a:buClrTx/>
              <a:buSzTx/>
              <a:buFont typeface="Arial" pitchFamily="34" charset="0"/>
              <a:buChar char="–"/>
              <a:tabLst/>
              <a:defRPr/>
            </a:pPr>
            <a:r>
              <a:rPr lang="en-US" sz="2400" baseline="0" dirty="0" smtClean="0"/>
              <a:t>Implementation</a:t>
            </a:r>
            <a:r>
              <a:rPr lang="en-US" sz="2400" dirty="0" smtClean="0"/>
              <a:t> iteration</a:t>
            </a:r>
          </a:p>
          <a:p>
            <a:pPr marL="1600200" lvl="3" indent="-228600">
              <a:lnSpc>
                <a:spcPct val="90000"/>
              </a:lnSpc>
              <a:spcBef>
                <a:spcPct val="20000"/>
              </a:spcBef>
            </a:pPr>
            <a:r>
              <a:rPr lang="en-US" sz="1900" dirty="0" smtClean="0"/>
              <a:t>Place the latest software increment (an “</a:t>
            </a:r>
            <a:r>
              <a:rPr lang="en-US" sz="1900" dirty="0" err="1" smtClean="0"/>
              <a:t>operationalized</a:t>
            </a:r>
            <a:r>
              <a:rPr lang="en-US" sz="1900" dirty="0" smtClean="0"/>
              <a:t>” prototype) into the </a:t>
            </a:r>
            <a:r>
              <a:rPr lang="en-US" sz="1900" dirty="0" err="1" smtClean="0"/>
              <a:t>oprational</a:t>
            </a:r>
            <a:r>
              <a:rPr lang="en-US" sz="1900" dirty="0" smtClean="0"/>
              <a:t> environment</a:t>
            </a:r>
          </a:p>
        </p:txBody>
      </p:sp>
      <p:sp>
        <p:nvSpPr>
          <p:cNvPr id="6" name="Rectangle 2"/>
          <p:cNvSpPr txBox="1">
            <a:spLocks noRot="1" noChangeArrowheads="1"/>
          </p:cNvSpPr>
          <p:nvPr/>
        </p:nvSpPr>
        <p:spPr>
          <a:xfrm>
            <a:off x="0" y="214312"/>
            <a:ext cx="4067944" cy="694407"/>
          </a:xfrm>
          <a:prstGeom prst="rect">
            <a:avLst/>
          </a:prstGeom>
        </p:spPr>
        <p:txBody>
          <a:bodyPr>
            <a:noAutofit/>
          </a:bodyPr>
          <a:lstStyle/>
          <a:p>
            <a:pPr marL="0" marR="0" lvl="0" indent="0" algn="ctr" defTabSz="914400" rtl="0" eaLnBrk="1" fontAlgn="auto" latinLnBrk="0" hangingPunct="1">
              <a:lnSpc>
                <a:spcPts val="2800"/>
              </a:lnSpc>
              <a:spcBef>
                <a:spcPct val="0"/>
              </a:spcBef>
              <a:spcAft>
                <a:spcPts val="0"/>
              </a:spcAft>
              <a:buClrTx/>
              <a:buSzTx/>
              <a:buFontTx/>
              <a:buNone/>
              <a:tabLst/>
              <a:defRPr/>
            </a:pPr>
            <a:r>
              <a:rPr kumimoji="0" lang="en-US" sz="3200" b="1" i="0" u="none" strike="noStrike" kern="1200" cap="none" spc="0" normalizeH="0" baseline="0" noProof="0" smtClean="0">
                <a:ln>
                  <a:noFill/>
                </a:ln>
                <a:solidFill>
                  <a:schemeClr val="tx1"/>
                </a:solidFill>
                <a:effectLst/>
                <a:uLnTx/>
                <a:uFillTx/>
                <a:latin typeface="+mj-lt"/>
                <a:ea typeface="+mj-ea"/>
                <a:cs typeface="+mj-cs"/>
              </a:rPr>
              <a:t>Dynamic Systems Development Method</a:t>
            </a: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type="body" idx="4294967295"/>
          </p:nvPr>
        </p:nvSpPr>
        <p:spPr>
          <a:xfrm>
            <a:off x="158824" y="1600200"/>
            <a:ext cx="8229600" cy="4525963"/>
          </a:xfrm>
        </p:spPr>
        <p:txBody>
          <a:bodyPr/>
          <a:lstStyle/>
          <a:p>
            <a:r>
              <a:rPr lang="en-US" sz="2800" dirty="0">
                <a:cs typeface="Times New Roman" pitchFamily="18" charset="0"/>
              </a:rPr>
              <a:t>Scrum is an Agile Software Development Process.  </a:t>
            </a:r>
          </a:p>
          <a:p>
            <a:r>
              <a:rPr lang="en-US" sz="2800" dirty="0">
                <a:cs typeface="Times New Roman" pitchFamily="18" charset="0"/>
              </a:rPr>
              <a:t>Scrum is not an acronym</a:t>
            </a:r>
          </a:p>
          <a:p>
            <a:r>
              <a:rPr lang="en-US" sz="2800" dirty="0">
                <a:cs typeface="Times New Roman" pitchFamily="18" charset="0"/>
              </a:rPr>
              <a:t>name taken from the sport of Rugby,  where everyone in the team pack acts together to move the ball down the field</a:t>
            </a:r>
          </a:p>
          <a:p>
            <a:r>
              <a:rPr lang="en-US" sz="2800" dirty="0">
                <a:cs typeface="Times New Roman" pitchFamily="18" charset="0"/>
              </a:rPr>
              <a:t>analogy to development is the team works together to successfully develop quality software </a:t>
            </a:r>
          </a:p>
        </p:txBody>
      </p:sp>
      <p:sp>
        <p:nvSpPr>
          <p:cNvPr id="96258" name="Rectangle 2"/>
          <p:cNvSpPr>
            <a:spLocks noGrp="1" noChangeArrowheads="1"/>
          </p:cNvSpPr>
          <p:nvPr>
            <p:ph type="title" idx="4294967295"/>
          </p:nvPr>
        </p:nvSpPr>
        <p:spPr>
          <a:xfrm>
            <a:off x="72008" y="260648"/>
            <a:ext cx="4788024" cy="706090"/>
          </a:xfrm>
          <a:prstGeom prst="rect">
            <a:avLst/>
          </a:prstGeom>
        </p:spPr>
        <p:txBody>
          <a:bodyPr/>
          <a:lstStyle/>
          <a:p>
            <a:r>
              <a:rPr lang="en-US" sz="4000" b="1" dirty="0" smtClean="0"/>
              <a:t>SCRUM </a:t>
            </a:r>
            <a:r>
              <a:rPr lang="en-US" sz="4000" b="1" dirty="0" smtClean="0"/>
              <a:t>- Introduction</a:t>
            </a:r>
            <a:endParaRPr lang="en-US" sz="4000"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3" name="Rectangle 3"/>
          <p:cNvSpPr>
            <a:spLocks noGrp="1" noRot="1" noChangeArrowheads="1"/>
          </p:cNvSpPr>
          <p:nvPr>
            <p:ph type="body" idx="4294967295"/>
          </p:nvPr>
        </p:nvSpPr>
        <p:spPr>
          <a:xfrm>
            <a:off x="158824" y="1495326"/>
            <a:ext cx="8229600" cy="4741986"/>
          </a:xfrm>
        </p:spPr>
        <p:txBody>
          <a:bodyPr>
            <a:noAutofit/>
          </a:bodyPr>
          <a:lstStyle/>
          <a:p>
            <a:pPr marL="285750" indent="-285750">
              <a:lnSpc>
                <a:spcPct val="90000"/>
              </a:lnSpc>
              <a:spcBef>
                <a:spcPts val="0"/>
              </a:spcBef>
            </a:pPr>
            <a:r>
              <a:rPr lang="en-US" sz="2400" dirty="0" smtClean="0"/>
              <a:t>Proposed </a:t>
            </a:r>
            <a:r>
              <a:rPr lang="en-US" sz="2400" dirty="0"/>
              <a:t>by </a:t>
            </a:r>
            <a:r>
              <a:rPr lang="en-US" sz="2400" dirty="0" err="1"/>
              <a:t>Schwaber</a:t>
            </a:r>
            <a:r>
              <a:rPr lang="en-US" sz="2400" dirty="0"/>
              <a:t> and </a:t>
            </a:r>
            <a:r>
              <a:rPr lang="en-US" sz="2400" dirty="0" err="1"/>
              <a:t>Beedle</a:t>
            </a:r>
            <a:endParaRPr lang="en-US" sz="2400" dirty="0"/>
          </a:p>
          <a:p>
            <a:pPr marL="285750" indent="-285750">
              <a:lnSpc>
                <a:spcPct val="90000"/>
              </a:lnSpc>
              <a:spcBef>
                <a:spcPts val="0"/>
              </a:spcBef>
            </a:pPr>
            <a:r>
              <a:rPr lang="en-US" sz="2400" dirty="0"/>
              <a:t>Scrum—distinguishing features</a:t>
            </a:r>
          </a:p>
          <a:p>
            <a:pPr marL="685800" lvl="1" indent="-228600">
              <a:lnSpc>
                <a:spcPct val="90000"/>
              </a:lnSpc>
              <a:spcBef>
                <a:spcPts val="0"/>
              </a:spcBef>
            </a:pPr>
            <a:r>
              <a:rPr lang="en-US" sz="2400" dirty="0"/>
              <a:t>Development work </a:t>
            </a:r>
            <a:r>
              <a:rPr lang="en-US" sz="2400" dirty="0" smtClean="0"/>
              <a:t>partitioned </a:t>
            </a:r>
            <a:r>
              <a:rPr lang="en-US" sz="2400" dirty="0"/>
              <a:t>into </a:t>
            </a:r>
            <a:r>
              <a:rPr lang="en-US" sz="2400" dirty="0" smtClean="0"/>
              <a:t>packets makes up </a:t>
            </a:r>
            <a:r>
              <a:rPr lang="en-US" sz="2400" dirty="0" smtClean="0"/>
              <a:t>“Backlog”</a:t>
            </a:r>
            <a:endParaRPr lang="en-US" sz="2400" dirty="0"/>
          </a:p>
          <a:p>
            <a:pPr marL="685800" lvl="1" indent="-228600">
              <a:lnSpc>
                <a:spcPct val="90000"/>
              </a:lnSpc>
              <a:spcBef>
                <a:spcPts val="0"/>
              </a:spcBef>
            </a:pPr>
            <a:r>
              <a:rPr lang="en-US" sz="2400" dirty="0"/>
              <a:t>Testing and documentation are on-going as </a:t>
            </a:r>
            <a:r>
              <a:rPr lang="en-US" sz="2400" dirty="0"/>
              <a:t>the product is constructed</a:t>
            </a:r>
          </a:p>
          <a:p>
            <a:pPr marL="685800" lvl="1" indent="-228600">
              <a:lnSpc>
                <a:spcPct val="90000"/>
              </a:lnSpc>
              <a:spcBef>
                <a:spcPts val="0"/>
              </a:spcBef>
            </a:pPr>
            <a:r>
              <a:rPr lang="en-US" sz="2400" dirty="0"/>
              <a:t>Work occurs in </a:t>
            </a:r>
            <a:r>
              <a:rPr lang="en-US" sz="2400" dirty="0"/>
              <a:t>“sprints” and </a:t>
            </a:r>
            <a:r>
              <a:rPr lang="en-US" sz="2400" dirty="0"/>
              <a:t>is derived from a </a:t>
            </a:r>
            <a:r>
              <a:rPr lang="en-US" sz="2400" dirty="0"/>
              <a:t>“backlog” of </a:t>
            </a:r>
            <a:r>
              <a:rPr lang="en-US" sz="2400" dirty="0"/>
              <a:t>existing requirements</a:t>
            </a:r>
          </a:p>
          <a:p>
            <a:pPr marL="685800" lvl="1" indent="-228600">
              <a:lnSpc>
                <a:spcPct val="90000"/>
              </a:lnSpc>
              <a:spcBef>
                <a:spcPts val="0"/>
              </a:spcBef>
            </a:pPr>
            <a:r>
              <a:rPr lang="en-US" sz="2400" dirty="0"/>
              <a:t>Meetings are very short and sometimes conducted </a:t>
            </a:r>
            <a:r>
              <a:rPr lang="en-US" sz="2400" dirty="0"/>
              <a:t>without </a:t>
            </a:r>
            <a:r>
              <a:rPr lang="en-US" sz="2400" dirty="0" smtClean="0"/>
              <a:t>chairs</a:t>
            </a:r>
          </a:p>
          <a:p>
            <a:pPr marL="1085850" lvl="2">
              <a:lnSpc>
                <a:spcPct val="90000"/>
              </a:lnSpc>
              <a:spcBef>
                <a:spcPts val="0"/>
              </a:spcBef>
            </a:pPr>
            <a:r>
              <a:rPr lang="en-US" sz="1800" dirty="0" smtClean="0"/>
              <a:t>What did you do since last team meeting</a:t>
            </a:r>
          </a:p>
          <a:p>
            <a:pPr marL="1085850" lvl="2">
              <a:lnSpc>
                <a:spcPct val="90000"/>
              </a:lnSpc>
              <a:spcBef>
                <a:spcPts val="0"/>
              </a:spcBef>
            </a:pPr>
            <a:r>
              <a:rPr lang="en-US" sz="1800" dirty="0" smtClean="0"/>
              <a:t>What obstacles are you encountering?</a:t>
            </a:r>
          </a:p>
          <a:p>
            <a:pPr marL="1085850" lvl="2">
              <a:lnSpc>
                <a:spcPct val="90000"/>
              </a:lnSpc>
              <a:spcBef>
                <a:spcPts val="0"/>
              </a:spcBef>
            </a:pPr>
            <a:r>
              <a:rPr lang="en-US" sz="1800" dirty="0" smtClean="0"/>
              <a:t>What do you plan to accomplish by the next team meeting?</a:t>
            </a:r>
            <a:endParaRPr lang="en-US" sz="1800" dirty="0"/>
          </a:p>
          <a:p>
            <a:pPr marL="685800" lvl="1" indent="-228600">
              <a:lnSpc>
                <a:spcPct val="90000"/>
              </a:lnSpc>
              <a:spcBef>
                <a:spcPts val="0"/>
              </a:spcBef>
            </a:pPr>
            <a:r>
              <a:rPr lang="en-US" sz="2400" dirty="0"/>
              <a:t>“</a:t>
            </a:r>
            <a:r>
              <a:rPr lang="en-US" sz="2400" dirty="0"/>
              <a:t>demos”</a:t>
            </a:r>
            <a:r>
              <a:rPr lang="en-US" sz="2400" dirty="0"/>
              <a:t> are delivered to the customer with the time-box allocated</a:t>
            </a:r>
          </a:p>
          <a:p>
            <a:pPr marL="685800" lvl="1" indent="-228600">
              <a:lnSpc>
                <a:spcPct val="90000"/>
              </a:lnSpc>
              <a:spcBef>
                <a:spcPts val="0"/>
              </a:spcBef>
            </a:pPr>
            <a:endParaRPr lang="en-US" sz="2400" dirty="0"/>
          </a:p>
        </p:txBody>
      </p:sp>
      <p:sp>
        <p:nvSpPr>
          <p:cNvPr id="839682" name="Rectangle 2"/>
          <p:cNvSpPr>
            <a:spLocks noGrp="1" noRot="1" noChangeArrowheads="1"/>
          </p:cNvSpPr>
          <p:nvPr>
            <p:ph type="title" idx="4294967295"/>
          </p:nvPr>
        </p:nvSpPr>
        <p:spPr>
          <a:xfrm>
            <a:off x="0" y="274638"/>
            <a:ext cx="1922463" cy="725487"/>
          </a:xfrm>
          <a:prstGeom prst="rect">
            <a:avLst/>
          </a:prstGeom>
        </p:spPr>
        <p:txBody>
          <a:bodyPr>
            <a:normAutofit fontScale="90000"/>
          </a:bodyPr>
          <a:lstStyle/>
          <a:p>
            <a:r>
              <a:rPr lang="en-US" b="1" dirty="0"/>
              <a:t>Scrum</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9552" y="1423318"/>
            <a:ext cx="8229600" cy="4525962"/>
          </a:xfrm>
        </p:spPr>
        <p:txBody>
          <a:bodyPr>
            <a:normAutofit fontScale="92500"/>
          </a:bodyPr>
          <a:lstStyle/>
          <a:p>
            <a:pPr>
              <a:spcBef>
                <a:spcPts val="600"/>
              </a:spcBef>
              <a:spcAft>
                <a:spcPts val="1200"/>
              </a:spcAft>
            </a:pPr>
            <a:r>
              <a:rPr lang="en-US" dirty="0" smtClean="0"/>
              <a:t>Adopts “serial in the large” and “iterative in the small” philosophy suggested by Scott Ambler</a:t>
            </a:r>
          </a:p>
          <a:p>
            <a:pPr>
              <a:spcBef>
                <a:spcPts val="600"/>
              </a:spcBef>
              <a:spcAft>
                <a:spcPts val="1200"/>
              </a:spcAft>
            </a:pPr>
            <a:r>
              <a:rPr lang="en-US" dirty="0" smtClean="0"/>
              <a:t>Adopts UP phased activities – inception, elaboration, construction, and transition</a:t>
            </a:r>
          </a:p>
          <a:p>
            <a:pPr>
              <a:spcBef>
                <a:spcPts val="600"/>
              </a:spcBef>
              <a:spcAft>
                <a:spcPts val="1200"/>
              </a:spcAft>
            </a:pPr>
            <a:r>
              <a:rPr lang="en-US" dirty="0" smtClean="0"/>
              <a:t>Within each of the activity, team iterates to achieve agility.</a:t>
            </a:r>
          </a:p>
          <a:p>
            <a:pPr>
              <a:spcBef>
                <a:spcPts val="600"/>
              </a:spcBef>
              <a:spcAft>
                <a:spcPts val="1200"/>
              </a:spcAft>
            </a:pPr>
            <a:r>
              <a:rPr lang="en-US" dirty="0" smtClean="0"/>
              <a:t>UML representations are used, though modeling is kept to bare minimum</a:t>
            </a:r>
            <a:endParaRPr lang="en-IN" dirty="0"/>
          </a:p>
        </p:txBody>
      </p:sp>
      <p:sp>
        <p:nvSpPr>
          <p:cNvPr id="2" name="Title 1"/>
          <p:cNvSpPr>
            <a:spLocks noGrp="1"/>
          </p:cNvSpPr>
          <p:nvPr>
            <p:ph type="title" idx="4294967295"/>
          </p:nvPr>
        </p:nvSpPr>
        <p:spPr>
          <a:xfrm>
            <a:off x="72008" y="260647"/>
            <a:ext cx="4716016" cy="607715"/>
          </a:xfrm>
          <a:prstGeom prst="rect">
            <a:avLst/>
          </a:prstGeom>
        </p:spPr>
        <p:txBody>
          <a:bodyPr>
            <a:normAutofit fontScale="90000"/>
          </a:bodyPr>
          <a:lstStyle/>
          <a:p>
            <a:r>
              <a:rPr lang="en-US" b="1" dirty="0" smtClean="0"/>
              <a:t>Agile Unified Process</a:t>
            </a:r>
            <a:endParaRPr lang="en-IN"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2840" y="1595933"/>
            <a:ext cx="8229600" cy="4785395"/>
          </a:xfrm>
        </p:spPr>
        <p:txBody>
          <a:bodyPr>
            <a:noAutofit/>
          </a:bodyPr>
          <a:lstStyle/>
          <a:p>
            <a:pPr marL="144000" indent="0">
              <a:spcBef>
                <a:spcPts val="0"/>
              </a:spcBef>
              <a:spcAft>
                <a:spcPts val="1200"/>
              </a:spcAft>
              <a:buNone/>
            </a:pPr>
            <a:r>
              <a:rPr lang="en-IN" sz="2000" dirty="0" smtClean="0"/>
              <a:t>According to Matt Simons (</a:t>
            </a:r>
            <a:r>
              <a:rPr lang="en-US" sz="2000" dirty="0" smtClean="0">
                <a:cs typeface="Lucida Sans Unicode" pitchFamily="34" charset="0"/>
              </a:rPr>
              <a:t>“Internationally Agile”) </a:t>
            </a:r>
            <a:r>
              <a:rPr lang="en-IN" sz="2000" dirty="0" smtClean="0"/>
              <a:t>, there are two keys to successful documentation on agile projects. </a:t>
            </a:r>
          </a:p>
          <a:p>
            <a:pPr marL="144000" indent="0">
              <a:spcBef>
                <a:spcPts val="0"/>
              </a:spcBef>
              <a:spcAft>
                <a:spcPts val="1200"/>
              </a:spcAft>
              <a:buFont typeface="Calibri" pitchFamily="34" charset="0"/>
              <a:buChar char="₋"/>
            </a:pPr>
            <a:r>
              <a:rPr lang="en-IN" sz="2000" dirty="0" smtClean="0"/>
              <a:t>Finding the point of "just enough" documentation. This is difficult to determine and will vary by project. Fortunately, the iterative nature of agile development allows you to experiment until you get it right. </a:t>
            </a:r>
          </a:p>
          <a:p>
            <a:pPr marL="144000" indent="0">
              <a:spcBef>
                <a:spcPts val="0"/>
              </a:spcBef>
              <a:spcAft>
                <a:spcPts val="1200"/>
              </a:spcAft>
              <a:buFont typeface="Calibri" pitchFamily="34" charset="0"/>
              <a:buChar char="₋"/>
            </a:pPr>
            <a:r>
              <a:rPr lang="en-IN" sz="2000" dirty="0" smtClean="0"/>
              <a:t>Not get attached to it or have unrealistic hopes of keeping it updated. </a:t>
            </a:r>
          </a:p>
          <a:p>
            <a:pPr marL="144000" indent="0">
              <a:spcBef>
                <a:spcPts val="0"/>
              </a:spcBef>
              <a:spcAft>
                <a:spcPts val="1200"/>
              </a:spcAft>
              <a:buNone/>
            </a:pPr>
            <a:r>
              <a:rPr lang="en-IN" sz="2000" dirty="0" smtClean="0"/>
              <a:t>“</a:t>
            </a:r>
            <a:r>
              <a:rPr lang="en-IN" sz="2000" i="1" dirty="0" smtClean="0"/>
              <a:t>Documentation must be created to serve a specific purpose, and after it has served that purpose you'll all probably have more important things to do than keep updating the documents. It may seem counterintuitive, but it's often better to produce fresh documentation the next time some is clearly required. A side benefit of starting over each time you need to document part of your project is that it's great incentive to keep your documentation efficient!</a:t>
            </a:r>
            <a:r>
              <a:rPr lang="en-IN" sz="2000" dirty="0" smtClean="0"/>
              <a:t>”</a:t>
            </a:r>
          </a:p>
        </p:txBody>
      </p:sp>
      <p:sp>
        <p:nvSpPr>
          <p:cNvPr id="2" name="Title 1"/>
          <p:cNvSpPr>
            <a:spLocks noGrp="1"/>
          </p:cNvSpPr>
          <p:nvPr>
            <p:ph type="title" idx="4294967295"/>
          </p:nvPr>
        </p:nvSpPr>
        <p:spPr>
          <a:xfrm>
            <a:off x="72008" y="187896"/>
            <a:ext cx="3707904" cy="792832"/>
          </a:xfrm>
          <a:prstGeom prst="rect">
            <a:avLst/>
          </a:prstGeom>
        </p:spPr>
        <p:txBody>
          <a:bodyPr>
            <a:noAutofit/>
          </a:bodyPr>
          <a:lstStyle/>
          <a:p>
            <a:pPr>
              <a:lnSpc>
                <a:spcPts val="3200"/>
              </a:lnSpc>
            </a:pPr>
            <a:r>
              <a:rPr lang="en-IN" sz="3600" b="1" dirty="0" smtClean="0"/>
              <a:t>Agile Process and Documentation</a:t>
            </a:r>
            <a:endParaRPr lang="en-IN" sz="36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30832" y="1484784"/>
            <a:ext cx="8229600" cy="4641379"/>
          </a:xfrm>
        </p:spPr>
        <p:txBody>
          <a:bodyPr>
            <a:normAutofit fontScale="92500" lnSpcReduction="10000"/>
          </a:bodyPr>
          <a:lstStyle/>
          <a:p>
            <a:pPr marL="144000" indent="0">
              <a:buNone/>
            </a:pPr>
            <a:r>
              <a:rPr lang="en-US" dirty="0" smtClean="0"/>
              <a:t>Martin Fowler suggests following successful practices:</a:t>
            </a:r>
          </a:p>
          <a:p>
            <a:pPr lvl="1"/>
            <a:r>
              <a:rPr lang="en-IN" dirty="0" smtClean="0"/>
              <a:t>Use Continuous Integration to Avoid Integration Headaches</a:t>
            </a:r>
          </a:p>
          <a:p>
            <a:pPr lvl="1"/>
            <a:r>
              <a:rPr lang="en-IN" dirty="0" smtClean="0"/>
              <a:t>Have Each Site Send Ambassadors to the Other Sites</a:t>
            </a:r>
          </a:p>
          <a:p>
            <a:pPr lvl="1"/>
            <a:r>
              <a:rPr lang="en-IN" dirty="0" smtClean="0"/>
              <a:t>Use Contact Visits to build trust</a:t>
            </a:r>
          </a:p>
          <a:p>
            <a:pPr lvl="1"/>
            <a:r>
              <a:rPr lang="en-IN" dirty="0" smtClean="0"/>
              <a:t>Don't Underestimate the Culture Change</a:t>
            </a:r>
          </a:p>
          <a:p>
            <a:pPr lvl="1"/>
            <a:r>
              <a:rPr lang="en-IN" dirty="0" smtClean="0"/>
              <a:t>Use wikis to contain common information</a:t>
            </a:r>
          </a:p>
          <a:p>
            <a:pPr lvl="1"/>
            <a:r>
              <a:rPr lang="en-IN" dirty="0" smtClean="0"/>
              <a:t>Use Test Scripts to Help Understand the Requirements</a:t>
            </a:r>
          </a:p>
          <a:p>
            <a:pPr lvl="1"/>
            <a:r>
              <a:rPr lang="en-IN" dirty="0" smtClean="0"/>
              <a:t>Use Regular Builds to Get Feedback on Functionality</a:t>
            </a:r>
          </a:p>
        </p:txBody>
      </p:sp>
      <p:sp>
        <p:nvSpPr>
          <p:cNvPr id="2" name="Title 1"/>
          <p:cNvSpPr>
            <a:spLocks noGrp="1"/>
          </p:cNvSpPr>
          <p:nvPr>
            <p:ph type="title" idx="4294967295"/>
          </p:nvPr>
        </p:nvSpPr>
        <p:spPr>
          <a:xfrm>
            <a:off x="72008" y="274638"/>
            <a:ext cx="4716016" cy="778098"/>
          </a:xfrm>
          <a:prstGeom prst="rect">
            <a:avLst/>
          </a:prstGeom>
        </p:spPr>
        <p:txBody>
          <a:bodyPr>
            <a:noAutofit/>
          </a:bodyPr>
          <a:lstStyle/>
          <a:p>
            <a:pPr>
              <a:lnSpc>
                <a:spcPts val="3200"/>
              </a:lnSpc>
            </a:pPr>
            <a:r>
              <a:rPr lang="en-IN" sz="3600" b="1" dirty="0" smtClean="0"/>
              <a:t>Agile Process with Offshore Development</a:t>
            </a:r>
            <a:endParaRPr lang="en-IN" sz="3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4294967295"/>
          </p:nvPr>
        </p:nvSpPr>
        <p:spPr>
          <a:xfrm>
            <a:off x="144016" y="1556792"/>
            <a:ext cx="7956376" cy="4569371"/>
          </a:xfrm>
        </p:spPr>
        <p:txBody>
          <a:bodyPr>
            <a:normAutofit fontScale="92500" lnSpcReduction="20000"/>
          </a:bodyPr>
          <a:lstStyle/>
          <a:p>
            <a:pPr marL="144000" indent="0">
              <a:buNone/>
            </a:pPr>
            <a:r>
              <a:rPr lang="en-US" dirty="0" smtClean="0"/>
              <a:t>Martin Fowler suggests following successful practices:</a:t>
            </a:r>
          </a:p>
          <a:p>
            <a:pPr lvl="1"/>
            <a:r>
              <a:rPr lang="en-IN" dirty="0" smtClean="0"/>
              <a:t>Use Regular Short Status Meetings</a:t>
            </a:r>
          </a:p>
          <a:p>
            <a:pPr lvl="1"/>
            <a:r>
              <a:rPr lang="en-IN" dirty="0" smtClean="0"/>
              <a:t>Use Short Iterations</a:t>
            </a:r>
          </a:p>
          <a:p>
            <a:pPr lvl="1"/>
            <a:r>
              <a:rPr lang="en-IN" dirty="0" smtClean="0"/>
              <a:t>Use an Iteration Planning Meeting that's Tailored for Remote Sites</a:t>
            </a:r>
          </a:p>
          <a:p>
            <a:pPr lvl="1"/>
            <a:r>
              <a:rPr lang="en-IN" dirty="0" smtClean="0"/>
              <a:t>When Moving a Code Base, Bug Fixing Makes a Good Start</a:t>
            </a:r>
          </a:p>
          <a:p>
            <a:pPr lvl="1"/>
            <a:r>
              <a:rPr lang="en-IN" dirty="0" smtClean="0"/>
              <a:t>Separate teams by functionality not activity</a:t>
            </a:r>
          </a:p>
          <a:p>
            <a:pPr lvl="1"/>
            <a:r>
              <a:rPr lang="en-IN" dirty="0" smtClean="0"/>
              <a:t>Expect to need more documents.</a:t>
            </a:r>
          </a:p>
          <a:p>
            <a:pPr lvl="1"/>
            <a:r>
              <a:rPr lang="en-IN" dirty="0" smtClean="0"/>
              <a:t>Get multiple communication modes working early</a:t>
            </a:r>
            <a:endParaRPr lang="en-IN" dirty="0" smtClean="0">
              <a:hlinkClick r:id="rId2"/>
            </a:endParaRPr>
          </a:p>
        </p:txBody>
      </p:sp>
      <p:sp>
        <p:nvSpPr>
          <p:cNvPr id="6" name="Footer Placeholder 4"/>
          <p:cNvSpPr txBox="1">
            <a:spLocks/>
          </p:cNvSpPr>
          <p:nvPr/>
        </p:nvSpPr>
        <p:spPr>
          <a:xfrm>
            <a:off x="2555776" y="6440760"/>
            <a:ext cx="3962400" cy="2286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smtClean="0">
                <a:ln>
                  <a:noFill/>
                </a:ln>
                <a:solidFill>
                  <a:schemeClr val="tx1"/>
                </a:solidFill>
                <a:effectLst/>
                <a:uLnTx/>
                <a:uFillTx/>
                <a:latin typeface="Times New Roman" pitchFamily="18" charset="0"/>
                <a:ea typeface="+mn-ea"/>
                <a:cs typeface="Lucida Sans Unicode" pitchFamily="34" charset="0"/>
              </a:rPr>
              <a:t>Article by Martin Fowler, Author and Member, Agile Alliance</a:t>
            </a:r>
            <a:endParaRPr kumimoji="0" lang="en-US" sz="1000" b="0" i="0" u="none" strike="noStrike" kern="1200" cap="none" spc="0" normalizeH="0" baseline="0" noProof="0" dirty="0">
              <a:ln>
                <a:noFill/>
              </a:ln>
              <a:solidFill>
                <a:schemeClr val="tx1"/>
              </a:solidFill>
              <a:effectLst/>
              <a:uLnTx/>
              <a:uFillTx/>
              <a:latin typeface="Times New Roman" pitchFamily="18" charset="0"/>
              <a:ea typeface="+mn-ea"/>
              <a:cs typeface="Lucida Sans Unicode" pitchFamily="34" charset="0"/>
            </a:endParaRPr>
          </a:p>
        </p:txBody>
      </p:sp>
      <p:sp>
        <p:nvSpPr>
          <p:cNvPr id="9" name="Title 1"/>
          <p:cNvSpPr txBox="1">
            <a:spLocks/>
          </p:cNvSpPr>
          <p:nvPr/>
        </p:nvSpPr>
        <p:spPr>
          <a:xfrm>
            <a:off x="72008" y="274638"/>
            <a:ext cx="4716016" cy="778098"/>
          </a:xfrm>
          <a:prstGeom prst="rect">
            <a:avLst/>
          </a:prstGeom>
        </p:spPr>
        <p:txBody>
          <a:bodyPr>
            <a:noAutofit/>
          </a:bodyPr>
          <a:lstStyle/>
          <a:p>
            <a:pPr marL="0" marR="0" lvl="0" indent="0" algn="ctr" defTabSz="914400" rtl="0" eaLnBrk="1" fontAlgn="auto" latinLnBrk="0" hangingPunct="1">
              <a:lnSpc>
                <a:spcPts val="3200"/>
              </a:lnSpc>
              <a:spcBef>
                <a:spcPct val="0"/>
              </a:spcBef>
              <a:spcAft>
                <a:spcPts val="0"/>
              </a:spcAft>
              <a:buClrTx/>
              <a:buSzTx/>
              <a:buFontTx/>
              <a:buNone/>
              <a:tabLst/>
              <a:defRPr/>
            </a:pPr>
            <a:r>
              <a:rPr kumimoji="0" lang="en-IN" sz="3600" b="1" i="0" u="none" strike="noStrike" kern="1200" cap="none" spc="0" normalizeH="0" baseline="0" noProof="0" dirty="0" smtClean="0">
                <a:ln>
                  <a:noFill/>
                </a:ln>
                <a:solidFill>
                  <a:schemeClr val="tx1"/>
                </a:solidFill>
                <a:effectLst/>
                <a:uLnTx/>
                <a:uFillTx/>
                <a:latin typeface="+mj-lt"/>
                <a:ea typeface="+mj-ea"/>
                <a:cs typeface="+mj-cs"/>
              </a:rPr>
              <a:t>Agile Process with Offshore Development</a:t>
            </a:r>
          </a:p>
          <a:p>
            <a:pPr marL="0" marR="0" lvl="0" indent="0" algn="ctr" defTabSz="914400" rtl="0" eaLnBrk="1" fontAlgn="auto" latinLnBrk="0" hangingPunct="1">
              <a:lnSpc>
                <a:spcPts val="1200"/>
              </a:lnSpc>
              <a:spcBef>
                <a:spcPct val="0"/>
              </a:spcBef>
              <a:spcAft>
                <a:spcPts val="0"/>
              </a:spcAft>
              <a:buClrTx/>
              <a:buSzTx/>
              <a:buFontTx/>
              <a:buNone/>
              <a:tabLst/>
              <a:defRPr/>
            </a:pPr>
            <a:r>
              <a:rPr lang="en-US" dirty="0" smtClean="0">
                <a:latin typeface="+mj-lt"/>
                <a:ea typeface="+mj-ea"/>
                <a:cs typeface="+mj-cs"/>
              </a:rPr>
              <a:t>(</a:t>
            </a:r>
            <a:r>
              <a:rPr lang="en-US" dirty="0" err="1" smtClean="0">
                <a:latin typeface="+mj-lt"/>
                <a:ea typeface="+mj-ea"/>
                <a:cs typeface="+mj-cs"/>
              </a:rPr>
              <a:t>contd</a:t>
            </a:r>
            <a:r>
              <a:rPr lang="en-US" dirty="0" smtClean="0">
                <a:latin typeface="+mj-lt"/>
                <a:ea typeface="+mj-ea"/>
                <a:cs typeface="+mj-cs"/>
              </a:rPr>
              <a:t>)</a:t>
            </a:r>
            <a:endParaRPr kumimoji="0" lang="en-IN"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3" name="Rectangle 3"/>
          <p:cNvSpPr>
            <a:spLocks noGrp="1" noChangeArrowheads="1"/>
          </p:cNvSpPr>
          <p:nvPr>
            <p:ph type="body" idx="4294967295"/>
          </p:nvPr>
        </p:nvSpPr>
        <p:spPr>
          <a:xfrm>
            <a:off x="230832" y="1556221"/>
            <a:ext cx="8229600" cy="4537075"/>
          </a:xfrm>
        </p:spPr>
        <p:txBody>
          <a:bodyPr/>
          <a:lstStyle/>
          <a:p>
            <a:pPr>
              <a:spcBef>
                <a:spcPts val="1200"/>
              </a:spcBef>
            </a:pPr>
            <a:r>
              <a:rPr lang="en-US" sz="2400" dirty="0"/>
              <a:t>It can be difficult to keep the interest of customers who are involved in the process.</a:t>
            </a:r>
          </a:p>
          <a:p>
            <a:pPr>
              <a:spcBef>
                <a:spcPts val="1200"/>
              </a:spcBef>
            </a:pPr>
            <a:r>
              <a:rPr lang="en-US" sz="2400" dirty="0"/>
              <a:t>Team members may be unsuited to the intense involvement that </a:t>
            </a:r>
            <a:r>
              <a:rPr lang="en-US" sz="2400" dirty="0" err="1"/>
              <a:t>characterises</a:t>
            </a:r>
            <a:r>
              <a:rPr lang="en-US" sz="2400" dirty="0"/>
              <a:t> agile methods.</a:t>
            </a:r>
          </a:p>
          <a:p>
            <a:pPr>
              <a:spcBef>
                <a:spcPts val="1200"/>
              </a:spcBef>
            </a:pPr>
            <a:r>
              <a:rPr lang="en-US" sz="2400" dirty="0" err="1"/>
              <a:t>Prioritising</a:t>
            </a:r>
            <a:r>
              <a:rPr lang="en-US" sz="2400" dirty="0"/>
              <a:t> changes can be difficult where there are multiple stakeholders.</a:t>
            </a:r>
          </a:p>
          <a:p>
            <a:pPr>
              <a:spcBef>
                <a:spcPts val="1200"/>
              </a:spcBef>
            </a:pPr>
            <a:r>
              <a:rPr lang="en-US" sz="2400" dirty="0"/>
              <a:t>Maintaining simplicity requires extra work.</a:t>
            </a:r>
          </a:p>
          <a:p>
            <a:pPr>
              <a:spcBef>
                <a:spcPts val="1200"/>
              </a:spcBef>
            </a:pPr>
            <a:r>
              <a:rPr lang="en-US" sz="2400" dirty="0"/>
              <a:t>Contracts may be a problem as with other approaches to iterative development.</a:t>
            </a:r>
          </a:p>
        </p:txBody>
      </p:sp>
      <p:sp>
        <p:nvSpPr>
          <p:cNvPr id="1167362" name="Rectangle 2"/>
          <p:cNvSpPr>
            <a:spLocks noGrp="1" noChangeArrowheads="1"/>
          </p:cNvSpPr>
          <p:nvPr>
            <p:ph type="title" idx="4294967295"/>
          </p:nvPr>
        </p:nvSpPr>
        <p:spPr>
          <a:xfrm>
            <a:off x="72008" y="274291"/>
            <a:ext cx="4427984" cy="706437"/>
          </a:xfrm>
          <a:prstGeom prst="rect">
            <a:avLst/>
          </a:prstGeom>
        </p:spPr>
        <p:txBody>
          <a:bodyPr>
            <a:normAutofit fontScale="90000"/>
          </a:bodyPr>
          <a:lstStyle/>
          <a:p>
            <a:pPr>
              <a:lnSpc>
                <a:spcPts val="3200"/>
              </a:lnSpc>
            </a:pPr>
            <a:r>
              <a:rPr lang="en-US" b="1" dirty="0" smtClean="0"/>
              <a:t>Some challenges </a:t>
            </a:r>
            <a:r>
              <a:rPr lang="en-US" b="1" dirty="0"/>
              <a:t>with agile </a:t>
            </a:r>
            <a:r>
              <a:rPr lang="en-US" b="1" dirty="0" smtClean="0"/>
              <a:t>methods</a:t>
            </a:r>
            <a:br>
              <a:rPr lang="en-US" b="1" dirty="0" smtClean="0"/>
            </a:br>
            <a:endParaRPr lang="en-US" b="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8824" y="1567334"/>
            <a:ext cx="8229600" cy="4525962"/>
          </a:xfrm>
        </p:spPr>
        <p:txBody>
          <a:bodyPr>
            <a:normAutofit fontScale="85000" lnSpcReduction="20000"/>
          </a:bodyPr>
          <a:lstStyle/>
          <a:p>
            <a:pPr>
              <a:spcAft>
                <a:spcPts val="600"/>
              </a:spcAft>
            </a:pPr>
            <a:r>
              <a:rPr lang="en-US" dirty="0" smtClean="0"/>
              <a:t>Most organizations spend more on maintaining existing software than they do on new software development. So, if agile methods are to be successful, they have to support maintenance as well as original development.</a:t>
            </a:r>
          </a:p>
          <a:p>
            <a:pPr>
              <a:spcBef>
                <a:spcPts val="600"/>
              </a:spcBef>
            </a:pPr>
            <a:r>
              <a:rPr lang="en-US" dirty="0" smtClean="0"/>
              <a:t>Two key issues:</a:t>
            </a:r>
          </a:p>
          <a:p>
            <a:pPr lvl="1"/>
            <a:r>
              <a:rPr lang="en-GB" dirty="0" smtClean="0"/>
              <a:t>Are systems that are developed using an agile approach maintainable, given the emphasis in the development process of minimizing formal documentation?</a:t>
            </a:r>
          </a:p>
          <a:p>
            <a:pPr lvl="1"/>
            <a:r>
              <a:rPr lang="en-GB" dirty="0" smtClean="0"/>
              <a:t>Can agile methods be used effectively for evolving a system in response to customer change requests?</a:t>
            </a:r>
          </a:p>
          <a:p>
            <a:pPr>
              <a:spcBef>
                <a:spcPts val="1200"/>
              </a:spcBef>
            </a:pPr>
            <a:r>
              <a:rPr lang="en-GB" dirty="0" smtClean="0"/>
              <a:t>Problems may arise if original development team cannot be maintained.</a:t>
            </a:r>
          </a:p>
          <a:p>
            <a:pPr lvl="1"/>
            <a:endParaRPr lang="en-US" dirty="0"/>
          </a:p>
        </p:txBody>
      </p:sp>
      <p:sp>
        <p:nvSpPr>
          <p:cNvPr id="2" name="Title 1"/>
          <p:cNvSpPr>
            <a:spLocks noGrp="1"/>
          </p:cNvSpPr>
          <p:nvPr>
            <p:ph type="title" idx="4294967295"/>
          </p:nvPr>
        </p:nvSpPr>
        <p:spPr>
          <a:xfrm>
            <a:off x="179512" y="259557"/>
            <a:ext cx="4967659" cy="865187"/>
          </a:xfrm>
          <a:prstGeom prst="rect">
            <a:avLst/>
          </a:prstGeom>
        </p:spPr>
        <p:txBody>
          <a:bodyPr>
            <a:noAutofit/>
          </a:bodyPr>
          <a:lstStyle/>
          <a:p>
            <a:pPr>
              <a:lnSpc>
                <a:spcPts val="3200"/>
              </a:lnSpc>
            </a:pPr>
            <a:r>
              <a:rPr lang="en-US" sz="4000" b="1" dirty="0" smtClean="0"/>
              <a:t>Agile methods and software maintenance</a:t>
            </a:r>
            <a:endParaRPr lang="en-US" sz="4000"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30832" y="1567333"/>
            <a:ext cx="8229600" cy="4525963"/>
          </a:xfrm>
        </p:spPr>
        <p:txBody>
          <a:bodyPr/>
          <a:lstStyle/>
          <a:p>
            <a:pPr>
              <a:spcBef>
                <a:spcPts val="1200"/>
              </a:spcBef>
            </a:pPr>
            <a:r>
              <a:rPr lang="en-GB" sz="2200" dirty="0" smtClean="0"/>
              <a:t>Large systems are usually collections of separate, communicating systems, where separate teams develop each system. Frequently, these teams are working in different places, sometimes in different time zones.</a:t>
            </a:r>
          </a:p>
          <a:p>
            <a:pPr>
              <a:spcBef>
                <a:spcPts val="1200"/>
              </a:spcBef>
            </a:pPr>
            <a:r>
              <a:rPr lang="en-GB" sz="2200" dirty="0" smtClean="0"/>
              <a:t>Large systems are ‘</a:t>
            </a:r>
            <a:r>
              <a:rPr lang="en-GB" sz="2200" dirty="0" err="1" smtClean="0"/>
              <a:t>brownfield</a:t>
            </a:r>
            <a:r>
              <a:rPr lang="en-GB" sz="2200" dirty="0" smtClean="0"/>
              <a:t> systems’, that is they include and interact with a number of existing systems. Many of the system requirements are concerned with this interaction and so don’t really lend themselves to flexibility and incremental development.</a:t>
            </a:r>
          </a:p>
          <a:p>
            <a:pPr>
              <a:spcBef>
                <a:spcPts val="1200"/>
              </a:spcBef>
            </a:pPr>
            <a:r>
              <a:rPr lang="en-GB" sz="2200" dirty="0" smtClean="0"/>
              <a:t>Where several systems are integrated to create a system, a significant fraction of the development is concerned with system configuration rather than original code development. </a:t>
            </a:r>
            <a:endParaRPr lang="en-US" sz="2200" dirty="0"/>
          </a:p>
        </p:txBody>
      </p:sp>
      <p:sp>
        <p:nvSpPr>
          <p:cNvPr id="2" name="Title 1"/>
          <p:cNvSpPr>
            <a:spLocks noGrp="1"/>
          </p:cNvSpPr>
          <p:nvPr>
            <p:ph type="title" idx="4294967295"/>
          </p:nvPr>
        </p:nvSpPr>
        <p:spPr>
          <a:xfrm>
            <a:off x="-36512" y="260003"/>
            <a:ext cx="6156176" cy="720725"/>
          </a:xfrm>
          <a:prstGeom prst="rect">
            <a:avLst/>
          </a:prstGeom>
        </p:spPr>
        <p:txBody>
          <a:bodyPr>
            <a:normAutofit fontScale="90000"/>
          </a:bodyPr>
          <a:lstStyle/>
          <a:p>
            <a:r>
              <a:rPr lang="en-US" b="1" dirty="0" smtClean="0"/>
              <a:t>Large systems development</a:t>
            </a:r>
            <a:br>
              <a:rPr lang="en-US" b="1" dirty="0" smtClean="0"/>
            </a:br>
            <a:endParaRPr lang="en-US" b="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8824" y="1495326"/>
            <a:ext cx="8229600" cy="4525962"/>
          </a:xfrm>
        </p:spPr>
        <p:txBody>
          <a:bodyPr>
            <a:normAutofit fontScale="85000" lnSpcReduction="20000"/>
          </a:bodyPr>
          <a:lstStyle/>
          <a:p>
            <a:pPr>
              <a:spcAft>
                <a:spcPts val="1200"/>
              </a:spcAft>
            </a:pPr>
            <a:r>
              <a:rPr lang="en-GB" dirty="0" smtClean="0"/>
              <a:t>Large systems and their development processes are often constrained by external rules and regulations limiting the way that they can be developed.</a:t>
            </a:r>
          </a:p>
          <a:p>
            <a:pPr>
              <a:spcAft>
                <a:spcPts val="1200"/>
              </a:spcAft>
            </a:pPr>
            <a:r>
              <a:rPr lang="en-GB" dirty="0" smtClean="0"/>
              <a:t>Large systems have a long procurement and development time. It is difficult to maintain coherent teams who know about the system over that period as, inevitably, people move on to other jobs and projects.</a:t>
            </a:r>
          </a:p>
          <a:p>
            <a:pPr>
              <a:spcAft>
                <a:spcPts val="1200"/>
              </a:spcAft>
            </a:pPr>
            <a:r>
              <a:rPr lang="en-GB" dirty="0" smtClean="0"/>
              <a:t>Large systems usually have a diverse set of stakeholders.It is practically impossible to involve all of these different stakeholders in the development process. </a:t>
            </a:r>
            <a:endParaRPr lang="en-US" dirty="0"/>
          </a:p>
        </p:txBody>
      </p:sp>
      <p:sp>
        <p:nvSpPr>
          <p:cNvPr id="2" name="Title 1"/>
          <p:cNvSpPr>
            <a:spLocks noGrp="1"/>
          </p:cNvSpPr>
          <p:nvPr>
            <p:ph type="title" idx="4294967295"/>
          </p:nvPr>
        </p:nvSpPr>
        <p:spPr>
          <a:xfrm>
            <a:off x="0" y="259904"/>
            <a:ext cx="6084168" cy="576808"/>
          </a:xfrm>
          <a:prstGeom prst="rect">
            <a:avLst/>
          </a:prstGeom>
        </p:spPr>
        <p:txBody>
          <a:bodyPr>
            <a:normAutofit fontScale="90000"/>
          </a:bodyPr>
          <a:lstStyle/>
          <a:p>
            <a:r>
              <a:rPr lang="en-US" b="1" dirty="0" smtClean="0"/>
              <a:t>Large systems development</a:t>
            </a:r>
            <a:endParaRPr lang="en-US"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idx="4294967295"/>
          </p:nvPr>
        </p:nvSpPr>
        <p:spPr>
          <a:xfrm>
            <a:off x="0" y="341784"/>
            <a:ext cx="2699792" cy="1143000"/>
          </a:xfrm>
          <a:prstGeom prst="rect">
            <a:avLst/>
          </a:prstGeom>
        </p:spPr>
        <p:txBody>
          <a:bodyPr/>
          <a:lstStyle/>
          <a:p>
            <a:r>
              <a:rPr lang="en-US" sz="3600" b="1" dirty="0" smtClean="0"/>
              <a:t>Thank You…</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41784"/>
            <a:ext cx="1979712" cy="1143000"/>
          </a:xfrm>
          <a:prstGeom prst="rect">
            <a:avLst/>
          </a:prstGeom>
        </p:spPr>
        <p:txBody>
          <a:bodyPr/>
          <a:lstStyle/>
          <a:p>
            <a:r>
              <a:rPr lang="en-IN" sz="4000" b="1" dirty="0" smtClean="0"/>
              <a:t>Credits </a:t>
            </a:r>
            <a:endParaRPr lang="en-IN" sz="4000" dirty="0"/>
          </a:p>
        </p:txBody>
      </p:sp>
      <p:sp>
        <p:nvSpPr>
          <p:cNvPr id="3" name="Content Placeholder 2"/>
          <p:cNvSpPr>
            <a:spLocks noGrp="1"/>
          </p:cNvSpPr>
          <p:nvPr>
            <p:ph idx="4294967295"/>
          </p:nvPr>
        </p:nvSpPr>
        <p:spPr>
          <a:xfrm>
            <a:off x="0" y="1600200"/>
            <a:ext cx="8229600" cy="4525963"/>
          </a:xfrm>
        </p:spPr>
        <p:txBody>
          <a:bodyPr/>
          <a:lstStyle/>
          <a:p>
            <a:endParaRPr lang="en-IN" dirty="0" smtClean="0"/>
          </a:p>
          <a:p>
            <a:endParaRPr lang="en-IN" dirty="0" smtClean="0"/>
          </a:p>
          <a:p>
            <a:r>
              <a:rPr lang="en-IN" dirty="0" smtClean="0"/>
              <a:t>Software Engineering 7/</a:t>
            </a:r>
            <a:r>
              <a:rPr lang="en-IN" dirty="0" err="1" smtClean="0"/>
              <a:t>ed</a:t>
            </a:r>
            <a:r>
              <a:rPr lang="en-IN" dirty="0" smtClean="0"/>
              <a:t> by Roger Pressman – Reference </a:t>
            </a:r>
          </a:p>
          <a:p>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928</TotalTime>
  <Words>1692</Words>
  <Application>Microsoft Office PowerPoint</Application>
  <PresentationFormat>On-screen Show (4:3)</PresentationFormat>
  <Paragraphs>175</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1_Office Theme</vt:lpstr>
      <vt:lpstr>Course Name :    Software Engineering</vt:lpstr>
      <vt:lpstr>Extreme Programming (XP)</vt:lpstr>
      <vt:lpstr>Slide 3</vt:lpstr>
      <vt:lpstr>Slide 4</vt:lpstr>
      <vt:lpstr>Refactoring</vt:lpstr>
      <vt:lpstr>Examples of refactoring</vt:lpstr>
      <vt:lpstr>Pair programming</vt:lpstr>
      <vt:lpstr>Advantages of Pair programming </vt:lpstr>
      <vt:lpstr>Industrial XP</vt:lpstr>
      <vt:lpstr>Criticism of XP</vt:lpstr>
      <vt:lpstr>Adaptive  Software Development</vt:lpstr>
      <vt:lpstr>Slide 12</vt:lpstr>
      <vt:lpstr>Dynamic Systems Development Method</vt:lpstr>
      <vt:lpstr>Slide 14</vt:lpstr>
      <vt:lpstr>SCRUM - Introduction</vt:lpstr>
      <vt:lpstr>Scrum</vt:lpstr>
      <vt:lpstr>Agile Unified Process</vt:lpstr>
      <vt:lpstr>Agile Process and Documentation</vt:lpstr>
      <vt:lpstr>Agile Process with Offshore Development</vt:lpstr>
      <vt:lpstr>Slide 20</vt:lpstr>
      <vt:lpstr>Some challenges with agile methods </vt:lpstr>
      <vt:lpstr>Agile methods and software maintenance</vt:lpstr>
      <vt:lpstr>Large systems development </vt:lpstr>
      <vt:lpstr>Large systems development</vt:lpstr>
      <vt:lpstr>Thank You…</vt:lpstr>
      <vt:lpstr>Credits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Development  .</dc:title>
  <dc:creator>T V Rao</dc:creator>
  <cp:lastModifiedBy>T V Rao</cp:lastModifiedBy>
  <cp:revision>93</cp:revision>
  <dcterms:created xsi:type="dcterms:W3CDTF">2012-02-28T05:41:17Z</dcterms:created>
  <dcterms:modified xsi:type="dcterms:W3CDTF">2014-02-27T11:53:15Z</dcterms:modified>
</cp:coreProperties>
</file>