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69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6.xml" ContentType="application/vnd.openxmlformats-officedocument.presentationml.slide+xml"/>
  <Override PartName="/ppt/slides/slide75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6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7" r:id="rId2"/>
    <p:sldId id="1547" r:id="rId3"/>
    <p:sldId id="268" r:id="rId4"/>
    <p:sldId id="1548" r:id="rId5"/>
    <p:sldId id="306" r:id="rId6"/>
    <p:sldId id="307" r:id="rId7"/>
    <p:sldId id="308" r:id="rId8"/>
    <p:sldId id="310" r:id="rId9"/>
    <p:sldId id="309" r:id="rId10"/>
    <p:sldId id="414" r:id="rId11"/>
    <p:sldId id="311" r:id="rId12"/>
    <p:sldId id="312" r:id="rId13"/>
    <p:sldId id="313" r:id="rId14"/>
    <p:sldId id="314" r:id="rId15"/>
    <p:sldId id="410" r:id="rId16"/>
    <p:sldId id="315" r:id="rId17"/>
    <p:sldId id="435" r:id="rId18"/>
    <p:sldId id="317" r:id="rId19"/>
    <p:sldId id="323" r:id="rId20"/>
    <p:sldId id="318" r:id="rId21"/>
    <p:sldId id="319" r:id="rId22"/>
    <p:sldId id="320" r:id="rId23"/>
    <p:sldId id="258" r:id="rId24"/>
    <p:sldId id="285" r:id="rId25"/>
    <p:sldId id="286" r:id="rId26"/>
    <p:sldId id="287" r:id="rId27"/>
    <p:sldId id="370" r:id="rId28"/>
    <p:sldId id="261" r:id="rId29"/>
    <p:sldId id="371" r:id="rId30"/>
    <p:sldId id="372" r:id="rId31"/>
    <p:sldId id="373" r:id="rId32"/>
    <p:sldId id="374" r:id="rId33"/>
    <p:sldId id="440" r:id="rId34"/>
    <p:sldId id="376" r:id="rId35"/>
    <p:sldId id="263" r:id="rId36"/>
    <p:sldId id="264" r:id="rId37"/>
    <p:sldId id="265" r:id="rId38"/>
    <p:sldId id="445" r:id="rId39"/>
    <p:sldId id="375" r:id="rId40"/>
    <p:sldId id="408" r:id="rId41"/>
    <p:sldId id="446" r:id="rId42"/>
    <p:sldId id="447" r:id="rId43"/>
    <p:sldId id="409" r:id="rId44"/>
    <p:sldId id="448" r:id="rId45"/>
    <p:sldId id="411" r:id="rId46"/>
    <p:sldId id="412" r:id="rId47"/>
    <p:sldId id="413" r:id="rId48"/>
    <p:sldId id="449" r:id="rId49"/>
    <p:sldId id="415" r:id="rId50"/>
    <p:sldId id="416" r:id="rId51"/>
    <p:sldId id="417" r:id="rId52"/>
    <p:sldId id="418" r:id="rId53"/>
    <p:sldId id="419" r:id="rId54"/>
    <p:sldId id="420" r:id="rId55"/>
    <p:sldId id="421" r:id="rId56"/>
    <p:sldId id="422" r:id="rId57"/>
    <p:sldId id="423" r:id="rId58"/>
    <p:sldId id="424" r:id="rId59"/>
    <p:sldId id="425" r:id="rId60"/>
    <p:sldId id="426" r:id="rId61"/>
    <p:sldId id="427" r:id="rId62"/>
    <p:sldId id="428" r:id="rId63"/>
    <p:sldId id="429" r:id="rId64"/>
    <p:sldId id="450" r:id="rId65"/>
    <p:sldId id="451" r:id="rId66"/>
    <p:sldId id="430" r:id="rId67"/>
    <p:sldId id="431" r:id="rId68"/>
    <p:sldId id="432" r:id="rId69"/>
    <p:sldId id="433" r:id="rId70"/>
    <p:sldId id="434" r:id="rId71"/>
    <p:sldId id="452" r:id="rId72"/>
    <p:sldId id="436" r:id="rId73"/>
    <p:sldId id="437" r:id="rId74"/>
    <p:sldId id="438" r:id="rId75"/>
    <p:sldId id="453" r:id="rId76"/>
    <p:sldId id="352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2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85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1FEFD-71A4-4453-A183-0F87EE0C268E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645074-2CE7-46BD-A09E-C6D7C4FB2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6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DD0650-4081-4DB2-BDAD-706168C36743}" type="slidenum">
              <a:rPr lang="en-IN" altLang="en-US" smtClean="0"/>
              <a:pPr/>
              <a:t>3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52957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xmlns="" id="{4CF9110A-2DAC-59C5-C6F4-E5A60BBE32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defTabSz="9334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defTabSz="9334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B3F92F40-B893-4B84-8FB8-D6FD1D8D11EE}" type="slidenum">
              <a:rPr lang="en-US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xmlns="" id="{3FF8FBFF-8915-4C31-2763-E4097A5BD1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xmlns="" id="{EC4F0E66-4C40-DF37-8339-EA8DDE37E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Kurose and Ross forgot to say anything about wrapping the carry and adding it to low order bit</a:t>
            </a:r>
          </a:p>
        </p:txBody>
      </p:sp>
    </p:spTree>
    <p:extLst>
      <p:ext uri="{BB962C8B-B14F-4D97-AF65-F5344CB8AC3E}">
        <p14:creationId xmlns:p14="http://schemas.microsoft.com/office/powerpoint/2010/main" val="386673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10FDBC-41AD-48BB-A103-215268CC2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FB19CFF-9755-4010-9C3B-39F95F492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0CF8A7A-7EC7-4862-AC3B-BAD3A6D1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D5B1BE-06B3-4174-8819-EEB1C5B8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6A2A12-F5ED-4C8D-939B-ED531E6B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59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A7ED08-EFD6-48E7-8AA4-537C855B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26BD62-1224-4E0E-AF73-0D4E21F8E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68A65A-0970-4E7D-B8B2-BC4E0732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806829-9B4D-431F-BCEF-13027F22E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535CA6-EDA8-45F7-8320-734CCCA2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92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86D937-FCE2-44F3-B402-FAEEF6765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58C14C3-300F-4DEC-9434-322B27522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BAE82B-8AE1-40FC-91FA-BFADFE849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DBA6713-5D4C-4DCD-9691-358ED0B72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BCDA96-859B-44F8-9ED3-AEF122FC8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73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29CD14-5E7C-4E82-A6C7-6253AD54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1A5803-7F96-41A9-B890-7728AB84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48E0372-0C9F-4933-990A-07BEBAE60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6FC0757-E4BE-489C-81F2-BE485FEDC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CC0FFA-E19B-4308-872B-F0761F445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7BED613-A1D8-4834-A958-0D6944BD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11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2604B0-C3C0-4B2A-8671-24B4A8CFB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DAED78-1B3B-4800-B93A-6996ACFEF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FDE71BB-9A4D-49CC-A4D8-816B1D786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46613F2-9AE8-48A6-8EDC-6233A343F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24D91E87-3A04-4C3D-882F-72B39BB26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7F4FEA4-01F1-4228-8DC4-22D8FBA83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5D5C02-89BB-4D12-B01A-00F68C2A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D10B8FB-C7EA-4F3D-8F66-D8510E2F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17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B83343-E0DF-462F-89D5-D61334987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100C20-5ACC-4FFE-8A3E-3E484134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2B6E03C-83EA-4F4C-BE54-40BA63A8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3B1669C-669D-42D1-8D48-DD04A2D4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549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397D0CF-B44A-45B1-9732-A1049489B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D5E8D94-AB5C-4F38-9933-7EEDA8B8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519442-E326-4AF4-B318-39FB8146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157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01FB11-8554-492B-B857-E8E954915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057CDA-7860-4176-89DD-EACA3C39A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6994E68-0069-4568-8189-814727A68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5E28B0E-BFFF-4DF7-A238-02B59E9E4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F3D03B9-35DE-408C-9716-F6050F086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354DC0-99B8-4A8D-84FB-D2F258D4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712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DC8A2E-404D-4977-A321-BEBEE7748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1A8B8CC-202C-4CC8-8223-83303A666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A664B70-45CA-4980-A486-3D1E8B119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625645-A622-493D-B58C-33A6DE34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5E38A94-8B13-44A6-8124-69197773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D15C4DC-A4F3-4CFC-BCAD-9A8680BF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67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F89499-088F-4776-AF0A-1A253DC7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B9A40D3-BAC3-490C-A222-F018D0721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DD51A78-D9CA-4C10-AFC2-FC32F7CE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9414A88-EB36-4951-AD86-30BF84B25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EE6A9B4-23E7-49DA-8888-E36EE6FB3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91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3C6D5AC5-2F02-4148-8EE8-E88B622EC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D7D7B53-0CB9-4A1C-88F5-0146024A0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688E83-DCAD-412A-868F-957AB5D2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31B26E4-2C7D-4444-898B-2FB360AC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E70D41-84E1-4523-8A8B-03848D4E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93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14" name="Group 22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3042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xmlns="" id="{006E70B9-055C-C0A9-9EF4-7CB48FDDC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09F2CBF-1A35-4879-C3AA-282AC9842403}"/>
              </a:ext>
            </a:extLst>
          </p:cNvPr>
          <p:cNvSpPr/>
          <p:nvPr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rgbClr val="FFFFFF"/>
          </a:solidFill>
          <a:ln>
            <a:solidFill>
              <a:srgbClr val="4A7EBB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>
              <a:solidFill>
                <a:srgbClr val="FFFFFF"/>
              </a:solidFill>
            </a:endParaRPr>
          </a:p>
        </p:txBody>
      </p:sp>
      <p:pic>
        <p:nvPicPr>
          <p:cNvPr id="4" name="Picture 8" descr="Picture 8">
            <a:extLst>
              <a:ext uri="{FF2B5EF4-FFF2-40B4-BE49-F238E27FC236}">
                <a16:creationId xmlns:a16="http://schemas.microsoft.com/office/drawing/2014/main" xmlns="" id="{E4EBEC62-8399-035A-13DF-776D662B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" b="267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ED906E5-F350-4A39-0C52-E0CEEA2162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83D79F8-6C1D-36FD-9406-44861ECAE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E9C2918-0838-20D7-5749-A3D149F1A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49E3377-F06A-54C4-39B9-57C67C1CD910}"/>
              </a:ext>
            </a:extLst>
          </p:cNvPr>
          <p:cNvSpPr txBox="1"/>
          <p:nvPr/>
        </p:nvSpPr>
        <p:spPr>
          <a:xfrm>
            <a:off x="9205385" y="762001"/>
            <a:ext cx="2823633" cy="53860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defRPr>
            </a:pPr>
            <a:r>
              <a:rPr sz="2900" b="1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BITS</a:t>
            </a:r>
            <a:r>
              <a:rPr sz="2900" spc="-150">
                <a:solidFill>
                  <a:srgbClr val="FFFFFF"/>
                </a:solidFill>
                <a:latin typeface="+mj-lt"/>
                <a:ea typeface="+mj-ea"/>
                <a:cs typeface="+mj-cs"/>
                <a:sym typeface="Arial"/>
              </a:rPr>
              <a:t> Pilani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06400" y="4648200"/>
            <a:ext cx="11277600" cy="1600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SzTx/>
              <a:buFontTx/>
              <a:buNone/>
              <a:defRPr sz="4000" b="1" spc="-150"/>
            </a:lvl1pPr>
            <a:lvl2pPr marL="865414" indent="-408214">
              <a:lnSpc>
                <a:spcPts val="4200"/>
              </a:lnSpc>
              <a:spcBef>
                <a:spcPts val="0"/>
              </a:spcBef>
              <a:buFontTx/>
              <a:defRPr sz="4000" b="1" spc="-150"/>
            </a:lvl2pPr>
            <a:lvl3pPr marL="1295400" indent="-3810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3pPr>
            <a:lvl4pPr marL="18288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4pPr>
            <a:lvl5pPr marL="2286000" indent="-457200">
              <a:lnSpc>
                <a:spcPts val="4200"/>
              </a:lnSpc>
              <a:spcBef>
                <a:spcPts val="0"/>
              </a:spcBef>
              <a:buFontTx/>
              <a:defRPr sz="4000" b="1" spc="-15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xmlns="" id="{33FC3EC9-D30D-6468-5D97-DEE7B8652693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5E9BF-4AAA-4AB0-87BF-CFAA1212C088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179411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A3767B4-AB52-97DB-868B-0ADC105B2775}"/>
              </a:ext>
            </a:extLst>
          </p:cNvPr>
          <p:cNvSpPr txBox="1"/>
          <p:nvPr/>
        </p:nvSpPr>
        <p:spPr>
          <a:xfrm>
            <a:off x="4368800" y="6596064"/>
            <a:ext cx="7823200" cy="219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 panose="020B0604020202020204"/>
                <a:cs typeface="Arial" panose="020B0604020202020204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 panose="020B0604020202020204"/>
                <a:cs typeface="Arial" panose="020B0604020202020204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xmlns="" id="{D53B34A8-0D61-F94D-6658-E372B624D1E3}"/>
              </a:ext>
            </a:extLst>
          </p:cNvPr>
          <p:cNvGrpSpPr>
            <a:grpSpLocks/>
          </p:cNvGrpSpPr>
          <p:nvPr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083C1FF3-223D-D196-8F91-0C0F3EA0863C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xmlns="" id="{7B744F7F-4651-793A-5732-F50EF06918EF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3C477641-1E9D-E30D-B181-37D02FDD2925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xmlns="" id="{97259A23-A641-FB0C-BC74-37332053B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xmlns="" id="{9E0C1B94-82C2-5DD5-B490-266791DAF886}"/>
              </a:ext>
            </a:extLst>
          </p:cNvPr>
          <p:cNvGrpSpPr>
            <a:grpSpLocks/>
          </p:cNvGrpSpPr>
          <p:nvPr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xmlns="" id="{9F720400-26CF-D2DC-6C4C-2B45A327999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1EB7E4CE-2A0F-8349-D6C7-69B8AD57124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7FD90075-DE4A-617E-1F44-CC1E65176209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xmlns="" id="{C0086D47-2149-6DDE-D807-14849A95CE6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7316EFD5-8FC9-2939-8ADD-EF3DA674F11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81D64989-6811-D3DC-10E8-8D7B51CEDD0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xmlns="" id="{697419B5-7B46-C0F5-2683-9DB043E89DBE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35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1358035" cy="4906962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anose="020B0604020202020204" pitchFamily="34" charset="0"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082676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xmlns="" id="{7F62397A-7720-6902-D87D-83F75699E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400" y="6629400"/>
            <a:ext cx="5384800" cy="2286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Dr. Rama Satish K V, Visiting Professor, Wipro-WASE, Bengaluru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xmlns="" id="{D95EBA3B-2C3A-83C0-6E1A-C21276EC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42200" y="6596064"/>
            <a:ext cx="2844800" cy="2619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3CF5B-AF6F-4DC3-9E62-6ACC096361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60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783D252-330D-4A80-A063-66934E85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B285C9-CEFE-4D58-947B-EC382D76A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DD22172-C819-4C6E-B784-34CCD9CEE4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435A8-CFC3-49AD-AC37-B40B2DA09C84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CE4FF62-D83D-4D25-AFA1-CA685FC53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99CE91-A9A1-4A44-9DEF-A7BB60A06B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D2A7D-4123-45F4-8D6B-A3913E87B5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49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5.bin"/><Relationship Id="rId3" Type="http://schemas.openxmlformats.org/officeDocument/2006/relationships/image" Target="../media/image11.wmf"/><Relationship Id="rId21" Type="http://schemas.openxmlformats.org/officeDocument/2006/relationships/image" Target="../media/image13.png"/><Relationship Id="rId7" Type="http://schemas.openxmlformats.org/officeDocument/2006/relationships/oleObject" Target="../embeddings/oleObject6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7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2.bin"/><Relationship Id="rId10" Type="http://schemas.openxmlformats.org/officeDocument/2006/relationships/oleObject" Target="../embeddings/oleObject8.bin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2.png"/><Relationship Id="rId9" Type="http://schemas.openxmlformats.org/officeDocument/2006/relationships/oleObject" Target="../embeddings/oleObject7.bin"/><Relationship Id="rId14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Content Placeholder 1">
            <a:extLst>
              <a:ext uri="{FF2B5EF4-FFF2-40B4-BE49-F238E27FC236}">
                <a16:creationId xmlns:a16="http://schemas.microsoft.com/office/drawing/2014/main" xmlns="" id="{4D49C55A-CCFD-1A40-BD73-4DBDC661E88F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2057400" y="4419600"/>
            <a:ext cx="8458200" cy="2209800"/>
          </a:xfrm>
        </p:spPr>
        <p:txBody>
          <a:bodyPr>
            <a:noAutofit/>
          </a:bodyPr>
          <a:lstStyle/>
          <a:p>
            <a:pPr>
              <a:defRPr spc="-200"/>
            </a:pPr>
            <a:r>
              <a:rPr lang="en-IN" sz="2800" spc="-200" dirty="0" smtClean="0">
                <a:solidFill>
                  <a:srgbClr val="00000A"/>
                </a:solidFill>
                <a:latin typeface="Times New Roman" panose="02020603050405020304" pitchFamily="18" charset="0"/>
              </a:rPr>
              <a:t>SEVZI  </a:t>
            </a:r>
            <a:r>
              <a:rPr lang="en-IN" sz="2800" spc="-200" dirty="0">
                <a:solidFill>
                  <a:srgbClr val="00000A"/>
                </a:solidFill>
                <a:latin typeface="Times New Roman" panose="02020603050405020304" pitchFamily="18" charset="0"/>
              </a:rPr>
              <a:t>ZC467</a:t>
            </a:r>
            <a:endParaRPr lang="en-IN" sz="2800" spc="-200" dirty="0">
              <a:solidFill>
                <a:srgbClr val="00000A"/>
              </a:solidFill>
              <a:latin typeface="Times New Roman" panose="02020603050405020304" pitchFamily="18" charset="0"/>
              <a:ea typeface="Ubuntu" panose="020B0504030602030204" pitchFamily="34" charset="0"/>
            </a:endParaRPr>
          </a:p>
          <a:p>
            <a:pPr>
              <a:defRPr spc="-200"/>
            </a:pPr>
            <a:r>
              <a:rPr lang="en-IN" sz="2800" spc="-200" dirty="0">
                <a:solidFill>
                  <a:srgbClr val="00000A"/>
                </a:solidFill>
                <a:latin typeface="Times New Roman" panose="02020603050405020304" pitchFamily="18" charset="0"/>
                <a:ea typeface="Ubuntu" panose="020B0504030602030204" pitchFamily="34" charset="0"/>
              </a:rPr>
              <a:t>Computer </a:t>
            </a:r>
            <a:r>
              <a:rPr lang="en-IN" sz="2800" spc="-200" dirty="0">
                <a:solidFill>
                  <a:srgbClr val="00000A"/>
                </a:solidFill>
                <a:latin typeface="Times New Roman" panose="02020603050405020304" pitchFamily="18" charset="0"/>
              </a:rPr>
              <a:t>Networks </a:t>
            </a:r>
          </a:p>
          <a:p>
            <a:pPr>
              <a:defRPr spc="-200"/>
            </a:pPr>
            <a:r>
              <a:rPr lang="en-IN" sz="2800" spc="-200" dirty="0">
                <a:solidFill>
                  <a:srgbClr val="00000A"/>
                </a:solidFill>
                <a:latin typeface="Times New Roman" panose="02020603050405020304" pitchFamily="18" charset="0"/>
              </a:rPr>
              <a:t>Contact Session – 4</a:t>
            </a:r>
          </a:p>
          <a:p>
            <a:pPr>
              <a:defRPr spc="-200"/>
            </a:pPr>
            <a:r>
              <a:rPr lang="en-IN" sz="2800" spc="-200" dirty="0">
                <a:solidFill>
                  <a:srgbClr val="00000A"/>
                </a:solidFill>
                <a:latin typeface="Times New Roman" panose="02020603050405020304" pitchFamily="18" charset="0"/>
              </a:rPr>
              <a:t>					</a:t>
            </a:r>
            <a:r>
              <a:rPr lang="en-IN" sz="2800" spc="-200" dirty="0" smtClean="0">
                <a:solidFill>
                  <a:srgbClr val="00000A"/>
                </a:solidFill>
                <a:latin typeface="Times New Roman" panose="02020603050405020304" pitchFamily="18" charset="0"/>
              </a:rPr>
              <a:t>Prabhu  Subramanian</a:t>
            </a:r>
            <a:endParaRPr sz="2800" spc="-200" dirty="0">
              <a:solidFill>
                <a:srgbClr val="00000A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>
            <a:extLst>
              <a:ext uri="{FF2B5EF4-FFF2-40B4-BE49-F238E27FC236}">
                <a16:creationId xmlns:a16="http://schemas.microsoft.com/office/drawing/2014/main" xmlns="" id="{F2263745-3CAE-516E-E0AB-1C77C3F00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514" y="2457450"/>
            <a:ext cx="5076825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Footer Placeholder 1">
            <a:extLst>
              <a:ext uri="{FF2B5EF4-FFF2-40B4-BE49-F238E27FC236}">
                <a16:creationId xmlns:a16="http://schemas.microsoft.com/office/drawing/2014/main" xmlns="" id="{182D27BA-EC96-0441-7D50-EFBCA22802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rgbClr val="898989"/>
                </a:solidFill>
              </a:rPr>
              <a:t>Dr. Rama Satish K V, Visiting Professor, Wipro-WASE, Bengaluru</a:t>
            </a:r>
          </a:p>
        </p:txBody>
      </p:sp>
      <p:sp>
        <p:nvSpPr>
          <p:cNvPr id="18436" name="Slide Number Placeholder 2">
            <a:extLst>
              <a:ext uri="{FF2B5EF4-FFF2-40B4-BE49-F238E27FC236}">
                <a16:creationId xmlns:a16="http://schemas.microsoft.com/office/drawing/2014/main" xmlns="" id="{E4FD0579-1766-353F-578D-035E79BF1C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055B8FDB-D63F-4C69-8E37-1D0C4F91AA89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18437" name="Google Shape;190;g2231df5f08c_0_0">
            <a:extLst>
              <a:ext uri="{FF2B5EF4-FFF2-40B4-BE49-F238E27FC236}">
                <a16:creationId xmlns:a16="http://schemas.microsoft.com/office/drawing/2014/main" xmlns="" id="{1724DF81-CB38-5CE6-577B-982632189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063625"/>
            <a:ext cx="72104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ts val="4400"/>
              <a:buFontTx/>
              <a:buNone/>
            </a:pPr>
            <a:r>
              <a:rPr lang="en-US" altLang="en-US" sz="3300" b="1"/>
              <a:t>  IMP Note to Self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>
          <a:xfrm>
            <a:off x="1828800" y="1493838"/>
            <a:ext cx="8229600" cy="4525962"/>
          </a:xfrm>
        </p:spPr>
        <p:txBody>
          <a:bodyPr/>
          <a:lstStyle/>
          <a:p>
            <a:pPr marL="457200" indent="-457200" fontAlgn="base">
              <a:spcAft>
                <a:spcPct val="0"/>
              </a:spcAft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Socket Programming with TCP / UDP</a:t>
            </a:r>
          </a:p>
          <a:p>
            <a:pPr marL="457200" indent="-457200" fontAlgn="base">
              <a:spcAft>
                <a:spcPct val="0"/>
              </a:spcAft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Multiplexing</a:t>
            </a:r>
          </a:p>
          <a:p>
            <a:pPr marL="457200" indent="-457200" fontAlgn="base">
              <a:spcAft>
                <a:spcPct val="0"/>
              </a:spcAft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Sliding window</a:t>
            </a:r>
          </a:p>
          <a:p>
            <a:pPr marL="0" indent="0" fontAlgn="base">
              <a:spcAft>
                <a:spcPct val="0"/>
              </a:spcAft>
            </a:pPr>
            <a:endParaRPr lang="en-US" altLang="en-US" dirty="0">
              <a:solidFill>
                <a:srgbClr val="0070C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/>
        <p:txBody>
          <a:bodyPr rtlCol="0"/>
          <a:lstStyle/>
          <a:p>
            <a:pPr>
              <a:defRPr/>
            </a:pPr>
            <a:r>
              <a:rPr lang="en-US" b="0" dirty="0">
                <a:solidFill>
                  <a:srgbClr val="FF0000"/>
                </a:solidFill>
              </a:rPr>
              <a:t>Agenda </a:t>
            </a:r>
          </a:p>
        </p:txBody>
      </p:sp>
    </p:spTree>
    <p:extLst>
      <p:ext uri="{BB962C8B-B14F-4D97-AF65-F5344CB8AC3E}">
        <p14:creationId xmlns:p14="http://schemas.microsoft.com/office/powerpoint/2010/main" val="235049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>
            <a:extLst>
              <a:ext uri="{FF2B5EF4-FFF2-40B4-BE49-F238E27FC236}">
                <a16:creationId xmlns:a16="http://schemas.microsoft.com/office/drawing/2014/main" xmlns="" id="{28F4351F-73EA-23FE-8826-5C480EF9CB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1" y="1493838"/>
            <a:ext cx="8518525" cy="4906962"/>
          </a:xfrm>
        </p:spPr>
        <p:txBody>
          <a:bodyPr/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altLang="en-US"/>
              <a:t>It is important  to know that just login to the session does not guarantee the  attendance.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altLang="en-US"/>
              <a:t>Once you join the session, continue till the end to consider you as present in the class.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altLang="en-US"/>
              <a:t>IMPORTANTLY, you need to make the class more interactive by responding to Professors queries in the session.</a:t>
            </a:r>
          </a:p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altLang="en-US"/>
              <a:t> </a:t>
            </a:r>
            <a:r>
              <a:rPr lang="en-IN" altLang="en-US" b="1">
                <a:solidFill>
                  <a:srgbClr val="FF0000"/>
                </a:solidFill>
              </a:rPr>
              <a:t>Whenever Professor calls your number / name, you need to respond, otherwise it will be considered as ABSENT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A891EA4-0D27-20A4-8ACC-5DBD10FB27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28800" y="152401"/>
            <a:ext cx="6324600" cy="1082675"/>
          </a:xfrm>
        </p:spPr>
        <p:txBody>
          <a:bodyPr/>
          <a:lstStyle/>
          <a:p>
            <a:pPr>
              <a:defRPr/>
            </a:pPr>
            <a:r>
              <a:rPr lang="en-IN" dirty="0"/>
              <a:t>Important Note to Students</a:t>
            </a:r>
          </a:p>
        </p:txBody>
      </p:sp>
      <p:sp>
        <p:nvSpPr>
          <p:cNvPr id="19460" name="Footer Placeholder 2">
            <a:extLst>
              <a:ext uri="{FF2B5EF4-FFF2-40B4-BE49-F238E27FC236}">
                <a16:creationId xmlns:a16="http://schemas.microsoft.com/office/drawing/2014/main" xmlns="" id="{5A864A9F-352B-530D-7AE4-0C8385075D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200">
                <a:solidFill>
                  <a:srgbClr val="898989"/>
                </a:solidFill>
              </a:rPr>
              <a:t>Dr. Rama Satish K V, Visiting Professor, Wipro-WASE, Bengaluru</a:t>
            </a:r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xmlns="" id="{12C5738B-1D0A-6F87-E3CE-6F26E24B40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sym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fld id="{8A755961-4D20-4A8E-B7EC-F6255010B934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4">
            <a:extLst>
              <a:ext uri="{FF2B5EF4-FFF2-40B4-BE49-F238E27FC236}">
                <a16:creationId xmlns:a16="http://schemas.microsoft.com/office/drawing/2014/main" xmlns="" id="{1ED9F589-6205-E481-6EFD-9EDDA443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98307" name="Slide Number Placeholder 5">
            <a:extLst>
              <a:ext uri="{FF2B5EF4-FFF2-40B4-BE49-F238E27FC236}">
                <a16:creationId xmlns:a16="http://schemas.microsoft.com/office/drawing/2014/main" xmlns="" id="{24238F74-5D7E-0DF6-550F-BBC89680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016B9B57-EE86-426F-9E2D-14AF6EBA178D}" type="slidenum">
              <a:rPr lang="en-US" altLang="en-US" sz="1400">
                <a:latin typeface="Times New Roman" panose="02020603050405020304" pitchFamily="18" charset="0"/>
              </a:rPr>
              <a:pPr/>
              <a:t>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98308" name="Rectangle 2">
            <a:extLst>
              <a:ext uri="{FF2B5EF4-FFF2-40B4-BE49-F238E27FC236}">
                <a16:creationId xmlns:a16="http://schemas.microsoft.com/office/drawing/2014/main" xmlns="" id="{30BACDD6-7406-D787-A019-B76D9E674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47650"/>
            <a:ext cx="7772400" cy="857250"/>
          </a:xfrm>
        </p:spPr>
        <p:txBody>
          <a:bodyPr/>
          <a:lstStyle/>
          <a:p>
            <a:r>
              <a:rPr lang="en-US" altLang="en-US"/>
              <a:t>Socket programming</a:t>
            </a:r>
          </a:p>
        </p:txBody>
      </p:sp>
      <p:sp>
        <p:nvSpPr>
          <p:cNvPr id="98309" name="Rectangle 3">
            <a:extLst>
              <a:ext uri="{FF2B5EF4-FFF2-40B4-BE49-F238E27FC236}">
                <a16:creationId xmlns:a16="http://schemas.microsoft.com/office/drawing/2014/main" xmlns="" id="{46E152DA-A7D1-984A-6CC3-914F705DAA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8850" y="2295525"/>
            <a:ext cx="3962400" cy="36957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Socket API</a:t>
            </a:r>
            <a:endParaRPr lang="en-US" altLang="en-US" sz="2400" dirty="0"/>
          </a:p>
          <a:p>
            <a:r>
              <a:rPr lang="en-US" altLang="en-US" sz="2000" dirty="0"/>
              <a:t>introduced in BSD4.1 UNIX, 1981</a:t>
            </a:r>
          </a:p>
          <a:p>
            <a:r>
              <a:rPr lang="en-US" altLang="en-US" sz="2000" dirty="0"/>
              <a:t>explicitly created, used, released by apps </a:t>
            </a:r>
          </a:p>
          <a:p>
            <a:r>
              <a:rPr lang="en-US" altLang="en-US" sz="2000" dirty="0"/>
              <a:t>client/server paradigm </a:t>
            </a:r>
          </a:p>
          <a:p>
            <a:r>
              <a:rPr lang="en-US" altLang="en-US" sz="2000" dirty="0"/>
              <a:t>two types of transport service via socket API: </a:t>
            </a:r>
          </a:p>
          <a:p>
            <a:pPr lvl="1"/>
            <a:r>
              <a:rPr lang="en-US" altLang="en-US" sz="2000" dirty="0"/>
              <a:t>unreliable datagram </a:t>
            </a:r>
          </a:p>
          <a:p>
            <a:pPr lvl="1"/>
            <a:r>
              <a:rPr lang="en-US" altLang="en-US" sz="2000" dirty="0"/>
              <a:t>reliable, byte stream-oriented </a:t>
            </a:r>
          </a:p>
        </p:txBody>
      </p:sp>
      <p:grpSp>
        <p:nvGrpSpPr>
          <p:cNvPr id="98310" name="Group 4">
            <a:extLst>
              <a:ext uri="{FF2B5EF4-FFF2-40B4-BE49-F238E27FC236}">
                <a16:creationId xmlns:a16="http://schemas.microsoft.com/office/drawing/2014/main" xmlns="" id="{0397B283-C75D-B32E-D363-7A3114F38EDE}"/>
              </a:ext>
            </a:extLst>
          </p:cNvPr>
          <p:cNvGrpSpPr>
            <a:grpSpLocks/>
          </p:cNvGrpSpPr>
          <p:nvPr/>
        </p:nvGrpSpPr>
        <p:grpSpPr bwMode="auto">
          <a:xfrm>
            <a:off x="6772276" y="2314576"/>
            <a:ext cx="3338513" cy="3719513"/>
            <a:chOff x="3198" y="1248"/>
            <a:chExt cx="2103" cy="2343"/>
          </a:xfrm>
        </p:grpSpPr>
        <p:sp>
          <p:nvSpPr>
            <p:cNvPr id="98312" name="Text Box 5">
              <a:extLst>
                <a:ext uri="{FF2B5EF4-FFF2-40B4-BE49-F238E27FC236}">
                  <a16:creationId xmlns:a16="http://schemas.microsoft.com/office/drawing/2014/main" xmlns="" id="{B96B91F6-9684-6E90-CF7E-A2D2D09ED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3" y="1575"/>
              <a:ext cx="2078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a </a:t>
              </a:r>
              <a:r>
                <a:rPr lang="en-US" altLang="en-US" sz="2000" i="1">
                  <a:solidFill>
                    <a:srgbClr val="FF0000"/>
                  </a:solidFill>
                </a:rPr>
                <a:t>host-local</a:t>
              </a:r>
              <a:r>
                <a:rPr lang="en-US" altLang="en-US" sz="2000"/>
                <a:t>,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FF0000"/>
                  </a:solidFill>
                </a:rPr>
                <a:t>application-created</a:t>
              </a:r>
              <a:r>
                <a:rPr lang="en-US" altLang="en-US" sz="2000"/>
                <a:t>,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FF0000"/>
                  </a:solidFill>
                </a:rPr>
                <a:t>OS-controlled</a:t>
              </a:r>
              <a:r>
                <a:rPr lang="en-US" altLang="en-US" sz="2000"/>
                <a:t> interface (a “door”) into which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application process can </a:t>
              </a:r>
              <a:r>
                <a:rPr lang="en-US" altLang="en-US" sz="2000">
                  <a:solidFill>
                    <a:srgbClr val="FF0000"/>
                  </a:solidFill>
                </a:rPr>
                <a:t>both send and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FF0000"/>
                  </a:solidFill>
                </a:rPr>
                <a:t>receive</a:t>
              </a:r>
              <a:r>
                <a:rPr lang="en-US" altLang="en-US" sz="2000"/>
                <a:t> messages to/from another application process</a:t>
              </a:r>
              <a:endParaRPr lang="en-US" altLang="en-US" sz="2000"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98313" name="Rectangle 6">
              <a:extLst>
                <a:ext uri="{FF2B5EF4-FFF2-40B4-BE49-F238E27FC236}">
                  <a16:creationId xmlns:a16="http://schemas.microsoft.com/office/drawing/2014/main" xmlns="" id="{D0886F5A-3340-4D8F-3A18-95AA7AFB8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392"/>
              <a:ext cx="2076" cy="2196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8314" name="Group 7">
              <a:extLst>
                <a:ext uri="{FF2B5EF4-FFF2-40B4-BE49-F238E27FC236}">
                  <a16:creationId xmlns:a16="http://schemas.microsoft.com/office/drawing/2014/main" xmlns="" id="{77519F09-AB7A-6A7D-D0A1-C3BECC8D7D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2" y="1248"/>
              <a:ext cx="708" cy="288"/>
              <a:chOff x="134" y="3906"/>
              <a:chExt cx="708" cy="288"/>
            </a:xfrm>
          </p:grpSpPr>
          <p:sp>
            <p:nvSpPr>
              <p:cNvPr id="98315" name="Rectangle 8">
                <a:extLst>
                  <a:ext uri="{FF2B5EF4-FFF2-40B4-BE49-F238E27FC236}">
                    <a16:creationId xmlns:a16="http://schemas.microsoft.com/office/drawing/2014/main" xmlns="" id="{768D6BBA-ABA9-796C-28E7-96DBBDD60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" y="3924"/>
                <a:ext cx="678" cy="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8316" name="Text Box 9">
                <a:extLst>
                  <a:ext uri="{FF2B5EF4-FFF2-40B4-BE49-F238E27FC236}">
                    <a16:creationId xmlns:a16="http://schemas.microsoft.com/office/drawing/2014/main" xmlns="" id="{362164B0-0876-02CA-F02A-674494C856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" y="3906"/>
                <a:ext cx="7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solidFill>
                      <a:schemeClr val="accent2"/>
                    </a:solidFill>
                  </a:rPr>
                  <a:t>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98311" name="Rectangle 10">
            <a:extLst>
              <a:ext uri="{FF2B5EF4-FFF2-40B4-BE49-F238E27FC236}">
                <a16:creationId xmlns:a16="http://schemas.microsoft.com/office/drawing/2014/main" xmlns="" id="{FA08CE83-30E7-EFD4-AB02-DCCB3E791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6" y="1276350"/>
            <a:ext cx="81629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u="sng">
                <a:solidFill>
                  <a:srgbClr val="FF0000"/>
                </a:solidFill>
              </a:rPr>
              <a:t>Goal:</a:t>
            </a:r>
            <a:r>
              <a:rPr lang="en-US" altLang="en-US"/>
              <a:t> learn how to build client/server application that communicate using sockets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Footer Placeholder 4">
            <a:extLst>
              <a:ext uri="{FF2B5EF4-FFF2-40B4-BE49-F238E27FC236}">
                <a16:creationId xmlns:a16="http://schemas.microsoft.com/office/drawing/2014/main" xmlns="" id="{B8B56249-481A-06BF-46C4-C1E26E68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99331" name="Slide Number Placeholder 5">
            <a:extLst>
              <a:ext uri="{FF2B5EF4-FFF2-40B4-BE49-F238E27FC236}">
                <a16:creationId xmlns:a16="http://schemas.microsoft.com/office/drawing/2014/main" xmlns="" id="{B07355C6-9D8E-E333-7B61-C0AEDF50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4D9A660-BAAD-421E-B112-E9BEE38B6336}" type="slidenum">
              <a:rPr lang="en-US" altLang="en-US" sz="1400">
                <a:latin typeface="Times New Roman" panose="02020603050405020304" pitchFamily="18" charset="0"/>
              </a:rPr>
              <a:pPr/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99332" name="Rectangle 2">
            <a:extLst>
              <a:ext uri="{FF2B5EF4-FFF2-40B4-BE49-F238E27FC236}">
                <a16:creationId xmlns:a16="http://schemas.microsoft.com/office/drawing/2014/main" xmlns="" id="{6A42B109-794F-454B-2D04-C0539EE801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Socket-programming using TCP</a:t>
            </a:r>
            <a:endParaRPr lang="en-US" altLang="en-US"/>
          </a:p>
        </p:txBody>
      </p:sp>
      <p:sp>
        <p:nvSpPr>
          <p:cNvPr id="99333" name="Rectangle 3">
            <a:extLst>
              <a:ext uri="{FF2B5EF4-FFF2-40B4-BE49-F238E27FC236}">
                <a16:creationId xmlns:a16="http://schemas.microsoft.com/office/drawing/2014/main" xmlns="" id="{17005CF3-4F50-F71A-7BD6-CCF86B8CA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24075" y="1419226"/>
            <a:ext cx="7772400" cy="1533525"/>
          </a:xfrm>
        </p:spPr>
        <p:txBody>
          <a:bodyPr>
            <a:normAutofit lnSpcReduction="10000"/>
          </a:bodyPr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Socket:</a:t>
            </a:r>
            <a:r>
              <a:rPr lang="en-US" altLang="en-US" sz="2400"/>
              <a:t> a door between application process and end-end-transport protocol (UCP or TCP)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TCP service:</a:t>
            </a:r>
            <a:r>
              <a:rPr lang="en-US" altLang="en-US" sz="2400"/>
              <a:t> reliable transfer of </a:t>
            </a:r>
            <a:r>
              <a:rPr lang="en-US" altLang="en-US" sz="2400" b="1">
                <a:solidFill>
                  <a:schemeClr val="accent2"/>
                </a:solidFill>
              </a:rPr>
              <a:t>bytes</a:t>
            </a:r>
            <a:r>
              <a:rPr lang="en-US" altLang="en-US" sz="2400">
                <a:solidFill>
                  <a:schemeClr val="accent2"/>
                </a:solidFill>
              </a:rPr>
              <a:t> </a:t>
            </a:r>
            <a:r>
              <a:rPr lang="en-US" altLang="en-US" sz="2400"/>
              <a:t>from one process to another</a:t>
            </a:r>
            <a:endParaRPr lang="en-US" altLang="en-US"/>
          </a:p>
        </p:txBody>
      </p:sp>
      <p:graphicFrame>
        <p:nvGraphicFramePr>
          <p:cNvPr id="99334" name="Object 4">
            <a:extLst>
              <a:ext uri="{FF2B5EF4-FFF2-40B4-BE49-F238E27FC236}">
                <a16:creationId xmlns:a16="http://schemas.microsoft.com/office/drawing/2014/main" xmlns="" id="{4740515C-1966-1DA1-48DB-885E5E7CE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7275" y="3513139"/>
          <a:ext cx="1123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lip" r:id="rId3" imgW="1307263" imgH="1084139" progId="MS_ClipArt_Gallery.2">
                  <p:embed/>
                </p:oleObj>
              </mc:Choice>
              <mc:Fallback>
                <p:oleObj name="Clip" r:id="rId3" imgW="1307263" imgH="1084139" progId="MS_ClipArt_Gallery.2">
                  <p:embed/>
                  <p:pic>
                    <p:nvPicPr>
                      <p:cNvPr id="99334" name="Object 4">
                        <a:extLst>
                          <a:ext uri="{FF2B5EF4-FFF2-40B4-BE49-F238E27FC236}">
                            <a16:creationId xmlns:a16="http://schemas.microsoft.com/office/drawing/2014/main" xmlns="" id="{4740515C-1966-1DA1-48DB-885E5E7CE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3513139"/>
                        <a:ext cx="11239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35" name="Group 5">
            <a:extLst>
              <a:ext uri="{FF2B5EF4-FFF2-40B4-BE49-F238E27FC236}">
                <a16:creationId xmlns:a16="http://schemas.microsoft.com/office/drawing/2014/main" xmlns="" id="{2D73995E-7065-E140-7FFC-2A3B4C61A9EB}"/>
              </a:ext>
            </a:extLst>
          </p:cNvPr>
          <p:cNvGrpSpPr>
            <a:grpSpLocks/>
          </p:cNvGrpSpPr>
          <p:nvPr/>
        </p:nvGrpSpPr>
        <p:grpSpPr bwMode="auto">
          <a:xfrm>
            <a:off x="3640138" y="3854451"/>
            <a:ext cx="1136650" cy="1584325"/>
            <a:chOff x="649" y="2260"/>
            <a:chExt cx="716" cy="998"/>
          </a:xfrm>
        </p:grpSpPr>
        <p:sp>
          <p:nvSpPr>
            <p:cNvPr id="99359" name="Rectangle 6">
              <a:extLst>
                <a:ext uri="{FF2B5EF4-FFF2-40B4-BE49-F238E27FC236}">
                  <a16:creationId xmlns:a16="http://schemas.microsoft.com/office/drawing/2014/main" xmlns="" id="{EA0C9D90-3184-DDDA-68D2-E0C21889D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" y="2280"/>
              <a:ext cx="64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360" name="Text Box 7">
              <a:extLst>
                <a:ext uri="{FF2B5EF4-FFF2-40B4-BE49-F238E27FC236}">
                  <a16:creationId xmlns:a16="http://schemas.microsoft.com/office/drawing/2014/main" xmlns="" id="{5260F5B0-816D-D359-ABC0-892E622DD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" y="2260"/>
              <a:ext cx="6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process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99361" name="Group 8">
              <a:extLst>
                <a:ext uri="{FF2B5EF4-FFF2-40B4-BE49-F238E27FC236}">
                  <a16:creationId xmlns:a16="http://schemas.microsoft.com/office/drawing/2014/main" xmlns="" id="{666E33DB-EF5D-50F5-B52D-4754E65DF6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9" y="2628"/>
              <a:ext cx="716" cy="630"/>
              <a:chOff x="637" y="2610"/>
              <a:chExt cx="716" cy="630"/>
            </a:xfrm>
          </p:grpSpPr>
          <p:sp>
            <p:nvSpPr>
              <p:cNvPr id="99365" name="Text Box 9">
                <a:extLst>
                  <a:ext uri="{FF2B5EF4-FFF2-40B4-BE49-F238E27FC236}">
                    <a16:creationId xmlns:a16="http://schemas.microsoft.com/office/drawing/2014/main" xmlns="" id="{AB7FEF56-CC41-398F-BEDE-740680846A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" y="2658"/>
                <a:ext cx="716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TCP with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buffers,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variables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66" name="Rectangle 10">
                <a:extLst>
                  <a:ext uri="{FF2B5EF4-FFF2-40B4-BE49-F238E27FC236}">
                    <a16:creationId xmlns:a16="http://schemas.microsoft.com/office/drawing/2014/main" xmlns="" id="{0EE7B0FA-3412-D5F1-FE0F-07530AA1A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610"/>
                <a:ext cx="642" cy="6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9362" name="Group 11">
              <a:extLst>
                <a:ext uri="{FF2B5EF4-FFF2-40B4-BE49-F238E27FC236}">
                  <a16:creationId xmlns:a16="http://schemas.microsoft.com/office/drawing/2014/main" xmlns="" id="{5F74381C-5AA6-6C25-453D-73B2CBE60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" y="2500"/>
              <a:ext cx="561" cy="231"/>
              <a:chOff x="897" y="3736"/>
              <a:chExt cx="561" cy="231"/>
            </a:xfrm>
          </p:grpSpPr>
          <p:sp>
            <p:nvSpPr>
              <p:cNvPr id="99363" name="Rectangle 12">
                <a:extLst>
                  <a:ext uri="{FF2B5EF4-FFF2-40B4-BE49-F238E27FC236}">
                    <a16:creationId xmlns:a16="http://schemas.microsoft.com/office/drawing/2014/main" xmlns="" id="{94DEE0D1-909A-7692-2A43-E457A5849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3774"/>
                <a:ext cx="492" cy="1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9364" name="Text Box 13">
                <a:extLst>
                  <a:ext uri="{FF2B5EF4-FFF2-40B4-BE49-F238E27FC236}">
                    <a16:creationId xmlns:a16="http://schemas.microsoft.com/office/drawing/2014/main" xmlns="" id="{3DB84954-625D-BF6A-38A1-40DDC4346D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" y="3736"/>
                <a:ext cx="5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99336" name="Text Box 14">
            <a:extLst>
              <a:ext uri="{FF2B5EF4-FFF2-40B4-BE49-F238E27FC236}">
                <a16:creationId xmlns:a16="http://schemas.microsoft.com/office/drawing/2014/main" xmlns="" id="{910A470F-C738-C52E-D1BA-2E09DE24D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3681413"/>
            <a:ext cx="14303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controlled by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application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developer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7" name="Text Box 15">
            <a:extLst>
              <a:ext uri="{FF2B5EF4-FFF2-40B4-BE49-F238E27FC236}">
                <a16:creationId xmlns:a16="http://schemas.microsoft.com/office/drawing/2014/main" xmlns="" id="{8D1D718D-3856-3C4C-2ACE-D9AD42631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0" y="4548188"/>
            <a:ext cx="14303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controlled by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operating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system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8" name="Line 16">
            <a:extLst>
              <a:ext uri="{FF2B5EF4-FFF2-40B4-BE49-F238E27FC236}">
                <a16:creationId xmlns:a16="http://schemas.microsoft.com/office/drawing/2014/main" xmlns="" id="{A0923412-F763-D0B8-1A99-8E6627ABF7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7100" y="3895726"/>
            <a:ext cx="0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9339" name="Line 17">
            <a:extLst>
              <a:ext uri="{FF2B5EF4-FFF2-40B4-BE49-F238E27FC236}">
                <a16:creationId xmlns:a16="http://schemas.microsoft.com/office/drawing/2014/main" xmlns="" id="{88B0F0AA-3FFC-5BDA-7847-9294318472B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57575" y="4476751"/>
            <a:ext cx="0" cy="1000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9340" name="Text Box 18">
            <a:extLst>
              <a:ext uri="{FF2B5EF4-FFF2-40B4-BE49-F238E27FC236}">
                <a16:creationId xmlns:a16="http://schemas.microsoft.com/office/drawing/2014/main" xmlns="" id="{339B63A0-AAC9-1F3D-D607-757F2B529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1414" y="5600701"/>
            <a:ext cx="1038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host or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server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99341" name="Object 19">
            <a:extLst>
              <a:ext uri="{FF2B5EF4-FFF2-40B4-BE49-F238E27FC236}">
                <a16:creationId xmlns:a16="http://schemas.microsoft.com/office/drawing/2014/main" xmlns="" id="{26A3E43C-8615-6A59-2F7F-741B3AAEEF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4875" y="3408364"/>
          <a:ext cx="1123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lip" r:id="rId5" imgW="1307263" imgH="1084139" progId="MS_ClipArt_Gallery.2">
                  <p:embed/>
                </p:oleObj>
              </mc:Choice>
              <mc:Fallback>
                <p:oleObj name="Clip" r:id="rId5" imgW="1307263" imgH="1084139" progId="MS_ClipArt_Gallery.2">
                  <p:embed/>
                  <p:pic>
                    <p:nvPicPr>
                      <p:cNvPr id="99341" name="Object 19">
                        <a:extLst>
                          <a:ext uri="{FF2B5EF4-FFF2-40B4-BE49-F238E27FC236}">
                            <a16:creationId xmlns:a16="http://schemas.microsoft.com/office/drawing/2014/main" xmlns="" id="{26A3E43C-8615-6A59-2F7F-741B3AAEEF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4875" y="3408364"/>
                        <a:ext cx="112395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42" name="Group 20">
            <a:extLst>
              <a:ext uri="{FF2B5EF4-FFF2-40B4-BE49-F238E27FC236}">
                <a16:creationId xmlns:a16="http://schemas.microsoft.com/office/drawing/2014/main" xmlns="" id="{E641F697-7D03-0DE9-3D34-DDAB2F0B26E2}"/>
              </a:ext>
            </a:extLst>
          </p:cNvPr>
          <p:cNvGrpSpPr>
            <a:grpSpLocks/>
          </p:cNvGrpSpPr>
          <p:nvPr/>
        </p:nvGrpSpPr>
        <p:grpSpPr bwMode="auto">
          <a:xfrm>
            <a:off x="7297738" y="3749676"/>
            <a:ext cx="1136650" cy="1584325"/>
            <a:chOff x="649" y="2260"/>
            <a:chExt cx="716" cy="998"/>
          </a:xfrm>
        </p:grpSpPr>
        <p:sp>
          <p:nvSpPr>
            <p:cNvPr id="99351" name="Rectangle 21">
              <a:extLst>
                <a:ext uri="{FF2B5EF4-FFF2-40B4-BE49-F238E27FC236}">
                  <a16:creationId xmlns:a16="http://schemas.microsoft.com/office/drawing/2014/main" xmlns="" id="{AA32CEF2-9D8E-7D4C-1D0B-48F288AB7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" y="2280"/>
              <a:ext cx="642" cy="2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9352" name="Text Box 22">
              <a:extLst>
                <a:ext uri="{FF2B5EF4-FFF2-40B4-BE49-F238E27FC236}">
                  <a16:creationId xmlns:a16="http://schemas.microsoft.com/office/drawing/2014/main" xmlns="" id="{21D563AC-94B4-E518-D054-884540D05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" y="2260"/>
              <a:ext cx="6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process</a:t>
              </a:r>
              <a:endParaRPr lang="en-US" altLang="en-US" sz="1800">
                <a:latin typeface="Times New Roman" panose="02020603050405020304" pitchFamily="18" charset="0"/>
              </a:endParaRPr>
            </a:p>
          </p:txBody>
        </p:sp>
        <p:grpSp>
          <p:nvGrpSpPr>
            <p:cNvPr id="99353" name="Group 23">
              <a:extLst>
                <a:ext uri="{FF2B5EF4-FFF2-40B4-BE49-F238E27FC236}">
                  <a16:creationId xmlns:a16="http://schemas.microsoft.com/office/drawing/2014/main" xmlns="" id="{8EF5ECD5-0C3F-19AF-AC58-58701ACED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9" y="2628"/>
              <a:ext cx="716" cy="630"/>
              <a:chOff x="637" y="2610"/>
              <a:chExt cx="716" cy="630"/>
            </a:xfrm>
          </p:grpSpPr>
          <p:sp>
            <p:nvSpPr>
              <p:cNvPr id="99357" name="Text Box 24">
                <a:extLst>
                  <a:ext uri="{FF2B5EF4-FFF2-40B4-BE49-F238E27FC236}">
                    <a16:creationId xmlns:a16="http://schemas.microsoft.com/office/drawing/2014/main" xmlns="" id="{F3173393-CEB6-AC08-DB07-2365BB280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" y="2658"/>
                <a:ext cx="716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TCP with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buffers,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variables</a:t>
                </a:r>
                <a:endParaRPr lang="en-US" altLang="en-US" sz="1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9358" name="Rectangle 25">
                <a:extLst>
                  <a:ext uri="{FF2B5EF4-FFF2-40B4-BE49-F238E27FC236}">
                    <a16:creationId xmlns:a16="http://schemas.microsoft.com/office/drawing/2014/main" xmlns="" id="{1B2CF5EA-E8AA-BD8F-4833-46852CE60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2610"/>
                <a:ext cx="642" cy="6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99354" name="Group 26">
              <a:extLst>
                <a:ext uri="{FF2B5EF4-FFF2-40B4-BE49-F238E27FC236}">
                  <a16:creationId xmlns:a16="http://schemas.microsoft.com/office/drawing/2014/main" xmlns="" id="{5D08B13B-F41B-2AE6-881F-586783031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1" y="2500"/>
              <a:ext cx="561" cy="231"/>
              <a:chOff x="897" y="3736"/>
              <a:chExt cx="561" cy="231"/>
            </a:xfrm>
          </p:grpSpPr>
          <p:sp>
            <p:nvSpPr>
              <p:cNvPr id="99355" name="Rectangle 27">
                <a:extLst>
                  <a:ext uri="{FF2B5EF4-FFF2-40B4-BE49-F238E27FC236}">
                    <a16:creationId xmlns:a16="http://schemas.microsoft.com/office/drawing/2014/main" xmlns="" id="{D0B72ADE-2594-862D-7384-A3A691F9B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3774"/>
                <a:ext cx="492" cy="1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9356" name="Text Box 28">
                <a:extLst>
                  <a:ext uri="{FF2B5EF4-FFF2-40B4-BE49-F238E27FC236}">
                    <a16:creationId xmlns:a16="http://schemas.microsoft.com/office/drawing/2014/main" xmlns="" id="{971DA5A5-1A3A-994B-9DEB-4AD8CCF47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7" y="3736"/>
                <a:ext cx="56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solidFill>
                      <a:schemeClr val="bg1"/>
                    </a:solidFill>
                  </a:rPr>
                  <a:t>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99343" name="Text Box 29">
            <a:extLst>
              <a:ext uri="{FF2B5EF4-FFF2-40B4-BE49-F238E27FC236}">
                <a16:creationId xmlns:a16="http://schemas.microsoft.com/office/drawing/2014/main" xmlns="" id="{04BFB533-C634-3513-A234-940DFC9C5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2350" y="3519488"/>
            <a:ext cx="143033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controlled by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application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developer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44" name="Text Box 30">
            <a:extLst>
              <a:ext uri="{FF2B5EF4-FFF2-40B4-BE49-F238E27FC236}">
                <a16:creationId xmlns:a16="http://schemas.microsoft.com/office/drawing/2014/main" xmlns="" id="{DF30A1D8-ABE4-5C7C-3A0D-0CA0557F2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7114" y="4433888"/>
            <a:ext cx="143033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controlled by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operating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system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45" name="Line 31">
            <a:extLst>
              <a:ext uri="{FF2B5EF4-FFF2-40B4-BE49-F238E27FC236}">
                <a16:creationId xmlns:a16="http://schemas.microsoft.com/office/drawing/2014/main" xmlns="" id="{8B1B6352-7868-CF89-A9CC-19FD0C80D8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3450" y="3762376"/>
            <a:ext cx="0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9346" name="Line 32">
            <a:extLst>
              <a:ext uri="{FF2B5EF4-FFF2-40B4-BE49-F238E27FC236}">
                <a16:creationId xmlns:a16="http://schemas.microsoft.com/office/drawing/2014/main" xmlns="" id="{7FBC4D8A-03EC-326E-3474-E819DAC85F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43925" y="4343401"/>
            <a:ext cx="0" cy="1000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9347" name="Text Box 33">
            <a:extLst>
              <a:ext uri="{FF2B5EF4-FFF2-40B4-BE49-F238E27FC236}">
                <a16:creationId xmlns:a16="http://schemas.microsoft.com/office/drawing/2014/main" xmlns="" id="{43CFF22E-E96B-3BFE-8421-F94AE95D5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9014" y="5495926"/>
            <a:ext cx="10382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host or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server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48" name="Freeform 34">
            <a:extLst>
              <a:ext uri="{FF2B5EF4-FFF2-40B4-BE49-F238E27FC236}">
                <a16:creationId xmlns:a16="http://schemas.microsoft.com/office/drawing/2014/main" xmlns="" id="{0B4E4697-D289-FA12-E0B9-81B5CF61AFD9}"/>
              </a:ext>
            </a:extLst>
          </p:cNvPr>
          <p:cNvSpPr>
            <a:spLocks/>
          </p:cNvSpPr>
          <p:nvPr/>
        </p:nvSpPr>
        <p:spPr bwMode="auto">
          <a:xfrm>
            <a:off x="5121275" y="4229101"/>
            <a:ext cx="1798638" cy="1674813"/>
          </a:xfrm>
          <a:custGeom>
            <a:avLst/>
            <a:gdLst>
              <a:gd name="T0" fmla="*/ 332720 w 1292"/>
              <a:gd name="T1" fmla="*/ 9342 h 1255"/>
              <a:gd name="T2" fmla="*/ 48725 w 1292"/>
              <a:gd name="T3" fmla="*/ 209518 h 1255"/>
              <a:gd name="T4" fmla="*/ 40372 w 1292"/>
              <a:gd name="T5" fmla="*/ 697950 h 1255"/>
              <a:gd name="T6" fmla="*/ 73783 w 1292"/>
              <a:gd name="T7" fmla="*/ 1106311 h 1255"/>
              <a:gd name="T8" fmla="*/ 341073 w 1292"/>
              <a:gd name="T9" fmla="*/ 1162360 h 1255"/>
              <a:gd name="T10" fmla="*/ 900711 w 1292"/>
              <a:gd name="T11" fmla="*/ 1506664 h 1255"/>
              <a:gd name="T12" fmla="*/ 1385174 w 1292"/>
              <a:gd name="T13" fmla="*/ 1650792 h 1255"/>
              <a:gd name="T14" fmla="*/ 1669169 w 1292"/>
              <a:gd name="T15" fmla="*/ 1362537 h 1255"/>
              <a:gd name="T16" fmla="*/ 1769403 w 1292"/>
              <a:gd name="T17" fmla="*/ 593858 h 1255"/>
              <a:gd name="T18" fmla="*/ 1677522 w 1292"/>
              <a:gd name="T19" fmla="*/ 281582 h 1255"/>
              <a:gd name="T20" fmla="*/ 1042709 w 1292"/>
              <a:gd name="T21" fmla="*/ 153469 h 1255"/>
              <a:gd name="T22" fmla="*/ 332720 w 1292"/>
              <a:gd name="T23" fmla="*/ 9342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9349" name="Text Box 35">
            <a:extLst>
              <a:ext uri="{FF2B5EF4-FFF2-40B4-BE49-F238E27FC236}">
                <a16:creationId xmlns:a16="http://schemas.microsoft.com/office/drawing/2014/main" xmlns="" id="{D4EF831E-6004-15C0-89BD-A60AB24D2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413" y="4838701"/>
            <a:ext cx="1162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internet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50" name="Line 36">
            <a:extLst>
              <a:ext uri="{FF2B5EF4-FFF2-40B4-BE49-F238E27FC236}">
                <a16:creationId xmlns:a16="http://schemas.microsoft.com/office/drawing/2014/main" xmlns="" id="{460E10B7-50CF-0E85-34D1-5C7DFD77BD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2975" y="4733926"/>
            <a:ext cx="2533650" cy="95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5">
            <a:extLst>
              <a:ext uri="{FF2B5EF4-FFF2-40B4-BE49-F238E27FC236}">
                <a16:creationId xmlns:a16="http://schemas.microsoft.com/office/drawing/2014/main" xmlns="" id="{0DA249B3-4590-F866-9763-38B6850A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0355" name="Slide Number Placeholder 6">
            <a:extLst>
              <a:ext uri="{FF2B5EF4-FFF2-40B4-BE49-F238E27FC236}">
                <a16:creationId xmlns:a16="http://schemas.microsoft.com/office/drawing/2014/main" xmlns="" id="{CA855A64-270B-8D74-0184-A2C16526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71B5CF05-5E26-422C-A130-E1CC8C85AE48}" type="slidenum">
              <a:rPr lang="en-US" altLang="en-US" sz="1400">
                <a:latin typeface="Times New Roman" panose="02020603050405020304" pitchFamily="18" charset="0"/>
              </a:rPr>
              <a:pPr/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0356" name="Rectangle 2">
            <a:extLst>
              <a:ext uri="{FF2B5EF4-FFF2-40B4-BE49-F238E27FC236}">
                <a16:creationId xmlns:a16="http://schemas.microsoft.com/office/drawing/2014/main" xmlns="" id="{21C3ECFB-1D5C-5064-E6DC-1A808D545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Socket programming </a:t>
            </a:r>
            <a:r>
              <a:rPr lang="en-US" altLang="en-US" sz="3600" i="1">
                <a:solidFill>
                  <a:srgbClr val="FF0000"/>
                </a:solidFill>
              </a:rPr>
              <a:t>with TCP</a:t>
            </a:r>
            <a:endParaRPr lang="en-US" altLang="en-US"/>
          </a:p>
        </p:txBody>
      </p:sp>
      <p:sp>
        <p:nvSpPr>
          <p:cNvPr id="100357" name="Rectangle 3">
            <a:extLst>
              <a:ext uri="{FF2B5EF4-FFF2-40B4-BE49-F238E27FC236}">
                <a16:creationId xmlns:a16="http://schemas.microsoft.com/office/drawing/2014/main" xmlns="" id="{E0336A24-5196-7B25-157E-261A1F6246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38350" y="1352550"/>
            <a:ext cx="3810000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Client must contact server</a:t>
            </a:r>
            <a:endParaRPr lang="en-US" altLang="en-US" sz="2400"/>
          </a:p>
          <a:p>
            <a:r>
              <a:rPr lang="en-US" altLang="en-US" sz="2000"/>
              <a:t>server process must first be running</a:t>
            </a:r>
          </a:p>
          <a:p>
            <a:r>
              <a:rPr lang="en-US" altLang="en-US" sz="2000"/>
              <a:t>server must have created socket (door) that welcomes client’s contact</a:t>
            </a:r>
            <a:endParaRPr lang="en-US" altLang="en-US" sz="2400"/>
          </a:p>
          <a:p>
            <a:pPr>
              <a:spcBef>
                <a:spcPct val="50000"/>
              </a:spcBef>
              <a:buFont typeface="ZapfDingbats" pitchFamily="8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Client contacts server by:</a:t>
            </a:r>
            <a:endParaRPr lang="en-US" altLang="en-US" sz="2400"/>
          </a:p>
          <a:p>
            <a:r>
              <a:rPr lang="en-US" altLang="en-US" sz="2000"/>
              <a:t>creating client-local TCP socket</a:t>
            </a:r>
          </a:p>
          <a:p>
            <a:r>
              <a:rPr lang="en-US" altLang="en-US" sz="2000"/>
              <a:t>specifying IP address, port number of server process</a:t>
            </a:r>
          </a:p>
          <a:p>
            <a:r>
              <a:rPr lang="en-US" altLang="en-US" sz="2000"/>
              <a:t>When </a:t>
            </a:r>
            <a:r>
              <a:rPr lang="en-US" altLang="en-US" sz="2000">
                <a:solidFill>
                  <a:srgbClr val="FF0000"/>
                </a:solidFill>
              </a:rPr>
              <a:t>client creates socket</a:t>
            </a:r>
            <a:r>
              <a:rPr lang="en-US" altLang="en-US" sz="2000"/>
              <a:t>: client TCP establishes connection to server TCP</a:t>
            </a:r>
          </a:p>
          <a:p>
            <a:endParaRPr lang="en-US" altLang="en-US" sz="2000"/>
          </a:p>
        </p:txBody>
      </p:sp>
      <p:sp>
        <p:nvSpPr>
          <p:cNvPr id="100358" name="Rectangle 4">
            <a:extLst>
              <a:ext uri="{FF2B5EF4-FFF2-40B4-BE49-F238E27FC236}">
                <a16:creationId xmlns:a16="http://schemas.microsoft.com/office/drawing/2014/main" xmlns="" id="{2B434D1D-4F16-9A28-A3E6-B32F741F830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390651"/>
            <a:ext cx="3962400" cy="3000375"/>
          </a:xfrm>
        </p:spPr>
        <p:txBody>
          <a:bodyPr/>
          <a:lstStyle/>
          <a:p>
            <a:r>
              <a:rPr lang="en-US" altLang="en-US" sz="2000"/>
              <a:t>When contacted by client, </a:t>
            </a:r>
            <a:r>
              <a:rPr lang="en-US" altLang="en-US" sz="2000">
                <a:solidFill>
                  <a:srgbClr val="FF0000"/>
                </a:solidFill>
              </a:rPr>
              <a:t>server TCP creates new socket</a:t>
            </a:r>
            <a:r>
              <a:rPr lang="en-US" altLang="en-US" sz="2000"/>
              <a:t> for server process to communicate with client</a:t>
            </a:r>
          </a:p>
          <a:p>
            <a:pPr lvl="1"/>
            <a:r>
              <a:rPr lang="en-US" altLang="en-US" sz="2000"/>
              <a:t>allows server to talk with multiple clients</a:t>
            </a:r>
          </a:p>
          <a:p>
            <a:pPr lvl="1"/>
            <a:r>
              <a:rPr lang="en-US" altLang="en-US" sz="2000"/>
              <a:t>source port numbers used to distinguish clients </a:t>
            </a:r>
            <a:r>
              <a:rPr lang="en-US" altLang="en-US" sz="2000">
                <a:solidFill>
                  <a:schemeClr val="accent2"/>
                </a:solidFill>
              </a:rPr>
              <a:t>(more in Chap 3)</a:t>
            </a:r>
            <a:endParaRPr lang="en-US" altLang="en-US" sz="1800" i="1">
              <a:solidFill>
                <a:schemeClr val="accent2"/>
              </a:solidFill>
            </a:endParaRPr>
          </a:p>
        </p:txBody>
      </p:sp>
      <p:grpSp>
        <p:nvGrpSpPr>
          <p:cNvPr id="100359" name="Group 5">
            <a:extLst>
              <a:ext uri="{FF2B5EF4-FFF2-40B4-BE49-F238E27FC236}">
                <a16:creationId xmlns:a16="http://schemas.microsoft.com/office/drawing/2014/main" xmlns="" id="{8814E179-29B0-007E-152D-32170E3D01B5}"/>
              </a:ext>
            </a:extLst>
          </p:cNvPr>
          <p:cNvGrpSpPr>
            <a:grpSpLocks/>
          </p:cNvGrpSpPr>
          <p:nvPr/>
        </p:nvGrpSpPr>
        <p:grpSpPr bwMode="auto">
          <a:xfrm>
            <a:off x="6191251" y="4556125"/>
            <a:ext cx="3938588" cy="1435100"/>
            <a:chOff x="2940" y="2870"/>
            <a:chExt cx="2481" cy="904"/>
          </a:xfrm>
        </p:grpSpPr>
        <p:sp>
          <p:nvSpPr>
            <p:cNvPr id="100360" name="Text Box 6">
              <a:extLst>
                <a:ext uri="{FF2B5EF4-FFF2-40B4-BE49-F238E27FC236}">
                  <a16:creationId xmlns:a16="http://schemas.microsoft.com/office/drawing/2014/main" xmlns="" id="{3D7B69C1-F8E6-CB0A-B088-DDB3F351C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3140"/>
              <a:ext cx="2401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chemeClr val="accent2"/>
                  </a:solidFill>
                </a:rPr>
                <a:t>TCP provides reliable, in-order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chemeClr val="accent2"/>
                  </a:solidFill>
                </a:rPr>
                <a:t> transfer of bytes (“pipe”)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chemeClr val="accent2"/>
                  </a:solidFill>
                </a:rPr>
                <a:t>between client and server</a:t>
              </a:r>
            </a:p>
          </p:txBody>
        </p:sp>
        <p:sp>
          <p:nvSpPr>
            <p:cNvPr id="100361" name="Rectangle 7">
              <a:extLst>
                <a:ext uri="{FF2B5EF4-FFF2-40B4-BE49-F238E27FC236}">
                  <a16:creationId xmlns:a16="http://schemas.microsoft.com/office/drawing/2014/main" xmlns="" id="{1E0FCD6B-4C94-752A-07DA-E02FD456C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0" y="3326"/>
              <a:ext cx="116" cy="291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00362" name="Group 8">
              <a:extLst>
                <a:ext uri="{FF2B5EF4-FFF2-40B4-BE49-F238E27FC236}">
                  <a16:creationId xmlns:a16="http://schemas.microsoft.com/office/drawing/2014/main" xmlns="" id="{BBAD517D-D4D9-9F41-6AB0-7C466E6027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870"/>
              <a:ext cx="1653" cy="291"/>
              <a:chOff x="66" y="3824"/>
              <a:chExt cx="1653" cy="291"/>
            </a:xfrm>
          </p:grpSpPr>
          <p:sp>
            <p:nvSpPr>
              <p:cNvPr id="100363" name="Rectangle 9">
                <a:extLst>
                  <a:ext uri="{FF2B5EF4-FFF2-40B4-BE49-F238E27FC236}">
                    <a16:creationId xmlns:a16="http://schemas.microsoft.com/office/drawing/2014/main" xmlns="" id="{F0139E08-29F5-0316-E0D6-8E4E8E3F4C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4"/>
                <a:ext cx="11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0364" name="Text Box 10">
                <a:extLst>
                  <a:ext uri="{FF2B5EF4-FFF2-40B4-BE49-F238E27FC236}">
                    <a16:creationId xmlns:a16="http://schemas.microsoft.com/office/drawing/2014/main" xmlns="" id="{53B7CC03-D6A0-DDCB-C184-B5A75E9589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" y="3842"/>
                <a:ext cx="165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</a:rPr>
                  <a:t>application viewpoint</a:t>
                </a:r>
                <a:endParaRPr lang="en-US" altLang="en-US" sz="180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Footer Placeholder 3">
            <a:extLst>
              <a:ext uri="{FF2B5EF4-FFF2-40B4-BE49-F238E27FC236}">
                <a16:creationId xmlns:a16="http://schemas.microsoft.com/office/drawing/2014/main" xmlns="" id="{F17A7B19-AE1B-52CB-7CF9-147D221F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1379" name="Slide Number Placeholder 4">
            <a:extLst>
              <a:ext uri="{FF2B5EF4-FFF2-40B4-BE49-F238E27FC236}">
                <a16:creationId xmlns:a16="http://schemas.microsoft.com/office/drawing/2014/main" xmlns="" id="{C2809697-FCAB-01FB-68D8-EF22E08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6407B3BD-8E04-4618-A5E2-B9D91FF05F2D}" type="slidenum">
              <a:rPr lang="en-US" altLang="en-US" sz="1400">
                <a:latin typeface="Times New Roman" panose="02020603050405020304" pitchFamily="18" charset="0"/>
              </a:rPr>
              <a:pPr/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1380" name="Rectangle 2">
            <a:extLst>
              <a:ext uri="{FF2B5EF4-FFF2-40B4-BE49-F238E27FC236}">
                <a16:creationId xmlns:a16="http://schemas.microsoft.com/office/drawing/2014/main" xmlns="" id="{0A27ACFF-E2D5-64DB-0BFF-E5072B53FA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Client/server socket interaction: TCP</a:t>
            </a:r>
            <a:endParaRPr lang="en-US" alt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xmlns="" id="{EA58C034-31ED-FC2E-94DC-D14D6F5684A9}"/>
              </a:ext>
            </a:extLst>
          </p:cNvPr>
          <p:cNvGrpSpPr>
            <a:grpSpLocks/>
          </p:cNvGrpSpPr>
          <p:nvPr/>
        </p:nvGrpSpPr>
        <p:grpSpPr bwMode="auto">
          <a:xfrm>
            <a:off x="2836864" y="3214688"/>
            <a:ext cx="2136775" cy="933450"/>
            <a:chOff x="827" y="2025"/>
            <a:chExt cx="1346" cy="588"/>
          </a:xfrm>
        </p:grpSpPr>
        <p:sp>
          <p:nvSpPr>
            <p:cNvPr id="101415" name="Text Box 4">
              <a:extLst>
                <a:ext uri="{FF2B5EF4-FFF2-40B4-BE49-F238E27FC236}">
                  <a16:creationId xmlns:a16="http://schemas.microsoft.com/office/drawing/2014/main" xmlns="" id="{9DD00567-1B38-6046-028F-92CF16BB3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5"/>
              <a:ext cx="1069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wait for incoming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connection request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16" name="Text Box 5">
              <a:extLst>
                <a:ext uri="{FF2B5EF4-FFF2-40B4-BE49-F238E27FC236}">
                  <a16:creationId xmlns:a16="http://schemas.microsoft.com/office/drawing/2014/main" xmlns="" id="{2A94F697-20DA-6767-8147-FC1BA9677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34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connectionSocket =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welcomeSocket.accept()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xmlns="" id="{2CAC5410-4127-973C-E48F-FC8E8D0CDC8E}"/>
              </a:ext>
            </a:extLst>
          </p:cNvPr>
          <p:cNvGrpSpPr>
            <a:grpSpLocks/>
          </p:cNvGrpSpPr>
          <p:nvPr/>
        </p:nvGrpSpPr>
        <p:grpSpPr bwMode="auto">
          <a:xfrm>
            <a:off x="2819402" y="1876425"/>
            <a:ext cx="1643063" cy="1419224"/>
            <a:chOff x="816" y="1182"/>
            <a:chExt cx="1035" cy="894"/>
          </a:xfrm>
        </p:grpSpPr>
        <p:grpSp>
          <p:nvGrpSpPr>
            <p:cNvPr id="101411" name="Group 7">
              <a:extLst>
                <a:ext uri="{FF2B5EF4-FFF2-40B4-BE49-F238E27FC236}">
                  <a16:creationId xmlns:a16="http://schemas.microsoft.com/office/drawing/2014/main" xmlns="" id="{367432DE-8009-3D75-1373-76E4AEA9C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182"/>
              <a:ext cx="1035" cy="717"/>
              <a:chOff x="324" y="1206"/>
              <a:chExt cx="1035" cy="717"/>
            </a:xfrm>
          </p:grpSpPr>
          <p:sp>
            <p:nvSpPr>
              <p:cNvPr id="101413" name="Text Box 8">
                <a:extLst>
                  <a:ext uri="{FF2B5EF4-FFF2-40B4-BE49-F238E27FC236}">
                    <a16:creationId xmlns:a16="http://schemas.microsoft.com/office/drawing/2014/main" xmlns="" id="{E296B7B1-EFB8-C75A-4498-E340CE6F4D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06"/>
                <a:ext cx="1006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create socket,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port=</a:t>
                </a:r>
                <a:r>
                  <a:rPr lang="en-US" altLang="en-US" sz="1400" b="1">
                    <a:latin typeface="Courier New" panose="02070309020205020404" pitchFamily="49" charset="0"/>
                  </a:rPr>
                  <a:t>x</a:t>
                </a:r>
                <a:r>
                  <a:rPr lang="en-US" altLang="en-US" sz="1400">
                    <a:latin typeface="Arial" panose="020B0604020202020204" pitchFamily="34" charset="0"/>
                  </a:rPr>
                  <a:t>, for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incoming request: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14" name="Text Box 9">
                <a:extLst>
                  <a:ext uri="{FF2B5EF4-FFF2-40B4-BE49-F238E27FC236}">
                    <a16:creationId xmlns:a16="http://schemas.microsoft.com/office/drawing/2014/main" xmlns="" id="{D8DEEBAF-143B-9012-41A6-908CB5029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" y="1593"/>
                <a:ext cx="103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welcomeSocket = </a:t>
                </a:r>
              </a:p>
              <a:p>
                <a:pPr algn="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ServerSocket()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1412" name="Line 10">
              <a:extLst>
                <a:ext uri="{FF2B5EF4-FFF2-40B4-BE49-F238E27FC236}">
                  <a16:creationId xmlns:a16="http://schemas.microsoft.com/office/drawing/2014/main" xmlns="" id="{0908C110-72A6-955D-FC61-316988B9E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xmlns="" id="{AAB3FDB8-5067-115C-1F2A-39CDF92BDEE0}"/>
              </a:ext>
            </a:extLst>
          </p:cNvPr>
          <p:cNvGrpSpPr>
            <a:grpSpLocks/>
          </p:cNvGrpSpPr>
          <p:nvPr/>
        </p:nvGrpSpPr>
        <p:grpSpPr bwMode="auto">
          <a:xfrm>
            <a:off x="6604004" y="3146425"/>
            <a:ext cx="2336801" cy="915988"/>
            <a:chOff x="3326" y="1154"/>
            <a:chExt cx="1472" cy="577"/>
          </a:xfrm>
        </p:grpSpPr>
        <p:sp>
          <p:nvSpPr>
            <p:cNvPr id="101409" name="Text Box 12">
              <a:extLst>
                <a:ext uri="{FF2B5EF4-FFF2-40B4-BE49-F238E27FC236}">
                  <a16:creationId xmlns:a16="http://schemas.microsoft.com/office/drawing/2014/main" xmlns="" id="{F35880E8-A20E-9EB3-7515-1B9BC5132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154"/>
              <a:ext cx="146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create socket,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connect to </a:t>
              </a:r>
              <a:r>
                <a:rPr lang="en-US" altLang="en-US" sz="1400" b="1">
                  <a:latin typeface="Courier New" panose="02070309020205020404" pitchFamily="49" charset="0"/>
                </a:rPr>
                <a:t>hostid</a:t>
              </a:r>
              <a:r>
                <a:rPr lang="en-US" altLang="en-US" sz="1400">
                  <a:latin typeface="Arial" panose="020B0604020202020204" pitchFamily="34" charset="0"/>
                </a:rPr>
                <a:t>, port=</a:t>
              </a:r>
              <a:r>
                <a:rPr lang="en-US" altLang="en-US" sz="1400" b="1">
                  <a:latin typeface="Courier New" panose="02070309020205020404" pitchFamily="49" charset="0"/>
                </a:rPr>
                <a:t>x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10" name="Text Box 13">
              <a:extLst>
                <a:ext uri="{FF2B5EF4-FFF2-40B4-BE49-F238E27FC236}">
                  <a16:creationId xmlns:a16="http://schemas.microsoft.com/office/drawing/2014/main" xmlns="" id="{6D4649AB-EF72-7B6A-0A67-9B9B90C12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1401"/>
              <a:ext cx="85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clientSocket = </a:t>
              </a:r>
            </a:p>
            <a:p>
              <a:pPr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Socket()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4">
            <a:extLst>
              <a:ext uri="{FF2B5EF4-FFF2-40B4-BE49-F238E27FC236}">
                <a16:creationId xmlns:a16="http://schemas.microsoft.com/office/drawing/2014/main" xmlns="" id="{645D5321-B955-B173-55C8-C4DB438B28FB}"/>
              </a:ext>
            </a:extLst>
          </p:cNvPr>
          <p:cNvGrpSpPr>
            <a:grpSpLocks/>
          </p:cNvGrpSpPr>
          <p:nvPr/>
        </p:nvGrpSpPr>
        <p:grpSpPr bwMode="auto">
          <a:xfrm>
            <a:off x="2800351" y="4616452"/>
            <a:ext cx="5453063" cy="1846263"/>
            <a:chOff x="804" y="2908"/>
            <a:chExt cx="3435" cy="1163"/>
          </a:xfrm>
        </p:grpSpPr>
        <p:sp>
          <p:nvSpPr>
            <p:cNvPr id="101402" name="Text Box 15">
              <a:extLst>
                <a:ext uri="{FF2B5EF4-FFF2-40B4-BE49-F238E27FC236}">
                  <a16:creationId xmlns:a16="http://schemas.microsoft.com/office/drawing/2014/main" xmlns="" id="{217F98EB-109A-EE51-B308-2D0AEBDBE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3639"/>
              <a:ext cx="10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close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connectionSocket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403" name="Line 16">
              <a:extLst>
                <a:ext uri="{FF2B5EF4-FFF2-40B4-BE49-F238E27FC236}">
                  <a16:creationId xmlns:a16="http://schemas.microsoft.com/office/drawing/2014/main" xmlns="" id="{5E62E3BD-CCD7-926E-5188-57D7ED9F4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0" y="3564"/>
              <a:ext cx="0" cy="20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1404" name="Freeform 17">
              <a:extLst>
                <a:ext uri="{FF2B5EF4-FFF2-40B4-BE49-F238E27FC236}">
                  <a16:creationId xmlns:a16="http://schemas.microsoft.com/office/drawing/2014/main" xmlns="" id="{41E688BA-DA7F-E4FE-E549-7F825FC14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" y="2908"/>
              <a:ext cx="492" cy="233"/>
            </a:xfrm>
            <a:custGeom>
              <a:avLst/>
              <a:gdLst>
                <a:gd name="T0" fmla="*/ 492 w 492"/>
                <a:gd name="T1" fmla="*/ 1968 h 2112"/>
                <a:gd name="T2" fmla="*/ 492 w 492"/>
                <a:gd name="T3" fmla="*/ 2112 h 2112"/>
                <a:gd name="T4" fmla="*/ 0 w 492"/>
                <a:gd name="T5" fmla="*/ 2112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pSp>
          <p:nvGrpSpPr>
            <p:cNvPr id="101405" name="Group 18">
              <a:extLst>
                <a:ext uri="{FF2B5EF4-FFF2-40B4-BE49-F238E27FC236}">
                  <a16:creationId xmlns:a16="http://schemas.microsoft.com/office/drawing/2014/main" xmlns="" id="{2ABFAAE0-FB5D-A1AA-23D1-82A329CFDD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5" y="3375"/>
              <a:ext cx="874" cy="696"/>
              <a:chOff x="3365" y="3375"/>
              <a:chExt cx="874" cy="696"/>
            </a:xfrm>
          </p:grpSpPr>
          <p:sp>
            <p:nvSpPr>
              <p:cNvPr id="101406" name="Text Box 19">
                <a:extLst>
                  <a:ext uri="{FF2B5EF4-FFF2-40B4-BE49-F238E27FC236}">
                    <a16:creationId xmlns:a16="http://schemas.microsoft.com/office/drawing/2014/main" xmlns="" id="{005ABD44-EB4D-89FE-FF5C-B09F8806E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read reply from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07" name="Text Box 20">
                <a:extLst>
                  <a:ext uri="{FF2B5EF4-FFF2-40B4-BE49-F238E27FC236}">
                    <a16:creationId xmlns:a16="http://schemas.microsoft.com/office/drawing/2014/main" xmlns="" id="{407D117F-B352-CA64-2FE9-16B71FDE6E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close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08" name="Line 21">
                <a:extLst>
                  <a:ext uri="{FF2B5EF4-FFF2-40B4-BE49-F238E27FC236}">
                    <a16:creationId xmlns:a16="http://schemas.microsoft.com/office/drawing/2014/main" xmlns="" id="{F7723F3C-FBA4-F79E-2DB8-3523752FB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</p:grpSp>
      </p:grpSp>
      <p:sp>
        <p:nvSpPr>
          <p:cNvPr id="101385" name="Text Box 22">
            <a:extLst>
              <a:ext uri="{FF2B5EF4-FFF2-40B4-BE49-F238E27FC236}">
                <a16:creationId xmlns:a16="http://schemas.microsoft.com/office/drawing/2014/main" xmlns="" id="{8513F87D-F5F7-05BC-1E30-40C397708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789" y="1314450"/>
            <a:ext cx="3392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Server </a:t>
            </a:r>
            <a:r>
              <a:rPr lang="en-US" altLang="en-US" sz="1800"/>
              <a:t>(running on </a:t>
            </a:r>
            <a:r>
              <a:rPr lang="en-US" altLang="en-US" sz="1800" b="1">
                <a:latin typeface="Courier New" panose="02070309020205020404" pitchFamily="49" charset="0"/>
              </a:rPr>
              <a:t>hostid</a:t>
            </a:r>
            <a:r>
              <a:rPr lang="en-US" altLang="en-US" sz="1800"/>
              <a:t>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86" name="Text Box 23">
            <a:extLst>
              <a:ext uri="{FF2B5EF4-FFF2-40B4-BE49-F238E27FC236}">
                <a16:creationId xmlns:a16="http://schemas.microsoft.com/office/drawing/2014/main" xmlns="" id="{89E90A97-EE1A-639B-1716-A84AD84E6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213" y="1333500"/>
            <a:ext cx="1008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Client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8" name="Group 24">
            <a:extLst>
              <a:ext uri="{FF2B5EF4-FFF2-40B4-BE49-F238E27FC236}">
                <a16:creationId xmlns:a16="http://schemas.microsoft.com/office/drawing/2014/main" xmlns="" id="{CAB5D6E5-2888-233D-7E81-E4BAF369747E}"/>
              </a:ext>
            </a:extLst>
          </p:cNvPr>
          <p:cNvGrpSpPr>
            <a:grpSpLocks/>
          </p:cNvGrpSpPr>
          <p:nvPr/>
        </p:nvGrpSpPr>
        <p:grpSpPr bwMode="auto">
          <a:xfrm>
            <a:off x="4457700" y="4010025"/>
            <a:ext cx="4057650" cy="1371600"/>
            <a:chOff x="1848" y="2526"/>
            <a:chExt cx="2556" cy="864"/>
          </a:xfrm>
        </p:grpSpPr>
        <p:sp>
          <p:nvSpPr>
            <p:cNvPr id="101397" name="Line 25">
              <a:extLst>
                <a:ext uri="{FF2B5EF4-FFF2-40B4-BE49-F238E27FC236}">
                  <a16:creationId xmlns:a16="http://schemas.microsoft.com/office/drawing/2014/main" xmlns="" id="{F344F614-DD0B-FF4E-408C-AA4529912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grpSp>
          <p:nvGrpSpPr>
            <p:cNvPr id="101398" name="Group 26">
              <a:extLst>
                <a:ext uri="{FF2B5EF4-FFF2-40B4-BE49-F238E27FC236}">
                  <a16:creationId xmlns:a16="http://schemas.microsoft.com/office/drawing/2014/main" xmlns="" id="{B9B751DE-FC35-38DE-85FD-01602550F4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6" cy="516"/>
              <a:chOff x="1848" y="2526"/>
              <a:chExt cx="2556" cy="516"/>
            </a:xfrm>
          </p:grpSpPr>
          <p:sp>
            <p:nvSpPr>
              <p:cNvPr id="101399" name="Text Box 27">
                <a:extLst>
                  <a:ext uri="{FF2B5EF4-FFF2-40B4-BE49-F238E27FC236}">
                    <a16:creationId xmlns:a16="http://schemas.microsoft.com/office/drawing/2014/main" xmlns="" id="{26A14E13-B227-9B88-CCF3-43A835F891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6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send request using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00" name="Line 28">
                <a:extLst>
                  <a:ext uri="{FF2B5EF4-FFF2-40B4-BE49-F238E27FC236}">
                    <a16:creationId xmlns:a16="http://schemas.microsoft.com/office/drawing/2014/main" xmlns="" id="{40364B44-C8EA-9084-06B1-C15AF9590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01401" name="Line 29">
                <a:extLst>
                  <a:ext uri="{FF2B5EF4-FFF2-40B4-BE49-F238E27FC236}">
                    <a16:creationId xmlns:a16="http://schemas.microsoft.com/office/drawing/2014/main" xmlns="" id="{AE97ADB0-4C87-5209-A52D-A5A998336B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</p:grpSp>
      </p:grpSp>
      <p:grpSp>
        <p:nvGrpSpPr>
          <p:cNvPr id="10" name="Group 30">
            <a:extLst>
              <a:ext uri="{FF2B5EF4-FFF2-40B4-BE49-F238E27FC236}">
                <a16:creationId xmlns:a16="http://schemas.microsoft.com/office/drawing/2014/main" xmlns="" id="{A75F99B0-7D41-D5DC-B102-7970781D2AFD}"/>
              </a:ext>
            </a:extLst>
          </p:cNvPr>
          <p:cNvGrpSpPr>
            <a:grpSpLocks/>
          </p:cNvGrpSpPr>
          <p:nvPr/>
        </p:nvGrpSpPr>
        <p:grpSpPr bwMode="auto">
          <a:xfrm>
            <a:off x="2827339" y="4105276"/>
            <a:ext cx="4097337" cy="1490663"/>
            <a:chOff x="821" y="2586"/>
            <a:chExt cx="2581" cy="939"/>
          </a:xfrm>
        </p:grpSpPr>
        <p:sp>
          <p:nvSpPr>
            <p:cNvPr id="101392" name="Text Box 31">
              <a:extLst>
                <a:ext uri="{FF2B5EF4-FFF2-40B4-BE49-F238E27FC236}">
                  <a16:creationId xmlns:a16="http://schemas.microsoft.com/office/drawing/2014/main" xmlns="" id="{BC994AC3-EF70-A2BC-CCB0-4498D50C7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read request from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connectionSocket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3" name="Text Box 32">
              <a:extLst>
                <a:ext uri="{FF2B5EF4-FFF2-40B4-BE49-F238E27FC236}">
                  <a16:creationId xmlns:a16="http://schemas.microsoft.com/office/drawing/2014/main" xmlns="" id="{43D21AC7-0283-3268-91F3-58144D09D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write reply to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connectionSocket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01394" name="Line 33">
              <a:extLst>
                <a:ext uri="{FF2B5EF4-FFF2-40B4-BE49-F238E27FC236}">
                  <a16:creationId xmlns:a16="http://schemas.microsoft.com/office/drawing/2014/main" xmlns="" id="{3E3C9618-AAF7-A2D0-F7F1-6D37FE2F0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1395" name="Line 34">
              <a:extLst>
                <a:ext uri="{FF2B5EF4-FFF2-40B4-BE49-F238E27FC236}">
                  <a16:creationId xmlns:a16="http://schemas.microsoft.com/office/drawing/2014/main" xmlns="" id="{77A0BD9D-C758-E9B9-75D2-7B2A18CB9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01396" name="Line 35">
              <a:extLst>
                <a:ext uri="{FF2B5EF4-FFF2-40B4-BE49-F238E27FC236}">
                  <a16:creationId xmlns:a16="http://schemas.microsoft.com/office/drawing/2014/main" xmlns="" id="{C1ED4756-97AD-85C2-B487-D466B84752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1" name="Group 36">
            <a:extLst>
              <a:ext uri="{FF2B5EF4-FFF2-40B4-BE49-F238E27FC236}">
                <a16:creationId xmlns:a16="http://schemas.microsoft.com/office/drawing/2014/main" xmlns="" id="{724D3765-1546-9ECC-84D2-4E31FBD9F43A}"/>
              </a:ext>
            </a:extLst>
          </p:cNvPr>
          <p:cNvGrpSpPr>
            <a:grpSpLocks/>
          </p:cNvGrpSpPr>
          <p:nvPr/>
        </p:nvGrpSpPr>
        <p:grpSpPr bwMode="auto">
          <a:xfrm>
            <a:off x="4448176" y="3041650"/>
            <a:ext cx="2200275" cy="641350"/>
            <a:chOff x="1842" y="1916"/>
            <a:chExt cx="1386" cy="404"/>
          </a:xfrm>
        </p:grpSpPr>
        <p:sp>
          <p:nvSpPr>
            <p:cNvPr id="101390" name="Line 37">
              <a:extLst>
                <a:ext uri="{FF2B5EF4-FFF2-40B4-BE49-F238E27FC236}">
                  <a16:creationId xmlns:a16="http://schemas.microsoft.com/office/drawing/2014/main" xmlns="" id="{187ADECF-2F1F-2679-53E9-8A3E5C942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2" y="2130"/>
              <a:ext cx="138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01391" name="Text Box 38">
              <a:extLst>
                <a:ext uri="{FF2B5EF4-FFF2-40B4-BE49-F238E27FC236}">
                  <a16:creationId xmlns:a16="http://schemas.microsoft.com/office/drawing/2014/main" xmlns="" id="{450A6A26-9149-110E-4544-410B01680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7" y="1916"/>
              <a:ext cx="124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TCP 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connection setup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5">
            <a:extLst>
              <a:ext uri="{FF2B5EF4-FFF2-40B4-BE49-F238E27FC236}">
                <a16:creationId xmlns:a16="http://schemas.microsoft.com/office/drawing/2014/main" xmlns="" id="{6B073A46-36BB-1133-D10A-330BA9E6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2403" name="Slide Number Placeholder 6">
            <a:extLst>
              <a:ext uri="{FF2B5EF4-FFF2-40B4-BE49-F238E27FC236}">
                <a16:creationId xmlns:a16="http://schemas.microsoft.com/office/drawing/2014/main" xmlns="" id="{28C45356-431E-6CD6-4081-E5BB7FE3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0524A0D9-4E33-46A6-BCE3-8F6B034DB012}" type="slidenum">
              <a:rPr lang="en-US" altLang="en-US" sz="1400">
                <a:latin typeface="Times New Roman" panose="02020603050405020304" pitchFamily="18" charset="0"/>
              </a:rPr>
              <a:pPr/>
              <a:t>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2404" name="Rectangle 16">
            <a:extLst>
              <a:ext uri="{FF2B5EF4-FFF2-40B4-BE49-F238E27FC236}">
                <a16:creationId xmlns:a16="http://schemas.microsoft.com/office/drawing/2014/main" xmlns="" id="{5B00DB0F-03B5-D25A-336C-3CEC36D04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1645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02405" name="Object 15">
            <a:extLst>
              <a:ext uri="{FF2B5EF4-FFF2-40B4-BE49-F238E27FC236}">
                <a16:creationId xmlns:a16="http://schemas.microsoft.com/office/drawing/2014/main" xmlns="" id="{10091327-AF1E-97A9-88F9-98E445783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3363" y="1397001"/>
          <a:ext cx="3670300" cy="479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3" imgW="4992624" imgH="5675376" progId="Visio.Drawing.5">
                  <p:embed/>
                </p:oleObj>
              </mc:Choice>
              <mc:Fallback>
                <p:oleObj name="VISIO" r:id="rId3" imgW="4992624" imgH="5675376" progId="Visio.Drawing.5">
                  <p:embed/>
                  <p:pic>
                    <p:nvPicPr>
                      <p:cNvPr id="102405" name="Object 15">
                        <a:extLst>
                          <a:ext uri="{FF2B5EF4-FFF2-40B4-BE49-F238E27FC236}">
                            <a16:creationId xmlns:a16="http://schemas.microsoft.com/office/drawing/2014/main" xmlns="" id="{10091327-AF1E-97A9-88F9-98E445783F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3363" y="1397001"/>
                        <a:ext cx="3670300" cy="479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6" name="Text Box 24">
            <a:extLst>
              <a:ext uri="{FF2B5EF4-FFF2-40B4-BE49-F238E27FC236}">
                <a16:creationId xmlns:a16="http://schemas.microsoft.com/office/drawing/2014/main" xmlns="" id="{BC2D48E0-71FD-4EA2-35EA-D29178068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5" y="2608263"/>
            <a:ext cx="1206500" cy="7078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Client</a:t>
            </a:r>
          </a:p>
          <a:p>
            <a:r>
              <a:rPr lang="en-US" altLang="en-US" sz="2000">
                <a:solidFill>
                  <a:schemeClr val="accent2"/>
                </a:solidFill>
              </a:rPr>
              <a:t>process</a:t>
            </a: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07" name="Rectangle 33">
            <a:extLst>
              <a:ext uri="{FF2B5EF4-FFF2-40B4-BE49-F238E27FC236}">
                <a16:creationId xmlns:a16="http://schemas.microsoft.com/office/drawing/2014/main" xmlns="" id="{D741D4B4-FA74-20A1-FC55-919F7CC62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2264" y="5132389"/>
            <a:ext cx="1450975" cy="547687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2408" name="Text Box 34">
            <a:extLst>
              <a:ext uri="{FF2B5EF4-FFF2-40B4-BE49-F238E27FC236}">
                <a16:creationId xmlns:a16="http://schemas.microsoft.com/office/drawing/2014/main" xmlns="" id="{C7C27309-9DC6-1799-E9E9-3FA884D6F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6063" y="5076825"/>
            <a:ext cx="15414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client TCP socket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02409" name="Line 36">
            <a:extLst>
              <a:ext uri="{FF2B5EF4-FFF2-40B4-BE49-F238E27FC236}">
                <a16:creationId xmlns:a16="http://schemas.microsoft.com/office/drawing/2014/main" xmlns="" id="{84984817-D2A6-079D-5864-DDC73BA923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51913" y="5624513"/>
            <a:ext cx="0" cy="438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02410" name="Rectangle 46">
            <a:extLst>
              <a:ext uri="{FF2B5EF4-FFF2-40B4-BE49-F238E27FC236}">
                <a16:creationId xmlns:a16="http://schemas.microsoft.com/office/drawing/2014/main" xmlns="" id="{97867E7A-14C6-C943-96E4-4983705FE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2825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u="sng">
                <a:solidFill>
                  <a:schemeClr val="accent2"/>
                </a:solidFill>
              </a:rPr>
              <a:t>Stream jargon</a:t>
            </a:r>
          </a:p>
        </p:txBody>
      </p:sp>
      <p:sp>
        <p:nvSpPr>
          <p:cNvPr id="102411" name="Rectangle 50">
            <a:extLst>
              <a:ext uri="{FF2B5EF4-FFF2-40B4-BE49-F238E27FC236}">
                <a16:creationId xmlns:a16="http://schemas.microsoft.com/office/drawing/2014/main" xmlns="" id="{7BF3A7A1-13EA-43CA-4C1D-70C8EDC023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noFill/>
        </p:spPr>
        <p:txBody>
          <a:bodyPr/>
          <a:lstStyle/>
          <a:p>
            <a:r>
              <a:rPr lang="en-US" altLang="en-US" sz="2000"/>
              <a:t>A </a:t>
            </a:r>
            <a:r>
              <a:rPr lang="en-US" altLang="en-US" sz="2000">
                <a:solidFill>
                  <a:srgbClr val="FF0000"/>
                </a:solidFill>
              </a:rPr>
              <a:t>stream</a:t>
            </a:r>
            <a:r>
              <a:rPr lang="en-US" altLang="en-US" sz="2000"/>
              <a:t> is a sequence of characters that flow into or out of a process.</a:t>
            </a:r>
          </a:p>
          <a:p>
            <a:r>
              <a:rPr lang="en-US" altLang="en-US" sz="2000"/>
              <a:t>An </a:t>
            </a:r>
            <a:r>
              <a:rPr lang="en-US" altLang="en-US" sz="2000">
                <a:solidFill>
                  <a:srgbClr val="FF0000"/>
                </a:solidFill>
              </a:rPr>
              <a:t>input stream</a:t>
            </a:r>
            <a:r>
              <a:rPr lang="en-US" altLang="en-US" sz="2000"/>
              <a:t> is attached to some input source for the process, e.g., keyboard or socket.</a:t>
            </a:r>
          </a:p>
          <a:p>
            <a:r>
              <a:rPr lang="en-US" altLang="en-US" sz="2000"/>
              <a:t>An </a:t>
            </a:r>
            <a:r>
              <a:rPr lang="en-US" altLang="en-US" sz="2000">
                <a:solidFill>
                  <a:srgbClr val="FF0000"/>
                </a:solidFill>
              </a:rPr>
              <a:t>output stream</a:t>
            </a:r>
            <a:r>
              <a:rPr lang="en-US" altLang="en-US" sz="2000"/>
              <a:t> is attached to an output source, e.g., monitor or socket.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5">
            <a:extLst>
              <a:ext uri="{FF2B5EF4-FFF2-40B4-BE49-F238E27FC236}">
                <a16:creationId xmlns:a16="http://schemas.microsoft.com/office/drawing/2014/main" xmlns="" id="{6605FAAB-E59B-6200-3F9E-CF6BAFE7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3427" name="Slide Number Placeholder 6">
            <a:extLst>
              <a:ext uri="{FF2B5EF4-FFF2-40B4-BE49-F238E27FC236}">
                <a16:creationId xmlns:a16="http://schemas.microsoft.com/office/drawing/2014/main" xmlns="" id="{EBE56963-8D4D-19D5-04D7-0B236CEAC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67DBFBCA-5846-4D33-9ECA-A90D47DBDB04}" type="slidenum">
              <a:rPr lang="en-US" altLang="en-US" sz="1400">
                <a:latin typeface="Times New Roman" panose="02020603050405020304" pitchFamily="18" charset="0"/>
              </a:rPr>
              <a:pPr/>
              <a:t>10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3428" name="Rectangle 2">
            <a:extLst>
              <a:ext uri="{FF2B5EF4-FFF2-40B4-BE49-F238E27FC236}">
                <a16:creationId xmlns:a16="http://schemas.microsoft.com/office/drawing/2014/main" xmlns="" id="{EBAAE159-8AF2-C11A-5133-34A072988C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Socket programming with TCP</a:t>
            </a:r>
            <a:endParaRPr lang="en-US" altLang="en-US"/>
          </a:p>
        </p:txBody>
      </p:sp>
      <p:sp>
        <p:nvSpPr>
          <p:cNvPr id="103429" name="Rectangle 3">
            <a:extLst>
              <a:ext uri="{FF2B5EF4-FFF2-40B4-BE49-F238E27FC236}">
                <a16:creationId xmlns:a16="http://schemas.microsoft.com/office/drawing/2014/main" xmlns="" id="{39E8ACB9-F12D-8891-3447-CBCBF5EFD36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16125" y="1474788"/>
            <a:ext cx="4114800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Example client-server app:</a:t>
            </a:r>
            <a:endParaRPr lang="en-US" altLang="en-US" sz="2400"/>
          </a:p>
          <a:p>
            <a:pPr>
              <a:buFont typeface="ZapfDingbats" pitchFamily="82" charset="2"/>
              <a:buNone/>
            </a:pPr>
            <a:r>
              <a:rPr lang="en-US" altLang="en-US" sz="2000"/>
              <a:t>1) client reads line from standard input (</a:t>
            </a:r>
            <a:r>
              <a:rPr lang="en-US" altLang="en-US" sz="2000" b="1">
                <a:latin typeface="Courier New" panose="02070309020205020404" pitchFamily="49" charset="0"/>
              </a:rPr>
              <a:t>inFromUser</a:t>
            </a:r>
            <a:r>
              <a:rPr lang="en-US" altLang="en-US" sz="2000"/>
              <a:t> stream) , sends to server via socket (</a:t>
            </a:r>
            <a:r>
              <a:rPr lang="en-US" altLang="en-US" sz="2000" b="1">
                <a:latin typeface="Courier New" panose="02070309020205020404" pitchFamily="49" charset="0"/>
              </a:rPr>
              <a:t>outToServer</a:t>
            </a:r>
            <a:r>
              <a:rPr lang="en-US" altLang="en-US" sz="2000"/>
              <a:t> stream)</a:t>
            </a:r>
          </a:p>
          <a:p>
            <a:pPr>
              <a:buFont typeface="ZapfDingbats" pitchFamily="82" charset="2"/>
              <a:buNone/>
            </a:pPr>
            <a:r>
              <a:rPr lang="en-US" altLang="en-US" sz="2000"/>
              <a:t>2) server reads line from socket</a:t>
            </a:r>
          </a:p>
          <a:p>
            <a:pPr>
              <a:buFont typeface="ZapfDingbats" pitchFamily="82" charset="2"/>
              <a:buNone/>
            </a:pPr>
            <a:r>
              <a:rPr lang="en-US" altLang="en-US" sz="2000"/>
              <a:t>3) server converts line to uppercase, sends back to client</a:t>
            </a:r>
          </a:p>
          <a:p>
            <a:pPr>
              <a:buFont typeface="ZapfDingbats" pitchFamily="82" charset="2"/>
              <a:buNone/>
            </a:pPr>
            <a:r>
              <a:rPr lang="en-US" altLang="en-US" sz="2000"/>
              <a:t>4) client reads, prints  modified line from socket (</a:t>
            </a:r>
            <a:r>
              <a:rPr lang="en-US" altLang="en-US" sz="2000" b="1">
                <a:latin typeface="Courier New" panose="02070309020205020404" pitchFamily="49" charset="0"/>
              </a:rPr>
              <a:t>inFromServer</a:t>
            </a:r>
            <a:r>
              <a:rPr lang="en-US" altLang="en-US" sz="2000"/>
              <a:t> stream)</a:t>
            </a:r>
          </a:p>
        </p:txBody>
      </p:sp>
      <p:sp>
        <p:nvSpPr>
          <p:cNvPr id="103430" name="Rectangle 4">
            <a:extLst>
              <a:ext uri="{FF2B5EF4-FFF2-40B4-BE49-F238E27FC236}">
                <a16:creationId xmlns:a16="http://schemas.microsoft.com/office/drawing/2014/main" xmlns="" id="{1B5684FF-473B-51D2-D0C7-595930D41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16458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xmlns="" id="{A4C5A766-6318-2620-9218-B54E6C784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4451" name="Slide Number Placeholder 4">
            <a:extLst>
              <a:ext uri="{FF2B5EF4-FFF2-40B4-BE49-F238E27FC236}">
                <a16:creationId xmlns:a16="http://schemas.microsoft.com/office/drawing/2014/main" xmlns="" id="{261E0AC2-966F-B169-B4EA-EB0B2930E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96B644DC-A677-427A-9645-F0C80A61454E}" type="slidenum">
              <a:rPr lang="en-US" altLang="en-US" sz="1400">
                <a:latin typeface="Times New Roman" panose="02020603050405020304" pitchFamily="18" charset="0"/>
              </a:rPr>
              <a:pPr/>
              <a:t>11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4452" name="Rectangle 2">
            <a:extLst>
              <a:ext uri="{FF2B5EF4-FFF2-40B4-BE49-F238E27FC236}">
                <a16:creationId xmlns:a16="http://schemas.microsoft.com/office/drawing/2014/main" xmlns="" id="{4C8673AF-8292-D6FB-6734-29ACD4C0E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client (TCP)</a:t>
            </a:r>
            <a:endParaRPr lang="en-US" altLang="en-US"/>
          </a:p>
        </p:txBody>
      </p:sp>
      <p:sp>
        <p:nvSpPr>
          <p:cNvPr id="104453" name="Rectangle 3">
            <a:extLst>
              <a:ext uri="{FF2B5EF4-FFF2-40B4-BE49-F238E27FC236}">
                <a16:creationId xmlns:a16="http://schemas.microsoft.com/office/drawing/2014/main" xmlns="" id="{CF0C36D5-D239-CCF2-E83B-B9AAD02A8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8" y="1508125"/>
            <a:ext cx="6826250" cy="500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class TCPClient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public static void main(String argv[])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String sentence;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String modifiedSentence;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BufferedReader inFromUser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new BufferedReader(new InputStreamReader(System.in));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Socket clientSocket = new Socket("hostname", 6789);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DataOutputStream outToServer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new DataOutputStream(clientSocket.getOutputStream());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        </a:t>
            </a:r>
          </a:p>
        </p:txBody>
      </p:sp>
      <p:sp>
        <p:nvSpPr>
          <p:cNvPr id="104454" name="Text Box 4">
            <a:extLst>
              <a:ext uri="{FF2B5EF4-FFF2-40B4-BE49-F238E27FC236}">
                <a16:creationId xmlns:a16="http://schemas.microsoft.com/office/drawing/2014/main" xmlns="" id="{1531CE41-D990-52AF-DD9F-561C6ABCE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4089" y="3810000"/>
            <a:ext cx="1533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input stream</a:t>
            </a:r>
            <a:endParaRPr lang="en-US" altLang="en-US" sz="1800"/>
          </a:p>
        </p:txBody>
      </p:sp>
      <p:sp>
        <p:nvSpPr>
          <p:cNvPr id="104455" name="Text Box 5">
            <a:extLst>
              <a:ext uri="{FF2B5EF4-FFF2-40B4-BE49-F238E27FC236}">
                <a16:creationId xmlns:a16="http://schemas.microsoft.com/office/drawing/2014/main" xmlns="" id="{1D3AD3E1-7F80-BC39-38EA-26E7A4EC7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4505325"/>
            <a:ext cx="2068512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client socket,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connect to server</a:t>
            </a:r>
            <a:endParaRPr lang="en-US" altLang="en-US" sz="1800"/>
          </a:p>
        </p:txBody>
      </p:sp>
      <p:sp>
        <p:nvSpPr>
          <p:cNvPr id="104456" name="Text Box 6">
            <a:extLst>
              <a:ext uri="{FF2B5EF4-FFF2-40B4-BE49-F238E27FC236}">
                <a16:creationId xmlns:a16="http://schemas.microsoft.com/office/drawing/2014/main" xmlns="" id="{86DB0101-F0A0-3570-2E00-784C8F69B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421314"/>
            <a:ext cx="22161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output stream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attached to socket</a:t>
            </a:r>
            <a:endParaRPr lang="en-US" altLang="en-US" sz="1800"/>
          </a:p>
        </p:txBody>
      </p:sp>
      <p:sp>
        <p:nvSpPr>
          <p:cNvPr id="104457" name="Freeform 7">
            <a:extLst>
              <a:ext uri="{FF2B5EF4-FFF2-40B4-BE49-F238E27FC236}">
                <a16:creationId xmlns:a16="http://schemas.microsoft.com/office/drawing/2014/main" xmlns="" id="{B73B99BF-9210-E517-3FDB-40CDBAAC2E1A}"/>
              </a:ext>
            </a:extLst>
          </p:cNvPr>
          <p:cNvSpPr>
            <a:spLocks/>
          </p:cNvSpPr>
          <p:nvPr/>
        </p:nvSpPr>
        <p:spPr bwMode="auto">
          <a:xfrm>
            <a:off x="3605214" y="3977759"/>
            <a:ext cx="184731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42925 h 342"/>
              <a:gd name="T6" fmla="*/ 9525 w 78"/>
              <a:gd name="T7" fmla="*/ 542925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04458" name="Line 8">
            <a:extLst>
              <a:ext uri="{FF2B5EF4-FFF2-40B4-BE49-F238E27FC236}">
                <a16:creationId xmlns:a16="http://schemas.microsoft.com/office/drawing/2014/main" xmlns="" id="{8080D3D5-4CBB-016B-E0B2-B59456ECD3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8563" y="4152901"/>
            <a:ext cx="361950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4459" name="Freeform 9">
            <a:extLst>
              <a:ext uri="{FF2B5EF4-FFF2-40B4-BE49-F238E27FC236}">
                <a16:creationId xmlns:a16="http://schemas.microsoft.com/office/drawing/2014/main" xmlns="" id="{25A30BCE-4F77-D411-B7E2-E5D90391BA1A}"/>
              </a:ext>
            </a:extLst>
          </p:cNvPr>
          <p:cNvSpPr>
            <a:spLocks/>
          </p:cNvSpPr>
          <p:nvPr/>
        </p:nvSpPr>
        <p:spPr bwMode="auto">
          <a:xfrm>
            <a:off x="3605214" y="4804053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766762 h 342"/>
              <a:gd name="T6" fmla="*/ 9525 w 78"/>
              <a:gd name="T7" fmla="*/ 76676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4460" name="Line 10">
            <a:extLst>
              <a:ext uri="{FF2B5EF4-FFF2-40B4-BE49-F238E27FC236}">
                <a16:creationId xmlns:a16="http://schemas.microsoft.com/office/drawing/2014/main" xmlns="" id="{8D16EA98-EF24-B57A-C260-F221304AE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1" y="4987926"/>
            <a:ext cx="423863" cy="31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4461" name="Freeform 11">
            <a:extLst>
              <a:ext uri="{FF2B5EF4-FFF2-40B4-BE49-F238E27FC236}">
                <a16:creationId xmlns:a16="http://schemas.microsoft.com/office/drawing/2014/main" xmlns="" id="{1A9FB7FA-6D5F-EB03-F6B2-C33E7AA3F69D}"/>
              </a:ext>
            </a:extLst>
          </p:cNvPr>
          <p:cNvSpPr>
            <a:spLocks/>
          </p:cNvSpPr>
          <p:nvPr/>
        </p:nvSpPr>
        <p:spPr bwMode="auto">
          <a:xfrm>
            <a:off x="3633789" y="5737503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804862 h 342"/>
              <a:gd name="T6" fmla="*/ 9525 w 78"/>
              <a:gd name="T7" fmla="*/ 80486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4462" name="Line 12">
            <a:extLst>
              <a:ext uri="{FF2B5EF4-FFF2-40B4-BE49-F238E27FC236}">
                <a16:creationId xmlns:a16="http://schemas.microsoft.com/office/drawing/2014/main" xmlns="" id="{5E72A7F9-AF52-6331-6FFF-1630810EBE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62375" y="5619750"/>
            <a:ext cx="3619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Footer Placeholder 3">
            <a:extLst>
              <a:ext uri="{FF2B5EF4-FFF2-40B4-BE49-F238E27FC236}">
                <a16:creationId xmlns:a16="http://schemas.microsoft.com/office/drawing/2014/main" xmlns="" id="{EB0BCD9E-19DF-BCC9-CAED-C01031D2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5475" name="Slide Number Placeholder 4">
            <a:extLst>
              <a:ext uri="{FF2B5EF4-FFF2-40B4-BE49-F238E27FC236}">
                <a16:creationId xmlns:a16="http://schemas.microsoft.com/office/drawing/2014/main" xmlns="" id="{0EF800D1-3040-E319-8344-40F614380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30B0C9A-32CA-4E70-9081-57E31E81E3F3}" type="slidenum">
              <a:rPr lang="en-US" altLang="en-US" sz="1400">
                <a:latin typeface="Times New Roman" panose="02020603050405020304" pitchFamily="18" charset="0"/>
              </a:rPr>
              <a:pPr/>
              <a:t>12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5476" name="Rectangle 2">
            <a:extLst>
              <a:ext uri="{FF2B5EF4-FFF2-40B4-BE49-F238E27FC236}">
                <a16:creationId xmlns:a16="http://schemas.microsoft.com/office/drawing/2014/main" xmlns="" id="{BFA69010-AB34-99A1-2529-1BA088233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client (TCP), cont.</a:t>
            </a:r>
          </a:p>
        </p:txBody>
      </p:sp>
      <p:sp>
        <p:nvSpPr>
          <p:cNvPr id="105477" name="Rectangle 3">
            <a:extLst>
              <a:ext uri="{FF2B5EF4-FFF2-40B4-BE49-F238E27FC236}">
                <a16:creationId xmlns:a16="http://schemas.microsoft.com/office/drawing/2014/main" xmlns="" id="{AAA358BF-CAD3-33A2-232F-E88D7B021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788" y="1865314"/>
            <a:ext cx="63944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</a:t>
            </a:r>
            <a:r>
              <a:rPr lang="en-US" altLang="en-US" sz="1800">
                <a:latin typeface="Arial" panose="020B0604020202020204" pitchFamily="34" charset="0"/>
              </a:rPr>
              <a:t>BufferedReader inFromServer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new BufferedReader(new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InputStreamReader(clientSocket.getInputStream()));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sentence = inFromUser.readLine();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outToServer.writeBytes(sentence + '\n');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modifiedSentence = inFromServer.readLine();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System.out.println</a:t>
            </a:r>
            <a:r>
              <a:rPr lang="en-US" altLang="en-US" sz="1600">
                <a:latin typeface="Arial" panose="020B0604020202020204" pitchFamily="34" charset="0"/>
              </a:rPr>
              <a:t>("FROM SERVER: " + modifiedSentence</a:t>
            </a:r>
            <a:r>
              <a:rPr lang="en-US" altLang="en-US" sz="1800">
                <a:latin typeface="Arial" panose="020B0604020202020204" pitchFamily="34" charset="0"/>
              </a:rPr>
              <a:t>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clientSocket.close();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}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05478" name="Text Box 4">
            <a:extLst>
              <a:ext uri="{FF2B5EF4-FFF2-40B4-BE49-F238E27FC236}">
                <a16:creationId xmlns:a16="http://schemas.microsoft.com/office/drawing/2014/main" xmlns="" id="{061FCED6-FE8B-A6AF-34AE-B09FB54FB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1" y="1849439"/>
            <a:ext cx="239236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input stream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attached to socket</a:t>
            </a:r>
            <a:endParaRPr lang="en-US" altLang="en-US" sz="1800"/>
          </a:p>
        </p:txBody>
      </p:sp>
      <p:sp>
        <p:nvSpPr>
          <p:cNvPr id="105479" name="Text Box 5">
            <a:extLst>
              <a:ext uri="{FF2B5EF4-FFF2-40B4-BE49-F238E27FC236}">
                <a16:creationId xmlns:a16="http://schemas.microsoft.com/office/drawing/2014/main" xmlns="" id="{17574A7B-0CCB-9D80-8691-3EE6F813E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488" y="3321050"/>
            <a:ext cx="11731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Send line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server</a:t>
            </a:r>
            <a:endParaRPr lang="en-US" altLang="en-US" sz="1800"/>
          </a:p>
        </p:txBody>
      </p:sp>
      <p:sp>
        <p:nvSpPr>
          <p:cNvPr id="105480" name="Text Box 6">
            <a:extLst>
              <a:ext uri="{FF2B5EF4-FFF2-40B4-BE49-F238E27FC236}">
                <a16:creationId xmlns:a16="http://schemas.microsoft.com/office/drawing/2014/main" xmlns="" id="{87D19D99-D508-73AD-646A-CD4D251DD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4110038"/>
            <a:ext cx="1468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Read line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from server</a:t>
            </a:r>
            <a:endParaRPr lang="en-US" altLang="en-US" sz="1800"/>
          </a:p>
        </p:txBody>
      </p:sp>
      <p:sp>
        <p:nvSpPr>
          <p:cNvPr id="105481" name="Freeform 7">
            <a:extLst>
              <a:ext uri="{FF2B5EF4-FFF2-40B4-BE49-F238E27FC236}">
                <a16:creationId xmlns:a16="http://schemas.microsoft.com/office/drawing/2014/main" xmlns="" id="{80BB5925-62F4-F64D-1526-4A856AA23BC3}"/>
              </a:ext>
            </a:extLst>
          </p:cNvPr>
          <p:cNvSpPr>
            <a:spLocks/>
          </p:cNvSpPr>
          <p:nvPr/>
        </p:nvSpPr>
        <p:spPr bwMode="auto">
          <a:xfrm>
            <a:off x="3990975" y="2129909"/>
            <a:ext cx="114300" cy="369332"/>
          </a:xfrm>
          <a:custGeom>
            <a:avLst/>
            <a:gdLst>
              <a:gd name="T0" fmla="*/ 0 w 78"/>
              <a:gd name="T1" fmla="*/ 0 h 342"/>
              <a:gd name="T2" fmla="*/ 114300 w 78"/>
              <a:gd name="T3" fmla="*/ 0 h 342"/>
              <a:gd name="T4" fmla="*/ 114300 w 78"/>
              <a:gd name="T5" fmla="*/ 790575 h 342"/>
              <a:gd name="T6" fmla="*/ 8792 w 78"/>
              <a:gd name="T7" fmla="*/ 790575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5482" name="Line 8">
            <a:extLst>
              <a:ext uri="{FF2B5EF4-FFF2-40B4-BE49-F238E27FC236}">
                <a16:creationId xmlns:a16="http://schemas.microsoft.com/office/drawing/2014/main" xmlns="" id="{0CB569EB-F9B8-677D-62B8-C2C271C982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05275" y="2324100"/>
            <a:ext cx="34290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5483" name="Freeform 9">
            <a:extLst>
              <a:ext uri="{FF2B5EF4-FFF2-40B4-BE49-F238E27FC236}">
                <a16:creationId xmlns:a16="http://schemas.microsoft.com/office/drawing/2014/main" xmlns="" id="{A1A9D064-2345-6306-A516-E549603D5E6E}"/>
              </a:ext>
            </a:extLst>
          </p:cNvPr>
          <p:cNvSpPr>
            <a:spLocks/>
          </p:cNvSpPr>
          <p:nvPr/>
        </p:nvSpPr>
        <p:spPr bwMode="auto">
          <a:xfrm>
            <a:off x="4029076" y="3465790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85787 h 342"/>
              <a:gd name="T6" fmla="*/ 9525 w 78"/>
              <a:gd name="T7" fmla="*/ 5857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5484" name="Line 10">
            <a:extLst>
              <a:ext uri="{FF2B5EF4-FFF2-40B4-BE49-F238E27FC236}">
                <a16:creationId xmlns:a16="http://schemas.microsoft.com/office/drawing/2014/main" xmlns="" id="{3FB3F23A-4927-C1C5-33B9-7BDD82D013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7663" y="3667126"/>
            <a:ext cx="309562" cy="158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5485" name="Freeform 11">
            <a:extLst>
              <a:ext uri="{FF2B5EF4-FFF2-40B4-BE49-F238E27FC236}">
                <a16:creationId xmlns:a16="http://schemas.microsoft.com/office/drawing/2014/main" xmlns="" id="{24DAAABC-6BA3-FD8B-0807-9C5D911CB085}"/>
              </a:ext>
            </a:extLst>
          </p:cNvPr>
          <p:cNvSpPr>
            <a:spLocks/>
          </p:cNvSpPr>
          <p:nvPr/>
        </p:nvSpPr>
        <p:spPr bwMode="auto">
          <a:xfrm>
            <a:off x="4048126" y="4256365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09587 h 342"/>
              <a:gd name="T6" fmla="*/ 9525 w 78"/>
              <a:gd name="T7" fmla="*/ 5095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5486" name="Line 12">
            <a:extLst>
              <a:ext uri="{FF2B5EF4-FFF2-40B4-BE49-F238E27FC236}">
                <a16:creationId xmlns:a16="http://schemas.microsoft.com/office/drawing/2014/main" xmlns="" id="{026DE332-441C-A0FD-ABB1-BCBBCE30E6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6239" y="4295776"/>
            <a:ext cx="2952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Footer Placeholder 3">
            <a:extLst>
              <a:ext uri="{FF2B5EF4-FFF2-40B4-BE49-F238E27FC236}">
                <a16:creationId xmlns:a16="http://schemas.microsoft.com/office/drawing/2014/main" xmlns="" id="{8139CC03-2206-A088-333B-16A4DAAFF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6499" name="Slide Number Placeholder 4">
            <a:extLst>
              <a:ext uri="{FF2B5EF4-FFF2-40B4-BE49-F238E27FC236}">
                <a16:creationId xmlns:a16="http://schemas.microsoft.com/office/drawing/2014/main" xmlns="" id="{DE9BC1D6-B87D-6F0D-CA0B-A178F63C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6A67860A-6720-4F52-BD12-0DD10B9ECF9F}" type="slidenum">
              <a:rPr lang="en-US" altLang="en-US" sz="1400">
                <a:latin typeface="Times New Roman" panose="02020603050405020304" pitchFamily="18" charset="0"/>
              </a:rPr>
              <a:pPr/>
              <a:t>13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6500" name="Rectangle 2">
            <a:extLst>
              <a:ext uri="{FF2B5EF4-FFF2-40B4-BE49-F238E27FC236}">
                <a16:creationId xmlns:a16="http://schemas.microsoft.com/office/drawing/2014/main" xmlns="" id="{025754D6-F769-61DF-C91E-F27F0F8EB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server (TCP)</a:t>
            </a:r>
          </a:p>
        </p:txBody>
      </p:sp>
      <p:sp>
        <p:nvSpPr>
          <p:cNvPr id="106501" name="Rectangle 3">
            <a:extLst>
              <a:ext uri="{FF2B5EF4-FFF2-40B4-BE49-F238E27FC236}">
                <a16:creationId xmlns:a16="http://schemas.microsoft.com/office/drawing/2014/main" xmlns="" id="{49899D24-40B7-6B4D-BAD1-6D0E59EF2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1235075"/>
            <a:ext cx="6262688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class TCPServer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public static void main(String argv[])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String clientSentence;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String capitalizedSentence;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ServerSocket welcomeSocket = new ServerSocket(6789);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while(true)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Socket connectionSocket = welcomeSocket.accept();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BufferedReader inFromClient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  new BufferedReader(new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  InputStreamReader(connectionSocket.getInputStream()));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502" name="Text Box 4">
            <a:extLst>
              <a:ext uri="{FF2B5EF4-FFF2-40B4-BE49-F238E27FC236}">
                <a16:creationId xmlns:a16="http://schemas.microsoft.com/office/drawing/2014/main" xmlns="" id="{6693146A-709C-9BF9-99A1-46CA411D0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839" y="3249614"/>
            <a:ext cx="202247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welcoming socket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at port 6789</a:t>
            </a:r>
            <a:endParaRPr lang="en-US" altLang="en-US" sz="1800"/>
          </a:p>
        </p:txBody>
      </p:sp>
      <p:sp>
        <p:nvSpPr>
          <p:cNvPr id="106503" name="Text Box 5">
            <a:extLst>
              <a:ext uri="{FF2B5EF4-FFF2-40B4-BE49-F238E27FC236}">
                <a16:creationId xmlns:a16="http://schemas.microsoft.com/office/drawing/2014/main" xmlns="" id="{47D28BCB-F5D1-B83B-5236-305F3119A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1963" y="4260850"/>
            <a:ext cx="2214562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Wait, on welcoming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socket for contact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by client</a:t>
            </a:r>
            <a:endParaRPr lang="en-US" altLang="en-US" sz="1800"/>
          </a:p>
        </p:txBody>
      </p:sp>
      <p:sp>
        <p:nvSpPr>
          <p:cNvPr id="106504" name="Text Box 6">
            <a:extLst>
              <a:ext uri="{FF2B5EF4-FFF2-40B4-BE49-F238E27FC236}">
                <a16:creationId xmlns:a16="http://schemas.microsoft.com/office/drawing/2014/main" xmlns="" id="{B0639AE3-DBB9-1C4E-FB7B-A5F84D115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1976" y="5278439"/>
            <a:ext cx="209391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input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stream, attached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socket</a:t>
            </a:r>
            <a:endParaRPr lang="en-US" altLang="en-US" sz="1800"/>
          </a:p>
        </p:txBody>
      </p:sp>
      <p:sp>
        <p:nvSpPr>
          <p:cNvPr id="106505" name="Freeform 7">
            <a:extLst>
              <a:ext uri="{FF2B5EF4-FFF2-40B4-BE49-F238E27FC236}">
                <a16:creationId xmlns:a16="http://schemas.microsoft.com/office/drawing/2014/main" xmlns="" id="{8E7853BD-0958-5928-C118-24AE57392999}"/>
              </a:ext>
            </a:extLst>
          </p:cNvPr>
          <p:cNvSpPr>
            <a:spLocks/>
          </p:cNvSpPr>
          <p:nvPr/>
        </p:nvSpPr>
        <p:spPr bwMode="auto">
          <a:xfrm>
            <a:off x="3771900" y="3525322"/>
            <a:ext cx="152400" cy="369332"/>
          </a:xfrm>
          <a:custGeom>
            <a:avLst/>
            <a:gdLst>
              <a:gd name="T0" fmla="*/ 0 w 78"/>
              <a:gd name="T1" fmla="*/ 0 h 342"/>
              <a:gd name="T2" fmla="*/ 152400 w 78"/>
              <a:gd name="T3" fmla="*/ 0 h 342"/>
              <a:gd name="T4" fmla="*/ 152400 w 78"/>
              <a:gd name="T5" fmla="*/ 800100 h 342"/>
              <a:gd name="T6" fmla="*/ 11723 w 78"/>
              <a:gd name="T7" fmla="*/ 800100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6506" name="Line 8">
            <a:extLst>
              <a:ext uri="{FF2B5EF4-FFF2-40B4-BE49-F238E27FC236}">
                <a16:creationId xmlns:a16="http://schemas.microsoft.com/office/drawing/2014/main" xmlns="" id="{D213652C-7A7F-AF12-884A-0AA15819F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3350" y="3843338"/>
            <a:ext cx="419100" cy="47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6507" name="Freeform 9">
            <a:extLst>
              <a:ext uri="{FF2B5EF4-FFF2-40B4-BE49-F238E27FC236}">
                <a16:creationId xmlns:a16="http://schemas.microsoft.com/office/drawing/2014/main" xmlns="" id="{9225D154-8F6B-9E61-DE83-5B6A9769ED08}"/>
              </a:ext>
            </a:extLst>
          </p:cNvPr>
          <p:cNvSpPr>
            <a:spLocks/>
          </p:cNvSpPr>
          <p:nvPr/>
        </p:nvSpPr>
        <p:spPr bwMode="auto">
          <a:xfrm>
            <a:off x="3838576" y="4546878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766762 h 342"/>
              <a:gd name="T6" fmla="*/ 9525 w 78"/>
              <a:gd name="T7" fmla="*/ 76676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6508" name="Line 10">
            <a:extLst>
              <a:ext uri="{FF2B5EF4-FFF2-40B4-BE49-F238E27FC236}">
                <a16:creationId xmlns:a16="http://schemas.microsoft.com/office/drawing/2014/main" xmlns="" id="{66B71014-5BC7-D2D8-2CCA-B3D549546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4787900"/>
            <a:ext cx="604837" cy="12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6509" name="Freeform 11">
            <a:extLst>
              <a:ext uri="{FF2B5EF4-FFF2-40B4-BE49-F238E27FC236}">
                <a16:creationId xmlns:a16="http://schemas.microsoft.com/office/drawing/2014/main" xmlns="" id="{9B0DBD37-6F1E-1E78-E62D-A12E42ACA360}"/>
              </a:ext>
            </a:extLst>
          </p:cNvPr>
          <p:cNvSpPr>
            <a:spLocks/>
          </p:cNvSpPr>
          <p:nvPr/>
        </p:nvSpPr>
        <p:spPr bwMode="auto">
          <a:xfrm>
            <a:off x="3810000" y="5570815"/>
            <a:ext cx="152400" cy="369332"/>
          </a:xfrm>
          <a:custGeom>
            <a:avLst/>
            <a:gdLst>
              <a:gd name="T0" fmla="*/ 0 w 78"/>
              <a:gd name="T1" fmla="*/ 0 h 342"/>
              <a:gd name="T2" fmla="*/ 152400 w 78"/>
              <a:gd name="T3" fmla="*/ 0 h 342"/>
              <a:gd name="T4" fmla="*/ 152400 w 78"/>
              <a:gd name="T5" fmla="*/ 738187 h 342"/>
              <a:gd name="T6" fmla="*/ 11723 w 78"/>
              <a:gd name="T7" fmla="*/ 7381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6510" name="Line 12">
            <a:extLst>
              <a:ext uri="{FF2B5EF4-FFF2-40B4-BE49-F238E27FC236}">
                <a16:creationId xmlns:a16="http://schemas.microsoft.com/office/drawing/2014/main" xmlns="" id="{EB7D510D-E2DE-29B2-FE03-A43AE04D7F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7163" y="5581650"/>
            <a:ext cx="64770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Footer Placeholder 3">
            <a:extLst>
              <a:ext uri="{FF2B5EF4-FFF2-40B4-BE49-F238E27FC236}">
                <a16:creationId xmlns:a16="http://schemas.microsoft.com/office/drawing/2014/main" xmlns="" id="{DCD22B34-5EA4-0756-73BF-3FD5D9CC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7523" name="Slide Number Placeholder 4">
            <a:extLst>
              <a:ext uri="{FF2B5EF4-FFF2-40B4-BE49-F238E27FC236}">
                <a16:creationId xmlns:a16="http://schemas.microsoft.com/office/drawing/2014/main" xmlns="" id="{EB81A26D-1977-9550-8AD2-6B7B4BD3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357F1A44-D691-41CA-A7FC-44C34AA15499}" type="slidenum">
              <a:rPr lang="en-US" altLang="en-US" sz="1400">
                <a:latin typeface="Times New Roman" panose="02020603050405020304" pitchFamily="18" charset="0"/>
              </a:rPr>
              <a:pPr/>
              <a:t>14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7524" name="Rectangle 2">
            <a:extLst>
              <a:ext uri="{FF2B5EF4-FFF2-40B4-BE49-F238E27FC236}">
                <a16:creationId xmlns:a16="http://schemas.microsoft.com/office/drawing/2014/main" xmlns="" id="{370E34E5-755F-ECF6-AD20-A758AACF2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server (TCP), cont</a:t>
            </a:r>
          </a:p>
        </p:txBody>
      </p:sp>
      <p:sp>
        <p:nvSpPr>
          <p:cNvPr id="107525" name="Rectangle 3">
            <a:extLst>
              <a:ext uri="{FF2B5EF4-FFF2-40B4-BE49-F238E27FC236}">
                <a16:creationId xmlns:a16="http://schemas.microsoft.com/office/drawing/2014/main" xmlns="" id="{A406371E-8044-7F8A-B666-226ED4438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5" y="1617663"/>
            <a:ext cx="6999288" cy="396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 DataOutputStream  outToClient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   new DataOutputStream</a:t>
            </a:r>
            <a:r>
              <a:rPr lang="en-US" altLang="en-US" sz="1600">
                <a:latin typeface="Arial" panose="020B0604020202020204" pitchFamily="34" charset="0"/>
              </a:rPr>
              <a:t>(connectionSocket.getOutputStream());</a:t>
            </a:r>
            <a:r>
              <a:rPr lang="en-US" altLang="en-US" sz="180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 clientSentence = inFromClient.readLine();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 capitalizedSentence = clientSentence.toUpperCase() + '\n';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   outToClient.writeBytes(capitalizedSentence);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}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07526" name="Text Box 4">
            <a:extLst>
              <a:ext uri="{FF2B5EF4-FFF2-40B4-BE49-F238E27FC236}">
                <a16:creationId xmlns:a16="http://schemas.microsoft.com/office/drawing/2014/main" xmlns="" id="{119408FD-2889-CF33-2AEE-34C890CDE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9" y="2759075"/>
            <a:ext cx="14827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Read in  line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from socket</a:t>
            </a:r>
            <a:endParaRPr lang="en-US" altLang="en-US" sz="1800"/>
          </a:p>
        </p:txBody>
      </p:sp>
      <p:sp>
        <p:nvSpPr>
          <p:cNvPr id="107527" name="Text Box 5">
            <a:extLst>
              <a:ext uri="{FF2B5EF4-FFF2-40B4-BE49-F238E27FC236}">
                <a16:creationId xmlns:a16="http://schemas.microsoft.com/office/drawing/2014/main" xmlns="" id="{080FCFCE-E872-C495-B6CD-EED51510C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1" y="1735139"/>
            <a:ext cx="209391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output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stream, attached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socket</a:t>
            </a:r>
            <a:endParaRPr lang="en-US" altLang="en-US" sz="1800"/>
          </a:p>
        </p:txBody>
      </p:sp>
      <p:sp>
        <p:nvSpPr>
          <p:cNvPr id="107528" name="Freeform 6">
            <a:extLst>
              <a:ext uri="{FF2B5EF4-FFF2-40B4-BE49-F238E27FC236}">
                <a16:creationId xmlns:a16="http://schemas.microsoft.com/office/drawing/2014/main" xmlns="" id="{3C6C9218-5B67-ACD3-BAAA-06A579601D45}"/>
              </a:ext>
            </a:extLst>
          </p:cNvPr>
          <p:cNvSpPr>
            <a:spLocks/>
          </p:cNvSpPr>
          <p:nvPr/>
        </p:nvSpPr>
        <p:spPr bwMode="auto">
          <a:xfrm>
            <a:off x="3552826" y="2896672"/>
            <a:ext cx="161925" cy="369332"/>
          </a:xfrm>
          <a:custGeom>
            <a:avLst/>
            <a:gdLst>
              <a:gd name="T0" fmla="*/ 0 w 78"/>
              <a:gd name="T1" fmla="*/ 0 h 342"/>
              <a:gd name="T2" fmla="*/ 161925 w 78"/>
              <a:gd name="T3" fmla="*/ 0 h 342"/>
              <a:gd name="T4" fmla="*/ 161925 w 78"/>
              <a:gd name="T5" fmla="*/ 533400 h 342"/>
              <a:gd name="T6" fmla="*/ 12456 w 78"/>
              <a:gd name="T7" fmla="*/ 533400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29" name="Line 7">
            <a:extLst>
              <a:ext uri="{FF2B5EF4-FFF2-40B4-BE49-F238E27FC236}">
                <a16:creationId xmlns:a16="http://schemas.microsoft.com/office/drawing/2014/main" xmlns="" id="{E9936D6E-5E8A-6162-D0AB-F8AC4BDD88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1" y="3114676"/>
            <a:ext cx="3333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30" name="Freeform 8">
            <a:extLst>
              <a:ext uri="{FF2B5EF4-FFF2-40B4-BE49-F238E27FC236}">
                <a16:creationId xmlns:a16="http://schemas.microsoft.com/office/drawing/2014/main" xmlns="" id="{0D2062BE-054C-70CC-BED2-B6948EFC4ED3}"/>
              </a:ext>
            </a:extLst>
          </p:cNvPr>
          <p:cNvSpPr>
            <a:spLocks/>
          </p:cNvSpPr>
          <p:nvPr/>
        </p:nvSpPr>
        <p:spPr bwMode="auto">
          <a:xfrm>
            <a:off x="3581400" y="2017990"/>
            <a:ext cx="133350" cy="369332"/>
          </a:xfrm>
          <a:custGeom>
            <a:avLst/>
            <a:gdLst>
              <a:gd name="T0" fmla="*/ 0 w 78"/>
              <a:gd name="T1" fmla="*/ 0 h 342"/>
              <a:gd name="T2" fmla="*/ 133350 w 78"/>
              <a:gd name="T3" fmla="*/ 0 h 342"/>
              <a:gd name="T4" fmla="*/ 133350 w 78"/>
              <a:gd name="T5" fmla="*/ 814387 h 342"/>
              <a:gd name="T6" fmla="*/ 10258 w 78"/>
              <a:gd name="T7" fmla="*/ 8143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31" name="Line 9">
            <a:extLst>
              <a:ext uri="{FF2B5EF4-FFF2-40B4-BE49-F238E27FC236}">
                <a16:creationId xmlns:a16="http://schemas.microsoft.com/office/drawing/2014/main" xmlns="" id="{F91FB548-F0FA-10DD-3AC4-ADEE5A7008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8563" y="2486025"/>
            <a:ext cx="2857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32" name="Text Box 10">
            <a:extLst>
              <a:ext uri="{FF2B5EF4-FFF2-40B4-BE49-F238E27FC236}">
                <a16:creationId xmlns:a16="http://schemas.microsoft.com/office/drawing/2014/main" xmlns="" id="{EE7F1EC0-9FA1-B333-76CF-669BE5DB90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538" y="3902075"/>
            <a:ext cx="168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Write out line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socket</a:t>
            </a:r>
            <a:endParaRPr lang="en-US" altLang="en-US" sz="1800"/>
          </a:p>
        </p:txBody>
      </p:sp>
      <p:sp>
        <p:nvSpPr>
          <p:cNvPr id="107533" name="Freeform 11">
            <a:extLst>
              <a:ext uri="{FF2B5EF4-FFF2-40B4-BE49-F238E27FC236}">
                <a16:creationId xmlns:a16="http://schemas.microsoft.com/office/drawing/2014/main" xmlns="" id="{62D866AA-738D-B184-5036-C7AF7B372F0D}"/>
              </a:ext>
            </a:extLst>
          </p:cNvPr>
          <p:cNvSpPr>
            <a:spLocks/>
          </p:cNvSpPr>
          <p:nvPr/>
        </p:nvSpPr>
        <p:spPr bwMode="auto">
          <a:xfrm>
            <a:off x="3533776" y="4058722"/>
            <a:ext cx="161925" cy="369332"/>
          </a:xfrm>
          <a:custGeom>
            <a:avLst/>
            <a:gdLst>
              <a:gd name="T0" fmla="*/ 0 w 78"/>
              <a:gd name="T1" fmla="*/ 0 h 342"/>
              <a:gd name="T2" fmla="*/ 161925 w 78"/>
              <a:gd name="T3" fmla="*/ 0 h 342"/>
              <a:gd name="T4" fmla="*/ 161925 w 78"/>
              <a:gd name="T5" fmla="*/ 571500 h 342"/>
              <a:gd name="T6" fmla="*/ 12456 w 78"/>
              <a:gd name="T7" fmla="*/ 571500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34" name="Line 12">
            <a:extLst>
              <a:ext uri="{FF2B5EF4-FFF2-40B4-BE49-F238E27FC236}">
                <a16:creationId xmlns:a16="http://schemas.microsoft.com/office/drawing/2014/main" xmlns="" id="{BF593ADB-FD09-896E-0558-135D8329D8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4751" y="4219576"/>
            <a:ext cx="3333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35" name="Text Box 13">
            <a:extLst>
              <a:ext uri="{FF2B5EF4-FFF2-40B4-BE49-F238E27FC236}">
                <a16:creationId xmlns:a16="http://schemas.microsoft.com/office/drawing/2014/main" xmlns="" id="{47ED2FD5-B571-6E02-769F-32AF4FA65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3925" y="4889500"/>
            <a:ext cx="28781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End of while loop,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loop back and wait for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another client connection</a:t>
            </a:r>
            <a:endParaRPr lang="en-US" altLang="en-US" sz="1800"/>
          </a:p>
        </p:txBody>
      </p:sp>
      <p:sp>
        <p:nvSpPr>
          <p:cNvPr id="107536" name="Freeform 14">
            <a:extLst>
              <a:ext uri="{FF2B5EF4-FFF2-40B4-BE49-F238E27FC236}">
                <a16:creationId xmlns:a16="http://schemas.microsoft.com/office/drawing/2014/main" xmlns="" id="{13182AB9-77A0-20DC-335C-31B7E1321544}"/>
              </a:ext>
            </a:extLst>
          </p:cNvPr>
          <p:cNvSpPr>
            <a:spLocks/>
          </p:cNvSpPr>
          <p:nvPr/>
        </p:nvSpPr>
        <p:spPr bwMode="auto">
          <a:xfrm rot="10784139">
            <a:off x="4714875" y="5151715"/>
            <a:ext cx="160338" cy="369332"/>
          </a:xfrm>
          <a:custGeom>
            <a:avLst/>
            <a:gdLst>
              <a:gd name="T0" fmla="*/ 0 w 78"/>
              <a:gd name="T1" fmla="*/ 0 h 342"/>
              <a:gd name="T2" fmla="*/ 160338 w 78"/>
              <a:gd name="T3" fmla="*/ 0 h 342"/>
              <a:gd name="T4" fmla="*/ 160338 w 78"/>
              <a:gd name="T5" fmla="*/ 912813 h 342"/>
              <a:gd name="T6" fmla="*/ 12334 w 78"/>
              <a:gd name="T7" fmla="*/ 912813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07537" name="Line 15">
            <a:extLst>
              <a:ext uri="{FF2B5EF4-FFF2-40B4-BE49-F238E27FC236}">
                <a16:creationId xmlns:a16="http://schemas.microsoft.com/office/drawing/2014/main" xmlns="" id="{D4E5CAE2-D7D2-AF84-3930-C7402AC4DD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67175" y="4552950"/>
            <a:ext cx="647700" cy="6048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5">
            <a:extLst>
              <a:ext uri="{FF2B5EF4-FFF2-40B4-BE49-F238E27FC236}">
                <a16:creationId xmlns:a16="http://schemas.microsoft.com/office/drawing/2014/main" xmlns="" id="{ECCFC3C1-2D6C-6E64-107B-B91E2B51A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8547" name="Slide Number Placeholder 6">
            <a:extLst>
              <a:ext uri="{FF2B5EF4-FFF2-40B4-BE49-F238E27FC236}">
                <a16:creationId xmlns:a16="http://schemas.microsoft.com/office/drawing/2014/main" xmlns="" id="{29CBEA69-5ACB-E9B6-0D63-1473A15F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39655050-BBB2-4272-A3E7-9DB2AC76FF4B}" type="slidenum">
              <a:rPr lang="en-US" altLang="en-US" sz="1400">
                <a:latin typeface="Times New Roman" panose="02020603050405020304" pitchFamily="18" charset="0"/>
              </a:rPr>
              <a:pPr/>
              <a:t>15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8548" name="Rectangle 2">
            <a:extLst>
              <a:ext uri="{FF2B5EF4-FFF2-40B4-BE49-F238E27FC236}">
                <a16:creationId xmlns:a16="http://schemas.microsoft.com/office/drawing/2014/main" xmlns="" id="{0F00B964-A098-5F22-88C3-B43A416EF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2: Application layer</a:t>
            </a:r>
          </a:p>
        </p:txBody>
      </p:sp>
      <p:sp>
        <p:nvSpPr>
          <p:cNvPr id="108549" name="Rectangle 3">
            <a:extLst>
              <a:ext uri="{FF2B5EF4-FFF2-40B4-BE49-F238E27FC236}">
                <a16:creationId xmlns:a16="http://schemas.microsoft.com/office/drawing/2014/main" xmlns="" id="{123340E8-7509-F5BF-51C2-C07A01CB72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2.1 Principles of network applications</a:t>
            </a:r>
          </a:p>
          <a:p>
            <a:r>
              <a:rPr lang="en-US" altLang="en-US" sz="2400"/>
              <a:t>2.2 Web and HTTP</a:t>
            </a:r>
          </a:p>
          <a:p>
            <a:r>
              <a:rPr lang="en-US" altLang="en-US" sz="2400"/>
              <a:t>2.3 FTP </a:t>
            </a:r>
            <a:endParaRPr lang="en-US" altLang="en-US" sz="2400">
              <a:solidFill>
                <a:srgbClr val="FF0000"/>
              </a:solidFill>
            </a:endParaRPr>
          </a:p>
          <a:p>
            <a:r>
              <a:rPr lang="en-US" altLang="en-US" sz="2400"/>
              <a:t>2.4 Electronic Mail</a:t>
            </a:r>
          </a:p>
          <a:p>
            <a:pPr lvl="1"/>
            <a:r>
              <a:rPr lang="en-US" altLang="en-US" sz="2000"/>
              <a:t>SMTP, POP3, IMAP</a:t>
            </a:r>
          </a:p>
          <a:p>
            <a:r>
              <a:rPr lang="en-US" altLang="en-US" sz="2400"/>
              <a:t>2.5 DNS</a:t>
            </a:r>
          </a:p>
          <a:p>
            <a:endParaRPr lang="en-US" altLang="en-US" sz="2400"/>
          </a:p>
        </p:txBody>
      </p:sp>
      <p:sp>
        <p:nvSpPr>
          <p:cNvPr id="108550" name="Rectangle 4">
            <a:extLst>
              <a:ext uri="{FF2B5EF4-FFF2-40B4-BE49-F238E27FC236}">
                <a16:creationId xmlns:a16="http://schemas.microsoft.com/office/drawing/2014/main" xmlns="" id="{C2CD6CA2-0A7D-480A-0F3D-7069A470C05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054475" cy="4648200"/>
          </a:xfrm>
        </p:spPr>
        <p:txBody>
          <a:bodyPr/>
          <a:lstStyle/>
          <a:p>
            <a:r>
              <a:rPr lang="en-US" altLang="en-US" sz="2400"/>
              <a:t>2.6 P2P applications</a:t>
            </a:r>
          </a:p>
          <a:p>
            <a:r>
              <a:rPr lang="en-US" altLang="en-US" sz="2400"/>
              <a:t>2.7 Socket programming with TCP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2.8 Socket programming with UDP</a:t>
            </a:r>
          </a:p>
          <a:p>
            <a:pPr>
              <a:buFont typeface="ZapfDingbats" pitchFamily="82" charset="2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Footer Placeholder 5">
            <a:extLst>
              <a:ext uri="{FF2B5EF4-FFF2-40B4-BE49-F238E27FC236}">
                <a16:creationId xmlns:a16="http://schemas.microsoft.com/office/drawing/2014/main" xmlns="" id="{79C85A05-D1EC-C41C-B94A-47D490717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9571" name="Slide Number Placeholder 6">
            <a:extLst>
              <a:ext uri="{FF2B5EF4-FFF2-40B4-BE49-F238E27FC236}">
                <a16:creationId xmlns:a16="http://schemas.microsoft.com/office/drawing/2014/main" xmlns="" id="{948785D2-06B4-D3A1-70CF-02B95F3C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F21A4B2E-5091-4AFA-BA07-77B41022F1EA}" type="slidenum">
              <a:rPr lang="en-US" altLang="en-US" sz="1400">
                <a:latin typeface="Times New Roman" panose="02020603050405020304" pitchFamily="18" charset="0"/>
              </a:rPr>
              <a:pPr/>
              <a:t>16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9572" name="Rectangle 2">
            <a:extLst>
              <a:ext uri="{FF2B5EF4-FFF2-40B4-BE49-F238E27FC236}">
                <a16:creationId xmlns:a16="http://schemas.microsoft.com/office/drawing/2014/main" xmlns="" id="{90BC47D9-6F24-1712-A5C4-34A26E7D3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Socket programming </a:t>
            </a:r>
            <a:r>
              <a:rPr lang="en-US" altLang="en-US" sz="3600" i="1">
                <a:solidFill>
                  <a:srgbClr val="FF0000"/>
                </a:solidFill>
              </a:rPr>
              <a:t>with UDP</a:t>
            </a:r>
            <a:endParaRPr lang="en-US" altLang="en-US"/>
          </a:p>
        </p:txBody>
      </p:sp>
      <p:sp>
        <p:nvSpPr>
          <p:cNvPr id="109573" name="Rectangle 3">
            <a:extLst>
              <a:ext uri="{FF2B5EF4-FFF2-40B4-BE49-F238E27FC236}">
                <a16:creationId xmlns:a16="http://schemas.microsoft.com/office/drawing/2014/main" xmlns="" id="{C16A7A50-52B5-E0C9-4494-AA71D713688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UDP: no “connection” between client and server</a:t>
            </a:r>
            <a:endParaRPr lang="en-US" altLang="en-US" sz="2000"/>
          </a:p>
          <a:p>
            <a:r>
              <a:rPr lang="en-US" altLang="en-US" sz="2000"/>
              <a:t>no handshaking</a:t>
            </a:r>
          </a:p>
          <a:p>
            <a:r>
              <a:rPr lang="en-US" altLang="en-US" sz="2000"/>
              <a:t>sender explicitly attaches IP address and port of destination to each packet</a:t>
            </a:r>
          </a:p>
          <a:p>
            <a:r>
              <a:rPr lang="en-US" altLang="en-US" sz="2000"/>
              <a:t>server must extract IP address, port of sender from received packet</a:t>
            </a:r>
          </a:p>
          <a:p>
            <a:pPr>
              <a:spcBef>
                <a:spcPct val="50000"/>
              </a:spcBef>
              <a:buFont typeface="ZapfDingbats" pitchFamily="8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UDP: transmitted data may be received out of order, or lost</a:t>
            </a:r>
            <a:endParaRPr lang="en-US" altLang="en-US" sz="2000"/>
          </a:p>
        </p:txBody>
      </p:sp>
      <p:grpSp>
        <p:nvGrpSpPr>
          <p:cNvPr id="109574" name="Group 4">
            <a:extLst>
              <a:ext uri="{FF2B5EF4-FFF2-40B4-BE49-F238E27FC236}">
                <a16:creationId xmlns:a16="http://schemas.microsoft.com/office/drawing/2014/main" xmlns="" id="{9ABF9100-1E7E-D53B-CC2F-51C92D5A7D79}"/>
              </a:ext>
            </a:extLst>
          </p:cNvPr>
          <p:cNvGrpSpPr>
            <a:grpSpLocks/>
          </p:cNvGrpSpPr>
          <p:nvPr/>
        </p:nvGrpSpPr>
        <p:grpSpPr bwMode="auto">
          <a:xfrm>
            <a:off x="6140451" y="2651125"/>
            <a:ext cx="4160838" cy="1771650"/>
            <a:chOff x="2914" y="2870"/>
            <a:chExt cx="2621" cy="1116"/>
          </a:xfrm>
        </p:grpSpPr>
        <p:sp>
          <p:nvSpPr>
            <p:cNvPr id="109575" name="Rectangle 5">
              <a:extLst>
                <a:ext uri="{FF2B5EF4-FFF2-40B4-BE49-F238E27FC236}">
                  <a16:creationId xmlns:a16="http://schemas.microsoft.com/office/drawing/2014/main" xmlns="" id="{E96A8570-50F9-0006-F2AE-571C64E2A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0" y="3326"/>
              <a:ext cx="116" cy="291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09576" name="Group 6">
              <a:extLst>
                <a:ext uri="{FF2B5EF4-FFF2-40B4-BE49-F238E27FC236}">
                  <a16:creationId xmlns:a16="http://schemas.microsoft.com/office/drawing/2014/main" xmlns="" id="{D8B4F7BC-B038-7871-D6E4-23DA4460E5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870"/>
              <a:ext cx="1653" cy="291"/>
              <a:chOff x="66" y="3824"/>
              <a:chExt cx="1653" cy="291"/>
            </a:xfrm>
          </p:grpSpPr>
          <p:sp>
            <p:nvSpPr>
              <p:cNvPr id="109578" name="Rectangle 7">
                <a:extLst>
                  <a:ext uri="{FF2B5EF4-FFF2-40B4-BE49-F238E27FC236}">
                    <a16:creationId xmlns:a16="http://schemas.microsoft.com/office/drawing/2014/main" xmlns="" id="{F2A3D93C-B05F-00F4-9BD3-A0C2DA6EEC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4"/>
                <a:ext cx="116" cy="2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09579" name="Text Box 8">
                <a:extLst>
                  <a:ext uri="{FF2B5EF4-FFF2-40B4-BE49-F238E27FC236}">
                    <a16:creationId xmlns:a16="http://schemas.microsoft.com/office/drawing/2014/main" xmlns="" id="{C14831DA-972A-0637-010C-462D60FCED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" y="3842"/>
                <a:ext cx="165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>
                    <a:solidFill>
                      <a:srgbClr val="FF0000"/>
                    </a:solidFill>
                  </a:rPr>
                  <a:t>application viewpoint</a:t>
                </a:r>
                <a:endParaRPr lang="en-US" altLang="en-US" sz="1800"/>
              </a:p>
            </p:txBody>
          </p:sp>
        </p:grpSp>
        <p:sp>
          <p:nvSpPr>
            <p:cNvPr id="109577" name="Text Box 9">
              <a:extLst>
                <a:ext uri="{FF2B5EF4-FFF2-40B4-BE49-F238E27FC236}">
                  <a16:creationId xmlns:a16="http://schemas.microsoft.com/office/drawing/2014/main" xmlns="" id="{9DC9428E-8E29-EFAF-DA71-ACBB5EB02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4" y="3179"/>
              <a:ext cx="2621" cy="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chemeClr val="accent2"/>
                  </a:solidFill>
                </a:rPr>
                <a:t>UDP provides </a:t>
              </a:r>
              <a:r>
                <a:rPr lang="en-US" altLang="en-US" sz="2000" i="1" u="sng">
                  <a:solidFill>
                    <a:schemeClr val="accent2"/>
                  </a:solidFill>
                </a:rPr>
                <a:t>unreliable</a:t>
              </a:r>
              <a:r>
                <a:rPr lang="en-US" altLang="en-US" sz="2000" i="1">
                  <a:solidFill>
                    <a:schemeClr val="accent2"/>
                  </a:solidFill>
                </a:rPr>
                <a:t> transfer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chemeClr val="accent2"/>
                  </a:solidFill>
                </a:rPr>
                <a:t> of groups of bytes (“datagrams”)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chemeClr val="accent2"/>
                  </a:solidFill>
                </a:rPr>
                <a:t> between client and server</a:t>
              </a:r>
              <a:endParaRPr lang="en-US" altLang="en-US" sz="2000" i="1">
                <a:solidFill>
                  <a:schemeClr val="accent2"/>
                </a:solidFill>
                <a:latin typeface="Times New Roman" panose="02020603050405020304" pitchFamily="18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xmlns="" id="{FEA04C3C-5B79-FCE2-2AAF-A9AC9009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0595" name="Slide Number Placeholder 4">
            <a:extLst>
              <a:ext uri="{FF2B5EF4-FFF2-40B4-BE49-F238E27FC236}">
                <a16:creationId xmlns:a16="http://schemas.microsoft.com/office/drawing/2014/main" xmlns="" id="{69558880-0ED9-CEDA-013F-0E78225D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588101DA-E7E2-4060-8961-8FCFED8E5B45}" type="slidenum">
              <a:rPr lang="en-US" altLang="en-US" sz="1400">
                <a:latin typeface="Times New Roman" panose="02020603050405020304" pitchFamily="18" charset="0"/>
              </a:rPr>
              <a:pPr/>
              <a:t>17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0596" name="Rectangle 2">
            <a:extLst>
              <a:ext uri="{FF2B5EF4-FFF2-40B4-BE49-F238E27FC236}">
                <a16:creationId xmlns:a16="http://schemas.microsoft.com/office/drawing/2014/main" xmlns="" id="{48F6B09F-EF52-B328-7F85-06ABBF484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Client/server socket interaction: UDP</a:t>
            </a:r>
            <a:endParaRPr lang="en-US" altLang="en-US"/>
          </a:p>
        </p:txBody>
      </p:sp>
      <p:sp>
        <p:nvSpPr>
          <p:cNvPr id="110597" name="Text Box 3">
            <a:extLst>
              <a:ext uri="{FF2B5EF4-FFF2-40B4-BE49-F238E27FC236}">
                <a16:creationId xmlns:a16="http://schemas.microsoft.com/office/drawing/2014/main" xmlns="" id="{3A6F7DD4-F566-03B3-E7C5-F34793730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9789" y="1314450"/>
            <a:ext cx="3392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/>
              <a:t>Server </a:t>
            </a:r>
            <a:r>
              <a:rPr lang="en-US" altLang="en-US" sz="1800"/>
              <a:t>(running on </a:t>
            </a:r>
            <a:r>
              <a:rPr lang="en-US" altLang="en-US" sz="1800" b="1">
                <a:latin typeface="Courier New" panose="02070309020205020404" pitchFamily="49" charset="0"/>
              </a:rPr>
              <a:t>hostid</a:t>
            </a:r>
            <a:r>
              <a:rPr lang="en-US" altLang="en-US" sz="1800"/>
              <a:t>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AB4704AF-22AD-8392-6477-A215232C8E38}"/>
              </a:ext>
            </a:extLst>
          </p:cNvPr>
          <p:cNvGrpSpPr>
            <a:grpSpLocks/>
          </p:cNvGrpSpPr>
          <p:nvPr/>
        </p:nvGrpSpPr>
        <p:grpSpPr bwMode="auto">
          <a:xfrm>
            <a:off x="7056439" y="3933825"/>
            <a:ext cx="1754187" cy="1938338"/>
            <a:chOff x="3485" y="2478"/>
            <a:chExt cx="1105" cy="1221"/>
          </a:xfrm>
        </p:grpSpPr>
        <p:grpSp>
          <p:nvGrpSpPr>
            <p:cNvPr id="110616" name="Group 5">
              <a:extLst>
                <a:ext uri="{FF2B5EF4-FFF2-40B4-BE49-F238E27FC236}">
                  <a16:creationId xmlns:a16="http://schemas.microsoft.com/office/drawing/2014/main" xmlns="" id="{30114826-D878-B826-79F8-3D2D3F94A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3003"/>
              <a:ext cx="1105" cy="696"/>
              <a:chOff x="3485" y="3003"/>
              <a:chExt cx="1105" cy="696"/>
            </a:xfrm>
          </p:grpSpPr>
          <p:sp>
            <p:nvSpPr>
              <p:cNvPr id="110618" name="Text Box 6">
                <a:extLst>
                  <a:ext uri="{FF2B5EF4-FFF2-40B4-BE49-F238E27FC236}">
                    <a16:creationId xmlns:a16="http://schemas.microsoft.com/office/drawing/2014/main" xmlns="" id="{CFB9531C-91C7-4899-68CE-07CDCA3A7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369"/>
                <a:ext cx="7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close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19" name="Line 7">
                <a:extLst>
                  <a:ext uri="{FF2B5EF4-FFF2-40B4-BE49-F238E27FC236}">
                    <a16:creationId xmlns:a16="http://schemas.microsoft.com/office/drawing/2014/main" xmlns="" id="{02DC1C30-4DF4-0029-7BBE-80C4248564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18"/>
                <a:ext cx="0" cy="20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10620" name="Text Box 8">
                <a:extLst>
                  <a:ext uri="{FF2B5EF4-FFF2-40B4-BE49-F238E27FC236}">
                    <a16:creationId xmlns:a16="http://schemas.microsoft.com/office/drawing/2014/main" xmlns="" id="{6F6E7014-750C-8A2E-87A6-29192FE21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3003"/>
                <a:ext cx="110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read datagram from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0617" name="Line 9">
              <a:extLst>
                <a:ext uri="{FF2B5EF4-FFF2-40B4-BE49-F238E27FC236}">
                  <a16:creationId xmlns:a16="http://schemas.microsoft.com/office/drawing/2014/main" xmlns="" id="{7AAF9EB7-E477-D6FD-D69F-E78EF2942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78"/>
              <a:ext cx="0" cy="52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xmlns="" id="{2543805F-CD17-93DB-D441-75C8D654AB2F}"/>
              </a:ext>
            </a:extLst>
          </p:cNvPr>
          <p:cNvGrpSpPr>
            <a:grpSpLocks/>
          </p:cNvGrpSpPr>
          <p:nvPr/>
        </p:nvGrpSpPr>
        <p:grpSpPr bwMode="auto">
          <a:xfrm>
            <a:off x="4524376" y="1333500"/>
            <a:ext cx="5384801" cy="2597150"/>
            <a:chOff x="1890" y="840"/>
            <a:chExt cx="3392" cy="1636"/>
          </a:xfrm>
        </p:grpSpPr>
        <p:grpSp>
          <p:nvGrpSpPr>
            <p:cNvPr id="110609" name="Group 11">
              <a:extLst>
                <a:ext uri="{FF2B5EF4-FFF2-40B4-BE49-F238E27FC236}">
                  <a16:creationId xmlns:a16="http://schemas.microsoft.com/office/drawing/2014/main" xmlns="" id="{C5315ED6-5480-AD9C-684D-7C0CE8332B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9" y="1340"/>
              <a:ext cx="1039" cy="469"/>
              <a:chOff x="3233" y="1850"/>
              <a:chExt cx="1039" cy="469"/>
            </a:xfrm>
          </p:grpSpPr>
          <p:sp>
            <p:nvSpPr>
              <p:cNvPr id="110614" name="Text Box 12">
                <a:extLst>
                  <a:ext uri="{FF2B5EF4-FFF2-40B4-BE49-F238E27FC236}">
                    <a16:creationId xmlns:a16="http://schemas.microsoft.com/office/drawing/2014/main" xmlns="" id="{84F7F31F-0CC9-3A36-2417-D5AC8138AE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3" y="1850"/>
                <a:ext cx="818" cy="4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Arial" panose="020B0604020202020204" pitchFamily="34" charset="0"/>
                  </a:rPr>
                  <a:t>create socket,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15" name="Text Box 13">
                <a:extLst>
                  <a:ext uri="{FF2B5EF4-FFF2-40B4-BE49-F238E27FC236}">
                    <a16:creationId xmlns:a16="http://schemas.microsoft.com/office/drawing/2014/main" xmlns="" id="{09242F76-484F-3E77-C3EC-BA472EFB6E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89"/>
                <a:ext cx="103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clientSocket = 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solidFill>
                      <a:srgbClr val="FF0000"/>
                    </a:solidFill>
                    <a:latin typeface="Arial" panose="020B0604020202020204" pitchFamily="34" charset="0"/>
                  </a:rPr>
                  <a:t>DatagramSocket()</a:t>
                </a:r>
                <a:endParaRPr lang="en-US" alt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0610" name="Text Box 14">
              <a:extLst>
                <a:ext uri="{FF2B5EF4-FFF2-40B4-BE49-F238E27FC236}">
                  <a16:creationId xmlns:a16="http://schemas.microsoft.com/office/drawing/2014/main" xmlns="" id="{E720C1F5-17E4-6751-01AB-0BFF1C177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840"/>
              <a:ext cx="63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/>
                <a:t>Client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0611" name="Text Box 15">
              <a:extLst>
                <a:ext uri="{FF2B5EF4-FFF2-40B4-BE49-F238E27FC236}">
                  <a16:creationId xmlns:a16="http://schemas.microsoft.com/office/drawing/2014/main" xmlns="" id="{3171C89C-E99C-2EB8-0715-7A2D5CC3C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9" y="2011"/>
              <a:ext cx="1893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Create datagram with server IP 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port=x; send datagram via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 </a:t>
              </a: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clientSocket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0612" name="Line 16">
              <a:extLst>
                <a:ext uri="{FF2B5EF4-FFF2-40B4-BE49-F238E27FC236}">
                  <a16:creationId xmlns:a16="http://schemas.microsoft.com/office/drawing/2014/main" xmlns="" id="{FBF1E615-8CBC-B183-0912-2CCFE96CD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1830"/>
              <a:ext cx="0" cy="20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10613" name="Line 17">
              <a:extLst>
                <a:ext uri="{FF2B5EF4-FFF2-40B4-BE49-F238E27FC236}">
                  <a16:creationId xmlns:a16="http://schemas.microsoft.com/office/drawing/2014/main" xmlns="" id="{2F6D6BDC-C4E4-0407-1566-96746A4A3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0" y="2208"/>
              <a:ext cx="1518" cy="25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110600" name="Text Box 18">
            <a:extLst>
              <a:ext uri="{FF2B5EF4-FFF2-40B4-BE49-F238E27FC236}">
                <a16:creationId xmlns:a16="http://schemas.microsoft.com/office/drawing/2014/main" xmlns="" id="{2D74C9BC-907B-E9BC-93A8-0EC001A74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9" y="2184728"/>
            <a:ext cx="12987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create socket,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port= x.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601" name="Text Box 19">
            <a:extLst>
              <a:ext uri="{FF2B5EF4-FFF2-40B4-BE49-F238E27FC236}">
                <a16:creationId xmlns:a16="http://schemas.microsoft.com/office/drawing/2014/main" xmlns="" id="{FE9ADF32-3AA0-286B-7E44-7830983CD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9" y="2629228"/>
            <a:ext cx="16369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serverSocket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DatagramSocket()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xmlns="" id="{C8AD76C8-F3C0-5EB4-9525-2CB06D8E596E}"/>
              </a:ext>
            </a:extLst>
          </p:cNvPr>
          <p:cNvGrpSpPr>
            <a:grpSpLocks/>
          </p:cNvGrpSpPr>
          <p:nvPr/>
        </p:nvGrpSpPr>
        <p:grpSpPr bwMode="auto">
          <a:xfrm>
            <a:off x="2928939" y="3146425"/>
            <a:ext cx="1754187" cy="1062038"/>
            <a:chOff x="885" y="1982"/>
            <a:chExt cx="1105" cy="669"/>
          </a:xfrm>
        </p:grpSpPr>
        <p:sp>
          <p:nvSpPr>
            <p:cNvPr id="110607" name="Line 21">
              <a:extLst>
                <a:ext uri="{FF2B5EF4-FFF2-40B4-BE49-F238E27FC236}">
                  <a16:creationId xmlns:a16="http://schemas.microsoft.com/office/drawing/2014/main" xmlns="" id="{70AEB6B3-29D0-944D-DF10-510D89A43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10608" name="Text Box 22">
              <a:extLst>
                <a:ext uri="{FF2B5EF4-FFF2-40B4-BE49-F238E27FC236}">
                  <a16:creationId xmlns:a16="http://schemas.microsoft.com/office/drawing/2014/main" xmlns="" id="{8620D3CA-F06D-25CC-89E0-C6D4D12BC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321"/>
              <a:ext cx="110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read datagram from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serverSocket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xmlns="" id="{8A4EA7ED-B05D-A38F-37E4-F74A644AA134}"/>
              </a:ext>
            </a:extLst>
          </p:cNvPr>
          <p:cNvGrpSpPr>
            <a:grpSpLocks/>
          </p:cNvGrpSpPr>
          <p:nvPr/>
        </p:nvGrpSpPr>
        <p:grpSpPr bwMode="auto">
          <a:xfrm>
            <a:off x="2951163" y="4229102"/>
            <a:ext cx="3973512" cy="1366838"/>
            <a:chOff x="899" y="2664"/>
            <a:chExt cx="2503" cy="861"/>
          </a:xfrm>
        </p:grpSpPr>
        <p:sp>
          <p:nvSpPr>
            <p:cNvPr id="110604" name="Text Box 24">
              <a:extLst>
                <a:ext uri="{FF2B5EF4-FFF2-40B4-BE49-F238E27FC236}">
                  <a16:creationId xmlns:a16="http://schemas.microsoft.com/office/drawing/2014/main" xmlns="" id="{CCAEACE7-CC6C-DF5B-7E7B-58B0ABB928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2788"/>
              <a:ext cx="843" cy="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write reply to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solidFill>
                    <a:srgbClr val="FF0000"/>
                  </a:solidFill>
                  <a:latin typeface="Arial" panose="020B0604020202020204" pitchFamily="34" charset="0"/>
                </a:rPr>
                <a:t>serverSocket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specifying </a:t>
              </a:r>
              <a:br>
                <a:rPr lang="en-US" altLang="en-US" sz="1400">
                  <a:latin typeface="Arial" panose="020B0604020202020204" pitchFamily="34" charset="0"/>
                </a:rPr>
              </a:br>
              <a:r>
                <a:rPr lang="en-US" altLang="en-US" sz="1400">
                  <a:latin typeface="Arial" panose="020B0604020202020204" pitchFamily="34" charset="0"/>
                </a:rPr>
                <a:t>client address,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>
                  <a:latin typeface="Arial" panose="020B0604020202020204" pitchFamily="34" charset="0"/>
                </a:rPr>
                <a:t>port number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10605" name="Line 25">
              <a:extLst>
                <a:ext uri="{FF2B5EF4-FFF2-40B4-BE49-F238E27FC236}">
                  <a16:creationId xmlns:a16="http://schemas.microsoft.com/office/drawing/2014/main" xmlns="" id="{97330181-5301-112F-D67A-434F4F06A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2" y="2664"/>
              <a:ext cx="0" cy="19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  <p:sp>
          <p:nvSpPr>
            <p:cNvPr id="110606" name="Line 26">
              <a:extLst>
                <a:ext uri="{FF2B5EF4-FFF2-40B4-BE49-F238E27FC236}">
                  <a16:creationId xmlns:a16="http://schemas.microsoft.com/office/drawing/2014/main" xmlns="" id="{C5B45D00-6CC1-DB19-73CB-5017232AD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IN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xmlns="" id="{38043A1D-8F32-307D-431B-B44FBF29D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1619" name="Slide Number Placeholder 4">
            <a:extLst>
              <a:ext uri="{FF2B5EF4-FFF2-40B4-BE49-F238E27FC236}">
                <a16:creationId xmlns:a16="http://schemas.microsoft.com/office/drawing/2014/main" xmlns="" id="{2D781D21-8367-D52F-2C4E-9583A755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7259E323-14AF-4EC0-85A4-9DE7EACBA22A}" type="slidenum">
              <a:rPr lang="en-US" altLang="en-US" sz="1400">
                <a:latin typeface="Times New Roman" panose="02020603050405020304" pitchFamily="18" charset="0"/>
              </a:rPr>
              <a:pPr/>
              <a:t>18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1620" name="Rectangle 2">
            <a:extLst>
              <a:ext uri="{FF2B5EF4-FFF2-40B4-BE49-F238E27FC236}">
                <a16:creationId xmlns:a16="http://schemas.microsoft.com/office/drawing/2014/main" xmlns="" id="{D501FF3D-E8CB-8434-4CA2-A4FB5A516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client (UDP)</a:t>
            </a:r>
            <a:endParaRPr lang="en-US" altLang="en-US"/>
          </a:p>
        </p:txBody>
      </p:sp>
      <p:sp>
        <p:nvSpPr>
          <p:cNvPr id="111621" name="Rectangle 14">
            <a:extLst>
              <a:ext uri="{FF2B5EF4-FFF2-40B4-BE49-F238E27FC236}">
                <a16:creationId xmlns:a16="http://schemas.microsoft.com/office/drawing/2014/main" xmlns="" id="{34F2C79D-87DF-1FDD-8AA1-6CCF38044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955032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111622" name="Object 13">
            <a:extLst>
              <a:ext uri="{FF2B5EF4-FFF2-40B4-BE49-F238E27FC236}">
                <a16:creationId xmlns:a16="http://schemas.microsoft.com/office/drawing/2014/main" xmlns="" id="{7A2C944F-5005-151F-996E-3AFF695780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9889" y="1262064"/>
          <a:ext cx="4067175" cy="448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3" imgW="4803648" imgH="5675376" progId="Visio.Drawing.5">
                  <p:embed/>
                </p:oleObj>
              </mc:Choice>
              <mc:Fallback>
                <p:oleObj name="VISIO" r:id="rId3" imgW="4803648" imgH="5675376" progId="Visio.Drawing.5">
                  <p:embed/>
                  <p:pic>
                    <p:nvPicPr>
                      <p:cNvPr id="111622" name="Object 13">
                        <a:extLst>
                          <a:ext uri="{FF2B5EF4-FFF2-40B4-BE49-F238E27FC236}">
                            <a16:creationId xmlns:a16="http://schemas.microsoft.com/office/drawing/2014/main" xmlns="" id="{7A2C944F-5005-151F-996E-3AFF695780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9" y="1262064"/>
                        <a:ext cx="4067175" cy="448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3" name="Text Box 15">
            <a:extLst>
              <a:ext uri="{FF2B5EF4-FFF2-40B4-BE49-F238E27FC236}">
                <a16:creationId xmlns:a16="http://schemas.microsoft.com/office/drawing/2014/main" xmlns="" id="{CF2E0CCA-0E88-1D2F-CE17-778300B6C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6413" y="3408364"/>
            <a:ext cx="2184400" cy="1246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600">
                <a:solidFill>
                  <a:srgbClr val="FF0000"/>
                </a:solidFill>
              </a:rPr>
              <a:t>Output: </a:t>
            </a:r>
            <a:r>
              <a:rPr lang="en-US" altLang="en-US" sz="1800"/>
              <a:t>sends packet (recall</a:t>
            </a:r>
          </a:p>
          <a:p>
            <a:r>
              <a:rPr lang="en-US" altLang="en-US" sz="1800"/>
              <a:t>that TCP sent “byte stream”)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1624" name="Text Box 16">
            <a:extLst>
              <a:ext uri="{FF2B5EF4-FFF2-40B4-BE49-F238E27FC236}">
                <a16:creationId xmlns:a16="http://schemas.microsoft.com/office/drawing/2014/main" xmlns="" id="{D7A0EF63-7737-AD7A-9F53-ADC8FBC48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6488" y="2759076"/>
            <a:ext cx="2184400" cy="11906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600">
                <a:solidFill>
                  <a:srgbClr val="FF0000"/>
                </a:solidFill>
              </a:rPr>
              <a:t>Input: </a:t>
            </a:r>
            <a:r>
              <a:rPr lang="en-US" altLang="en-US" sz="1800"/>
              <a:t>receives packet (recall thatTCP received “byte stream”)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1625" name="Line 17">
            <a:extLst>
              <a:ext uri="{FF2B5EF4-FFF2-40B4-BE49-F238E27FC236}">
                <a16:creationId xmlns:a16="http://schemas.microsoft.com/office/drawing/2014/main" xmlns="" id="{215CDCFB-F8CB-773A-2383-E237FA599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8063" y="3595688"/>
            <a:ext cx="952500" cy="4381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11626" name="Line 18">
            <a:extLst>
              <a:ext uri="{FF2B5EF4-FFF2-40B4-BE49-F238E27FC236}">
                <a16:creationId xmlns:a16="http://schemas.microsoft.com/office/drawing/2014/main" xmlns="" id="{22C0F71E-300E-ED89-E32B-CFBC3AB81A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1976" y="2971800"/>
            <a:ext cx="576263" cy="7889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11627" name="Text Box 19">
            <a:extLst>
              <a:ext uri="{FF2B5EF4-FFF2-40B4-BE49-F238E27FC236}">
                <a16:creationId xmlns:a16="http://schemas.microsoft.com/office/drawing/2014/main" xmlns="" id="{CE03D403-33CE-D8B8-6050-EE4B85ACE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263" y="2482850"/>
            <a:ext cx="1206500" cy="70788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Client</a:t>
            </a:r>
          </a:p>
          <a:p>
            <a:r>
              <a:rPr lang="en-US" altLang="en-US" sz="2000">
                <a:solidFill>
                  <a:schemeClr val="accent2"/>
                </a:solidFill>
              </a:rPr>
              <a:t>process</a:t>
            </a: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8" name="Rectangle 20">
            <a:extLst>
              <a:ext uri="{FF2B5EF4-FFF2-40B4-BE49-F238E27FC236}">
                <a16:creationId xmlns:a16="http://schemas.microsoft.com/office/drawing/2014/main" xmlns="" id="{D48E3ED5-77D7-7DCD-3A60-089BC2848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300" y="4768850"/>
            <a:ext cx="1625600" cy="509588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1629" name="Text Box 21">
            <a:extLst>
              <a:ext uri="{FF2B5EF4-FFF2-40B4-BE49-F238E27FC236}">
                <a16:creationId xmlns:a16="http://schemas.microsoft.com/office/drawing/2014/main" xmlns="" id="{009232ED-E890-3B27-924A-78BEA23B0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813" y="4700588"/>
            <a:ext cx="15414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client UDP socket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111630" name="Line 22">
            <a:extLst>
              <a:ext uri="{FF2B5EF4-FFF2-40B4-BE49-F238E27FC236}">
                <a16:creationId xmlns:a16="http://schemas.microsoft.com/office/drawing/2014/main" xmlns="" id="{9E06ACE0-4605-41AB-2BDC-9DBE5F384A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9575" y="5248275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xmlns="" id="{6296C9AF-35F6-2B69-9690-CA89BDA6F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2643" name="Slide Number Placeholder 4">
            <a:extLst>
              <a:ext uri="{FF2B5EF4-FFF2-40B4-BE49-F238E27FC236}">
                <a16:creationId xmlns:a16="http://schemas.microsoft.com/office/drawing/2014/main" xmlns="" id="{9163DB3A-F976-3F8D-DDE1-2389AEA8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5E84EB3-8B59-4DC9-9D30-7F94F1C3DD54}" type="slidenum">
              <a:rPr lang="en-US" altLang="en-US" sz="1400">
                <a:latin typeface="Times New Roman" panose="02020603050405020304" pitchFamily="18" charset="0"/>
              </a:rPr>
              <a:pPr/>
              <a:t>19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2644" name="Rectangle 2">
            <a:extLst>
              <a:ext uri="{FF2B5EF4-FFF2-40B4-BE49-F238E27FC236}">
                <a16:creationId xmlns:a16="http://schemas.microsoft.com/office/drawing/2014/main" xmlns="" id="{A4962BC0-DE88-AF0B-5054-3CB08F3B7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client (UDP)</a:t>
            </a:r>
            <a:endParaRPr lang="en-US" altLang="en-US"/>
          </a:p>
        </p:txBody>
      </p:sp>
      <p:sp>
        <p:nvSpPr>
          <p:cNvPr id="112645" name="Rectangle 3">
            <a:extLst>
              <a:ext uri="{FF2B5EF4-FFF2-40B4-BE49-F238E27FC236}">
                <a16:creationId xmlns:a16="http://schemas.microsoft.com/office/drawing/2014/main" xmlns="" id="{CFD559FC-4F3E-A536-4D77-2612D699D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9" y="1581150"/>
            <a:ext cx="6326187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class UDPClient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public static void main(String args[])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BufferedReader inFromUser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new BufferedReader(new InputStreamReader(System.in));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DatagramSocket clientSocket = new DatagramSocket();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InetAddress IPAddress = InetAddress.getByName("hostname");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byte[] sendData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byte[] receiveData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String sentence = inFromUser.readLine();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sendData = sentence.getBytes();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sz="1600">
                <a:latin typeface="Times New Roman" panose="02020603050405020304" pitchFamily="18" charset="0"/>
              </a:rPr>
              <a:t>        </a:t>
            </a:r>
          </a:p>
        </p:txBody>
      </p:sp>
      <p:sp>
        <p:nvSpPr>
          <p:cNvPr id="112646" name="Text Box 4">
            <a:extLst>
              <a:ext uri="{FF2B5EF4-FFF2-40B4-BE49-F238E27FC236}">
                <a16:creationId xmlns:a16="http://schemas.microsoft.com/office/drawing/2014/main" xmlns="" id="{B6554F5F-09D1-954E-2D89-3F49C5DD7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9" y="2933700"/>
            <a:ext cx="1533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input stream</a:t>
            </a:r>
            <a:endParaRPr lang="en-US" altLang="en-US" sz="1800"/>
          </a:p>
        </p:txBody>
      </p:sp>
      <p:sp>
        <p:nvSpPr>
          <p:cNvPr id="112647" name="Text Box 5">
            <a:extLst>
              <a:ext uri="{FF2B5EF4-FFF2-40B4-BE49-F238E27FC236}">
                <a16:creationId xmlns:a16="http://schemas.microsoft.com/office/drawing/2014/main" xmlns="" id="{4BAF8FB1-B17F-C77D-58D0-DE64C8364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3613" y="3632200"/>
            <a:ext cx="15541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client socket</a:t>
            </a:r>
            <a:endParaRPr lang="en-US" altLang="en-US" sz="1800"/>
          </a:p>
        </p:txBody>
      </p:sp>
      <p:sp>
        <p:nvSpPr>
          <p:cNvPr id="112648" name="Text Box 6">
            <a:extLst>
              <a:ext uri="{FF2B5EF4-FFF2-40B4-BE49-F238E27FC236}">
                <a16:creationId xmlns:a16="http://schemas.microsoft.com/office/drawing/2014/main" xmlns="" id="{1E0407A5-A5E9-4FF6-301D-93E144C60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327525"/>
            <a:ext cx="220503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Translate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 hostname to IP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address </a:t>
            </a:r>
            <a:r>
              <a:rPr lang="en-US" altLang="en-US" sz="1800">
                <a:solidFill>
                  <a:srgbClr val="FF0000"/>
                </a:solidFill>
              </a:rPr>
              <a:t>using DNS</a:t>
            </a:r>
            <a:endParaRPr lang="en-US" altLang="en-US" sz="1800"/>
          </a:p>
        </p:txBody>
      </p:sp>
      <p:sp>
        <p:nvSpPr>
          <p:cNvPr id="112649" name="Freeform 7">
            <a:extLst>
              <a:ext uri="{FF2B5EF4-FFF2-40B4-BE49-F238E27FC236}">
                <a16:creationId xmlns:a16="http://schemas.microsoft.com/office/drawing/2014/main" xmlns="" id="{CAA665E5-62A6-823E-0DCF-1AA6968CDCB0}"/>
              </a:ext>
            </a:extLst>
          </p:cNvPr>
          <p:cNvSpPr>
            <a:spLocks/>
          </p:cNvSpPr>
          <p:nvPr/>
        </p:nvSpPr>
        <p:spPr bwMode="auto">
          <a:xfrm>
            <a:off x="3595689" y="3072884"/>
            <a:ext cx="184731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42925 h 342"/>
              <a:gd name="T6" fmla="*/ 9525 w 78"/>
              <a:gd name="T7" fmla="*/ 542925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IN"/>
          </a:p>
        </p:txBody>
      </p:sp>
      <p:sp>
        <p:nvSpPr>
          <p:cNvPr id="112650" name="Line 8">
            <a:extLst>
              <a:ext uri="{FF2B5EF4-FFF2-40B4-BE49-F238E27FC236}">
                <a16:creationId xmlns:a16="http://schemas.microsoft.com/office/drawing/2014/main" xmlns="" id="{9BA40659-4EEB-CC85-8FD7-1722D67B9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8" y="3419476"/>
            <a:ext cx="323850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2651" name="Freeform 9">
            <a:extLst>
              <a:ext uri="{FF2B5EF4-FFF2-40B4-BE49-F238E27FC236}">
                <a16:creationId xmlns:a16="http://schemas.microsoft.com/office/drawing/2014/main" xmlns="" id="{09FBAF75-BD77-51D9-4FB6-39F8142D5410}"/>
              </a:ext>
            </a:extLst>
          </p:cNvPr>
          <p:cNvSpPr>
            <a:spLocks/>
          </p:cNvSpPr>
          <p:nvPr/>
        </p:nvSpPr>
        <p:spPr bwMode="auto">
          <a:xfrm>
            <a:off x="3605214" y="3780115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09587 h 342"/>
              <a:gd name="T6" fmla="*/ 9525 w 78"/>
              <a:gd name="T7" fmla="*/ 5095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2652" name="Line 10">
            <a:extLst>
              <a:ext uri="{FF2B5EF4-FFF2-40B4-BE49-F238E27FC236}">
                <a16:creationId xmlns:a16="http://schemas.microsoft.com/office/drawing/2014/main" xmlns="" id="{40D5929E-447E-12BF-C0E3-6BADE0C15B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4276" y="4067175"/>
            <a:ext cx="328613" cy="63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2653" name="Freeform 11">
            <a:extLst>
              <a:ext uri="{FF2B5EF4-FFF2-40B4-BE49-F238E27FC236}">
                <a16:creationId xmlns:a16="http://schemas.microsoft.com/office/drawing/2014/main" xmlns="" id="{3901D2CC-ADBA-4365-52B8-896D0E41EF9A}"/>
              </a:ext>
            </a:extLst>
          </p:cNvPr>
          <p:cNvSpPr>
            <a:spLocks/>
          </p:cNvSpPr>
          <p:nvPr/>
        </p:nvSpPr>
        <p:spPr bwMode="auto">
          <a:xfrm>
            <a:off x="3605214" y="4642128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804862 h 342"/>
              <a:gd name="T6" fmla="*/ 9525 w 78"/>
              <a:gd name="T7" fmla="*/ 804862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2654" name="Line 12">
            <a:extLst>
              <a:ext uri="{FF2B5EF4-FFF2-40B4-BE49-F238E27FC236}">
                <a16:creationId xmlns:a16="http://schemas.microsoft.com/office/drawing/2014/main" xmlns="" id="{E0480B0F-CCA1-68D9-59D4-9A4EEB4AD2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4572000"/>
            <a:ext cx="3619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xmlns="" id="{CC96A3C4-6346-6D52-09A3-24ABD99E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3667" name="Slide Number Placeholder 4">
            <a:extLst>
              <a:ext uri="{FF2B5EF4-FFF2-40B4-BE49-F238E27FC236}">
                <a16:creationId xmlns:a16="http://schemas.microsoft.com/office/drawing/2014/main" xmlns="" id="{D8F5B26B-EFBB-632E-38CD-41B423CAE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00A3D164-4412-414D-A4FC-FD76BAA6F0DE}" type="slidenum">
              <a:rPr lang="en-US" altLang="en-US" sz="1400">
                <a:latin typeface="Times New Roman" panose="02020603050405020304" pitchFamily="18" charset="0"/>
              </a:rPr>
              <a:pPr/>
              <a:t>20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3668" name="Rectangle 2">
            <a:extLst>
              <a:ext uri="{FF2B5EF4-FFF2-40B4-BE49-F238E27FC236}">
                <a16:creationId xmlns:a16="http://schemas.microsoft.com/office/drawing/2014/main" xmlns="" id="{D230BC0B-EA7D-B844-19ED-D6495B42B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client (UDP), cont.</a:t>
            </a:r>
          </a:p>
        </p:txBody>
      </p:sp>
      <p:sp>
        <p:nvSpPr>
          <p:cNvPr id="113669" name="Rectangle 3">
            <a:extLst>
              <a:ext uri="{FF2B5EF4-FFF2-40B4-BE49-F238E27FC236}">
                <a16:creationId xmlns:a16="http://schemas.microsoft.com/office/drawing/2014/main" xmlns="" id="{DB069021-0477-DA92-931E-6B555C515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4" y="1752600"/>
            <a:ext cx="6967537" cy="436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DatagramPacket sendPacket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new DatagramPacket(sendData, sendData.length, IPAddress, 9876);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clientSocket.send(sendPacket);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DatagramPacket receivePacket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new DatagramPacket(receiveData, receiveData.length);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clientSocket.receive(receivePacket);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String modifiedSentence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new String(receivePacket.getData());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System.out.println("FROM SERVER:" + modifiedSentence);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clientSocket.close();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}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3670" name="Text Box 4">
            <a:extLst>
              <a:ext uri="{FF2B5EF4-FFF2-40B4-BE49-F238E27FC236}">
                <a16:creationId xmlns:a16="http://schemas.microsoft.com/office/drawing/2014/main" xmlns="" id="{9612DF24-7209-8E3F-3ABE-A46B9B6AE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446214"/>
            <a:ext cx="2392363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datagram with data-to-send,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length, IP addr, port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3671" name="Text Box 5">
            <a:extLst>
              <a:ext uri="{FF2B5EF4-FFF2-40B4-BE49-F238E27FC236}">
                <a16:creationId xmlns:a16="http://schemas.microsoft.com/office/drawing/2014/main" xmlns="" id="{9465009E-5FA0-F5F9-3742-30C939C30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0726" y="2473325"/>
            <a:ext cx="17938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Send 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server</a:t>
            </a:r>
            <a:endParaRPr lang="en-US" altLang="en-US" sz="1800"/>
          </a:p>
        </p:txBody>
      </p:sp>
      <p:sp>
        <p:nvSpPr>
          <p:cNvPr id="113672" name="Text Box 6">
            <a:extLst>
              <a:ext uri="{FF2B5EF4-FFF2-40B4-BE49-F238E27FC236}">
                <a16:creationId xmlns:a16="http://schemas.microsoft.com/office/drawing/2014/main" xmlns="" id="{1F683A7B-926D-63FC-C97C-DB0221DAF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1" y="3538538"/>
            <a:ext cx="17764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Read 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from server</a:t>
            </a:r>
            <a:endParaRPr lang="en-US" altLang="en-US" sz="1800"/>
          </a:p>
        </p:txBody>
      </p:sp>
      <p:sp>
        <p:nvSpPr>
          <p:cNvPr id="113673" name="Freeform 7">
            <a:extLst>
              <a:ext uri="{FF2B5EF4-FFF2-40B4-BE49-F238E27FC236}">
                <a16:creationId xmlns:a16="http://schemas.microsoft.com/office/drawing/2014/main" xmlns="" id="{9A96F8AE-BE23-FBE5-487D-35BC152ADC02}"/>
              </a:ext>
            </a:extLst>
          </p:cNvPr>
          <p:cNvSpPr>
            <a:spLocks/>
          </p:cNvSpPr>
          <p:nvPr/>
        </p:nvSpPr>
        <p:spPr bwMode="auto">
          <a:xfrm>
            <a:off x="3752850" y="1739384"/>
            <a:ext cx="114300" cy="369332"/>
          </a:xfrm>
          <a:custGeom>
            <a:avLst/>
            <a:gdLst>
              <a:gd name="T0" fmla="*/ 0 w 78"/>
              <a:gd name="T1" fmla="*/ 0 h 342"/>
              <a:gd name="T2" fmla="*/ 114300 w 78"/>
              <a:gd name="T3" fmla="*/ 0 h 342"/>
              <a:gd name="T4" fmla="*/ 114300 w 78"/>
              <a:gd name="T5" fmla="*/ 790575 h 342"/>
              <a:gd name="T6" fmla="*/ 8792 w 78"/>
              <a:gd name="T7" fmla="*/ 790575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3674" name="Line 8">
            <a:extLst>
              <a:ext uri="{FF2B5EF4-FFF2-40B4-BE49-F238E27FC236}">
                <a16:creationId xmlns:a16="http://schemas.microsoft.com/office/drawing/2014/main" xmlns="" id="{F3347D19-DB55-83C9-7655-53F51C73BD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7150" y="2181225"/>
            <a:ext cx="34290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3675" name="Freeform 9">
            <a:extLst>
              <a:ext uri="{FF2B5EF4-FFF2-40B4-BE49-F238E27FC236}">
                <a16:creationId xmlns:a16="http://schemas.microsoft.com/office/drawing/2014/main" xmlns="" id="{DDFA4376-FF4F-9909-118F-1ACD02646D26}"/>
              </a:ext>
            </a:extLst>
          </p:cNvPr>
          <p:cNvSpPr>
            <a:spLocks/>
          </p:cNvSpPr>
          <p:nvPr/>
        </p:nvSpPr>
        <p:spPr bwMode="auto">
          <a:xfrm>
            <a:off x="3600451" y="2618065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85787 h 342"/>
              <a:gd name="T6" fmla="*/ 9525 w 78"/>
              <a:gd name="T7" fmla="*/ 5857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3676" name="Line 10">
            <a:extLst>
              <a:ext uri="{FF2B5EF4-FFF2-40B4-BE49-F238E27FC236}">
                <a16:creationId xmlns:a16="http://schemas.microsoft.com/office/drawing/2014/main" xmlns="" id="{95B1C1FE-3D65-98A0-DB97-6F648139D6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8563" y="2647951"/>
            <a:ext cx="309562" cy="158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3677" name="Freeform 11">
            <a:extLst>
              <a:ext uri="{FF2B5EF4-FFF2-40B4-BE49-F238E27FC236}">
                <a16:creationId xmlns:a16="http://schemas.microsoft.com/office/drawing/2014/main" xmlns="" id="{BD80EAC7-8CFE-A454-6C65-997D8644F3E0}"/>
              </a:ext>
            </a:extLst>
          </p:cNvPr>
          <p:cNvSpPr>
            <a:spLocks/>
          </p:cNvSpPr>
          <p:nvPr/>
        </p:nvSpPr>
        <p:spPr bwMode="auto">
          <a:xfrm>
            <a:off x="3619501" y="3675340"/>
            <a:ext cx="123825" cy="369332"/>
          </a:xfrm>
          <a:custGeom>
            <a:avLst/>
            <a:gdLst>
              <a:gd name="T0" fmla="*/ 0 w 78"/>
              <a:gd name="T1" fmla="*/ 0 h 342"/>
              <a:gd name="T2" fmla="*/ 123825 w 78"/>
              <a:gd name="T3" fmla="*/ 0 h 342"/>
              <a:gd name="T4" fmla="*/ 123825 w 78"/>
              <a:gd name="T5" fmla="*/ 509587 h 342"/>
              <a:gd name="T6" fmla="*/ 9525 w 78"/>
              <a:gd name="T7" fmla="*/ 5095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3678" name="Line 12">
            <a:extLst>
              <a:ext uri="{FF2B5EF4-FFF2-40B4-BE49-F238E27FC236}">
                <a16:creationId xmlns:a16="http://schemas.microsoft.com/office/drawing/2014/main" xmlns="" id="{B4599556-380C-1A1F-1AD7-96B74089FB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7614" y="3924301"/>
            <a:ext cx="2952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xmlns="" id="{712FF842-3ABE-4982-335F-0CB868580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4691" name="Slide Number Placeholder 4">
            <a:extLst>
              <a:ext uri="{FF2B5EF4-FFF2-40B4-BE49-F238E27FC236}">
                <a16:creationId xmlns:a16="http://schemas.microsoft.com/office/drawing/2014/main" xmlns="" id="{17E3442E-D1ED-6177-3BC6-A001C5F3E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718F1A15-C214-4DAC-8D42-C04A7C743AB3}" type="slidenum">
              <a:rPr lang="en-US" altLang="en-US" sz="1400">
                <a:latin typeface="Times New Roman" panose="02020603050405020304" pitchFamily="18" charset="0"/>
              </a:rPr>
              <a:pPr/>
              <a:t>21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4692" name="Rectangle 2">
            <a:extLst>
              <a:ext uri="{FF2B5EF4-FFF2-40B4-BE49-F238E27FC236}">
                <a16:creationId xmlns:a16="http://schemas.microsoft.com/office/drawing/2014/main" xmlns="" id="{5AD05B43-7915-69B1-7138-CDDA05A6D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server (UDP)</a:t>
            </a:r>
          </a:p>
        </p:txBody>
      </p:sp>
      <p:sp>
        <p:nvSpPr>
          <p:cNvPr id="114693" name="Rectangle 3">
            <a:extLst>
              <a:ext uri="{FF2B5EF4-FFF2-40B4-BE49-F238E27FC236}">
                <a16:creationId xmlns:a16="http://schemas.microsoft.com/office/drawing/2014/main" xmlns="" id="{D56AB2F6-DA95-BA8D-E99F-DBDD0A990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400" y="1541464"/>
            <a:ext cx="6159500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import java.io.*;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import java.net.*;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class UDPServer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public static void main(String args[]) throws Exception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DatagramSocket serverSocket = new DatagramSocket(9876);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byte[] receiveData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byte[] sendData  = new byte[1024];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while(true)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{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DatagramPacket receivePacket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 new DatagramPacket(receiveData, receiveData.length);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serverSocket.receive(receivePacket);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14694" name="Text Box 4">
            <a:extLst>
              <a:ext uri="{FF2B5EF4-FFF2-40B4-BE49-F238E27FC236}">
                <a16:creationId xmlns:a16="http://schemas.microsoft.com/office/drawing/2014/main" xmlns="" id="{582295F3-6A4B-F240-7F71-497CDE0BB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3263" y="2811464"/>
            <a:ext cx="19621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datagram socket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at port 9876</a:t>
            </a:r>
            <a:endParaRPr lang="en-US" altLang="en-US" sz="1800"/>
          </a:p>
        </p:txBody>
      </p:sp>
      <p:sp>
        <p:nvSpPr>
          <p:cNvPr id="114695" name="Text Box 5">
            <a:extLst>
              <a:ext uri="{FF2B5EF4-FFF2-40B4-BE49-F238E27FC236}">
                <a16:creationId xmlns:a16="http://schemas.microsoft.com/office/drawing/2014/main" xmlns="" id="{8A69B10E-C7F0-BB15-8927-6E84FC8C9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1" y="5018088"/>
            <a:ext cx="2168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space for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received datagram</a:t>
            </a:r>
            <a:endParaRPr lang="en-US" altLang="en-US" sz="1800"/>
          </a:p>
        </p:txBody>
      </p:sp>
      <p:sp>
        <p:nvSpPr>
          <p:cNvPr id="114696" name="Text Box 6">
            <a:extLst>
              <a:ext uri="{FF2B5EF4-FFF2-40B4-BE49-F238E27FC236}">
                <a16:creationId xmlns:a16="http://schemas.microsoft.com/office/drawing/2014/main" xmlns="" id="{28DB830C-6E3A-E265-5B50-63BBF0129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2738" y="5788025"/>
            <a:ext cx="1225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Receive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datagram</a:t>
            </a:r>
            <a:endParaRPr lang="en-US" altLang="en-US" sz="1800"/>
          </a:p>
        </p:txBody>
      </p:sp>
      <p:sp>
        <p:nvSpPr>
          <p:cNvPr id="114697" name="Freeform 7">
            <a:extLst>
              <a:ext uri="{FF2B5EF4-FFF2-40B4-BE49-F238E27FC236}">
                <a16:creationId xmlns:a16="http://schemas.microsoft.com/office/drawing/2014/main" xmlns="" id="{A1AC1864-F3FD-C178-E06E-E5B177B42AB0}"/>
              </a:ext>
            </a:extLst>
          </p:cNvPr>
          <p:cNvSpPr>
            <a:spLocks/>
          </p:cNvSpPr>
          <p:nvPr/>
        </p:nvSpPr>
        <p:spPr bwMode="auto">
          <a:xfrm>
            <a:off x="3810000" y="3087172"/>
            <a:ext cx="152400" cy="369332"/>
          </a:xfrm>
          <a:custGeom>
            <a:avLst/>
            <a:gdLst>
              <a:gd name="T0" fmla="*/ 0 w 78"/>
              <a:gd name="T1" fmla="*/ 0 h 342"/>
              <a:gd name="T2" fmla="*/ 152400 w 78"/>
              <a:gd name="T3" fmla="*/ 0 h 342"/>
              <a:gd name="T4" fmla="*/ 152400 w 78"/>
              <a:gd name="T5" fmla="*/ 800100 h 342"/>
              <a:gd name="T6" fmla="*/ 11723 w 78"/>
              <a:gd name="T7" fmla="*/ 800100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4698" name="Line 8">
            <a:extLst>
              <a:ext uri="{FF2B5EF4-FFF2-40B4-BE49-F238E27FC236}">
                <a16:creationId xmlns:a16="http://schemas.microsoft.com/office/drawing/2014/main" xmlns="" id="{1D1F80E6-9453-A478-3030-256CF5E5660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1450" y="3405188"/>
            <a:ext cx="419100" cy="47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4699" name="Freeform 9">
            <a:extLst>
              <a:ext uri="{FF2B5EF4-FFF2-40B4-BE49-F238E27FC236}">
                <a16:creationId xmlns:a16="http://schemas.microsoft.com/office/drawing/2014/main" xmlns="" id="{C8509632-40D6-8A24-218D-2D5378209D29}"/>
              </a:ext>
            </a:extLst>
          </p:cNvPr>
          <p:cNvSpPr>
            <a:spLocks/>
          </p:cNvSpPr>
          <p:nvPr/>
        </p:nvSpPr>
        <p:spPr bwMode="auto">
          <a:xfrm>
            <a:off x="3886201" y="5161240"/>
            <a:ext cx="85725" cy="369332"/>
          </a:xfrm>
          <a:custGeom>
            <a:avLst/>
            <a:gdLst>
              <a:gd name="T0" fmla="*/ 0 w 78"/>
              <a:gd name="T1" fmla="*/ 0 h 342"/>
              <a:gd name="T2" fmla="*/ 85725 w 78"/>
              <a:gd name="T3" fmla="*/ 0 h 342"/>
              <a:gd name="T4" fmla="*/ 85725 w 78"/>
              <a:gd name="T5" fmla="*/ 547687 h 342"/>
              <a:gd name="T6" fmla="*/ 6594 w 78"/>
              <a:gd name="T7" fmla="*/ 5476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4700" name="Line 10">
            <a:extLst>
              <a:ext uri="{FF2B5EF4-FFF2-40B4-BE49-F238E27FC236}">
                <a16:creationId xmlns:a16="http://schemas.microsoft.com/office/drawing/2014/main" xmlns="" id="{B2E55A77-EA4F-4198-AC2F-938B37F0D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9" y="5407025"/>
            <a:ext cx="604837" cy="12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4701" name="Freeform 11">
            <a:extLst>
              <a:ext uri="{FF2B5EF4-FFF2-40B4-BE49-F238E27FC236}">
                <a16:creationId xmlns:a16="http://schemas.microsoft.com/office/drawing/2014/main" xmlns="" id="{EB9CB66C-5D17-447A-1A75-A1869917EA20}"/>
              </a:ext>
            </a:extLst>
          </p:cNvPr>
          <p:cNvSpPr>
            <a:spLocks/>
          </p:cNvSpPr>
          <p:nvPr/>
        </p:nvSpPr>
        <p:spPr bwMode="auto">
          <a:xfrm>
            <a:off x="3876676" y="5913715"/>
            <a:ext cx="138113" cy="369332"/>
          </a:xfrm>
          <a:custGeom>
            <a:avLst/>
            <a:gdLst>
              <a:gd name="T0" fmla="*/ 0 w 78"/>
              <a:gd name="T1" fmla="*/ 0 h 342"/>
              <a:gd name="T2" fmla="*/ 138113 w 78"/>
              <a:gd name="T3" fmla="*/ 0 h 342"/>
              <a:gd name="T4" fmla="*/ 138113 w 78"/>
              <a:gd name="T5" fmla="*/ 585787 h 342"/>
              <a:gd name="T6" fmla="*/ 10624 w 78"/>
              <a:gd name="T7" fmla="*/ 5857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4702" name="Line 12">
            <a:extLst>
              <a:ext uri="{FF2B5EF4-FFF2-40B4-BE49-F238E27FC236}">
                <a16:creationId xmlns:a16="http://schemas.microsoft.com/office/drawing/2014/main" xmlns="" id="{20867BEA-07BA-B77B-BA14-2026CA3E63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4789" y="5972175"/>
            <a:ext cx="592137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3">
            <a:extLst>
              <a:ext uri="{FF2B5EF4-FFF2-40B4-BE49-F238E27FC236}">
                <a16:creationId xmlns:a16="http://schemas.microsoft.com/office/drawing/2014/main" xmlns="" id="{58AAEB04-E762-CE41-6239-8DA96E9C9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2: Application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5715" name="Slide Number Placeholder 4">
            <a:extLst>
              <a:ext uri="{FF2B5EF4-FFF2-40B4-BE49-F238E27FC236}">
                <a16:creationId xmlns:a16="http://schemas.microsoft.com/office/drawing/2014/main" xmlns="" id="{73F4FA79-9594-BECA-22C8-465E7272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BC72D513-0910-49FC-B2D2-33F23D6528CD}" type="slidenum">
              <a:rPr lang="en-US" altLang="en-US" sz="1400">
                <a:latin typeface="Times New Roman" panose="02020603050405020304" pitchFamily="18" charset="0"/>
              </a:rPr>
              <a:pPr/>
              <a:t>22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15716" name="Rectangle 2">
            <a:extLst>
              <a:ext uri="{FF2B5EF4-FFF2-40B4-BE49-F238E27FC236}">
                <a16:creationId xmlns:a16="http://schemas.microsoft.com/office/drawing/2014/main" xmlns="" id="{5E52C8B0-A995-5BC7-9294-61DF10E93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Example: Java server (UDP), cont</a:t>
            </a:r>
          </a:p>
        </p:txBody>
      </p:sp>
      <p:sp>
        <p:nvSpPr>
          <p:cNvPr id="115717" name="Rectangle 3">
            <a:extLst>
              <a:ext uri="{FF2B5EF4-FFF2-40B4-BE49-F238E27FC236}">
                <a16:creationId xmlns:a16="http://schemas.microsoft.com/office/drawing/2014/main" xmlns="" id="{4659FAB2-DC8B-CAB3-2F96-3A6AB2AD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6" y="1173163"/>
            <a:ext cx="6562725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String sentence = new String(receivePacket.getData());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InetAddress IPAddress = receivePacket.getAddress();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int port = receivePacket.getPort();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          String capitalizedSentence = sentence.toUpperCase();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sendData = capitalizedSentence.getBytes();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DatagramPacket sendPacket =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 new DatagramPacket(sendData, sendData.length, IPAddress,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                     port);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  serverSocket.send(sendPacket);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 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}</a:t>
            </a:r>
            <a:r>
              <a:rPr lang="en-US" altLang="en-US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115718" name="Text Box 4">
            <a:extLst>
              <a:ext uri="{FF2B5EF4-FFF2-40B4-BE49-F238E27FC236}">
                <a16:creationId xmlns:a16="http://schemas.microsoft.com/office/drawing/2014/main" xmlns="" id="{0D2EF007-6D00-024B-38E5-7ABD6579B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1" y="1736725"/>
            <a:ext cx="209391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Get IP addr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port #, of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sender</a:t>
            </a:r>
            <a:endParaRPr lang="en-US" altLang="en-US" sz="1800"/>
          </a:p>
        </p:txBody>
      </p:sp>
      <p:sp>
        <p:nvSpPr>
          <p:cNvPr id="115719" name="Freeform 5">
            <a:extLst>
              <a:ext uri="{FF2B5EF4-FFF2-40B4-BE49-F238E27FC236}">
                <a16:creationId xmlns:a16="http://schemas.microsoft.com/office/drawing/2014/main" xmlns="" id="{9D0C1EC7-B6F9-8C38-6732-B9888516E050}"/>
              </a:ext>
            </a:extLst>
          </p:cNvPr>
          <p:cNvSpPr>
            <a:spLocks/>
          </p:cNvSpPr>
          <p:nvPr/>
        </p:nvSpPr>
        <p:spPr bwMode="auto">
          <a:xfrm>
            <a:off x="3581400" y="2017990"/>
            <a:ext cx="133350" cy="369332"/>
          </a:xfrm>
          <a:custGeom>
            <a:avLst/>
            <a:gdLst>
              <a:gd name="T0" fmla="*/ 0 w 78"/>
              <a:gd name="T1" fmla="*/ 0 h 342"/>
              <a:gd name="T2" fmla="*/ 133350 w 78"/>
              <a:gd name="T3" fmla="*/ 0 h 342"/>
              <a:gd name="T4" fmla="*/ 133350 w 78"/>
              <a:gd name="T5" fmla="*/ 814387 h 342"/>
              <a:gd name="T6" fmla="*/ 10258 w 78"/>
              <a:gd name="T7" fmla="*/ 814387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0" name="Line 6">
            <a:extLst>
              <a:ext uri="{FF2B5EF4-FFF2-40B4-BE49-F238E27FC236}">
                <a16:creationId xmlns:a16="http://schemas.microsoft.com/office/drawing/2014/main" xmlns="" id="{773BDECF-7F63-B278-AC39-DD7B87DBBF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8563" y="2533650"/>
            <a:ext cx="2857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1" name="Text Box 7">
            <a:extLst>
              <a:ext uri="{FF2B5EF4-FFF2-40B4-BE49-F238E27FC236}">
                <a16:creationId xmlns:a16="http://schemas.microsoft.com/office/drawing/2014/main" xmlns="" id="{975BCB80-D6C4-768C-14F5-61E69D207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9176" y="4508500"/>
            <a:ext cx="13128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Write out 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socket</a:t>
            </a:r>
            <a:endParaRPr lang="en-US" altLang="en-US" sz="1800"/>
          </a:p>
        </p:txBody>
      </p:sp>
      <p:sp>
        <p:nvSpPr>
          <p:cNvPr id="115722" name="Freeform 8">
            <a:extLst>
              <a:ext uri="{FF2B5EF4-FFF2-40B4-BE49-F238E27FC236}">
                <a16:creationId xmlns:a16="http://schemas.microsoft.com/office/drawing/2014/main" xmlns="" id="{FFE58C01-1BF6-6471-80F0-CBBE1043D3A1}"/>
              </a:ext>
            </a:extLst>
          </p:cNvPr>
          <p:cNvSpPr>
            <a:spLocks/>
          </p:cNvSpPr>
          <p:nvPr/>
        </p:nvSpPr>
        <p:spPr bwMode="auto">
          <a:xfrm>
            <a:off x="3419476" y="4820722"/>
            <a:ext cx="161925" cy="369332"/>
          </a:xfrm>
          <a:custGeom>
            <a:avLst/>
            <a:gdLst>
              <a:gd name="T0" fmla="*/ 0 w 78"/>
              <a:gd name="T1" fmla="*/ 0 h 342"/>
              <a:gd name="T2" fmla="*/ 161925 w 78"/>
              <a:gd name="T3" fmla="*/ 0 h 342"/>
              <a:gd name="T4" fmla="*/ 161925 w 78"/>
              <a:gd name="T5" fmla="*/ 819150 h 342"/>
              <a:gd name="T6" fmla="*/ 12456 w 78"/>
              <a:gd name="T7" fmla="*/ 819150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3" name="Line 9">
            <a:extLst>
              <a:ext uri="{FF2B5EF4-FFF2-40B4-BE49-F238E27FC236}">
                <a16:creationId xmlns:a16="http://schemas.microsoft.com/office/drawing/2014/main" xmlns="" id="{DE564EC3-3982-FC13-5359-387B5E5B39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00451" y="4991101"/>
            <a:ext cx="3333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4" name="Text Box 10">
            <a:extLst>
              <a:ext uri="{FF2B5EF4-FFF2-40B4-BE49-F238E27FC236}">
                <a16:creationId xmlns:a16="http://schemas.microsoft.com/office/drawing/2014/main" xmlns="" id="{325FBB1B-696C-79BD-454C-A0456D073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975" y="5632450"/>
            <a:ext cx="25400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End of while loop,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loop back and wait for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another datagram</a:t>
            </a:r>
            <a:endParaRPr lang="en-US" altLang="en-US" sz="1800"/>
          </a:p>
        </p:txBody>
      </p:sp>
      <p:sp>
        <p:nvSpPr>
          <p:cNvPr id="115725" name="Freeform 11">
            <a:extLst>
              <a:ext uri="{FF2B5EF4-FFF2-40B4-BE49-F238E27FC236}">
                <a16:creationId xmlns:a16="http://schemas.microsoft.com/office/drawing/2014/main" xmlns="" id="{4A53430E-8D88-75C7-9CFA-53B108D51C3F}"/>
              </a:ext>
            </a:extLst>
          </p:cNvPr>
          <p:cNvSpPr>
            <a:spLocks/>
          </p:cNvSpPr>
          <p:nvPr/>
        </p:nvSpPr>
        <p:spPr bwMode="auto">
          <a:xfrm rot="10784139">
            <a:off x="4733925" y="5894665"/>
            <a:ext cx="160338" cy="369332"/>
          </a:xfrm>
          <a:custGeom>
            <a:avLst/>
            <a:gdLst>
              <a:gd name="T0" fmla="*/ 0 w 78"/>
              <a:gd name="T1" fmla="*/ 0 h 342"/>
              <a:gd name="T2" fmla="*/ 160338 w 78"/>
              <a:gd name="T3" fmla="*/ 0 h 342"/>
              <a:gd name="T4" fmla="*/ 160338 w 78"/>
              <a:gd name="T5" fmla="*/ 912813 h 342"/>
              <a:gd name="T6" fmla="*/ 12334 w 78"/>
              <a:gd name="T7" fmla="*/ 912813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6" name="Line 12">
            <a:extLst>
              <a:ext uri="{FF2B5EF4-FFF2-40B4-BE49-F238E27FC236}">
                <a16:creationId xmlns:a16="http://schemas.microsoft.com/office/drawing/2014/main" xmlns="" id="{BE9668B7-8438-A984-2D94-5953C18838C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086225" y="5295900"/>
            <a:ext cx="647700" cy="6048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7" name="Line 13">
            <a:extLst>
              <a:ext uri="{FF2B5EF4-FFF2-40B4-BE49-F238E27FC236}">
                <a16:creationId xmlns:a16="http://schemas.microsoft.com/office/drawing/2014/main" xmlns="" id="{8490DDF2-C503-7E71-9642-8E3C822A98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9038" y="2095500"/>
            <a:ext cx="285750" cy="142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28" name="Text Box 14">
            <a:extLst>
              <a:ext uri="{FF2B5EF4-FFF2-40B4-BE49-F238E27FC236}">
                <a16:creationId xmlns:a16="http://schemas.microsoft.com/office/drawing/2014/main" xmlns="" id="{9E74C0B8-DC04-9EBE-2B20-6AFD77579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1476" y="3702050"/>
            <a:ext cx="19796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Create datagram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accent2"/>
                </a:solidFill>
              </a:rPr>
              <a:t>to send to client</a:t>
            </a:r>
            <a:endParaRPr lang="en-US" altLang="en-US" sz="1800"/>
          </a:p>
        </p:txBody>
      </p:sp>
      <p:sp>
        <p:nvSpPr>
          <p:cNvPr id="115729" name="Freeform 15">
            <a:extLst>
              <a:ext uri="{FF2B5EF4-FFF2-40B4-BE49-F238E27FC236}">
                <a16:creationId xmlns:a16="http://schemas.microsoft.com/office/drawing/2014/main" xmlns="" id="{B9B18271-2E57-AE4D-1A32-5701AA57D826}"/>
              </a:ext>
            </a:extLst>
          </p:cNvPr>
          <p:cNvSpPr>
            <a:spLocks/>
          </p:cNvSpPr>
          <p:nvPr/>
        </p:nvSpPr>
        <p:spPr bwMode="auto">
          <a:xfrm>
            <a:off x="3457576" y="3858697"/>
            <a:ext cx="161925" cy="369332"/>
          </a:xfrm>
          <a:custGeom>
            <a:avLst/>
            <a:gdLst>
              <a:gd name="T0" fmla="*/ 0 w 78"/>
              <a:gd name="T1" fmla="*/ 0 h 342"/>
              <a:gd name="T2" fmla="*/ 161925 w 78"/>
              <a:gd name="T3" fmla="*/ 0 h 342"/>
              <a:gd name="T4" fmla="*/ 161925 w 78"/>
              <a:gd name="T5" fmla="*/ 571500 h 342"/>
              <a:gd name="T6" fmla="*/ 12456 w 78"/>
              <a:gd name="T7" fmla="*/ 571500 h 342"/>
              <a:gd name="T8" fmla="*/ 0 60000 65536"/>
              <a:gd name="T9" fmla="*/ 0 60000 65536"/>
              <a:gd name="T10" fmla="*/ 0 60000 65536"/>
              <a:gd name="T11" fmla="*/ 0 60000 65536"/>
              <a:gd name="T12" fmla="*/ 0 w 78"/>
              <a:gd name="T13" fmla="*/ 0 h 342"/>
              <a:gd name="T14" fmla="*/ 78 w 78"/>
              <a:gd name="T15" fmla="*/ 342 h 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8" h="342">
                <a:moveTo>
                  <a:pt x="0" y="0"/>
                </a:moveTo>
                <a:lnTo>
                  <a:pt x="78" y="0"/>
                </a:lnTo>
                <a:lnTo>
                  <a:pt x="78" y="342"/>
                </a:lnTo>
                <a:lnTo>
                  <a:pt x="6" y="342"/>
                </a:ln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  <p:sp>
        <p:nvSpPr>
          <p:cNvPr id="115730" name="Line 16">
            <a:extLst>
              <a:ext uri="{FF2B5EF4-FFF2-40B4-BE49-F238E27FC236}">
                <a16:creationId xmlns:a16="http://schemas.microsoft.com/office/drawing/2014/main" xmlns="" id="{9C0AB797-A8AC-CF59-3C18-07C719777D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8551" y="4019551"/>
            <a:ext cx="333375" cy="47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ooter Placeholder 5">
            <a:extLst>
              <a:ext uri="{FF2B5EF4-FFF2-40B4-BE49-F238E27FC236}">
                <a16:creationId xmlns:a16="http://schemas.microsoft.com/office/drawing/2014/main" xmlns="" id="{F1C4028C-58D0-F67A-0AB2-FFF1A301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1040" name="Slide Number Placeholder 6">
            <a:extLst>
              <a:ext uri="{FF2B5EF4-FFF2-40B4-BE49-F238E27FC236}">
                <a16:creationId xmlns:a16="http://schemas.microsoft.com/office/drawing/2014/main" xmlns="" id="{DBE49A37-3EC2-B69C-A804-8D17331D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D3896CD3-B59B-42FE-84FE-0F6EE0EFB045}" type="slidenum">
              <a:rPr lang="en-US" altLang="en-US" sz="1400">
                <a:latin typeface="Arial" panose="020B0604020202020204" pitchFamily="34" charset="0"/>
              </a:rPr>
              <a:pPr/>
              <a:t>23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041" name="Rectangle 2">
            <a:extLst>
              <a:ext uri="{FF2B5EF4-FFF2-40B4-BE49-F238E27FC236}">
                <a16:creationId xmlns:a16="http://schemas.microsoft.com/office/drawing/2014/main" xmlns="" id="{6ED00D3A-87F0-BF8B-FB88-E7F521148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8382000" cy="1143000"/>
          </a:xfrm>
        </p:spPr>
        <p:txBody>
          <a:bodyPr/>
          <a:lstStyle/>
          <a:p>
            <a:r>
              <a:rPr lang="en-US" altLang="en-US"/>
              <a:t>Transport services and protocols</a:t>
            </a:r>
          </a:p>
        </p:txBody>
      </p:sp>
      <p:sp>
        <p:nvSpPr>
          <p:cNvPr id="1042" name="Rectangle 3">
            <a:extLst>
              <a:ext uri="{FF2B5EF4-FFF2-40B4-BE49-F238E27FC236}">
                <a16:creationId xmlns:a16="http://schemas.microsoft.com/office/drawing/2014/main" xmlns="" id="{41D98615-6F64-BA4F-CED3-79C87F04926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2151" y="1400176"/>
            <a:ext cx="4086225" cy="5114925"/>
          </a:xfrm>
        </p:spPr>
        <p:txBody>
          <a:bodyPr/>
          <a:lstStyle/>
          <a:p>
            <a:r>
              <a:rPr lang="en-US" altLang="en-US" sz="2000"/>
              <a:t>provide</a:t>
            </a:r>
            <a:r>
              <a:rPr lang="en-US" altLang="en-US" sz="2000" i="1">
                <a:solidFill>
                  <a:srgbClr val="FF0000"/>
                </a:solidFill>
              </a:rPr>
              <a:t> logical communication</a:t>
            </a:r>
            <a:r>
              <a:rPr lang="en-US" altLang="en-US" sz="2000"/>
              <a:t> between app processes running on different hosts</a:t>
            </a:r>
          </a:p>
          <a:p>
            <a:r>
              <a:rPr lang="en-US" altLang="en-US" sz="2000"/>
              <a:t>transport protocols run in end systems </a:t>
            </a:r>
          </a:p>
          <a:p>
            <a:pPr lvl="1"/>
            <a:r>
              <a:rPr lang="en-US" altLang="en-US" sz="2000"/>
              <a:t>send side: breaks app messages into </a:t>
            </a:r>
            <a:r>
              <a:rPr lang="en-US" altLang="en-US" sz="2000">
                <a:solidFill>
                  <a:srgbClr val="FF0000"/>
                </a:solidFill>
              </a:rPr>
              <a:t>segments</a:t>
            </a:r>
            <a:r>
              <a:rPr lang="en-US" altLang="en-US" sz="2000"/>
              <a:t>, passes to  network layer</a:t>
            </a:r>
          </a:p>
          <a:p>
            <a:pPr lvl="1"/>
            <a:r>
              <a:rPr lang="en-US" altLang="en-US" sz="2000"/>
              <a:t>rcv side: reassembles segments into messages, passes to app layer</a:t>
            </a:r>
          </a:p>
          <a:p>
            <a:r>
              <a:rPr lang="en-US" altLang="en-US" sz="2000"/>
              <a:t>more than one transport protocol available to apps</a:t>
            </a:r>
          </a:p>
          <a:p>
            <a:pPr lvl="1"/>
            <a:r>
              <a:rPr lang="en-US" altLang="en-US" sz="2000"/>
              <a:t>Internet: TCP and UDP</a:t>
            </a:r>
          </a:p>
        </p:txBody>
      </p:sp>
      <p:sp>
        <p:nvSpPr>
          <p:cNvPr id="1043" name="Freeform 299">
            <a:extLst>
              <a:ext uri="{FF2B5EF4-FFF2-40B4-BE49-F238E27FC236}">
                <a16:creationId xmlns:a16="http://schemas.microsoft.com/office/drawing/2014/main" xmlns="" id="{A3BB829E-F597-98CD-0FC6-FF841AB2342C}"/>
              </a:ext>
            </a:extLst>
          </p:cNvPr>
          <p:cNvSpPr>
            <a:spLocks/>
          </p:cNvSpPr>
          <p:nvPr/>
        </p:nvSpPr>
        <p:spPr bwMode="auto">
          <a:xfrm>
            <a:off x="8261350" y="3430589"/>
            <a:ext cx="1314450" cy="674687"/>
          </a:xfrm>
          <a:custGeom>
            <a:avLst/>
            <a:gdLst>
              <a:gd name="T0" fmla="*/ 2147483647 w 828"/>
              <a:gd name="T1" fmla="*/ 2147483647 h 425"/>
              <a:gd name="T2" fmla="*/ 2147483647 w 828"/>
              <a:gd name="T3" fmla="*/ 2147483647 h 425"/>
              <a:gd name="T4" fmla="*/ 2147483647 w 828"/>
              <a:gd name="T5" fmla="*/ 2147483647 h 425"/>
              <a:gd name="T6" fmla="*/ 2147483647 w 828"/>
              <a:gd name="T7" fmla="*/ 2147483647 h 425"/>
              <a:gd name="T8" fmla="*/ 2147483647 w 828"/>
              <a:gd name="T9" fmla="*/ 2147483647 h 425"/>
              <a:gd name="T10" fmla="*/ 2147483647 w 828"/>
              <a:gd name="T11" fmla="*/ 2147483647 h 425"/>
              <a:gd name="T12" fmla="*/ 2147483647 w 828"/>
              <a:gd name="T13" fmla="*/ 2147483647 h 425"/>
              <a:gd name="T14" fmla="*/ 2147483647 w 828"/>
              <a:gd name="T15" fmla="*/ 2147483647 h 425"/>
              <a:gd name="T16" fmla="*/ 2147483647 w 828"/>
              <a:gd name="T17" fmla="*/ 2147483647 h 425"/>
              <a:gd name="T18" fmla="*/ 2147483647 w 828"/>
              <a:gd name="T19" fmla="*/ 2147483647 h 425"/>
              <a:gd name="T20" fmla="*/ 2147483647 w 828"/>
              <a:gd name="T21" fmla="*/ 2147483647 h 425"/>
              <a:gd name="T22" fmla="*/ 2147483647 w 828"/>
              <a:gd name="T23" fmla="*/ 2147483647 h 42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28"/>
              <a:gd name="T37" fmla="*/ 0 h 425"/>
              <a:gd name="T38" fmla="*/ 828 w 828"/>
              <a:gd name="T39" fmla="*/ 425 h 42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28" h="425">
                <a:moveTo>
                  <a:pt x="382" y="30"/>
                </a:moveTo>
                <a:cubicBezTo>
                  <a:pt x="350" y="29"/>
                  <a:pt x="413" y="30"/>
                  <a:pt x="370" y="30"/>
                </a:cubicBezTo>
                <a:cubicBezTo>
                  <a:pt x="327" y="30"/>
                  <a:pt x="187" y="16"/>
                  <a:pt x="126" y="32"/>
                </a:cubicBezTo>
                <a:cubicBezTo>
                  <a:pt x="65" y="48"/>
                  <a:pt x="12" y="86"/>
                  <a:pt x="6" y="126"/>
                </a:cubicBezTo>
                <a:cubicBezTo>
                  <a:pt x="0" y="166"/>
                  <a:pt x="44" y="231"/>
                  <a:pt x="92" y="274"/>
                </a:cubicBezTo>
                <a:cubicBezTo>
                  <a:pt x="140" y="317"/>
                  <a:pt x="217" y="360"/>
                  <a:pt x="292" y="384"/>
                </a:cubicBezTo>
                <a:cubicBezTo>
                  <a:pt x="367" y="408"/>
                  <a:pt x="472" y="425"/>
                  <a:pt x="540" y="416"/>
                </a:cubicBezTo>
                <a:cubicBezTo>
                  <a:pt x="608" y="407"/>
                  <a:pt x="659" y="371"/>
                  <a:pt x="698" y="330"/>
                </a:cubicBezTo>
                <a:cubicBezTo>
                  <a:pt x="737" y="289"/>
                  <a:pt x="760" y="221"/>
                  <a:pt x="776" y="170"/>
                </a:cubicBezTo>
                <a:cubicBezTo>
                  <a:pt x="792" y="119"/>
                  <a:pt x="828" y="44"/>
                  <a:pt x="792" y="22"/>
                </a:cubicBezTo>
                <a:cubicBezTo>
                  <a:pt x="756" y="0"/>
                  <a:pt x="630" y="37"/>
                  <a:pt x="560" y="38"/>
                </a:cubicBezTo>
                <a:cubicBezTo>
                  <a:pt x="490" y="39"/>
                  <a:pt x="414" y="31"/>
                  <a:pt x="382" y="30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44" name="Freeform 300">
            <a:extLst>
              <a:ext uri="{FF2B5EF4-FFF2-40B4-BE49-F238E27FC236}">
                <a16:creationId xmlns:a16="http://schemas.microsoft.com/office/drawing/2014/main" xmlns="" id="{1E0E99BB-E4D8-A110-2CC8-C63BD276743B}"/>
              </a:ext>
            </a:extLst>
          </p:cNvPr>
          <p:cNvSpPr>
            <a:spLocks/>
          </p:cNvSpPr>
          <p:nvPr/>
        </p:nvSpPr>
        <p:spPr bwMode="auto">
          <a:xfrm>
            <a:off x="8280401" y="1905001"/>
            <a:ext cx="1730375" cy="1044575"/>
          </a:xfrm>
          <a:custGeom>
            <a:avLst/>
            <a:gdLst>
              <a:gd name="T0" fmla="*/ 2147483647 w 765"/>
              <a:gd name="T1" fmla="*/ 2147483647 h 459"/>
              <a:gd name="T2" fmla="*/ 2147483647 w 765"/>
              <a:gd name="T3" fmla="*/ 2147483647 h 459"/>
              <a:gd name="T4" fmla="*/ 2147483647 w 765"/>
              <a:gd name="T5" fmla="*/ 2147483647 h 459"/>
              <a:gd name="T6" fmla="*/ 2147483647 w 765"/>
              <a:gd name="T7" fmla="*/ 2147483647 h 459"/>
              <a:gd name="T8" fmla="*/ 2147483647 w 765"/>
              <a:gd name="T9" fmla="*/ 2147483647 h 459"/>
              <a:gd name="T10" fmla="*/ 2147483647 w 765"/>
              <a:gd name="T11" fmla="*/ 2147483647 h 459"/>
              <a:gd name="T12" fmla="*/ 2147483647 w 765"/>
              <a:gd name="T13" fmla="*/ 2147483647 h 459"/>
              <a:gd name="T14" fmla="*/ 2147483647 w 765"/>
              <a:gd name="T15" fmla="*/ 2147483647 h 459"/>
              <a:gd name="T16" fmla="*/ 2147483647 w 765"/>
              <a:gd name="T17" fmla="*/ 2147483647 h 459"/>
              <a:gd name="T18" fmla="*/ 2147483647 w 765"/>
              <a:gd name="T19" fmla="*/ 2147483647 h 459"/>
              <a:gd name="T20" fmla="*/ 2147483647 w 765"/>
              <a:gd name="T21" fmla="*/ 2147483647 h 459"/>
              <a:gd name="T22" fmla="*/ 2147483647 w 765"/>
              <a:gd name="T23" fmla="*/ 2147483647 h 459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65"/>
              <a:gd name="T37" fmla="*/ 0 h 459"/>
              <a:gd name="T38" fmla="*/ 765 w 765"/>
              <a:gd name="T39" fmla="*/ 459 h 459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65" h="459">
                <a:moveTo>
                  <a:pt x="424" y="10"/>
                </a:moveTo>
                <a:cubicBezTo>
                  <a:pt x="362" y="16"/>
                  <a:pt x="343" y="55"/>
                  <a:pt x="288" y="70"/>
                </a:cubicBezTo>
                <a:cubicBezTo>
                  <a:pt x="233" y="85"/>
                  <a:pt x="142" y="56"/>
                  <a:pt x="96" y="100"/>
                </a:cubicBezTo>
                <a:cubicBezTo>
                  <a:pt x="50" y="144"/>
                  <a:pt x="0" y="279"/>
                  <a:pt x="14" y="336"/>
                </a:cubicBezTo>
                <a:cubicBezTo>
                  <a:pt x="28" y="393"/>
                  <a:pt x="125" y="429"/>
                  <a:pt x="180" y="444"/>
                </a:cubicBezTo>
                <a:cubicBezTo>
                  <a:pt x="235" y="459"/>
                  <a:pt x="279" y="426"/>
                  <a:pt x="346" y="426"/>
                </a:cubicBezTo>
                <a:cubicBezTo>
                  <a:pt x="413" y="426"/>
                  <a:pt x="525" y="443"/>
                  <a:pt x="584" y="444"/>
                </a:cubicBezTo>
                <a:cubicBezTo>
                  <a:pt x="643" y="445"/>
                  <a:pt x="670" y="446"/>
                  <a:pt x="698" y="434"/>
                </a:cubicBezTo>
                <a:cubicBezTo>
                  <a:pt x="726" y="422"/>
                  <a:pt x="743" y="418"/>
                  <a:pt x="752" y="372"/>
                </a:cubicBezTo>
                <a:cubicBezTo>
                  <a:pt x="761" y="326"/>
                  <a:pt x="765" y="214"/>
                  <a:pt x="750" y="158"/>
                </a:cubicBezTo>
                <a:cubicBezTo>
                  <a:pt x="735" y="102"/>
                  <a:pt x="716" y="58"/>
                  <a:pt x="662" y="34"/>
                </a:cubicBezTo>
                <a:cubicBezTo>
                  <a:pt x="608" y="10"/>
                  <a:pt x="505" y="0"/>
                  <a:pt x="424" y="10"/>
                </a:cubicBez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45" name="Freeform 301">
            <a:extLst>
              <a:ext uri="{FF2B5EF4-FFF2-40B4-BE49-F238E27FC236}">
                <a16:creationId xmlns:a16="http://schemas.microsoft.com/office/drawing/2014/main" xmlns="" id="{A27445F6-FB51-A85F-554D-9BA5E40842BC}"/>
              </a:ext>
            </a:extLst>
          </p:cNvPr>
          <p:cNvSpPr>
            <a:spLocks/>
          </p:cNvSpPr>
          <p:nvPr/>
        </p:nvSpPr>
        <p:spPr bwMode="auto">
          <a:xfrm>
            <a:off x="6540500" y="1612901"/>
            <a:ext cx="1644650" cy="1071563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46" name="Group 302">
            <a:extLst>
              <a:ext uri="{FF2B5EF4-FFF2-40B4-BE49-F238E27FC236}">
                <a16:creationId xmlns:a16="http://schemas.microsoft.com/office/drawing/2014/main" xmlns="" id="{8278626A-12BC-4CC7-C953-F33F45E95D96}"/>
              </a:ext>
            </a:extLst>
          </p:cNvPr>
          <p:cNvGrpSpPr>
            <a:grpSpLocks/>
          </p:cNvGrpSpPr>
          <p:nvPr/>
        </p:nvGrpSpPr>
        <p:grpSpPr bwMode="auto">
          <a:xfrm>
            <a:off x="6627813" y="2947988"/>
            <a:ext cx="1458912" cy="933450"/>
            <a:chOff x="2889" y="1631"/>
            <a:chExt cx="980" cy="743"/>
          </a:xfrm>
        </p:grpSpPr>
        <p:sp>
          <p:nvSpPr>
            <p:cNvPr id="1390" name="Rectangle 303">
              <a:extLst>
                <a:ext uri="{FF2B5EF4-FFF2-40B4-BE49-F238E27FC236}">
                  <a16:creationId xmlns:a16="http://schemas.microsoft.com/office/drawing/2014/main" xmlns="" id="{5A4C75F8-4016-DCB6-9C16-92D6D48FF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91" name="AutoShape 304">
              <a:extLst>
                <a:ext uri="{FF2B5EF4-FFF2-40B4-BE49-F238E27FC236}">
                  <a16:creationId xmlns:a16="http://schemas.microsoft.com/office/drawing/2014/main" xmlns="" id="{79CF0D48-EE56-48F8-73EA-8288625E8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00">
                <a:solidFill>
                  <a:srgbClr val="00CC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47" name="Group 305">
            <a:extLst>
              <a:ext uri="{FF2B5EF4-FFF2-40B4-BE49-F238E27FC236}">
                <a16:creationId xmlns:a16="http://schemas.microsoft.com/office/drawing/2014/main" xmlns="" id="{7C5659D1-479B-BC25-7601-81D2F8F5506B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1804988"/>
            <a:ext cx="336550" cy="531812"/>
            <a:chOff x="3796" y="1043"/>
            <a:chExt cx="865" cy="1237"/>
          </a:xfrm>
        </p:grpSpPr>
        <p:sp>
          <p:nvSpPr>
            <p:cNvPr id="1360" name="Line 306">
              <a:extLst>
                <a:ext uri="{FF2B5EF4-FFF2-40B4-BE49-F238E27FC236}">
                  <a16:creationId xmlns:a16="http://schemas.microsoft.com/office/drawing/2014/main" xmlns="" id="{5C37E60E-1A2C-F7CA-DFA0-2AF105468B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2" y="1481"/>
              <a:ext cx="235" cy="7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1" name="Line 307">
              <a:extLst>
                <a:ext uri="{FF2B5EF4-FFF2-40B4-BE49-F238E27FC236}">
                  <a16:creationId xmlns:a16="http://schemas.microsoft.com/office/drawing/2014/main" xmlns="" id="{ED45254F-249B-B86E-7F16-CE1E7F1BF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481"/>
              <a:ext cx="236" cy="72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2" name="Line 308">
              <a:extLst>
                <a:ext uri="{FF2B5EF4-FFF2-40B4-BE49-F238E27FC236}">
                  <a16:creationId xmlns:a16="http://schemas.microsoft.com/office/drawing/2014/main" xmlns="" id="{ADB090F9-93CF-FD9E-1D00-B1ACDEBC1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2" y="2201"/>
              <a:ext cx="235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3" name="Line 309">
              <a:extLst>
                <a:ext uri="{FF2B5EF4-FFF2-40B4-BE49-F238E27FC236}">
                  <a16:creationId xmlns:a16="http://schemas.microsoft.com/office/drawing/2014/main" xmlns="" id="{353A0FC2-9376-147D-CC73-49D06FAD6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7" y="2201"/>
              <a:ext cx="236" cy="7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4" name="Line 310">
              <a:extLst>
                <a:ext uri="{FF2B5EF4-FFF2-40B4-BE49-F238E27FC236}">
                  <a16:creationId xmlns:a16="http://schemas.microsoft.com/office/drawing/2014/main" xmlns="" id="{2524B1AA-5E62-690E-D3D4-7B7C550C0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7" y="1497"/>
              <a:ext cx="0" cy="783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5" name="Line 311">
              <a:extLst>
                <a:ext uri="{FF2B5EF4-FFF2-40B4-BE49-F238E27FC236}">
                  <a16:creationId xmlns:a16="http://schemas.microsoft.com/office/drawing/2014/main" xmlns="" id="{E7D44CD0-0A2E-02A3-58C5-EEBB207AE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2" y="2127"/>
              <a:ext cx="235" cy="7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6" name="Line 312">
              <a:extLst>
                <a:ext uri="{FF2B5EF4-FFF2-40B4-BE49-F238E27FC236}">
                  <a16:creationId xmlns:a16="http://schemas.microsoft.com/office/drawing/2014/main" xmlns="" id="{E52EEF69-F5F3-5A59-5343-ACF55B748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7" y="2127"/>
              <a:ext cx="236" cy="7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7" name="Line 313">
              <a:extLst>
                <a:ext uri="{FF2B5EF4-FFF2-40B4-BE49-F238E27FC236}">
                  <a16:creationId xmlns:a16="http://schemas.microsoft.com/office/drawing/2014/main" xmlns="" id="{4498D564-6608-BE62-2D6E-36F53CBA4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1890"/>
              <a:ext cx="135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8" name="Line 314">
              <a:extLst>
                <a:ext uri="{FF2B5EF4-FFF2-40B4-BE49-F238E27FC236}">
                  <a16:creationId xmlns:a16="http://schemas.microsoft.com/office/drawing/2014/main" xmlns="" id="{C58FC163-C0D3-277B-670F-22AB700DFC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" y="1890"/>
              <a:ext cx="143" cy="6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69" name="Line 315">
              <a:extLst>
                <a:ext uri="{FF2B5EF4-FFF2-40B4-BE49-F238E27FC236}">
                  <a16:creationId xmlns:a16="http://schemas.microsoft.com/office/drawing/2014/main" xmlns="" id="{1A1A39C4-5F5D-DFFD-FC52-AD0BA9F3E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1996"/>
              <a:ext cx="175" cy="8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70" name="Line 316">
              <a:extLst>
                <a:ext uri="{FF2B5EF4-FFF2-40B4-BE49-F238E27FC236}">
                  <a16:creationId xmlns:a16="http://schemas.microsoft.com/office/drawing/2014/main" xmlns="" id="{7C3AF830-A0CA-962C-3B22-854A5E52A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" y="2012"/>
              <a:ext cx="176" cy="71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71" name="Line 317">
              <a:extLst>
                <a:ext uri="{FF2B5EF4-FFF2-40B4-BE49-F238E27FC236}">
                  <a16:creationId xmlns:a16="http://schemas.microsoft.com/office/drawing/2014/main" xmlns="" id="{F1A9501B-933E-9127-0352-4DA8752398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" y="1782"/>
              <a:ext cx="90" cy="2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72" name="Line 318">
              <a:extLst>
                <a:ext uri="{FF2B5EF4-FFF2-40B4-BE49-F238E27FC236}">
                  <a16:creationId xmlns:a16="http://schemas.microsoft.com/office/drawing/2014/main" xmlns="" id="{6CD18FFF-37E1-62D6-E8A8-4BFE7FD67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7" y="1632"/>
              <a:ext cx="57" cy="2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73" name="Line 319">
              <a:extLst>
                <a:ext uri="{FF2B5EF4-FFF2-40B4-BE49-F238E27FC236}">
                  <a16:creationId xmlns:a16="http://schemas.microsoft.com/office/drawing/2014/main" xmlns="" id="{3C710515-278F-46B8-F468-AB4FB73B8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6" y="1772"/>
              <a:ext cx="109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sp>
          <p:nvSpPr>
            <p:cNvPr id="1374" name="Line 320">
              <a:extLst>
                <a:ext uri="{FF2B5EF4-FFF2-40B4-BE49-F238E27FC236}">
                  <a16:creationId xmlns:a16="http://schemas.microsoft.com/office/drawing/2014/main" xmlns="" id="{171B8AC7-67A2-4E07-6619-0D669C688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5" y="1625"/>
              <a:ext cx="63" cy="39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IN"/>
            </a:p>
          </p:txBody>
        </p:sp>
        <p:grpSp>
          <p:nvGrpSpPr>
            <p:cNvPr id="1375" name="Group 321">
              <a:extLst>
                <a:ext uri="{FF2B5EF4-FFF2-40B4-BE49-F238E27FC236}">
                  <a16:creationId xmlns:a16="http://schemas.microsoft.com/office/drawing/2014/main" xmlns="" id="{EC190FAA-C451-550B-2AF2-917B5E0804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9" y="1415"/>
              <a:ext cx="392" cy="137"/>
              <a:chOff x="4227" y="1360"/>
              <a:chExt cx="863" cy="270"/>
            </a:xfrm>
          </p:grpSpPr>
          <p:sp>
            <p:nvSpPr>
              <p:cNvPr id="1386" name="Line 322">
                <a:extLst>
                  <a:ext uri="{FF2B5EF4-FFF2-40B4-BE49-F238E27FC236}">
                    <a16:creationId xmlns:a16="http://schemas.microsoft.com/office/drawing/2014/main" xmlns="" id="{CD8C6173-58D2-8914-76C5-332047F04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7" name="Line 323">
                <a:extLst>
                  <a:ext uri="{FF2B5EF4-FFF2-40B4-BE49-F238E27FC236}">
                    <a16:creationId xmlns:a16="http://schemas.microsoft.com/office/drawing/2014/main" xmlns="" id="{38C01AB3-ECE5-EFF6-C247-1A11030D7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8" name="Line 324">
                <a:extLst>
                  <a:ext uri="{FF2B5EF4-FFF2-40B4-BE49-F238E27FC236}">
                    <a16:creationId xmlns:a16="http://schemas.microsoft.com/office/drawing/2014/main" xmlns="" id="{17EBFD73-797E-9F2F-F56B-B84368FD8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9" name="Line 325">
                <a:extLst>
                  <a:ext uri="{FF2B5EF4-FFF2-40B4-BE49-F238E27FC236}">
                    <a16:creationId xmlns:a16="http://schemas.microsoft.com/office/drawing/2014/main" xmlns="" id="{BFA48C6A-4EFD-FD0B-1607-14DF30248D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1376" name="Group 326">
              <a:extLst>
                <a:ext uri="{FF2B5EF4-FFF2-40B4-BE49-F238E27FC236}">
                  <a16:creationId xmlns:a16="http://schemas.microsoft.com/office/drawing/2014/main" xmlns="" id="{4894D77C-6214-BE76-2D2E-314C52327FCD}"/>
                </a:ext>
              </a:extLst>
            </p:cNvPr>
            <p:cNvGrpSpPr>
              <a:grpSpLocks/>
            </p:cNvGrpSpPr>
            <p:nvPr/>
          </p:nvGrpSpPr>
          <p:grpSpPr bwMode="auto">
            <a:xfrm rot="5700496">
              <a:off x="4053" y="1170"/>
              <a:ext cx="392" cy="137"/>
              <a:chOff x="4227" y="1360"/>
              <a:chExt cx="863" cy="270"/>
            </a:xfrm>
          </p:grpSpPr>
          <p:sp>
            <p:nvSpPr>
              <p:cNvPr id="1382" name="Line 327">
                <a:extLst>
                  <a:ext uri="{FF2B5EF4-FFF2-40B4-BE49-F238E27FC236}">
                    <a16:creationId xmlns:a16="http://schemas.microsoft.com/office/drawing/2014/main" xmlns="" id="{8FC4889E-84EA-1975-59C8-F76713B6D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3" name="Line 328">
                <a:extLst>
                  <a:ext uri="{FF2B5EF4-FFF2-40B4-BE49-F238E27FC236}">
                    <a16:creationId xmlns:a16="http://schemas.microsoft.com/office/drawing/2014/main" xmlns="" id="{274CC5C3-DF1F-E27C-9C37-E0DA8D48B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4" name="Line 329">
                <a:extLst>
                  <a:ext uri="{FF2B5EF4-FFF2-40B4-BE49-F238E27FC236}">
                    <a16:creationId xmlns:a16="http://schemas.microsoft.com/office/drawing/2014/main" xmlns="" id="{16EEAF59-4EAE-1F70-AE66-A058A920F8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5" name="Line 330">
                <a:extLst>
                  <a:ext uri="{FF2B5EF4-FFF2-40B4-BE49-F238E27FC236}">
                    <a16:creationId xmlns:a16="http://schemas.microsoft.com/office/drawing/2014/main" xmlns="" id="{BF931917-3BEE-3EBC-AA35-D96818731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  <p:grpSp>
          <p:nvGrpSpPr>
            <p:cNvPr id="1377" name="Group 331">
              <a:extLst>
                <a:ext uri="{FF2B5EF4-FFF2-40B4-BE49-F238E27FC236}">
                  <a16:creationId xmlns:a16="http://schemas.microsoft.com/office/drawing/2014/main" xmlns="" id="{E11C2011-B758-A542-8C11-4989012B56CD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3796" y="1402"/>
              <a:ext cx="392" cy="137"/>
              <a:chOff x="4227" y="1360"/>
              <a:chExt cx="863" cy="270"/>
            </a:xfrm>
          </p:grpSpPr>
          <p:sp>
            <p:nvSpPr>
              <p:cNvPr id="1378" name="Line 332">
                <a:extLst>
                  <a:ext uri="{FF2B5EF4-FFF2-40B4-BE49-F238E27FC236}">
                    <a16:creationId xmlns:a16="http://schemas.microsoft.com/office/drawing/2014/main" xmlns="" id="{4DBB2AE7-24EA-D764-30AB-1D1E84963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604"/>
                <a:ext cx="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79" name="Line 333">
                <a:extLst>
                  <a:ext uri="{FF2B5EF4-FFF2-40B4-BE49-F238E27FC236}">
                    <a16:creationId xmlns:a16="http://schemas.microsoft.com/office/drawing/2014/main" xmlns="" id="{926D031C-10E1-57EE-B033-20DBD1FC2F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 flipH="1" flipV="1">
                <a:off x="4464" y="1205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0" name="Line 334">
                <a:extLst>
                  <a:ext uri="{FF2B5EF4-FFF2-40B4-BE49-F238E27FC236}">
                    <a16:creationId xmlns:a16="http://schemas.microsoft.com/office/drawing/2014/main" xmlns="" id="{D7587D34-07D9-6667-7566-E1F51B5D7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>
                <a:off x="4602" y="1393"/>
                <a:ext cx="189" cy="203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81" name="Line 335">
                <a:extLst>
                  <a:ext uri="{FF2B5EF4-FFF2-40B4-BE49-F238E27FC236}">
                    <a16:creationId xmlns:a16="http://schemas.microsoft.com/office/drawing/2014/main" xmlns="" id="{AB177A5A-B594-DC3C-4452-41E86EF99A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6361956" flipH="1" flipV="1">
                <a:off x="4745" y="1286"/>
                <a:ext cx="189" cy="500"/>
              </a:xfrm>
              <a:prstGeom prst="line">
                <a:avLst/>
              </a:prstGeom>
              <a:noFill/>
              <a:ln w="317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IN"/>
              </a:p>
            </p:txBody>
          </p:sp>
        </p:grpSp>
      </p:grpSp>
      <p:sp>
        <p:nvSpPr>
          <p:cNvPr id="1048" name="Oval 336">
            <a:extLst>
              <a:ext uri="{FF2B5EF4-FFF2-40B4-BE49-F238E27FC236}">
                <a16:creationId xmlns:a16="http://schemas.microsoft.com/office/drawing/2014/main" xmlns="" id="{2EDF6C06-315D-6A83-7149-709EA07D4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6764" y="3625850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49" name="Line 337">
            <a:extLst>
              <a:ext uri="{FF2B5EF4-FFF2-40B4-BE49-F238E27FC236}">
                <a16:creationId xmlns:a16="http://schemas.microsoft.com/office/drawing/2014/main" xmlns="" id="{B3941EBE-F9D3-C696-75F9-B65BBE1DD87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6763" y="36179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50" name="Line 338">
            <a:extLst>
              <a:ext uri="{FF2B5EF4-FFF2-40B4-BE49-F238E27FC236}">
                <a16:creationId xmlns:a16="http://schemas.microsoft.com/office/drawing/2014/main" xmlns="" id="{64D530F5-F550-8C7D-F858-C7269D2FC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5538" y="36179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51" name="Rectangle 339">
            <a:extLst>
              <a:ext uri="{FF2B5EF4-FFF2-40B4-BE49-F238E27FC236}">
                <a16:creationId xmlns:a16="http://schemas.microsoft.com/office/drawing/2014/main" xmlns="" id="{443C122F-06C3-1A47-A12E-1210FFF34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6763" y="3617914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52" name="Oval 340">
            <a:extLst>
              <a:ext uri="{FF2B5EF4-FFF2-40B4-BE49-F238E27FC236}">
                <a16:creationId xmlns:a16="http://schemas.microsoft.com/office/drawing/2014/main" xmlns="" id="{A53EA6C5-091B-DC79-8F0C-954B82593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3589" y="3549651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53" name="Group 341">
            <a:extLst>
              <a:ext uri="{FF2B5EF4-FFF2-40B4-BE49-F238E27FC236}">
                <a16:creationId xmlns:a16="http://schemas.microsoft.com/office/drawing/2014/main" xmlns="" id="{B3C03307-F3F2-649E-D9EA-9CC9C22E31CD}"/>
              </a:ext>
            </a:extLst>
          </p:cNvPr>
          <p:cNvGrpSpPr>
            <a:grpSpLocks/>
          </p:cNvGrpSpPr>
          <p:nvPr/>
        </p:nvGrpSpPr>
        <p:grpSpPr bwMode="auto">
          <a:xfrm>
            <a:off x="8469314" y="3573464"/>
            <a:ext cx="179387" cy="65087"/>
            <a:chOff x="2848" y="848"/>
            <a:chExt cx="140" cy="98"/>
          </a:xfrm>
        </p:grpSpPr>
        <p:sp>
          <p:nvSpPr>
            <p:cNvPr id="1357" name="Line 342">
              <a:extLst>
                <a:ext uri="{FF2B5EF4-FFF2-40B4-BE49-F238E27FC236}">
                  <a16:creationId xmlns:a16="http://schemas.microsoft.com/office/drawing/2014/main" xmlns="" id="{8DCE2E24-A518-9299-5B18-7773A9D423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8" name="Line 343">
              <a:extLst>
                <a:ext uri="{FF2B5EF4-FFF2-40B4-BE49-F238E27FC236}">
                  <a16:creationId xmlns:a16="http://schemas.microsoft.com/office/drawing/2014/main" xmlns="" id="{33A9FB2B-AE1A-C7AB-6B0D-505A56866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9" name="Line 344">
              <a:extLst>
                <a:ext uri="{FF2B5EF4-FFF2-40B4-BE49-F238E27FC236}">
                  <a16:creationId xmlns:a16="http://schemas.microsoft.com/office/drawing/2014/main" xmlns="" id="{5CF9F5A9-2C06-5290-2434-11846B863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54" name="Group 345">
            <a:extLst>
              <a:ext uri="{FF2B5EF4-FFF2-40B4-BE49-F238E27FC236}">
                <a16:creationId xmlns:a16="http://schemas.microsoft.com/office/drawing/2014/main" xmlns="" id="{8ACD7569-0CFA-51B2-47BC-680AA2A2068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8469314" y="3573464"/>
            <a:ext cx="179387" cy="65087"/>
            <a:chOff x="2848" y="848"/>
            <a:chExt cx="140" cy="98"/>
          </a:xfrm>
        </p:grpSpPr>
        <p:sp>
          <p:nvSpPr>
            <p:cNvPr id="1354" name="Line 346">
              <a:extLst>
                <a:ext uri="{FF2B5EF4-FFF2-40B4-BE49-F238E27FC236}">
                  <a16:creationId xmlns:a16="http://schemas.microsoft.com/office/drawing/2014/main" xmlns="" id="{9688707A-770A-BB13-1249-BC57FAD2C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5" name="Line 347">
              <a:extLst>
                <a:ext uri="{FF2B5EF4-FFF2-40B4-BE49-F238E27FC236}">
                  <a16:creationId xmlns:a16="http://schemas.microsoft.com/office/drawing/2014/main" xmlns="" id="{2A9D2678-E899-87FB-6B05-684FDBAC1C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6" name="Line 348">
              <a:extLst>
                <a:ext uri="{FF2B5EF4-FFF2-40B4-BE49-F238E27FC236}">
                  <a16:creationId xmlns:a16="http://schemas.microsoft.com/office/drawing/2014/main" xmlns="" id="{54432ECF-3721-5A6D-0B33-9D09D44B4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55" name="Oval 349">
            <a:extLst>
              <a:ext uri="{FF2B5EF4-FFF2-40B4-BE49-F238E27FC236}">
                <a16:creationId xmlns:a16="http://schemas.microsoft.com/office/drawing/2014/main" xmlns="" id="{38CDFEA7-2FFE-02A7-03E5-F842531FA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364" y="3905250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56" name="Line 350">
            <a:extLst>
              <a:ext uri="{FF2B5EF4-FFF2-40B4-BE49-F238E27FC236}">
                <a16:creationId xmlns:a16="http://schemas.microsoft.com/office/drawing/2014/main" xmlns="" id="{CCAC82B5-B23B-2938-4CB1-3A414002FF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2363" y="38973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57" name="Line 351">
            <a:extLst>
              <a:ext uri="{FF2B5EF4-FFF2-40B4-BE49-F238E27FC236}">
                <a16:creationId xmlns:a16="http://schemas.microsoft.com/office/drawing/2014/main" xmlns="" id="{170A6DB6-5367-2107-BAF1-E5449498B88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01138" y="38973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58" name="Rectangle 352">
            <a:extLst>
              <a:ext uri="{FF2B5EF4-FFF2-40B4-BE49-F238E27FC236}">
                <a16:creationId xmlns:a16="http://schemas.microsoft.com/office/drawing/2014/main" xmlns="" id="{5D7B2E7A-2431-FBB6-1950-9F46CC7A8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2363" y="3897314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59" name="Oval 353">
            <a:extLst>
              <a:ext uri="{FF2B5EF4-FFF2-40B4-BE49-F238E27FC236}">
                <a16:creationId xmlns:a16="http://schemas.microsoft.com/office/drawing/2014/main" xmlns="" id="{B8BF26BA-68A9-47E0-E7E0-41AD7209B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9189" y="3829051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60" name="Group 354">
            <a:extLst>
              <a:ext uri="{FF2B5EF4-FFF2-40B4-BE49-F238E27FC236}">
                <a16:creationId xmlns:a16="http://schemas.microsoft.com/office/drawing/2014/main" xmlns="" id="{F1A10BC8-1208-9619-9E7A-C12D2CA560B3}"/>
              </a:ext>
            </a:extLst>
          </p:cNvPr>
          <p:cNvGrpSpPr>
            <a:grpSpLocks/>
          </p:cNvGrpSpPr>
          <p:nvPr/>
        </p:nvGrpSpPr>
        <p:grpSpPr bwMode="auto">
          <a:xfrm>
            <a:off x="8824914" y="3852864"/>
            <a:ext cx="179387" cy="65087"/>
            <a:chOff x="2848" y="848"/>
            <a:chExt cx="140" cy="98"/>
          </a:xfrm>
        </p:grpSpPr>
        <p:sp>
          <p:nvSpPr>
            <p:cNvPr id="1351" name="Line 355">
              <a:extLst>
                <a:ext uri="{FF2B5EF4-FFF2-40B4-BE49-F238E27FC236}">
                  <a16:creationId xmlns:a16="http://schemas.microsoft.com/office/drawing/2014/main" xmlns="" id="{3CF0E9B8-CD7B-F2BD-1BF1-357011EC4F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2" name="Line 356">
              <a:extLst>
                <a:ext uri="{FF2B5EF4-FFF2-40B4-BE49-F238E27FC236}">
                  <a16:creationId xmlns:a16="http://schemas.microsoft.com/office/drawing/2014/main" xmlns="" id="{1D41E194-F3FC-0CC3-4C3D-B1771BD08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3" name="Line 357">
              <a:extLst>
                <a:ext uri="{FF2B5EF4-FFF2-40B4-BE49-F238E27FC236}">
                  <a16:creationId xmlns:a16="http://schemas.microsoft.com/office/drawing/2014/main" xmlns="" id="{CAE890BA-0862-0A88-C01B-158B07DED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61" name="Group 358">
            <a:extLst>
              <a:ext uri="{FF2B5EF4-FFF2-40B4-BE49-F238E27FC236}">
                <a16:creationId xmlns:a16="http://schemas.microsoft.com/office/drawing/2014/main" xmlns="" id="{EB034982-5F21-83E4-AC7F-73D2E4EC38D0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8824914" y="3852864"/>
            <a:ext cx="179387" cy="65087"/>
            <a:chOff x="2848" y="848"/>
            <a:chExt cx="140" cy="98"/>
          </a:xfrm>
        </p:grpSpPr>
        <p:sp>
          <p:nvSpPr>
            <p:cNvPr id="1348" name="Line 359">
              <a:extLst>
                <a:ext uri="{FF2B5EF4-FFF2-40B4-BE49-F238E27FC236}">
                  <a16:creationId xmlns:a16="http://schemas.microsoft.com/office/drawing/2014/main" xmlns="" id="{579D2159-6C8C-85A0-0ABB-152D2F2210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9" name="Line 360">
              <a:extLst>
                <a:ext uri="{FF2B5EF4-FFF2-40B4-BE49-F238E27FC236}">
                  <a16:creationId xmlns:a16="http://schemas.microsoft.com/office/drawing/2014/main" xmlns="" id="{5A80A7FC-2491-F052-24CD-AD1EDD3E7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50" name="Line 361">
              <a:extLst>
                <a:ext uri="{FF2B5EF4-FFF2-40B4-BE49-F238E27FC236}">
                  <a16:creationId xmlns:a16="http://schemas.microsoft.com/office/drawing/2014/main" xmlns="" id="{E518572E-B541-6C16-9C1B-F2968A192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62" name="Oval 362">
            <a:extLst>
              <a:ext uri="{FF2B5EF4-FFF2-40B4-BE49-F238E27FC236}">
                <a16:creationId xmlns:a16="http://schemas.microsoft.com/office/drawing/2014/main" xmlns="" id="{4300E78D-8CE3-AAAF-CB28-6F14AF153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1764" y="3638550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63" name="Line 363">
            <a:extLst>
              <a:ext uri="{FF2B5EF4-FFF2-40B4-BE49-F238E27FC236}">
                <a16:creationId xmlns:a16="http://schemas.microsoft.com/office/drawing/2014/main" xmlns="" id="{35FFF0DB-61B3-273A-8661-3C616ACFF1D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21763" y="36306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64" name="Line 364">
            <a:extLst>
              <a:ext uri="{FF2B5EF4-FFF2-40B4-BE49-F238E27FC236}">
                <a16:creationId xmlns:a16="http://schemas.microsoft.com/office/drawing/2014/main" xmlns="" id="{52809306-9A00-A4E7-FF1C-2EA2CF987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80538" y="36306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65" name="Rectangle 365">
            <a:extLst>
              <a:ext uri="{FF2B5EF4-FFF2-40B4-BE49-F238E27FC236}">
                <a16:creationId xmlns:a16="http://schemas.microsoft.com/office/drawing/2014/main" xmlns="" id="{C94E411B-6D1C-7EB3-CD0B-3809218FB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1763" y="3630614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66" name="Oval 366">
            <a:extLst>
              <a:ext uri="{FF2B5EF4-FFF2-40B4-BE49-F238E27FC236}">
                <a16:creationId xmlns:a16="http://schemas.microsoft.com/office/drawing/2014/main" xmlns="" id="{136020B2-CD94-22A2-9C6A-D878D05A1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8589" y="3562351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67" name="Group 367">
            <a:extLst>
              <a:ext uri="{FF2B5EF4-FFF2-40B4-BE49-F238E27FC236}">
                <a16:creationId xmlns:a16="http://schemas.microsoft.com/office/drawing/2014/main" xmlns="" id="{9A3D99D9-52D9-D679-8365-406A0D291B36}"/>
              </a:ext>
            </a:extLst>
          </p:cNvPr>
          <p:cNvGrpSpPr>
            <a:grpSpLocks/>
          </p:cNvGrpSpPr>
          <p:nvPr/>
        </p:nvGrpSpPr>
        <p:grpSpPr bwMode="auto">
          <a:xfrm>
            <a:off x="9104314" y="3586164"/>
            <a:ext cx="179387" cy="65087"/>
            <a:chOff x="2848" y="848"/>
            <a:chExt cx="140" cy="98"/>
          </a:xfrm>
        </p:grpSpPr>
        <p:sp>
          <p:nvSpPr>
            <p:cNvPr id="1345" name="Line 368">
              <a:extLst>
                <a:ext uri="{FF2B5EF4-FFF2-40B4-BE49-F238E27FC236}">
                  <a16:creationId xmlns:a16="http://schemas.microsoft.com/office/drawing/2014/main" xmlns="" id="{48F2F09C-FDD8-BC5B-F7EC-E62277D1F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6" name="Line 369">
              <a:extLst>
                <a:ext uri="{FF2B5EF4-FFF2-40B4-BE49-F238E27FC236}">
                  <a16:creationId xmlns:a16="http://schemas.microsoft.com/office/drawing/2014/main" xmlns="" id="{C4178568-389F-A544-215F-9611451F6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7" name="Line 370">
              <a:extLst>
                <a:ext uri="{FF2B5EF4-FFF2-40B4-BE49-F238E27FC236}">
                  <a16:creationId xmlns:a16="http://schemas.microsoft.com/office/drawing/2014/main" xmlns="" id="{52B6B725-D365-50E2-CA45-E187FCAB4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68" name="Group 371">
            <a:extLst>
              <a:ext uri="{FF2B5EF4-FFF2-40B4-BE49-F238E27FC236}">
                <a16:creationId xmlns:a16="http://schemas.microsoft.com/office/drawing/2014/main" xmlns="" id="{39B1A11D-3D54-2797-94E6-1F63A72F40EB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9104314" y="3586164"/>
            <a:ext cx="179387" cy="65087"/>
            <a:chOff x="2848" y="848"/>
            <a:chExt cx="140" cy="98"/>
          </a:xfrm>
        </p:grpSpPr>
        <p:sp>
          <p:nvSpPr>
            <p:cNvPr id="1342" name="Line 372">
              <a:extLst>
                <a:ext uri="{FF2B5EF4-FFF2-40B4-BE49-F238E27FC236}">
                  <a16:creationId xmlns:a16="http://schemas.microsoft.com/office/drawing/2014/main" xmlns="" id="{C36C628D-2337-338D-3484-C618C2B22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3" name="Line 373">
              <a:extLst>
                <a:ext uri="{FF2B5EF4-FFF2-40B4-BE49-F238E27FC236}">
                  <a16:creationId xmlns:a16="http://schemas.microsoft.com/office/drawing/2014/main" xmlns="" id="{396FE1AA-DCB0-89B8-19C8-5B3AB8522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4" name="Line 374">
              <a:extLst>
                <a:ext uri="{FF2B5EF4-FFF2-40B4-BE49-F238E27FC236}">
                  <a16:creationId xmlns:a16="http://schemas.microsoft.com/office/drawing/2014/main" xmlns="" id="{837FA7D5-6EAA-9ECB-C48C-CB83965803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69" name="Oval 375">
            <a:extLst>
              <a:ext uri="{FF2B5EF4-FFF2-40B4-BE49-F238E27FC236}">
                <a16:creationId xmlns:a16="http://schemas.microsoft.com/office/drawing/2014/main" xmlns="" id="{3AC3D324-801D-7EED-E012-A0BF34064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776" y="2476500"/>
            <a:ext cx="347663" cy="8890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70" name="Line 376">
            <a:extLst>
              <a:ext uri="{FF2B5EF4-FFF2-40B4-BE49-F238E27FC236}">
                <a16:creationId xmlns:a16="http://schemas.microsoft.com/office/drawing/2014/main" xmlns="" id="{423C222C-DF52-B914-47F6-D47F1066D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6775" y="2468563"/>
            <a:ext cx="0" cy="5556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71" name="Line 377">
            <a:extLst>
              <a:ext uri="{FF2B5EF4-FFF2-40B4-BE49-F238E27FC236}">
                <a16:creationId xmlns:a16="http://schemas.microsoft.com/office/drawing/2014/main" xmlns="" id="{E2D0EF90-015F-D9B1-7C41-CFA6B8D22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4438" y="2468563"/>
            <a:ext cx="0" cy="55562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72" name="Rectangle 378">
            <a:extLst>
              <a:ext uri="{FF2B5EF4-FFF2-40B4-BE49-F238E27FC236}">
                <a16:creationId xmlns:a16="http://schemas.microsoft.com/office/drawing/2014/main" xmlns="" id="{541DCA42-57CA-D4F0-DA4E-843A5D288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6775" y="2468564"/>
            <a:ext cx="344488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73" name="Oval 379">
            <a:extLst>
              <a:ext uri="{FF2B5EF4-FFF2-40B4-BE49-F238E27FC236}">
                <a16:creationId xmlns:a16="http://schemas.microsoft.com/office/drawing/2014/main" xmlns="" id="{F5AA3092-BDB2-D297-016A-4E136CD4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601" y="2405064"/>
            <a:ext cx="347663" cy="103187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74" name="Group 380">
            <a:extLst>
              <a:ext uri="{FF2B5EF4-FFF2-40B4-BE49-F238E27FC236}">
                <a16:creationId xmlns:a16="http://schemas.microsoft.com/office/drawing/2014/main" xmlns="" id="{362CF0EE-B8CB-DBCF-DB33-A2391484998A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2427288"/>
            <a:ext cx="171450" cy="61912"/>
            <a:chOff x="2848" y="848"/>
            <a:chExt cx="140" cy="98"/>
          </a:xfrm>
        </p:grpSpPr>
        <p:sp>
          <p:nvSpPr>
            <p:cNvPr id="1339" name="Line 381">
              <a:extLst>
                <a:ext uri="{FF2B5EF4-FFF2-40B4-BE49-F238E27FC236}">
                  <a16:creationId xmlns:a16="http://schemas.microsoft.com/office/drawing/2014/main" xmlns="" id="{E3EC1D3A-975F-0FDF-0B78-43057FF7F9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0" name="Line 382">
              <a:extLst>
                <a:ext uri="{FF2B5EF4-FFF2-40B4-BE49-F238E27FC236}">
                  <a16:creationId xmlns:a16="http://schemas.microsoft.com/office/drawing/2014/main" xmlns="" id="{B3100F12-3907-6D66-24BB-958BC4A1A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41" name="Line 383">
              <a:extLst>
                <a:ext uri="{FF2B5EF4-FFF2-40B4-BE49-F238E27FC236}">
                  <a16:creationId xmlns:a16="http://schemas.microsoft.com/office/drawing/2014/main" xmlns="" id="{C4057775-041F-7CCA-B7E1-42A00F1B6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75" name="Group 384">
            <a:extLst>
              <a:ext uri="{FF2B5EF4-FFF2-40B4-BE49-F238E27FC236}">
                <a16:creationId xmlns:a16="http://schemas.microsoft.com/office/drawing/2014/main" xmlns="" id="{15251EE0-649F-CF6E-B57F-D6EFEA52FF59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8567738" y="2427289"/>
            <a:ext cx="171450" cy="60325"/>
            <a:chOff x="2848" y="848"/>
            <a:chExt cx="140" cy="98"/>
          </a:xfrm>
        </p:grpSpPr>
        <p:sp>
          <p:nvSpPr>
            <p:cNvPr id="1336" name="Line 385">
              <a:extLst>
                <a:ext uri="{FF2B5EF4-FFF2-40B4-BE49-F238E27FC236}">
                  <a16:creationId xmlns:a16="http://schemas.microsoft.com/office/drawing/2014/main" xmlns="" id="{FBAC6845-4FBA-9D89-5599-0DF8B0EB40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7" name="Line 386">
              <a:extLst>
                <a:ext uri="{FF2B5EF4-FFF2-40B4-BE49-F238E27FC236}">
                  <a16:creationId xmlns:a16="http://schemas.microsoft.com/office/drawing/2014/main" xmlns="" id="{BE83B784-5563-F724-E1D4-B071C67335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8" name="Line 387">
              <a:extLst>
                <a:ext uri="{FF2B5EF4-FFF2-40B4-BE49-F238E27FC236}">
                  <a16:creationId xmlns:a16="http://schemas.microsoft.com/office/drawing/2014/main" xmlns="" id="{7ABFA661-2364-0989-2EB8-927424F74C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76" name="Oval 388">
            <a:extLst>
              <a:ext uri="{FF2B5EF4-FFF2-40B4-BE49-F238E27FC236}">
                <a16:creationId xmlns:a16="http://schemas.microsoft.com/office/drawing/2014/main" xmlns="" id="{24887DE4-1B5E-617D-FCEF-C1C23A85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9" y="2736850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77" name="Line 389">
            <a:extLst>
              <a:ext uri="{FF2B5EF4-FFF2-40B4-BE49-F238E27FC236}">
                <a16:creationId xmlns:a16="http://schemas.microsoft.com/office/drawing/2014/main" xmlns="" id="{ABA6F018-612A-BB21-FDC7-3E662F557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5188" y="27289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78" name="Line 390">
            <a:extLst>
              <a:ext uri="{FF2B5EF4-FFF2-40B4-BE49-F238E27FC236}">
                <a16:creationId xmlns:a16="http://schemas.microsoft.com/office/drawing/2014/main" xmlns="" id="{A11DA185-886C-99CA-FE57-25C9B9255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43963" y="27289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79" name="Rectangle 391">
            <a:extLst>
              <a:ext uri="{FF2B5EF4-FFF2-40B4-BE49-F238E27FC236}">
                <a16:creationId xmlns:a16="http://schemas.microsoft.com/office/drawing/2014/main" xmlns="" id="{0410CB51-D1CB-543E-9DD4-9A0D7BFAF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5188" y="2728914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80" name="Oval 392">
            <a:extLst>
              <a:ext uri="{FF2B5EF4-FFF2-40B4-BE49-F238E27FC236}">
                <a16:creationId xmlns:a16="http://schemas.microsoft.com/office/drawing/2014/main" xmlns="" id="{DD89841C-609F-AEC1-3BDC-AEDF6D025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2014" y="2660651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81" name="Group 393">
            <a:extLst>
              <a:ext uri="{FF2B5EF4-FFF2-40B4-BE49-F238E27FC236}">
                <a16:creationId xmlns:a16="http://schemas.microsoft.com/office/drawing/2014/main" xmlns="" id="{CF56BF5B-8669-AB18-C64F-797F89674B5E}"/>
              </a:ext>
            </a:extLst>
          </p:cNvPr>
          <p:cNvGrpSpPr>
            <a:grpSpLocks/>
          </p:cNvGrpSpPr>
          <p:nvPr/>
        </p:nvGrpSpPr>
        <p:grpSpPr bwMode="auto">
          <a:xfrm>
            <a:off x="8567739" y="2684464"/>
            <a:ext cx="179387" cy="65087"/>
            <a:chOff x="2848" y="848"/>
            <a:chExt cx="140" cy="98"/>
          </a:xfrm>
        </p:grpSpPr>
        <p:sp>
          <p:nvSpPr>
            <p:cNvPr id="1333" name="Line 394">
              <a:extLst>
                <a:ext uri="{FF2B5EF4-FFF2-40B4-BE49-F238E27FC236}">
                  <a16:creationId xmlns:a16="http://schemas.microsoft.com/office/drawing/2014/main" xmlns="" id="{F4351C31-C0C0-74D8-ABB3-244FF685A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4" name="Line 395">
              <a:extLst>
                <a:ext uri="{FF2B5EF4-FFF2-40B4-BE49-F238E27FC236}">
                  <a16:creationId xmlns:a16="http://schemas.microsoft.com/office/drawing/2014/main" xmlns="" id="{369E1B4D-BC9A-9E7C-6410-1379516884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5" name="Line 396">
              <a:extLst>
                <a:ext uri="{FF2B5EF4-FFF2-40B4-BE49-F238E27FC236}">
                  <a16:creationId xmlns:a16="http://schemas.microsoft.com/office/drawing/2014/main" xmlns="" id="{A80368EC-35F5-ED55-8B0E-4CE39D32B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82" name="Group 397">
            <a:extLst>
              <a:ext uri="{FF2B5EF4-FFF2-40B4-BE49-F238E27FC236}">
                <a16:creationId xmlns:a16="http://schemas.microsoft.com/office/drawing/2014/main" xmlns="" id="{34FA9CF3-D5A6-EB96-DA2C-FC2A023EB4DF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8567739" y="2684464"/>
            <a:ext cx="179387" cy="65087"/>
            <a:chOff x="2848" y="848"/>
            <a:chExt cx="140" cy="98"/>
          </a:xfrm>
        </p:grpSpPr>
        <p:sp>
          <p:nvSpPr>
            <p:cNvPr id="1330" name="Line 398">
              <a:extLst>
                <a:ext uri="{FF2B5EF4-FFF2-40B4-BE49-F238E27FC236}">
                  <a16:creationId xmlns:a16="http://schemas.microsoft.com/office/drawing/2014/main" xmlns="" id="{391B867E-FBEB-6318-3460-5964B5AE0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1" name="Line 399">
              <a:extLst>
                <a:ext uri="{FF2B5EF4-FFF2-40B4-BE49-F238E27FC236}">
                  <a16:creationId xmlns:a16="http://schemas.microsoft.com/office/drawing/2014/main" xmlns="" id="{CF2ABA1E-1C32-9F58-045F-521DB25CE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32" name="Line 400">
              <a:extLst>
                <a:ext uri="{FF2B5EF4-FFF2-40B4-BE49-F238E27FC236}">
                  <a16:creationId xmlns:a16="http://schemas.microsoft.com/office/drawing/2014/main" xmlns="" id="{EB39AA0D-1B2B-8486-06AD-B832EAF26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83" name="Oval 401">
            <a:extLst>
              <a:ext uri="{FF2B5EF4-FFF2-40B4-BE49-F238E27FC236}">
                <a16:creationId xmlns:a16="http://schemas.microsoft.com/office/drawing/2014/main" xmlns="" id="{AD54A02B-7639-AD15-5BFF-A95F803C9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1438" y="2378076"/>
            <a:ext cx="330200" cy="857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84" name="Line 402">
            <a:extLst>
              <a:ext uri="{FF2B5EF4-FFF2-40B4-BE49-F238E27FC236}">
                <a16:creationId xmlns:a16="http://schemas.microsoft.com/office/drawing/2014/main" xmlns="" id="{D9695387-04A3-1EF0-4E95-BFC3843CF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1438" y="2371725"/>
            <a:ext cx="0" cy="5238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85" name="Line 403">
            <a:extLst>
              <a:ext uri="{FF2B5EF4-FFF2-40B4-BE49-F238E27FC236}">
                <a16:creationId xmlns:a16="http://schemas.microsoft.com/office/drawing/2014/main" xmlns="" id="{D3B11D29-4A09-D907-A63D-7B84087D7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1638" y="2371725"/>
            <a:ext cx="0" cy="52388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86" name="Rectangle 404">
            <a:extLst>
              <a:ext uri="{FF2B5EF4-FFF2-40B4-BE49-F238E27FC236}">
                <a16:creationId xmlns:a16="http://schemas.microsoft.com/office/drawing/2014/main" xmlns="" id="{90F6F3DA-6299-C3FB-4567-B4AE758D0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1439" y="2371725"/>
            <a:ext cx="327025" cy="52388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7" name="Oval 405">
            <a:extLst>
              <a:ext uri="{FF2B5EF4-FFF2-40B4-BE49-F238E27FC236}">
                <a16:creationId xmlns:a16="http://schemas.microsoft.com/office/drawing/2014/main" xmlns="" id="{0DCF0FD3-3398-85EB-8195-777CDF24E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8263" y="2309813"/>
            <a:ext cx="330200" cy="1000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88" name="Group 406">
            <a:extLst>
              <a:ext uri="{FF2B5EF4-FFF2-40B4-BE49-F238E27FC236}">
                <a16:creationId xmlns:a16="http://schemas.microsoft.com/office/drawing/2014/main" xmlns="" id="{17B7A245-0B34-A73B-A359-63BC7F41E863}"/>
              </a:ext>
            </a:extLst>
          </p:cNvPr>
          <p:cNvGrpSpPr>
            <a:grpSpLocks/>
          </p:cNvGrpSpPr>
          <p:nvPr/>
        </p:nvGrpSpPr>
        <p:grpSpPr bwMode="auto">
          <a:xfrm>
            <a:off x="9037638" y="2332038"/>
            <a:ext cx="163512" cy="57150"/>
            <a:chOff x="2848" y="848"/>
            <a:chExt cx="140" cy="98"/>
          </a:xfrm>
        </p:grpSpPr>
        <p:sp>
          <p:nvSpPr>
            <p:cNvPr id="1327" name="Line 407">
              <a:extLst>
                <a:ext uri="{FF2B5EF4-FFF2-40B4-BE49-F238E27FC236}">
                  <a16:creationId xmlns:a16="http://schemas.microsoft.com/office/drawing/2014/main" xmlns="" id="{2BB090B1-41E2-B9E8-A0DC-598D217611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8" name="Line 408">
              <a:extLst>
                <a:ext uri="{FF2B5EF4-FFF2-40B4-BE49-F238E27FC236}">
                  <a16:creationId xmlns:a16="http://schemas.microsoft.com/office/drawing/2014/main" xmlns="" id="{E1FCD0D4-F2E5-A1E6-960E-08853BBA1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9" name="Line 409">
              <a:extLst>
                <a:ext uri="{FF2B5EF4-FFF2-40B4-BE49-F238E27FC236}">
                  <a16:creationId xmlns:a16="http://schemas.microsoft.com/office/drawing/2014/main" xmlns="" id="{14B652C8-8BBA-FC44-CBAE-26FA1A7DB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89" name="Group 410">
            <a:extLst>
              <a:ext uri="{FF2B5EF4-FFF2-40B4-BE49-F238E27FC236}">
                <a16:creationId xmlns:a16="http://schemas.microsoft.com/office/drawing/2014/main" xmlns="" id="{C0EC37C6-5D2F-66AB-AD28-14B7D107C66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9037638" y="2330450"/>
            <a:ext cx="163512" cy="58738"/>
            <a:chOff x="2848" y="848"/>
            <a:chExt cx="140" cy="98"/>
          </a:xfrm>
        </p:grpSpPr>
        <p:sp>
          <p:nvSpPr>
            <p:cNvPr id="1324" name="Line 411">
              <a:extLst>
                <a:ext uri="{FF2B5EF4-FFF2-40B4-BE49-F238E27FC236}">
                  <a16:creationId xmlns:a16="http://schemas.microsoft.com/office/drawing/2014/main" xmlns="" id="{6E93FD94-181F-35CE-44CD-8F0FB3661B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5" name="Line 412">
              <a:extLst>
                <a:ext uri="{FF2B5EF4-FFF2-40B4-BE49-F238E27FC236}">
                  <a16:creationId xmlns:a16="http://schemas.microsoft.com/office/drawing/2014/main" xmlns="" id="{A5F92877-B5AB-E9A1-185D-BC957FEF9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6" name="Line 413">
              <a:extLst>
                <a:ext uri="{FF2B5EF4-FFF2-40B4-BE49-F238E27FC236}">
                  <a16:creationId xmlns:a16="http://schemas.microsoft.com/office/drawing/2014/main" xmlns="" id="{90B25062-665A-AD85-9C35-992B04A5C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90" name="Oval 414">
            <a:extLst>
              <a:ext uri="{FF2B5EF4-FFF2-40B4-BE49-F238E27FC236}">
                <a16:creationId xmlns:a16="http://schemas.microsoft.com/office/drawing/2014/main" xmlns="" id="{88A665F0-5BA1-D24B-0E58-B3992E696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7164" y="2736850"/>
            <a:ext cx="358775" cy="95250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91" name="Line 415">
            <a:extLst>
              <a:ext uri="{FF2B5EF4-FFF2-40B4-BE49-F238E27FC236}">
                <a16:creationId xmlns:a16="http://schemas.microsoft.com/office/drawing/2014/main" xmlns="" id="{8667228F-FE2E-AF0E-823D-4C0504A7D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9047163" y="27289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92" name="Line 416">
            <a:extLst>
              <a:ext uri="{FF2B5EF4-FFF2-40B4-BE49-F238E27FC236}">
                <a16:creationId xmlns:a16="http://schemas.microsoft.com/office/drawing/2014/main" xmlns="" id="{D9896C3F-07A6-74B2-9A9F-B7E357BB92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5938" y="2728914"/>
            <a:ext cx="0" cy="58737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93" name="Rectangle 417">
            <a:extLst>
              <a:ext uri="{FF2B5EF4-FFF2-40B4-BE49-F238E27FC236}">
                <a16:creationId xmlns:a16="http://schemas.microsoft.com/office/drawing/2014/main" xmlns="" id="{E88E324F-066F-8AB0-2E5D-56FE965BD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7163" y="2728914"/>
            <a:ext cx="355600" cy="58737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94" name="Oval 418">
            <a:extLst>
              <a:ext uri="{FF2B5EF4-FFF2-40B4-BE49-F238E27FC236}">
                <a16:creationId xmlns:a16="http://schemas.microsoft.com/office/drawing/2014/main" xmlns="" id="{917FF274-EC08-6CCE-C71A-7823EA9DD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3989" y="2660651"/>
            <a:ext cx="358775" cy="111125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095" name="Group 419">
            <a:extLst>
              <a:ext uri="{FF2B5EF4-FFF2-40B4-BE49-F238E27FC236}">
                <a16:creationId xmlns:a16="http://schemas.microsoft.com/office/drawing/2014/main" xmlns="" id="{DE5CB509-635B-2DD3-DF0A-415902BD5ACA}"/>
              </a:ext>
            </a:extLst>
          </p:cNvPr>
          <p:cNvGrpSpPr>
            <a:grpSpLocks/>
          </p:cNvGrpSpPr>
          <p:nvPr/>
        </p:nvGrpSpPr>
        <p:grpSpPr bwMode="auto">
          <a:xfrm>
            <a:off x="9129714" y="2684464"/>
            <a:ext cx="179387" cy="65087"/>
            <a:chOff x="2848" y="848"/>
            <a:chExt cx="140" cy="98"/>
          </a:xfrm>
        </p:grpSpPr>
        <p:sp>
          <p:nvSpPr>
            <p:cNvPr id="1321" name="Line 420">
              <a:extLst>
                <a:ext uri="{FF2B5EF4-FFF2-40B4-BE49-F238E27FC236}">
                  <a16:creationId xmlns:a16="http://schemas.microsoft.com/office/drawing/2014/main" xmlns="" id="{1898EA2F-9CB6-DB78-BA44-B2991833C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2" name="Line 421">
              <a:extLst>
                <a:ext uri="{FF2B5EF4-FFF2-40B4-BE49-F238E27FC236}">
                  <a16:creationId xmlns:a16="http://schemas.microsoft.com/office/drawing/2014/main" xmlns="" id="{D6E4D4C8-51D0-909D-CACC-A2D8BE24E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3" name="Line 422">
              <a:extLst>
                <a:ext uri="{FF2B5EF4-FFF2-40B4-BE49-F238E27FC236}">
                  <a16:creationId xmlns:a16="http://schemas.microsoft.com/office/drawing/2014/main" xmlns="" id="{B1FD0B1A-1760-5B2C-FE12-08E83BE06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096" name="Group 423">
            <a:extLst>
              <a:ext uri="{FF2B5EF4-FFF2-40B4-BE49-F238E27FC236}">
                <a16:creationId xmlns:a16="http://schemas.microsoft.com/office/drawing/2014/main" xmlns="" id="{EC1F5EB1-23DD-0BE6-B762-CA0D368C2C7D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9129714" y="2684464"/>
            <a:ext cx="179387" cy="65087"/>
            <a:chOff x="2848" y="848"/>
            <a:chExt cx="140" cy="98"/>
          </a:xfrm>
        </p:grpSpPr>
        <p:sp>
          <p:nvSpPr>
            <p:cNvPr id="1318" name="Line 424">
              <a:extLst>
                <a:ext uri="{FF2B5EF4-FFF2-40B4-BE49-F238E27FC236}">
                  <a16:creationId xmlns:a16="http://schemas.microsoft.com/office/drawing/2014/main" xmlns="" id="{9A240C60-B10D-AE37-DEC0-F14D0C686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9" name="Line 425">
              <a:extLst>
                <a:ext uri="{FF2B5EF4-FFF2-40B4-BE49-F238E27FC236}">
                  <a16:creationId xmlns:a16="http://schemas.microsoft.com/office/drawing/2014/main" xmlns="" id="{A742B9B9-F6C2-E8D0-EC8A-EE4965E60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20" name="Line 426">
              <a:extLst>
                <a:ext uri="{FF2B5EF4-FFF2-40B4-BE49-F238E27FC236}">
                  <a16:creationId xmlns:a16="http://schemas.microsoft.com/office/drawing/2014/main" xmlns="" id="{9B7D9DB9-5DFF-963E-2BE7-622BE977A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097" name="Oval 427">
            <a:extLst>
              <a:ext uri="{FF2B5EF4-FFF2-40B4-BE49-F238E27FC236}">
                <a16:creationId xmlns:a16="http://schemas.microsoft.com/office/drawing/2014/main" xmlns="" id="{E9B0BE67-3155-0240-EEBD-4548D2EBF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64" y="2471738"/>
            <a:ext cx="346075" cy="873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098" name="Line 428">
            <a:extLst>
              <a:ext uri="{FF2B5EF4-FFF2-40B4-BE49-F238E27FC236}">
                <a16:creationId xmlns:a16="http://schemas.microsoft.com/office/drawing/2014/main" xmlns="" id="{439AA344-AAFE-B9AB-D36F-566A55E1D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7463" y="2463801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99" name="Line 429">
            <a:extLst>
              <a:ext uri="{FF2B5EF4-FFF2-40B4-BE49-F238E27FC236}">
                <a16:creationId xmlns:a16="http://schemas.microsoft.com/office/drawing/2014/main" xmlns="" id="{B577970E-7683-9087-FDEE-AB145C70EA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3538" y="2463801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00" name="Rectangle 430">
            <a:extLst>
              <a:ext uri="{FF2B5EF4-FFF2-40B4-BE49-F238E27FC236}">
                <a16:creationId xmlns:a16="http://schemas.microsoft.com/office/drawing/2014/main" xmlns="" id="{1215E4A9-D500-BC89-A122-C1DE9FD5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63" y="2463801"/>
            <a:ext cx="342900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01" name="Oval 431">
            <a:extLst>
              <a:ext uri="{FF2B5EF4-FFF2-40B4-BE49-F238E27FC236}">
                <a16:creationId xmlns:a16="http://schemas.microsoft.com/office/drawing/2014/main" xmlns="" id="{72C8B2AD-5DA0-EAC7-19EE-F0286D870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4289" y="2400300"/>
            <a:ext cx="346075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102" name="Group 432">
            <a:extLst>
              <a:ext uri="{FF2B5EF4-FFF2-40B4-BE49-F238E27FC236}">
                <a16:creationId xmlns:a16="http://schemas.microsoft.com/office/drawing/2014/main" xmlns="" id="{A58821EA-8AC1-630E-B556-13CAADEFEAF6}"/>
              </a:ext>
            </a:extLst>
          </p:cNvPr>
          <p:cNvGrpSpPr>
            <a:grpSpLocks/>
          </p:cNvGrpSpPr>
          <p:nvPr/>
        </p:nvGrpSpPr>
        <p:grpSpPr bwMode="auto">
          <a:xfrm>
            <a:off x="7718425" y="2422526"/>
            <a:ext cx="171450" cy="60325"/>
            <a:chOff x="2848" y="848"/>
            <a:chExt cx="140" cy="98"/>
          </a:xfrm>
        </p:grpSpPr>
        <p:sp>
          <p:nvSpPr>
            <p:cNvPr id="1315" name="Line 433">
              <a:extLst>
                <a:ext uri="{FF2B5EF4-FFF2-40B4-BE49-F238E27FC236}">
                  <a16:creationId xmlns:a16="http://schemas.microsoft.com/office/drawing/2014/main" xmlns="" id="{F655ED77-B3FA-6509-6AAA-DB4B8926C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6" name="Line 434">
              <a:extLst>
                <a:ext uri="{FF2B5EF4-FFF2-40B4-BE49-F238E27FC236}">
                  <a16:creationId xmlns:a16="http://schemas.microsoft.com/office/drawing/2014/main" xmlns="" id="{A3FC45BB-F4B6-6102-35F2-B250583A7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7" name="Line 435">
              <a:extLst>
                <a:ext uri="{FF2B5EF4-FFF2-40B4-BE49-F238E27FC236}">
                  <a16:creationId xmlns:a16="http://schemas.microsoft.com/office/drawing/2014/main" xmlns="" id="{3DEEB435-7004-8DE0-19DE-7268DE167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103" name="Group 436">
            <a:extLst>
              <a:ext uri="{FF2B5EF4-FFF2-40B4-BE49-F238E27FC236}">
                <a16:creationId xmlns:a16="http://schemas.microsoft.com/office/drawing/2014/main" xmlns="" id="{DD02D75B-3B11-F5A2-8CDE-53A1F872308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718425" y="2422525"/>
            <a:ext cx="171450" cy="58738"/>
            <a:chOff x="2848" y="848"/>
            <a:chExt cx="140" cy="98"/>
          </a:xfrm>
        </p:grpSpPr>
        <p:sp>
          <p:nvSpPr>
            <p:cNvPr id="1312" name="Line 437">
              <a:extLst>
                <a:ext uri="{FF2B5EF4-FFF2-40B4-BE49-F238E27FC236}">
                  <a16:creationId xmlns:a16="http://schemas.microsoft.com/office/drawing/2014/main" xmlns="" id="{4B4D524D-3795-F8DB-3DA8-0DD70C995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3" name="Line 438">
              <a:extLst>
                <a:ext uri="{FF2B5EF4-FFF2-40B4-BE49-F238E27FC236}">
                  <a16:creationId xmlns:a16="http://schemas.microsoft.com/office/drawing/2014/main" xmlns="" id="{B6E56AB8-F316-6F6E-4B35-1DCD4BE79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4" name="Line 439">
              <a:extLst>
                <a:ext uri="{FF2B5EF4-FFF2-40B4-BE49-F238E27FC236}">
                  <a16:creationId xmlns:a16="http://schemas.microsoft.com/office/drawing/2014/main" xmlns="" id="{9B24AE6E-35E4-79AE-900A-78E1B83DA6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104" name="Oval 440">
            <a:extLst>
              <a:ext uri="{FF2B5EF4-FFF2-40B4-BE49-F238E27FC236}">
                <a16:creationId xmlns:a16="http://schemas.microsoft.com/office/drawing/2014/main" xmlns="" id="{EF991D31-2F8C-B624-06C1-E8A39BF7A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076" y="3621088"/>
            <a:ext cx="346075" cy="87312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05" name="Line 441">
            <a:extLst>
              <a:ext uri="{FF2B5EF4-FFF2-40B4-BE49-F238E27FC236}">
                <a16:creationId xmlns:a16="http://schemas.microsoft.com/office/drawing/2014/main" xmlns="" id="{5EADF7E0-7E16-A1D7-A593-65ED06983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1075" y="3613151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06" name="Line 442">
            <a:extLst>
              <a:ext uri="{FF2B5EF4-FFF2-40B4-BE49-F238E27FC236}">
                <a16:creationId xmlns:a16="http://schemas.microsoft.com/office/drawing/2014/main" xmlns="" id="{BB28FAC7-9E46-2279-C337-4D87E3CAF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7150" y="3613151"/>
            <a:ext cx="0" cy="53975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07" name="Rectangle 443">
            <a:extLst>
              <a:ext uri="{FF2B5EF4-FFF2-40B4-BE49-F238E27FC236}">
                <a16:creationId xmlns:a16="http://schemas.microsoft.com/office/drawing/2014/main" xmlns="" id="{22B10429-C266-E57D-3D41-CE4AE66AC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1075" y="3613151"/>
            <a:ext cx="342900" cy="53975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08" name="Oval 444">
            <a:extLst>
              <a:ext uri="{FF2B5EF4-FFF2-40B4-BE49-F238E27FC236}">
                <a16:creationId xmlns:a16="http://schemas.microsoft.com/office/drawing/2014/main" xmlns="" id="{9D28FF3C-DF90-B2C9-DAFE-BC5B5CBB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901" y="3549650"/>
            <a:ext cx="346075" cy="103188"/>
          </a:xfrm>
          <a:prstGeom prst="ellipse">
            <a:avLst/>
          </a:prstGeom>
          <a:solidFill>
            <a:srgbClr val="DDDDDD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1109" name="Group 445">
            <a:extLst>
              <a:ext uri="{FF2B5EF4-FFF2-40B4-BE49-F238E27FC236}">
                <a16:creationId xmlns:a16="http://schemas.microsoft.com/office/drawing/2014/main" xmlns="" id="{C27654D9-7842-A040-826D-05A7CF701875}"/>
              </a:ext>
            </a:extLst>
          </p:cNvPr>
          <p:cNvGrpSpPr>
            <a:grpSpLocks/>
          </p:cNvGrpSpPr>
          <p:nvPr/>
        </p:nvGrpSpPr>
        <p:grpSpPr bwMode="auto">
          <a:xfrm>
            <a:off x="7412038" y="3571876"/>
            <a:ext cx="171450" cy="60325"/>
            <a:chOff x="2848" y="848"/>
            <a:chExt cx="140" cy="98"/>
          </a:xfrm>
        </p:grpSpPr>
        <p:sp>
          <p:nvSpPr>
            <p:cNvPr id="1309" name="Line 446">
              <a:extLst>
                <a:ext uri="{FF2B5EF4-FFF2-40B4-BE49-F238E27FC236}">
                  <a16:creationId xmlns:a16="http://schemas.microsoft.com/office/drawing/2014/main" xmlns="" id="{38EBFA3E-0DEE-424F-51F0-0CAE97CD1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0" name="Line 447">
              <a:extLst>
                <a:ext uri="{FF2B5EF4-FFF2-40B4-BE49-F238E27FC236}">
                  <a16:creationId xmlns:a16="http://schemas.microsoft.com/office/drawing/2014/main" xmlns="" id="{7735DC01-E64B-235C-B1B7-C5FBF3716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11" name="Line 448">
              <a:extLst>
                <a:ext uri="{FF2B5EF4-FFF2-40B4-BE49-F238E27FC236}">
                  <a16:creationId xmlns:a16="http://schemas.microsoft.com/office/drawing/2014/main" xmlns="" id="{42A54321-5289-160A-5627-8CEDFD369C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110" name="Group 449">
            <a:extLst>
              <a:ext uri="{FF2B5EF4-FFF2-40B4-BE49-F238E27FC236}">
                <a16:creationId xmlns:a16="http://schemas.microsoft.com/office/drawing/2014/main" xmlns="" id="{DF5A26B6-F2FD-2779-941A-484F985242C4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412038" y="3571875"/>
            <a:ext cx="171450" cy="58738"/>
            <a:chOff x="2848" y="848"/>
            <a:chExt cx="140" cy="98"/>
          </a:xfrm>
        </p:grpSpPr>
        <p:sp>
          <p:nvSpPr>
            <p:cNvPr id="1306" name="Line 450">
              <a:extLst>
                <a:ext uri="{FF2B5EF4-FFF2-40B4-BE49-F238E27FC236}">
                  <a16:creationId xmlns:a16="http://schemas.microsoft.com/office/drawing/2014/main" xmlns="" id="{5597E01D-CC0F-C9D0-67EA-E98D74C193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848"/>
              <a:ext cx="50" cy="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7" name="Line 451">
              <a:extLst>
                <a:ext uri="{FF2B5EF4-FFF2-40B4-BE49-F238E27FC236}">
                  <a16:creationId xmlns:a16="http://schemas.microsoft.com/office/drawing/2014/main" xmlns="" id="{F5074DF7-15D3-CBD4-5196-DAB2C6372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44" y="946"/>
              <a:ext cx="4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08" name="Line 452">
              <a:extLst>
                <a:ext uri="{FF2B5EF4-FFF2-40B4-BE49-F238E27FC236}">
                  <a16:creationId xmlns:a16="http://schemas.microsoft.com/office/drawing/2014/main" xmlns="" id="{1D73F589-8C18-8AC8-7639-351A925E2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4" y="850"/>
              <a:ext cx="52" cy="96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111" name="Line 453">
            <a:extLst>
              <a:ext uri="{FF2B5EF4-FFF2-40B4-BE49-F238E27FC236}">
                <a16:creationId xmlns:a16="http://schemas.microsoft.com/office/drawing/2014/main" xmlns="" id="{0A35128F-0739-D333-4C09-E6BD660B2A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29638" y="3978276"/>
            <a:ext cx="227012" cy="4365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2" name="Line 454">
            <a:extLst>
              <a:ext uri="{FF2B5EF4-FFF2-40B4-BE49-F238E27FC236}">
                <a16:creationId xmlns:a16="http://schemas.microsoft.com/office/drawing/2014/main" xmlns="" id="{5A9307D2-3F49-8478-12B9-CB81198AA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3463" y="3716338"/>
            <a:ext cx="163512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3" name="Line 455">
            <a:extLst>
              <a:ext uri="{FF2B5EF4-FFF2-40B4-BE49-F238E27FC236}">
                <a16:creationId xmlns:a16="http://schemas.microsoft.com/office/drawing/2014/main" xmlns="" id="{77040FF4-C54D-826F-4D9C-8B72B7057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0300" y="3636963"/>
            <a:ext cx="2794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4" name="Line 456">
            <a:extLst>
              <a:ext uri="{FF2B5EF4-FFF2-40B4-BE49-F238E27FC236}">
                <a16:creationId xmlns:a16="http://schemas.microsoft.com/office/drawing/2014/main" xmlns="" id="{3618E555-48F8-707A-1494-F499B76C16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86839" y="3722689"/>
            <a:ext cx="134937" cy="1047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5" name="Line 457">
            <a:extLst>
              <a:ext uri="{FF2B5EF4-FFF2-40B4-BE49-F238E27FC236}">
                <a16:creationId xmlns:a16="http://schemas.microsoft.com/office/drawing/2014/main" xmlns="" id="{1B7889D0-8F63-3C10-99ED-32729BA4EE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85088" y="3643313"/>
            <a:ext cx="6794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6" name="Line 458">
            <a:extLst>
              <a:ext uri="{FF2B5EF4-FFF2-40B4-BE49-F238E27FC236}">
                <a16:creationId xmlns:a16="http://schemas.microsoft.com/office/drawing/2014/main" xmlns="" id="{AD61AA45-8EE3-D7AD-AAE3-46780E588C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0364" y="2490789"/>
            <a:ext cx="509587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7" name="Line 459">
            <a:extLst>
              <a:ext uri="{FF2B5EF4-FFF2-40B4-BE49-F238E27FC236}">
                <a16:creationId xmlns:a16="http://schemas.microsoft.com/office/drawing/2014/main" xmlns="" id="{9C720063-608F-AA1C-B2DA-CD43C335D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6975" y="2319338"/>
            <a:ext cx="15240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18" name="Freeform 460">
            <a:extLst>
              <a:ext uri="{FF2B5EF4-FFF2-40B4-BE49-F238E27FC236}">
                <a16:creationId xmlns:a16="http://schemas.microsoft.com/office/drawing/2014/main" xmlns="" id="{06D81241-CCA2-D4C8-E9E2-ADBDA4627821}"/>
              </a:ext>
            </a:extLst>
          </p:cNvPr>
          <p:cNvSpPr>
            <a:spLocks/>
          </p:cNvSpPr>
          <p:nvPr/>
        </p:nvSpPr>
        <p:spPr bwMode="auto">
          <a:xfrm>
            <a:off x="6867525" y="4325939"/>
            <a:ext cx="2979738" cy="1455737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119" name="Line 461">
            <a:extLst>
              <a:ext uri="{FF2B5EF4-FFF2-40B4-BE49-F238E27FC236}">
                <a16:creationId xmlns:a16="http://schemas.microsoft.com/office/drawing/2014/main" xmlns="" id="{320EA852-8A28-D7A0-0117-9B95CA56AA2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9102726" y="5062538"/>
            <a:ext cx="523875" cy="1397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20" name="Line 462">
            <a:extLst>
              <a:ext uri="{FF2B5EF4-FFF2-40B4-BE49-F238E27FC236}">
                <a16:creationId xmlns:a16="http://schemas.microsoft.com/office/drawing/2014/main" xmlns="" id="{24B9E7A1-5E7F-8D8C-A4E4-75888E8BD190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9248776" y="5343526"/>
            <a:ext cx="3175" cy="857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21" name="Line 463">
            <a:extLst>
              <a:ext uri="{FF2B5EF4-FFF2-40B4-BE49-F238E27FC236}">
                <a16:creationId xmlns:a16="http://schemas.microsoft.com/office/drawing/2014/main" xmlns="" id="{00B8802A-36AA-C1FF-25A0-B512B056675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9434513" y="5019675"/>
            <a:ext cx="0" cy="1143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122" name="Group 464">
            <a:extLst>
              <a:ext uri="{FF2B5EF4-FFF2-40B4-BE49-F238E27FC236}">
                <a16:creationId xmlns:a16="http://schemas.microsoft.com/office/drawing/2014/main" xmlns="" id="{4B8E857A-2B91-1300-2102-8A5DEFD50451}"/>
              </a:ext>
            </a:extLst>
          </p:cNvPr>
          <p:cNvGrpSpPr>
            <a:grpSpLocks/>
          </p:cNvGrpSpPr>
          <p:nvPr/>
        </p:nvGrpSpPr>
        <p:grpSpPr bwMode="auto">
          <a:xfrm>
            <a:off x="9013825" y="4729163"/>
            <a:ext cx="501650" cy="234950"/>
            <a:chOff x="4701" y="2996"/>
            <a:chExt cx="316" cy="148"/>
          </a:xfrm>
        </p:grpSpPr>
        <p:sp>
          <p:nvSpPr>
            <p:cNvPr id="1293" name="Oval 465">
              <a:extLst>
                <a:ext uri="{FF2B5EF4-FFF2-40B4-BE49-F238E27FC236}">
                  <a16:creationId xmlns:a16="http://schemas.microsoft.com/office/drawing/2014/main" xmlns="" id="{78B9BB34-0C73-7736-5524-B6803CE35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94" name="Line 466">
              <a:extLst>
                <a:ext uri="{FF2B5EF4-FFF2-40B4-BE49-F238E27FC236}">
                  <a16:creationId xmlns:a16="http://schemas.microsoft.com/office/drawing/2014/main" xmlns="" id="{E5DEAE02-9B38-E014-93B7-078A08B70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5" name="Line 467">
              <a:extLst>
                <a:ext uri="{FF2B5EF4-FFF2-40B4-BE49-F238E27FC236}">
                  <a16:creationId xmlns:a16="http://schemas.microsoft.com/office/drawing/2014/main" xmlns="" id="{7E08F72F-A795-DF5B-2F79-1C33FD8BC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96" name="Rectangle 468">
              <a:extLst>
                <a:ext uri="{FF2B5EF4-FFF2-40B4-BE49-F238E27FC236}">
                  <a16:creationId xmlns:a16="http://schemas.microsoft.com/office/drawing/2014/main" xmlns="" id="{354DF877-DD40-22B7-46AB-C5497F1F1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97" name="Oval 469">
              <a:extLst>
                <a:ext uri="{FF2B5EF4-FFF2-40B4-BE49-F238E27FC236}">
                  <a16:creationId xmlns:a16="http://schemas.microsoft.com/office/drawing/2014/main" xmlns="" id="{87FC3D57-2806-76FB-F624-E86E85816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98" name="Group 470">
              <a:extLst>
                <a:ext uri="{FF2B5EF4-FFF2-40B4-BE49-F238E27FC236}">
                  <a16:creationId xmlns:a16="http://schemas.microsoft.com/office/drawing/2014/main" xmlns="" id="{109B223D-D508-0D4A-0DC7-4ED9CDAF0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303" name="Line 471">
                <a:extLst>
                  <a:ext uri="{FF2B5EF4-FFF2-40B4-BE49-F238E27FC236}">
                    <a16:creationId xmlns:a16="http://schemas.microsoft.com/office/drawing/2014/main" xmlns="" id="{7F07B790-3297-7D14-C77C-15F348816F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04" name="Line 472">
                <a:extLst>
                  <a:ext uri="{FF2B5EF4-FFF2-40B4-BE49-F238E27FC236}">
                    <a16:creationId xmlns:a16="http://schemas.microsoft.com/office/drawing/2014/main" xmlns="" id="{91D5EAFF-C009-408D-5640-7C0D259150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05" name="Line 473">
                <a:extLst>
                  <a:ext uri="{FF2B5EF4-FFF2-40B4-BE49-F238E27FC236}">
                    <a16:creationId xmlns:a16="http://schemas.microsoft.com/office/drawing/2014/main" xmlns="" id="{0D7AAF7B-A86C-71F8-A28D-3EB545774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299" name="Group 474">
              <a:extLst>
                <a:ext uri="{FF2B5EF4-FFF2-40B4-BE49-F238E27FC236}">
                  <a16:creationId xmlns:a16="http://schemas.microsoft.com/office/drawing/2014/main" xmlns="" id="{4EBA8B50-BC58-904A-060B-E912018F2F4A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300" name="Line 475">
                <a:extLst>
                  <a:ext uri="{FF2B5EF4-FFF2-40B4-BE49-F238E27FC236}">
                    <a16:creationId xmlns:a16="http://schemas.microsoft.com/office/drawing/2014/main" xmlns="" id="{F855BEB4-B884-93ED-1E8A-B2B4604FF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01" name="Line 476">
                <a:extLst>
                  <a:ext uri="{FF2B5EF4-FFF2-40B4-BE49-F238E27FC236}">
                    <a16:creationId xmlns:a16="http://schemas.microsoft.com/office/drawing/2014/main" xmlns="" id="{AC661B84-DB46-4840-ED14-6810B75C1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02" name="Line 477">
                <a:extLst>
                  <a:ext uri="{FF2B5EF4-FFF2-40B4-BE49-F238E27FC236}">
                    <a16:creationId xmlns:a16="http://schemas.microsoft.com/office/drawing/2014/main" xmlns="" id="{37027162-67F3-574E-3AAF-341D0C20C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grpSp>
        <p:nvGrpSpPr>
          <p:cNvPr id="1123" name="Group 478">
            <a:extLst>
              <a:ext uri="{FF2B5EF4-FFF2-40B4-BE49-F238E27FC236}">
                <a16:creationId xmlns:a16="http://schemas.microsoft.com/office/drawing/2014/main" xmlns="" id="{29E3CED2-F740-403D-F942-08A572295CC1}"/>
              </a:ext>
            </a:extLst>
          </p:cNvPr>
          <p:cNvGrpSpPr>
            <a:grpSpLocks/>
          </p:cNvGrpSpPr>
          <p:nvPr/>
        </p:nvGrpSpPr>
        <p:grpSpPr bwMode="auto">
          <a:xfrm>
            <a:off x="8197850" y="4452938"/>
            <a:ext cx="501650" cy="234950"/>
            <a:chOff x="3600" y="219"/>
            <a:chExt cx="360" cy="175"/>
          </a:xfrm>
        </p:grpSpPr>
        <p:sp>
          <p:nvSpPr>
            <p:cNvPr id="1280" name="Oval 479">
              <a:extLst>
                <a:ext uri="{FF2B5EF4-FFF2-40B4-BE49-F238E27FC236}">
                  <a16:creationId xmlns:a16="http://schemas.microsoft.com/office/drawing/2014/main" xmlns="" id="{5D96BAA5-0BA1-4B43-D6B8-25C7513B9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81" name="Line 480">
              <a:extLst>
                <a:ext uri="{FF2B5EF4-FFF2-40B4-BE49-F238E27FC236}">
                  <a16:creationId xmlns:a16="http://schemas.microsoft.com/office/drawing/2014/main" xmlns="" id="{0D43E6D4-4DB1-7C7E-BCDC-35C1A7A9A8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82" name="Line 481">
              <a:extLst>
                <a:ext uri="{FF2B5EF4-FFF2-40B4-BE49-F238E27FC236}">
                  <a16:creationId xmlns:a16="http://schemas.microsoft.com/office/drawing/2014/main" xmlns="" id="{ACB96A8D-8FE7-A348-516B-35F4BF65F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83" name="Rectangle 482">
              <a:extLst>
                <a:ext uri="{FF2B5EF4-FFF2-40B4-BE49-F238E27FC236}">
                  <a16:creationId xmlns:a16="http://schemas.microsoft.com/office/drawing/2014/main" xmlns="" id="{7B1021B0-CACF-3742-9BCF-5A43AB8B7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84" name="Oval 483">
              <a:extLst>
                <a:ext uri="{FF2B5EF4-FFF2-40B4-BE49-F238E27FC236}">
                  <a16:creationId xmlns:a16="http://schemas.microsoft.com/office/drawing/2014/main" xmlns="" id="{12428430-36ED-A98B-A24A-C7FB5E1FC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85" name="Group 484">
              <a:extLst>
                <a:ext uri="{FF2B5EF4-FFF2-40B4-BE49-F238E27FC236}">
                  <a16:creationId xmlns:a16="http://schemas.microsoft.com/office/drawing/2014/main" xmlns="" id="{6A66A949-5C2E-28D0-6D91-7C5729DF75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90" name="Line 485">
                <a:extLst>
                  <a:ext uri="{FF2B5EF4-FFF2-40B4-BE49-F238E27FC236}">
                    <a16:creationId xmlns:a16="http://schemas.microsoft.com/office/drawing/2014/main" xmlns="" id="{B056ED5E-50AA-D620-EDDE-CCEBE40624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91" name="Line 486">
                <a:extLst>
                  <a:ext uri="{FF2B5EF4-FFF2-40B4-BE49-F238E27FC236}">
                    <a16:creationId xmlns:a16="http://schemas.microsoft.com/office/drawing/2014/main" xmlns="" id="{FBE61259-576F-AE7C-DFB9-6ECE922DC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92" name="Line 487">
                <a:extLst>
                  <a:ext uri="{FF2B5EF4-FFF2-40B4-BE49-F238E27FC236}">
                    <a16:creationId xmlns:a16="http://schemas.microsoft.com/office/drawing/2014/main" xmlns="" id="{B7D4ADCC-1D4F-6C03-9CAC-976EA572C7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286" name="Group 488">
              <a:extLst>
                <a:ext uri="{FF2B5EF4-FFF2-40B4-BE49-F238E27FC236}">
                  <a16:creationId xmlns:a16="http://schemas.microsoft.com/office/drawing/2014/main" xmlns="" id="{FBF4C50E-20F0-F466-C12E-1087F524040E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87" name="Line 489">
                <a:extLst>
                  <a:ext uri="{FF2B5EF4-FFF2-40B4-BE49-F238E27FC236}">
                    <a16:creationId xmlns:a16="http://schemas.microsoft.com/office/drawing/2014/main" xmlns="" id="{27A9193C-8E98-A7A9-BCB5-DBFE6E9A8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88" name="Line 490">
                <a:extLst>
                  <a:ext uri="{FF2B5EF4-FFF2-40B4-BE49-F238E27FC236}">
                    <a16:creationId xmlns:a16="http://schemas.microsoft.com/office/drawing/2014/main" xmlns="" id="{E22C9E34-543A-99C3-9A85-D208C552E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89" name="Line 491">
                <a:extLst>
                  <a:ext uri="{FF2B5EF4-FFF2-40B4-BE49-F238E27FC236}">
                    <a16:creationId xmlns:a16="http://schemas.microsoft.com/office/drawing/2014/main" xmlns="" id="{FBA4A248-601B-AF32-33C1-D758E701C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grpSp>
        <p:nvGrpSpPr>
          <p:cNvPr id="1124" name="Group 492">
            <a:extLst>
              <a:ext uri="{FF2B5EF4-FFF2-40B4-BE49-F238E27FC236}">
                <a16:creationId xmlns:a16="http://schemas.microsoft.com/office/drawing/2014/main" xmlns="" id="{D7FBE759-291E-F7D8-4850-D26B9F8135B6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4757738"/>
            <a:ext cx="501650" cy="234950"/>
            <a:chOff x="3600" y="219"/>
            <a:chExt cx="360" cy="175"/>
          </a:xfrm>
        </p:grpSpPr>
        <p:sp>
          <p:nvSpPr>
            <p:cNvPr id="1267" name="Oval 493">
              <a:extLst>
                <a:ext uri="{FF2B5EF4-FFF2-40B4-BE49-F238E27FC236}">
                  <a16:creationId xmlns:a16="http://schemas.microsoft.com/office/drawing/2014/main" xmlns="" id="{8E24F9FE-382D-1626-4C74-767633D36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68" name="Line 494">
              <a:extLst>
                <a:ext uri="{FF2B5EF4-FFF2-40B4-BE49-F238E27FC236}">
                  <a16:creationId xmlns:a16="http://schemas.microsoft.com/office/drawing/2014/main" xmlns="" id="{2CD332C7-B790-FDD5-01F9-7E2388D4E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69" name="Line 495">
              <a:extLst>
                <a:ext uri="{FF2B5EF4-FFF2-40B4-BE49-F238E27FC236}">
                  <a16:creationId xmlns:a16="http://schemas.microsoft.com/office/drawing/2014/main" xmlns="" id="{49830801-4499-C650-507E-F2BB145A5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70" name="Rectangle 496">
              <a:extLst>
                <a:ext uri="{FF2B5EF4-FFF2-40B4-BE49-F238E27FC236}">
                  <a16:creationId xmlns:a16="http://schemas.microsoft.com/office/drawing/2014/main" xmlns="" id="{40C7B4C3-D233-951F-7FAC-47E1FED96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71" name="Oval 497">
              <a:extLst>
                <a:ext uri="{FF2B5EF4-FFF2-40B4-BE49-F238E27FC236}">
                  <a16:creationId xmlns:a16="http://schemas.microsoft.com/office/drawing/2014/main" xmlns="" id="{22DCFA14-71BC-5337-D71E-B67F8972A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72" name="Group 498">
              <a:extLst>
                <a:ext uri="{FF2B5EF4-FFF2-40B4-BE49-F238E27FC236}">
                  <a16:creationId xmlns:a16="http://schemas.microsoft.com/office/drawing/2014/main" xmlns="" id="{D61668F9-2B74-7692-2746-2CB9CA066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77" name="Line 499">
                <a:extLst>
                  <a:ext uri="{FF2B5EF4-FFF2-40B4-BE49-F238E27FC236}">
                    <a16:creationId xmlns:a16="http://schemas.microsoft.com/office/drawing/2014/main" xmlns="" id="{7118A18A-0837-0764-6FE2-6488D6646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8" name="Line 500">
                <a:extLst>
                  <a:ext uri="{FF2B5EF4-FFF2-40B4-BE49-F238E27FC236}">
                    <a16:creationId xmlns:a16="http://schemas.microsoft.com/office/drawing/2014/main" xmlns="" id="{D63897E2-9362-8427-6CB3-642C78B8E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9" name="Line 501">
                <a:extLst>
                  <a:ext uri="{FF2B5EF4-FFF2-40B4-BE49-F238E27FC236}">
                    <a16:creationId xmlns:a16="http://schemas.microsoft.com/office/drawing/2014/main" xmlns="" id="{4D7469D1-5A04-040E-ECCE-434BFF399F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273" name="Group 502">
              <a:extLst>
                <a:ext uri="{FF2B5EF4-FFF2-40B4-BE49-F238E27FC236}">
                  <a16:creationId xmlns:a16="http://schemas.microsoft.com/office/drawing/2014/main" xmlns="" id="{52371DFC-3BFF-128D-AAB2-5DAB34DA33FB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74" name="Line 503">
                <a:extLst>
                  <a:ext uri="{FF2B5EF4-FFF2-40B4-BE49-F238E27FC236}">
                    <a16:creationId xmlns:a16="http://schemas.microsoft.com/office/drawing/2014/main" xmlns="" id="{E598261C-D36B-1D23-FC76-060A2795C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5" name="Line 504">
                <a:extLst>
                  <a:ext uri="{FF2B5EF4-FFF2-40B4-BE49-F238E27FC236}">
                    <a16:creationId xmlns:a16="http://schemas.microsoft.com/office/drawing/2014/main" xmlns="" id="{8291E297-F911-1C55-9665-5DEF2EE9B5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76" name="Line 505">
                <a:extLst>
                  <a:ext uri="{FF2B5EF4-FFF2-40B4-BE49-F238E27FC236}">
                    <a16:creationId xmlns:a16="http://schemas.microsoft.com/office/drawing/2014/main" xmlns="" id="{BA809C28-27D4-EAC0-51A5-482E06FF5C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1125" name="Line 506">
            <a:extLst>
              <a:ext uri="{FF2B5EF4-FFF2-40B4-BE49-F238E27FC236}">
                <a16:creationId xmlns:a16="http://schemas.microsoft.com/office/drawing/2014/main" xmlns="" id="{5710B948-5949-F77F-AEF7-97E607775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47114" y="4664075"/>
            <a:ext cx="358775" cy="1206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6" name="Line 507">
            <a:extLst>
              <a:ext uri="{FF2B5EF4-FFF2-40B4-BE49-F238E27FC236}">
                <a16:creationId xmlns:a16="http://schemas.microsoft.com/office/drawing/2014/main" xmlns="" id="{30C41B57-D0EB-B76E-16A6-2BE7DD8511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94651" y="4676775"/>
            <a:ext cx="277813" cy="1095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7" name="Line 508">
            <a:extLst>
              <a:ext uri="{FF2B5EF4-FFF2-40B4-BE49-F238E27FC236}">
                <a16:creationId xmlns:a16="http://schemas.microsoft.com/office/drawing/2014/main" xmlns="" id="{3B44AC64-98BD-8E92-F020-8905198C9B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37513" y="4879975"/>
            <a:ext cx="9715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8" name="Line 509">
            <a:extLst>
              <a:ext uri="{FF2B5EF4-FFF2-40B4-BE49-F238E27FC236}">
                <a16:creationId xmlns:a16="http://schemas.microsoft.com/office/drawing/2014/main" xmlns="" id="{B7B317EB-C97C-88F2-4A67-D6571CF15D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2663" y="4625975"/>
            <a:ext cx="254000" cy="4699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29" name="Line 510">
            <a:extLst>
              <a:ext uri="{FF2B5EF4-FFF2-40B4-BE49-F238E27FC236}">
                <a16:creationId xmlns:a16="http://schemas.microsoft.com/office/drawing/2014/main" xmlns="" id="{31BB897C-B738-DA2C-0356-2594BA649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8063" y="4676775"/>
            <a:ext cx="19685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0" name="Line 511">
            <a:extLst>
              <a:ext uri="{FF2B5EF4-FFF2-40B4-BE49-F238E27FC236}">
                <a16:creationId xmlns:a16="http://schemas.microsoft.com/office/drawing/2014/main" xmlns="" id="{6094AF2B-772E-95AB-EE47-D2D76AFCD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8364" y="5013325"/>
            <a:ext cx="153987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1" name="Line 512">
            <a:extLst>
              <a:ext uri="{FF2B5EF4-FFF2-40B4-BE49-F238E27FC236}">
                <a16:creationId xmlns:a16="http://schemas.microsoft.com/office/drawing/2014/main" xmlns="" id="{C31F4785-DA96-0139-2BFE-65FA55736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0775" y="5092700"/>
            <a:ext cx="490538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2" name="Line 513">
            <a:extLst>
              <a:ext uri="{FF2B5EF4-FFF2-40B4-BE49-F238E27FC236}">
                <a16:creationId xmlns:a16="http://schemas.microsoft.com/office/drawing/2014/main" xmlns="" id="{18B4DB7A-DF93-D003-1771-1E9EF4D2D7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10489" y="5000626"/>
            <a:ext cx="53975" cy="857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3" name="Line 514">
            <a:extLst>
              <a:ext uri="{FF2B5EF4-FFF2-40B4-BE49-F238E27FC236}">
                <a16:creationId xmlns:a16="http://schemas.microsoft.com/office/drawing/2014/main" xmlns="" id="{198C48AC-B485-8D69-D45B-6A707CDE037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3164" y="5089525"/>
            <a:ext cx="1587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4" name="Line 515">
            <a:extLst>
              <a:ext uri="{FF2B5EF4-FFF2-40B4-BE49-F238E27FC236}">
                <a16:creationId xmlns:a16="http://schemas.microsoft.com/office/drawing/2014/main" xmlns="" id="{796CE7C3-985C-F658-A6A6-82FA74A2788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20038" y="5097463"/>
            <a:ext cx="0" cy="76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5" name="Line 516">
            <a:extLst>
              <a:ext uri="{FF2B5EF4-FFF2-40B4-BE49-F238E27FC236}">
                <a16:creationId xmlns:a16="http://schemas.microsoft.com/office/drawing/2014/main" xmlns="" id="{1F8F0417-D423-8338-6257-BEFA874BB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956176"/>
            <a:ext cx="503238" cy="2698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6" name="Line 517">
            <a:extLst>
              <a:ext uri="{FF2B5EF4-FFF2-40B4-BE49-F238E27FC236}">
                <a16:creationId xmlns:a16="http://schemas.microsoft.com/office/drawing/2014/main" xmlns="" id="{5C1AB6B0-CDA5-36A4-421B-B7EAC341F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0138" y="4891088"/>
            <a:ext cx="8096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137" name="Group 518">
            <a:extLst>
              <a:ext uri="{FF2B5EF4-FFF2-40B4-BE49-F238E27FC236}">
                <a16:creationId xmlns:a16="http://schemas.microsoft.com/office/drawing/2014/main" xmlns="" id="{E207DCCD-F6E3-23BE-C0FE-71AF47E85BA9}"/>
              </a:ext>
            </a:extLst>
          </p:cNvPr>
          <p:cNvGrpSpPr>
            <a:grpSpLocks/>
          </p:cNvGrpSpPr>
          <p:nvPr/>
        </p:nvGrpSpPr>
        <p:grpSpPr bwMode="auto">
          <a:xfrm>
            <a:off x="6635751" y="1651000"/>
            <a:ext cx="3021013" cy="3981450"/>
            <a:chOff x="-1203" y="1352"/>
            <a:chExt cx="1903" cy="2508"/>
          </a:xfrm>
        </p:grpSpPr>
        <p:grpSp>
          <p:nvGrpSpPr>
            <p:cNvPr id="1240" name="Group 519">
              <a:extLst>
                <a:ext uri="{FF2B5EF4-FFF2-40B4-BE49-F238E27FC236}">
                  <a16:creationId xmlns:a16="http://schemas.microsoft.com/office/drawing/2014/main" xmlns="" id="{7A2C99D9-421D-8FFF-437B-94DC6F3106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203" y="1647"/>
              <a:ext cx="436" cy="114"/>
              <a:chOff x="3072" y="739"/>
              <a:chExt cx="652" cy="146"/>
            </a:xfrm>
          </p:grpSpPr>
          <p:pic>
            <p:nvPicPr>
              <p:cNvPr id="1264" name="Picture 520" descr="lgv_fqmg[1]">
                <a:extLst>
                  <a:ext uri="{FF2B5EF4-FFF2-40B4-BE49-F238E27FC236}">
                    <a16:creationId xmlns:a16="http://schemas.microsoft.com/office/drawing/2014/main" xmlns="" id="{081B2379-F4D9-2C4B-003B-CEC0F126EF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237" y="739"/>
                <a:ext cx="487" cy="1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65" name="Line 521">
                <a:extLst>
                  <a:ext uri="{FF2B5EF4-FFF2-40B4-BE49-F238E27FC236}">
                    <a16:creationId xmlns:a16="http://schemas.microsoft.com/office/drawing/2014/main" xmlns="" id="{96A63B9A-3F06-31B4-723F-983E41C1A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04" y="784"/>
                <a:ext cx="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66" name="Line 522">
                <a:extLst>
                  <a:ext uri="{FF2B5EF4-FFF2-40B4-BE49-F238E27FC236}">
                    <a16:creationId xmlns:a16="http://schemas.microsoft.com/office/drawing/2014/main" xmlns="" id="{B0F324E5-541B-0773-85EF-E0035470D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72" y="7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pic>
          <p:nvPicPr>
            <p:cNvPr id="1241" name="Picture 523" descr="imgyjavg[1]">
              <a:extLst>
                <a:ext uri="{FF2B5EF4-FFF2-40B4-BE49-F238E27FC236}">
                  <a16:creationId xmlns:a16="http://schemas.microsoft.com/office/drawing/2014/main" xmlns="" id="{3730F41F-7F40-8839-8937-315C3C3C40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027" y="1466"/>
              <a:ext cx="232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42" name="Group 524">
              <a:extLst>
                <a:ext uri="{FF2B5EF4-FFF2-40B4-BE49-F238E27FC236}">
                  <a16:creationId xmlns:a16="http://schemas.microsoft.com/office/drawing/2014/main" xmlns="" id="{E93F1F48-4AE7-8FF1-3D3C-50F4914A77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546" y="1352"/>
              <a:ext cx="256" cy="269"/>
              <a:chOff x="2870" y="1518"/>
              <a:chExt cx="292" cy="320"/>
            </a:xfrm>
          </p:grpSpPr>
          <p:graphicFrame>
            <p:nvGraphicFramePr>
              <p:cNvPr id="1037" name="Object 525">
                <a:extLst>
                  <a:ext uri="{FF2B5EF4-FFF2-40B4-BE49-F238E27FC236}">
                    <a16:creationId xmlns:a16="http://schemas.microsoft.com/office/drawing/2014/main" xmlns="" id="{0443BAA2-0C7C-9CD6-80E3-353F3EF6F15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8" name="Clip" r:id="rId5" imgW="826829" imgH="840406" progId="MS_ClipArt_Gallery.2">
                      <p:embed/>
                    </p:oleObj>
                  </mc:Choice>
                  <mc:Fallback>
                    <p:oleObj name="Clip" r:id="rId5" imgW="826829" imgH="840406" progId="MS_ClipArt_Gallery.2">
                      <p:embed/>
                      <p:pic>
                        <p:nvPicPr>
                          <p:cNvPr id="1037" name="Object 525">
                            <a:extLst>
                              <a:ext uri="{FF2B5EF4-FFF2-40B4-BE49-F238E27FC236}">
                                <a16:creationId xmlns:a16="http://schemas.microsoft.com/office/drawing/2014/main" xmlns="" id="{0443BAA2-0C7C-9CD6-80E3-353F3EF6F15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8" name="Object 526">
                <a:extLst>
                  <a:ext uri="{FF2B5EF4-FFF2-40B4-BE49-F238E27FC236}">
                    <a16:creationId xmlns:a16="http://schemas.microsoft.com/office/drawing/2014/main" xmlns="" id="{C9367B22-3881-E9D2-4684-B1BD85E689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099" name="Clip" r:id="rId7" imgW="1268295" imgH="1199426" progId="MS_ClipArt_Gallery.2">
                      <p:embed/>
                    </p:oleObj>
                  </mc:Choice>
                  <mc:Fallback>
                    <p:oleObj name="Clip" r:id="rId7" imgW="1268295" imgH="1199426" progId="MS_ClipArt_Gallery.2">
                      <p:embed/>
                      <p:pic>
                        <p:nvPicPr>
                          <p:cNvPr id="1038" name="Object 526">
                            <a:extLst>
                              <a:ext uri="{FF2B5EF4-FFF2-40B4-BE49-F238E27FC236}">
                                <a16:creationId xmlns:a16="http://schemas.microsoft.com/office/drawing/2014/main" xmlns="" id="{C9367B22-3881-E9D2-4684-B1BD85E689D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43" name="Group 527">
              <a:extLst>
                <a:ext uri="{FF2B5EF4-FFF2-40B4-BE49-F238E27FC236}">
                  <a16:creationId xmlns:a16="http://schemas.microsoft.com/office/drawing/2014/main" xmlns="" id="{29D540E1-9403-7AE0-2437-1DACBB86A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002" y="2262"/>
              <a:ext cx="209" cy="224"/>
              <a:chOff x="2870" y="1518"/>
              <a:chExt cx="292" cy="320"/>
            </a:xfrm>
          </p:grpSpPr>
          <p:graphicFrame>
            <p:nvGraphicFramePr>
              <p:cNvPr id="1035" name="Object 528">
                <a:extLst>
                  <a:ext uri="{FF2B5EF4-FFF2-40B4-BE49-F238E27FC236}">
                    <a16:creationId xmlns:a16="http://schemas.microsoft.com/office/drawing/2014/main" xmlns="" id="{B9EE2930-6B9F-04AE-672B-C5776106E4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0" name="Clip" r:id="rId9" imgW="826829" imgH="840406" progId="MS_ClipArt_Gallery.2">
                      <p:embed/>
                    </p:oleObj>
                  </mc:Choice>
                  <mc:Fallback>
                    <p:oleObj name="Clip" r:id="rId9" imgW="826829" imgH="840406" progId="MS_ClipArt_Gallery.2">
                      <p:embed/>
                      <p:pic>
                        <p:nvPicPr>
                          <p:cNvPr id="1035" name="Object 528">
                            <a:extLst>
                              <a:ext uri="{FF2B5EF4-FFF2-40B4-BE49-F238E27FC236}">
                                <a16:creationId xmlns:a16="http://schemas.microsoft.com/office/drawing/2014/main" xmlns="" id="{B9EE2930-6B9F-04AE-672B-C5776106E48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6" name="Object 529">
                <a:extLst>
                  <a:ext uri="{FF2B5EF4-FFF2-40B4-BE49-F238E27FC236}">
                    <a16:creationId xmlns:a16="http://schemas.microsoft.com/office/drawing/2014/main" xmlns="" id="{77EDC8F0-68A2-C4EE-F7F0-5BCA828FA5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1" name="Clip" r:id="rId10" imgW="1268295" imgH="1199426" progId="MS_ClipArt_Gallery.2">
                      <p:embed/>
                    </p:oleObj>
                  </mc:Choice>
                  <mc:Fallback>
                    <p:oleObj name="Clip" r:id="rId10" imgW="1268295" imgH="1199426" progId="MS_ClipArt_Gallery.2">
                      <p:embed/>
                      <p:pic>
                        <p:nvPicPr>
                          <p:cNvPr id="1036" name="Object 529">
                            <a:extLst>
                              <a:ext uri="{FF2B5EF4-FFF2-40B4-BE49-F238E27FC236}">
                                <a16:creationId xmlns:a16="http://schemas.microsoft.com/office/drawing/2014/main" xmlns="" id="{77EDC8F0-68A2-C4EE-F7F0-5BCA828FA51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26" name="Object 530">
              <a:extLst>
                <a:ext uri="{FF2B5EF4-FFF2-40B4-BE49-F238E27FC236}">
                  <a16:creationId xmlns:a16="http://schemas.microsoft.com/office/drawing/2014/main" xmlns="" id="{8BAF2539-A155-1969-63FB-3CB35EDDBA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732" y="2289"/>
            <a:ext cx="2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name="Clip" r:id="rId11" imgW="1307263" imgH="1084139" progId="MS_ClipArt_Gallery.2">
                    <p:embed/>
                  </p:oleObj>
                </mc:Choice>
                <mc:Fallback>
                  <p:oleObj name="Clip" r:id="rId11" imgW="1307263" imgH="1084139" progId="MS_ClipArt_Gallery.2">
                    <p:embed/>
                    <p:pic>
                      <p:nvPicPr>
                        <p:cNvPr id="1026" name="Object 530">
                          <a:extLst>
                            <a:ext uri="{FF2B5EF4-FFF2-40B4-BE49-F238E27FC236}">
                              <a16:creationId xmlns:a16="http://schemas.microsoft.com/office/drawing/2014/main" xmlns="" id="{8BAF2539-A155-1969-63FB-3CB35EDDBA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32" y="2289"/>
                          <a:ext cx="2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4" name="Group 531">
              <a:extLst>
                <a:ext uri="{FF2B5EF4-FFF2-40B4-BE49-F238E27FC236}">
                  <a16:creationId xmlns:a16="http://schemas.microsoft.com/office/drawing/2014/main" xmlns="" id="{F7A5071C-9876-F0B3-0876-F5B74223D8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" y="3575"/>
              <a:ext cx="125" cy="230"/>
              <a:chOff x="4180" y="783"/>
              <a:chExt cx="150" cy="307"/>
            </a:xfrm>
          </p:grpSpPr>
          <p:sp>
            <p:nvSpPr>
              <p:cNvPr id="1256" name="AutoShape 532">
                <a:extLst>
                  <a:ext uri="{FF2B5EF4-FFF2-40B4-BE49-F238E27FC236}">
                    <a16:creationId xmlns:a16="http://schemas.microsoft.com/office/drawing/2014/main" xmlns="" id="{5207725F-D60A-5CAA-F624-A20AF207D5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7" name="Rectangle 533">
                <a:extLst>
                  <a:ext uri="{FF2B5EF4-FFF2-40B4-BE49-F238E27FC236}">
                    <a16:creationId xmlns:a16="http://schemas.microsoft.com/office/drawing/2014/main" xmlns="" id="{03CAA667-BD0B-EA7B-B982-8EF4C2C02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8" name="Rectangle 534">
                <a:extLst>
                  <a:ext uri="{FF2B5EF4-FFF2-40B4-BE49-F238E27FC236}">
                    <a16:creationId xmlns:a16="http://schemas.microsoft.com/office/drawing/2014/main" xmlns="" id="{522535C1-13CD-1761-7A47-C5915791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9" name="AutoShape 535">
                <a:extLst>
                  <a:ext uri="{FF2B5EF4-FFF2-40B4-BE49-F238E27FC236}">
                    <a16:creationId xmlns:a16="http://schemas.microsoft.com/office/drawing/2014/main" xmlns="" id="{F8BC2770-79C7-0F1D-38F7-0ECA34B6E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60" name="Line 536">
                <a:extLst>
                  <a:ext uri="{FF2B5EF4-FFF2-40B4-BE49-F238E27FC236}">
                    <a16:creationId xmlns:a16="http://schemas.microsoft.com/office/drawing/2014/main" xmlns="" id="{55D2C915-0EF6-1170-7D5A-105965033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61" name="Line 537">
                <a:extLst>
                  <a:ext uri="{FF2B5EF4-FFF2-40B4-BE49-F238E27FC236}">
                    <a16:creationId xmlns:a16="http://schemas.microsoft.com/office/drawing/2014/main" xmlns="" id="{FAEA7B3C-AAF6-E359-9BF1-2C0959114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62" name="Rectangle 538">
                <a:extLst>
                  <a:ext uri="{FF2B5EF4-FFF2-40B4-BE49-F238E27FC236}">
                    <a16:creationId xmlns:a16="http://schemas.microsoft.com/office/drawing/2014/main" xmlns="" id="{957E10AB-3394-8DDE-EFD9-BBEE02525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63" name="Rectangle 539">
                <a:extLst>
                  <a:ext uri="{FF2B5EF4-FFF2-40B4-BE49-F238E27FC236}">
                    <a16:creationId xmlns:a16="http://schemas.microsoft.com/office/drawing/2014/main" xmlns="" id="{D4F40B63-68C5-57A9-C35B-645C5B834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graphicFrame>
          <p:nvGraphicFramePr>
            <p:cNvPr id="1027" name="Object 540">
              <a:extLst>
                <a:ext uri="{FF2B5EF4-FFF2-40B4-BE49-F238E27FC236}">
                  <a16:creationId xmlns:a16="http://schemas.microsoft.com/office/drawing/2014/main" xmlns="" id="{8B4E5D69-89C7-8C0F-74CD-9D28A0F7D6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975" y="33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" name="Clip" r:id="rId13" imgW="1307263" imgH="1084139" progId="MS_ClipArt_Gallery.2">
                    <p:embed/>
                  </p:oleObj>
                </mc:Choice>
                <mc:Fallback>
                  <p:oleObj name="Clip" r:id="rId13" imgW="1307263" imgH="1084139" progId="MS_ClipArt_Gallery.2">
                    <p:embed/>
                    <p:pic>
                      <p:nvPicPr>
                        <p:cNvPr id="1027" name="Object 540">
                          <a:extLst>
                            <a:ext uri="{FF2B5EF4-FFF2-40B4-BE49-F238E27FC236}">
                              <a16:creationId xmlns:a16="http://schemas.microsoft.com/office/drawing/2014/main" xmlns="" id="{8B4E5D69-89C7-8C0F-74CD-9D28A0F7D6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975" y="33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" name="Object 541">
              <a:extLst>
                <a:ext uri="{FF2B5EF4-FFF2-40B4-BE49-F238E27FC236}">
                  <a16:creationId xmlns:a16="http://schemas.microsoft.com/office/drawing/2014/main" xmlns="" id="{40B490DE-5DAA-67DD-2728-3A15DC735D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871" y="318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Clip" r:id="rId14" imgW="1307263" imgH="1084139" progId="MS_ClipArt_Gallery.2">
                    <p:embed/>
                  </p:oleObj>
                </mc:Choice>
                <mc:Fallback>
                  <p:oleObj name="Clip" r:id="rId14" imgW="1307263" imgH="1084139" progId="MS_ClipArt_Gallery.2">
                    <p:embed/>
                    <p:pic>
                      <p:nvPicPr>
                        <p:cNvPr id="1028" name="Object 541">
                          <a:extLst>
                            <a:ext uri="{FF2B5EF4-FFF2-40B4-BE49-F238E27FC236}">
                              <a16:creationId xmlns:a16="http://schemas.microsoft.com/office/drawing/2014/main" xmlns="" id="{40B490DE-5DAA-67DD-2728-3A15DC735D8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71" y="318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" name="Object 542">
              <a:extLst>
                <a:ext uri="{FF2B5EF4-FFF2-40B4-BE49-F238E27FC236}">
                  <a16:creationId xmlns:a16="http://schemas.microsoft.com/office/drawing/2014/main" xmlns="" id="{F7C291B4-44F4-1D20-6904-E77295E92E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703" y="3544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5" name="Clip" r:id="rId15" imgW="1307263" imgH="1084139" progId="MS_ClipArt_Gallery.2">
                    <p:embed/>
                  </p:oleObj>
                </mc:Choice>
                <mc:Fallback>
                  <p:oleObj name="Clip" r:id="rId15" imgW="1307263" imgH="1084139" progId="MS_ClipArt_Gallery.2">
                    <p:embed/>
                    <p:pic>
                      <p:nvPicPr>
                        <p:cNvPr id="1029" name="Object 542">
                          <a:extLst>
                            <a:ext uri="{FF2B5EF4-FFF2-40B4-BE49-F238E27FC236}">
                              <a16:creationId xmlns:a16="http://schemas.microsoft.com/office/drawing/2014/main" xmlns="" id="{F7C291B4-44F4-1D20-6904-E77295E92E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03" y="3544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0" name="Object 543">
              <a:extLst>
                <a:ext uri="{FF2B5EF4-FFF2-40B4-BE49-F238E27FC236}">
                  <a16:creationId xmlns:a16="http://schemas.microsoft.com/office/drawing/2014/main" xmlns="" id="{5A31B0CA-A89A-4A1E-CC68-2289E64661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-489" y="3546"/>
            <a:ext cx="21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6" name="Clip" r:id="rId16" imgW="1307263" imgH="1084139" progId="MS_ClipArt_Gallery.2">
                    <p:embed/>
                  </p:oleObj>
                </mc:Choice>
                <mc:Fallback>
                  <p:oleObj name="Clip" r:id="rId16" imgW="1307263" imgH="1084139" progId="MS_ClipArt_Gallery.2">
                    <p:embed/>
                    <p:pic>
                      <p:nvPicPr>
                        <p:cNvPr id="1030" name="Object 543">
                          <a:extLst>
                            <a:ext uri="{FF2B5EF4-FFF2-40B4-BE49-F238E27FC236}">
                              <a16:creationId xmlns:a16="http://schemas.microsoft.com/office/drawing/2014/main" xmlns="" id="{5A31B0CA-A89A-4A1E-CC68-2289E646617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489" y="3546"/>
                          <a:ext cx="21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45" name="Group 544">
              <a:extLst>
                <a:ext uri="{FF2B5EF4-FFF2-40B4-BE49-F238E27FC236}">
                  <a16:creationId xmlns:a16="http://schemas.microsoft.com/office/drawing/2014/main" xmlns="" id="{ACD436E9-1671-04A1-5B3F-04CF872861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" y="3625"/>
              <a:ext cx="172" cy="215"/>
              <a:chOff x="2870" y="1518"/>
              <a:chExt cx="292" cy="320"/>
            </a:xfrm>
          </p:grpSpPr>
          <p:graphicFrame>
            <p:nvGraphicFramePr>
              <p:cNvPr id="1033" name="Object 545">
                <a:extLst>
                  <a:ext uri="{FF2B5EF4-FFF2-40B4-BE49-F238E27FC236}">
                    <a16:creationId xmlns:a16="http://schemas.microsoft.com/office/drawing/2014/main" xmlns="" id="{4996EB77-F6E7-FAFB-E4E5-50D8D48BBEE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7" name="Clip" r:id="rId17" imgW="826829" imgH="840406" progId="MS_ClipArt_Gallery.2">
                      <p:embed/>
                    </p:oleObj>
                  </mc:Choice>
                  <mc:Fallback>
                    <p:oleObj name="Clip" r:id="rId17" imgW="826829" imgH="840406" progId="MS_ClipArt_Gallery.2">
                      <p:embed/>
                      <p:pic>
                        <p:nvPicPr>
                          <p:cNvPr id="1033" name="Object 545">
                            <a:extLst>
                              <a:ext uri="{FF2B5EF4-FFF2-40B4-BE49-F238E27FC236}">
                                <a16:creationId xmlns:a16="http://schemas.microsoft.com/office/drawing/2014/main" xmlns="" id="{4996EB77-F6E7-FAFB-E4E5-50D8D48BBE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4" name="Object 546">
                <a:extLst>
                  <a:ext uri="{FF2B5EF4-FFF2-40B4-BE49-F238E27FC236}">
                    <a16:creationId xmlns:a16="http://schemas.microsoft.com/office/drawing/2014/main" xmlns="" id="{8D7AFA52-D619-367D-3155-75C9C25046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8" name="Clip" r:id="rId18" imgW="1268295" imgH="1199426" progId="MS_ClipArt_Gallery.2">
                      <p:embed/>
                    </p:oleObj>
                  </mc:Choice>
                  <mc:Fallback>
                    <p:oleObj name="Clip" r:id="rId18" imgW="1268295" imgH="1199426" progId="MS_ClipArt_Gallery.2">
                      <p:embed/>
                      <p:pic>
                        <p:nvPicPr>
                          <p:cNvPr id="1034" name="Object 546">
                            <a:extLst>
                              <a:ext uri="{FF2B5EF4-FFF2-40B4-BE49-F238E27FC236}">
                                <a16:creationId xmlns:a16="http://schemas.microsoft.com/office/drawing/2014/main" xmlns="" id="{8D7AFA52-D619-367D-3155-75C9C250460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46" name="Group 547">
              <a:extLst>
                <a:ext uri="{FF2B5EF4-FFF2-40B4-BE49-F238E27FC236}">
                  <a16:creationId xmlns:a16="http://schemas.microsoft.com/office/drawing/2014/main" xmlns="" id="{D4EC42C3-53F3-39A0-77FC-2ECBEF482A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201" y="3657"/>
              <a:ext cx="220" cy="203"/>
              <a:chOff x="2870" y="1518"/>
              <a:chExt cx="292" cy="320"/>
            </a:xfrm>
          </p:grpSpPr>
          <p:graphicFrame>
            <p:nvGraphicFramePr>
              <p:cNvPr id="1031" name="Object 548">
                <a:extLst>
                  <a:ext uri="{FF2B5EF4-FFF2-40B4-BE49-F238E27FC236}">
                    <a16:creationId xmlns:a16="http://schemas.microsoft.com/office/drawing/2014/main" xmlns="" id="{979B1C1A-2090-E060-A4E1-082E76A0D83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09" name="Clip" r:id="rId19" imgW="826829" imgH="840406" progId="MS_ClipArt_Gallery.2">
                      <p:embed/>
                    </p:oleObj>
                  </mc:Choice>
                  <mc:Fallback>
                    <p:oleObj name="Clip" r:id="rId19" imgW="826829" imgH="840406" progId="MS_ClipArt_Gallery.2">
                      <p:embed/>
                      <p:pic>
                        <p:nvPicPr>
                          <p:cNvPr id="1031" name="Object 548">
                            <a:extLst>
                              <a:ext uri="{FF2B5EF4-FFF2-40B4-BE49-F238E27FC236}">
                                <a16:creationId xmlns:a16="http://schemas.microsoft.com/office/drawing/2014/main" xmlns="" id="{979B1C1A-2090-E060-A4E1-082E76A0D8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2" name="Object 549">
                <a:extLst>
                  <a:ext uri="{FF2B5EF4-FFF2-40B4-BE49-F238E27FC236}">
                    <a16:creationId xmlns:a16="http://schemas.microsoft.com/office/drawing/2014/main" xmlns="" id="{4FE70B4B-01A0-583B-A596-C1B031B6D8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10" name="Clip" r:id="rId20" imgW="1268295" imgH="1199426" progId="MS_ClipArt_Gallery.2">
                      <p:embed/>
                    </p:oleObj>
                  </mc:Choice>
                  <mc:Fallback>
                    <p:oleObj name="Clip" r:id="rId20" imgW="1268295" imgH="1199426" progId="MS_ClipArt_Gallery.2">
                      <p:embed/>
                      <p:pic>
                        <p:nvPicPr>
                          <p:cNvPr id="1032" name="Object 549">
                            <a:extLst>
                              <a:ext uri="{FF2B5EF4-FFF2-40B4-BE49-F238E27FC236}">
                                <a16:creationId xmlns:a16="http://schemas.microsoft.com/office/drawing/2014/main" xmlns="" id="{4FE70B4B-01A0-583B-A596-C1B031B6D8F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47" name="Group 550">
              <a:extLst>
                <a:ext uri="{FF2B5EF4-FFF2-40B4-BE49-F238E27FC236}">
                  <a16:creationId xmlns:a16="http://schemas.microsoft.com/office/drawing/2014/main" xmlns="" id="{F2DFE5A9-4D36-782E-C1E6-3749776613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9" y="3419"/>
              <a:ext cx="131" cy="258"/>
              <a:chOff x="4180" y="783"/>
              <a:chExt cx="150" cy="307"/>
            </a:xfrm>
          </p:grpSpPr>
          <p:sp>
            <p:nvSpPr>
              <p:cNvPr id="1248" name="AutoShape 551">
                <a:extLst>
                  <a:ext uri="{FF2B5EF4-FFF2-40B4-BE49-F238E27FC236}">
                    <a16:creationId xmlns:a16="http://schemas.microsoft.com/office/drawing/2014/main" xmlns="" id="{D5C8BDBC-A75A-E369-8E6F-043A5B493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49" name="Rectangle 552">
                <a:extLst>
                  <a:ext uri="{FF2B5EF4-FFF2-40B4-BE49-F238E27FC236}">
                    <a16:creationId xmlns:a16="http://schemas.microsoft.com/office/drawing/2014/main" xmlns="" id="{D6B15005-EE2C-3C99-F8AF-05D78179D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0" name="Rectangle 553">
                <a:extLst>
                  <a:ext uri="{FF2B5EF4-FFF2-40B4-BE49-F238E27FC236}">
                    <a16:creationId xmlns:a16="http://schemas.microsoft.com/office/drawing/2014/main" xmlns="" id="{476AD8DD-AE65-C358-B922-54563B7D7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1" name="AutoShape 554">
                <a:extLst>
                  <a:ext uri="{FF2B5EF4-FFF2-40B4-BE49-F238E27FC236}">
                    <a16:creationId xmlns:a16="http://schemas.microsoft.com/office/drawing/2014/main" xmlns="" id="{9C87F1FB-5259-F3CE-1617-E249B9716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2" name="Line 555">
                <a:extLst>
                  <a:ext uri="{FF2B5EF4-FFF2-40B4-BE49-F238E27FC236}">
                    <a16:creationId xmlns:a16="http://schemas.microsoft.com/office/drawing/2014/main" xmlns="" id="{11F54707-D4BF-D116-FA30-D716D29A3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53" name="Line 556">
                <a:extLst>
                  <a:ext uri="{FF2B5EF4-FFF2-40B4-BE49-F238E27FC236}">
                    <a16:creationId xmlns:a16="http://schemas.microsoft.com/office/drawing/2014/main" xmlns="" id="{7452D25E-7DEB-FF34-CCEC-C0546DA4D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54" name="Rectangle 557">
                <a:extLst>
                  <a:ext uri="{FF2B5EF4-FFF2-40B4-BE49-F238E27FC236}">
                    <a16:creationId xmlns:a16="http://schemas.microsoft.com/office/drawing/2014/main" xmlns="" id="{215DED68-D746-12B0-166B-35E737271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255" name="Rectangle 558">
                <a:extLst>
                  <a:ext uri="{FF2B5EF4-FFF2-40B4-BE49-F238E27FC236}">
                    <a16:creationId xmlns:a16="http://schemas.microsoft.com/office/drawing/2014/main" xmlns="" id="{EBCB151F-B882-D6DA-B85A-DA7D30074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1138" name="Line 559">
            <a:extLst>
              <a:ext uri="{FF2B5EF4-FFF2-40B4-BE49-F238E27FC236}">
                <a16:creationId xmlns:a16="http://schemas.microsoft.com/office/drawing/2014/main" xmlns="" id="{62C08019-9854-8508-9262-BE3DE43930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39039" y="3413126"/>
            <a:ext cx="3175" cy="144463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39" name="Line 560">
            <a:extLst>
              <a:ext uri="{FF2B5EF4-FFF2-40B4-BE49-F238E27FC236}">
                <a16:creationId xmlns:a16="http://schemas.microsoft.com/office/drawing/2014/main" xmlns="" id="{90546648-E7E5-5722-3CA4-EFA06862BA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026" y="2395538"/>
            <a:ext cx="123825" cy="87312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0" name="Line 561">
            <a:extLst>
              <a:ext uri="{FF2B5EF4-FFF2-40B4-BE49-F238E27FC236}">
                <a16:creationId xmlns:a16="http://schemas.microsoft.com/office/drawing/2014/main" xmlns="" id="{0FE06BAF-0B41-7956-3D33-8494761B8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62988" y="2568575"/>
            <a:ext cx="0" cy="825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1" name="Line 562">
            <a:extLst>
              <a:ext uri="{FF2B5EF4-FFF2-40B4-BE49-F238E27FC236}">
                <a16:creationId xmlns:a16="http://schemas.microsoft.com/office/drawing/2014/main" xmlns="" id="{0B15BB67-4DD9-8112-1E09-8E97C6B850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4439" y="2465389"/>
            <a:ext cx="263525" cy="28892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2" name="Line 563">
            <a:extLst>
              <a:ext uri="{FF2B5EF4-FFF2-40B4-BE49-F238E27FC236}">
                <a16:creationId xmlns:a16="http://schemas.microsoft.com/office/drawing/2014/main" xmlns="" id="{956AECC1-4CFF-3A9C-17EB-3F7143A34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563" y="2463800"/>
            <a:ext cx="0" cy="196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3" name="Line 564">
            <a:extLst>
              <a:ext uri="{FF2B5EF4-FFF2-40B4-BE49-F238E27FC236}">
                <a16:creationId xmlns:a16="http://schemas.microsoft.com/office/drawing/2014/main" xmlns="" id="{68116019-B423-A005-A23C-4D59CD164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53488" y="2770188"/>
            <a:ext cx="188912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4" name="Line 565">
            <a:extLst>
              <a:ext uri="{FF2B5EF4-FFF2-40B4-BE49-F238E27FC236}">
                <a16:creationId xmlns:a16="http://schemas.microsoft.com/office/drawing/2014/main" xmlns="" id="{E5B583CC-78EA-DEAF-AB6B-DF49226DD2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8514" y="3636964"/>
            <a:ext cx="168275" cy="31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5" name="Line 566">
            <a:extLst>
              <a:ext uri="{FF2B5EF4-FFF2-40B4-BE49-F238E27FC236}">
                <a16:creationId xmlns:a16="http://schemas.microsoft.com/office/drawing/2014/main" xmlns="" id="{9757A7B0-3ACD-6C4E-EB19-2D81965513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67826" y="2163764"/>
            <a:ext cx="238125" cy="1682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6" name="Line 567">
            <a:extLst>
              <a:ext uri="{FF2B5EF4-FFF2-40B4-BE49-F238E27FC236}">
                <a16:creationId xmlns:a16="http://schemas.microsoft.com/office/drawing/2014/main" xmlns="" id="{AE3C04E7-0443-424B-2DCE-3000D2696381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525" y="2760663"/>
            <a:ext cx="1778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7" name="Line 568">
            <a:extLst>
              <a:ext uri="{FF2B5EF4-FFF2-40B4-BE49-F238E27FC236}">
                <a16:creationId xmlns:a16="http://schemas.microsoft.com/office/drawing/2014/main" xmlns="" id="{7FDB5DC9-80C4-6A79-59CE-6250A6F165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53451" y="2836863"/>
            <a:ext cx="98425" cy="70485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8" name="Line 569">
            <a:extLst>
              <a:ext uri="{FF2B5EF4-FFF2-40B4-BE49-F238E27FC236}">
                <a16:creationId xmlns:a16="http://schemas.microsoft.com/office/drawing/2014/main" xmlns="" id="{6F641294-7690-F4F9-0C7E-B180FF92DD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144001" y="2836864"/>
            <a:ext cx="111125" cy="727075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1149" name="Group 570">
            <a:extLst>
              <a:ext uri="{FF2B5EF4-FFF2-40B4-BE49-F238E27FC236}">
                <a16:creationId xmlns:a16="http://schemas.microsoft.com/office/drawing/2014/main" xmlns="" id="{8C83EE89-FC96-F27A-D3CA-31FE41E0A301}"/>
              </a:ext>
            </a:extLst>
          </p:cNvPr>
          <p:cNvGrpSpPr>
            <a:grpSpLocks/>
          </p:cNvGrpSpPr>
          <p:nvPr/>
        </p:nvGrpSpPr>
        <p:grpSpPr bwMode="auto">
          <a:xfrm>
            <a:off x="8196263" y="4454525"/>
            <a:ext cx="501650" cy="234950"/>
            <a:chOff x="4701" y="2996"/>
            <a:chExt cx="316" cy="148"/>
          </a:xfrm>
        </p:grpSpPr>
        <p:sp>
          <p:nvSpPr>
            <p:cNvPr id="1227" name="Oval 571">
              <a:extLst>
                <a:ext uri="{FF2B5EF4-FFF2-40B4-BE49-F238E27FC236}">
                  <a16:creationId xmlns:a16="http://schemas.microsoft.com/office/drawing/2014/main" xmlns="" id="{A252A74E-D943-3B79-A541-CF6933C0B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28" name="Line 572">
              <a:extLst>
                <a:ext uri="{FF2B5EF4-FFF2-40B4-BE49-F238E27FC236}">
                  <a16:creationId xmlns:a16="http://schemas.microsoft.com/office/drawing/2014/main" xmlns="" id="{BEB92208-2970-F3F9-2D71-8E071C178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29" name="Line 573">
              <a:extLst>
                <a:ext uri="{FF2B5EF4-FFF2-40B4-BE49-F238E27FC236}">
                  <a16:creationId xmlns:a16="http://schemas.microsoft.com/office/drawing/2014/main" xmlns="" id="{4FBBCA68-8B84-ECBF-A83C-DD1B248C0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30" name="Rectangle 574">
              <a:extLst>
                <a:ext uri="{FF2B5EF4-FFF2-40B4-BE49-F238E27FC236}">
                  <a16:creationId xmlns:a16="http://schemas.microsoft.com/office/drawing/2014/main" xmlns="" id="{34D0C044-1A4C-290A-D242-FC9B277A0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31" name="Oval 575">
              <a:extLst>
                <a:ext uri="{FF2B5EF4-FFF2-40B4-BE49-F238E27FC236}">
                  <a16:creationId xmlns:a16="http://schemas.microsoft.com/office/drawing/2014/main" xmlns="" id="{EDD427C7-CA55-76FC-54DB-D62D92129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32" name="Group 576">
              <a:extLst>
                <a:ext uri="{FF2B5EF4-FFF2-40B4-BE49-F238E27FC236}">
                  <a16:creationId xmlns:a16="http://schemas.microsoft.com/office/drawing/2014/main" xmlns="" id="{53D231ED-01C4-FB27-86F0-544BC71245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237" name="Line 577">
                <a:extLst>
                  <a:ext uri="{FF2B5EF4-FFF2-40B4-BE49-F238E27FC236}">
                    <a16:creationId xmlns:a16="http://schemas.microsoft.com/office/drawing/2014/main" xmlns="" id="{02EB6BE0-2624-3492-C1EB-1DFC9945E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38" name="Line 578">
                <a:extLst>
                  <a:ext uri="{FF2B5EF4-FFF2-40B4-BE49-F238E27FC236}">
                    <a16:creationId xmlns:a16="http://schemas.microsoft.com/office/drawing/2014/main" xmlns="" id="{E54C0C7A-8FA7-36A8-7316-95B548F66A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39" name="Line 579">
                <a:extLst>
                  <a:ext uri="{FF2B5EF4-FFF2-40B4-BE49-F238E27FC236}">
                    <a16:creationId xmlns:a16="http://schemas.microsoft.com/office/drawing/2014/main" xmlns="" id="{1CB9BF76-BC8A-267A-449E-E7DCB452E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233" name="Group 580">
              <a:extLst>
                <a:ext uri="{FF2B5EF4-FFF2-40B4-BE49-F238E27FC236}">
                  <a16:creationId xmlns:a16="http://schemas.microsoft.com/office/drawing/2014/main" xmlns="" id="{52DDE9C3-6474-26E1-9B34-756BDC8B78C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234" name="Line 581">
                <a:extLst>
                  <a:ext uri="{FF2B5EF4-FFF2-40B4-BE49-F238E27FC236}">
                    <a16:creationId xmlns:a16="http://schemas.microsoft.com/office/drawing/2014/main" xmlns="" id="{29FF1B78-7EE9-0AF8-B043-52B6274C2D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35" name="Line 582">
                <a:extLst>
                  <a:ext uri="{FF2B5EF4-FFF2-40B4-BE49-F238E27FC236}">
                    <a16:creationId xmlns:a16="http://schemas.microsoft.com/office/drawing/2014/main" xmlns="" id="{202C4872-5D94-26B3-11A0-F9E51960E8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36" name="Line 583">
                <a:extLst>
                  <a:ext uri="{FF2B5EF4-FFF2-40B4-BE49-F238E27FC236}">
                    <a16:creationId xmlns:a16="http://schemas.microsoft.com/office/drawing/2014/main" xmlns="" id="{167A315A-DA7D-63B4-753A-FB70BD135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grpSp>
        <p:nvGrpSpPr>
          <p:cNvPr id="1150" name="Group 584">
            <a:extLst>
              <a:ext uri="{FF2B5EF4-FFF2-40B4-BE49-F238E27FC236}">
                <a16:creationId xmlns:a16="http://schemas.microsoft.com/office/drawing/2014/main" xmlns="" id="{0F67CC1B-3785-671B-6016-54B8EC69CBF1}"/>
              </a:ext>
            </a:extLst>
          </p:cNvPr>
          <p:cNvGrpSpPr>
            <a:grpSpLocks/>
          </p:cNvGrpSpPr>
          <p:nvPr/>
        </p:nvGrpSpPr>
        <p:grpSpPr bwMode="auto">
          <a:xfrm>
            <a:off x="7531100" y="4756150"/>
            <a:ext cx="501650" cy="234950"/>
            <a:chOff x="4701" y="2996"/>
            <a:chExt cx="316" cy="148"/>
          </a:xfrm>
        </p:grpSpPr>
        <p:sp>
          <p:nvSpPr>
            <p:cNvPr id="1214" name="Oval 585">
              <a:extLst>
                <a:ext uri="{FF2B5EF4-FFF2-40B4-BE49-F238E27FC236}">
                  <a16:creationId xmlns:a16="http://schemas.microsoft.com/office/drawing/2014/main" xmlns="" id="{D243F85D-864C-10D1-1239-3BEDCAF7D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62"/>
              <a:ext cx="313" cy="82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15" name="Line 586">
              <a:extLst>
                <a:ext uri="{FF2B5EF4-FFF2-40B4-BE49-F238E27FC236}">
                  <a16:creationId xmlns:a16="http://schemas.microsoft.com/office/drawing/2014/main" xmlns="" id="{F1EF812B-E61B-F78E-65A8-72396BDAB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16" name="Line 587">
              <a:extLst>
                <a:ext uri="{FF2B5EF4-FFF2-40B4-BE49-F238E27FC236}">
                  <a16:creationId xmlns:a16="http://schemas.microsoft.com/office/drawing/2014/main" xmlns="" id="{DE79777A-799A-81F5-50CF-8D41E1355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7" y="3055"/>
              <a:ext cx="0" cy="51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17" name="Rectangle 588">
              <a:extLst>
                <a:ext uri="{FF2B5EF4-FFF2-40B4-BE49-F238E27FC236}">
                  <a16:creationId xmlns:a16="http://schemas.microsoft.com/office/drawing/2014/main" xmlns="" id="{B84A2109-8BED-8E53-6BF6-79CE21FF6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055"/>
              <a:ext cx="310" cy="5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218" name="Oval 589">
              <a:extLst>
                <a:ext uri="{FF2B5EF4-FFF2-40B4-BE49-F238E27FC236}">
                  <a16:creationId xmlns:a16="http://schemas.microsoft.com/office/drawing/2014/main" xmlns="" id="{A09C925A-1C8A-4D3B-5FBC-7329B3352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2996"/>
              <a:ext cx="313" cy="96"/>
            </a:xfrm>
            <a:prstGeom prst="ellipse">
              <a:avLst/>
            </a:prstGeom>
            <a:solidFill>
              <a:srgbClr val="DDDDDD"/>
            </a:solidFill>
            <a:ln w="127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219" name="Group 590">
              <a:extLst>
                <a:ext uri="{FF2B5EF4-FFF2-40B4-BE49-F238E27FC236}">
                  <a16:creationId xmlns:a16="http://schemas.microsoft.com/office/drawing/2014/main" xmlns="" id="{E796A603-1848-8363-2857-AE7EE72017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6" y="3017"/>
              <a:ext cx="156" cy="56"/>
              <a:chOff x="2848" y="848"/>
              <a:chExt cx="140" cy="98"/>
            </a:xfrm>
          </p:grpSpPr>
          <p:sp>
            <p:nvSpPr>
              <p:cNvPr id="1224" name="Line 591">
                <a:extLst>
                  <a:ext uri="{FF2B5EF4-FFF2-40B4-BE49-F238E27FC236}">
                    <a16:creationId xmlns:a16="http://schemas.microsoft.com/office/drawing/2014/main" xmlns="" id="{BB19864E-AEC1-8F5F-0165-24BF7CEA3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25" name="Line 592">
                <a:extLst>
                  <a:ext uri="{FF2B5EF4-FFF2-40B4-BE49-F238E27FC236}">
                    <a16:creationId xmlns:a16="http://schemas.microsoft.com/office/drawing/2014/main" xmlns="" id="{26A786DA-CFD9-FF03-994C-BE925A7670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26" name="Line 593">
                <a:extLst>
                  <a:ext uri="{FF2B5EF4-FFF2-40B4-BE49-F238E27FC236}">
                    <a16:creationId xmlns:a16="http://schemas.microsoft.com/office/drawing/2014/main" xmlns="" id="{BFF8AB81-9BA9-6C26-2F33-F1DCA0DB7F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220" name="Group 594">
              <a:extLst>
                <a:ext uri="{FF2B5EF4-FFF2-40B4-BE49-F238E27FC236}">
                  <a16:creationId xmlns:a16="http://schemas.microsoft.com/office/drawing/2014/main" xmlns="" id="{6C99CB6C-0FC2-687B-B8A5-E6A46FD7052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776" y="3016"/>
              <a:ext cx="156" cy="56"/>
              <a:chOff x="2848" y="848"/>
              <a:chExt cx="140" cy="98"/>
            </a:xfrm>
          </p:grpSpPr>
          <p:sp>
            <p:nvSpPr>
              <p:cNvPr id="1221" name="Line 595">
                <a:extLst>
                  <a:ext uri="{FF2B5EF4-FFF2-40B4-BE49-F238E27FC236}">
                    <a16:creationId xmlns:a16="http://schemas.microsoft.com/office/drawing/2014/main" xmlns="" id="{1360243D-808C-D883-75C1-674B3AC6E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22" name="Line 596">
                <a:extLst>
                  <a:ext uri="{FF2B5EF4-FFF2-40B4-BE49-F238E27FC236}">
                    <a16:creationId xmlns:a16="http://schemas.microsoft.com/office/drawing/2014/main" xmlns="" id="{FA77F920-E77E-6923-558F-52672B532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23" name="Line 597">
                <a:extLst>
                  <a:ext uri="{FF2B5EF4-FFF2-40B4-BE49-F238E27FC236}">
                    <a16:creationId xmlns:a16="http://schemas.microsoft.com/office/drawing/2014/main" xmlns="" id="{9DCB2EF7-A1A1-BF9F-FD9C-5EE9109BC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grpSp>
        <p:nvGrpSpPr>
          <p:cNvPr id="1151" name="Group 598">
            <a:extLst>
              <a:ext uri="{FF2B5EF4-FFF2-40B4-BE49-F238E27FC236}">
                <a16:creationId xmlns:a16="http://schemas.microsoft.com/office/drawing/2014/main" xmlns="" id="{D6220CAC-26FA-8D50-C6DB-1A4F1725A424}"/>
              </a:ext>
            </a:extLst>
          </p:cNvPr>
          <p:cNvGrpSpPr>
            <a:grpSpLocks/>
          </p:cNvGrpSpPr>
          <p:nvPr/>
        </p:nvGrpSpPr>
        <p:grpSpPr bwMode="auto">
          <a:xfrm>
            <a:off x="8361363" y="4941888"/>
            <a:ext cx="290512" cy="404812"/>
            <a:chOff x="4290" y="3130"/>
            <a:chExt cx="183" cy="255"/>
          </a:xfrm>
        </p:grpSpPr>
        <p:pic>
          <p:nvPicPr>
            <p:cNvPr id="1196" name="Picture 599" descr="31u_bnrz[1]">
              <a:extLst>
                <a:ext uri="{FF2B5EF4-FFF2-40B4-BE49-F238E27FC236}">
                  <a16:creationId xmlns:a16="http://schemas.microsoft.com/office/drawing/2014/main" xmlns="" id="{1385B9D9-B479-DD4C-F62A-6FF61660F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7" name="Freeform 600">
              <a:extLst>
                <a:ext uri="{FF2B5EF4-FFF2-40B4-BE49-F238E27FC236}">
                  <a16:creationId xmlns:a16="http://schemas.microsoft.com/office/drawing/2014/main" xmlns="" id="{2DDAD822-CA05-4A4B-5E4D-B5B7DD09C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8" name="Freeform 601">
              <a:extLst>
                <a:ext uri="{FF2B5EF4-FFF2-40B4-BE49-F238E27FC236}">
                  <a16:creationId xmlns:a16="http://schemas.microsoft.com/office/drawing/2014/main" xmlns="" id="{AF75A090-AF16-D2FA-16BB-3CDC1C41C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9" name="Freeform 602">
              <a:extLst>
                <a:ext uri="{FF2B5EF4-FFF2-40B4-BE49-F238E27FC236}">
                  <a16:creationId xmlns:a16="http://schemas.microsoft.com/office/drawing/2014/main" xmlns="" id="{8F57B8E8-D2AD-49CF-19C7-A03FEE23F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0" name="Freeform 603">
              <a:extLst>
                <a:ext uri="{FF2B5EF4-FFF2-40B4-BE49-F238E27FC236}">
                  <a16:creationId xmlns:a16="http://schemas.microsoft.com/office/drawing/2014/main" xmlns="" id="{42798F7B-2A92-2410-14DD-263022F4D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1" name="Freeform 604">
              <a:extLst>
                <a:ext uri="{FF2B5EF4-FFF2-40B4-BE49-F238E27FC236}">
                  <a16:creationId xmlns:a16="http://schemas.microsoft.com/office/drawing/2014/main" xmlns="" id="{D8AC1BB7-BF46-3E44-D59F-CC021A733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2" name="Freeform 605">
              <a:extLst>
                <a:ext uri="{FF2B5EF4-FFF2-40B4-BE49-F238E27FC236}">
                  <a16:creationId xmlns:a16="http://schemas.microsoft.com/office/drawing/2014/main" xmlns="" id="{B73E7749-1F6E-60E6-7446-31CB960AF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3" name="Freeform 606">
              <a:extLst>
                <a:ext uri="{FF2B5EF4-FFF2-40B4-BE49-F238E27FC236}">
                  <a16:creationId xmlns:a16="http://schemas.microsoft.com/office/drawing/2014/main" xmlns="" id="{0310A88D-9E37-AAA7-CF9A-690C15663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4" name="Freeform 607">
              <a:extLst>
                <a:ext uri="{FF2B5EF4-FFF2-40B4-BE49-F238E27FC236}">
                  <a16:creationId xmlns:a16="http://schemas.microsoft.com/office/drawing/2014/main" xmlns="" id="{8E57B9A2-8CDB-F37F-DCF9-F97AACD67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5" name="Freeform 608">
              <a:extLst>
                <a:ext uri="{FF2B5EF4-FFF2-40B4-BE49-F238E27FC236}">
                  <a16:creationId xmlns:a16="http://schemas.microsoft.com/office/drawing/2014/main" xmlns="" id="{7102E7BB-5A95-2BBC-99C3-13D97BA9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6" name="Freeform 609">
              <a:extLst>
                <a:ext uri="{FF2B5EF4-FFF2-40B4-BE49-F238E27FC236}">
                  <a16:creationId xmlns:a16="http://schemas.microsoft.com/office/drawing/2014/main" xmlns="" id="{44804E8F-FFBC-E0F4-44EF-C683B671C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7" name="Freeform 610">
              <a:extLst>
                <a:ext uri="{FF2B5EF4-FFF2-40B4-BE49-F238E27FC236}">
                  <a16:creationId xmlns:a16="http://schemas.microsoft.com/office/drawing/2014/main" xmlns="" id="{5D6C475D-26D9-7296-09DA-889F35C26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8" name="Freeform 611">
              <a:extLst>
                <a:ext uri="{FF2B5EF4-FFF2-40B4-BE49-F238E27FC236}">
                  <a16:creationId xmlns:a16="http://schemas.microsoft.com/office/drawing/2014/main" xmlns="" id="{2777A109-AAE8-0E32-22D5-77485F99C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09" name="Freeform 612">
              <a:extLst>
                <a:ext uri="{FF2B5EF4-FFF2-40B4-BE49-F238E27FC236}">
                  <a16:creationId xmlns:a16="http://schemas.microsoft.com/office/drawing/2014/main" xmlns="" id="{9A9A3005-CA75-596E-10C6-258ABF0AA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10" name="Freeform 613">
              <a:extLst>
                <a:ext uri="{FF2B5EF4-FFF2-40B4-BE49-F238E27FC236}">
                  <a16:creationId xmlns:a16="http://schemas.microsoft.com/office/drawing/2014/main" xmlns="" id="{B4F0E7FF-B490-992F-7CD3-DBA95306B4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11" name="Freeform 614">
              <a:extLst>
                <a:ext uri="{FF2B5EF4-FFF2-40B4-BE49-F238E27FC236}">
                  <a16:creationId xmlns:a16="http://schemas.microsoft.com/office/drawing/2014/main" xmlns="" id="{37E5BFD8-2BFE-D9CD-A027-01793DE81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12" name="Freeform 615">
              <a:extLst>
                <a:ext uri="{FF2B5EF4-FFF2-40B4-BE49-F238E27FC236}">
                  <a16:creationId xmlns:a16="http://schemas.microsoft.com/office/drawing/2014/main" xmlns="" id="{D2071086-A1B0-1E4E-1DB5-99D98974D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13" name="Freeform 616">
              <a:extLst>
                <a:ext uri="{FF2B5EF4-FFF2-40B4-BE49-F238E27FC236}">
                  <a16:creationId xmlns:a16="http://schemas.microsoft.com/office/drawing/2014/main" xmlns="" id="{1B0E2AC3-8335-DF83-7CC1-EF278C063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1152" name="Group 617">
            <a:extLst>
              <a:ext uri="{FF2B5EF4-FFF2-40B4-BE49-F238E27FC236}">
                <a16:creationId xmlns:a16="http://schemas.microsoft.com/office/drawing/2014/main" xmlns="" id="{28C6B0D9-51D8-4B12-D04F-71F57BECF391}"/>
              </a:ext>
            </a:extLst>
          </p:cNvPr>
          <p:cNvGrpSpPr>
            <a:grpSpLocks/>
          </p:cNvGrpSpPr>
          <p:nvPr/>
        </p:nvGrpSpPr>
        <p:grpSpPr bwMode="auto">
          <a:xfrm>
            <a:off x="6918326" y="3403601"/>
            <a:ext cx="290513" cy="404813"/>
            <a:chOff x="4290" y="3130"/>
            <a:chExt cx="183" cy="255"/>
          </a:xfrm>
        </p:grpSpPr>
        <p:pic>
          <p:nvPicPr>
            <p:cNvPr id="1178" name="Picture 618" descr="31u_bnrz[1]">
              <a:extLst>
                <a:ext uri="{FF2B5EF4-FFF2-40B4-BE49-F238E27FC236}">
                  <a16:creationId xmlns:a16="http://schemas.microsoft.com/office/drawing/2014/main" xmlns="" id="{78921C6F-7F43-D243-96B8-4FB5D956BA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" y="3211"/>
              <a:ext cx="121" cy="17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9" name="Freeform 619">
              <a:extLst>
                <a:ext uri="{FF2B5EF4-FFF2-40B4-BE49-F238E27FC236}">
                  <a16:creationId xmlns:a16="http://schemas.microsoft.com/office/drawing/2014/main" xmlns="" id="{F718A650-70E8-ED21-23B5-BF2DFBFCB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" y="3143"/>
              <a:ext cx="33" cy="39"/>
            </a:xfrm>
            <a:custGeom>
              <a:avLst/>
              <a:gdLst>
                <a:gd name="T0" fmla="*/ 0 w 199"/>
                <a:gd name="T1" fmla="*/ 0 h 232"/>
                <a:gd name="T2" fmla="*/ 0 w 199"/>
                <a:gd name="T3" fmla="*/ 0 h 232"/>
                <a:gd name="T4" fmla="*/ 0 w 199"/>
                <a:gd name="T5" fmla="*/ 0 h 232"/>
                <a:gd name="T6" fmla="*/ 0 w 199"/>
                <a:gd name="T7" fmla="*/ 0 h 232"/>
                <a:gd name="T8" fmla="*/ 0 w 199"/>
                <a:gd name="T9" fmla="*/ 0 h 232"/>
                <a:gd name="T10" fmla="*/ 0 w 199"/>
                <a:gd name="T11" fmla="*/ 0 h 232"/>
                <a:gd name="T12" fmla="*/ 0 w 199"/>
                <a:gd name="T13" fmla="*/ 0 h 232"/>
                <a:gd name="T14" fmla="*/ 0 w 199"/>
                <a:gd name="T15" fmla="*/ 0 h 232"/>
                <a:gd name="T16" fmla="*/ 0 w 199"/>
                <a:gd name="T17" fmla="*/ 0 h 232"/>
                <a:gd name="T18" fmla="*/ 0 w 199"/>
                <a:gd name="T19" fmla="*/ 0 h 232"/>
                <a:gd name="T20" fmla="*/ 0 w 199"/>
                <a:gd name="T21" fmla="*/ 0 h 232"/>
                <a:gd name="T22" fmla="*/ 0 w 199"/>
                <a:gd name="T23" fmla="*/ 0 h 232"/>
                <a:gd name="T24" fmla="*/ 0 w 199"/>
                <a:gd name="T25" fmla="*/ 0 h 232"/>
                <a:gd name="T26" fmla="*/ 0 w 199"/>
                <a:gd name="T27" fmla="*/ 0 h 232"/>
                <a:gd name="T28" fmla="*/ 0 w 199"/>
                <a:gd name="T29" fmla="*/ 0 h 232"/>
                <a:gd name="T30" fmla="*/ 0 w 199"/>
                <a:gd name="T31" fmla="*/ 0 h 232"/>
                <a:gd name="T32" fmla="*/ 0 w 199"/>
                <a:gd name="T33" fmla="*/ 0 h 232"/>
                <a:gd name="T34" fmla="*/ 0 w 199"/>
                <a:gd name="T35" fmla="*/ 0 h 232"/>
                <a:gd name="T36" fmla="*/ 0 w 199"/>
                <a:gd name="T37" fmla="*/ 0 h 232"/>
                <a:gd name="T38" fmla="*/ 0 w 199"/>
                <a:gd name="T39" fmla="*/ 0 h 232"/>
                <a:gd name="T40" fmla="*/ 0 w 199"/>
                <a:gd name="T41" fmla="*/ 0 h 232"/>
                <a:gd name="T42" fmla="*/ 0 w 199"/>
                <a:gd name="T43" fmla="*/ 0 h 232"/>
                <a:gd name="T44" fmla="*/ 0 w 199"/>
                <a:gd name="T45" fmla="*/ 0 h 232"/>
                <a:gd name="T46" fmla="*/ 0 w 199"/>
                <a:gd name="T47" fmla="*/ 0 h 232"/>
                <a:gd name="T48" fmla="*/ 0 w 199"/>
                <a:gd name="T49" fmla="*/ 0 h 232"/>
                <a:gd name="T50" fmla="*/ 0 w 199"/>
                <a:gd name="T51" fmla="*/ 0 h 232"/>
                <a:gd name="T52" fmla="*/ 0 w 199"/>
                <a:gd name="T53" fmla="*/ 0 h 232"/>
                <a:gd name="T54" fmla="*/ 0 w 199"/>
                <a:gd name="T55" fmla="*/ 0 h 232"/>
                <a:gd name="T56" fmla="*/ 0 w 199"/>
                <a:gd name="T57" fmla="*/ 0 h 232"/>
                <a:gd name="T58" fmla="*/ 0 w 199"/>
                <a:gd name="T59" fmla="*/ 0 h 232"/>
                <a:gd name="T60" fmla="*/ 0 w 199"/>
                <a:gd name="T61" fmla="*/ 0 h 232"/>
                <a:gd name="T62" fmla="*/ 0 w 199"/>
                <a:gd name="T63" fmla="*/ 0 h 232"/>
                <a:gd name="T64" fmla="*/ 0 w 199"/>
                <a:gd name="T65" fmla="*/ 0 h 232"/>
                <a:gd name="T66" fmla="*/ 0 w 199"/>
                <a:gd name="T67" fmla="*/ 0 h 232"/>
                <a:gd name="T68" fmla="*/ 0 w 199"/>
                <a:gd name="T69" fmla="*/ 0 h 232"/>
                <a:gd name="T70" fmla="*/ 0 w 199"/>
                <a:gd name="T71" fmla="*/ 0 h 232"/>
                <a:gd name="T72" fmla="*/ 0 w 199"/>
                <a:gd name="T73" fmla="*/ 0 h 232"/>
                <a:gd name="T74" fmla="*/ 0 w 199"/>
                <a:gd name="T75" fmla="*/ 0 h 232"/>
                <a:gd name="T76" fmla="*/ 0 w 199"/>
                <a:gd name="T77" fmla="*/ 0 h 232"/>
                <a:gd name="T78" fmla="*/ 0 w 199"/>
                <a:gd name="T79" fmla="*/ 0 h 232"/>
                <a:gd name="T80" fmla="*/ 0 w 199"/>
                <a:gd name="T81" fmla="*/ 0 h 232"/>
                <a:gd name="T82" fmla="*/ 0 w 199"/>
                <a:gd name="T83" fmla="*/ 0 h 232"/>
                <a:gd name="T84" fmla="*/ 0 w 199"/>
                <a:gd name="T85" fmla="*/ 0 h 232"/>
                <a:gd name="T86" fmla="*/ 0 w 199"/>
                <a:gd name="T87" fmla="*/ 0 h 232"/>
                <a:gd name="T88" fmla="*/ 0 w 199"/>
                <a:gd name="T89" fmla="*/ 0 h 232"/>
                <a:gd name="T90" fmla="*/ 0 w 199"/>
                <a:gd name="T91" fmla="*/ 0 h 232"/>
                <a:gd name="T92" fmla="*/ 0 w 199"/>
                <a:gd name="T93" fmla="*/ 0 h 232"/>
                <a:gd name="T94" fmla="*/ 0 w 199"/>
                <a:gd name="T95" fmla="*/ 0 h 232"/>
                <a:gd name="T96" fmla="*/ 0 w 199"/>
                <a:gd name="T97" fmla="*/ 0 h 23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99"/>
                <a:gd name="T148" fmla="*/ 0 h 232"/>
                <a:gd name="T149" fmla="*/ 199 w 199"/>
                <a:gd name="T150" fmla="*/ 232 h 23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99" h="232">
                  <a:moveTo>
                    <a:pt x="70" y="29"/>
                  </a:moveTo>
                  <a:lnTo>
                    <a:pt x="55" y="39"/>
                  </a:lnTo>
                  <a:lnTo>
                    <a:pt x="42" y="50"/>
                  </a:lnTo>
                  <a:lnTo>
                    <a:pt x="30" y="63"/>
                  </a:lnTo>
                  <a:lnTo>
                    <a:pt x="20" y="77"/>
                  </a:lnTo>
                  <a:lnTo>
                    <a:pt x="12" y="91"/>
                  </a:lnTo>
                  <a:lnTo>
                    <a:pt x="6" y="108"/>
                  </a:lnTo>
                  <a:lnTo>
                    <a:pt x="2" y="125"/>
                  </a:lnTo>
                  <a:lnTo>
                    <a:pt x="0" y="142"/>
                  </a:lnTo>
                  <a:lnTo>
                    <a:pt x="2" y="166"/>
                  </a:lnTo>
                  <a:lnTo>
                    <a:pt x="12" y="186"/>
                  </a:lnTo>
                  <a:lnTo>
                    <a:pt x="26" y="203"/>
                  </a:lnTo>
                  <a:lnTo>
                    <a:pt x="45" y="216"/>
                  </a:lnTo>
                  <a:lnTo>
                    <a:pt x="66" y="226"/>
                  </a:lnTo>
                  <a:lnTo>
                    <a:pt x="88" y="230"/>
                  </a:lnTo>
                  <a:lnTo>
                    <a:pt x="111" y="232"/>
                  </a:lnTo>
                  <a:lnTo>
                    <a:pt x="134" y="228"/>
                  </a:lnTo>
                  <a:lnTo>
                    <a:pt x="138" y="228"/>
                  </a:lnTo>
                  <a:lnTo>
                    <a:pt x="143" y="226"/>
                  </a:lnTo>
                  <a:lnTo>
                    <a:pt x="147" y="222"/>
                  </a:lnTo>
                  <a:lnTo>
                    <a:pt x="148" y="218"/>
                  </a:lnTo>
                  <a:lnTo>
                    <a:pt x="145" y="212"/>
                  </a:lnTo>
                  <a:lnTo>
                    <a:pt x="141" y="207"/>
                  </a:lnTo>
                  <a:lnTo>
                    <a:pt x="135" y="203"/>
                  </a:lnTo>
                  <a:lnTo>
                    <a:pt x="129" y="201"/>
                  </a:lnTo>
                  <a:lnTo>
                    <a:pt x="117" y="197"/>
                  </a:lnTo>
                  <a:lnTo>
                    <a:pt x="105" y="195"/>
                  </a:lnTo>
                  <a:lnTo>
                    <a:pt x="94" y="193"/>
                  </a:lnTo>
                  <a:lnTo>
                    <a:pt x="83" y="190"/>
                  </a:lnTo>
                  <a:lnTo>
                    <a:pt x="73" y="187"/>
                  </a:lnTo>
                  <a:lnTo>
                    <a:pt x="62" y="182"/>
                  </a:lnTo>
                  <a:lnTo>
                    <a:pt x="53" y="176"/>
                  </a:lnTo>
                  <a:lnTo>
                    <a:pt x="43" y="167"/>
                  </a:lnTo>
                  <a:lnTo>
                    <a:pt x="40" y="128"/>
                  </a:lnTo>
                  <a:lnTo>
                    <a:pt x="49" y="96"/>
                  </a:lnTo>
                  <a:lnTo>
                    <a:pt x="68" y="71"/>
                  </a:lnTo>
                  <a:lnTo>
                    <a:pt x="94" y="50"/>
                  </a:lnTo>
                  <a:lnTo>
                    <a:pt x="122" y="34"/>
                  </a:lnTo>
                  <a:lnTo>
                    <a:pt x="151" y="21"/>
                  </a:lnTo>
                  <a:lnTo>
                    <a:pt x="178" y="12"/>
                  </a:lnTo>
                  <a:lnTo>
                    <a:pt x="199" y="4"/>
                  </a:lnTo>
                  <a:lnTo>
                    <a:pt x="186" y="1"/>
                  </a:lnTo>
                  <a:lnTo>
                    <a:pt x="172" y="0"/>
                  </a:lnTo>
                  <a:lnTo>
                    <a:pt x="156" y="2"/>
                  </a:lnTo>
                  <a:lnTo>
                    <a:pt x="138" y="4"/>
                  </a:lnTo>
                  <a:lnTo>
                    <a:pt x="121" y="10"/>
                  </a:lnTo>
                  <a:lnTo>
                    <a:pt x="103" y="16"/>
                  </a:lnTo>
                  <a:lnTo>
                    <a:pt x="86" y="23"/>
                  </a:lnTo>
                  <a:lnTo>
                    <a:pt x="70" y="2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0" name="Freeform 620">
              <a:extLst>
                <a:ext uri="{FF2B5EF4-FFF2-40B4-BE49-F238E27FC236}">
                  <a16:creationId xmlns:a16="http://schemas.microsoft.com/office/drawing/2014/main" xmlns="" id="{8038CA7C-EDFC-4DCA-41B9-7319080D7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142"/>
              <a:ext cx="22" cy="30"/>
            </a:xfrm>
            <a:custGeom>
              <a:avLst/>
              <a:gdLst>
                <a:gd name="T0" fmla="*/ 0 w 128"/>
                <a:gd name="T1" fmla="*/ 0 h 180"/>
                <a:gd name="T2" fmla="*/ 0 w 128"/>
                <a:gd name="T3" fmla="*/ 0 h 180"/>
                <a:gd name="T4" fmla="*/ 0 w 128"/>
                <a:gd name="T5" fmla="*/ 0 h 180"/>
                <a:gd name="T6" fmla="*/ 0 w 128"/>
                <a:gd name="T7" fmla="*/ 0 h 180"/>
                <a:gd name="T8" fmla="*/ 0 w 128"/>
                <a:gd name="T9" fmla="*/ 0 h 180"/>
                <a:gd name="T10" fmla="*/ 0 w 128"/>
                <a:gd name="T11" fmla="*/ 0 h 180"/>
                <a:gd name="T12" fmla="*/ 0 w 128"/>
                <a:gd name="T13" fmla="*/ 0 h 180"/>
                <a:gd name="T14" fmla="*/ 0 w 128"/>
                <a:gd name="T15" fmla="*/ 0 h 180"/>
                <a:gd name="T16" fmla="*/ 0 w 128"/>
                <a:gd name="T17" fmla="*/ 0 h 180"/>
                <a:gd name="T18" fmla="*/ 0 w 128"/>
                <a:gd name="T19" fmla="*/ 0 h 180"/>
                <a:gd name="T20" fmla="*/ 0 w 128"/>
                <a:gd name="T21" fmla="*/ 0 h 180"/>
                <a:gd name="T22" fmla="*/ 0 w 128"/>
                <a:gd name="T23" fmla="*/ 0 h 180"/>
                <a:gd name="T24" fmla="*/ 0 w 128"/>
                <a:gd name="T25" fmla="*/ 0 h 180"/>
                <a:gd name="T26" fmla="*/ 0 w 128"/>
                <a:gd name="T27" fmla="*/ 0 h 180"/>
                <a:gd name="T28" fmla="*/ 0 w 128"/>
                <a:gd name="T29" fmla="*/ 0 h 180"/>
                <a:gd name="T30" fmla="*/ 0 w 128"/>
                <a:gd name="T31" fmla="*/ 0 h 180"/>
                <a:gd name="T32" fmla="*/ 0 w 128"/>
                <a:gd name="T33" fmla="*/ 0 h 180"/>
                <a:gd name="T34" fmla="*/ 0 w 128"/>
                <a:gd name="T35" fmla="*/ 0 h 180"/>
                <a:gd name="T36" fmla="*/ 0 w 128"/>
                <a:gd name="T37" fmla="*/ 0 h 180"/>
                <a:gd name="T38" fmla="*/ 0 w 128"/>
                <a:gd name="T39" fmla="*/ 0 h 180"/>
                <a:gd name="T40" fmla="*/ 0 w 128"/>
                <a:gd name="T41" fmla="*/ 0 h 180"/>
                <a:gd name="T42" fmla="*/ 0 w 128"/>
                <a:gd name="T43" fmla="*/ 0 h 180"/>
                <a:gd name="T44" fmla="*/ 0 w 128"/>
                <a:gd name="T45" fmla="*/ 0 h 180"/>
                <a:gd name="T46" fmla="*/ 0 w 128"/>
                <a:gd name="T47" fmla="*/ 0 h 180"/>
                <a:gd name="T48" fmla="*/ 0 w 128"/>
                <a:gd name="T49" fmla="*/ 0 h 180"/>
                <a:gd name="T50" fmla="*/ 0 w 128"/>
                <a:gd name="T51" fmla="*/ 0 h 180"/>
                <a:gd name="T52" fmla="*/ 0 w 128"/>
                <a:gd name="T53" fmla="*/ 0 h 180"/>
                <a:gd name="T54" fmla="*/ 0 w 128"/>
                <a:gd name="T55" fmla="*/ 0 h 180"/>
                <a:gd name="T56" fmla="*/ 0 w 128"/>
                <a:gd name="T57" fmla="*/ 0 h 180"/>
                <a:gd name="T58" fmla="*/ 0 w 128"/>
                <a:gd name="T59" fmla="*/ 0 h 180"/>
                <a:gd name="T60" fmla="*/ 0 w 128"/>
                <a:gd name="T61" fmla="*/ 0 h 180"/>
                <a:gd name="T62" fmla="*/ 0 w 128"/>
                <a:gd name="T63" fmla="*/ 0 h 180"/>
                <a:gd name="T64" fmla="*/ 0 w 128"/>
                <a:gd name="T65" fmla="*/ 0 h 180"/>
                <a:gd name="T66" fmla="*/ 0 w 128"/>
                <a:gd name="T67" fmla="*/ 0 h 180"/>
                <a:gd name="T68" fmla="*/ 0 w 128"/>
                <a:gd name="T69" fmla="*/ 0 h 180"/>
                <a:gd name="T70" fmla="*/ 0 w 128"/>
                <a:gd name="T71" fmla="*/ 0 h 180"/>
                <a:gd name="T72" fmla="*/ 0 w 128"/>
                <a:gd name="T73" fmla="*/ 0 h 180"/>
                <a:gd name="T74" fmla="*/ 0 w 128"/>
                <a:gd name="T75" fmla="*/ 0 h 180"/>
                <a:gd name="T76" fmla="*/ 0 w 128"/>
                <a:gd name="T77" fmla="*/ 0 h 180"/>
                <a:gd name="T78" fmla="*/ 0 w 128"/>
                <a:gd name="T79" fmla="*/ 0 h 180"/>
                <a:gd name="T80" fmla="*/ 0 w 128"/>
                <a:gd name="T81" fmla="*/ 0 h 1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0"/>
                <a:gd name="T125" fmla="*/ 128 w 128"/>
                <a:gd name="T126" fmla="*/ 180 h 1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0">
                  <a:moveTo>
                    <a:pt x="108" y="59"/>
                  </a:moveTo>
                  <a:lnTo>
                    <a:pt x="113" y="77"/>
                  </a:lnTo>
                  <a:lnTo>
                    <a:pt x="111" y="94"/>
                  </a:lnTo>
                  <a:lnTo>
                    <a:pt x="103" y="108"/>
                  </a:lnTo>
                  <a:lnTo>
                    <a:pt x="91" y="121"/>
                  </a:lnTo>
                  <a:lnTo>
                    <a:pt x="77" y="132"/>
                  </a:lnTo>
                  <a:lnTo>
                    <a:pt x="61" y="144"/>
                  </a:lnTo>
                  <a:lnTo>
                    <a:pt x="45" y="154"/>
                  </a:lnTo>
                  <a:lnTo>
                    <a:pt x="30" y="164"/>
                  </a:lnTo>
                  <a:lnTo>
                    <a:pt x="28" y="168"/>
                  </a:lnTo>
                  <a:lnTo>
                    <a:pt x="27" y="170"/>
                  </a:lnTo>
                  <a:lnTo>
                    <a:pt x="27" y="174"/>
                  </a:lnTo>
                  <a:lnTo>
                    <a:pt x="28" y="177"/>
                  </a:lnTo>
                  <a:lnTo>
                    <a:pt x="32" y="179"/>
                  </a:lnTo>
                  <a:lnTo>
                    <a:pt x="35" y="180"/>
                  </a:lnTo>
                  <a:lnTo>
                    <a:pt x="37" y="180"/>
                  </a:lnTo>
                  <a:lnTo>
                    <a:pt x="41" y="179"/>
                  </a:lnTo>
                  <a:lnTo>
                    <a:pt x="60" y="169"/>
                  </a:lnTo>
                  <a:lnTo>
                    <a:pt x="77" y="158"/>
                  </a:lnTo>
                  <a:lnTo>
                    <a:pt x="94" y="145"/>
                  </a:lnTo>
                  <a:lnTo>
                    <a:pt x="109" y="130"/>
                  </a:lnTo>
                  <a:lnTo>
                    <a:pt x="120" y="114"/>
                  </a:lnTo>
                  <a:lnTo>
                    <a:pt x="127" y="95"/>
                  </a:lnTo>
                  <a:lnTo>
                    <a:pt x="128" y="76"/>
                  </a:lnTo>
                  <a:lnTo>
                    <a:pt x="123" y="55"/>
                  </a:lnTo>
                  <a:lnTo>
                    <a:pt x="113" y="39"/>
                  </a:lnTo>
                  <a:lnTo>
                    <a:pt x="97" y="25"/>
                  </a:lnTo>
                  <a:lnTo>
                    <a:pt x="79" y="15"/>
                  </a:lnTo>
                  <a:lnTo>
                    <a:pt x="57" y="7"/>
                  </a:lnTo>
                  <a:lnTo>
                    <a:pt x="36" y="2"/>
                  </a:lnTo>
                  <a:lnTo>
                    <a:pt x="19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14" y="9"/>
                  </a:lnTo>
                  <a:lnTo>
                    <a:pt x="29" y="14"/>
                  </a:lnTo>
                  <a:lnTo>
                    <a:pt x="46" y="19"/>
                  </a:lnTo>
                  <a:lnTo>
                    <a:pt x="61" y="23"/>
                  </a:lnTo>
                  <a:lnTo>
                    <a:pt x="76" y="29"/>
                  </a:lnTo>
                  <a:lnTo>
                    <a:pt x="89" y="37"/>
                  </a:lnTo>
                  <a:lnTo>
                    <a:pt x="100" y="46"/>
                  </a:lnTo>
                  <a:lnTo>
                    <a:pt x="108" y="5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1" name="Freeform 621">
              <a:extLst>
                <a:ext uri="{FF2B5EF4-FFF2-40B4-BE49-F238E27FC236}">
                  <a16:creationId xmlns:a16="http://schemas.microsoft.com/office/drawing/2014/main" xmlns="" id="{04A2FAD6-C81A-8788-56C7-2028581F8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3135"/>
              <a:ext cx="54" cy="63"/>
            </a:xfrm>
            <a:custGeom>
              <a:avLst/>
              <a:gdLst>
                <a:gd name="T0" fmla="*/ 0 w 322"/>
                <a:gd name="T1" fmla="*/ 0 h 378"/>
                <a:gd name="T2" fmla="*/ 0 w 322"/>
                <a:gd name="T3" fmla="*/ 0 h 378"/>
                <a:gd name="T4" fmla="*/ 0 w 322"/>
                <a:gd name="T5" fmla="*/ 0 h 378"/>
                <a:gd name="T6" fmla="*/ 0 w 322"/>
                <a:gd name="T7" fmla="*/ 0 h 378"/>
                <a:gd name="T8" fmla="*/ 0 w 322"/>
                <a:gd name="T9" fmla="*/ 0 h 378"/>
                <a:gd name="T10" fmla="*/ 0 w 322"/>
                <a:gd name="T11" fmla="*/ 0 h 378"/>
                <a:gd name="T12" fmla="*/ 0 w 322"/>
                <a:gd name="T13" fmla="*/ 0 h 378"/>
                <a:gd name="T14" fmla="*/ 0 w 322"/>
                <a:gd name="T15" fmla="*/ 0 h 378"/>
                <a:gd name="T16" fmla="*/ 0 w 322"/>
                <a:gd name="T17" fmla="*/ 0 h 378"/>
                <a:gd name="T18" fmla="*/ 0 w 322"/>
                <a:gd name="T19" fmla="*/ 0 h 378"/>
                <a:gd name="T20" fmla="*/ 0 w 322"/>
                <a:gd name="T21" fmla="*/ 0 h 378"/>
                <a:gd name="T22" fmla="*/ 0 w 322"/>
                <a:gd name="T23" fmla="*/ 0 h 378"/>
                <a:gd name="T24" fmla="*/ 0 w 322"/>
                <a:gd name="T25" fmla="*/ 0 h 378"/>
                <a:gd name="T26" fmla="*/ 0 w 322"/>
                <a:gd name="T27" fmla="*/ 0 h 378"/>
                <a:gd name="T28" fmla="*/ 0 w 322"/>
                <a:gd name="T29" fmla="*/ 0 h 378"/>
                <a:gd name="T30" fmla="*/ 0 w 322"/>
                <a:gd name="T31" fmla="*/ 0 h 378"/>
                <a:gd name="T32" fmla="*/ 0 w 322"/>
                <a:gd name="T33" fmla="*/ 0 h 378"/>
                <a:gd name="T34" fmla="*/ 0 w 322"/>
                <a:gd name="T35" fmla="*/ 0 h 378"/>
                <a:gd name="T36" fmla="*/ 0 w 322"/>
                <a:gd name="T37" fmla="*/ 0 h 378"/>
                <a:gd name="T38" fmla="*/ 0 w 322"/>
                <a:gd name="T39" fmla="*/ 0 h 378"/>
                <a:gd name="T40" fmla="*/ 0 w 322"/>
                <a:gd name="T41" fmla="*/ 0 h 378"/>
                <a:gd name="T42" fmla="*/ 0 w 322"/>
                <a:gd name="T43" fmla="*/ 0 h 378"/>
                <a:gd name="T44" fmla="*/ 0 w 322"/>
                <a:gd name="T45" fmla="*/ 0 h 378"/>
                <a:gd name="T46" fmla="*/ 0 w 322"/>
                <a:gd name="T47" fmla="*/ 0 h 378"/>
                <a:gd name="T48" fmla="*/ 0 w 322"/>
                <a:gd name="T49" fmla="*/ 0 h 378"/>
                <a:gd name="T50" fmla="*/ 0 w 322"/>
                <a:gd name="T51" fmla="*/ 0 h 378"/>
                <a:gd name="T52" fmla="*/ 0 w 322"/>
                <a:gd name="T53" fmla="*/ 0 h 378"/>
                <a:gd name="T54" fmla="*/ 0 w 322"/>
                <a:gd name="T55" fmla="*/ 0 h 378"/>
                <a:gd name="T56" fmla="*/ 0 w 322"/>
                <a:gd name="T57" fmla="*/ 0 h 378"/>
                <a:gd name="T58" fmla="*/ 0 w 322"/>
                <a:gd name="T59" fmla="*/ 0 h 378"/>
                <a:gd name="T60" fmla="*/ 0 w 322"/>
                <a:gd name="T61" fmla="*/ 0 h 378"/>
                <a:gd name="T62" fmla="*/ 0 w 322"/>
                <a:gd name="T63" fmla="*/ 0 h 378"/>
                <a:gd name="T64" fmla="*/ 0 w 322"/>
                <a:gd name="T65" fmla="*/ 0 h 378"/>
                <a:gd name="T66" fmla="*/ 0 w 322"/>
                <a:gd name="T67" fmla="*/ 0 h 378"/>
                <a:gd name="T68" fmla="*/ 0 w 322"/>
                <a:gd name="T69" fmla="*/ 0 h 378"/>
                <a:gd name="T70" fmla="*/ 0 w 322"/>
                <a:gd name="T71" fmla="*/ 0 h 378"/>
                <a:gd name="T72" fmla="*/ 0 w 322"/>
                <a:gd name="T73" fmla="*/ 0 h 378"/>
                <a:gd name="T74" fmla="*/ 0 w 322"/>
                <a:gd name="T75" fmla="*/ 0 h 378"/>
                <a:gd name="T76" fmla="*/ 0 w 322"/>
                <a:gd name="T77" fmla="*/ 0 h 378"/>
                <a:gd name="T78" fmla="*/ 0 w 322"/>
                <a:gd name="T79" fmla="*/ 0 h 378"/>
                <a:gd name="T80" fmla="*/ 0 w 322"/>
                <a:gd name="T81" fmla="*/ 0 h 378"/>
                <a:gd name="T82" fmla="*/ 0 w 322"/>
                <a:gd name="T83" fmla="*/ 0 h 378"/>
                <a:gd name="T84" fmla="*/ 0 w 322"/>
                <a:gd name="T85" fmla="*/ 0 h 378"/>
                <a:gd name="T86" fmla="*/ 0 w 322"/>
                <a:gd name="T87" fmla="*/ 0 h 37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2"/>
                <a:gd name="T133" fmla="*/ 0 h 378"/>
                <a:gd name="T134" fmla="*/ 322 w 322"/>
                <a:gd name="T135" fmla="*/ 378 h 37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2" h="378">
                  <a:moveTo>
                    <a:pt x="125" y="49"/>
                  </a:moveTo>
                  <a:lnTo>
                    <a:pt x="100" y="70"/>
                  </a:lnTo>
                  <a:lnTo>
                    <a:pt x="76" y="90"/>
                  </a:lnTo>
                  <a:lnTo>
                    <a:pt x="53" y="115"/>
                  </a:lnTo>
                  <a:lnTo>
                    <a:pt x="34" y="140"/>
                  </a:lnTo>
                  <a:lnTo>
                    <a:pt x="17" y="166"/>
                  </a:lnTo>
                  <a:lnTo>
                    <a:pt x="5" y="195"/>
                  </a:lnTo>
                  <a:lnTo>
                    <a:pt x="0" y="226"/>
                  </a:lnTo>
                  <a:lnTo>
                    <a:pt x="1" y="258"/>
                  </a:lnTo>
                  <a:lnTo>
                    <a:pt x="3" y="266"/>
                  </a:lnTo>
                  <a:lnTo>
                    <a:pt x="5" y="275"/>
                  </a:lnTo>
                  <a:lnTo>
                    <a:pt x="9" y="282"/>
                  </a:lnTo>
                  <a:lnTo>
                    <a:pt x="14" y="290"/>
                  </a:lnTo>
                  <a:lnTo>
                    <a:pt x="19" y="297"/>
                  </a:lnTo>
                  <a:lnTo>
                    <a:pt x="26" y="304"/>
                  </a:lnTo>
                  <a:lnTo>
                    <a:pt x="32" y="310"/>
                  </a:lnTo>
                  <a:lnTo>
                    <a:pt x="41" y="314"/>
                  </a:lnTo>
                  <a:lnTo>
                    <a:pt x="56" y="324"/>
                  </a:lnTo>
                  <a:lnTo>
                    <a:pt x="71" y="332"/>
                  </a:lnTo>
                  <a:lnTo>
                    <a:pt x="86" y="338"/>
                  </a:lnTo>
                  <a:lnTo>
                    <a:pt x="103" y="344"/>
                  </a:lnTo>
                  <a:lnTo>
                    <a:pt x="119" y="350"/>
                  </a:lnTo>
                  <a:lnTo>
                    <a:pt x="136" y="355"/>
                  </a:lnTo>
                  <a:lnTo>
                    <a:pt x="152" y="359"/>
                  </a:lnTo>
                  <a:lnTo>
                    <a:pt x="168" y="363"/>
                  </a:lnTo>
                  <a:lnTo>
                    <a:pt x="186" y="366"/>
                  </a:lnTo>
                  <a:lnTo>
                    <a:pt x="202" y="368"/>
                  </a:lnTo>
                  <a:lnTo>
                    <a:pt x="220" y="371"/>
                  </a:lnTo>
                  <a:lnTo>
                    <a:pt x="238" y="373"/>
                  </a:lnTo>
                  <a:lnTo>
                    <a:pt x="254" y="374"/>
                  </a:lnTo>
                  <a:lnTo>
                    <a:pt x="272" y="375"/>
                  </a:lnTo>
                  <a:lnTo>
                    <a:pt x="289" y="376"/>
                  </a:lnTo>
                  <a:lnTo>
                    <a:pt x="306" y="378"/>
                  </a:lnTo>
                  <a:lnTo>
                    <a:pt x="311" y="378"/>
                  </a:lnTo>
                  <a:lnTo>
                    <a:pt x="316" y="375"/>
                  </a:lnTo>
                  <a:lnTo>
                    <a:pt x="320" y="371"/>
                  </a:lnTo>
                  <a:lnTo>
                    <a:pt x="322" y="366"/>
                  </a:lnTo>
                  <a:lnTo>
                    <a:pt x="322" y="360"/>
                  </a:lnTo>
                  <a:lnTo>
                    <a:pt x="320" y="356"/>
                  </a:lnTo>
                  <a:lnTo>
                    <a:pt x="315" y="352"/>
                  </a:lnTo>
                  <a:lnTo>
                    <a:pt x="309" y="350"/>
                  </a:lnTo>
                  <a:lnTo>
                    <a:pt x="294" y="347"/>
                  </a:lnTo>
                  <a:lnTo>
                    <a:pt x="279" y="344"/>
                  </a:lnTo>
                  <a:lnTo>
                    <a:pt x="263" y="341"/>
                  </a:lnTo>
                  <a:lnTo>
                    <a:pt x="247" y="338"/>
                  </a:lnTo>
                  <a:lnTo>
                    <a:pt x="232" y="336"/>
                  </a:lnTo>
                  <a:lnTo>
                    <a:pt x="216" y="334"/>
                  </a:lnTo>
                  <a:lnTo>
                    <a:pt x="200" y="332"/>
                  </a:lnTo>
                  <a:lnTo>
                    <a:pt x="185" y="328"/>
                  </a:lnTo>
                  <a:lnTo>
                    <a:pt x="170" y="326"/>
                  </a:lnTo>
                  <a:lnTo>
                    <a:pt x="154" y="322"/>
                  </a:lnTo>
                  <a:lnTo>
                    <a:pt x="139" y="318"/>
                  </a:lnTo>
                  <a:lnTo>
                    <a:pt x="124" y="314"/>
                  </a:lnTo>
                  <a:lnTo>
                    <a:pt x="110" y="309"/>
                  </a:lnTo>
                  <a:lnTo>
                    <a:pt x="94" y="303"/>
                  </a:lnTo>
                  <a:lnTo>
                    <a:pt x="80" y="297"/>
                  </a:lnTo>
                  <a:lnTo>
                    <a:pt x="66" y="289"/>
                  </a:lnTo>
                  <a:lnTo>
                    <a:pt x="55" y="281"/>
                  </a:lnTo>
                  <a:lnTo>
                    <a:pt x="45" y="271"/>
                  </a:lnTo>
                  <a:lnTo>
                    <a:pt x="38" y="259"/>
                  </a:lnTo>
                  <a:lnTo>
                    <a:pt x="35" y="245"/>
                  </a:lnTo>
                  <a:lnTo>
                    <a:pt x="34" y="232"/>
                  </a:lnTo>
                  <a:lnTo>
                    <a:pt x="35" y="216"/>
                  </a:lnTo>
                  <a:lnTo>
                    <a:pt x="38" y="200"/>
                  </a:lnTo>
                  <a:lnTo>
                    <a:pt x="43" y="187"/>
                  </a:lnTo>
                  <a:lnTo>
                    <a:pt x="51" y="170"/>
                  </a:lnTo>
                  <a:lnTo>
                    <a:pt x="60" y="152"/>
                  </a:lnTo>
                  <a:lnTo>
                    <a:pt x="71" y="137"/>
                  </a:lnTo>
                  <a:lnTo>
                    <a:pt x="83" y="124"/>
                  </a:lnTo>
                  <a:lnTo>
                    <a:pt x="94" y="110"/>
                  </a:lnTo>
                  <a:lnTo>
                    <a:pt x="107" y="96"/>
                  </a:lnTo>
                  <a:lnTo>
                    <a:pt x="123" y="82"/>
                  </a:lnTo>
                  <a:lnTo>
                    <a:pt x="138" y="69"/>
                  </a:lnTo>
                  <a:lnTo>
                    <a:pt x="153" y="57"/>
                  </a:lnTo>
                  <a:lnTo>
                    <a:pt x="173" y="47"/>
                  </a:lnTo>
                  <a:lnTo>
                    <a:pt x="195" y="38"/>
                  </a:lnTo>
                  <a:lnTo>
                    <a:pt x="218" y="28"/>
                  </a:lnTo>
                  <a:lnTo>
                    <a:pt x="238" y="20"/>
                  </a:lnTo>
                  <a:lnTo>
                    <a:pt x="254" y="13"/>
                  </a:lnTo>
                  <a:lnTo>
                    <a:pt x="264" y="7"/>
                  </a:lnTo>
                  <a:lnTo>
                    <a:pt x="268" y="2"/>
                  </a:lnTo>
                  <a:lnTo>
                    <a:pt x="256" y="0"/>
                  </a:lnTo>
                  <a:lnTo>
                    <a:pt x="240" y="1"/>
                  </a:lnTo>
                  <a:lnTo>
                    <a:pt x="221" y="4"/>
                  </a:lnTo>
                  <a:lnTo>
                    <a:pt x="201" y="10"/>
                  </a:lnTo>
                  <a:lnTo>
                    <a:pt x="180" y="18"/>
                  </a:lnTo>
                  <a:lnTo>
                    <a:pt x="160" y="27"/>
                  </a:lnTo>
                  <a:lnTo>
                    <a:pt x="141" y="38"/>
                  </a:lnTo>
                  <a:lnTo>
                    <a:pt x="125" y="49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2" name="Freeform 622">
              <a:extLst>
                <a:ext uri="{FF2B5EF4-FFF2-40B4-BE49-F238E27FC236}">
                  <a16:creationId xmlns:a16="http://schemas.microsoft.com/office/drawing/2014/main" xmlns="" id="{000794C5-36C4-D364-0138-CE2A9153D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4" y="3133"/>
              <a:ext cx="47" cy="42"/>
            </a:xfrm>
            <a:custGeom>
              <a:avLst/>
              <a:gdLst>
                <a:gd name="T0" fmla="*/ 0 w 283"/>
                <a:gd name="T1" fmla="*/ 0 h 252"/>
                <a:gd name="T2" fmla="*/ 0 w 283"/>
                <a:gd name="T3" fmla="*/ 0 h 252"/>
                <a:gd name="T4" fmla="*/ 0 w 283"/>
                <a:gd name="T5" fmla="*/ 0 h 252"/>
                <a:gd name="T6" fmla="*/ 0 w 283"/>
                <a:gd name="T7" fmla="*/ 0 h 252"/>
                <a:gd name="T8" fmla="*/ 0 w 283"/>
                <a:gd name="T9" fmla="*/ 0 h 252"/>
                <a:gd name="T10" fmla="*/ 0 w 283"/>
                <a:gd name="T11" fmla="*/ 0 h 252"/>
                <a:gd name="T12" fmla="*/ 0 w 283"/>
                <a:gd name="T13" fmla="*/ 0 h 252"/>
                <a:gd name="T14" fmla="*/ 0 w 283"/>
                <a:gd name="T15" fmla="*/ 0 h 252"/>
                <a:gd name="T16" fmla="*/ 0 w 283"/>
                <a:gd name="T17" fmla="*/ 0 h 252"/>
                <a:gd name="T18" fmla="*/ 0 w 283"/>
                <a:gd name="T19" fmla="*/ 0 h 252"/>
                <a:gd name="T20" fmla="*/ 0 w 283"/>
                <a:gd name="T21" fmla="*/ 0 h 252"/>
                <a:gd name="T22" fmla="*/ 0 w 283"/>
                <a:gd name="T23" fmla="*/ 0 h 252"/>
                <a:gd name="T24" fmla="*/ 0 w 283"/>
                <a:gd name="T25" fmla="*/ 0 h 252"/>
                <a:gd name="T26" fmla="*/ 0 w 283"/>
                <a:gd name="T27" fmla="*/ 0 h 252"/>
                <a:gd name="T28" fmla="*/ 0 w 283"/>
                <a:gd name="T29" fmla="*/ 0 h 252"/>
                <a:gd name="T30" fmla="*/ 0 w 283"/>
                <a:gd name="T31" fmla="*/ 0 h 252"/>
                <a:gd name="T32" fmla="*/ 0 w 283"/>
                <a:gd name="T33" fmla="*/ 0 h 252"/>
                <a:gd name="T34" fmla="*/ 0 w 283"/>
                <a:gd name="T35" fmla="*/ 0 h 252"/>
                <a:gd name="T36" fmla="*/ 0 w 283"/>
                <a:gd name="T37" fmla="*/ 0 h 252"/>
                <a:gd name="T38" fmla="*/ 0 w 283"/>
                <a:gd name="T39" fmla="*/ 0 h 252"/>
                <a:gd name="T40" fmla="*/ 0 w 283"/>
                <a:gd name="T41" fmla="*/ 0 h 252"/>
                <a:gd name="T42" fmla="*/ 0 w 283"/>
                <a:gd name="T43" fmla="*/ 0 h 252"/>
                <a:gd name="T44" fmla="*/ 0 w 283"/>
                <a:gd name="T45" fmla="*/ 0 h 252"/>
                <a:gd name="T46" fmla="*/ 0 w 283"/>
                <a:gd name="T47" fmla="*/ 0 h 252"/>
                <a:gd name="T48" fmla="*/ 0 w 283"/>
                <a:gd name="T49" fmla="*/ 0 h 252"/>
                <a:gd name="T50" fmla="*/ 0 w 283"/>
                <a:gd name="T51" fmla="*/ 0 h 252"/>
                <a:gd name="T52" fmla="*/ 0 w 283"/>
                <a:gd name="T53" fmla="*/ 0 h 252"/>
                <a:gd name="T54" fmla="*/ 0 w 283"/>
                <a:gd name="T55" fmla="*/ 0 h 252"/>
                <a:gd name="T56" fmla="*/ 0 w 283"/>
                <a:gd name="T57" fmla="*/ 0 h 252"/>
                <a:gd name="T58" fmla="*/ 0 w 283"/>
                <a:gd name="T59" fmla="*/ 0 h 252"/>
                <a:gd name="T60" fmla="*/ 0 w 283"/>
                <a:gd name="T61" fmla="*/ 0 h 252"/>
                <a:gd name="T62" fmla="*/ 0 w 283"/>
                <a:gd name="T63" fmla="*/ 0 h 252"/>
                <a:gd name="T64" fmla="*/ 0 w 283"/>
                <a:gd name="T65" fmla="*/ 0 h 252"/>
                <a:gd name="T66" fmla="*/ 0 w 283"/>
                <a:gd name="T67" fmla="*/ 0 h 252"/>
                <a:gd name="T68" fmla="*/ 0 w 283"/>
                <a:gd name="T69" fmla="*/ 0 h 252"/>
                <a:gd name="T70" fmla="*/ 0 w 283"/>
                <a:gd name="T71" fmla="*/ 0 h 252"/>
                <a:gd name="T72" fmla="*/ 0 w 283"/>
                <a:gd name="T73" fmla="*/ 0 h 252"/>
                <a:gd name="T74" fmla="*/ 0 w 283"/>
                <a:gd name="T75" fmla="*/ 0 h 252"/>
                <a:gd name="T76" fmla="*/ 0 w 283"/>
                <a:gd name="T77" fmla="*/ 0 h 252"/>
                <a:gd name="T78" fmla="*/ 0 w 283"/>
                <a:gd name="T79" fmla="*/ 0 h 252"/>
                <a:gd name="T80" fmla="*/ 0 w 283"/>
                <a:gd name="T81" fmla="*/ 0 h 252"/>
                <a:gd name="T82" fmla="*/ 0 w 283"/>
                <a:gd name="T83" fmla="*/ 0 h 252"/>
                <a:gd name="T84" fmla="*/ 0 w 283"/>
                <a:gd name="T85" fmla="*/ 0 h 252"/>
                <a:gd name="T86" fmla="*/ 0 w 283"/>
                <a:gd name="T87" fmla="*/ 0 h 252"/>
                <a:gd name="T88" fmla="*/ 0 w 283"/>
                <a:gd name="T89" fmla="*/ 0 h 252"/>
                <a:gd name="T90" fmla="*/ 0 w 283"/>
                <a:gd name="T91" fmla="*/ 0 h 252"/>
                <a:gd name="T92" fmla="*/ 0 w 283"/>
                <a:gd name="T93" fmla="*/ 0 h 252"/>
                <a:gd name="T94" fmla="*/ 0 w 283"/>
                <a:gd name="T95" fmla="*/ 0 h 252"/>
                <a:gd name="T96" fmla="*/ 0 w 283"/>
                <a:gd name="T97" fmla="*/ 0 h 252"/>
                <a:gd name="T98" fmla="*/ 0 w 283"/>
                <a:gd name="T99" fmla="*/ 0 h 252"/>
                <a:gd name="T100" fmla="*/ 0 w 283"/>
                <a:gd name="T101" fmla="*/ 0 h 252"/>
                <a:gd name="T102" fmla="*/ 0 w 283"/>
                <a:gd name="T103" fmla="*/ 0 h 252"/>
                <a:gd name="T104" fmla="*/ 0 w 283"/>
                <a:gd name="T105" fmla="*/ 0 h 252"/>
                <a:gd name="T106" fmla="*/ 0 w 283"/>
                <a:gd name="T107" fmla="*/ 0 h 252"/>
                <a:gd name="T108" fmla="*/ 0 w 283"/>
                <a:gd name="T109" fmla="*/ 0 h 252"/>
                <a:gd name="T110" fmla="*/ 0 w 283"/>
                <a:gd name="T111" fmla="*/ 0 h 252"/>
                <a:gd name="T112" fmla="*/ 0 w 283"/>
                <a:gd name="T113" fmla="*/ 0 h 252"/>
                <a:gd name="T114" fmla="*/ 0 w 283"/>
                <a:gd name="T115" fmla="*/ 0 h 252"/>
                <a:gd name="T116" fmla="*/ 0 w 283"/>
                <a:gd name="T117" fmla="*/ 0 h 252"/>
                <a:gd name="T118" fmla="*/ 0 w 283"/>
                <a:gd name="T119" fmla="*/ 0 h 252"/>
                <a:gd name="T120" fmla="*/ 0 w 283"/>
                <a:gd name="T121" fmla="*/ 0 h 2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3"/>
                <a:gd name="T184" fmla="*/ 0 h 252"/>
                <a:gd name="T185" fmla="*/ 283 w 283"/>
                <a:gd name="T186" fmla="*/ 252 h 25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3" h="252">
                  <a:moveTo>
                    <a:pt x="235" y="77"/>
                  </a:moveTo>
                  <a:lnTo>
                    <a:pt x="248" y="91"/>
                  </a:lnTo>
                  <a:lnTo>
                    <a:pt x="256" y="107"/>
                  </a:lnTo>
                  <a:lnTo>
                    <a:pt x="259" y="124"/>
                  </a:lnTo>
                  <a:lnTo>
                    <a:pt x="259" y="142"/>
                  </a:lnTo>
                  <a:lnTo>
                    <a:pt x="257" y="157"/>
                  </a:lnTo>
                  <a:lnTo>
                    <a:pt x="252" y="170"/>
                  </a:lnTo>
                  <a:lnTo>
                    <a:pt x="244" y="183"/>
                  </a:lnTo>
                  <a:lnTo>
                    <a:pt x="236" y="193"/>
                  </a:lnTo>
                  <a:lnTo>
                    <a:pt x="225" y="204"/>
                  </a:lnTo>
                  <a:lnTo>
                    <a:pt x="215" y="214"/>
                  </a:lnTo>
                  <a:lnTo>
                    <a:pt x="204" y="224"/>
                  </a:lnTo>
                  <a:lnTo>
                    <a:pt x="194" y="234"/>
                  </a:lnTo>
                  <a:lnTo>
                    <a:pt x="191" y="238"/>
                  </a:lnTo>
                  <a:lnTo>
                    <a:pt x="191" y="241"/>
                  </a:lnTo>
                  <a:lnTo>
                    <a:pt x="191" y="245"/>
                  </a:lnTo>
                  <a:lnTo>
                    <a:pt x="194" y="248"/>
                  </a:lnTo>
                  <a:lnTo>
                    <a:pt x="197" y="250"/>
                  </a:lnTo>
                  <a:lnTo>
                    <a:pt x="202" y="252"/>
                  </a:lnTo>
                  <a:lnTo>
                    <a:pt x="205" y="250"/>
                  </a:lnTo>
                  <a:lnTo>
                    <a:pt x="209" y="248"/>
                  </a:lnTo>
                  <a:lnTo>
                    <a:pt x="232" y="233"/>
                  </a:lnTo>
                  <a:lnTo>
                    <a:pt x="252" y="214"/>
                  </a:lnTo>
                  <a:lnTo>
                    <a:pt x="268" y="192"/>
                  </a:lnTo>
                  <a:lnTo>
                    <a:pt x="278" y="167"/>
                  </a:lnTo>
                  <a:lnTo>
                    <a:pt x="283" y="141"/>
                  </a:lnTo>
                  <a:lnTo>
                    <a:pt x="280" y="115"/>
                  </a:lnTo>
                  <a:lnTo>
                    <a:pt x="271" y="91"/>
                  </a:lnTo>
                  <a:lnTo>
                    <a:pt x="252" y="69"/>
                  </a:lnTo>
                  <a:lnTo>
                    <a:pt x="238" y="57"/>
                  </a:lnTo>
                  <a:lnTo>
                    <a:pt x="222" y="48"/>
                  </a:lnTo>
                  <a:lnTo>
                    <a:pt x="204" y="39"/>
                  </a:lnTo>
                  <a:lnTo>
                    <a:pt x="184" y="31"/>
                  </a:lnTo>
                  <a:lnTo>
                    <a:pt x="164" y="23"/>
                  </a:lnTo>
                  <a:lnTo>
                    <a:pt x="144" y="17"/>
                  </a:lnTo>
                  <a:lnTo>
                    <a:pt x="123" y="13"/>
                  </a:lnTo>
                  <a:lnTo>
                    <a:pt x="103" y="8"/>
                  </a:lnTo>
                  <a:lnTo>
                    <a:pt x="83" y="5"/>
                  </a:lnTo>
                  <a:lnTo>
                    <a:pt x="66" y="2"/>
                  </a:lnTo>
                  <a:lnTo>
                    <a:pt x="48" y="0"/>
                  </a:lnTo>
                  <a:lnTo>
                    <a:pt x="34" y="0"/>
                  </a:lnTo>
                  <a:lnTo>
                    <a:pt x="21" y="0"/>
                  </a:lnTo>
                  <a:lnTo>
                    <a:pt x="11" y="0"/>
                  </a:lnTo>
                  <a:lnTo>
                    <a:pt x="4" y="2"/>
                  </a:lnTo>
                  <a:lnTo>
                    <a:pt x="0" y="5"/>
                  </a:lnTo>
                  <a:lnTo>
                    <a:pt x="12" y="7"/>
                  </a:lnTo>
                  <a:lnTo>
                    <a:pt x="24" y="8"/>
                  </a:lnTo>
                  <a:lnTo>
                    <a:pt x="38" y="10"/>
                  </a:lnTo>
                  <a:lnTo>
                    <a:pt x="52" y="13"/>
                  </a:lnTo>
                  <a:lnTo>
                    <a:pt x="66" y="16"/>
                  </a:lnTo>
                  <a:lnTo>
                    <a:pt x="82" y="18"/>
                  </a:lnTo>
                  <a:lnTo>
                    <a:pt x="98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4"/>
                  </a:lnTo>
                  <a:lnTo>
                    <a:pt x="162" y="39"/>
                  </a:lnTo>
                  <a:lnTo>
                    <a:pt x="177" y="45"/>
                  </a:lnTo>
                  <a:lnTo>
                    <a:pt x="193" y="52"/>
                  </a:lnTo>
                  <a:lnTo>
                    <a:pt x="208" y="60"/>
                  </a:lnTo>
                  <a:lnTo>
                    <a:pt x="222" y="68"/>
                  </a:lnTo>
                  <a:lnTo>
                    <a:pt x="235" y="77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3" name="Freeform 623">
              <a:extLst>
                <a:ext uri="{FF2B5EF4-FFF2-40B4-BE49-F238E27FC236}">
                  <a16:creationId xmlns:a16="http://schemas.microsoft.com/office/drawing/2014/main" xmlns="" id="{F11DD7C0-9D5A-107D-8676-45FEACF1D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3153"/>
              <a:ext cx="19" cy="39"/>
            </a:xfrm>
            <a:custGeom>
              <a:avLst/>
              <a:gdLst>
                <a:gd name="T0" fmla="*/ 0 w 114"/>
                <a:gd name="T1" fmla="*/ 0 h 238"/>
                <a:gd name="T2" fmla="*/ 0 w 114"/>
                <a:gd name="T3" fmla="*/ 0 h 238"/>
                <a:gd name="T4" fmla="*/ 0 w 114"/>
                <a:gd name="T5" fmla="*/ 0 h 238"/>
                <a:gd name="T6" fmla="*/ 0 w 114"/>
                <a:gd name="T7" fmla="*/ 0 h 238"/>
                <a:gd name="T8" fmla="*/ 0 w 114"/>
                <a:gd name="T9" fmla="*/ 0 h 238"/>
                <a:gd name="T10" fmla="*/ 0 w 114"/>
                <a:gd name="T11" fmla="*/ 0 h 238"/>
                <a:gd name="T12" fmla="*/ 0 w 114"/>
                <a:gd name="T13" fmla="*/ 0 h 238"/>
                <a:gd name="T14" fmla="*/ 0 w 114"/>
                <a:gd name="T15" fmla="*/ 0 h 238"/>
                <a:gd name="T16" fmla="*/ 0 w 114"/>
                <a:gd name="T17" fmla="*/ 0 h 238"/>
                <a:gd name="T18" fmla="*/ 0 w 114"/>
                <a:gd name="T19" fmla="*/ 0 h 238"/>
                <a:gd name="T20" fmla="*/ 0 w 114"/>
                <a:gd name="T21" fmla="*/ 0 h 238"/>
                <a:gd name="T22" fmla="*/ 0 w 114"/>
                <a:gd name="T23" fmla="*/ 0 h 238"/>
                <a:gd name="T24" fmla="*/ 0 w 114"/>
                <a:gd name="T25" fmla="*/ 0 h 238"/>
                <a:gd name="T26" fmla="*/ 0 w 114"/>
                <a:gd name="T27" fmla="*/ 0 h 238"/>
                <a:gd name="T28" fmla="*/ 0 w 114"/>
                <a:gd name="T29" fmla="*/ 0 h 238"/>
                <a:gd name="T30" fmla="*/ 0 w 114"/>
                <a:gd name="T31" fmla="*/ 0 h 238"/>
                <a:gd name="T32" fmla="*/ 0 w 114"/>
                <a:gd name="T33" fmla="*/ 0 h 238"/>
                <a:gd name="T34" fmla="*/ 0 w 114"/>
                <a:gd name="T35" fmla="*/ 0 h 238"/>
                <a:gd name="T36" fmla="*/ 0 w 114"/>
                <a:gd name="T37" fmla="*/ 0 h 238"/>
                <a:gd name="T38" fmla="*/ 0 w 114"/>
                <a:gd name="T39" fmla="*/ 0 h 238"/>
                <a:gd name="T40" fmla="*/ 0 w 114"/>
                <a:gd name="T41" fmla="*/ 0 h 238"/>
                <a:gd name="T42" fmla="*/ 0 w 114"/>
                <a:gd name="T43" fmla="*/ 0 h 238"/>
                <a:gd name="T44" fmla="*/ 0 w 114"/>
                <a:gd name="T45" fmla="*/ 0 h 238"/>
                <a:gd name="T46" fmla="*/ 0 w 114"/>
                <a:gd name="T47" fmla="*/ 0 h 238"/>
                <a:gd name="T48" fmla="*/ 0 w 114"/>
                <a:gd name="T49" fmla="*/ 0 h 238"/>
                <a:gd name="T50" fmla="*/ 0 w 114"/>
                <a:gd name="T51" fmla="*/ 0 h 238"/>
                <a:gd name="T52" fmla="*/ 0 w 114"/>
                <a:gd name="T53" fmla="*/ 0 h 238"/>
                <a:gd name="T54" fmla="*/ 0 w 114"/>
                <a:gd name="T55" fmla="*/ 0 h 238"/>
                <a:gd name="T56" fmla="*/ 0 w 114"/>
                <a:gd name="T57" fmla="*/ 0 h 238"/>
                <a:gd name="T58" fmla="*/ 0 w 114"/>
                <a:gd name="T59" fmla="*/ 0 h 238"/>
                <a:gd name="T60" fmla="*/ 0 w 114"/>
                <a:gd name="T61" fmla="*/ 0 h 238"/>
                <a:gd name="T62" fmla="*/ 0 w 114"/>
                <a:gd name="T63" fmla="*/ 0 h 238"/>
                <a:gd name="T64" fmla="*/ 0 w 114"/>
                <a:gd name="T65" fmla="*/ 0 h 238"/>
                <a:gd name="T66" fmla="*/ 0 w 114"/>
                <a:gd name="T67" fmla="*/ 0 h 238"/>
                <a:gd name="T68" fmla="*/ 0 w 114"/>
                <a:gd name="T69" fmla="*/ 0 h 238"/>
                <a:gd name="T70" fmla="*/ 0 w 114"/>
                <a:gd name="T71" fmla="*/ 0 h 238"/>
                <a:gd name="T72" fmla="*/ 0 w 114"/>
                <a:gd name="T73" fmla="*/ 0 h 238"/>
                <a:gd name="T74" fmla="*/ 0 w 114"/>
                <a:gd name="T75" fmla="*/ 0 h 238"/>
                <a:gd name="T76" fmla="*/ 0 w 114"/>
                <a:gd name="T77" fmla="*/ 0 h 238"/>
                <a:gd name="T78" fmla="*/ 0 w 114"/>
                <a:gd name="T79" fmla="*/ 0 h 238"/>
                <a:gd name="T80" fmla="*/ 0 w 114"/>
                <a:gd name="T81" fmla="*/ 0 h 23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4"/>
                <a:gd name="T124" fmla="*/ 0 h 238"/>
                <a:gd name="T125" fmla="*/ 114 w 114"/>
                <a:gd name="T126" fmla="*/ 238 h 23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4" h="238">
                  <a:moveTo>
                    <a:pt x="0" y="130"/>
                  </a:moveTo>
                  <a:lnTo>
                    <a:pt x="0" y="149"/>
                  </a:lnTo>
                  <a:lnTo>
                    <a:pt x="4" y="168"/>
                  </a:lnTo>
                  <a:lnTo>
                    <a:pt x="12" y="185"/>
                  </a:lnTo>
                  <a:lnTo>
                    <a:pt x="24" y="200"/>
                  </a:lnTo>
                  <a:lnTo>
                    <a:pt x="38" y="213"/>
                  </a:lnTo>
                  <a:lnTo>
                    <a:pt x="55" y="224"/>
                  </a:lnTo>
                  <a:lnTo>
                    <a:pt x="73" y="232"/>
                  </a:lnTo>
                  <a:lnTo>
                    <a:pt x="92" y="237"/>
                  </a:lnTo>
                  <a:lnTo>
                    <a:pt x="98" y="238"/>
                  </a:lnTo>
                  <a:lnTo>
                    <a:pt x="104" y="235"/>
                  </a:lnTo>
                  <a:lnTo>
                    <a:pt x="109" y="232"/>
                  </a:lnTo>
                  <a:lnTo>
                    <a:pt x="111" y="227"/>
                  </a:lnTo>
                  <a:lnTo>
                    <a:pt x="111" y="222"/>
                  </a:lnTo>
                  <a:lnTo>
                    <a:pt x="110" y="216"/>
                  </a:lnTo>
                  <a:lnTo>
                    <a:pt x="106" y="211"/>
                  </a:lnTo>
                  <a:lnTo>
                    <a:pt x="100" y="209"/>
                  </a:lnTo>
                  <a:lnTo>
                    <a:pt x="82" y="202"/>
                  </a:lnTo>
                  <a:lnTo>
                    <a:pt x="64" y="193"/>
                  </a:lnTo>
                  <a:lnTo>
                    <a:pt x="50" y="180"/>
                  </a:lnTo>
                  <a:lnTo>
                    <a:pt x="39" y="167"/>
                  </a:lnTo>
                  <a:lnTo>
                    <a:pt x="32" y="149"/>
                  </a:lnTo>
                  <a:lnTo>
                    <a:pt x="29" y="131"/>
                  </a:lnTo>
                  <a:lnTo>
                    <a:pt x="29" y="111"/>
                  </a:lnTo>
                  <a:lnTo>
                    <a:pt x="35" y="91"/>
                  </a:lnTo>
                  <a:lnTo>
                    <a:pt x="42" y="76"/>
                  </a:lnTo>
                  <a:lnTo>
                    <a:pt x="51" y="62"/>
                  </a:lnTo>
                  <a:lnTo>
                    <a:pt x="62" y="49"/>
                  </a:lnTo>
                  <a:lnTo>
                    <a:pt x="73" y="38"/>
                  </a:lnTo>
                  <a:lnTo>
                    <a:pt x="84" y="28"/>
                  </a:lnTo>
                  <a:lnTo>
                    <a:pt x="96" y="18"/>
                  </a:lnTo>
                  <a:lnTo>
                    <a:pt x="106" y="9"/>
                  </a:lnTo>
                  <a:lnTo>
                    <a:pt x="114" y="1"/>
                  </a:lnTo>
                  <a:lnTo>
                    <a:pt x="106" y="0"/>
                  </a:lnTo>
                  <a:lnTo>
                    <a:pt x="93" y="6"/>
                  </a:lnTo>
                  <a:lnTo>
                    <a:pt x="76" y="18"/>
                  </a:lnTo>
                  <a:lnTo>
                    <a:pt x="56" y="36"/>
                  </a:lnTo>
                  <a:lnTo>
                    <a:pt x="37" y="57"/>
                  </a:lnTo>
                  <a:lnTo>
                    <a:pt x="20" y="80"/>
                  </a:lnTo>
                  <a:lnTo>
                    <a:pt x="7" y="106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4" name="Freeform 624">
              <a:extLst>
                <a:ext uri="{FF2B5EF4-FFF2-40B4-BE49-F238E27FC236}">
                  <a16:creationId xmlns:a16="http://schemas.microsoft.com/office/drawing/2014/main" xmlns="" id="{D3A4F2B5-0356-39F4-4C41-BAC1EC4D7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3130"/>
              <a:ext cx="41" cy="52"/>
            </a:xfrm>
            <a:custGeom>
              <a:avLst/>
              <a:gdLst>
                <a:gd name="T0" fmla="*/ 0 w 246"/>
                <a:gd name="T1" fmla="*/ 0 h 310"/>
                <a:gd name="T2" fmla="*/ 0 w 246"/>
                <a:gd name="T3" fmla="*/ 0 h 310"/>
                <a:gd name="T4" fmla="*/ 0 w 246"/>
                <a:gd name="T5" fmla="*/ 0 h 310"/>
                <a:gd name="T6" fmla="*/ 0 w 246"/>
                <a:gd name="T7" fmla="*/ 0 h 310"/>
                <a:gd name="T8" fmla="*/ 0 w 246"/>
                <a:gd name="T9" fmla="*/ 0 h 310"/>
                <a:gd name="T10" fmla="*/ 0 w 246"/>
                <a:gd name="T11" fmla="*/ 0 h 310"/>
                <a:gd name="T12" fmla="*/ 0 w 246"/>
                <a:gd name="T13" fmla="*/ 0 h 310"/>
                <a:gd name="T14" fmla="*/ 0 w 246"/>
                <a:gd name="T15" fmla="*/ 0 h 310"/>
                <a:gd name="T16" fmla="*/ 0 w 246"/>
                <a:gd name="T17" fmla="*/ 0 h 310"/>
                <a:gd name="T18" fmla="*/ 0 w 246"/>
                <a:gd name="T19" fmla="*/ 0 h 310"/>
                <a:gd name="T20" fmla="*/ 0 w 246"/>
                <a:gd name="T21" fmla="*/ 0 h 310"/>
                <a:gd name="T22" fmla="*/ 0 w 246"/>
                <a:gd name="T23" fmla="*/ 0 h 310"/>
                <a:gd name="T24" fmla="*/ 0 w 246"/>
                <a:gd name="T25" fmla="*/ 0 h 310"/>
                <a:gd name="T26" fmla="*/ 0 w 246"/>
                <a:gd name="T27" fmla="*/ 0 h 310"/>
                <a:gd name="T28" fmla="*/ 0 w 246"/>
                <a:gd name="T29" fmla="*/ 0 h 310"/>
                <a:gd name="T30" fmla="*/ 0 w 246"/>
                <a:gd name="T31" fmla="*/ 0 h 310"/>
                <a:gd name="T32" fmla="*/ 0 w 246"/>
                <a:gd name="T33" fmla="*/ 0 h 310"/>
                <a:gd name="T34" fmla="*/ 0 w 246"/>
                <a:gd name="T35" fmla="*/ 0 h 310"/>
                <a:gd name="T36" fmla="*/ 0 w 246"/>
                <a:gd name="T37" fmla="*/ 0 h 310"/>
                <a:gd name="T38" fmla="*/ 0 w 246"/>
                <a:gd name="T39" fmla="*/ 0 h 310"/>
                <a:gd name="T40" fmla="*/ 0 w 246"/>
                <a:gd name="T41" fmla="*/ 0 h 310"/>
                <a:gd name="T42" fmla="*/ 0 w 246"/>
                <a:gd name="T43" fmla="*/ 0 h 310"/>
                <a:gd name="T44" fmla="*/ 0 w 246"/>
                <a:gd name="T45" fmla="*/ 0 h 310"/>
                <a:gd name="T46" fmla="*/ 0 w 246"/>
                <a:gd name="T47" fmla="*/ 0 h 310"/>
                <a:gd name="T48" fmla="*/ 0 w 246"/>
                <a:gd name="T49" fmla="*/ 0 h 310"/>
                <a:gd name="T50" fmla="*/ 0 w 246"/>
                <a:gd name="T51" fmla="*/ 0 h 310"/>
                <a:gd name="T52" fmla="*/ 0 w 246"/>
                <a:gd name="T53" fmla="*/ 0 h 310"/>
                <a:gd name="T54" fmla="*/ 0 w 246"/>
                <a:gd name="T55" fmla="*/ 0 h 310"/>
                <a:gd name="T56" fmla="*/ 0 w 246"/>
                <a:gd name="T57" fmla="*/ 0 h 310"/>
                <a:gd name="T58" fmla="*/ 0 w 246"/>
                <a:gd name="T59" fmla="*/ 0 h 310"/>
                <a:gd name="T60" fmla="*/ 0 w 246"/>
                <a:gd name="T61" fmla="*/ 0 h 310"/>
                <a:gd name="T62" fmla="*/ 0 w 246"/>
                <a:gd name="T63" fmla="*/ 0 h 310"/>
                <a:gd name="T64" fmla="*/ 0 w 246"/>
                <a:gd name="T65" fmla="*/ 0 h 310"/>
                <a:gd name="T66" fmla="*/ 0 w 246"/>
                <a:gd name="T67" fmla="*/ 0 h 310"/>
                <a:gd name="T68" fmla="*/ 0 w 246"/>
                <a:gd name="T69" fmla="*/ 0 h 310"/>
                <a:gd name="T70" fmla="*/ 0 w 246"/>
                <a:gd name="T71" fmla="*/ 0 h 310"/>
                <a:gd name="T72" fmla="*/ 0 w 246"/>
                <a:gd name="T73" fmla="*/ 0 h 310"/>
                <a:gd name="T74" fmla="*/ 0 w 246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6"/>
                <a:gd name="T115" fmla="*/ 0 h 310"/>
                <a:gd name="T116" fmla="*/ 246 w 246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6" h="310">
                  <a:moveTo>
                    <a:pt x="199" y="116"/>
                  </a:moveTo>
                  <a:lnTo>
                    <a:pt x="207" y="124"/>
                  </a:lnTo>
                  <a:lnTo>
                    <a:pt x="214" y="133"/>
                  </a:lnTo>
                  <a:lnTo>
                    <a:pt x="219" y="143"/>
                  </a:lnTo>
                  <a:lnTo>
                    <a:pt x="223" y="154"/>
                  </a:lnTo>
                  <a:lnTo>
                    <a:pt x="225" y="164"/>
                  </a:lnTo>
                  <a:lnTo>
                    <a:pt x="225" y="176"/>
                  </a:lnTo>
                  <a:lnTo>
                    <a:pt x="221" y="187"/>
                  </a:lnTo>
                  <a:lnTo>
                    <a:pt x="216" y="197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8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3" y="264"/>
                  </a:lnTo>
                  <a:lnTo>
                    <a:pt x="132" y="274"/>
                  </a:lnTo>
                  <a:lnTo>
                    <a:pt x="129" y="278"/>
                  </a:lnTo>
                  <a:lnTo>
                    <a:pt x="126" y="282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1" y="305"/>
                  </a:lnTo>
                  <a:lnTo>
                    <a:pt x="125" y="309"/>
                  </a:lnTo>
                  <a:lnTo>
                    <a:pt x="130" y="310"/>
                  </a:lnTo>
                  <a:lnTo>
                    <a:pt x="134" y="310"/>
                  </a:lnTo>
                  <a:lnTo>
                    <a:pt x="139" y="309"/>
                  </a:lnTo>
                  <a:lnTo>
                    <a:pt x="143" y="305"/>
                  </a:lnTo>
                  <a:lnTo>
                    <a:pt x="154" y="293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19" y="233"/>
                  </a:lnTo>
                  <a:lnTo>
                    <a:pt x="231" y="219"/>
                  </a:lnTo>
                  <a:lnTo>
                    <a:pt x="239" y="204"/>
                  </a:lnTo>
                  <a:lnTo>
                    <a:pt x="245" y="187"/>
                  </a:lnTo>
                  <a:lnTo>
                    <a:pt x="246" y="170"/>
                  </a:lnTo>
                  <a:lnTo>
                    <a:pt x="242" y="153"/>
                  </a:lnTo>
                  <a:lnTo>
                    <a:pt x="236" y="136"/>
                  </a:lnTo>
                  <a:lnTo>
                    <a:pt x="227" y="120"/>
                  </a:lnTo>
                  <a:lnTo>
                    <a:pt x="215" y="107"/>
                  </a:lnTo>
                  <a:lnTo>
                    <a:pt x="201" y="94"/>
                  </a:lnTo>
                  <a:lnTo>
                    <a:pt x="187" y="82"/>
                  </a:lnTo>
                  <a:lnTo>
                    <a:pt x="177" y="74"/>
                  </a:lnTo>
                  <a:lnTo>
                    <a:pt x="165" y="68"/>
                  </a:lnTo>
                  <a:lnTo>
                    <a:pt x="152" y="60"/>
                  </a:lnTo>
                  <a:lnTo>
                    <a:pt x="139" y="51"/>
                  </a:lnTo>
                  <a:lnTo>
                    <a:pt x="126" y="43"/>
                  </a:lnTo>
                  <a:lnTo>
                    <a:pt x="112" y="35"/>
                  </a:lnTo>
                  <a:lnTo>
                    <a:pt x="98" y="28"/>
                  </a:lnTo>
                  <a:lnTo>
                    <a:pt x="85" y="22"/>
                  </a:lnTo>
                  <a:lnTo>
                    <a:pt x="72" y="16"/>
                  </a:lnTo>
                  <a:lnTo>
                    <a:pt x="59" y="10"/>
                  </a:lnTo>
                  <a:lnTo>
                    <a:pt x="46" y="7"/>
                  </a:lnTo>
                  <a:lnTo>
                    <a:pt x="35" y="3"/>
                  </a:lnTo>
                  <a:lnTo>
                    <a:pt x="24" y="1"/>
                  </a:lnTo>
                  <a:lnTo>
                    <a:pt x="15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8" y="14"/>
                  </a:lnTo>
                  <a:lnTo>
                    <a:pt x="38" y="18"/>
                  </a:lnTo>
                  <a:lnTo>
                    <a:pt x="51" y="24"/>
                  </a:lnTo>
                  <a:lnTo>
                    <a:pt x="64" y="30"/>
                  </a:lnTo>
                  <a:lnTo>
                    <a:pt x="78" y="37"/>
                  </a:lnTo>
                  <a:lnTo>
                    <a:pt x="92" y="43"/>
                  </a:lnTo>
                  <a:lnTo>
                    <a:pt x="106" y="51"/>
                  </a:lnTo>
                  <a:lnTo>
                    <a:pt x="120" y="60"/>
                  </a:lnTo>
                  <a:lnTo>
                    <a:pt x="134" y="69"/>
                  </a:lnTo>
                  <a:lnTo>
                    <a:pt x="148" y="78"/>
                  </a:lnTo>
                  <a:lnTo>
                    <a:pt x="163" y="87"/>
                  </a:lnTo>
                  <a:lnTo>
                    <a:pt x="175" y="96"/>
                  </a:lnTo>
                  <a:lnTo>
                    <a:pt x="187" y="105"/>
                  </a:lnTo>
                  <a:lnTo>
                    <a:pt x="199" y="116"/>
                  </a:lnTo>
                  <a:close/>
                </a:path>
              </a:pathLst>
            </a:custGeom>
            <a:solidFill>
              <a:srgbClr val="C9E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5" name="Freeform 625">
              <a:extLst>
                <a:ext uri="{FF2B5EF4-FFF2-40B4-BE49-F238E27FC236}">
                  <a16:creationId xmlns:a16="http://schemas.microsoft.com/office/drawing/2014/main" xmlns="" id="{3B8349C7-2603-3C5E-97AD-E1D50DB4B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3191"/>
              <a:ext cx="14" cy="31"/>
            </a:xfrm>
            <a:custGeom>
              <a:avLst/>
              <a:gdLst>
                <a:gd name="T0" fmla="*/ 0 w 83"/>
                <a:gd name="T1" fmla="*/ 0 h 187"/>
                <a:gd name="T2" fmla="*/ 0 w 83"/>
                <a:gd name="T3" fmla="*/ 0 h 187"/>
                <a:gd name="T4" fmla="*/ 0 w 83"/>
                <a:gd name="T5" fmla="*/ 0 h 187"/>
                <a:gd name="T6" fmla="*/ 0 w 83"/>
                <a:gd name="T7" fmla="*/ 0 h 187"/>
                <a:gd name="T8" fmla="*/ 0 w 83"/>
                <a:gd name="T9" fmla="*/ 0 h 187"/>
                <a:gd name="T10" fmla="*/ 0 w 83"/>
                <a:gd name="T11" fmla="*/ 0 h 187"/>
                <a:gd name="T12" fmla="*/ 0 w 83"/>
                <a:gd name="T13" fmla="*/ 0 h 187"/>
                <a:gd name="T14" fmla="*/ 0 w 83"/>
                <a:gd name="T15" fmla="*/ 0 h 187"/>
                <a:gd name="T16" fmla="*/ 0 w 83"/>
                <a:gd name="T17" fmla="*/ 0 h 187"/>
                <a:gd name="T18" fmla="*/ 0 w 83"/>
                <a:gd name="T19" fmla="*/ 0 h 187"/>
                <a:gd name="T20" fmla="*/ 0 w 83"/>
                <a:gd name="T21" fmla="*/ 0 h 187"/>
                <a:gd name="T22" fmla="*/ 0 w 83"/>
                <a:gd name="T23" fmla="*/ 0 h 187"/>
                <a:gd name="T24" fmla="*/ 0 w 83"/>
                <a:gd name="T25" fmla="*/ 0 h 187"/>
                <a:gd name="T26" fmla="*/ 0 w 83"/>
                <a:gd name="T27" fmla="*/ 0 h 187"/>
                <a:gd name="T28" fmla="*/ 0 w 83"/>
                <a:gd name="T29" fmla="*/ 0 h 187"/>
                <a:gd name="T30" fmla="*/ 0 w 83"/>
                <a:gd name="T31" fmla="*/ 0 h 187"/>
                <a:gd name="T32" fmla="*/ 0 w 83"/>
                <a:gd name="T33" fmla="*/ 0 h 187"/>
                <a:gd name="T34" fmla="*/ 0 w 83"/>
                <a:gd name="T35" fmla="*/ 0 h 187"/>
                <a:gd name="T36" fmla="*/ 0 w 83"/>
                <a:gd name="T37" fmla="*/ 0 h 187"/>
                <a:gd name="T38" fmla="*/ 0 w 83"/>
                <a:gd name="T39" fmla="*/ 0 h 187"/>
                <a:gd name="T40" fmla="*/ 0 w 83"/>
                <a:gd name="T41" fmla="*/ 0 h 187"/>
                <a:gd name="T42" fmla="*/ 0 w 83"/>
                <a:gd name="T43" fmla="*/ 0 h 187"/>
                <a:gd name="T44" fmla="*/ 0 w 83"/>
                <a:gd name="T45" fmla="*/ 0 h 187"/>
                <a:gd name="T46" fmla="*/ 0 w 83"/>
                <a:gd name="T47" fmla="*/ 0 h 187"/>
                <a:gd name="T48" fmla="*/ 0 w 83"/>
                <a:gd name="T49" fmla="*/ 0 h 1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3"/>
                <a:gd name="T76" fmla="*/ 0 h 187"/>
                <a:gd name="T77" fmla="*/ 83 w 83"/>
                <a:gd name="T78" fmla="*/ 187 h 1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3" h="187">
                  <a:moveTo>
                    <a:pt x="31" y="14"/>
                  </a:moveTo>
                  <a:lnTo>
                    <a:pt x="29" y="8"/>
                  </a:lnTo>
                  <a:lnTo>
                    <a:pt x="25" y="3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2"/>
                  </a:lnTo>
                  <a:lnTo>
                    <a:pt x="3" y="5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5" y="42"/>
                  </a:lnTo>
                  <a:lnTo>
                    <a:pt x="15" y="71"/>
                  </a:lnTo>
                  <a:lnTo>
                    <a:pt x="27" y="100"/>
                  </a:lnTo>
                  <a:lnTo>
                    <a:pt x="41" y="127"/>
                  </a:lnTo>
                  <a:lnTo>
                    <a:pt x="55" y="151"/>
                  </a:lnTo>
                  <a:lnTo>
                    <a:pt x="68" y="171"/>
                  </a:lnTo>
                  <a:lnTo>
                    <a:pt x="77" y="184"/>
                  </a:lnTo>
                  <a:lnTo>
                    <a:pt x="83" y="187"/>
                  </a:lnTo>
                  <a:lnTo>
                    <a:pt x="80" y="174"/>
                  </a:lnTo>
                  <a:lnTo>
                    <a:pt x="75" y="158"/>
                  </a:lnTo>
                  <a:lnTo>
                    <a:pt x="68" y="138"/>
                  </a:lnTo>
                  <a:lnTo>
                    <a:pt x="59" y="113"/>
                  </a:lnTo>
                  <a:lnTo>
                    <a:pt x="51" y="88"/>
                  </a:lnTo>
                  <a:lnTo>
                    <a:pt x="43" y="63"/>
                  </a:lnTo>
                  <a:lnTo>
                    <a:pt x="36" y="38"/>
                  </a:lnTo>
                  <a:lnTo>
                    <a:pt x="31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6" name="Freeform 626">
              <a:extLst>
                <a:ext uri="{FF2B5EF4-FFF2-40B4-BE49-F238E27FC236}">
                  <a16:creationId xmlns:a16="http://schemas.microsoft.com/office/drawing/2014/main" xmlns="" id="{3B8BF8DB-52D8-E3FD-3B82-749D4A306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" y="3174"/>
              <a:ext cx="7" cy="16"/>
            </a:xfrm>
            <a:custGeom>
              <a:avLst/>
              <a:gdLst>
                <a:gd name="T0" fmla="*/ 0 w 44"/>
                <a:gd name="T1" fmla="*/ 0 h 94"/>
                <a:gd name="T2" fmla="*/ 0 w 44"/>
                <a:gd name="T3" fmla="*/ 0 h 94"/>
                <a:gd name="T4" fmla="*/ 0 w 44"/>
                <a:gd name="T5" fmla="*/ 0 h 94"/>
                <a:gd name="T6" fmla="*/ 0 w 44"/>
                <a:gd name="T7" fmla="*/ 0 h 94"/>
                <a:gd name="T8" fmla="*/ 0 w 44"/>
                <a:gd name="T9" fmla="*/ 0 h 94"/>
                <a:gd name="T10" fmla="*/ 0 w 44"/>
                <a:gd name="T11" fmla="*/ 0 h 94"/>
                <a:gd name="T12" fmla="*/ 0 w 44"/>
                <a:gd name="T13" fmla="*/ 0 h 94"/>
                <a:gd name="T14" fmla="*/ 0 w 44"/>
                <a:gd name="T15" fmla="*/ 0 h 94"/>
                <a:gd name="T16" fmla="*/ 0 w 44"/>
                <a:gd name="T17" fmla="*/ 0 h 94"/>
                <a:gd name="T18" fmla="*/ 0 w 44"/>
                <a:gd name="T19" fmla="*/ 0 h 94"/>
                <a:gd name="T20" fmla="*/ 0 w 44"/>
                <a:gd name="T21" fmla="*/ 0 h 94"/>
                <a:gd name="T22" fmla="*/ 0 w 44"/>
                <a:gd name="T23" fmla="*/ 0 h 94"/>
                <a:gd name="T24" fmla="*/ 0 w 44"/>
                <a:gd name="T25" fmla="*/ 0 h 94"/>
                <a:gd name="T26" fmla="*/ 0 w 44"/>
                <a:gd name="T27" fmla="*/ 0 h 94"/>
                <a:gd name="T28" fmla="*/ 0 w 44"/>
                <a:gd name="T29" fmla="*/ 0 h 94"/>
                <a:gd name="T30" fmla="*/ 0 w 44"/>
                <a:gd name="T31" fmla="*/ 0 h 94"/>
                <a:gd name="T32" fmla="*/ 0 w 44"/>
                <a:gd name="T33" fmla="*/ 0 h 94"/>
                <a:gd name="T34" fmla="*/ 0 w 44"/>
                <a:gd name="T35" fmla="*/ 0 h 94"/>
                <a:gd name="T36" fmla="*/ 0 w 44"/>
                <a:gd name="T37" fmla="*/ 0 h 94"/>
                <a:gd name="T38" fmla="*/ 0 w 44"/>
                <a:gd name="T39" fmla="*/ 0 h 94"/>
                <a:gd name="T40" fmla="*/ 0 w 44"/>
                <a:gd name="T41" fmla="*/ 0 h 9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"/>
                <a:gd name="T64" fmla="*/ 0 h 94"/>
                <a:gd name="T65" fmla="*/ 44 w 44"/>
                <a:gd name="T66" fmla="*/ 94 h 94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" h="94">
                  <a:moveTo>
                    <a:pt x="22" y="10"/>
                  </a:moveTo>
                  <a:lnTo>
                    <a:pt x="21" y="6"/>
                  </a:lnTo>
                  <a:lnTo>
                    <a:pt x="18" y="2"/>
                  </a:lnTo>
                  <a:lnTo>
                    <a:pt x="14" y="0"/>
                  </a:lnTo>
                  <a:lnTo>
                    <a:pt x="10" y="0"/>
                  </a:lnTo>
                  <a:lnTo>
                    <a:pt x="6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4"/>
                  </a:lnTo>
                  <a:lnTo>
                    <a:pt x="4" y="38"/>
                  </a:lnTo>
                  <a:lnTo>
                    <a:pt x="8" y="52"/>
                  </a:lnTo>
                  <a:lnTo>
                    <a:pt x="14" y="65"/>
                  </a:lnTo>
                  <a:lnTo>
                    <a:pt x="21" y="78"/>
                  </a:lnTo>
                  <a:lnTo>
                    <a:pt x="28" y="87"/>
                  </a:lnTo>
                  <a:lnTo>
                    <a:pt x="37" y="93"/>
                  </a:lnTo>
                  <a:lnTo>
                    <a:pt x="42" y="94"/>
                  </a:lnTo>
                  <a:lnTo>
                    <a:pt x="44" y="76"/>
                  </a:lnTo>
                  <a:lnTo>
                    <a:pt x="38" y="54"/>
                  </a:lnTo>
                  <a:lnTo>
                    <a:pt x="31" y="32"/>
                  </a:lnTo>
                  <a:lnTo>
                    <a:pt x="22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7" name="Freeform 627">
              <a:extLst>
                <a:ext uri="{FF2B5EF4-FFF2-40B4-BE49-F238E27FC236}">
                  <a16:creationId xmlns:a16="http://schemas.microsoft.com/office/drawing/2014/main" xmlns="" id="{357FEA13-6845-4FFD-308C-EC9C214A7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" y="3163"/>
              <a:ext cx="6" cy="9"/>
            </a:xfrm>
            <a:custGeom>
              <a:avLst/>
              <a:gdLst>
                <a:gd name="T0" fmla="*/ 0 w 38"/>
                <a:gd name="T1" fmla="*/ 0 h 54"/>
                <a:gd name="T2" fmla="*/ 0 w 38"/>
                <a:gd name="T3" fmla="*/ 0 h 54"/>
                <a:gd name="T4" fmla="*/ 0 w 38"/>
                <a:gd name="T5" fmla="*/ 0 h 54"/>
                <a:gd name="T6" fmla="*/ 0 w 38"/>
                <a:gd name="T7" fmla="*/ 0 h 54"/>
                <a:gd name="T8" fmla="*/ 0 w 38"/>
                <a:gd name="T9" fmla="*/ 0 h 54"/>
                <a:gd name="T10" fmla="*/ 0 w 38"/>
                <a:gd name="T11" fmla="*/ 0 h 54"/>
                <a:gd name="T12" fmla="*/ 0 w 38"/>
                <a:gd name="T13" fmla="*/ 0 h 54"/>
                <a:gd name="T14" fmla="*/ 0 w 38"/>
                <a:gd name="T15" fmla="*/ 0 h 54"/>
                <a:gd name="T16" fmla="*/ 0 w 38"/>
                <a:gd name="T17" fmla="*/ 0 h 54"/>
                <a:gd name="T18" fmla="*/ 0 w 38"/>
                <a:gd name="T19" fmla="*/ 0 h 54"/>
                <a:gd name="T20" fmla="*/ 0 w 38"/>
                <a:gd name="T21" fmla="*/ 0 h 54"/>
                <a:gd name="T22" fmla="*/ 0 w 38"/>
                <a:gd name="T23" fmla="*/ 0 h 54"/>
                <a:gd name="T24" fmla="*/ 0 w 38"/>
                <a:gd name="T25" fmla="*/ 0 h 54"/>
                <a:gd name="T26" fmla="*/ 0 w 38"/>
                <a:gd name="T27" fmla="*/ 0 h 54"/>
                <a:gd name="T28" fmla="*/ 0 w 38"/>
                <a:gd name="T29" fmla="*/ 0 h 54"/>
                <a:gd name="T30" fmla="*/ 0 w 38"/>
                <a:gd name="T31" fmla="*/ 0 h 54"/>
                <a:gd name="T32" fmla="*/ 0 w 38"/>
                <a:gd name="T33" fmla="*/ 0 h 54"/>
                <a:gd name="T34" fmla="*/ 0 w 38"/>
                <a:gd name="T35" fmla="*/ 0 h 54"/>
                <a:gd name="T36" fmla="*/ 0 w 38"/>
                <a:gd name="T37" fmla="*/ 0 h 54"/>
                <a:gd name="T38" fmla="*/ 0 w 38"/>
                <a:gd name="T39" fmla="*/ 0 h 54"/>
                <a:gd name="T40" fmla="*/ 0 w 38"/>
                <a:gd name="T41" fmla="*/ 0 h 54"/>
                <a:gd name="T42" fmla="*/ 0 w 38"/>
                <a:gd name="T43" fmla="*/ 0 h 54"/>
                <a:gd name="T44" fmla="*/ 0 w 38"/>
                <a:gd name="T45" fmla="*/ 0 h 54"/>
                <a:gd name="T46" fmla="*/ 0 w 38"/>
                <a:gd name="T47" fmla="*/ 0 h 54"/>
                <a:gd name="T48" fmla="*/ 0 w 38"/>
                <a:gd name="T49" fmla="*/ 0 h 5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8"/>
                <a:gd name="T76" fmla="*/ 0 h 54"/>
                <a:gd name="T77" fmla="*/ 38 w 38"/>
                <a:gd name="T78" fmla="*/ 54 h 5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8" h="54">
                  <a:moveTo>
                    <a:pt x="20" y="7"/>
                  </a:moveTo>
                  <a:lnTo>
                    <a:pt x="20" y="8"/>
                  </a:lnTo>
                  <a:lnTo>
                    <a:pt x="19" y="4"/>
                  </a:lnTo>
                  <a:lnTo>
                    <a:pt x="15" y="1"/>
                  </a:lnTo>
                  <a:lnTo>
                    <a:pt x="12" y="0"/>
                  </a:lnTo>
                  <a:lnTo>
                    <a:pt x="7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8"/>
                  </a:lnTo>
                  <a:lnTo>
                    <a:pt x="0" y="11"/>
                  </a:lnTo>
                  <a:lnTo>
                    <a:pt x="1" y="17"/>
                  </a:lnTo>
                  <a:lnTo>
                    <a:pt x="4" y="24"/>
                  </a:lnTo>
                  <a:lnTo>
                    <a:pt x="8" y="32"/>
                  </a:lnTo>
                  <a:lnTo>
                    <a:pt x="14" y="39"/>
                  </a:lnTo>
                  <a:lnTo>
                    <a:pt x="20" y="46"/>
                  </a:lnTo>
                  <a:lnTo>
                    <a:pt x="27" y="50"/>
                  </a:lnTo>
                  <a:lnTo>
                    <a:pt x="33" y="54"/>
                  </a:lnTo>
                  <a:lnTo>
                    <a:pt x="38" y="54"/>
                  </a:lnTo>
                  <a:lnTo>
                    <a:pt x="36" y="42"/>
                  </a:lnTo>
                  <a:lnTo>
                    <a:pt x="32" y="29"/>
                  </a:lnTo>
                  <a:lnTo>
                    <a:pt x="25" y="16"/>
                  </a:lnTo>
                  <a:lnTo>
                    <a:pt x="20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8" name="Freeform 628">
              <a:extLst>
                <a:ext uri="{FF2B5EF4-FFF2-40B4-BE49-F238E27FC236}">
                  <a16:creationId xmlns:a16="http://schemas.microsoft.com/office/drawing/2014/main" xmlns="" id="{345A30D0-DE24-F183-7AC8-D4BFCAAFE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0" y="3155"/>
              <a:ext cx="8" cy="6"/>
            </a:xfrm>
            <a:custGeom>
              <a:avLst/>
              <a:gdLst>
                <a:gd name="T0" fmla="*/ 0 w 52"/>
                <a:gd name="T1" fmla="*/ 0 h 36"/>
                <a:gd name="T2" fmla="*/ 0 w 52"/>
                <a:gd name="T3" fmla="*/ 0 h 36"/>
                <a:gd name="T4" fmla="*/ 0 w 52"/>
                <a:gd name="T5" fmla="*/ 0 h 36"/>
                <a:gd name="T6" fmla="*/ 0 w 52"/>
                <a:gd name="T7" fmla="*/ 0 h 36"/>
                <a:gd name="T8" fmla="*/ 0 w 52"/>
                <a:gd name="T9" fmla="*/ 0 h 36"/>
                <a:gd name="T10" fmla="*/ 0 w 52"/>
                <a:gd name="T11" fmla="*/ 0 h 36"/>
                <a:gd name="T12" fmla="*/ 0 w 52"/>
                <a:gd name="T13" fmla="*/ 0 h 36"/>
                <a:gd name="T14" fmla="*/ 0 w 52"/>
                <a:gd name="T15" fmla="*/ 0 h 36"/>
                <a:gd name="T16" fmla="*/ 0 w 52"/>
                <a:gd name="T17" fmla="*/ 0 h 36"/>
                <a:gd name="T18" fmla="*/ 0 w 52"/>
                <a:gd name="T19" fmla="*/ 0 h 36"/>
                <a:gd name="T20" fmla="*/ 0 w 52"/>
                <a:gd name="T21" fmla="*/ 0 h 36"/>
                <a:gd name="T22" fmla="*/ 0 w 52"/>
                <a:gd name="T23" fmla="*/ 0 h 36"/>
                <a:gd name="T24" fmla="*/ 0 w 52"/>
                <a:gd name="T25" fmla="*/ 0 h 36"/>
                <a:gd name="T26" fmla="*/ 0 w 52"/>
                <a:gd name="T27" fmla="*/ 0 h 36"/>
                <a:gd name="T28" fmla="*/ 0 w 52"/>
                <a:gd name="T29" fmla="*/ 0 h 36"/>
                <a:gd name="T30" fmla="*/ 0 w 52"/>
                <a:gd name="T31" fmla="*/ 0 h 36"/>
                <a:gd name="T32" fmla="*/ 0 w 52"/>
                <a:gd name="T33" fmla="*/ 0 h 36"/>
                <a:gd name="T34" fmla="*/ 0 w 52"/>
                <a:gd name="T35" fmla="*/ 0 h 36"/>
                <a:gd name="T36" fmla="*/ 0 w 52"/>
                <a:gd name="T37" fmla="*/ 0 h 36"/>
                <a:gd name="T38" fmla="*/ 0 w 52"/>
                <a:gd name="T39" fmla="*/ 0 h 36"/>
                <a:gd name="T40" fmla="*/ 0 w 52"/>
                <a:gd name="T41" fmla="*/ 0 h 36"/>
                <a:gd name="T42" fmla="*/ 0 w 52"/>
                <a:gd name="T43" fmla="*/ 0 h 36"/>
                <a:gd name="T44" fmla="*/ 0 w 52"/>
                <a:gd name="T45" fmla="*/ 0 h 36"/>
                <a:gd name="T46" fmla="*/ 0 w 52"/>
                <a:gd name="T47" fmla="*/ 0 h 36"/>
                <a:gd name="T48" fmla="*/ 0 w 52"/>
                <a:gd name="T49" fmla="*/ 0 h 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52"/>
                <a:gd name="T76" fmla="*/ 0 h 36"/>
                <a:gd name="T77" fmla="*/ 52 w 52"/>
                <a:gd name="T78" fmla="*/ 36 h 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52" h="36">
                  <a:moveTo>
                    <a:pt x="41" y="27"/>
                  </a:moveTo>
                  <a:lnTo>
                    <a:pt x="46" y="24"/>
                  </a:lnTo>
                  <a:lnTo>
                    <a:pt x="51" y="21"/>
                  </a:lnTo>
                  <a:lnTo>
                    <a:pt x="52" y="16"/>
                  </a:lnTo>
                  <a:lnTo>
                    <a:pt x="52" y="12"/>
                  </a:lnTo>
                  <a:lnTo>
                    <a:pt x="50" y="6"/>
                  </a:lnTo>
                  <a:lnTo>
                    <a:pt x="46" y="2"/>
                  </a:lnTo>
                  <a:lnTo>
                    <a:pt x="41" y="0"/>
                  </a:lnTo>
                  <a:lnTo>
                    <a:pt x="36" y="0"/>
                  </a:lnTo>
                  <a:lnTo>
                    <a:pt x="33" y="0"/>
                  </a:lnTo>
                  <a:lnTo>
                    <a:pt x="29" y="1"/>
                  </a:lnTo>
                  <a:lnTo>
                    <a:pt x="21" y="4"/>
                  </a:lnTo>
                  <a:lnTo>
                    <a:pt x="13" y="8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4" y="33"/>
                  </a:lnTo>
                  <a:lnTo>
                    <a:pt x="9" y="36"/>
                  </a:lnTo>
                  <a:lnTo>
                    <a:pt x="13" y="36"/>
                  </a:lnTo>
                  <a:lnTo>
                    <a:pt x="18" y="36"/>
                  </a:lnTo>
                  <a:lnTo>
                    <a:pt x="24" y="33"/>
                  </a:lnTo>
                  <a:lnTo>
                    <a:pt x="30" y="32"/>
                  </a:lnTo>
                  <a:lnTo>
                    <a:pt x="36" y="30"/>
                  </a:lnTo>
                  <a:lnTo>
                    <a:pt x="4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89" name="Freeform 629">
              <a:extLst>
                <a:ext uri="{FF2B5EF4-FFF2-40B4-BE49-F238E27FC236}">
                  <a16:creationId xmlns:a16="http://schemas.microsoft.com/office/drawing/2014/main" xmlns="" id="{B02C8C5D-1BA4-8E4A-6F37-B52394D9E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3145"/>
              <a:ext cx="33" cy="39"/>
            </a:xfrm>
            <a:custGeom>
              <a:avLst/>
              <a:gdLst>
                <a:gd name="T0" fmla="*/ 0 w 198"/>
                <a:gd name="T1" fmla="*/ 0 h 236"/>
                <a:gd name="T2" fmla="*/ 0 w 198"/>
                <a:gd name="T3" fmla="*/ 0 h 236"/>
                <a:gd name="T4" fmla="*/ 0 w 198"/>
                <a:gd name="T5" fmla="*/ 0 h 236"/>
                <a:gd name="T6" fmla="*/ 0 w 198"/>
                <a:gd name="T7" fmla="*/ 0 h 236"/>
                <a:gd name="T8" fmla="*/ 0 w 198"/>
                <a:gd name="T9" fmla="*/ 0 h 236"/>
                <a:gd name="T10" fmla="*/ 0 w 198"/>
                <a:gd name="T11" fmla="*/ 0 h 236"/>
                <a:gd name="T12" fmla="*/ 0 w 198"/>
                <a:gd name="T13" fmla="*/ 0 h 236"/>
                <a:gd name="T14" fmla="*/ 0 w 198"/>
                <a:gd name="T15" fmla="*/ 0 h 236"/>
                <a:gd name="T16" fmla="*/ 0 w 198"/>
                <a:gd name="T17" fmla="*/ 0 h 236"/>
                <a:gd name="T18" fmla="*/ 0 w 198"/>
                <a:gd name="T19" fmla="*/ 0 h 236"/>
                <a:gd name="T20" fmla="*/ 0 w 198"/>
                <a:gd name="T21" fmla="*/ 0 h 236"/>
                <a:gd name="T22" fmla="*/ 0 w 198"/>
                <a:gd name="T23" fmla="*/ 0 h 236"/>
                <a:gd name="T24" fmla="*/ 0 w 198"/>
                <a:gd name="T25" fmla="*/ 0 h 236"/>
                <a:gd name="T26" fmla="*/ 0 w 198"/>
                <a:gd name="T27" fmla="*/ 0 h 236"/>
                <a:gd name="T28" fmla="*/ 0 w 198"/>
                <a:gd name="T29" fmla="*/ 0 h 236"/>
                <a:gd name="T30" fmla="*/ 0 w 198"/>
                <a:gd name="T31" fmla="*/ 0 h 236"/>
                <a:gd name="T32" fmla="*/ 0 w 198"/>
                <a:gd name="T33" fmla="*/ 0 h 236"/>
                <a:gd name="T34" fmla="*/ 0 w 198"/>
                <a:gd name="T35" fmla="*/ 0 h 236"/>
                <a:gd name="T36" fmla="*/ 0 w 198"/>
                <a:gd name="T37" fmla="*/ 0 h 236"/>
                <a:gd name="T38" fmla="*/ 0 w 198"/>
                <a:gd name="T39" fmla="*/ 0 h 236"/>
                <a:gd name="T40" fmla="*/ 0 w 198"/>
                <a:gd name="T41" fmla="*/ 0 h 236"/>
                <a:gd name="T42" fmla="*/ 0 w 198"/>
                <a:gd name="T43" fmla="*/ 0 h 236"/>
                <a:gd name="T44" fmla="*/ 0 w 198"/>
                <a:gd name="T45" fmla="*/ 0 h 236"/>
                <a:gd name="T46" fmla="*/ 0 w 198"/>
                <a:gd name="T47" fmla="*/ 0 h 236"/>
                <a:gd name="T48" fmla="*/ 0 w 198"/>
                <a:gd name="T49" fmla="*/ 0 h 236"/>
                <a:gd name="T50" fmla="*/ 0 w 198"/>
                <a:gd name="T51" fmla="*/ 0 h 236"/>
                <a:gd name="T52" fmla="*/ 0 w 198"/>
                <a:gd name="T53" fmla="*/ 0 h 236"/>
                <a:gd name="T54" fmla="*/ 0 w 198"/>
                <a:gd name="T55" fmla="*/ 0 h 236"/>
                <a:gd name="T56" fmla="*/ 0 w 198"/>
                <a:gd name="T57" fmla="*/ 0 h 236"/>
                <a:gd name="T58" fmla="*/ 0 w 198"/>
                <a:gd name="T59" fmla="*/ 0 h 236"/>
                <a:gd name="T60" fmla="*/ 0 w 198"/>
                <a:gd name="T61" fmla="*/ 0 h 236"/>
                <a:gd name="T62" fmla="*/ 0 w 198"/>
                <a:gd name="T63" fmla="*/ 0 h 236"/>
                <a:gd name="T64" fmla="*/ 0 w 198"/>
                <a:gd name="T65" fmla="*/ 0 h 236"/>
                <a:gd name="T66" fmla="*/ 0 w 198"/>
                <a:gd name="T67" fmla="*/ 0 h 236"/>
                <a:gd name="T68" fmla="*/ 0 w 198"/>
                <a:gd name="T69" fmla="*/ 0 h 236"/>
                <a:gd name="T70" fmla="*/ 0 w 198"/>
                <a:gd name="T71" fmla="*/ 0 h 236"/>
                <a:gd name="T72" fmla="*/ 0 w 198"/>
                <a:gd name="T73" fmla="*/ 0 h 236"/>
                <a:gd name="T74" fmla="*/ 0 w 198"/>
                <a:gd name="T75" fmla="*/ 0 h 236"/>
                <a:gd name="T76" fmla="*/ 0 w 198"/>
                <a:gd name="T77" fmla="*/ 0 h 236"/>
                <a:gd name="T78" fmla="*/ 0 w 198"/>
                <a:gd name="T79" fmla="*/ 0 h 236"/>
                <a:gd name="T80" fmla="*/ 0 w 198"/>
                <a:gd name="T81" fmla="*/ 0 h 236"/>
                <a:gd name="T82" fmla="*/ 0 w 198"/>
                <a:gd name="T83" fmla="*/ 0 h 236"/>
                <a:gd name="T84" fmla="*/ 0 w 198"/>
                <a:gd name="T85" fmla="*/ 0 h 236"/>
                <a:gd name="T86" fmla="*/ 0 w 198"/>
                <a:gd name="T87" fmla="*/ 0 h 236"/>
                <a:gd name="T88" fmla="*/ 0 w 198"/>
                <a:gd name="T89" fmla="*/ 0 h 236"/>
                <a:gd name="T90" fmla="*/ 0 w 198"/>
                <a:gd name="T91" fmla="*/ 0 h 236"/>
                <a:gd name="T92" fmla="*/ 0 w 198"/>
                <a:gd name="T93" fmla="*/ 0 h 236"/>
                <a:gd name="T94" fmla="*/ 0 w 198"/>
                <a:gd name="T95" fmla="*/ 0 h 236"/>
                <a:gd name="T96" fmla="*/ 0 w 198"/>
                <a:gd name="T97" fmla="*/ 0 h 236"/>
                <a:gd name="T98" fmla="*/ 0 w 198"/>
                <a:gd name="T99" fmla="*/ 0 h 236"/>
                <a:gd name="T100" fmla="*/ 0 w 198"/>
                <a:gd name="T101" fmla="*/ 0 h 236"/>
                <a:gd name="T102" fmla="*/ 0 w 198"/>
                <a:gd name="T103" fmla="*/ 0 h 236"/>
                <a:gd name="T104" fmla="*/ 0 w 198"/>
                <a:gd name="T105" fmla="*/ 0 h 236"/>
                <a:gd name="T106" fmla="*/ 0 w 198"/>
                <a:gd name="T107" fmla="*/ 0 h 236"/>
                <a:gd name="T108" fmla="*/ 0 w 198"/>
                <a:gd name="T109" fmla="*/ 0 h 236"/>
                <a:gd name="T110" fmla="*/ 0 w 198"/>
                <a:gd name="T111" fmla="*/ 0 h 236"/>
                <a:gd name="T112" fmla="*/ 0 w 198"/>
                <a:gd name="T113" fmla="*/ 0 h 236"/>
                <a:gd name="T114" fmla="*/ 0 w 198"/>
                <a:gd name="T115" fmla="*/ 0 h 236"/>
                <a:gd name="T116" fmla="*/ 0 w 198"/>
                <a:gd name="T117" fmla="*/ 0 h 236"/>
                <a:gd name="T118" fmla="*/ 0 w 198"/>
                <a:gd name="T119" fmla="*/ 0 h 236"/>
                <a:gd name="T120" fmla="*/ 0 w 198"/>
                <a:gd name="T121" fmla="*/ 0 h 2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98"/>
                <a:gd name="T184" fmla="*/ 0 h 236"/>
                <a:gd name="T185" fmla="*/ 198 w 198"/>
                <a:gd name="T186" fmla="*/ 236 h 2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98" h="236">
                  <a:moveTo>
                    <a:pt x="73" y="36"/>
                  </a:moveTo>
                  <a:lnTo>
                    <a:pt x="58" y="46"/>
                  </a:lnTo>
                  <a:lnTo>
                    <a:pt x="46" y="58"/>
                  </a:lnTo>
                  <a:lnTo>
                    <a:pt x="33" y="72"/>
                  </a:lnTo>
                  <a:lnTo>
                    <a:pt x="22" y="85"/>
                  </a:lnTo>
                  <a:lnTo>
                    <a:pt x="14" y="100"/>
                  </a:lnTo>
                  <a:lnTo>
                    <a:pt x="7" y="115"/>
                  </a:lnTo>
                  <a:lnTo>
                    <a:pt x="2" y="130"/>
                  </a:lnTo>
                  <a:lnTo>
                    <a:pt x="0" y="146"/>
                  </a:lnTo>
                  <a:lnTo>
                    <a:pt x="2" y="170"/>
                  </a:lnTo>
                  <a:lnTo>
                    <a:pt x="12" y="190"/>
                  </a:lnTo>
                  <a:lnTo>
                    <a:pt x="26" y="207"/>
                  </a:lnTo>
                  <a:lnTo>
                    <a:pt x="43" y="220"/>
                  </a:lnTo>
                  <a:lnTo>
                    <a:pt x="64" y="229"/>
                  </a:lnTo>
                  <a:lnTo>
                    <a:pt x="88" y="235"/>
                  </a:lnTo>
                  <a:lnTo>
                    <a:pt x="110" y="236"/>
                  </a:lnTo>
                  <a:lnTo>
                    <a:pt x="132" y="232"/>
                  </a:lnTo>
                  <a:lnTo>
                    <a:pt x="137" y="232"/>
                  </a:lnTo>
                  <a:lnTo>
                    <a:pt x="142" y="230"/>
                  </a:lnTo>
                  <a:lnTo>
                    <a:pt x="145" y="226"/>
                  </a:lnTo>
                  <a:lnTo>
                    <a:pt x="146" y="221"/>
                  </a:lnTo>
                  <a:lnTo>
                    <a:pt x="145" y="219"/>
                  </a:lnTo>
                  <a:lnTo>
                    <a:pt x="142" y="219"/>
                  </a:lnTo>
                  <a:lnTo>
                    <a:pt x="137" y="217"/>
                  </a:lnTo>
                  <a:lnTo>
                    <a:pt x="131" y="217"/>
                  </a:lnTo>
                  <a:lnTo>
                    <a:pt x="124" y="217"/>
                  </a:lnTo>
                  <a:lnTo>
                    <a:pt x="118" y="217"/>
                  </a:lnTo>
                  <a:lnTo>
                    <a:pt x="112" y="217"/>
                  </a:lnTo>
                  <a:lnTo>
                    <a:pt x="109" y="217"/>
                  </a:lnTo>
                  <a:lnTo>
                    <a:pt x="97" y="216"/>
                  </a:lnTo>
                  <a:lnTo>
                    <a:pt x="87" y="215"/>
                  </a:lnTo>
                  <a:lnTo>
                    <a:pt x="75" y="214"/>
                  </a:lnTo>
                  <a:lnTo>
                    <a:pt x="63" y="211"/>
                  </a:lnTo>
                  <a:lnTo>
                    <a:pt x="51" y="207"/>
                  </a:lnTo>
                  <a:lnTo>
                    <a:pt x="40" y="199"/>
                  </a:lnTo>
                  <a:lnTo>
                    <a:pt x="29" y="189"/>
                  </a:lnTo>
                  <a:lnTo>
                    <a:pt x="17" y="174"/>
                  </a:lnTo>
                  <a:lnTo>
                    <a:pt x="15" y="157"/>
                  </a:lnTo>
                  <a:lnTo>
                    <a:pt x="16" y="141"/>
                  </a:lnTo>
                  <a:lnTo>
                    <a:pt x="21" y="124"/>
                  </a:lnTo>
                  <a:lnTo>
                    <a:pt x="28" y="109"/>
                  </a:lnTo>
                  <a:lnTo>
                    <a:pt x="39" y="96"/>
                  </a:lnTo>
                  <a:lnTo>
                    <a:pt x="50" y="82"/>
                  </a:lnTo>
                  <a:lnTo>
                    <a:pt x="63" y="70"/>
                  </a:lnTo>
                  <a:lnTo>
                    <a:pt x="78" y="59"/>
                  </a:lnTo>
                  <a:lnTo>
                    <a:pt x="94" y="49"/>
                  </a:lnTo>
                  <a:lnTo>
                    <a:pt x="110" y="39"/>
                  </a:lnTo>
                  <a:lnTo>
                    <a:pt x="126" y="31"/>
                  </a:lnTo>
                  <a:lnTo>
                    <a:pt x="142" y="24"/>
                  </a:lnTo>
                  <a:lnTo>
                    <a:pt x="158" y="19"/>
                  </a:lnTo>
                  <a:lnTo>
                    <a:pt x="172" y="13"/>
                  </a:lnTo>
                  <a:lnTo>
                    <a:pt x="186" y="10"/>
                  </a:lnTo>
                  <a:lnTo>
                    <a:pt x="198" y="7"/>
                  </a:lnTo>
                  <a:lnTo>
                    <a:pt x="190" y="3"/>
                  </a:lnTo>
                  <a:lnTo>
                    <a:pt x="177" y="0"/>
                  </a:lnTo>
                  <a:lnTo>
                    <a:pt x="162" y="3"/>
                  </a:lnTo>
                  <a:lnTo>
                    <a:pt x="144" y="6"/>
                  </a:lnTo>
                  <a:lnTo>
                    <a:pt x="124" y="12"/>
                  </a:lnTo>
                  <a:lnTo>
                    <a:pt x="105" y="19"/>
                  </a:lnTo>
                  <a:lnTo>
                    <a:pt x="88" y="28"/>
                  </a:lnTo>
                  <a:lnTo>
                    <a:pt x="73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0" name="Freeform 630">
              <a:extLst>
                <a:ext uri="{FF2B5EF4-FFF2-40B4-BE49-F238E27FC236}">
                  <a16:creationId xmlns:a16="http://schemas.microsoft.com/office/drawing/2014/main" xmlns="" id="{3227D855-2521-5D23-7CB3-D805D3BAE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3145"/>
              <a:ext cx="22" cy="30"/>
            </a:xfrm>
            <a:custGeom>
              <a:avLst/>
              <a:gdLst>
                <a:gd name="T0" fmla="*/ 0 w 128"/>
                <a:gd name="T1" fmla="*/ 0 h 183"/>
                <a:gd name="T2" fmla="*/ 0 w 128"/>
                <a:gd name="T3" fmla="*/ 0 h 183"/>
                <a:gd name="T4" fmla="*/ 0 w 128"/>
                <a:gd name="T5" fmla="*/ 0 h 183"/>
                <a:gd name="T6" fmla="*/ 0 w 128"/>
                <a:gd name="T7" fmla="*/ 0 h 183"/>
                <a:gd name="T8" fmla="*/ 0 w 128"/>
                <a:gd name="T9" fmla="*/ 0 h 183"/>
                <a:gd name="T10" fmla="*/ 0 w 128"/>
                <a:gd name="T11" fmla="*/ 0 h 183"/>
                <a:gd name="T12" fmla="*/ 0 w 128"/>
                <a:gd name="T13" fmla="*/ 0 h 183"/>
                <a:gd name="T14" fmla="*/ 0 w 128"/>
                <a:gd name="T15" fmla="*/ 0 h 183"/>
                <a:gd name="T16" fmla="*/ 0 w 128"/>
                <a:gd name="T17" fmla="*/ 0 h 183"/>
                <a:gd name="T18" fmla="*/ 0 w 128"/>
                <a:gd name="T19" fmla="*/ 0 h 183"/>
                <a:gd name="T20" fmla="*/ 0 w 128"/>
                <a:gd name="T21" fmla="*/ 0 h 183"/>
                <a:gd name="T22" fmla="*/ 0 w 128"/>
                <a:gd name="T23" fmla="*/ 0 h 183"/>
                <a:gd name="T24" fmla="*/ 0 w 128"/>
                <a:gd name="T25" fmla="*/ 0 h 183"/>
                <a:gd name="T26" fmla="*/ 0 w 128"/>
                <a:gd name="T27" fmla="*/ 0 h 183"/>
                <a:gd name="T28" fmla="*/ 0 w 128"/>
                <a:gd name="T29" fmla="*/ 0 h 183"/>
                <a:gd name="T30" fmla="*/ 0 w 128"/>
                <a:gd name="T31" fmla="*/ 0 h 183"/>
                <a:gd name="T32" fmla="*/ 0 w 128"/>
                <a:gd name="T33" fmla="*/ 0 h 183"/>
                <a:gd name="T34" fmla="*/ 0 w 128"/>
                <a:gd name="T35" fmla="*/ 0 h 183"/>
                <a:gd name="T36" fmla="*/ 0 w 128"/>
                <a:gd name="T37" fmla="*/ 0 h 183"/>
                <a:gd name="T38" fmla="*/ 0 w 128"/>
                <a:gd name="T39" fmla="*/ 0 h 183"/>
                <a:gd name="T40" fmla="*/ 0 w 128"/>
                <a:gd name="T41" fmla="*/ 0 h 183"/>
                <a:gd name="T42" fmla="*/ 0 w 128"/>
                <a:gd name="T43" fmla="*/ 0 h 183"/>
                <a:gd name="T44" fmla="*/ 0 w 128"/>
                <a:gd name="T45" fmla="*/ 0 h 183"/>
                <a:gd name="T46" fmla="*/ 0 w 128"/>
                <a:gd name="T47" fmla="*/ 0 h 183"/>
                <a:gd name="T48" fmla="*/ 0 w 128"/>
                <a:gd name="T49" fmla="*/ 0 h 183"/>
                <a:gd name="T50" fmla="*/ 0 w 128"/>
                <a:gd name="T51" fmla="*/ 0 h 183"/>
                <a:gd name="T52" fmla="*/ 0 w 128"/>
                <a:gd name="T53" fmla="*/ 0 h 183"/>
                <a:gd name="T54" fmla="*/ 0 w 128"/>
                <a:gd name="T55" fmla="*/ 0 h 183"/>
                <a:gd name="T56" fmla="*/ 0 w 128"/>
                <a:gd name="T57" fmla="*/ 0 h 183"/>
                <a:gd name="T58" fmla="*/ 0 w 128"/>
                <a:gd name="T59" fmla="*/ 0 h 183"/>
                <a:gd name="T60" fmla="*/ 0 w 128"/>
                <a:gd name="T61" fmla="*/ 0 h 183"/>
                <a:gd name="T62" fmla="*/ 0 w 128"/>
                <a:gd name="T63" fmla="*/ 0 h 183"/>
                <a:gd name="T64" fmla="*/ 0 w 128"/>
                <a:gd name="T65" fmla="*/ 0 h 183"/>
                <a:gd name="T66" fmla="*/ 0 w 128"/>
                <a:gd name="T67" fmla="*/ 0 h 183"/>
                <a:gd name="T68" fmla="*/ 0 w 128"/>
                <a:gd name="T69" fmla="*/ 0 h 183"/>
                <a:gd name="T70" fmla="*/ 0 w 128"/>
                <a:gd name="T71" fmla="*/ 0 h 183"/>
                <a:gd name="T72" fmla="*/ 0 w 128"/>
                <a:gd name="T73" fmla="*/ 0 h 183"/>
                <a:gd name="T74" fmla="*/ 0 w 128"/>
                <a:gd name="T75" fmla="*/ 0 h 183"/>
                <a:gd name="T76" fmla="*/ 0 w 128"/>
                <a:gd name="T77" fmla="*/ 0 h 183"/>
                <a:gd name="T78" fmla="*/ 0 w 128"/>
                <a:gd name="T79" fmla="*/ 0 h 183"/>
                <a:gd name="T80" fmla="*/ 0 w 128"/>
                <a:gd name="T81" fmla="*/ 0 h 18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28"/>
                <a:gd name="T124" fmla="*/ 0 h 183"/>
                <a:gd name="T125" fmla="*/ 128 w 128"/>
                <a:gd name="T126" fmla="*/ 183 h 18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28" h="183">
                  <a:moveTo>
                    <a:pt x="108" y="61"/>
                  </a:moveTo>
                  <a:lnTo>
                    <a:pt x="111" y="80"/>
                  </a:lnTo>
                  <a:lnTo>
                    <a:pt x="109" y="97"/>
                  </a:lnTo>
                  <a:lnTo>
                    <a:pt x="101" y="110"/>
                  </a:lnTo>
                  <a:lnTo>
                    <a:pt x="89" y="123"/>
                  </a:lnTo>
                  <a:lnTo>
                    <a:pt x="75" y="134"/>
                  </a:lnTo>
                  <a:lnTo>
                    <a:pt x="60" y="145"/>
                  </a:lnTo>
                  <a:lnTo>
                    <a:pt x="43" y="156"/>
                  </a:lnTo>
                  <a:lnTo>
                    <a:pt x="29" y="167"/>
                  </a:lnTo>
                  <a:lnTo>
                    <a:pt x="27" y="170"/>
                  </a:lnTo>
                  <a:lnTo>
                    <a:pt x="26" y="172"/>
                  </a:lnTo>
                  <a:lnTo>
                    <a:pt x="26" y="176"/>
                  </a:lnTo>
                  <a:lnTo>
                    <a:pt x="28" y="179"/>
                  </a:lnTo>
                  <a:lnTo>
                    <a:pt x="30" y="182"/>
                  </a:lnTo>
                  <a:lnTo>
                    <a:pt x="34" y="183"/>
                  </a:lnTo>
                  <a:lnTo>
                    <a:pt x="37" y="183"/>
                  </a:lnTo>
                  <a:lnTo>
                    <a:pt x="41" y="182"/>
                  </a:lnTo>
                  <a:lnTo>
                    <a:pt x="58" y="171"/>
                  </a:lnTo>
                  <a:lnTo>
                    <a:pt x="76" y="160"/>
                  </a:lnTo>
                  <a:lnTo>
                    <a:pt x="92" y="147"/>
                  </a:lnTo>
                  <a:lnTo>
                    <a:pt x="108" y="132"/>
                  </a:lnTo>
                  <a:lnTo>
                    <a:pt x="118" y="116"/>
                  </a:lnTo>
                  <a:lnTo>
                    <a:pt x="125" y="98"/>
                  </a:lnTo>
                  <a:lnTo>
                    <a:pt x="128" y="78"/>
                  </a:lnTo>
                  <a:lnTo>
                    <a:pt x="123" y="58"/>
                  </a:lnTo>
                  <a:lnTo>
                    <a:pt x="112" y="41"/>
                  </a:lnTo>
                  <a:lnTo>
                    <a:pt x="98" y="28"/>
                  </a:lnTo>
                  <a:lnTo>
                    <a:pt x="80" y="16"/>
                  </a:lnTo>
                  <a:lnTo>
                    <a:pt x="61" y="8"/>
                  </a:lnTo>
                  <a:lnTo>
                    <a:pt x="41" y="2"/>
                  </a:lnTo>
                  <a:lnTo>
                    <a:pt x="23" y="0"/>
                  </a:lnTo>
                  <a:lnTo>
                    <a:pt x="9" y="1"/>
                  </a:lnTo>
                  <a:lnTo>
                    <a:pt x="0" y="6"/>
                  </a:lnTo>
                  <a:lnTo>
                    <a:pt x="16" y="10"/>
                  </a:lnTo>
                  <a:lnTo>
                    <a:pt x="33" y="14"/>
                  </a:lnTo>
                  <a:lnTo>
                    <a:pt x="48" y="17"/>
                  </a:lnTo>
                  <a:lnTo>
                    <a:pt x="63" y="22"/>
                  </a:lnTo>
                  <a:lnTo>
                    <a:pt x="77" y="28"/>
                  </a:lnTo>
                  <a:lnTo>
                    <a:pt x="90" y="36"/>
                  </a:lnTo>
                  <a:lnTo>
                    <a:pt x="101" y="46"/>
                  </a:lnTo>
                  <a:lnTo>
                    <a:pt x="108" y="61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1" name="Freeform 631">
              <a:extLst>
                <a:ext uri="{FF2B5EF4-FFF2-40B4-BE49-F238E27FC236}">
                  <a16:creationId xmlns:a16="http://schemas.microsoft.com/office/drawing/2014/main" xmlns="" id="{70BD49BA-2D7F-A10A-39A2-AD003AD76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" y="3138"/>
              <a:ext cx="53" cy="63"/>
            </a:xfrm>
            <a:custGeom>
              <a:avLst/>
              <a:gdLst>
                <a:gd name="T0" fmla="*/ 0 w 323"/>
                <a:gd name="T1" fmla="*/ 0 h 379"/>
                <a:gd name="T2" fmla="*/ 0 w 323"/>
                <a:gd name="T3" fmla="*/ 0 h 379"/>
                <a:gd name="T4" fmla="*/ 0 w 323"/>
                <a:gd name="T5" fmla="*/ 0 h 379"/>
                <a:gd name="T6" fmla="*/ 0 w 323"/>
                <a:gd name="T7" fmla="*/ 0 h 379"/>
                <a:gd name="T8" fmla="*/ 0 w 323"/>
                <a:gd name="T9" fmla="*/ 0 h 379"/>
                <a:gd name="T10" fmla="*/ 0 w 323"/>
                <a:gd name="T11" fmla="*/ 0 h 379"/>
                <a:gd name="T12" fmla="*/ 0 w 323"/>
                <a:gd name="T13" fmla="*/ 0 h 379"/>
                <a:gd name="T14" fmla="*/ 0 w 323"/>
                <a:gd name="T15" fmla="*/ 0 h 379"/>
                <a:gd name="T16" fmla="*/ 0 w 323"/>
                <a:gd name="T17" fmla="*/ 0 h 379"/>
                <a:gd name="T18" fmla="*/ 0 w 323"/>
                <a:gd name="T19" fmla="*/ 0 h 379"/>
                <a:gd name="T20" fmla="*/ 0 w 323"/>
                <a:gd name="T21" fmla="*/ 0 h 379"/>
                <a:gd name="T22" fmla="*/ 0 w 323"/>
                <a:gd name="T23" fmla="*/ 0 h 379"/>
                <a:gd name="T24" fmla="*/ 0 w 323"/>
                <a:gd name="T25" fmla="*/ 0 h 379"/>
                <a:gd name="T26" fmla="*/ 0 w 323"/>
                <a:gd name="T27" fmla="*/ 0 h 379"/>
                <a:gd name="T28" fmla="*/ 0 w 323"/>
                <a:gd name="T29" fmla="*/ 0 h 379"/>
                <a:gd name="T30" fmla="*/ 0 w 323"/>
                <a:gd name="T31" fmla="*/ 0 h 379"/>
                <a:gd name="T32" fmla="*/ 0 w 323"/>
                <a:gd name="T33" fmla="*/ 0 h 379"/>
                <a:gd name="T34" fmla="*/ 0 w 323"/>
                <a:gd name="T35" fmla="*/ 0 h 379"/>
                <a:gd name="T36" fmla="*/ 0 w 323"/>
                <a:gd name="T37" fmla="*/ 0 h 379"/>
                <a:gd name="T38" fmla="*/ 0 w 323"/>
                <a:gd name="T39" fmla="*/ 0 h 379"/>
                <a:gd name="T40" fmla="*/ 0 w 323"/>
                <a:gd name="T41" fmla="*/ 0 h 379"/>
                <a:gd name="T42" fmla="*/ 0 w 323"/>
                <a:gd name="T43" fmla="*/ 0 h 379"/>
                <a:gd name="T44" fmla="*/ 0 w 323"/>
                <a:gd name="T45" fmla="*/ 0 h 379"/>
                <a:gd name="T46" fmla="*/ 0 w 323"/>
                <a:gd name="T47" fmla="*/ 0 h 379"/>
                <a:gd name="T48" fmla="*/ 0 w 323"/>
                <a:gd name="T49" fmla="*/ 0 h 379"/>
                <a:gd name="T50" fmla="*/ 0 w 323"/>
                <a:gd name="T51" fmla="*/ 0 h 379"/>
                <a:gd name="T52" fmla="*/ 0 w 323"/>
                <a:gd name="T53" fmla="*/ 0 h 379"/>
                <a:gd name="T54" fmla="*/ 0 w 323"/>
                <a:gd name="T55" fmla="*/ 0 h 379"/>
                <a:gd name="T56" fmla="*/ 0 w 323"/>
                <a:gd name="T57" fmla="*/ 0 h 379"/>
                <a:gd name="T58" fmla="*/ 0 w 323"/>
                <a:gd name="T59" fmla="*/ 0 h 379"/>
                <a:gd name="T60" fmla="*/ 0 w 323"/>
                <a:gd name="T61" fmla="*/ 0 h 379"/>
                <a:gd name="T62" fmla="*/ 0 w 323"/>
                <a:gd name="T63" fmla="*/ 0 h 379"/>
                <a:gd name="T64" fmla="*/ 0 w 323"/>
                <a:gd name="T65" fmla="*/ 0 h 379"/>
                <a:gd name="T66" fmla="*/ 0 w 323"/>
                <a:gd name="T67" fmla="*/ 0 h 379"/>
                <a:gd name="T68" fmla="*/ 0 w 323"/>
                <a:gd name="T69" fmla="*/ 0 h 379"/>
                <a:gd name="T70" fmla="*/ 0 w 323"/>
                <a:gd name="T71" fmla="*/ 0 h 379"/>
                <a:gd name="T72" fmla="*/ 0 w 323"/>
                <a:gd name="T73" fmla="*/ 0 h 379"/>
                <a:gd name="T74" fmla="*/ 0 w 323"/>
                <a:gd name="T75" fmla="*/ 0 h 379"/>
                <a:gd name="T76" fmla="*/ 0 w 323"/>
                <a:gd name="T77" fmla="*/ 0 h 379"/>
                <a:gd name="T78" fmla="*/ 0 w 323"/>
                <a:gd name="T79" fmla="*/ 0 h 379"/>
                <a:gd name="T80" fmla="*/ 0 w 323"/>
                <a:gd name="T81" fmla="*/ 0 h 379"/>
                <a:gd name="T82" fmla="*/ 0 w 323"/>
                <a:gd name="T83" fmla="*/ 0 h 379"/>
                <a:gd name="T84" fmla="*/ 0 w 323"/>
                <a:gd name="T85" fmla="*/ 0 h 379"/>
                <a:gd name="T86" fmla="*/ 0 w 323"/>
                <a:gd name="T87" fmla="*/ 0 h 37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23"/>
                <a:gd name="T133" fmla="*/ 0 h 379"/>
                <a:gd name="T134" fmla="*/ 323 w 323"/>
                <a:gd name="T135" fmla="*/ 379 h 37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23" h="379">
                  <a:moveTo>
                    <a:pt x="126" y="50"/>
                  </a:moveTo>
                  <a:lnTo>
                    <a:pt x="101" y="70"/>
                  </a:lnTo>
                  <a:lnTo>
                    <a:pt x="76" y="92"/>
                  </a:lnTo>
                  <a:lnTo>
                    <a:pt x="54" y="115"/>
                  </a:lnTo>
                  <a:lnTo>
                    <a:pt x="34" y="140"/>
                  </a:lnTo>
                  <a:lnTo>
                    <a:pt x="18" y="167"/>
                  </a:lnTo>
                  <a:lnTo>
                    <a:pt x="6" y="196"/>
                  </a:lnTo>
                  <a:lnTo>
                    <a:pt x="0" y="227"/>
                  </a:lnTo>
                  <a:lnTo>
                    <a:pt x="1" y="259"/>
                  </a:lnTo>
                  <a:lnTo>
                    <a:pt x="4" y="267"/>
                  </a:lnTo>
                  <a:lnTo>
                    <a:pt x="7" y="277"/>
                  </a:lnTo>
                  <a:lnTo>
                    <a:pt x="11" y="283"/>
                  </a:lnTo>
                  <a:lnTo>
                    <a:pt x="15" y="291"/>
                  </a:lnTo>
                  <a:lnTo>
                    <a:pt x="21" y="298"/>
                  </a:lnTo>
                  <a:lnTo>
                    <a:pt x="27" y="305"/>
                  </a:lnTo>
                  <a:lnTo>
                    <a:pt x="34" y="311"/>
                  </a:lnTo>
                  <a:lnTo>
                    <a:pt x="41" y="316"/>
                  </a:lnTo>
                  <a:lnTo>
                    <a:pt x="57" y="325"/>
                  </a:lnTo>
                  <a:lnTo>
                    <a:pt x="72" y="333"/>
                  </a:lnTo>
                  <a:lnTo>
                    <a:pt x="87" y="340"/>
                  </a:lnTo>
                  <a:lnTo>
                    <a:pt x="103" y="345"/>
                  </a:lnTo>
                  <a:lnTo>
                    <a:pt x="120" y="351"/>
                  </a:lnTo>
                  <a:lnTo>
                    <a:pt x="136" y="356"/>
                  </a:lnTo>
                  <a:lnTo>
                    <a:pt x="153" y="360"/>
                  </a:lnTo>
                  <a:lnTo>
                    <a:pt x="169" y="364"/>
                  </a:lnTo>
                  <a:lnTo>
                    <a:pt x="187" y="367"/>
                  </a:lnTo>
                  <a:lnTo>
                    <a:pt x="204" y="370"/>
                  </a:lnTo>
                  <a:lnTo>
                    <a:pt x="221" y="372"/>
                  </a:lnTo>
                  <a:lnTo>
                    <a:pt x="238" y="374"/>
                  </a:lnTo>
                  <a:lnTo>
                    <a:pt x="256" y="375"/>
                  </a:lnTo>
                  <a:lnTo>
                    <a:pt x="273" y="376"/>
                  </a:lnTo>
                  <a:lnTo>
                    <a:pt x="290" y="378"/>
                  </a:lnTo>
                  <a:lnTo>
                    <a:pt x="307" y="379"/>
                  </a:lnTo>
                  <a:lnTo>
                    <a:pt x="312" y="379"/>
                  </a:lnTo>
                  <a:lnTo>
                    <a:pt x="317" y="375"/>
                  </a:lnTo>
                  <a:lnTo>
                    <a:pt x="320" y="372"/>
                  </a:lnTo>
                  <a:lnTo>
                    <a:pt x="323" y="366"/>
                  </a:lnTo>
                  <a:lnTo>
                    <a:pt x="323" y="360"/>
                  </a:lnTo>
                  <a:lnTo>
                    <a:pt x="320" y="356"/>
                  </a:lnTo>
                  <a:lnTo>
                    <a:pt x="316" y="352"/>
                  </a:lnTo>
                  <a:lnTo>
                    <a:pt x="311" y="351"/>
                  </a:lnTo>
                  <a:lnTo>
                    <a:pt x="295" y="351"/>
                  </a:lnTo>
                  <a:lnTo>
                    <a:pt x="279" y="351"/>
                  </a:lnTo>
                  <a:lnTo>
                    <a:pt x="263" y="350"/>
                  </a:lnTo>
                  <a:lnTo>
                    <a:pt x="248" y="349"/>
                  </a:lnTo>
                  <a:lnTo>
                    <a:pt x="231" y="348"/>
                  </a:lnTo>
                  <a:lnTo>
                    <a:pt x="215" y="345"/>
                  </a:lnTo>
                  <a:lnTo>
                    <a:pt x="200" y="343"/>
                  </a:lnTo>
                  <a:lnTo>
                    <a:pt x="183" y="341"/>
                  </a:lnTo>
                  <a:lnTo>
                    <a:pt x="168" y="337"/>
                  </a:lnTo>
                  <a:lnTo>
                    <a:pt x="151" y="334"/>
                  </a:lnTo>
                  <a:lnTo>
                    <a:pt x="136" y="329"/>
                  </a:lnTo>
                  <a:lnTo>
                    <a:pt x="121" y="325"/>
                  </a:lnTo>
                  <a:lnTo>
                    <a:pt x="106" y="320"/>
                  </a:lnTo>
                  <a:lnTo>
                    <a:pt x="92" y="313"/>
                  </a:lnTo>
                  <a:lnTo>
                    <a:pt x="76" y="306"/>
                  </a:lnTo>
                  <a:lnTo>
                    <a:pt x="62" y="300"/>
                  </a:lnTo>
                  <a:lnTo>
                    <a:pt x="51" y="291"/>
                  </a:lnTo>
                  <a:lnTo>
                    <a:pt x="41" y="280"/>
                  </a:lnTo>
                  <a:lnTo>
                    <a:pt x="35" y="269"/>
                  </a:lnTo>
                  <a:lnTo>
                    <a:pt x="31" y="255"/>
                  </a:lnTo>
                  <a:lnTo>
                    <a:pt x="31" y="239"/>
                  </a:lnTo>
                  <a:lnTo>
                    <a:pt x="33" y="218"/>
                  </a:lnTo>
                  <a:lnTo>
                    <a:pt x="38" y="197"/>
                  </a:lnTo>
                  <a:lnTo>
                    <a:pt x="42" y="182"/>
                  </a:lnTo>
                  <a:lnTo>
                    <a:pt x="51" y="165"/>
                  </a:lnTo>
                  <a:lnTo>
                    <a:pt x="60" y="150"/>
                  </a:lnTo>
                  <a:lnTo>
                    <a:pt x="68" y="136"/>
                  </a:lnTo>
                  <a:lnTo>
                    <a:pt x="79" y="124"/>
                  </a:lnTo>
                  <a:lnTo>
                    <a:pt x="89" y="111"/>
                  </a:lnTo>
                  <a:lnTo>
                    <a:pt x="101" y="100"/>
                  </a:lnTo>
                  <a:lnTo>
                    <a:pt x="114" y="88"/>
                  </a:lnTo>
                  <a:lnTo>
                    <a:pt x="129" y="76"/>
                  </a:lnTo>
                  <a:lnTo>
                    <a:pt x="144" y="64"/>
                  </a:lnTo>
                  <a:lnTo>
                    <a:pt x="162" y="53"/>
                  </a:lnTo>
                  <a:lnTo>
                    <a:pt x="181" y="41"/>
                  </a:lnTo>
                  <a:lnTo>
                    <a:pt x="201" y="31"/>
                  </a:lnTo>
                  <a:lnTo>
                    <a:pt x="219" y="22"/>
                  </a:lnTo>
                  <a:lnTo>
                    <a:pt x="237" y="14"/>
                  </a:lnTo>
                  <a:lnTo>
                    <a:pt x="253" y="7"/>
                  </a:lnTo>
                  <a:lnTo>
                    <a:pt x="268" y="1"/>
                  </a:lnTo>
                  <a:lnTo>
                    <a:pt x="255" y="0"/>
                  </a:lnTo>
                  <a:lnTo>
                    <a:pt x="238" y="1"/>
                  </a:lnTo>
                  <a:lnTo>
                    <a:pt x="221" y="5"/>
                  </a:lnTo>
                  <a:lnTo>
                    <a:pt x="201" y="11"/>
                  </a:lnTo>
                  <a:lnTo>
                    <a:pt x="181" y="19"/>
                  </a:lnTo>
                  <a:lnTo>
                    <a:pt x="161" y="28"/>
                  </a:lnTo>
                  <a:lnTo>
                    <a:pt x="142" y="39"/>
                  </a:lnTo>
                  <a:lnTo>
                    <a:pt x="126" y="5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2" name="Freeform 632">
              <a:extLst>
                <a:ext uri="{FF2B5EF4-FFF2-40B4-BE49-F238E27FC236}">
                  <a16:creationId xmlns:a16="http://schemas.microsoft.com/office/drawing/2014/main" xmlns="" id="{2A2EDFBC-A2D6-7789-BF10-644AE191A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3136"/>
              <a:ext cx="47" cy="42"/>
            </a:xfrm>
            <a:custGeom>
              <a:avLst/>
              <a:gdLst>
                <a:gd name="T0" fmla="*/ 0 w 282"/>
                <a:gd name="T1" fmla="*/ 0 h 253"/>
                <a:gd name="T2" fmla="*/ 0 w 282"/>
                <a:gd name="T3" fmla="*/ 0 h 253"/>
                <a:gd name="T4" fmla="*/ 0 w 282"/>
                <a:gd name="T5" fmla="*/ 0 h 253"/>
                <a:gd name="T6" fmla="*/ 0 w 282"/>
                <a:gd name="T7" fmla="*/ 0 h 253"/>
                <a:gd name="T8" fmla="*/ 0 w 282"/>
                <a:gd name="T9" fmla="*/ 0 h 253"/>
                <a:gd name="T10" fmla="*/ 0 w 282"/>
                <a:gd name="T11" fmla="*/ 0 h 253"/>
                <a:gd name="T12" fmla="*/ 0 w 282"/>
                <a:gd name="T13" fmla="*/ 0 h 253"/>
                <a:gd name="T14" fmla="*/ 0 w 282"/>
                <a:gd name="T15" fmla="*/ 0 h 253"/>
                <a:gd name="T16" fmla="*/ 0 w 282"/>
                <a:gd name="T17" fmla="*/ 0 h 253"/>
                <a:gd name="T18" fmla="*/ 0 w 282"/>
                <a:gd name="T19" fmla="*/ 0 h 253"/>
                <a:gd name="T20" fmla="*/ 0 w 282"/>
                <a:gd name="T21" fmla="*/ 0 h 253"/>
                <a:gd name="T22" fmla="*/ 0 w 282"/>
                <a:gd name="T23" fmla="*/ 0 h 253"/>
                <a:gd name="T24" fmla="*/ 0 w 282"/>
                <a:gd name="T25" fmla="*/ 0 h 253"/>
                <a:gd name="T26" fmla="*/ 0 w 282"/>
                <a:gd name="T27" fmla="*/ 0 h 253"/>
                <a:gd name="T28" fmla="*/ 0 w 282"/>
                <a:gd name="T29" fmla="*/ 0 h 253"/>
                <a:gd name="T30" fmla="*/ 0 w 282"/>
                <a:gd name="T31" fmla="*/ 0 h 253"/>
                <a:gd name="T32" fmla="*/ 0 w 282"/>
                <a:gd name="T33" fmla="*/ 0 h 253"/>
                <a:gd name="T34" fmla="*/ 0 w 282"/>
                <a:gd name="T35" fmla="*/ 0 h 253"/>
                <a:gd name="T36" fmla="*/ 0 w 282"/>
                <a:gd name="T37" fmla="*/ 0 h 253"/>
                <a:gd name="T38" fmla="*/ 0 w 282"/>
                <a:gd name="T39" fmla="*/ 0 h 253"/>
                <a:gd name="T40" fmla="*/ 0 w 282"/>
                <a:gd name="T41" fmla="*/ 0 h 253"/>
                <a:gd name="T42" fmla="*/ 0 w 282"/>
                <a:gd name="T43" fmla="*/ 0 h 253"/>
                <a:gd name="T44" fmla="*/ 0 w 282"/>
                <a:gd name="T45" fmla="*/ 0 h 253"/>
                <a:gd name="T46" fmla="*/ 0 w 282"/>
                <a:gd name="T47" fmla="*/ 0 h 253"/>
                <a:gd name="T48" fmla="*/ 0 w 282"/>
                <a:gd name="T49" fmla="*/ 0 h 253"/>
                <a:gd name="T50" fmla="*/ 0 w 282"/>
                <a:gd name="T51" fmla="*/ 0 h 253"/>
                <a:gd name="T52" fmla="*/ 0 w 282"/>
                <a:gd name="T53" fmla="*/ 0 h 253"/>
                <a:gd name="T54" fmla="*/ 0 w 282"/>
                <a:gd name="T55" fmla="*/ 0 h 253"/>
                <a:gd name="T56" fmla="*/ 0 w 282"/>
                <a:gd name="T57" fmla="*/ 0 h 253"/>
                <a:gd name="T58" fmla="*/ 0 w 282"/>
                <a:gd name="T59" fmla="*/ 0 h 253"/>
                <a:gd name="T60" fmla="*/ 0 w 282"/>
                <a:gd name="T61" fmla="*/ 0 h 253"/>
                <a:gd name="T62" fmla="*/ 0 w 282"/>
                <a:gd name="T63" fmla="*/ 0 h 253"/>
                <a:gd name="T64" fmla="*/ 0 w 282"/>
                <a:gd name="T65" fmla="*/ 0 h 253"/>
                <a:gd name="T66" fmla="*/ 0 w 282"/>
                <a:gd name="T67" fmla="*/ 0 h 253"/>
                <a:gd name="T68" fmla="*/ 0 w 282"/>
                <a:gd name="T69" fmla="*/ 0 h 253"/>
                <a:gd name="T70" fmla="*/ 0 w 282"/>
                <a:gd name="T71" fmla="*/ 0 h 253"/>
                <a:gd name="T72" fmla="*/ 0 w 282"/>
                <a:gd name="T73" fmla="*/ 0 h 253"/>
                <a:gd name="T74" fmla="*/ 0 w 282"/>
                <a:gd name="T75" fmla="*/ 0 h 253"/>
                <a:gd name="T76" fmla="*/ 0 w 282"/>
                <a:gd name="T77" fmla="*/ 0 h 253"/>
                <a:gd name="T78" fmla="*/ 0 w 282"/>
                <a:gd name="T79" fmla="*/ 0 h 253"/>
                <a:gd name="T80" fmla="*/ 0 w 282"/>
                <a:gd name="T81" fmla="*/ 0 h 253"/>
                <a:gd name="T82" fmla="*/ 0 w 282"/>
                <a:gd name="T83" fmla="*/ 0 h 253"/>
                <a:gd name="T84" fmla="*/ 0 w 282"/>
                <a:gd name="T85" fmla="*/ 0 h 253"/>
                <a:gd name="T86" fmla="*/ 0 w 282"/>
                <a:gd name="T87" fmla="*/ 0 h 253"/>
                <a:gd name="T88" fmla="*/ 0 w 282"/>
                <a:gd name="T89" fmla="*/ 0 h 253"/>
                <a:gd name="T90" fmla="*/ 0 w 282"/>
                <a:gd name="T91" fmla="*/ 0 h 253"/>
                <a:gd name="T92" fmla="*/ 0 w 282"/>
                <a:gd name="T93" fmla="*/ 0 h 253"/>
                <a:gd name="T94" fmla="*/ 0 w 282"/>
                <a:gd name="T95" fmla="*/ 0 h 253"/>
                <a:gd name="T96" fmla="*/ 0 w 282"/>
                <a:gd name="T97" fmla="*/ 0 h 253"/>
                <a:gd name="T98" fmla="*/ 0 w 282"/>
                <a:gd name="T99" fmla="*/ 0 h 253"/>
                <a:gd name="T100" fmla="*/ 0 w 282"/>
                <a:gd name="T101" fmla="*/ 0 h 253"/>
                <a:gd name="T102" fmla="*/ 0 w 282"/>
                <a:gd name="T103" fmla="*/ 0 h 253"/>
                <a:gd name="T104" fmla="*/ 0 w 282"/>
                <a:gd name="T105" fmla="*/ 0 h 253"/>
                <a:gd name="T106" fmla="*/ 0 w 282"/>
                <a:gd name="T107" fmla="*/ 0 h 253"/>
                <a:gd name="T108" fmla="*/ 0 w 282"/>
                <a:gd name="T109" fmla="*/ 0 h 253"/>
                <a:gd name="T110" fmla="*/ 0 w 282"/>
                <a:gd name="T111" fmla="*/ 0 h 253"/>
                <a:gd name="T112" fmla="*/ 0 w 282"/>
                <a:gd name="T113" fmla="*/ 0 h 253"/>
                <a:gd name="T114" fmla="*/ 0 w 282"/>
                <a:gd name="T115" fmla="*/ 0 h 253"/>
                <a:gd name="T116" fmla="*/ 0 w 282"/>
                <a:gd name="T117" fmla="*/ 0 h 253"/>
                <a:gd name="T118" fmla="*/ 0 w 282"/>
                <a:gd name="T119" fmla="*/ 0 h 253"/>
                <a:gd name="T120" fmla="*/ 0 w 282"/>
                <a:gd name="T121" fmla="*/ 0 h 2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82"/>
                <a:gd name="T184" fmla="*/ 0 h 253"/>
                <a:gd name="T185" fmla="*/ 282 w 282"/>
                <a:gd name="T186" fmla="*/ 253 h 25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82" h="253">
                  <a:moveTo>
                    <a:pt x="235" y="78"/>
                  </a:moveTo>
                  <a:lnTo>
                    <a:pt x="248" y="92"/>
                  </a:lnTo>
                  <a:lnTo>
                    <a:pt x="255" y="108"/>
                  </a:lnTo>
                  <a:lnTo>
                    <a:pt x="259" y="125"/>
                  </a:lnTo>
                  <a:lnTo>
                    <a:pt x="259" y="144"/>
                  </a:lnTo>
                  <a:lnTo>
                    <a:pt x="257" y="159"/>
                  </a:lnTo>
                  <a:lnTo>
                    <a:pt x="252" y="171"/>
                  </a:lnTo>
                  <a:lnTo>
                    <a:pt x="244" y="184"/>
                  </a:lnTo>
                  <a:lnTo>
                    <a:pt x="236" y="194"/>
                  </a:lnTo>
                  <a:lnTo>
                    <a:pt x="225" y="206"/>
                  </a:lnTo>
                  <a:lnTo>
                    <a:pt x="215" y="215"/>
                  </a:lnTo>
                  <a:lnTo>
                    <a:pt x="204" y="225"/>
                  </a:lnTo>
                  <a:lnTo>
                    <a:pt x="194" y="236"/>
                  </a:lnTo>
                  <a:lnTo>
                    <a:pt x="191" y="239"/>
                  </a:lnTo>
                  <a:lnTo>
                    <a:pt x="190" y="242"/>
                  </a:lnTo>
                  <a:lnTo>
                    <a:pt x="191" y="246"/>
                  </a:lnTo>
                  <a:lnTo>
                    <a:pt x="194" y="249"/>
                  </a:lnTo>
                  <a:lnTo>
                    <a:pt x="197" y="252"/>
                  </a:lnTo>
                  <a:lnTo>
                    <a:pt x="201" y="253"/>
                  </a:lnTo>
                  <a:lnTo>
                    <a:pt x="205" y="252"/>
                  </a:lnTo>
                  <a:lnTo>
                    <a:pt x="209" y="249"/>
                  </a:lnTo>
                  <a:lnTo>
                    <a:pt x="232" y="234"/>
                  </a:lnTo>
                  <a:lnTo>
                    <a:pt x="251" y="215"/>
                  </a:lnTo>
                  <a:lnTo>
                    <a:pt x="267" y="192"/>
                  </a:lnTo>
                  <a:lnTo>
                    <a:pt x="278" y="168"/>
                  </a:lnTo>
                  <a:lnTo>
                    <a:pt x="282" y="141"/>
                  </a:lnTo>
                  <a:lnTo>
                    <a:pt x="279" y="116"/>
                  </a:lnTo>
                  <a:lnTo>
                    <a:pt x="270" y="92"/>
                  </a:lnTo>
                  <a:lnTo>
                    <a:pt x="251" y="70"/>
                  </a:lnTo>
                  <a:lnTo>
                    <a:pt x="237" y="59"/>
                  </a:lnTo>
                  <a:lnTo>
                    <a:pt x="221" y="48"/>
                  </a:lnTo>
                  <a:lnTo>
                    <a:pt x="202" y="39"/>
                  </a:lnTo>
                  <a:lnTo>
                    <a:pt x="183" y="31"/>
                  </a:lnTo>
                  <a:lnTo>
                    <a:pt x="163" y="24"/>
                  </a:lnTo>
                  <a:lnTo>
                    <a:pt x="142" y="18"/>
                  </a:lnTo>
                  <a:lnTo>
                    <a:pt x="122" y="13"/>
                  </a:lnTo>
                  <a:lnTo>
                    <a:pt x="101" y="8"/>
                  </a:lnTo>
                  <a:lnTo>
                    <a:pt x="82" y="5"/>
                  </a:lnTo>
                  <a:lnTo>
                    <a:pt x="63" y="2"/>
                  </a:lnTo>
                  <a:lnTo>
                    <a:pt x="47" y="0"/>
                  </a:lnTo>
                  <a:lnTo>
                    <a:pt x="32" y="0"/>
                  </a:lnTo>
                  <a:lnTo>
                    <a:pt x="19" y="0"/>
                  </a:lnTo>
                  <a:lnTo>
                    <a:pt x="10" y="1"/>
                  </a:lnTo>
                  <a:lnTo>
                    <a:pt x="4" y="4"/>
                  </a:lnTo>
                  <a:lnTo>
                    <a:pt x="0" y="6"/>
                  </a:lnTo>
                  <a:lnTo>
                    <a:pt x="12" y="8"/>
                  </a:lnTo>
                  <a:lnTo>
                    <a:pt x="25" y="9"/>
                  </a:lnTo>
                  <a:lnTo>
                    <a:pt x="38" y="12"/>
                  </a:lnTo>
                  <a:lnTo>
                    <a:pt x="52" y="14"/>
                  </a:lnTo>
                  <a:lnTo>
                    <a:pt x="67" y="16"/>
                  </a:lnTo>
                  <a:lnTo>
                    <a:pt x="82" y="18"/>
                  </a:lnTo>
                  <a:lnTo>
                    <a:pt x="97" y="22"/>
                  </a:lnTo>
                  <a:lnTo>
                    <a:pt x="114" y="25"/>
                  </a:lnTo>
                  <a:lnTo>
                    <a:pt x="129" y="30"/>
                  </a:lnTo>
                  <a:lnTo>
                    <a:pt x="146" y="35"/>
                  </a:lnTo>
                  <a:lnTo>
                    <a:pt x="162" y="40"/>
                  </a:lnTo>
                  <a:lnTo>
                    <a:pt x="177" y="46"/>
                  </a:lnTo>
                  <a:lnTo>
                    <a:pt x="192" y="53"/>
                  </a:lnTo>
                  <a:lnTo>
                    <a:pt x="208" y="60"/>
                  </a:lnTo>
                  <a:lnTo>
                    <a:pt x="222" y="69"/>
                  </a:lnTo>
                  <a:lnTo>
                    <a:pt x="235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3" name="Freeform 633">
              <a:extLst>
                <a:ext uri="{FF2B5EF4-FFF2-40B4-BE49-F238E27FC236}">
                  <a16:creationId xmlns:a16="http://schemas.microsoft.com/office/drawing/2014/main" xmlns="" id="{41AD402C-41BF-6814-D9DD-BEA2BD7A1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3159"/>
              <a:ext cx="19" cy="39"/>
            </a:xfrm>
            <a:custGeom>
              <a:avLst/>
              <a:gdLst>
                <a:gd name="T0" fmla="*/ 0 w 115"/>
                <a:gd name="T1" fmla="*/ 0 h 236"/>
                <a:gd name="T2" fmla="*/ 0 w 115"/>
                <a:gd name="T3" fmla="*/ 0 h 236"/>
                <a:gd name="T4" fmla="*/ 0 w 115"/>
                <a:gd name="T5" fmla="*/ 0 h 236"/>
                <a:gd name="T6" fmla="*/ 0 w 115"/>
                <a:gd name="T7" fmla="*/ 0 h 236"/>
                <a:gd name="T8" fmla="*/ 0 w 115"/>
                <a:gd name="T9" fmla="*/ 0 h 236"/>
                <a:gd name="T10" fmla="*/ 0 w 115"/>
                <a:gd name="T11" fmla="*/ 0 h 236"/>
                <a:gd name="T12" fmla="*/ 0 w 115"/>
                <a:gd name="T13" fmla="*/ 0 h 236"/>
                <a:gd name="T14" fmla="*/ 0 w 115"/>
                <a:gd name="T15" fmla="*/ 0 h 236"/>
                <a:gd name="T16" fmla="*/ 0 w 115"/>
                <a:gd name="T17" fmla="*/ 0 h 236"/>
                <a:gd name="T18" fmla="*/ 0 w 115"/>
                <a:gd name="T19" fmla="*/ 0 h 236"/>
                <a:gd name="T20" fmla="*/ 0 w 115"/>
                <a:gd name="T21" fmla="*/ 0 h 236"/>
                <a:gd name="T22" fmla="*/ 0 w 115"/>
                <a:gd name="T23" fmla="*/ 0 h 236"/>
                <a:gd name="T24" fmla="*/ 0 w 115"/>
                <a:gd name="T25" fmla="*/ 0 h 236"/>
                <a:gd name="T26" fmla="*/ 0 w 115"/>
                <a:gd name="T27" fmla="*/ 0 h 236"/>
                <a:gd name="T28" fmla="*/ 0 w 115"/>
                <a:gd name="T29" fmla="*/ 0 h 236"/>
                <a:gd name="T30" fmla="*/ 0 w 115"/>
                <a:gd name="T31" fmla="*/ 0 h 236"/>
                <a:gd name="T32" fmla="*/ 0 w 115"/>
                <a:gd name="T33" fmla="*/ 0 h 236"/>
                <a:gd name="T34" fmla="*/ 0 w 115"/>
                <a:gd name="T35" fmla="*/ 0 h 236"/>
                <a:gd name="T36" fmla="*/ 0 w 115"/>
                <a:gd name="T37" fmla="*/ 0 h 236"/>
                <a:gd name="T38" fmla="*/ 0 w 115"/>
                <a:gd name="T39" fmla="*/ 0 h 236"/>
                <a:gd name="T40" fmla="*/ 0 w 115"/>
                <a:gd name="T41" fmla="*/ 0 h 236"/>
                <a:gd name="T42" fmla="*/ 0 w 115"/>
                <a:gd name="T43" fmla="*/ 0 h 236"/>
                <a:gd name="T44" fmla="*/ 0 w 115"/>
                <a:gd name="T45" fmla="*/ 0 h 236"/>
                <a:gd name="T46" fmla="*/ 0 w 115"/>
                <a:gd name="T47" fmla="*/ 0 h 236"/>
                <a:gd name="T48" fmla="*/ 0 w 115"/>
                <a:gd name="T49" fmla="*/ 0 h 236"/>
                <a:gd name="T50" fmla="*/ 0 w 115"/>
                <a:gd name="T51" fmla="*/ 0 h 236"/>
                <a:gd name="T52" fmla="*/ 0 w 115"/>
                <a:gd name="T53" fmla="*/ 0 h 236"/>
                <a:gd name="T54" fmla="*/ 0 w 115"/>
                <a:gd name="T55" fmla="*/ 0 h 236"/>
                <a:gd name="T56" fmla="*/ 0 w 115"/>
                <a:gd name="T57" fmla="*/ 0 h 236"/>
                <a:gd name="T58" fmla="*/ 0 w 115"/>
                <a:gd name="T59" fmla="*/ 0 h 236"/>
                <a:gd name="T60" fmla="*/ 0 w 115"/>
                <a:gd name="T61" fmla="*/ 0 h 236"/>
                <a:gd name="T62" fmla="*/ 0 w 115"/>
                <a:gd name="T63" fmla="*/ 0 h 236"/>
                <a:gd name="T64" fmla="*/ 0 w 115"/>
                <a:gd name="T65" fmla="*/ 0 h 236"/>
                <a:gd name="T66" fmla="*/ 0 w 115"/>
                <a:gd name="T67" fmla="*/ 0 h 236"/>
                <a:gd name="T68" fmla="*/ 0 w 115"/>
                <a:gd name="T69" fmla="*/ 0 h 236"/>
                <a:gd name="T70" fmla="*/ 0 w 115"/>
                <a:gd name="T71" fmla="*/ 0 h 236"/>
                <a:gd name="T72" fmla="*/ 0 w 115"/>
                <a:gd name="T73" fmla="*/ 0 h 236"/>
                <a:gd name="T74" fmla="*/ 0 w 115"/>
                <a:gd name="T75" fmla="*/ 0 h 236"/>
                <a:gd name="T76" fmla="*/ 0 w 115"/>
                <a:gd name="T77" fmla="*/ 0 h 236"/>
                <a:gd name="T78" fmla="*/ 0 w 115"/>
                <a:gd name="T79" fmla="*/ 0 h 236"/>
                <a:gd name="T80" fmla="*/ 0 w 115"/>
                <a:gd name="T81" fmla="*/ 0 h 2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5"/>
                <a:gd name="T124" fmla="*/ 0 h 236"/>
                <a:gd name="T125" fmla="*/ 115 w 115"/>
                <a:gd name="T126" fmla="*/ 236 h 2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5" h="236">
                  <a:moveTo>
                    <a:pt x="0" y="128"/>
                  </a:moveTo>
                  <a:lnTo>
                    <a:pt x="0" y="148"/>
                  </a:lnTo>
                  <a:lnTo>
                    <a:pt x="5" y="166"/>
                  </a:lnTo>
                  <a:lnTo>
                    <a:pt x="13" y="184"/>
                  </a:lnTo>
                  <a:lnTo>
                    <a:pt x="24" y="198"/>
                  </a:lnTo>
                  <a:lnTo>
                    <a:pt x="39" y="211"/>
                  </a:lnTo>
                  <a:lnTo>
                    <a:pt x="55" y="223"/>
                  </a:lnTo>
                  <a:lnTo>
                    <a:pt x="74" y="231"/>
                  </a:lnTo>
                  <a:lnTo>
                    <a:pt x="92" y="235"/>
                  </a:lnTo>
                  <a:lnTo>
                    <a:pt x="98" y="236"/>
                  </a:lnTo>
                  <a:lnTo>
                    <a:pt x="104" y="234"/>
                  </a:lnTo>
                  <a:lnTo>
                    <a:pt x="109" y="231"/>
                  </a:lnTo>
                  <a:lnTo>
                    <a:pt x="111" y="226"/>
                  </a:lnTo>
                  <a:lnTo>
                    <a:pt x="111" y="220"/>
                  </a:lnTo>
                  <a:lnTo>
                    <a:pt x="110" y="215"/>
                  </a:lnTo>
                  <a:lnTo>
                    <a:pt x="107" y="210"/>
                  </a:lnTo>
                  <a:lnTo>
                    <a:pt x="101" y="208"/>
                  </a:lnTo>
                  <a:lnTo>
                    <a:pt x="82" y="201"/>
                  </a:lnTo>
                  <a:lnTo>
                    <a:pt x="64" y="192"/>
                  </a:lnTo>
                  <a:lnTo>
                    <a:pt x="50" y="179"/>
                  </a:lnTo>
                  <a:lnTo>
                    <a:pt x="40" y="165"/>
                  </a:lnTo>
                  <a:lnTo>
                    <a:pt x="33" y="148"/>
                  </a:lnTo>
                  <a:lnTo>
                    <a:pt x="29" y="130"/>
                  </a:lnTo>
                  <a:lnTo>
                    <a:pt x="29" y="110"/>
                  </a:lnTo>
                  <a:lnTo>
                    <a:pt x="35" y="89"/>
                  </a:lnTo>
                  <a:lnTo>
                    <a:pt x="43" y="74"/>
                  </a:lnTo>
                  <a:lnTo>
                    <a:pt x="56" y="60"/>
                  </a:lnTo>
                  <a:lnTo>
                    <a:pt x="70" y="46"/>
                  </a:lnTo>
                  <a:lnTo>
                    <a:pt x="85" y="33"/>
                  </a:lnTo>
                  <a:lnTo>
                    <a:pt x="98" y="23"/>
                  </a:lnTo>
                  <a:lnTo>
                    <a:pt x="109" y="12"/>
                  </a:lnTo>
                  <a:lnTo>
                    <a:pt x="115" y="6"/>
                  </a:lnTo>
                  <a:lnTo>
                    <a:pt x="115" y="0"/>
                  </a:lnTo>
                  <a:lnTo>
                    <a:pt x="102" y="4"/>
                  </a:lnTo>
                  <a:lnTo>
                    <a:pt x="85" y="12"/>
                  </a:lnTo>
                  <a:lnTo>
                    <a:pt x="68" y="26"/>
                  </a:lnTo>
                  <a:lnTo>
                    <a:pt x="49" y="42"/>
                  </a:lnTo>
                  <a:lnTo>
                    <a:pt x="32" y="61"/>
                  </a:lnTo>
                  <a:lnTo>
                    <a:pt x="17" y="82"/>
                  </a:lnTo>
                  <a:lnTo>
                    <a:pt x="6" y="105"/>
                  </a:lnTo>
                  <a:lnTo>
                    <a:pt x="0" y="128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4" name="Freeform 634">
              <a:extLst>
                <a:ext uri="{FF2B5EF4-FFF2-40B4-BE49-F238E27FC236}">
                  <a16:creationId xmlns:a16="http://schemas.microsoft.com/office/drawing/2014/main" xmlns="" id="{E4F70BB7-C3FB-EE87-A894-BE9FAE62F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3133"/>
              <a:ext cx="41" cy="52"/>
            </a:xfrm>
            <a:custGeom>
              <a:avLst/>
              <a:gdLst>
                <a:gd name="T0" fmla="*/ 0 w 245"/>
                <a:gd name="T1" fmla="*/ 0 h 310"/>
                <a:gd name="T2" fmla="*/ 0 w 245"/>
                <a:gd name="T3" fmla="*/ 0 h 310"/>
                <a:gd name="T4" fmla="*/ 0 w 245"/>
                <a:gd name="T5" fmla="*/ 0 h 310"/>
                <a:gd name="T6" fmla="*/ 0 w 245"/>
                <a:gd name="T7" fmla="*/ 0 h 310"/>
                <a:gd name="T8" fmla="*/ 0 w 245"/>
                <a:gd name="T9" fmla="*/ 0 h 310"/>
                <a:gd name="T10" fmla="*/ 0 w 245"/>
                <a:gd name="T11" fmla="*/ 0 h 310"/>
                <a:gd name="T12" fmla="*/ 0 w 245"/>
                <a:gd name="T13" fmla="*/ 0 h 310"/>
                <a:gd name="T14" fmla="*/ 0 w 245"/>
                <a:gd name="T15" fmla="*/ 0 h 310"/>
                <a:gd name="T16" fmla="*/ 0 w 245"/>
                <a:gd name="T17" fmla="*/ 0 h 310"/>
                <a:gd name="T18" fmla="*/ 0 w 245"/>
                <a:gd name="T19" fmla="*/ 0 h 310"/>
                <a:gd name="T20" fmla="*/ 0 w 245"/>
                <a:gd name="T21" fmla="*/ 0 h 310"/>
                <a:gd name="T22" fmla="*/ 0 w 245"/>
                <a:gd name="T23" fmla="*/ 0 h 310"/>
                <a:gd name="T24" fmla="*/ 0 w 245"/>
                <a:gd name="T25" fmla="*/ 0 h 310"/>
                <a:gd name="T26" fmla="*/ 0 w 245"/>
                <a:gd name="T27" fmla="*/ 0 h 310"/>
                <a:gd name="T28" fmla="*/ 0 w 245"/>
                <a:gd name="T29" fmla="*/ 0 h 310"/>
                <a:gd name="T30" fmla="*/ 0 w 245"/>
                <a:gd name="T31" fmla="*/ 0 h 310"/>
                <a:gd name="T32" fmla="*/ 0 w 245"/>
                <a:gd name="T33" fmla="*/ 0 h 310"/>
                <a:gd name="T34" fmla="*/ 0 w 245"/>
                <a:gd name="T35" fmla="*/ 0 h 310"/>
                <a:gd name="T36" fmla="*/ 0 w 245"/>
                <a:gd name="T37" fmla="*/ 0 h 310"/>
                <a:gd name="T38" fmla="*/ 0 w 245"/>
                <a:gd name="T39" fmla="*/ 0 h 310"/>
                <a:gd name="T40" fmla="*/ 0 w 245"/>
                <a:gd name="T41" fmla="*/ 0 h 310"/>
                <a:gd name="T42" fmla="*/ 0 w 245"/>
                <a:gd name="T43" fmla="*/ 0 h 310"/>
                <a:gd name="T44" fmla="*/ 0 w 245"/>
                <a:gd name="T45" fmla="*/ 0 h 310"/>
                <a:gd name="T46" fmla="*/ 0 w 245"/>
                <a:gd name="T47" fmla="*/ 0 h 310"/>
                <a:gd name="T48" fmla="*/ 0 w 245"/>
                <a:gd name="T49" fmla="*/ 0 h 310"/>
                <a:gd name="T50" fmla="*/ 0 w 245"/>
                <a:gd name="T51" fmla="*/ 0 h 310"/>
                <a:gd name="T52" fmla="*/ 0 w 245"/>
                <a:gd name="T53" fmla="*/ 0 h 310"/>
                <a:gd name="T54" fmla="*/ 0 w 245"/>
                <a:gd name="T55" fmla="*/ 0 h 310"/>
                <a:gd name="T56" fmla="*/ 0 w 245"/>
                <a:gd name="T57" fmla="*/ 0 h 310"/>
                <a:gd name="T58" fmla="*/ 0 w 245"/>
                <a:gd name="T59" fmla="*/ 0 h 310"/>
                <a:gd name="T60" fmla="*/ 0 w 245"/>
                <a:gd name="T61" fmla="*/ 0 h 310"/>
                <a:gd name="T62" fmla="*/ 0 w 245"/>
                <a:gd name="T63" fmla="*/ 0 h 310"/>
                <a:gd name="T64" fmla="*/ 0 w 245"/>
                <a:gd name="T65" fmla="*/ 0 h 310"/>
                <a:gd name="T66" fmla="*/ 0 w 245"/>
                <a:gd name="T67" fmla="*/ 0 h 310"/>
                <a:gd name="T68" fmla="*/ 0 w 245"/>
                <a:gd name="T69" fmla="*/ 0 h 310"/>
                <a:gd name="T70" fmla="*/ 0 w 245"/>
                <a:gd name="T71" fmla="*/ 0 h 310"/>
                <a:gd name="T72" fmla="*/ 0 w 245"/>
                <a:gd name="T73" fmla="*/ 0 h 310"/>
                <a:gd name="T74" fmla="*/ 0 w 245"/>
                <a:gd name="T75" fmla="*/ 0 h 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5"/>
                <a:gd name="T115" fmla="*/ 0 h 310"/>
                <a:gd name="T116" fmla="*/ 245 w 245"/>
                <a:gd name="T117" fmla="*/ 310 h 3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5" h="310">
                  <a:moveTo>
                    <a:pt x="200" y="116"/>
                  </a:moveTo>
                  <a:lnTo>
                    <a:pt x="208" y="124"/>
                  </a:lnTo>
                  <a:lnTo>
                    <a:pt x="214" y="133"/>
                  </a:lnTo>
                  <a:lnTo>
                    <a:pt x="220" y="144"/>
                  </a:lnTo>
                  <a:lnTo>
                    <a:pt x="223" y="154"/>
                  </a:lnTo>
                  <a:lnTo>
                    <a:pt x="226" y="164"/>
                  </a:lnTo>
                  <a:lnTo>
                    <a:pt x="224" y="176"/>
                  </a:lnTo>
                  <a:lnTo>
                    <a:pt x="222" y="187"/>
                  </a:lnTo>
                  <a:lnTo>
                    <a:pt x="216" y="198"/>
                  </a:lnTo>
                  <a:lnTo>
                    <a:pt x="208" y="209"/>
                  </a:lnTo>
                  <a:lnTo>
                    <a:pt x="199" y="219"/>
                  </a:lnTo>
                  <a:lnTo>
                    <a:pt x="188" y="229"/>
                  </a:lnTo>
                  <a:lnTo>
                    <a:pt x="177" y="238"/>
                  </a:lnTo>
                  <a:lnTo>
                    <a:pt x="166" y="246"/>
                  </a:lnTo>
                  <a:lnTo>
                    <a:pt x="154" y="255"/>
                  </a:lnTo>
                  <a:lnTo>
                    <a:pt x="142" y="264"/>
                  </a:lnTo>
                  <a:lnTo>
                    <a:pt x="132" y="275"/>
                  </a:lnTo>
                  <a:lnTo>
                    <a:pt x="128" y="278"/>
                  </a:lnTo>
                  <a:lnTo>
                    <a:pt x="126" y="283"/>
                  </a:lnTo>
                  <a:lnTo>
                    <a:pt x="124" y="287"/>
                  </a:lnTo>
                  <a:lnTo>
                    <a:pt x="121" y="292"/>
                  </a:lnTo>
                  <a:lnTo>
                    <a:pt x="120" y="296"/>
                  </a:lnTo>
                  <a:lnTo>
                    <a:pt x="120" y="301"/>
                  </a:lnTo>
                  <a:lnTo>
                    <a:pt x="122" y="306"/>
                  </a:lnTo>
                  <a:lnTo>
                    <a:pt x="126" y="309"/>
                  </a:lnTo>
                  <a:lnTo>
                    <a:pt x="131" y="310"/>
                  </a:lnTo>
                  <a:lnTo>
                    <a:pt x="135" y="310"/>
                  </a:lnTo>
                  <a:lnTo>
                    <a:pt x="139" y="309"/>
                  </a:lnTo>
                  <a:lnTo>
                    <a:pt x="142" y="306"/>
                  </a:lnTo>
                  <a:lnTo>
                    <a:pt x="154" y="292"/>
                  </a:lnTo>
                  <a:lnTo>
                    <a:pt x="167" y="280"/>
                  </a:lnTo>
                  <a:lnTo>
                    <a:pt x="180" y="269"/>
                  </a:lnTo>
                  <a:lnTo>
                    <a:pt x="194" y="257"/>
                  </a:lnTo>
                  <a:lnTo>
                    <a:pt x="207" y="246"/>
                  </a:lnTo>
                  <a:lnTo>
                    <a:pt x="220" y="233"/>
                  </a:lnTo>
                  <a:lnTo>
                    <a:pt x="230" y="219"/>
                  </a:lnTo>
                  <a:lnTo>
                    <a:pt x="238" y="204"/>
                  </a:lnTo>
                  <a:lnTo>
                    <a:pt x="244" y="186"/>
                  </a:lnTo>
                  <a:lnTo>
                    <a:pt x="245" y="169"/>
                  </a:lnTo>
                  <a:lnTo>
                    <a:pt x="243" y="152"/>
                  </a:lnTo>
                  <a:lnTo>
                    <a:pt x="237" y="134"/>
                  </a:lnTo>
                  <a:lnTo>
                    <a:pt x="228" y="119"/>
                  </a:lnTo>
                  <a:lnTo>
                    <a:pt x="217" y="105"/>
                  </a:lnTo>
                  <a:lnTo>
                    <a:pt x="203" y="93"/>
                  </a:lnTo>
                  <a:lnTo>
                    <a:pt x="188" y="83"/>
                  </a:lnTo>
                  <a:lnTo>
                    <a:pt x="176" y="76"/>
                  </a:lnTo>
                  <a:lnTo>
                    <a:pt x="163" y="69"/>
                  </a:lnTo>
                  <a:lnTo>
                    <a:pt x="151" y="61"/>
                  </a:lnTo>
                  <a:lnTo>
                    <a:pt x="136" y="54"/>
                  </a:lnTo>
                  <a:lnTo>
                    <a:pt x="122" y="46"/>
                  </a:lnTo>
                  <a:lnTo>
                    <a:pt x="107" y="39"/>
                  </a:lnTo>
                  <a:lnTo>
                    <a:pt x="93" y="31"/>
                  </a:lnTo>
                  <a:lnTo>
                    <a:pt x="79" y="24"/>
                  </a:lnTo>
                  <a:lnTo>
                    <a:pt x="66" y="18"/>
                  </a:lnTo>
                  <a:lnTo>
                    <a:pt x="53" y="13"/>
                  </a:lnTo>
                  <a:lnTo>
                    <a:pt x="40" y="8"/>
                  </a:lnTo>
                  <a:lnTo>
                    <a:pt x="30" y="5"/>
                  </a:lnTo>
                  <a:lnTo>
                    <a:pt x="20" y="1"/>
                  </a:lnTo>
                  <a:lnTo>
                    <a:pt x="12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1" y="8"/>
                  </a:lnTo>
                  <a:lnTo>
                    <a:pt x="23" y="14"/>
                  </a:lnTo>
                  <a:lnTo>
                    <a:pt x="36" y="20"/>
                  </a:lnTo>
                  <a:lnTo>
                    <a:pt x="47" y="25"/>
                  </a:lnTo>
                  <a:lnTo>
                    <a:pt x="60" y="31"/>
                  </a:lnTo>
                  <a:lnTo>
                    <a:pt x="73" y="37"/>
                  </a:lnTo>
                  <a:lnTo>
                    <a:pt x="86" y="44"/>
                  </a:lnTo>
                  <a:lnTo>
                    <a:pt x="99" y="51"/>
                  </a:lnTo>
                  <a:lnTo>
                    <a:pt x="113" y="57"/>
                  </a:lnTo>
                  <a:lnTo>
                    <a:pt x="126" y="64"/>
                  </a:lnTo>
                  <a:lnTo>
                    <a:pt x="139" y="71"/>
                  </a:lnTo>
                  <a:lnTo>
                    <a:pt x="152" y="79"/>
                  </a:lnTo>
                  <a:lnTo>
                    <a:pt x="165" y="88"/>
                  </a:lnTo>
                  <a:lnTo>
                    <a:pt x="176" y="96"/>
                  </a:lnTo>
                  <a:lnTo>
                    <a:pt x="188" y="106"/>
                  </a:lnTo>
                  <a:lnTo>
                    <a:pt x="200" y="1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95" name="Freeform 635">
              <a:extLst>
                <a:ext uri="{FF2B5EF4-FFF2-40B4-BE49-F238E27FC236}">
                  <a16:creationId xmlns:a16="http://schemas.microsoft.com/office/drawing/2014/main" xmlns="" id="{9FA191F8-C3BA-5AC9-A70F-616A63237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3209"/>
              <a:ext cx="125" cy="175"/>
            </a:xfrm>
            <a:custGeom>
              <a:avLst/>
              <a:gdLst>
                <a:gd name="T0" fmla="*/ 0 w 125"/>
                <a:gd name="T1" fmla="*/ 175 h 175"/>
                <a:gd name="T2" fmla="*/ 0 w 125"/>
                <a:gd name="T3" fmla="*/ 144 h 175"/>
                <a:gd name="T4" fmla="*/ 11 w 125"/>
                <a:gd name="T5" fmla="*/ 144 h 175"/>
                <a:gd name="T6" fmla="*/ 11 w 125"/>
                <a:gd name="T7" fmla="*/ 118 h 175"/>
                <a:gd name="T8" fmla="*/ 23 w 125"/>
                <a:gd name="T9" fmla="*/ 114 h 175"/>
                <a:gd name="T10" fmla="*/ 20 w 125"/>
                <a:gd name="T11" fmla="*/ 88 h 175"/>
                <a:gd name="T12" fmla="*/ 30 w 125"/>
                <a:gd name="T13" fmla="*/ 84 h 175"/>
                <a:gd name="T14" fmla="*/ 30 w 125"/>
                <a:gd name="T15" fmla="*/ 58 h 175"/>
                <a:gd name="T16" fmla="*/ 39 w 125"/>
                <a:gd name="T17" fmla="*/ 54 h 175"/>
                <a:gd name="T18" fmla="*/ 39 w 125"/>
                <a:gd name="T19" fmla="*/ 28 h 175"/>
                <a:gd name="T20" fmla="*/ 48 w 125"/>
                <a:gd name="T21" fmla="*/ 28 h 175"/>
                <a:gd name="T22" fmla="*/ 56 w 125"/>
                <a:gd name="T23" fmla="*/ 0 h 175"/>
                <a:gd name="T24" fmla="*/ 80 w 125"/>
                <a:gd name="T25" fmla="*/ 0 h 175"/>
                <a:gd name="T26" fmla="*/ 81 w 125"/>
                <a:gd name="T27" fmla="*/ 25 h 175"/>
                <a:gd name="T28" fmla="*/ 92 w 125"/>
                <a:gd name="T29" fmla="*/ 24 h 175"/>
                <a:gd name="T30" fmla="*/ 93 w 125"/>
                <a:gd name="T31" fmla="*/ 49 h 175"/>
                <a:gd name="T32" fmla="*/ 102 w 125"/>
                <a:gd name="T33" fmla="*/ 54 h 175"/>
                <a:gd name="T34" fmla="*/ 99 w 125"/>
                <a:gd name="T35" fmla="*/ 81 h 175"/>
                <a:gd name="T36" fmla="*/ 114 w 125"/>
                <a:gd name="T37" fmla="*/ 82 h 175"/>
                <a:gd name="T38" fmla="*/ 107 w 125"/>
                <a:gd name="T39" fmla="*/ 81 h 175"/>
                <a:gd name="T40" fmla="*/ 108 w 125"/>
                <a:gd name="T41" fmla="*/ 114 h 175"/>
                <a:gd name="T42" fmla="*/ 117 w 125"/>
                <a:gd name="T43" fmla="*/ 117 h 175"/>
                <a:gd name="T44" fmla="*/ 122 w 125"/>
                <a:gd name="T45" fmla="*/ 142 h 175"/>
                <a:gd name="T46" fmla="*/ 125 w 125"/>
                <a:gd name="T47" fmla="*/ 175 h 175"/>
                <a:gd name="T48" fmla="*/ 0 w 125"/>
                <a:gd name="T49" fmla="*/ 175 h 17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25"/>
                <a:gd name="T76" fmla="*/ 0 h 175"/>
                <a:gd name="T77" fmla="*/ 125 w 125"/>
                <a:gd name="T78" fmla="*/ 175 h 17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25" h="175">
                  <a:moveTo>
                    <a:pt x="0" y="175"/>
                  </a:moveTo>
                  <a:lnTo>
                    <a:pt x="0" y="144"/>
                  </a:lnTo>
                  <a:lnTo>
                    <a:pt x="11" y="144"/>
                  </a:lnTo>
                  <a:lnTo>
                    <a:pt x="11" y="118"/>
                  </a:lnTo>
                  <a:lnTo>
                    <a:pt x="23" y="114"/>
                  </a:lnTo>
                  <a:lnTo>
                    <a:pt x="20" y="88"/>
                  </a:lnTo>
                  <a:lnTo>
                    <a:pt x="30" y="84"/>
                  </a:lnTo>
                  <a:lnTo>
                    <a:pt x="30" y="58"/>
                  </a:lnTo>
                  <a:lnTo>
                    <a:pt x="39" y="54"/>
                  </a:lnTo>
                  <a:lnTo>
                    <a:pt x="39" y="28"/>
                  </a:lnTo>
                  <a:lnTo>
                    <a:pt x="48" y="28"/>
                  </a:lnTo>
                  <a:lnTo>
                    <a:pt x="56" y="0"/>
                  </a:lnTo>
                  <a:lnTo>
                    <a:pt x="80" y="0"/>
                  </a:lnTo>
                  <a:lnTo>
                    <a:pt x="81" y="25"/>
                  </a:lnTo>
                  <a:lnTo>
                    <a:pt x="92" y="24"/>
                  </a:lnTo>
                  <a:lnTo>
                    <a:pt x="93" y="49"/>
                  </a:lnTo>
                  <a:lnTo>
                    <a:pt x="102" y="54"/>
                  </a:lnTo>
                  <a:lnTo>
                    <a:pt x="99" y="81"/>
                  </a:lnTo>
                  <a:lnTo>
                    <a:pt x="114" y="82"/>
                  </a:lnTo>
                  <a:lnTo>
                    <a:pt x="107" y="81"/>
                  </a:lnTo>
                  <a:lnTo>
                    <a:pt x="108" y="114"/>
                  </a:lnTo>
                  <a:lnTo>
                    <a:pt x="117" y="117"/>
                  </a:lnTo>
                  <a:lnTo>
                    <a:pt x="122" y="142"/>
                  </a:lnTo>
                  <a:lnTo>
                    <a:pt x="125" y="175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DDDDDD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234" name="Group 668">
            <a:extLst>
              <a:ext uri="{FF2B5EF4-FFF2-40B4-BE49-F238E27FC236}">
                <a16:creationId xmlns:a16="http://schemas.microsoft.com/office/drawing/2014/main" xmlns="" id="{92C8003D-65EA-72C0-6FF5-3BDA21595F2A}"/>
              </a:ext>
            </a:extLst>
          </p:cNvPr>
          <p:cNvGrpSpPr>
            <a:grpSpLocks/>
          </p:cNvGrpSpPr>
          <p:nvPr/>
        </p:nvGrpSpPr>
        <p:grpSpPr bwMode="auto">
          <a:xfrm>
            <a:off x="6924676" y="1181101"/>
            <a:ext cx="1057275" cy="957263"/>
            <a:chOff x="-153" y="1680"/>
            <a:chExt cx="666" cy="603"/>
          </a:xfrm>
        </p:grpSpPr>
        <p:grpSp>
          <p:nvGrpSpPr>
            <p:cNvPr id="1169" name="Group 254">
              <a:extLst>
                <a:ext uri="{FF2B5EF4-FFF2-40B4-BE49-F238E27FC236}">
                  <a16:creationId xmlns:a16="http://schemas.microsoft.com/office/drawing/2014/main" xmlns="" id="{EB9A9E33-5C02-1713-0598-7841E842EB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1171" name="Rectangle 227">
                <a:extLst>
                  <a:ext uri="{FF2B5EF4-FFF2-40B4-BE49-F238E27FC236}">
                    <a16:creationId xmlns:a16="http://schemas.microsoft.com/office/drawing/2014/main" xmlns="" id="{6B3C9D49-946F-C252-69D8-44603EE13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72" name="Rectangle 228">
                <a:extLst>
                  <a:ext uri="{FF2B5EF4-FFF2-40B4-BE49-F238E27FC236}">
                    <a16:creationId xmlns:a16="http://schemas.microsoft.com/office/drawing/2014/main" xmlns="" id="{BE1E8418-EEF6-0970-69E0-9243CB16A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73" name="Rectangle 229">
                <a:extLst>
                  <a:ext uri="{FF2B5EF4-FFF2-40B4-BE49-F238E27FC236}">
                    <a16:creationId xmlns:a16="http://schemas.microsoft.com/office/drawing/2014/main" xmlns="" id="{FD98AB0B-1274-0363-0B12-94E0D2229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74" name="Text Box 230">
                <a:extLst>
                  <a:ext uri="{FF2B5EF4-FFF2-40B4-BE49-F238E27FC236}">
                    <a16:creationId xmlns:a16="http://schemas.microsoft.com/office/drawing/2014/main" xmlns="" id="{B4C7FD64-BD32-0AC4-57D6-2212B3E5C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 sz="1000"/>
                  <a:t>application</a:t>
                </a:r>
              </a:p>
              <a:p>
                <a:r>
                  <a:rPr lang="en-US" altLang="en-US" sz="1000">
                    <a:solidFill>
                      <a:schemeClr val="bg1"/>
                    </a:solidFill>
                  </a:rPr>
                  <a:t>transport</a:t>
                </a:r>
                <a:endParaRPr lang="en-US" altLang="en-US" sz="1000"/>
              </a:p>
              <a:p>
                <a:r>
                  <a:rPr lang="en-US" altLang="en-US" sz="1000"/>
                  <a:t>network</a:t>
                </a:r>
              </a:p>
              <a:p>
                <a:r>
                  <a:rPr lang="en-US" altLang="en-US" sz="1000"/>
                  <a:t>data link</a:t>
                </a:r>
              </a:p>
              <a:p>
                <a:r>
                  <a:rPr lang="en-US" altLang="en-US" sz="1000"/>
                  <a:t>physical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5" name="Line 231">
                <a:extLst>
                  <a:ext uri="{FF2B5EF4-FFF2-40B4-BE49-F238E27FC236}">
                    <a16:creationId xmlns:a16="http://schemas.microsoft.com/office/drawing/2014/main" xmlns="" id="{F4792FCC-46F7-E49D-CFE9-EABAAD66DD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76" name="Line 232">
                <a:extLst>
                  <a:ext uri="{FF2B5EF4-FFF2-40B4-BE49-F238E27FC236}">
                    <a16:creationId xmlns:a16="http://schemas.microsoft.com/office/drawing/2014/main" xmlns="" id="{BE5E4FFD-BE9F-286F-C248-6161FC170D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77" name="Line 233">
                <a:extLst>
                  <a:ext uri="{FF2B5EF4-FFF2-40B4-BE49-F238E27FC236}">
                    <a16:creationId xmlns:a16="http://schemas.microsoft.com/office/drawing/2014/main" xmlns="" id="{5BA00E7C-CFE0-A35C-7ECD-89D162B9B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170" name="Freeform 647">
              <a:extLst>
                <a:ext uri="{FF2B5EF4-FFF2-40B4-BE49-F238E27FC236}">
                  <a16:creationId xmlns:a16="http://schemas.microsoft.com/office/drawing/2014/main" xmlns="" id="{EFB15750-1194-5282-1D67-906BD12D6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236" name="Group 669">
            <a:extLst>
              <a:ext uri="{FF2B5EF4-FFF2-40B4-BE49-F238E27FC236}">
                <a16:creationId xmlns:a16="http://schemas.microsoft.com/office/drawing/2014/main" xmlns="" id="{01104A5D-EE96-05D0-1E27-0384EE94E98F}"/>
              </a:ext>
            </a:extLst>
          </p:cNvPr>
          <p:cNvGrpSpPr>
            <a:grpSpLocks/>
          </p:cNvGrpSpPr>
          <p:nvPr/>
        </p:nvGrpSpPr>
        <p:grpSpPr bwMode="auto">
          <a:xfrm>
            <a:off x="9490076" y="4087813"/>
            <a:ext cx="1057275" cy="957262"/>
            <a:chOff x="-153" y="1680"/>
            <a:chExt cx="666" cy="603"/>
          </a:xfrm>
        </p:grpSpPr>
        <p:grpSp>
          <p:nvGrpSpPr>
            <p:cNvPr id="1160" name="Group 670">
              <a:extLst>
                <a:ext uri="{FF2B5EF4-FFF2-40B4-BE49-F238E27FC236}">
                  <a16:creationId xmlns:a16="http://schemas.microsoft.com/office/drawing/2014/main" xmlns="" id="{8A164513-276C-8747-B6C4-292EA4893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80"/>
              <a:ext cx="513" cy="538"/>
              <a:chOff x="4180" y="744"/>
              <a:chExt cx="513" cy="538"/>
            </a:xfrm>
          </p:grpSpPr>
          <p:sp>
            <p:nvSpPr>
              <p:cNvPr id="1162" name="Rectangle 671">
                <a:extLst>
                  <a:ext uri="{FF2B5EF4-FFF2-40B4-BE49-F238E27FC236}">
                    <a16:creationId xmlns:a16="http://schemas.microsoft.com/office/drawing/2014/main" xmlns="" id="{CD44D7F5-021F-98D5-FE07-FBCA1ED84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2" y="747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63" name="Rectangle 672">
                <a:extLst>
                  <a:ext uri="{FF2B5EF4-FFF2-40B4-BE49-F238E27FC236}">
                    <a16:creationId xmlns:a16="http://schemas.microsoft.com/office/drawing/2014/main" xmlns="" id="{0218747D-F94D-8A53-30E7-B781DE27E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762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64" name="Rectangle 673">
                <a:extLst>
                  <a:ext uri="{FF2B5EF4-FFF2-40B4-BE49-F238E27FC236}">
                    <a16:creationId xmlns:a16="http://schemas.microsoft.com/office/drawing/2014/main" xmlns="" id="{9CA626C8-30DD-C55D-8AB3-D01613496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73"/>
                <a:ext cx="42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65" name="Text Box 674">
                <a:extLst>
                  <a:ext uri="{FF2B5EF4-FFF2-40B4-BE49-F238E27FC236}">
                    <a16:creationId xmlns:a16="http://schemas.microsoft.com/office/drawing/2014/main" xmlns="" id="{ECC2FB9A-08BE-8BBC-8FF1-9134B71D6E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0" y="744"/>
                <a:ext cx="513" cy="5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 sz="1000"/>
                  <a:t>application</a:t>
                </a:r>
              </a:p>
              <a:p>
                <a:r>
                  <a:rPr lang="en-US" altLang="en-US" sz="1000">
                    <a:solidFill>
                      <a:schemeClr val="bg1"/>
                    </a:solidFill>
                  </a:rPr>
                  <a:t>transport</a:t>
                </a:r>
                <a:endParaRPr lang="en-US" altLang="en-US" sz="1000"/>
              </a:p>
              <a:p>
                <a:r>
                  <a:rPr lang="en-US" altLang="en-US" sz="1000"/>
                  <a:t>network</a:t>
                </a:r>
              </a:p>
              <a:p>
                <a:r>
                  <a:rPr lang="en-US" altLang="en-US" sz="1000"/>
                  <a:t>data link</a:t>
                </a:r>
              </a:p>
              <a:p>
                <a:r>
                  <a:rPr lang="en-US" altLang="en-US" sz="1000"/>
                  <a:t>physical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66" name="Line 675">
                <a:extLst>
                  <a:ext uri="{FF2B5EF4-FFF2-40B4-BE49-F238E27FC236}">
                    <a16:creationId xmlns:a16="http://schemas.microsoft.com/office/drawing/2014/main" xmlns="" id="{D9FF6217-9A08-02A2-14CB-121DE885FE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1" y="978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67" name="Line 676">
                <a:extLst>
                  <a:ext uri="{FF2B5EF4-FFF2-40B4-BE49-F238E27FC236}">
                    <a16:creationId xmlns:a16="http://schemas.microsoft.com/office/drawing/2014/main" xmlns="" id="{4612A3BF-D40E-1F7B-7574-80ED43D30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065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168" name="Line 677">
                <a:extLst>
                  <a:ext uri="{FF2B5EF4-FFF2-40B4-BE49-F238E27FC236}">
                    <a16:creationId xmlns:a16="http://schemas.microsoft.com/office/drawing/2014/main" xmlns="" id="{46FB70B4-2FA0-11B6-3F51-6A8FA2FBE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1152"/>
                <a:ext cx="435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161" name="Freeform 678">
              <a:extLst>
                <a:ext uri="{FF2B5EF4-FFF2-40B4-BE49-F238E27FC236}">
                  <a16:creationId xmlns:a16="http://schemas.microsoft.com/office/drawing/2014/main" xmlns="" id="{06BB5E42-6F06-3050-79D1-6AEBBEF57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3" y="1689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FF0000"/>
                </a:gs>
              </a:gsLst>
              <a:lin ang="0" scaled="1"/>
            </a:gra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238" name="Group 298">
            <a:extLst>
              <a:ext uri="{FF2B5EF4-FFF2-40B4-BE49-F238E27FC236}">
                <a16:creationId xmlns:a16="http://schemas.microsoft.com/office/drawing/2014/main" xmlns="" id="{335EB04B-55D1-85F9-3A35-54E264B1C0E4}"/>
              </a:ext>
            </a:extLst>
          </p:cNvPr>
          <p:cNvGrpSpPr>
            <a:grpSpLocks/>
          </p:cNvGrpSpPr>
          <p:nvPr/>
        </p:nvGrpSpPr>
        <p:grpSpPr bwMode="auto">
          <a:xfrm rot="2937887">
            <a:off x="6937376" y="2659064"/>
            <a:ext cx="3781425" cy="434975"/>
            <a:chOff x="2937" y="3579"/>
            <a:chExt cx="2382" cy="274"/>
          </a:xfrm>
        </p:grpSpPr>
        <p:sp>
          <p:nvSpPr>
            <p:cNvPr id="1156" name="Rectangle 295">
              <a:extLst>
                <a:ext uri="{FF2B5EF4-FFF2-40B4-BE49-F238E27FC236}">
                  <a16:creationId xmlns:a16="http://schemas.microsoft.com/office/drawing/2014/main" xmlns="" id="{3B91114D-39F6-4C67-47DF-1D53B9969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630"/>
              <a:ext cx="1920" cy="1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57" name="Text Box 293">
              <a:extLst>
                <a:ext uri="{FF2B5EF4-FFF2-40B4-BE49-F238E27FC236}">
                  <a16:creationId xmlns:a16="http://schemas.microsoft.com/office/drawing/2014/main" xmlns="" id="{D970243F-39CD-C073-1BF0-4851617AB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3" y="3617"/>
              <a:ext cx="16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logical end-end transport</a:t>
              </a:r>
              <a:endParaRPr lang="en-US" altLang="en-US"/>
            </a:p>
          </p:txBody>
        </p:sp>
        <p:sp>
          <p:nvSpPr>
            <p:cNvPr id="1158" name="Freeform 296">
              <a:extLst>
                <a:ext uri="{FF2B5EF4-FFF2-40B4-BE49-F238E27FC236}">
                  <a16:creationId xmlns:a16="http://schemas.microsoft.com/office/drawing/2014/main" xmlns="" id="{820CEC4A-5F26-B446-0653-2ED9D7B90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357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59" name="Freeform 297">
              <a:extLst>
                <a:ext uri="{FF2B5EF4-FFF2-40B4-BE49-F238E27FC236}">
                  <a16:creationId xmlns:a16="http://schemas.microsoft.com/office/drawing/2014/main" xmlns="" id="{A2462EF8-C57E-E952-28FB-B93BF238E8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37" y="3589"/>
              <a:ext cx="282" cy="264"/>
            </a:xfrm>
            <a:custGeom>
              <a:avLst/>
              <a:gdLst>
                <a:gd name="T0" fmla="*/ 282 w 282"/>
                <a:gd name="T1" fmla="*/ 0 h 264"/>
                <a:gd name="T2" fmla="*/ 282 w 282"/>
                <a:gd name="T3" fmla="*/ 264 h 264"/>
                <a:gd name="T4" fmla="*/ 0 w 282"/>
                <a:gd name="T5" fmla="*/ 129 h 264"/>
                <a:gd name="T6" fmla="*/ 282 w 282"/>
                <a:gd name="T7" fmla="*/ 0 h 2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2"/>
                <a:gd name="T13" fmla="*/ 0 h 264"/>
                <a:gd name="T14" fmla="*/ 282 w 282"/>
                <a:gd name="T15" fmla="*/ 264 h 2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2" h="264">
                  <a:moveTo>
                    <a:pt x="282" y="0"/>
                  </a:moveTo>
                  <a:cubicBezTo>
                    <a:pt x="282" y="132"/>
                    <a:pt x="282" y="264"/>
                    <a:pt x="282" y="264"/>
                  </a:cubicBezTo>
                  <a:cubicBezTo>
                    <a:pt x="159" y="150"/>
                    <a:pt x="0" y="153"/>
                    <a:pt x="0" y="129"/>
                  </a:cubicBezTo>
                  <a:cubicBezTo>
                    <a:pt x="0" y="108"/>
                    <a:pt x="153" y="108"/>
                    <a:pt x="282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16 bit numbers ( between 0 and 65,535)</a:t>
            </a:r>
          </a:p>
          <a:p>
            <a:endParaRPr lang="en-US" altLang="en-US" dirty="0"/>
          </a:p>
          <a:p>
            <a:r>
              <a:rPr lang="en-US" altLang="en-US" dirty="0"/>
              <a:t>Client Program - </a:t>
            </a:r>
            <a:r>
              <a:rPr lang="en-US" altLang="en-US" dirty="0">
                <a:solidFill>
                  <a:schemeClr val="tx2"/>
                </a:solidFill>
              </a:rPr>
              <a:t>ephemeral port</a:t>
            </a:r>
            <a:r>
              <a:rPr lang="en-US" altLang="en-US" dirty="0"/>
              <a:t> - chosen randomly - transport layer software  running on the client host</a:t>
            </a:r>
          </a:p>
          <a:p>
            <a:endParaRPr lang="en-US" altLang="en-US" dirty="0"/>
          </a:p>
          <a:p>
            <a:r>
              <a:rPr lang="en-US" altLang="en-US" dirty="0"/>
              <a:t>Server program - </a:t>
            </a:r>
            <a:r>
              <a:rPr lang="en-US" altLang="en-US" dirty="0">
                <a:solidFill>
                  <a:schemeClr val="tx2"/>
                </a:solidFill>
              </a:rPr>
              <a:t>well known port numbers</a:t>
            </a:r>
            <a:r>
              <a:rPr lang="en-US" altLang="en-US" dirty="0"/>
              <a:t>- Universal port numbers   </a:t>
            </a:r>
          </a:p>
          <a:p>
            <a:endParaRPr lang="en-US" altLang="en-US" dirty="0"/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 numbers for Internet model</a:t>
            </a:r>
            <a:endParaRPr lang="en-IN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51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 numbers</a:t>
            </a:r>
            <a:endParaRPr lang="en-IN" b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1300" y="1660264"/>
            <a:ext cx="9963000" cy="4193110"/>
          </a:xfrm>
          <a:noFill/>
        </p:spPr>
      </p:pic>
    </p:spTree>
    <p:extLst>
      <p:ext uri="{BB962C8B-B14F-4D97-AF65-F5344CB8AC3E}">
        <p14:creationId xmlns:p14="http://schemas.microsoft.com/office/powerpoint/2010/main" val="335322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b="0" dirty="0">
                <a:solidFill>
                  <a:srgbClr val="FF0000"/>
                </a:solidFill>
              </a:rPr>
              <a:t>IP addresses versus port numbers</a:t>
            </a:r>
            <a:br>
              <a:rPr lang="en-US" altLang="en-US" b="0" dirty="0">
                <a:solidFill>
                  <a:srgbClr val="FF0000"/>
                </a:solidFill>
              </a:rPr>
            </a:br>
            <a:endParaRPr lang="en-IN" b="0" dirty="0">
              <a:solidFill>
                <a:srgbClr val="FF0000"/>
              </a:solidFill>
            </a:endParaRP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61386" y="1467959"/>
            <a:ext cx="6059643" cy="4525962"/>
          </a:xfrm>
          <a:noFill/>
        </p:spPr>
      </p:pic>
    </p:spTree>
    <p:extLst>
      <p:ext uri="{BB962C8B-B14F-4D97-AF65-F5344CB8AC3E}">
        <p14:creationId xmlns:p14="http://schemas.microsoft.com/office/powerpoint/2010/main" val="2517517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5">
            <a:extLst>
              <a:ext uri="{FF2B5EF4-FFF2-40B4-BE49-F238E27FC236}">
                <a16:creationId xmlns:a16="http://schemas.microsoft.com/office/drawing/2014/main" xmlns="" id="{E3911C8F-8A0F-D406-613F-50F8D7E6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3555" name="Slide Number Placeholder 6">
            <a:extLst>
              <a:ext uri="{FF2B5EF4-FFF2-40B4-BE49-F238E27FC236}">
                <a16:creationId xmlns:a16="http://schemas.microsoft.com/office/drawing/2014/main" xmlns="" id="{DA67158F-BFB1-21C5-79A0-A1DC72D25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37819C79-42AB-4BBA-AFB1-2B2DD0E70096}" type="slidenum">
              <a:rPr lang="en-US" altLang="en-US" sz="1400">
                <a:latin typeface="Arial" panose="020B0604020202020204" pitchFamily="34" charset="0"/>
              </a:rPr>
              <a:pPr/>
              <a:t>27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xmlns="" id="{3DE615AD-C4E9-62C0-18B0-E1A4169E0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72400" cy="1143000"/>
          </a:xfrm>
        </p:spPr>
        <p:txBody>
          <a:bodyPr/>
          <a:lstStyle/>
          <a:p>
            <a:r>
              <a:rPr lang="en-US" altLang="en-US" dirty="0"/>
              <a:t>Multiplexing/demultiplexing</a:t>
            </a:r>
          </a:p>
        </p:txBody>
      </p:sp>
      <p:sp>
        <p:nvSpPr>
          <p:cNvPr id="23557" name="Rectangle 11">
            <a:extLst>
              <a:ext uri="{FF2B5EF4-FFF2-40B4-BE49-F238E27FC236}">
                <a16:creationId xmlns:a16="http://schemas.microsoft.com/office/drawing/2014/main" xmlns="" id="{A0EBE933-0699-F703-978D-50D206152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0837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/>
              <a:t>application</a:t>
            </a:r>
          </a:p>
        </p:txBody>
      </p:sp>
      <p:sp>
        <p:nvSpPr>
          <p:cNvPr id="23558" name="Rectangle 12">
            <a:extLst>
              <a:ext uri="{FF2B5EF4-FFF2-40B4-BE49-F238E27FC236}">
                <a16:creationId xmlns:a16="http://schemas.microsoft.com/office/drawing/2014/main" xmlns="" id="{FAC50601-22EB-0518-5100-BACA387DF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98462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/>
              <a:t>transport</a:t>
            </a:r>
          </a:p>
        </p:txBody>
      </p:sp>
      <p:sp>
        <p:nvSpPr>
          <p:cNvPr id="23559" name="Rectangle 13">
            <a:extLst>
              <a:ext uri="{FF2B5EF4-FFF2-40B4-BE49-F238E27FC236}">
                <a16:creationId xmlns:a16="http://schemas.microsoft.com/office/drawing/2014/main" xmlns="" id="{B1098345-6074-B1D4-1FEE-57C9F2BBB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6087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/>
              <a:t>network</a:t>
            </a:r>
          </a:p>
        </p:txBody>
      </p:sp>
      <p:sp>
        <p:nvSpPr>
          <p:cNvPr id="23560" name="Rectangle 14">
            <a:extLst>
              <a:ext uri="{FF2B5EF4-FFF2-40B4-BE49-F238E27FC236}">
                <a16:creationId xmlns:a16="http://schemas.microsoft.com/office/drawing/2014/main" xmlns="" id="{431E2C64-2020-CD7B-CC5A-6379C0C12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93712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/>
              <a:t>link</a:t>
            </a:r>
          </a:p>
        </p:txBody>
      </p:sp>
      <p:sp>
        <p:nvSpPr>
          <p:cNvPr id="23561" name="Rectangle 15">
            <a:extLst>
              <a:ext uri="{FF2B5EF4-FFF2-40B4-BE49-F238E27FC236}">
                <a16:creationId xmlns:a16="http://schemas.microsoft.com/office/drawing/2014/main" xmlns="" id="{7EDC11D2-8658-F819-A46D-2C68E7101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413375"/>
            <a:ext cx="2001838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/>
              <a:t>physical</a:t>
            </a:r>
          </a:p>
        </p:txBody>
      </p:sp>
      <p:sp>
        <p:nvSpPr>
          <p:cNvPr id="23562" name="Rectangle 18">
            <a:extLst>
              <a:ext uri="{FF2B5EF4-FFF2-40B4-BE49-F238E27FC236}">
                <a16:creationId xmlns:a16="http://schemas.microsoft.com/office/drawing/2014/main" xmlns="" id="{51422E26-F15D-BBD3-1DA1-1557EAEF1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464" y="3852863"/>
            <a:ext cx="598487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3" name="Oval 19">
            <a:extLst>
              <a:ext uri="{FF2B5EF4-FFF2-40B4-BE49-F238E27FC236}">
                <a16:creationId xmlns:a16="http://schemas.microsoft.com/office/drawing/2014/main" xmlns="" id="{2537554B-FEA6-925B-71FF-648430B35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3464" y="3548063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P1</a:t>
            </a:r>
          </a:p>
        </p:txBody>
      </p:sp>
      <p:sp>
        <p:nvSpPr>
          <p:cNvPr id="23564" name="Rectangle 24">
            <a:extLst>
              <a:ext uri="{FF2B5EF4-FFF2-40B4-BE49-F238E27FC236}">
                <a16:creationId xmlns:a16="http://schemas.microsoft.com/office/drawing/2014/main" xmlns="" id="{F2E28B5D-1ECE-B852-4852-0BBE97956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4" y="342900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/>
              <a:t>application</a:t>
            </a:r>
          </a:p>
        </p:txBody>
      </p:sp>
      <p:sp>
        <p:nvSpPr>
          <p:cNvPr id="23565" name="Rectangle 25">
            <a:extLst>
              <a:ext uri="{FF2B5EF4-FFF2-40B4-BE49-F238E27FC236}">
                <a16:creationId xmlns:a16="http://schemas.microsoft.com/office/drawing/2014/main" xmlns="" id="{5ED2E924-B592-4768-191B-9B31D302D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4" y="390525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/>
              <a:t>transport</a:t>
            </a:r>
          </a:p>
        </p:txBody>
      </p:sp>
      <p:sp>
        <p:nvSpPr>
          <p:cNvPr id="23566" name="Rectangle 26">
            <a:extLst>
              <a:ext uri="{FF2B5EF4-FFF2-40B4-BE49-F238E27FC236}">
                <a16:creationId xmlns:a16="http://schemas.microsoft.com/office/drawing/2014/main" xmlns="" id="{F197A114-2210-9BA8-95C4-A7A903A9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4" y="438150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/>
              <a:t>network</a:t>
            </a:r>
          </a:p>
        </p:txBody>
      </p:sp>
      <p:sp>
        <p:nvSpPr>
          <p:cNvPr id="23567" name="Rectangle 27">
            <a:extLst>
              <a:ext uri="{FF2B5EF4-FFF2-40B4-BE49-F238E27FC236}">
                <a16:creationId xmlns:a16="http://schemas.microsoft.com/office/drawing/2014/main" xmlns="" id="{CA4848BA-1231-7AF6-1CD1-158F6E351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4" y="485775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/>
              <a:t>link</a:t>
            </a:r>
          </a:p>
        </p:txBody>
      </p:sp>
      <p:sp>
        <p:nvSpPr>
          <p:cNvPr id="23568" name="Rectangle 28">
            <a:extLst>
              <a:ext uri="{FF2B5EF4-FFF2-40B4-BE49-F238E27FC236}">
                <a16:creationId xmlns:a16="http://schemas.microsoft.com/office/drawing/2014/main" xmlns="" id="{F7F03AED-6F7A-9D68-CDBC-6FF8DE46F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9114" y="5334000"/>
            <a:ext cx="2001837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/>
              <a:t>physical</a:t>
            </a:r>
          </a:p>
        </p:txBody>
      </p:sp>
      <p:sp>
        <p:nvSpPr>
          <p:cNvPr id="23569" name="Rectangle 30">
            <a:extLst>
              <a:ext uri="{FF2B5EF4-FFF2-40B4-BE49-F238E27FC236}">
                <a16:creationId xmlns:a16="http://schemas.microsoft.com/office/drawing/2014/main" xmlns="" id="{276C8A33-CFDC-F6A0-E8EA-9CCC85C4E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350837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application</a:t>
            </a:r>
          </a:p>
        </p:txBody>
      </p:sp>
      <p:sp>
        <p:nvSpPr>
          <p:cNvPr id="23570" name="Rectangle 31">
            <a:extLst>
              <a:ext uri="{FF2B5EF4-FFF2-40B4-BE49-F238E27FC236}">
                <a16:creationId xmlns:a16="http://schemas.microsoft.com/office/drawing/2014/main" xmlns="" id="{F0F43A15-ABD8-CD00-2EFD-4CB86CD4D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398462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transport</a:t>
            </a:r>
          </a:p>
        </p:txBody>
      </p:sp>
      <p:sp>
        <p:nvSpPr>
          <p:cNvPr id="23571" name="Rectangle 32">
            <a:extLst>
              <a:ext uri="{FF2B5EF4-FFF2-40B4-BE49-F238E27FC236}">
                <a16:creationId xmlns:a16="http://schemas.microsoft.com/office/drawing/2014/main" xmlns="" id="{7D8CF1FF-F384-67EB-2639-BD1C1557F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446087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network</a:t>
            </a:r>
          </a:p>
        </p:txBody>
      </p:sp>
      <p:sp>
        <p:nvSpPr>
          <p:cNvPr id="23572" name="Rectangle 33">
            <a:extLst>
              <a:ext uri="{FF2B5EF4-FFF2-40B4-BE49-F238E27FC236}">
                <a16:creationId xmlns:a16="http://schemas.microsoft.com/office/drawing/2014/main" xmlns="" id="{FEBA3B83-50F3-EBA7-974B-C7D5975C8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493712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link</a:t>
            </a:r>
          </a:p>
        </p:txBody>
      </p:sp>
      <p:sp>
        <p:nvSpPr>
          <p:cNvPr id="23573" name="Rectangle 34">
            <a:extLst>
              <a:ext uri="{FF2B5EF4-FFF2-40B4-BE49-F238E27FC236}">
                <a16:creationId xmlns:a16="http://schemas.microsoft.com/office/drawing/2014/main" xmlns="" id="{531C4FC3-3EEE-CB8A-38EF-D255409A3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5413375"/>
            <a:ext cx="2735262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physical</a:t>
            </a:r>
          </a:p>
        </p:txBody>
      </p:sp>
      <p:sp>
        <p:nvSpPr>
          <p:cNvPr id="23574" name="Rectangle 36">
            <a:extLst>
              <a:ext uri="{FF2B5EF4-FFF2-40B4-BE49-F238E27FC236}">
                <a16:creationId xmlns:a16="http://schemas.microsoft.com/office/drawing/2014/main" xmlns="" id="{3CE7E69D-FAFD-5DED-9530-1243E8513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950" y="3859213"/>
            <a:ext cx="598488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75" name="Oval 37">
            <a:extLst>
              <a:ext uri="{FF2B5EF4-FFF2-40B4-BE49-F238E27FC236}">
                <a16:creationId xmlns:a16="http://schemas.microsoft.com/office/drawing/2014/main" xmlns="" id="{8230BD85-BFB7-3DB6-B798-AD4472930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8950" y="3554413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P2</a:t>
            </a:r>
          </a:p>
        </p:txBody>
      </p:sp>
      <p:sp>
        <p:nvSpPr>
          <p:cNvPr id="23576" name="Rectangle 39">
            <a:extLst>
              <a:ext uri="{FF2B5EF4-FFF2-40B4-BE49-F238E27FC236}">
                <a16:creationId xmlns:a16="http://schemas.microsoft.com/office/drawing/2014/main" xmlns="" id="{565BE41C-E7B9-451F-8B5E-1105D8ECF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89" y="3883026"/>
            <a:ext cx="598487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77" name="Oval 40">
            <a:extLst>
              <a:ext uri="{FF2B5EF4-FFF2-40B4-BE49-F238E27FC236}">
                <a16:creationId xmlns:a16="http://schemas.microsoft.com/office/drawing/2014/main" xmlns="" id="{3B9D81D7-7DB9-4567-8850-0D8FA9943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8689" y="3578225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P3</a:t>
            </a:r>
          </a:p>
        </p:txBody>
      </p:sp>
      <p:sp>
        <p:nvSpPr>
          <p:cNvPr id="23578" name="Rectangle 42">
            <a:extLst>
              <a:ext uri="{FF2B5EF4-FFF2-40B4-BE49-F238E27FC236}">
                <a16:creationId xmlns:a16="http://schemas.microsoft.com/office/drawing/2014/main" xmlns="" id="{D5081CF4-78B4-D1F3-D6BC-88440925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3797301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79" name="Oval 43">
            <a:extLst>
              <a:ext uri="{FF2B5EF4-FFF2-40B4-BE49-F238E27FC236}">
                <a16:creationId xmlns:a16="http://schemas.microsoft.com/office/drawing/2014/main" xmlns="" id="{4FB0ED2F-BAFB-C6DB-14D0-DD42E359F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34925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P4</a:t>
            </a:r>
          </a:p>
        </p:txBody>
      </p:sp>
      <p:sp>
        <p:nvSpPr>
          <p:cNvPr id="23580" name="Rectangle 45">
            <a:extLst>
              <a:ext uri="{FF2B5EF4-FFF2-40B4-BE49-F238E27FC236}">
                <a16:creationId xmlns:a16="http://schemas.microsoft.com/office/drawing/2014/main" xmlns="" id="{3261BD40-45DF-9139-A15C-4857010D6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3889376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1" name="Oval 46">
            <a:extLst>
              <a:ext uri="{FF2B5EF4-FFF2-40B4-BE49-F238E27FC236}">
                <a16:creationId xmlns:a16="http://schemas.microsoft.com/office/drawing/2014/main" xmlns="" id="{2E8E3B80-B507-E300-FCC4-4BAB4E540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75" y="3584575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P1</a:t>
            </a:r>
          </a:p>
        </p:txBody>
      </p:sp>
      <p:sp>
        <p:nvSpPr>
          <p:cNvPr id="23582" name="Text Box 47">
            <a:extLst>
              <a:ext uri="{FF2B5EF4-FFF2-40B4-BE49-F238E27FC236}">
                <a16:creationId xmlns:a16="http://schemas.microsoft.com/office/drawing/2014/main" xmlns="" id="{979C7BED-8671-3F78-D6D8-2020A7C0B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3039" y="5967414"/>
            <a:ext cx="8969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host 1</a:t>
            </a:r>
            <a:endParaRPr lang="en-US" altLang="en-US"/>
          </a:p>
        </p:txBody>
      </p:sp>
      <p:sp>
        <p:nvSpPr>
          <p:cNvPr id="23583" name="Text Box 48">
            <a:extLst>
              <a:ext uri="{FF2B5EF4-FFF2-40B4-BE49-F238E27FC236}">
                <a16:creationId xmlns:a16="http://schemas.microsoft.com/office/drawing/2014/main" xmlns="" id="{0FB0993A-FC2B-F847-E637-36B94C9AA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9763" y="5954714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host 2</a:t>
            </a:r>
            <a:endParaRPr lang="en-US" altLang="en-US">
              <a:solidFill>
                <a:schemeClr val="accent2"/>
              </a:solidFill>
            </a:endParaRPr>
          </a:p>
        </p:txBody>
      </p:sp>
      <p:sp>
        <p:nvSpPr>
          <p:cNvPr id="23584" name="Text Box 49">
            <a:extLst>
              <a:ext uri="{FF2B5EF4-FFF2-40B4-BE49-F238E27FC236}">
                <a16:creationId xmlns:a16="http://schemas.microsoft.com/office/drawing/2014/main" xmlns="" id="{E2DF91BA-4292-7436-635A-E2EB97EF4F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8713" y="5832476"/>
            <a:ext cx="938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host 3</a:t>
            </a:r>
          </a:p>
        </p:txBody>
      </p:sp>
      <p:grpSp>
        <p:nvGrpSpPr>
          <p:cNvPr id="23585" name="Group 87">
            <a:extLst>
              <a:ext uri="{FF2B5EF4-FFF2-40B4-BE49-F238E27FC236}">
                <a16:creationId xmlns:a16="http://schemas.microsoft.com/office/drawing/2014/main" xmlns="" id="{ED3756B6-E9A6-77DA-F95C-C394DBBFF348}"/>
              </a:ext>
            </a:extLst>
          </p:cNvPr>
          <p:cNvGrpSpPr>
            <a:grpSpLocks/>
          </p:cNvGrpSpPr>
          <p:nvPr/>
        </p:nvGrpSpPr>
        <p:grpSpPr bwMode="auto">
          <a:xfrm>
            <a:off x="3832226" y="3983038"/>
            <a:ext cx="2263775" cy="1676400"/>
            <a:chOff x="1421" y="2509"/>
            <a:chExt cx="1426" cy="1056"/>
          </a:xfrm>
        </p:grpSpPr>
        <p:sp>
          <p:nvSpPr>
            <p:cNvPr id="23605" name="Line 57">
              <a:extLst>
                <a:ext uri="{FF2B5EF4-FFF2-40B4-BE49-F238E27FC236}">
                  <a16:creationId xmlns:a16="http://schemas.microsoft.com/office/drawing/2014/main" xmlns="" id="{B656FAAD-071A-802E-E49C-5F25EB18BF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606" name="Freeform 58">
              <a:extLst>
                <a:ext uri="{FF2B5EF4-FFF2-40B4-BE49-F238E27FC236}">
                  <a16:creationId xmlns:a16="http://schemas.microsoft.com/office/drawing/2014/main" xmlns="" id="{E16C2768-BDFB-C90D-24D0-BD96B0204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  <a:gd name="T6" fmla="*/ 0 60000 65536"/>
                <a:gd name="T7" fmla="*/ 0 60000 65536"/>
                <a:gd name="T8" fmla="*/ 0 60000 65536"/>
                <a:gd name="T9" fmla="*/ 0 w 286"/>
                <a:gd name="T10" fmla="*/ 0 h 989"/>
                <a:gd name="T11" fmla="*/ 286 w 286"/>
                <a:gd name="T12" fmla="*/ 989 h 9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7" name="Freeform 59">
              <a:extLst>
                <a:ext uri="{FF2B5EF4-FFF2-40B4-BE49-F238E27FC236}">
                  <a16:creationId xmlns:a16="http://schemas.microsoft.com/office/drawing/2014/main" xmlns="" id="{3051FE57-F4C8-8243-3361-3BB7B8001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  <a:gd name="T4" fmla="*/ 0 60000 65536"/>
                <a:gd name="T5" fmla="*/ 0 60000 65536"/>
                <a:gd name="T6" fmla="*/ 0 w 1426"/>
                <a:gd name="T7" fmla="*/ 0 h 9"/>
                <a:gd name="T8" fmla="*/ 1426 w 142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3586" name="Rectangle 64">
            <a:extLst>
              <a:ext uri="{FF2B5EF4-FFF2-40B4-BE49-F238E27FC236}">
                <a16:creationId xmlns:a16="http://schemas.microsoft.com/office/drawing/2014/main" xmlns="" id="{D130239D-E270-B960-DB8F-94D3FF23F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95601"/>
            <a:ext cx="598488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7" name="Oval 65">
            <a:extLst>
              <a:ext uri="{FF2B5EF4-FFF2-40B4-BE49-F238E27FC236}">
                <a16:creationId xmlns:a16="http://schemas.microsoft.com/office/drawing/2014/main" xmlns="" id="{87962F32-D0B4-E399-42B7-2E77BE403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19400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88" name="Text Box 67">
            <a:extLst>
              <a:ext uri="{FF2B5EF4-FFF2-40B4-BE49-F238E27FC236}">
                <a16:creationId xmlns:a16="http://schemas.microsoft.com/office/drawing/2014/main" xmlns="" id="{EDCFC85C-31F1-2657-4979-3921D699B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819400"/>
            <a:ext cx="1073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= process</a:t>
            </a:r>
          </a:p>
        </p:txBody>
      </p:sp>
      <p:sp>
        <p:nvSpPr>
          <p:cNvPr id="23589" name="Text Box 68">
            <a:extLst>
              <a:ext uri="{FF2B5EF4-FFF2-40B4-BE49-F238E27FC236}">
                <a16:creationId xmlns:a16="http://schemas.microsoft.com/office/drawing/2014/main" xmlns="" id="{CCC2EF26-AF3F-0F33-1968-4166779C3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819400"/>
            <a:ext cx="973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= socket</a:t>
            </a:r>
          </a:p>
        </p:txBody>
      </p:sp>
      <p:sp>
        <p:nvSpPr>
          <p:cNvPr id="23590" name="Text Box 72">
            <a:extLst>
              <a:ext uri="{FF2B5EF4-FFF2-40B4-BE49-F238E27FC236}">
                <a16:creationId xmlns:a16="http://schemas.microsoft.com/office/drawing/2014/main" xmlns="" id="{08160D9B-10D8-1B9D-BFBA-40C4245BE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501" y="1589088"/>
            <a:ext cx="184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3591" name="Text Box 75">
            <a:extLst>
              <a:ext uri="{FF2B5EF4-FFF2-40B4-BE49-F238E27FC236}">
                <a16:creationId xmlns:a16="http://schemas.microsoft.com/office/drawing/2014/main" xmlns="" id="{D9551929-B534-88D8-4B99-8B14A998E5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1366839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592" name="Rectangle 76">
            <a:extLst>
              <a:ext uri="{FF2B5EF4-FFF2-40B4-BE49-F238E27FC236}">
                <a16:creationId xmlns:a16="http://schemas.microsoft.com/office/drawing/2014/main" xmlns="" id="{0B7FC9A6-066A-27B2-BAB9-81C018C65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1" y="1524000"/>
            <a:ext cx="3808413" cy="1066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delivering received segments</a:t>
            </a:r>
          </a:p>
          <a:p>
            <a:pPr algn="l"/>
            <a:r>
              <a:rPr lang="en-US" altLang="en-US" sz="2000"/>
              <a:t>to correct socket</a:t>
            </a:r>
          </a:p>
        </p:txBody>
      </p:sp>
      <p:grpSp>
        <p:nvGrpSpPr>
          <p:cNvPr id="23593" name="Group 77">
            <a:extLst>
              <a:ext uri="{FF2B5EF4-FFF2-40B4-BE49-F238E27FC236}">
                <a16:creationId xmlns:a16="http://schemas.microsoft.com/office/drawing/2014/main" xmlns="" id="{9C39A3D5-A70E-84B6-16D8-2BC8E4778260}"/>
              </a:ext>
            </a:extLst>
          </p:cNvPr>
          <p:cNvGrpSpPr>
            <a:grpSpLocks/>
          </p:cNvGrpSpPr>
          <p:nvPr/>
        </p:nvGrpSpPr>
        <p:grpSpPr bwMode="auto">
          <a:xfrm>
            <a:off x="2057401" y="1295401"/>
            <a:ext cx="3382963" cy="396875"/>
            <a:chOff x="1080" y="3713"/>
            <a:chExt cx="1712" cy="250"/>
          </a:xfrm>
        </p:grpSpPr>
        <p:sp>
          <p:nvSpPr>
            <p:cNvPr id="23603" name="Rectangle 78">
              <a:extLst>
                <a:ext uri="{FF2B5EF4-FFF2-40B4-BE49-F238E27FC236}">
                  <a16:creationId xmlns:a16="http://schemas.microsoft.com/office/drawing/2014/main" xmlns="" id="{C6AD1514-299D-0771-D2AA-CFC76E29A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3732"/>
              <a:ext cx="1002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4" name="Text Box 79">
              <a:extLst>
                <a:ext uri="{FF2B5EF4-FFF2-40B4-BE49-F238E27FC236}">
                  <a16:creationId xmlns:a16="http://schemas.microsoft.com/office/drawing/2014/main" xmlns="" id="{F8CE8B13-ACE2-6F41-8CD1-350FE5624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" y="3713"/>
              <a:ext cx="171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 u="sng">
                  <a:solidFill>
                    <a:srgbClr val="FF0000"/>
                  </a:solidFill>
                </a:rPr>
                <a:t>Demultiplexing at rcv host:</a:t>
              </a:r>
            </a:p>
          </p:txBody>
        </p:sp>
      </p:grpSp>
      <p:sp>
        <p:nvSpPr>
          <p:cNvPr id="23594" name="Text Box 82">
            <a:extLst>
              <a:ext uri="{FF2B5EF4-FFF2-40B4-BE49-F238E27FC236}">
                <a16:creationId xmlns:a16="http://schemas.microsoft.com/office/drawing/2014/main" xmlns="" id="{5F26C6D4-7ED2-28DF-F84C-84CDE390D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801" y="1571626"/>
            <a:ext cx="371951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gathering data from multiple</a:t>
            </a:r>
          </a:p>
          <a:p>
            <a:pPr algn="l"/>
            <a:r>
              <a:rPr lang="en-US" altLang="en-US" sz="2000"/>
              <a:t>sockets, enveloping data with </a:t>
            </a:r>
          </a:p>
          <a:p>
            <a:pPr algn="l"/>
            <a:r>
              <a:rPr lang="en-US" altLang="en-US" sz="2000"/>
              <a:t>header (later used for </a:t>
            </a:r>
          </a:p>
          <a:p>
            <a:pPr algn="l"/>
            <a:r>
              <a:rPr lang="en-US" altLang="en-US" sz="2000"/>
              <a:t>demultiplexing)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595" name="Rectangle 83">
            <a:extLst>
              <a:ext uri="{FF2B5EF4-FFF2-40B4-BE49-F238E27FC236}">
                <a16:creationId xmlns:a16="http://schemas.microsoft.com/office/drawing/2014/main" xmlns="" id="{D5C5EC42-FCCC-A74C-4E7F-C927AFFA9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1" y="1506539"/>
            <a:ext cx="3609975" cy="141922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23596" name="Group 84">
            <a:extLst>
              <a:ext uri="{FF2B5EF4-FFF2-40B4-BE49-F238E27FC236}">
                <a16:creationId xmlns:a16="http://schemas.microsoft.com/office/drawing/2014/main" xmlns="" id="{D04AF54E-153E-F346-C5C3-B6CC2D967808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219201"/>
            <a:ext cx="3257550" cy="396875"/>
            <a:chOff x="913" y="3713"/>
            <a:chExt cx="2052" cy="250"/>
          </a:xfrm>
        </p:grpSpPr>
        <p:sp>
          <p:nvSpPr>
            <p:cNvPr id="23601" name="Rectangle 85">
              <a:extLst>
                <a:ext uri="{FF2B5EF4-FFF2-40B4-BE49-F238E27FC236}">
                  <a16:creationId xmlns:a16="http://schemas.microsoft.com/office/drawing/2014/main" xmlns="" id="{C9E32EFC-01A2-90AF-F4ED-C3F611875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3732"/>
              <a:ext cx="1002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2" name="Text Box 86">
              <a:extLst>
                <a:ext uri="{FF2B5EF4-FFF2-40B4-BE49-F238E27FC236}">
                  <a16:creationId xmlns:a16="http://schemas.microsoft.com/office/drawing/2014/main" xmlns="" id="{929EEC22-930A-D958-3CDF-145ABF084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" y="3713"/>
              <a:ext cx="2052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 u="sng">
                  <a:solidFill>
                    <a:srgbClr val="FF0000"/>
                  </a:solidFill>
                </a:rPr>
                <a:t>Multiplexing at send host:</a:t>
              </a:r>
              <a:endParaRPr lang="en-US" altLang="en-US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23597" name="Group 88">
            <a:extLst>
              <a:ext uri="{FF2B5EF4-FFF2-40B4-BE49-F238E27FC236}">
                <a16:creationId xmlns:a16="http://schemas.microsoft.com/office/drawing/2014/main" xmlns="" id="{22EEC6E1-E1BC-0608-D38B-B47180B7485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72201" y="3962400"/>
            <a:ext cx="2263775" cy="1676400"/>
            <a:chOff x="1421" y="2509"/>
            <a:chExt cx="1426" cy="1056"/>
          </a:xfrm>
        </p:grpSpPr>
        <p:sp>
          <p:nvSpPr>
            <p:cNvPr id="23598" name="Line 89">
              <a:extLst>
                <a:ext uri="{FF2B5EF4-FFF2-40B4-BE49-F238E27FC236}">
                  <a16:creationId xmlns:a16="http://schemas.microsoft.com/office/drawing/2014/main" xmlns="" id="{A17F2C4E-880A-0878-82D0-4147D9AB5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509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599" name="Freeform 90">
              <a:extLst>
                <a:ext uri="{FF2B5EF4-FFF2-40B4-BE49-F238E27FC236}">
                  <a16:creationId xmlns:a16="http://schemas.microsoft.com/office/drawing/2014/main" xmlns="" id="{AB317D48-F8E1-44CD-66CD-4EB37D928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2563"/>
              <a:ext cx="286" cy="989"/>
            </a:xfrm>
            <a:custGeom>
              <a:avLst/>
              <a:gdLst>
                <a:gd name="T0" fmla="*/ 286 w 286"/>
                <a:gd name="T1" fmla="*/ 989 h 989"/>
                <a:gd name="T2" fmla="*/ 284 w 286"/>
                <a:gd name="T3" fmla="*/ 117 h 989"/>
                <a:gd name="T4" fmla="*/ 0 w 286"/>
                <a:gd name="T5" fmla="*/ 0 h 989"/>
                <a:gd name="T6" fmla="*/ 0 60000 65536"/>
                <a:gd name="T7" fmla="*/ 0 60000 65536"/>
                <a:gd name="T8" fmla="*/ 0 60000 65536"/>
                <a:gd name="T9" fmla="*/ 0 w 286"/>
                <a:gd name="T10" fmla="*/ 0 h 989"/>
                <a:gd name="T11" fmla="*/ 286 w 286"/>
                <a:gd name="T12" fmla="*/ 989 h 9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6" h="989">
                  <a:moveTo>
                    <a:pt x="286" y="989"/>
                  </a:moveTo>
                  <a:lnTo>
                    <a:pt x="284" y="11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3600" name="Freeform 91">
              <a:extLst>
                <a:ext uri="{FF2B5EF4-FFF2-40B4-BE49-F238E27FC236}">
                  <a16:creationId xmlns:a16="http://schemas.microsoft.com/office/drawing/2014/main" xmlns="" id="{DF33075C-E51E-2108-8A41-D6D347853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1" y="3556"/>
              <a:ext cx="1426" cy="9"/>
            </a:xfrm>
            <a:custGeom>
              <a:avLst/>
              <a:gdLst>
                <a:gd name="T0" fmla="*/ 0 w 1426"/>
                <a:gd name="T1" fmla="*/ 9 h 9"/>
                <a:gd name="T2" fmla="*/ 1426 w 1426"/>
                <a:gd name="T3" fmla="*/ 0 h 9"/>
                <a:gd name="T4" fmla="*/ 0 60000 65536"/>
                <a:gd name="T5" fmla="*/ 0 60000 65536"/>
                <a:gd name="T6" fmla="*/ 0 w 1426"/>
                <a:gd name="T7" fmla="*/ 0 h 9"/>
                <a:gd name="T8" fmla="*/ 1426 w 1426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26" h="9">
                  <a:moveTo>
                    <a:pt x="0" y="9"/>
                  </a:moveTo>
                  <a:lnTo>
                    <a:pt x="1426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5">
            <a:extLst>
              <a:ext uri="{FF2B5EF4-FFF2-40B4-BE49-F238E27FC236}">
                <a16:creationId xmlns:a16="http://schemas.microsoft.com/office/drawing/2014/main" xmlns="" id="{A3868254-2146-8972-6DD2-96D1C6835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4579" name="Slide Number Placeholder 6">
            <a:extLst>
              <a:ext uri="{FF2B5EF4-FFF2-40B4-BE49-F238E27FC236}">
                <a16:creationId xmlns:a16="http://schemas.microsoft.com/office/drawing/2014/main" xmlns="" id="{79F382AE-98C7-89A6-D33D-C38F6CB6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9E50B24C-25F8-45B4-973E-2EA146AEC159}" type="slidenum">
              <a:rPr lang="en-US" altLang="en-US" sz="1400">
                <a:latin typeface="Arial" panose="020B0604020202020204" pitchFamily="34" charset="0"/>
              </a:rPr>
              <a:pPr/>
              <a:t>28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4580" name="Rectangle 75">
            <a:extLst>
              <a:ext uri="{FF2B5EF4-FFF2-40B4-BE49-F238E27FC236}">
                <a16:creationId xmlns:a16="http://schemas.microsoft.com/office/drawing/2014/main" xmlns="" id="{C1174110-BA96-C04C-A808-4C0CFD693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6" y="2000250"/>
            <a:ext cx="3324225" cy="32004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81" name="Rectangle 65">
            <a:extLst>
              <a:ext uri="{FF2B5EF4-FFF2-40B4-BE49-F238E27FC236}">
                <a16:creationId xmlns:a16="http://schemas.microsoft.com/office/drawing/2014/main" xmlns="" id="{86D7074E-E84A-7DD3-2766-6E2AB8D8A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26" y="2095500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82" name="Rectangle 22">
            <a:extLst>
              <a:ext uri="{FF2B5EF4-FFF2-40B4-BE49-F238E27FC236}">
                <a16:creationId xmlns:a16="http://schemas.microsoft.com/office/drawing/2014/main" xmlns="" id="{332410F7-BBDD-FB8F-5F50-E67038D10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How demultiplexing works</a:t>
            </a:r>
            <a:endParaRPr lang="en-US" altLang="en-US"/>
          </a:p>
        </p:txBody>
      </p:sp>
      <p:sp>
        <p:nvSpPr>
          <p:cNvPr id="24583" name="Rectangle 23">
            <a:extLst>
              <a:ext uri="{FF2B5EF4-FFF2-40B4-BE49-F238E27FC236}">
                <a16:creationId xmlns:a16="http://schemas.microsoft.com/office/drawing/2014/main" xmlns="" id="{D29A128E-1DA7-63AD-C564-B7B0E26664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219201"/>
            <a:ext cx="4114800" cy="2790825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000">
                <a:solidFill>
                  <a:srgbClr val="FF0000"/>
                </a:solidFill>
              </a:rPr>
              <a:t>host receives IP datagrams</a:t>
            </a:r>
            <a:endParaRPr lang="en-US" altLang="en-US" sz="2000"/>
          </a:p>
          <a:p>
            <a:pPr lvl="1"/>
            <a:r>
              <a:rPr lang="en-US" altLang="en-US" sz="2000"/>
              <a:t>each datagram has source IP address, destination IP address</a:t>
            </a:r>
          </a:p>
          <a:p>
            <a:pPr lvl="1"/>
            <a:r>
              <a:rPr lang="en-US" altLang="en-US" sz="2000"/>
              <a:t>each datagram carries 1 transport-layer segment</a:t>
            </a:r>
            <a:endParaRPr lang="en-US" altLang="en-US" sz="1800"/>
          </a:p>
          <a:p>
            <a:pPr lvl="1"/>
            <a:r>
              <a:rPr lang="en-US" altLang="en-US" sz="2000"/>
              <a:t>each segment has source, destination port number 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host uses IP addresses &amp; port numbers to direct segment to appropriate socket</a:t>
            </a:r>
            <a:endParaRPr lang="en-US" altLang="en-US" sz="2000"/>
          </a:p>
        </p:txBody>
      </p:sp>
      <p:sp>
        <p:nvSpPr>
          <p:cNvPr id="24584" name="Text Box 63">
            <a:extLst>
              <a:ext uri="{FF2B5EF4-FFF2-40B4-BE49-F238E27FC236}">
                <a16:creationId xmlns:a16="http://schemas.microsoft.com/office/drawing/2014/main" xmlns="" id="{56C2260D-3330-B3DA-87A7-3F6515F87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0" y="2117726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source port #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4585" name="Text Box 64">
            <a:extLst>
              <a:ext uri="{FF2B5EF4-FFF2-40B4-BE49-F238E27FC236}">
                <a16:creationId xmlns:a16="http://schemas.microsoft.com/office/drawing/2014/main" xmlns="" id="{DF4ADCEC-DDCB-FB45-EFCA-8EDF7E50E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8" y="2117726"/>
            <a:ext cx="1452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dest port #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6" name="Line 66">
            <a:extLst>
              <a:ext uri="{FF2B5EF4-FFF2-40B4-BE49-F238E27FC236}">
                <a16:creationId xmlns:a16="http://schemas.microsoft.com/office/drawing/2014/main" xmlns="" id="{14E096C1-6BAA-A45A-1BD0-4F0EA8E69F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495550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7" name="Line 68">
            <a:extLst>
              <a:ext uri="{FF2B5EF4-FFF2-40B4-BE49-F238E27FC236}">
                <a16:creationId xmlns:a16="http://schemas.microsoft.com/office/drawing/2014/main" xmlns="" id="{A9961DFD-FD8E-450D-6F8D-2BFA0F8442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91326" y="3486150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8" name="Line 69">
            <a:extLst>
              <a:ext uri="{FF2B5EF4-FFF2-40B4-BE49-F238E27FC236}">
                <a16:creationId xmlns:a16="http://schemas.microsoft.com/office/drawing/2014/main" xmlns="" id="{2C277BAF-CB39-FE5A-BC3B-85A423BA42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625" y="2095500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89" name="Text Box 70">
            <a:extLst>
              <a:ext uri="{FF2B5EF4-FFF2-40B4-BE49-F238E27FC236}">
                <a16:creationId xmlns:a16="http://schemas.microsoft.com/office/drawing/2014/main" xmlns="" id="{794366F5-1A54-6206-052F-54301AA3A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151" y="1665288"/>
            <a:ext cx="949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/>
              <a:t>32 bits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4590" name="Line 71">
            <a:extLst>
              <a:ext uri="{FF2B5EF4-FFF2-40B4-BE49-F238E27FC236}">
                <a16:creationId xmlns:a16="http://schemas.microsoft.com/office/drawing/2014/main" xmlns="" id="{BD3901F3-5DDD-51E6-A7FB-C6C9CC029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6825" y="1862138"/>
            <a:ext cx="1200150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91" name="Line 72">
            <a:extLst>
              <a:ext uri="{FF2B5EF4-FFF2-40B4-BE49-F238E27FC236}">
                <a16:creationId xmlns:a16="http://schemas.microsoft.com/office/drawing/2014/main" xmlns="" id="{D9653F5E-CA07-C97E-87ED-70058AE195DB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777038" y="1871663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592" name="Text Box 73">
            <a:extLst>
              <a:ext uri="{FF2B5EF4-FFF2-40B4-BE49-F238E27FC236}">
                <a16:creationId xmlns:a16="http://schemas.microsoft.com/office/drawing/2014/main" xmlns="" id="{8C92B506-E28B-5829-25F3-8BC54232A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563" y="3951289"/>
            <a:ext cx="14462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/>
              <a:t>application</a:t>
            </a:r>
          </a:p>
          <a:p>
            <a:r>
              <a:rPr lang="en-US" altLang="en-US" sz="2000"/>
              <a:t>data </a:t>
            </a:r>
          </a:p>
          <a:p>
            <a:r>
              <a:rPr lang="en-US" altLang="en-US" sz="2000"/>
              <a:t>(message)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4593" name="Text Box 74">
            <a:extLst>
              <a:ext uri="{FF2B5EF4-FFF2-40B4-BE49-F238E27FC236}">
                <a16:creationId xmlns:a16="http://schemas.microsoft.com/office/drawing/2014/main" xmlns="" id="{0CA63E82-DDE6-5CB5-CB18-FDE9B23F0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963" y="2860676"/>
            <a:ext cx="25066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/>
              <a:t>other header fields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4594" name="Text Box 76">
            <a:extLst>
              <a:ext uri="{FF2B5EF4-FFF2-40B4-BE49-F238E27FC236}">
                <a16:creationId xmlns:a16="http://schemas.microsoft.com/office/drawing/2014/main" xmlns="" id="{19AD62D2-208F-FAA3-E206-A73571100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6263" y="5518151"/>
            <a:ext cx="3243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/>
              <a:t>TCP/UDP segment format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5">
            <a:extLst>
              <a:ext uri="{FF2B5EF4-FFF2-40B4-BE49-F238E27FC236}">
                <a16:creationId xmlns:a16="http://schemas.microsoft.com/office/drawing/2014/main" xmlns="" id="{5D44F86F-7183-5B7C-E99B-D1F0E3F6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5603" name="Slide Number Placeholder 6">
            <a:extLst>
              <a:ext uri="{FF2B5EF4-FFF2-40B4-BE49-F238E27FC236}">
                <a16:creationId xmlns:a16="http://schemas.microsoft.com/office/drawing/2014/main" xmlns="" id="{554368A0-5BEF-1A44-FC14-8C513A49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2066FD3D-AC22-4732-9E1E-656CBE7FF11F}" type="slidenum">
              <a:rPr lang="en-US" altLang="en-US" sz="1400">
                <a:latin typeface="Arial" panose="020B0604020202020204" pitchFamily="34" charset="0"/>
              </a:rPr>
              <a:pPr/>
              <a:t>29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xmlns="" id="{51A9E56D-6525-7CCE-5F9F-2A4A8D10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Connectionless demultiplexing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xmlns="" id="{088D43D0-1FAF-E26A-6321-1E951A799E7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0" y="1600200"/>
            <a:ext cx="4572000" cy="4648200"/>
          </a:xfrm>
        </p:spPr>
        <p:txBody>
          <a:bodyPr/>
          <a:lstStyle/>
          <a:p>
            <a:r>
              <a:rPr lang="en-US" altLang="en-US" sz="2400"/>
              <a:t>Create sockets with port numbers: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DatagramSocket mySocket1 = new DatagramSocket(12534);</a:t>
            </a:r>
          </a:p>
          <a:p>
            <a:pPr>
              <a:buFont typeface="ZapfDingbats" pitchFamily="82" charset="2"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DatagramSocket mySocket2 = new DatagramSocket(12535);</a:t>
            </a:r>
          </a:p>
          <a:p>
            <a:r>
              <a:rPr lang="en-US" altLang="en-US" sz="2400"/>
              <a:t>UDP socket identified by  two-tuple: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(</a:t>
            </a:r>
            <a:r>
              <a:rPr lang="en-US" altLang="en-US" sz="1800">
                <a:solidFill>
                  <a:srgbClr val="FF0000"/>
                </a:solidFill>
              </a:rPr>
              <a:t>dest IP address, dest port number)</a:t>
            </a:r>
            <a:endParaRPr lang="en-US" altLang="en-US" sz="2400"/>
          </a:p>
        </p:txBody>
      </p:sp>
      <p:sp>
        <p:nvSpPr>
          <p:cNvPr id="25606" name="Rectangle 105">
            <a:extLst>
              <a:ext uri="{FF2B5EF4-FFF2-40B4-BE49-F238E27FC236}">
                <a16:creationId xmlns:a16="http://schemas.microsoft.com/office/drawing/2014/main" xmlns="" id="{5A8B72E0-DC71-9951-E998-3F84A95A3C2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553200" y="1447800"/>
            <a:ext cx="4114800" cy="4648200"/>
          </a:xfrm>
        </p:spPr>
        <p:txBody>
          <a:bodyPr/>
          <a:lstStyle/>
          <a:p>
            <a:r>
              <a:rPr lang="en-US" altLang="en-US" sz="2400"/>
              <a:t>When host receives UDP segment:</a:t>
            </a:r>
          </a:p>
          <a:p>
            <a:pPr lvl="1"/>
            <a:r>
              <a:rPr lang="en-US" altLang="en-US" sz="2000"/>
              <a:t>checks destination port number in segment</a:t>
            </a:r>
          </a:p>
          <a:p>
            <a:pPr lvl="1"/>
            <a:r>
              <a:rPr lang="en-US" altLang="en-US" sz="2000"/>
              <a:t>directs UDP segment to socket with that port number</a:t>
            </a:r>
          </a:p>
          <a:p>
            <a:r>
              <a:rPr lang="en-US" altLang="en-US" sz="2400"/>
              <a:t>IP datagrams with different source IP addresses and/or source port numbers directed to same socket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>
            <a:extLst>
              <a:ext uri="{FF2B5EF4-FFF2-40B4-BE49-F238E27FC236}">
                <a16:creationId xmlns:a16="http://schemas.microsoft.com/office/drawing/2014/main" xmlns="" id="{551FB400-AD82-6999-BF15-54FBBB49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6627" name="Slide Number Placeholder 5">
            <a:extLst>
              <a:ext uri="{FF2B5EF4-FFF2-40B4-BE49-F238E27FC236}">
                <a16:creationId xmlns:a16="http://schemas.microsoft.com/office/drawing/2014/main" xmlns="" id="{4FFB4381-E983-B629-FBDF-89924340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F6DA9732-0749-4A3D-A152-BAA748982739}" type="slidenum">
              <a:rPr lang="en-US" altLang="en-US" sz="1400">
                <a:latin typeface="Arial" panose="020B0604020202020204" pitchFamily="34" charset="0"/>
              </a:rPr>
              <a:pPr/>
              <a:t>30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xmlns="" id="{4B096978-64F6-B1CA-87F3-5DF24B3436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Connectionless demux (cont)</a:t>
            </a:r>
          </a:p>
        </p:txBody>
      </p:sp>
      <p:sp>
        <p:nvSpPr>
          <p:cNvPr id="26629" name="Rectangle 44">
            <a:extLst>
              <a:ext uri="{FF2B5EF4-FFF2-40B4-BE49-F238E27FC236}">
                <a16:creationId xmlns:a16="http://schemas.microsoft.com/office/drawing/2014/main" xmlns="" id="{C1A794BB-3372-2FDE-0BF1-A29CBDAD4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600200"/>
            <a:ext cx="8686800" cy="6096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DatagramSocket serverSocket = new DatagramSocket(6428);</a:t>
            </a:r>
          </a:p>
          <a:p>
            <a:endParaRPr lang="en-US" altLang="en-US"/>
          </a:p>
        </p:txBody>
      </p:sp>
      <p:grpSp>
        <p:nvGrpSpPr>
          <p:cNvPr id="26630" name="Group 86">
            <a:extLst>
              <a:ext uri="{FF2B5EF4-FFF2-40B4-BE49-F238E27FC236}">
                <a16:creationId xmlns:a16="http://schemas.microsoft.com/office/drawing/2014/main" xmlns="" id="{ABBAAA59-1392-43B7-5ECF-7603F4D122E5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2286000"/>
            <a:ext cx="8151813" cy="3213100"/>
            <a:chOff x="432" y="1920"/>
            <a:chExt cx="5135" cy="2024"/>
          </a:xfrm>
        </p:grpSpPr>
        <p:sp>
          <p:nvSpPr>
            <p:cNvPr id="26632" name="Text Box 14">
              <a:extLst>
                <a:ext uri="{FF2B5EF4-FFF2-40B4-BE49-F238E27FC236}">
                  <a16:creationId xmlns:a16="http://schemas.microsoft.com/office/drawing/2014/main" xmlns="" id="{E5E93F56-73F0-E932-FE32-32E424C971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9" y="3456"/>
              <a:ext cx="5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>
                  <a:solidFill>
                    <a:schemeClr val="accent2"/>
                  </a:solidFill>
                </a:rPr>
                <a:t>Client</a:t>
              </a:r>
            </a:p>
            <a:p>
              <a:r>
                <a:rPr lang="en-US" altLang="en-US">
                  <a:solidFill>
                    <a:schemeClr val="accent2"/>
                  </a:solidFill>
                </a:rPr>
                <a:t>IP:B</a:t>
              </a:r>
            </a:p>
          </p:txBody>
        </p:sp>
        <p:grpSp>
          <p:nvGrpSpPr>
            <p:cNvPr id="26633" name="Group 46">
              <a:extLst>
                <a:ext uri="{FF2B5EF4-FFF2-40B4-BE49-F238E27FC236}">
                  <a16:creationId xmlns:a16="http://schemas.microsoft.com/office/drawing/2014/main" xmlns="" id="{7DC8FD16-F39B-AE78-EFB6-975C163DD7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920"/>
              <a:ext cx="637" cy="1976"/>
              <a:chOff x="1008" y="1922"/>
              <a:chExt cx="637" cy="1976"/>
            </a:xfrm>
          </p:grpSpPr>
          <p:grpSp>
            <p:nvGrpSpPr>
              <p:cNvPr id="26682" name="Group 4">
                <a:extLst>
                  <a:ext uri="{FF2B5EF4-FFF2-40B4-BE49-F238E27FC236}">
                    <a16:creationId xmlns:a16="http://schemas.microsoft.com/office/drawing/2014/main" xmlns="" id="{9182BAFC-E201-E75C-BDD2-8AA33AC16B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922"/>
                <a:ext cx="637" cy="1500"/>
                <a:chOff x="608" y="2454"/>
                <a:chExt cx="1261" cy="1500"/>
              </a:xfrm>
            </p:grpSpPr>
            <p:sp>
              <p:nvSpPr>
                <p:cNvPr id="26689" name="Rectangle 5">
                  <a:extLst>
                    <a:ext uri="{FF2B5EF4-FFF2-40B4-BE49-F238E27FC236}">
                      <a16:creationId xmlns:a16="http://schemas.microsoft.com/office/drawing/2014/main" xmlns="" id="{E7087FC7-1045-8A88-5CF6-B6F3423148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" y="2454"/>
                  <a:ext cx="1261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l"/>
                  <a:endParaRPr lang="en-US" altLang="en-US"/>
                </a:p>
              </p:txBody>
            </p:sp>
            <p:sp>
              <p:nvSpPr>
                <p:cNvPr id="26690" name="Rectangle 6">
                  <a:extLst>
                    <a:ext uri="{FF2B5EF4-FFF2-40B4-BE49-F238E27FC236}">
                      <a16:creationId xmlns:a16="http://schemas.microsoft.com/office/drawing/2014/main" xmlns="" id="{E2A2F21A-E4A8-EDF0-4700-284D30AB6E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" y="2754"/>
                  <a:ext cx="1261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l"/>
                  <a:endParaRPr lang="en-US" altLang="en-US"/>
                </a:p>
              </p:txBody>
            </p:sp>
            <p:sp>
              <p:nvSpPr>
                <p:cNvPr id="26691" name="Rectangle 7">
                  <a:extLst>
                    <a:ext uri="{FF2B5EF4-FFF2-40B4-BE49-F238E27FC236}">
                      <a16:creationId xmlns:a16="http://schemas.microsoft.com/office/drawing/2014/main" xmlns="" id="{7B72B93D-5589-9065-977A-00DEF1DE5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" y="3054"/>
                  <a:ext cx="1261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l"/>
                  <a:endParaRPr lang="en-US" altLang="en-US"/>
                </a:p>
              </p:txBody>
            </p:sp>
            <p:sp>
              <p:nvSpPr>
                <p:cNvPr id="26692" name="Rectangle 8">
                  <a:extLst>
                    <a:ext uri="{FF2B5EF4-FFF2-40B4-BE49-F238E27FC236}">
                      <a16:creationId xmlns:a16="http://schemas.microsoft.com/office/drawing/2014/main" xmlns="" id="{0ADD0365-9A55-7750-564F-1991A49B7B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" y="3354"/>
                  <a:ext cx="1261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l"/>
                  <a:endParaRPr lang="en-US" altLang="en-US"/>
                </a:p>
              </p:txBody>
            </p:sp>
            <p:sp>
              <p:nvSpPr>
                <p:cNvPr id="26693" name="Rectangle 9">
                  <a:extLst>
                    <a:ext uri="{FF2B5EF4-FFF2-40B4-BE49-F238E27FC236}">
                      <a16:creationId xmlns:a16="http://schemas.microsoft.com/office/drawing/2014/main" xmlns="" id="{EDDBCF7F-4942-3487-7D74-3FDAA76775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" y="3654"/>
                  <a:ext cx="1261" cy="3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l"/>
                  <a:endParaRPr lang="en-US" altLang="en-US"/>
                </a:p>
              </p:txBody>
            </p:sp>
          </p:grpSp>
          <p:grpSp>
            <p:nvGrpSpPr>
              <p:cNvPr id="26683" name="Group 10">
                <a:extLst>
                  <a:ext uri="{FF2B5EF4-FFF2-40B4-BE49-F238E27FC236}">
                    <a16:creationId xmlns:a16="http://schemas.microsoft.com/office/drawing/2014/main" xmlns="" id="{1A962F78-34A2-5E93-8705-92A1D7FAB4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77" y="1966"/>
                <a:ext cx="377" cy="315"/>
                <a:chOff x="2614" y="2862"/>
                <a:chExt cx="377" cy="315"/>
              </a:xfrm>
            </p:grpSpPr>
            <p:sp>
              <p:nvSpPr>
                <p:cNvPr id="26687" name="Rectangle 11">
                  <a:extLst>
                    <a:ext uri="{FF2B5EF4-FFF2-40B4-BE49-F238E27FC236}">
                      <a16:creationId xmlns:a16="http://schemas.microsoft.com/office/drawing/2014/main" xmlns="" id="{4015CBA5-FCA1-0495-736B-C95E3A78FF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4" y="3054"/>
                  <a:ext cx="377" cy="123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26688" name="Oval 12">
                  <a:extLst>
                    <a:ext uri="{FF2B5EF4-FFF2-40B4-BE49-F238E27FC236}">
                      <a16:creationId xmlns:a16="http://schemas.microsoft.com/office/drawing/2014/main" xmlns="" id="{A5E4AE95-618A-F31A-97AD-E2805ACE02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14" y="2862"/>
                  <a:ext cx="377" cy="192"/>
                </a:xfrm>
                <a:prstGeom prst="ellipse">
                  <a:avLst/>
                </a:prstGeom>
                <a:solidFill>
                  <a:srgbClr val="CC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r>
                    <a:rPr lang="en-US" altLang="en-US"/>
                    <a:t>P2</a:t>
                  </a:r>
                </a:p>
              </p:txBody>
            </p:sp>
          </p:grpSp>
          <p:sp>
            <p:nvSpPr>
              <p:cNvPr id="26684" name="Text Box 13">
                <a:extLst>
                  <a:ext uri="{FF2B5EF4-FFF2-40B4-BE49-F238E27FC236}">
                    <a16:creationId xmlns:a16="http://schemas.microsoft.com/office/drawing/2014/main" xmlns="" id="{A5C42620-7765-4431-77E2-09AE5D9E2C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1" y="3456"/>
                <a:ext cx="547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 sz="2000">
                    <a:solidFill>
                      <a:schemeClr val="accent2"/>
                    </a:solidFill>
                  </a:rPr>
                  <a:t>client</a:t>
                </a:r>
              </a:p>
              <a:p>
                <a:r>
                  <a:rPr lang="en-US" altLang="en-US" sz="2000">
                    <a:solidFill>
                      <a:schemeClr val="accent2"/>
                    </a:solidFill>
                  </a:rPr>
                  <a:t> IP: A</a:t>
                </a:r>
              </a:p>
            </p:txBody>
          </p:sp>
          <p:sp>
            <p:nvSpPr>
              <p:cNvPr id="26685" name="Line 15">
                <a:extLst>
                  <a:ext uri="{FF2B5EF4-FFF2-40B4-BE49-F238E27FC236}">
                    <a16:creationId xmlns:a16="http://schemas.microsoft.com/office/drawing/2014/main" xmlns="" id="{A65CA629-171E-21F8-1539-66E2B85BA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208"/>
                <a:ext cx="0" cy="11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26686" name="Line 33">
                <a:extLst>
                  <a:ext uri="{FF2B5EF4-FFF2-40B4-BE49-F238E27FC236}">
                    <a16:creationId xmlns:a16="http://schemas.microsoft.com/office/drawing/2014/main" xmlns="" id="{7BBED8D2-9A65-BBA8-5507-5FD13F5F6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256"/>
                <a:ext cx="0" cy="96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26634" name="Group 16">
              <a:extLst>
                <a:ext uri="{FF2B5EF4-FFF2-40B4-BE49-F238E27FC236}">
                  <a16:creationId xmlns:a16="http://schemas.microsoft.com/office/drawing/2014/main" xmlns="" id="{A3127879-5962-4F29-A9F6-C1A43C6505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4" y="1945"/>
              <a:ext cx="377" cy="315"/>
              <a:chOff x="2614" y="2862"/>
              <a:chExt cx="377" cy="315"/>
            </a:xfrm>
          </p:grpSpPr>
          <p:sp>
            <p:nvSpPr>
              <p:cNvPr id="26680" name="Rectangle 17">
                <a:extLst>
                  <a:ext uri="{FF2B5EF4-FFF2-40B4-BE49-F238E27FC236}">
                    <a16:creationId xmlns:a16="http://schemas.microsoft.com/office/drawing/2014/main" xmlns="" id="{FBB0179B-C5E9-A2EF-42EE-3BCE141EB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3054"/>
                <a:ext cx="377" cy="12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81" name="Oval 18">
                <a:extLst>
                  <a:ext uri="{FF2B5EF4-FFF2-40B4-BE49-F238E27FC236}">
                    <a16:creationId xmlns:a16="http://schemas.microsoft.com/office/drawing/2014/main" xmlns="" id="{E6C2FFFB-72FB-E50E-7344-93E75F7BD8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2862"/>
                <a:ext cx="377" cy="192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P1</a:t>
                </a:r>
              </a:p>
            </p:txBody>
          </p:sp>
        </p:grpSp>
        <p:grpSp>
          <p:nvGrpSpPr>
            <p:cNvPr id="26635" name="Group 19">
              <a:extLst>
                <a:ext uri="{FF2B5EF4-FFF2-40B4-BE49-F238E27FC236}">
                  <a16:creationId xmlns:a16="http://schemas.microsoft.com/office/drawing/2014/main" xmlns="" id="{A9A70BFB-1B7A-B468-9E28-57C6E7E80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1920"/>
              <a:ext cx="576" cy="1500"/>
              <a:chOff x="608" y="2454"/>
              <a:chExt cx="1261" cy="1500"/>
            </a:xfrm>
          </p:grpSpPr>
          <p:sp>
            <p:nvSpPr>
              <p:cNvPr id="26675" name="Rectangle 20">
                <a:extLst>
                  <a:ext uri="{FF2B5EF4-FFF2-40B4-BE49-F238E27FC236}">
                    <a16:creationId xmlns:a16="http://schemas.microsoft.com/office/drawing/2014/main" xmlns="" id="{F12BFAA8-0B0A-5107-DB48-EF70CCFBE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4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76" name="Rectangle 21">
                <a:extLst>
                  <a:ext uri="{FF2B5EF4-FFF2-40B4-BE49-F238E27FC236}">
                    <a16:creationId xmlns:a16="http://schemas.microsoft.com/office/drawing/2014/main" xmlns="" id="{81F4FE2A-2D8A-2732-DD30-BA744D2F8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7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77" name="Rectangle 22">
                <a:extLst>
                  <a:ext uri="{FF2B5EF4-FFF2-40B4-BE49-F238E27FC236}">
                    <a16:creationId xmlns:a16="http://schemas.microsoft.com/office/drawing/2014/main" xmlns="" id="{43C5A98B-A2A5-33A8-A08F-265A80E5A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0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78" name="Rectangle 23">
                <a:extLst>
                  <a:ext uri="{FF2B5EF4-FFF2-40B4-BE49-F238E27FC236}">
                    <a16:creationId xmlns:a16="http://schemas.microsoft.com/office/drawing/2014/main" xmlns="" id="{5D48F992-8401-78E0-CFDC-55F677278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3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79" name="Rectangle 24">
                <a:extLst>
                  <a:ext uri="{FF2B5EF4-FFF2-40B4-BE49-F238E27FC236}">
                    <a16:creationId xmlns:a16="http://schemas.microsoft.com/office/drawing/2014/main" xmlns="" id="{2BBAAD58-14A5-91F9-8A7A-7D30E33A02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6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26636" name="Group 28">
              <a:extLst>
                <a:ext uri="{FF2B5EF4-FFF2-40B4-BE49-F238E27FC236}">
                  <a16:creationId xmlns:a16="http://schemas.microsoft.com/office/drawing/2014/main" xmlns="" id="{F0F129AB-1398-11AB-0B3B-8AFC2952E3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3" y="1968"/>
              <a:ext cx="377" cy="315"/>
              <a:chOff x="2614" y="2862"/>
              <a:chExt cx="377" cy="315"/>
            </a:xfrm>
          </p:grpSpPr>
          <p:sp>
            <p:nvSpPr>
              <p:cNvPr id="26673" name="Rectangle 29">
                <a:extLst>
                  <a:ext uri="{FF2B5EF4-FFF2-40B4-BE49-F238E27FC236}">
                    <a16:creationId xmlns:a16="http://schemas.microsoft.com/office/drawing/2014/main" xmlns="" id="{732FE3CD-AEC6-FDE8-15D7-0324F8AE6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3054"/>
                <a:ext cx="377" cy="12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74" name="Oval 30">
                <a:extLst>
                  <a:ext uri="{FF2B5EF4-FFF2-40B4-BE49-F238E27FC236}">
                    <a16:creationId xmlns:a16="http://schemas.microsoft.com/office/drawing/2014/main" xmlns="" id="{ABCF87D3-D852-D55D-F06D-12C15FDF4E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2862"/>
                <a:ext cx="377" cy="192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P1</a:t>
                </a:r>
              </a:p>
            </p:txBody>
          </p:sp>
        </p:grpSp>
        <p:sp>
          <p:nvSpPr>
            <p:cNvPr id="26637" name="Line 31">
              <a:extLst>
                <a:ext uri="{FF2B5EF4-FFF2-40B4-BE49-F238E27FC236}">
                  <a16:creationId xmlns:a16="http://schemas.microsoft.com/office/drawing/2014/main" xmlns="" id="{96A366CF-6102-B059-5024-B2C5F416B9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36" y="2208"/>
              <a:ext cx="0" cy="10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38" name="Line 34">
              <a:extLst>
                <a:ext uri="{FF2B5EF4-FFF2-40B4-BE49-F238E27FC236}">
                  <a16:creationId xmlns:a16="http://schemas.microsoft.com/office/drawing/2014/main" xmlns="" id="{97FA6E58-DDE6-24B2-9360-3F35BECA3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208"/>
              <a:ext cx="0" cy="11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39" name="Rectangle 49">
              <a:extLst>
                <a:ext uri="{FF2B5EF4-FFF2-40B4-BE49-F238E27FC236}">
                  <a16:creationId xmlns:a16="http://schemas.microsoft.com/office/drawing/2014/main" xmlns="" id="{3CB50E51-CA16-07F0-D477-8568BDCFA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920"/>
              <a:ext cx="816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endParaRPr lang="en-US" altLang="en-US"/>
            </a:p>
          </p:txBody>
        </p:sp>
        <p:sp>
          <p:nvSpPr>
            <p:cNvPr id="26640" name="Rectangle 50">
              <a:extLst>
                <a:ext uri="{FF2B5EF4-FFF2-40B4-BE49-F238E27FC236}">
                  <a16:creationId xmlns:a16="http://schemas.microsoft.com/office/drawing/2014/main" xmlns="" id="{E9FA41CC-627A-012A-FEE2-CDC7E55A9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220"/>
              <a:ext cx="816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endParaRPr lang="en-US" altLang="en-US"/>
            </a:p>
          </p:txBody>
        </p:sp>
        <p:sp>
          <p:nvSpPr>
            <p:cNvPr id="26641" name="Rectangle 51">
              <a:extLst>
                <a:ext uri="{FF2B5EF4-FFF2-40B4-BE49-F238E27FC236}">
                  <a16:creationId xmlns:a16="http://schemas.microsoft.com/office/drawing/2014/main" xmlns="" id="{A2E25947-78CA-8C2E-101B-AA3E85607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520"/>
              <a:ext cx="816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endParaRPr lang="en-US" altLang="en-US"/>
            </a:p>
          </p:txBody>
        </p:sp>
        <p:sp>
          <p:nvSpPr>
            <p:cNvPr id="26642" name="Rectangle 52">
              <a:extLst>
                <a:ext uri="{FF2B5EF4-FFF2-40B4-BE49-F238E27FC236}">
                  <a16:creationId xmlns:a16="http://schemas.microsoft.com/office/drawing/2014/main" xmlns="" id="{A0B81D8A-C076-915D-4575-A418376B8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820"/>
              <a:ext cx="816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endParaRPr lang="en-US" altLang="en-US"/>
            </a:p>
          </p:txBody>
        </p:sp>
        <p:sp>
          <p:nvSpPr>
            <p:cNvPr id="26643" name="Rectangle 53">
              <a:extLst>
                <a:ext uri="{FF2B5EF4-FFF2-40B4-BE49-F238E27FC236}">
                  <a16:creationId xmlns:a16="http://schemas.microsoft.com/office/drawing/2014/main" xmlns="" id="{E700047F-AEE2-F72E-DE02-4124A2E00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120"/>
              <a:ext cx="816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endParaRPr lang="en-US" altLang="en-US"/>
            </a:p>
          </p:txBody>
        </p:sp>
        <p:grpSp>
          <p:nvGrpSpPr>
            <p:cNvPr id="26644" name="Group 54">
              <a:extLst>
                <a:ext uri="{FF2B5EF4-FFF2-40B4-BE49-F238E27FC236}">
                  <a16:creationId xmlns:a16="http://schemas.microsoft.com/office/drawing/2014/main" xmlns="" id="{58B51E1C-E9F3-E968-904D-4F87C4152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0" y="2012"/>
              <a:ext cx="483" cy="315"/>
              <a:chOff x="2614" y="2862"/>
              <a:chExt cx="377" cy="315"/>
            </a:xfrm>
          </p:grpSpPr>
          <p:sp>
            <p:nvSpPr>
              <p:cNvPr id="26671" name="Rectangle 55">
                <a:extLst>
                  <a:ext uri="{FF2B5EF4-FFF2-40B4-BE49-F238E27FC236}">
                    <a16:creationId xmlns:a16="http://schemas.microsoft.com/office/drawing/2014/main" xmlns="" id="{0E8683F2-5FCE-EB21-B10A-8BEAB4A0EA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3054"/>
                <a:ext cx="377" cy="12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6672" name="Oval 56">
                <a:extLst>
                  <a:ext uri="{FF2B5EF4-FFF2-40B4-BE49-F238E27FC236}">
                    <a16:creationId xmlns:a16="http://schemas.microsoft.com/office/drawing/2014/main" xmlns="" id="{554E2E9E-B3AB-92AA-1B35-411B3C182D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2862"/>
                <a:ext cx="377" cy="192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P3</a:t>
                </a:r>
              </a:p>
            </p:txBody>
          </p:sp>
        </p:grpSp>
        <p:sp>
          <p:nvSpPr>
            <p:cNvPr id="26645" name="Text Box 57">
              <a:extLst>
                <a:ext uri="{FF2B5EF4-FFF2-40B4-BE49-F238E27FC236}">
                  <a16:creationId xmlns:a16="http://schemas.microsoft.com/office/drawing/2014/main" xmlns="" id="{14AA2C84-1A3B-BC9C-9F42-D11A7BD71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1" y="3502"/>
              <a:ext cx="60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>
                  <a:solidFill>
                    <a:schemeClr val="accent2"/>
                  </a:solidFill>
                </a:rPr>
                <a:t>server</a:t>
              </a:r>
            </a:p>
            <a:p>
              <a:r>
                <a:rPr lang="en-US" altLang="en-US" sz="2000">
                  <a:solidFill>
                    <a:schemeClr val="accent2"/>
                  </a:solidFill>
                </a:rPr>
                <a:t>IP: C</a:t>
              </a:r>
            </a:p>
          </p:txBody>
        </p:sp>
        <p:sp>
          <p:nvSpPr>
            <p:cNvPr id="26646" name="Line 58">
              <a:extLst>
                <a:ext uri="{FF2B5EF4-FFF2-40B4-BE49-F238E27FC236}">
                  <a16:creationId xmlns:a16="http://schemas.microsoft.com/office/drawing/2014/main" xmlns="" id="{84778E42-6C97-BD37-512E-02A11720D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256"/>
              <a:ext cx="0" cy="96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47" name="Line 59">
              <a:extLst>
                <a:ext uri="{FF2B5EF4-FFF2-40B4-BE49-F238E27FC236}">
                  <a16:creationId xmlns:a16="http://schemas.microsoft.com/office/drawing/2014/main" xmlns="" id="{AA6DD8FF-E72D-97BB-2FD9-505D5E770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256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48" name="Line 67">
              <a:extLst>
                <a:ext uri="{FF2B5EF4-FFF2-40B4-BE49-F238E27FC236}">
                  <a16:creationId xmlns:a16="http://schemas.microsoft.com/office/drawing/2014/main" xmlns="" id="{B3414088-9FCF-3701-D7A7-FFF4D1416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3216"/>
              <a:ext cx="196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49" name="Line 68">
              <a:extLst>
                <a:ext uri="{FF2B5EF4-FFF2-40B4-BE49-F238E27FC236}">
                  <a16:creationId xmlns:a16="http://schemas.microsoft.com/office/drawing/2014/main" xmlns="" id="{A1EF3153-9EBA-F382-D54B-6220011C7F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312"/>
              <a:ext cx="220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26650" name="Group 40">
              <a:extLst>
                <a:ext uri="{FF2B5EF4-FFF2-40B4-BE49-F238E27FC236}">
                  <a16:creationId xmlns:a16="http://schemas.microsoft.com/office/drawing/2014/main" xmlns="" id="{C146D1AE-DAFB-F128-8627-39DB4E32A6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688"/>
              <a:ext cx="624" cy="576"/>
              <a:chOff x="2160" y="3504"/>
              <a:chExt cx="624" cy="576"/>
            </a:xfrm>
          </p:grpSpPr>
          <p:sp>
            <p:nvSpPr>
              <p:cNvPr id="26668" name="Rectangle 41">
                <a:extLst>
                  <a:ext uri="{FF2B5EF4-FFF2-40B4-BE49-F238E27FC236}">
                    <a16:creationId xmlns:a16="http://schemas.microsoft.com/office/drawing/2014/main" xmlns="" id="{424C84F6-F70A-78D8-19B1-1FE4E2863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504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SP: 6428</a:t>
                </a:r>
              </a:p>
            </p:txBody>
          </p:sp>
          <p:sp>
            <p:nvSpPr>
              <p:cNvPr id="26669" name="Rectangle 42">
                <a:extLst>
                  <a:ext uri="{FF2B5EF4-FFF2-40B4-BE49-F238E27FC236}">
                    <a16:creationId xmlns:a16="http://schemas.microsoft.com/office/drawing/2014/main" xmlns="" id="{8578CF46-B31C-BC82-F6F1-F1DBE7210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69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DP: 9157</a:t>
                </a:r>
              </a:p>
            </p:txBody>
          </p:sp>
          <p:sp>
            <p:nvSpPr>
              <p:cNvPr id="26670" name="Rectangle 43">
                <a:extLst>
                  <a:ext uri="{FF2B5EF4-FFF2-40B4-BE49-F238E27FC236}">
                    <a16:creationId xmlns:a16="http://schemas.microsoft.com/office/drawing/2014/main" xmlns="" id="{FB1D0CAD-21F0-B76C-D6D6-F9732B42F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8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6651" name="Line 70">
              <a:extLst>
                <a:ext uri="{FF2B5EF4-FFF2-40B4-BE49-F238E27FC236}">
                  <a16:creationId xmlns:a16="http://schemas.microsoft.com/office/drawing/2014/main" xmlns="" id="{08E1A820-FAB2-7C16-39EB-B2E9A4FBA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2" y="2256"/>
              <a:ext cx="0" cy="10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2" name="Line 71">
              <a:extLst>
                <a:ext uri="{FF2B5EF4-FFF2-40B4-BE49-F238E27FC236}">
                  <a16:creationId xmlns:a16="http://schemas.microsoft.com/office/drawing/2014/main" xmlns="" id="{DACA2186-EABA-923C-28BA-0C40CC854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312"/>
              <a:ext cx="220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3" name="Line 72">
              <a:extLst>
                <a:ext uri="{FF2B5EF4-FFF2-40B4-BE49-F238E27FC236}">
                  <a16:creationId xmlns:a16="http://schemas.microsoft.com/office/drawing/2014/main" xmlns="" id="{054D4814-07A3-BE79-C51C-E55898DB12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352"/>
              <a:ext cx="0" cy="96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4" name="Line 73">
              <a:extLst>
                <a:ext uri="{FF2B5EF4-FFF2-40B4-BE49-F238E27FC236}">
                  <a16:creationId xmlns:a16="http://schemas.microsoft.com/office/drawing/2014/main" xmlns="" id="{8B5C517E-0DC4-F01A-FDCB-00204A72ED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256"/>
              <a:ext cx="0" cy="96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5" name="Line 74">
              <a:extLst>
                <a:ext uri="{FF2B5EF4-FFF2-40B4-BE49-F238E27FC236}">
                  <a16:creationId xmlns:a16="http://schemas.microsoft.com/office/drawing/2014/main" xmlns="" id="{9907206E-F931-F14B-E921-8BF3CCABCA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196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6" name="Line 75">
              <a:extLst>
                <a:ext uri="{FF2B5EF4-FFF2-40B4-BE49-F238E27FC236}">
                  <a16:creationId xmlns:a16="http://schemas.microsoft.com/office/drawing/2014/main" xmlns="" id="{FFE10B0D-9DBE-79C1-6656-6A0FA7AE8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216"/>
              <a:ext cx="196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657" name="Rectangle 37">
              <a:extLst>
                <a:ext uri="{FF2B5EF4-FFF2-40B4-BE49-F238E27FC236}">
                  <a16:creationId xmlns:a16="http://schemas.microsoft.com/office/drawing/2014/main" xmlns="" id="{E6B26585-02E2-3288-7C32-1335B7219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264"/>
              <a:ext cx="624" cy="1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SP: 9157</a:t>
              </a:r>
            </a:p>
          </p:txBody>
        </p:sp>
        <p:sp>
          <p:nvSpPr>
            <p:cNvPr id="26658" name="Rectangle 38">
              <a:extLst>
                <a:ext uri="{FF2B5EF4-FFF2-40B4-BE49-F238E27FC236}">
                  <a16:creationId xmlns:a16="http://schemas.microsoft.com/office/drawing/2014/main" xmlns="" id="{0DB3565D-60F4-8DA4-089F-57F561932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456"/>
              <a:ext cx="624" cy="1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DP: 6428</a:t>
              </a:r>
            </a:p>
          </p:txBody>
        </p:sp>
        <p:sp>
          <p:nvSpPr>
            <p:cNvPr id="26659" name="Rectangle 39">
              <a:extLst>
                <a:ext uri="{FF2B5EF4-FFF2-40B4-BE49-F238E27FC236}">
                  <a16:creationId xmlns:a16="http://schemas.microsoft.com/office/drawing/2014/main" xmlns="" id="{F8157B4A-B65A-3519-A264-DCDFF41CF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648"/>
              <a:ext cx="624" cy="19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26660" name="Group 78">
              <a:extLst>
                <a:ext uri="{FF2B5EF4-FFF2-40B4-BE49-F238E27FC236}">
                  <a16:creationId xmlns:a16="http://schemas.microsoft.com/office/drawing/2014/main" xmlns="" id="{46FC35AE-E38F-38C8-7EBA-B7776855F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688"/>
              <a:ext cx="624" cy="576"/>
              <a:chOff x="2160" y="3504"/>
              <a:chExt cx="624" cy="576"/>
            </a:xfrm>
          </p:grpSpPr>
          <p:sp>
            <p:nvSpPr>
              <p:cNvPr id="26665" name="Rectangle 79">
                <a:extLst>
                  <a:ext uri="{FF2B5EF4-FFF2-40B4-BE49-F238E27FC236}">
                    <a16:creationId xmlns:a16="http://schemas.microsoft.com/office/drawing/2014/main" xmlns="" id="{3BB6DE06-EA63-F48C-1AF0-19D8FF977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504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SP: 6428</a:t>
                </a:r>
              </a:p>
            </p:txBody>
          </p:sp>
          <p:sp>
            <p:nvSpPr>
              <p:cNvPr id="26666" name="Rectangle 80">
                <a:extLst>
                  <a:ext uri="{FF2B5EF4-FFF2-40B4-BE49-F238E27FC236}">
                    <a16:creationId xmlns:a16="http://schemas.microsoft.com/office/drawing/2014/main" xmlns="" id="{7A366D20-D333-68EC-E4E8-97685F4956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69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DP: 5775</a:t>
                </a:r>
              </a:p>
            </p:txBody>
          </p:sp>
          <p:sp>
            <p:nvSpPr>
              <p:cNvPr id="26667" name="Rectangle 81">
                <a:extLst>
                  <a:ext uri="{FF2B5EF4-FFF2-40B4-BE49-F238E27FC236}">
                    <a16:creationId xmlns:a16="http://schemas.microsoft.com/office/drawing/2014/main" xmlns="" id="{E4851B34-E1D6-AA09-70E5-AD7B73A1E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8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26661" name="Group 82">
              <a:extLst>
                <a:ext uri="{FF2B5EF4-FFF2-40B4-BE49-F238E27FC236}">
                  <a16:creationId xmlns:a16="http://schemas.microsoft.com/office/drawing/2014/main" xmlns="" id="{C86D6593-96CD-50D1-6878-83C43A910A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3264"/>
              <a:ext cx="624" cy="576"/>
              <a:chOff x="2160" y="3504"/>
              <a:chExt cx="624" cy="576"/>
            </a:xfrm>
          </p:grpSpPr>
          <p:sp>
            <p:nvSpPr>
              <p:cNvPr id="26662" name="Rectangle 83">
                <a:extLst>
                  <a:ext uri="{FF2B5EF4-FFF2-40B4-BE49-F238E27FC236}">
                    <a16:creationId xmlns:a16="http://schemas.microsoft.com/office/drawing/2014/main" xmlns="" id="{94CA7476-4A8A-84EA-4059-3A5F3F1DD9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504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SP: 5775</a:t>
                </a:r>
              </a:p>
            </p:txBody>
          </p:sp>
          <p:sp>
            <p:nvSpPr>
              <p:cNvPr id="26663" name="Rectangle 84">
                <a:extLst>
                  <a:ext uri="{FF2B5EF4-FFF2-40B4-BE49-F238E27FC236}">
                    <a16:creationId xmlns:a16="http://schemas.microsoft.com/office/drawing/2014/main" xmlns="" id="{7FED2FAE-C0DE-5990-F5BE-95B935DA6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69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DP: 6428</a:t>
                </a:r>
              </a:p>
            </p:txBody>
          </p:sp>
          <p:sp>
            <p:nvSpPr>
              <p:cNvPr id="26664" name="Rectangle 85">
                <a:extLst>
                  <a:ext uri="{FF2B5EF4-FFF2-40B4-BE49-F238E27FC236}">
                    <a16:creationId xmlns:a16="http://schemas.microsoft.com/office/drawing/2014/main" xmlns="" id="{434B5F21-A970-385F-92DF-8CD3CED3E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388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sp>
        <p:nvSpPr>
          <p:cNvPr id="26631" name="Text Box 87">
            <a:extLst>
              <a:ext uri="{FF2B5EF4-FFF2-40B4-BE49-F238E27FC236}">
                <a16:creationId xmlns:a16="http://schemas.microsoft.com/office/drawing/2014/main" xmlns="" id="{41889BBE-A1E2-2B46-FC4B-F569F75B2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1" y="5715000"/>
            <a:ext cx="3636963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SP provides “return address”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5">
            <a:extLst>
              <a:ext uri="{FF2B5EF4-FFF2-40B4-BE49-F238E27FC236}">
                <a16:creationId xmlns:a16="http://schemas.microsoft.com/office/drawing/2014/main" xmlns="" id="{104AF89E-E960-4DE4-C8AF-614EB43D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7651" name="Slide Number Placeholder 6">
            <a:extLst>
              <a:ext uri="{FF2B5EF4-FFF2-40B4-BE49-F238E27FC236}">
                <a16:creationId xmlns:a16="http://schemas.microsoft.com/office/drawing/2014/main" xmlns="" id="{52B8101C-BC9C-C044-2D8E-E9027712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6F58461B-F02E-4DFD-9AB2-CB2A8C18D61A}" type="slidenum">
              <a:rPr lang="en-US" altLang="en-US" sz="1400">
                <a:latin typeface="Arial" panose="020B0604020202020204" pitchFamily="34" charset="0"/>
              </a:rPr>
              <a:pPr/>
              <a:t>31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xmlns="" id="{2467CFBD-8348-42A3-A8F4-BBD8AA5036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Connection-oriented demux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xmlns="" id="{C85AE854-8215-B21D-76D9-DB24CD50204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05000" y="1600200"/>
            <a:ext cx="3962400" cy="4648200"/>
          </a:xfrm>
        </p:spPr>
        <p:txBody>
          <a:bodyPr/>
          <a:lstStyle/>
          <a:p>
            <a:r>
              <a:rPr lang="en-US" altLang="en-US" sz="2400"/>
              <a:t>TCP socket identified by 4-tuple: 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source IP address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source port number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dest IP address</a:t>
            </a:r>
          </a:p>
          <a:p>
            <a:pPr lvl="1"/>
            <a:r>
              <a:rPr lang="en-US" altLang="en-US" sz="2000">
                <a:solidFill>
                  <a:srgbClr val="FF0000"/>
                </a:solidFill>
              </a:rPr>
              <a:t>dest port number</a:t>
            </a:r>
          </a:p>
          <a:p>
            <a:r>
              <a:rPr lang="en-US" altLang="en-US" sz="2400"/>
              <a:t>recv host uses all four values to direct segment to appropriate socket</a:t>
            </a:r>
          </a:p>
        </p:txBody>
      </p:sp>
      <p:sp>
        <p:nvSpPr>
          <p:cNvPr id="27654" name="Rectangle 4">
            <a:extLst>
              <a:ext uri="{FF2B5EF4-FFF2-40B4-BE49-F238E27FC236}">
                <a16:creationId xmlns:a16="http://schemas.microsoft.com/office/drawing/2014/main" xmlns="" id="{AABBA61C-FE49-A112-E834-6C8D4715877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600200"/>
            <a:ext cx="4114800" cy="4648200"/>
          </a:xfrm>
        </p:spPr>
        <p:txBody>
          <a:bodyPr/>
          <a:lstStyle/>
          <a:p>
            <a:r>
              <a:rPr lang="en-US" altLang="en-US" sz="2400"/>
              <a:t>Server host may support many simultaneous TCP sockets:</a:t>
            </a:r>
          </a:p>
          <a:p>
            <a:pPr lvl="1"/>
            <a:r>
              <a:rPr lang="en-US" altLang="en-US" sz="2000"/>
              <a:t>each socket identified by its own 4-tuple</a:t>
            </a:r>
          </a:p>
          <a:p>
            <a:r>
              <a:rPr lang="en-US" altLang="en-US" sz="2400"/>
              <a:t>Web servers have different sockets for each connecting client</a:t>
            </a:r>
          </a:p>
          <a:p>
            <a:pPr lvl="1"/>
            <a:r>
              <a:rPr lang="en-US" altLang="en-US" sz="2000"/>
              <a:t>non-persistent HTTP will have different socket for each request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>
            <a:extLst>
              <a:ext uri="{FF2B5EF4-FFF2-40B4-BE49-F238E27FC236}">
                <a16:creationId xmlns:a16="http://schemas.microsoft.com/office/drawing/2014/main" xmlns="" id="{F266B3CF-697B-736B-9799-C6C361CF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xmlns="" id="{A2500608-225B-4317-2AE5-7A0809713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52627421-39F0-44A2-9AC7-7539B26091D0}" type="slidenum">
              <a:rPr lang="en-US" altLang="en-US" sz="1400">
                <a:latin typeface="Arial" panose="020B0604020202020204" pitchFamily="34" charset="0"/>
              </a:rPr>
              <a:pPr/>
              <a:t>32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xmlns="" id="{10B996CF-F599-B96B-27B6-CE8B9BE28F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Connection-oriented demux (cont)</a:t>
            </a:r>
          </a:p>
        </p:txBody>
      </p:sp>
      <p:sp>
        <p:nvSpPr>
          <p:cNvPr id="28677" name="Text Box 4">
            <a:extLst>
              <a:ext uri="{FF2B5EF4-FFF2-40B4-BE49-F238E27FC236}">
                <a16:creationId xmlns:a16="http://schemas.microsoft.com/office/drawing/2014/main" xmlns="" id="{FEC43700-6E7B-7F6A-66E5-EFB54DFC0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863" y="4724400"/>
            <a:ext cx="86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Client</a:t>
            </a:r>
          </a:p>
          <a:p>
            <a:r>
              <a:rPr lang="en-US" altLang="en-US">
                <a:solidFill>
                  <a:schemeClr val="accent2"/>
                </a:solidFill>
              </a:rPr>
              <a:t>IP:B</a:t>
            </a:r>
          </a:p>
        </p:txBody>
      </p:sp>
      <p:grpSp>
        <p:nvGrpSpPr>
          <p:cNvPr id="28678" name="Group 87">
            <a:extLst>
              <a:ext uri="{FF2B5EF4-FFF2-40B4-BE49-F238E27FC236}">
                <a16:creationId xmlns:a16="http://schemas.microsoft.com/office/drawing/2014/main" xmlns="" id="{E35450AD-88AC-497E-6474-AA62097AD634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286000"/>
            <a:ext cx="1011238" cy="3136900"/>
            <a:chOff x="240" y="1440"/>
            <a:chExt cx="637" cy="1976"/>
          </a:xfrm>
        </p:grpSpPr>
        <p:grpSp>
          <p:nvGrpSpPr>
            <p:cNvPr id="28739" name="Group 6">
              <a:extLst>
                <a:ext uri="{FF2B5EF4-FFF2-40B4-BE49-F238E27FC236}">
                  <a16:creationId xmlns:a16="http://schemas.microsoft.com/office/drawing/2014/main" xmlns="" id="{9BF3ECC8-5466-D1ED-73D0-52D4587D15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440"/>
              <a:ext cx="637" cy="1500"/>
              <a:chOff x="608" y="2454"/>
              <a:chExt cx="1261" cy="1500"/>
            </a:xfrm>
          </p:grpSpPr>
          <p:sp>
            <p:nvSpPr>
              <p:cNvPr id="28745" name="Rectangle 7">
                <a:extLst>
                  <a:ext uri="{FF2B5EF4-FFF2-40B4-BE49-F238E27FC236}">
                    <a16:creationId xmlns:a16="http://schemas.microsoft.com/office/drawing/2014/main" xmlns="" id="{311ED2FC-DB29-2FA0-8AAE-E6FCAA31C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4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8746" name="Rectangle 8">
                <a:extLst>
                  <a:ext uri="{FF2B5EF4-FFF2-40B4-BE49-F238E27FC236}">
                    <a16:creationId xmlns:a16="http://schemas.microsoft.com/office/drawing/2014/main" xmlns="" id="{04FCC16A-2DA5-D753-3D0F-F268EEA68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7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8747" name="Rectangle 9">
                <a:extLst>
                  <a:ext uri="{FF2B5EF4-FFF2-40B4-BE49-F238E27FC236}">
                    <a16:creationId xmlns:a16="http://schemas.microsoft.com/office/drawing/2014/main" xmlns="" id="{69B0F393-28A3-AA42-DCAC-FB97E5AA8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0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8748" name="Rectangle 10">
                <a:extLst>
                  <a:ext uri="{FF2B5EF4-FFF2-40B4-BE49-F238E27FC236}">
                    <a16:creationId xmlns:a16="http://schemas.microsoft.com/office/drawing/2014/main" xmlns="" id="{2739DD75-FA8D-EE3F-6E58-A9C07EB45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3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8749" name="Rectangle 11">
                <a:extLst>
                  <a:ext uri="{FF2B5EF4-FFF2-40B4-BE49-F238E27FC236}">
                    <a16:creationId xmlns:a16="http://schemas.microsoft.com/office/drawing/2014/main" xmlns="" id="{7F5B714D-36B7-17A1-FC98-B15DBC0325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6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</p:grpSp>
        <p:grpSp>
          <p:nvGrpSpPr>
            <p:cNvPr id="28740" name="Group 12">
              <a:extLst>
                <a:ext uri="{FF2B5EF4-FFF2-40B4-BE49-F238E27FC236}">
                  <a16:creationId xmlns:a16="http://schemas.microsoft.com/office/drawing/2014/main" xmlns="" id="{17647009-4E8A-4A97-5FA0-B8ABB401CD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" y="1484"/>
              <a:ext cx="377" cy="315"/>
              <a:chOff x="2614" y="2862"/>
              <a:chExt cx="377" cy="315"/>
            </a:xfrm>
          </p:grpSpPr>
          <p:sp>
            <p:nvSpPr>
              <p:cNvPr id="28743" name="Rectangle 13">
                <a:extLst>
                  <a:ext uri="{FF2B5EF4-FFF2-40B4-BE49-F238E27FC236}">
                    <a16:creationId xmlns:a16="http://schemas.microsoft.com/office/drawing/2014/main" xmlns="" id="{A189EE2A-7B3F-961D-DEE0-7C4B40AD2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3054"/>
                <a:ext cx="377" cy="12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8744" name="Oval 14">
                <a:extLst>
                  <a:ext uri="{FF2B5EF4-FFF2-40B4-BE49-F238E27FC236}">
                    <a16:creationId xmlns:a16="http://schemas.microsoft.com/office/drawing/2014/main" xmlns="" id="{9A22343D-091A-5075-6C4A-037F8F6A75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2862"/>
                <a:ext cx="377" cy="192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P1</a:t>
                </a:r>
              </a:p>
            </p:txBody>
          </p:sp>
        </p:grpSp>
        <p:sp>
          <p:nvSpPr>
            <p:cNvPr id="28741" name="Text Box 15">
              <a:extLst>
                <a:ext uri="{FF2B5EF4-FFF2-40B4-BE49-F238E27FC236}">
                  <a16:creationId xmlns:a16="http://schemas.microsoft.com/office/drawing/2014/main" xmlns="" id="{6074CABB-B0B0-1B27-55D9-D5E6A15F8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2974"/>
              <a:ext cx="54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>
                  <a:solidFill>
                    <a:schemeClr val="accent2"/>
                  </a:solidFill>
                </a:rPr>
                <a:t>client</a:t>
              </a:r>
            </a:p>
            <a:p>
              <a:r>
                <a:rPr lang="en-US" altLang="en-US" sz="2000">
                  <a:solidFill>
                    <a:schemeClr val="accent2"/>
                  </a:solidFill>
                </a:rPr>
                <a:t> IP: A</a:t>
              </a:r>
            </a:p>
          </p:txBody>
        </p:sp>
        <p:sp>
          <p:nvSpPr>
            <p:cNvPr id="28742" name="Line 16">
              <a:extLst>
                <a:ext uri="{FF2B5EF4-FFF2-40B4-BE49-F238E27FC236}">
                  <a16:creationId xmlns:a16="http://schemas.microsoft.com/office/drawing/2014/main" xmlns="" id="{1C4CA461-9198-DD46-65AE-EC6C1124E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6"/>
              <a:ext cx="0" cy="11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8679" name="Group 18">
            <a:extLst>
              <a:ext uri="{FF2B5EF4-FFF2-40B4-BE49-F238E27FC236}">
                <a16:creationId xmlns:a16="http://schemas.microsoft.com/office/drawing/2014/main" xmlns="" id="{6F769D0C-6CFF-268E-528C-55311AE3AAB7}"/>
              </a:ext>
            </a:extLst>
          </p:cNvPr>
          <p:cNvGrpSpPr>
            <a:grpSpLocks/>
          </p:cNvGrpSpPr>
          <p:nvPr/>
        </p:nvGrpSpPr>
        <p:grpSpPr bwMode="auto">
          <a:xfrm>
            <a:off x="9099550" y="2325688"/>
            <a:ext cx="598488" cy="500062"/>
            <a:chOff x="2614" y="2862"/>
            <a:chExt cx="377" cy="315"/>
          </a:xfrm>
        </p:grpSpPr>
        <p:sp>
          <p:nvSpPr>
            <p:cNvPr id="28737" name="Rectangle 19">
              <a:extLst>
                <a:ext uri="{FF2B5EF4-FFF2-40B4-BE49-F238E27FC236}">
                  <a16:creationId xmlns:a16="http://schemas.microsoft.com/office/drawing/2014/main" xmlns="" id="{5BB35A4F-6733-E51E-7B5D-7F5494DAE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8" name="Oval 20">
              <a:extLst>
                <a:ext uri="{FF2B5EF4-FFF2-40B4-BE49-F238E27FC236}">
                  <a16:creationId xmlns:a16="http://schemas.microsoft.com/office/drawing/2014/main" xmlns="" id="{1B46980E-E40E-3A4C-6174-D3A198655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P1</a:t>
              </a:r>
            </a:p>
          </p:txBody>
        </p:sp>
      </p:grpSp>
      <p:grpSp>
        <p:nvGrpSpPr>
          <p:cNvPr id="28680" name="Group 21">
            <a:extLst>
              <a:ext uri="{FF2B5EF4-FFF2-40B4-BE49-F238E27FC236}">
                <a16:creationId xmlns:a16="http://schemas.microsoft.com/office/drawing/2014/main" xmlns="" id="{DE8450C0-4802-204D-F7E3-5BC04E8A96C8}"/>
              </a:ext>
            </a:extLst>
          </p:cNvPr>
          <p:cNvGrpSpPr>
            <a:grpSpLocks/>
          </p:cNvGrpSpPr>
          <p:nvPr/>
        </p:nvGrpSpPr>
        <p:grpSpPr bwMode="auto">
          <a:xfrm>
            <a:off x="8458201" y="2286000"/>
            <a:ext cx="1503363" cy="2381250"/>
            <a:chOff x="608" y="2454"/>
            <a:chExt cx="1261" cy="1500"/>
          </a:xfrm>
        </p:grpSpPr>
        <p:sp>
          <p:nvSpPr>
            <p:cNvPr id="28732" name="Rectangle 22">
              <a:extLst>
                <a:ext uri="{FF2B5EF4-FFF2-40B4-BE49-F238E27FC236}">
                  <a16:creationId xmlns:a16="http://schemas.microsoft.com/office/drawing/2014/main" xmlns="" id="{B24951E5-CB73-A503-C055-E9F2DDA5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24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3" name="Rectangle 23">
              <a:extLst>
                <a:ext uri="{FF2B5EF4-FFF2-40B4-BE49-F238E27FC236}">
                  <a16:creationId xmlns:a16="http://schemas.microsoft.com/office/drawing/2014/main" xmlns="" id="{93D2E201-97E8-BD9F-0148-81EB7B1F4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27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4" name="Rectangle 24">
              <a:extLst>
                <a:ext uri="{FF2B5EF4-FFF2-40B4-BE49-F238E27FC236}">
                  <a16:creationId xmlns:a16="http://schemas.microsoft.com/office/drawing/2014/main" xmlns="" id="{6B1C8617-E88A-BFA8-674B-C6D3BC0F7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30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5" name="Rectangle 25">
              <a:extLst>
                <a:ext uri="{FF2B5EF4-FFF2-40B4-BE49-F238E27FC236}">
                  <a16:creationId xmlns:a16="http://schemas.microsoft.com/office/drawing/2014/main" xmlns="" id="{E9A5B831-4FFE-D2AF-64A4-3EFCA138F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33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6" name="Rectangle 26">
              <a:extLst>
                <a:ext uri="{FF2B5EF4-FFF2-40B4-BE49-F238E27FC236}">
                  <a16:creationId xmlns:a16="http://schemas.microsoft.com/office/drawing/2014/main" xmlns="" id="{D3A8400A-F9DC-6BD0-DCD3-16C48267A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36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8681" name="Group 27">
            <a:extLst>
              <a:ext uri="{FF2B5EF4-FFF2-40B4-BE49-F238E27FC236}">
                <a16:creationId xmlns:a16="http://schemas.microsoft.com/office/drawing/2014/main" xmlns="" id="{68348124-1C60-DB63-8731-A64F46E514EB}"/>
              </a:ext>
            </a:extLst>
          </p:cNvPr>
          <p:cNvGrpSpPr>
            <a:grpSpLocks/>
          </p:cNvGrpSpPr>
          <p:nvPr/>
        </p:nvGrpSpPr>
        <p:grpSpPr bwMode="auto">
          <a:xfrm>
            <a:off x="8559800" y="2349501"/>
            <a:ext cx="598488" cy="500063"/>
            <a:chOff x="2614" y="2862"/>
            <a:chExt cx="377" cy="315"/>
          </a:xfrm>
        </p:grpSpPr>
        <p:sp>
          <p:nvSpPr>
            <p:cNvPr id="28730" name="Rectangle 28">
              <a:extLst>
                <a:ext uri="{FF2B5EF4-FFF2-40B4-BE49-F238E27FC236}">
                  <a16:creationId xmlns:a16="http://schemas.microsoft.com/office/drawing/2014/main" xmlns="" id="{73E569C1-4057-47C4-1F4C-43E0F4943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31" name="Oval 29">
              <a:extLst>
                <a:ext uri="{FF2B5EF4-FFF2-40B4-BE49-F238E27FC236}">
                  <a16:creationId xmlns:a16="http://schemas.microsoft.com/office/drawing/2014/main" xmlns="" id="{38446066-C861-E28A-C1CE-9B1E5854C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P2</a:t>
              </a:r>
            </a:p>
          </p:txBody>
        </p:sp>
      </p:grpSp>
      <p:sp>
        <p:nvSpPr>
          <p:cNvPr id="28682" name="Line 31">
            <a:extLst>
              <a:ext uri="{FF2B5EF4-FFF2-40B4-BE49-F238E27FC236}">
                <a16:creationId xmlns:a16="http://schemas.microsoft.com/office/drawing/2014/main" xmlns="" id="{58515393-1591-6282-8664-3E683DB55C3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2743200"/>
            <a:ext cx="0" cy="1752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83" name="Rectangle 32">
            <a:extLst>
              <a:ext uri="{FF2B5EF4-FFF2-40B4-BE49-F238E27FC236}">
                <a16:creationId xmlns:a16="http://schemas.microsoft.com/office/drawing/2014/main" xmlns="" id="{B1DF549C-9DAA-E78F-A286-26C646BC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2860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8684" name="Rectangle 33">
            <a:extLst>
              <a:ext uri="{FF2B5EF4-FFF2-40B4-BE49-F238E27FC236}">
                <a16:creationId xmlns:a16="http://schemas.microsoft.com/office/drawing/2014/main" xmlns="" id="{3ED3BB2B-2962-AED9-15CF-6E6293B4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7432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8685" name="Rectangle 34">
            <a:extLst>
              <a:ext uri="{FF2B5EF4-FFF2-40B4-BE49-F238E27FC236}">
                <a16:creationId xmlns:a16="http://schemas.microsoft.com/office/drawing/2014/main" xmlns="" id="{3D1B1771-4381-AF34-255C-03B0B721A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2385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8686" name="Rectangle 35">
            <a:extLst>
              <a:ext uri="{FF2B5EF4-FFF2-40B4-BE49-F238E27FC236}">
                <a16:creationId xmlns:a16="http://schemas.microsoft.com/office/drawing/2014/main" xmlns="" id="{61DC4A34-1BD2-4FBD-AE38-79CB2D884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71475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8687" name="Rectangle 36">
            <a:extLst>
              <a:ext uri="{FF2B5EF4-FFF2-40B4-BE49-F238E27FC236}">
                <a16:creationId xmlns:a16="http://schemas.microsoft.com/office/drawing/2014/main" xmlns="" id="{5C325A07-4CC2-B52A-5F86-CCF7313D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910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grpSp>
        <p:nvGrpSpPr>
          <p:cNvPr id="28688" name="Group 37">
            <a:extLst>
              <a:ext uri="{FF2B5EF4-FFF2-40B4-BE49-F238E27FC236}">
                <a16:creationId xmlns:a16="http://schemas.microsoft.com/office/drawing/2014/main" xmlns="" id="{2B5C9D6D-4A88-A4BF-3417-E394059F2EB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2362201"/>
            <a:ext cx="571500" cy="500063"/>
            <a:chOff x="2614" y="2862"/>
            <a:chExt cx="377" cy="315"/>
          </a:xfrm>
        </p:grpSpPr>
        <p:sp>
          <p:nvSpPr>
            <p:cNvPr id="28728" name="Rectangle 38">
              <a:extLst>
                <a:ext uri="{FF2B5EF4-FFF2-40B4-BE49-F238E27FC236}">
                  <a16:creationId xmlns:a16="http://schemas.microsoft.com/office/drawing/2014/main" xmlns="" id="{9DF43622-49D4-ABB7-63D6-DE4665235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9" name="Oval 39">
              <a:extLst>
                <a:ext uri="{FF2B5EF4-FFF2-40B4-BE49-F238E27FC236}">
                  <a16:creationId xmlns:a16="http://schemas.microsoft.com/office/drawing/2014/main" xmlns="" id="{DED325D7-4801-57D2-D4BF-5D14DE988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P4</a:t>
              </a:r>
            </a:p>
          </p:txBody>
        </p:sp>
      </p:grpSp>
      <p:sp>
        <p:nvSpPr>
          <p:cNvPr id="28689" name="Text Box 40">
            <a:extLst>
              <a:ext uri="{FF2B5EF4-FFF2-40B4-BE49-F238E27FC236}">
                <a16:creationId xmlns:a16="http://schemas.microsoft.com/office/drawing/2014/main" xmlns="" id="{1D103E5B-5022-B32C-E772-AE51E006C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539" y="4797426"/>
            <a:ext cx="955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server</a:t>
            </a:r>
          </a:p>
          <a:p>
            <a:r>
              <a:rPr lang="en-US" altLang="en-US" sz="2000">
                <a:solidFill>
                  <a:schemeClr val="accent2"/>
                </a:solidFill>
              </a:rPr>
              <a:t>IP: C</a:t>
            </a:r>
          </a:p>
        </p:txBody>
      </p:sp>
      <p:sp>
        <p:nvSpPr>
          <p:cNvPr id="28690" name="Line 42">
            <a:extLst>
              <a:ext uri="{FF2B5EF4-FFF2-40B4-BE49-F238E27FC236}">
                <a16:creationId xmlns:a16="http://schemas.microsoft.com/office/drawing/2014/main" xmlns="" id="{E5A9B56D-89C8-CE00-BEAC-AD5086A54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819400"/>
            <a:ext cx="0" cy="1676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91" name="Line 44">
            <a:extLst>
              <a:ext uri="{FF2B5EF4-FFF2-40B4-BE49-F238E27FC236}">
                <a16:creationId xmlns:a16="http://schemas.microsoft.com/office/drawing/2014/main" xmlns="" id="{6FA43261-3288-B058-960E-63C90003C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495800"/>
            <a:ext cx="350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92" name="Line 49">
            <a:extLst>
              <a:ext uri="{FF2B5EF4-FFF2-40B4-BE49-F238E27FC236}">
                <a16:creationId xmlns:a16="http://schemas.microsoft.com/office/drawing/2014/main" xmlns="" id="{07FD5CED-D152-90C1-9EC8-BBD7B35357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819400"/>
            <a:ext cx="0" cy="1676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93" name="Line 50">
            <a:extLst>
              <a:ext uri="{FF2B5EF4-FFF2-40B4-BE49-F238E27FC236}">
                <a16:creationId xmlns:a16="http://schemas.microsoft.com/office/drawing/2014/main" xmlns="" id="{8C760858-A1D2-08BE-ABB9-32213F32A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95800"/>
            <a:ext cx="350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94" name="Line 51">
            <a:extLst>
              <a:ext uri="{FF2B5EF4-FFF2-40B4-BE49-F238E27FC236}">
                <a16:creationId xmlns:a16="http://schemas.microsoft.com/office/drawing/2014/main" xmlns="" id="{230F6AA7-9BF0-4A80-099D-50603A1AE4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971800"/>
            <a:ext cx="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95" name="Line 53">
            <a:extLst>
              <a:ext uri="{FF2B5EF4-FFF2-40B4-BE49-F238E27FC236}">
                <a16:creationId xmlns:a16="http://schemas.microsoft.com/office/drawing/2014/main" xmlns="" id="{37350567-FE29-CD05-433C-3A543E2E42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495800"/>
            <a:ext cx="3124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696" name="Rectangle 55">
            <a:extLst>
              <a:ext uri="{FF2B5EF4-FFF2-40B4-BE49-F238E27FC236}">
                <a16:creationId xmlns:a16="http://schemas.microsoft.com/office/drawing/2014/main" xmlns="" id="{071A3693-F992-A9AE-E052-4802DC2F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196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SP: 9157</a:t>
            </a:r>
          </a:p>
        </p:txBody>
      </p:sp>
      <p:sp>
        <p:nvSpPr>
          <p:cNvPr id="28697" name="Rectangle 56">
            <a:extLst>
              <a:ext uri="{FF2B5EF4-FFF2-40B4-BE49-F238E27FC236}">
                <a16:creationId xmlns:a16="http://schemas.microsoft.com/office/drawing/2014/main" xmlns="" id="{C521F3C6-2188-152A-EA09-BC0E9E909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7244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DP: 80</a:t>
            </a:r>
          </a:p>
        </p:txBody>
      </p:sp>
      <p:sp>
        <p:nvSpPr>
          <p:cNvPr id="28698" name="Rectangle 57">
            <a:extLst>
              <a:ext uri="{FF2B5EF4-FFF2-40B4-BE49-F238E27FC236}">
                <a16:creationId xmlns:a16="http://schemas.microsoft.com/office/drawing/2014/main" xmlns="" id="{DBD31929-EAD9-DEBD-0428-728045DFE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0292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28699" name="Group 89">
            <a:extLst>
              <a:ext uri="{FF2B5EF4-FFF2-40B4-BE49-F238E27FC236}">
                <a16:creationId xmlns:a16="http://schemas.microsoft.com/office/drawing/2014/main" xmlns="" id="{F2D2B803-B1CF-E36A-F343-BAB6165EDB4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419600"/>
            <a:ext cx="990600" cy="914400"/>
            <a:chOff x="3936" y="2784"/>
            <a:chExt cx="624" cy="576"/>
          </a:xfrm>
        </p:grpSpPr>
        <p:sp>
          <p:nvSpPr>
            <p:cNvPr id="28725" name="Rectangle 63">
              <a:extLst>
                <a:ext uri="{FF2B5EF4-FFF2-40B4-BE49-F238E27FC236}">
                  <a16:creationId xmlns:a16="http://schemas.microsoft.com/office/drawing/2014/main" xmlns="" id="{5D4AF013-C337-DA22-7A29-0A235C8B6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84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SP: 9157</a:t>
              </a:r>
            </a:p>
          </p:txBody>
        </p:sp>
        <p:sp>
          <p:nvSpPr>
            <p:cNvPr id="28726" name="Rectangle 64">
              <a:extLst>
                <a:ext uri="{FF2B5EF4-FFF2-40B4-BE49-F238E27FC236}">
                  <a16:creationId xmlns:a16="http://schemas.microsoft.com/office/drawing/2014/main" xmlns="" id="{8CC5DD53-117A-2289-2284-5EF5136C6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976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DP: 80</a:t>
              </a:r>
            </a:p>
          </p:txBody>
        </p:sp>
        <p:sp>
          <p:nvSpPr>
            <p:cNvPr id="28727" name="Rectangle 65">
              <a:extLst>
                <a:ext uri="{FF2B5EF4-FFF2-40B4-BE49-F238E27FC236}">
                  <a16:creationId xmlns:a16="http://schemas.microsoft.com/office/drawing/2014/main" xmlns="" id="{C61CCDCF-F2DF-231B-724D-9822D6901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8700" name="Group 66">
            <a:extLst>
              <a:ext uri="{FF2B5EF4-FFF2-40B4-BE49-F238E27FC236}">
                <a16:creationId xmlns:a16="http://schemas.microsoft.com/office/drawing/2014/main" xmlns="" id="{19DDAB64-FD0A-0845-566D-7F6FA7F5C0F8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362201"/>
            <a:ext cx="571500" cy="500063"/>
            <a:chOff x="2614" y="2862"/>
            <a:chExt cx="377" cy="315"/>
          </a:xfrm>
        </p:grpSpPr>
        <p:sp>
          <p:nvSpPr>
            <p:cNvPr id="28723" name="Rectangle 67">
              <a:extLst>
                <a:ext uri="{FF2B5EF4-FFF2-40B4-BE49-F238E27FC236}">
                  <a16:creationId xmlns:a16="http://schemas.microsoft.com/office/drawing/2014/main" xmlns="" id="{FDD608E2-4E22-4735-E273-0F5D1D85C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4" name="Oval 68">
              <a:extLst>
                <a:ext uri="{FF2B5EF4-FFF2-40B4-BE49-F238E27FC236}">
                  <a16:creationId xmlns:a16="http://schemas.microsoft.com/office/drawing/2014/main" xmlns="" id="{BB27055C-9A6E-EDED-C80A-870780C9F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P5</a:t>
              </a:r>
            </a:p>
          </p:txBody>
        </p:sp>
      </p:grpSp>
      <p:grpSp>
        <p:nvGrpSpPr>
          <p:cNvPr id="28701" name="Group 69">
            <a:extLst>
              <a:ext uri="{FF2B5EF4-FFF2-40B4-BE49-F238E27FC236}">
                <a16:creationId xmlns:a16="http://schemas.microsoft.com/office/drawing/2014/main" xmlns="" id="{74A10619-CC02-81A7-C8BC-89CAEE70ACE2}"/>
              </a:ext>
            </a:extLst>
          </p:cNvPr>
          <p:cNvGrpSpPr>
            <a:grpSpLocks/>
          </p:cNvGrpSpPr>
          <p:nvPr/>
        </p:nvGrpSpPr>
        <p:grpSpPr bwMode="auto">
          <a:xfrm>
            <a:off x="6546850" y="2351088"/>
            <a:ext cx="571500" cy="500062"/>
            <a:chOff x="2614" y="2862"/>
            <a:chExt cx="377" cy="315"/>
          </a:xfrm>
        </p:grpSpPr>
        <p:sp>
          <p:nvSpPr>
            <p:cNvPr id="28721" name="Rectangle 70">
              <a:extLst>
                <a:ext uri="{FF2B5EF4-FFF2-40B4-BE49-F238E27FC236}">
                  <a16:creationId xmlns:a16="http://schemas.microsoft.com/office/drawing/2014/main" xmlns="" id="{CD5B5FCF-21A1-D5EC-B045-860215651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2" name="Oval 71">
              <a:extLst>
                <a:ext uri="{FF2B5EF4-FFF2-40B4-BE49-F238E27FC236}">
                  <a16:creationId xmlns:a16="http://schemas.microsoft.com/office/drawing/2014/main" xmlns="" id="{AC08295B-8E8D-E6CD-8E5E-371AB3EBC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P6</a:t>
              </a:r>
            </a:p>
          </p:txBody>
        </p:sp>
      </p:grpSp>
      <p:grpSp>
        <p:nvGrpSpPr>
          <p:cNvPr id="28702" name="Group 72">
            <a:extLst>
              <a:ext uri="{FF2B5EF4-FFF2-40B4-BE49-F238E27FC236}">
                <a16:creationId xmlns:a16="http://schemas.microsoft.com/office/drawing/2014/main" xmlns="" id="{D790F35B-8F64-E7CD-609C-C7ABADE92C15}"/>
              </a:ext>
            </a:extLst>
          </p:cNvPr>
          <p:cNvGrpSpPr>
            <a:grpSpLocks/>
          </p:cNvGrpSpPr>
          <p:nvPr/>
        </p:nvGrpSpPr>
        <p:grpSpPr bwMode="auto">
          <a:xfrm>
            <a:off x="9264650" y="2363788"/>
            <a:ext cx="598488" cy="500062"/>
            <a:chOff x="2614" y="2862"/>
            <a:chExt cx="377" cy="315"/>
          </a:xfrm>
        </p:grpSpPr>
        <p:sp>
          <p:nvSpPr>
            <p:cNvPr id="28719" name="Rectangle 73">
              <a:extLst>
                <a:ext uri="{FF2B5EF4-FFF2-40B4-BE49-F238E27FC236}">
                  <a16:creationId xmlns:a16="http://schemas.microsoft.com/office/drawing/2014/main" xmlns="" id="{5F8F46D2-2D6C-9963-1002-D24D4E50C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8720" name="Oval 74">
              <a:extLst>
                <a:ext uri="{FF2B5EF4-FFF2-40B4-BE49-F238E27FC236}">
                  <a16:creationId xmlns:a16="http://schemas.microsoft.com/office/drawing/2014/main" xmlns="" id="{B056EFE4-52A1-B0E2-D9F5-9D871CCC4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P3</a:t>
              </a:r>
            </a:p>
          </p:txBody>
        </p:sp>
      </p:grpSp>
      <p:sp>
        <p:nvSpPr>
          <p:cNvPr id="28703" name="Line 75">
            <a:extLst>
              <a:ext uri="{FF2B5EF4-FFF2-40B4-BE49-F238E27FC236}">
                <a16:creationId xmlns:a16="http://schemas.microsoft.com/office/drawing/2014/main" xmlns="" id="{B042E3C2-503E-86AF-2E07-D2A92D47B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2819400"/>
            <a:ext cx="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4" name="Line 76">
            <a:extLst>
              <a:ext uri="{FF2B5EF4-FFF2-40B4-BE49-F238E27FC236}">
                <a16:creationId xmlns:a16="http://schemas.microsoft.com/office/drawing/2014/main" xmlns="" id="{0266DD84-30FD-7A0A-079A-373D78537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343400"/>
            <a:ext cx="2057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5" name="Line 78">
            <a:extLst>
              <a:ext uri="{FF2B5EF4-FFF2-40B4-BE49-F238E27FC236}">
                <a16:creationId xmlns:a16="http://schemas.microsoft.com/office/drawing/2014/main" xmlns="" id="{2C5B7E95-67E7-5A6B-1B23-03842B556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2819400"/>
            <a:ext cx="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706" name="Rectangle 79">
            <a:extLst>
              <a:ext uri="{FF2B5EF4-FFF2-40B4-BE49-F238E27FC236}">
                <a16:creationId xmlns:a16="http://schemas.microsoft.com/office/drawing/2014/main" xmlns="" id="{AEE26CC8-7661-2EEA-7929-C2BFB7482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3340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707" name="Rectangle 80">
            <a:extLst>
              <a:ext uri="{FF2B5EF4-FFF2-40B4-BE49-F238E27FC236}">
                <a16:creationId xmlns:a16="http://schemas.microsoft.com/office/drawing/2014/main" xmlns="" id="{6A4ECBCF-B5E4-2BB6-4E2C-475D4DAC5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3340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D-IP:C</a:t>
            </a:r>
          </a:p>
        </p:txBody>
      </p:sp>
      <p:sp>
        <p:nvSpPr>
          <p:cNvPr id="28708" name="Text Box 81">
            <a:extLst>
              <a:ext uri="{FF2B5EF4-FFF2-40B4-BE49-F238E27FC236}">
                <a16:creationId xmlns:a16="http://schemas.microsoft.com/office/drawing/2014/main" xmlns="" id="{97618516-D659-6D37-5A84-8C1ECE06C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725" y="49418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709" name="Text Box 82">
            <a:extLst>
              <a:ext uri="{FF2B5EF4-FFF2-40B4-BE49-F238E27FC236}">
                <a16:creationId xmlns:a16="http://schemas.microsoft.com/office/drawing/2014/main" xmlns="" id="{3C81733B-86E4-EF13-78C0-14A4526E4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029200"/>
            <a:ext cx="896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S-IP: A</a:t>
            </a:r>
          </a:p>
        </p:txBody>
      </p:sp>
      <p:sp>
        <p:nvSpPr>
          <p:cNvPr id="28710" name="Text Box 84">
            <a:extLst>
              <a:ext uri="{FF2B5EF4-FFF2-40B4-BE49-F238E27FC236}">
                <a16:creationId xmlns:a16="http://schemas.microsoft.com/office/drawing/2014/main" xmlns="" id="{A189CFA1-250A-E639-5D90-2876D5A48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334000"/>
            <a:ext cx="814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D-IP:C</a:t>
            </a:r>
          </a:p>
        </p:txBody>
      </p:sp>
      <p:sp>
        <p:nvSpPr>
          <p:cNvPr id="28711" name="Text Box 86">
            <a:extLst>
              <a:ext uri="{FF2B5EF4-FFF2-40B4-BE49-F238E27FC236}">
                <a16:creationId xmlns:a16="http://schemas.microsoft.com/office/drawing/2014/main" xmlns="" id="{C300B2CA-A6E9-0C0E-EA52-AF3739CF2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3" y="5029200"/>
            <a:ext cx="87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S-IP: B</a:t>
            </a:r>
          </a:p>
        </p:txBody>
      </p:sp>
      <p:grpSp>
        <p:nvGrpSpPr>
          <p:cNvPr id="28712" name="Group 90">
            <a:extLst>
              <a:ext uri="{FF2B5EF4-FFF2-40B4-BE49-F238E27FC236}">
                <a16:creationId xmlns:a16="http://schemas.microsoft.com/office/drawing/2014/main" xmlns="" id="{504EE85A-ADD8-3E98-8450-E4CDA47522EA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2895600"/>
            <a:ext cx="990600" cy="914400"/>
            <a:chOff x="3936" y="2784"/>
            <a:chExt cx="624" cy="576"/>
          </a:xfrm>
        </p:grpSpPr>
        <p:sp>
          <p:nvSpPr>
            <p:cNvPr id="28716" name="Rectangle 91">
              <a:extLst>
                <a:ext uri="{FF2B5EF4-FFF2-40B4-BE49-F238E27FC236}">
                  <a16:creationId xmlns:a16="http://schemas.microsoft.com/office/drawing/2014/main" xmlns="" id="{3EEB53F5-007F-4AE8-B462-528195318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84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SP: 5775</a:t>
              </a:r>
            </a:p>
          </p:txBody>
        </p:sp>
        <p:sp>
          <p:nvSpPr>
            <p:cNvPr id="28717" name="Rectangle 92">
              <a:extLst>
                <a:ext uri="{FF2B5EF4-FFF2-40B4-BE49-F238E27FC236}">
                  <a16:creationId xmlns:a16="http://schemas.microsoft.com/office/drawing/2014/main" xmlns="" id="{C6CE0FA5-0D35-3662-DBA6-FFE52ADB4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976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DP: 80</a:t>
              </a:r>
            </a:p>
          </p:txBody>
        </p:sp>
        <p:sp>
          <p:nvSpPr>
            <p:cNvPr id="28718" name="Rectangle 93">
              <a:extLst>
                <a:ext uri="{FF2B5EF4-FFF2-40B4-BE49-F238E27FC236}">
                  <a16:creationId xmlns:a16="http://schemas.microsoft.com/office/drawing/2014/main" xmlns="" id="{731ECDE4-97B7-AA91-EBAD-3E60F1B17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8713" name="Rectangle 94">
            <a:extLst>
              <a:ext uri="{FF2B5EF4-FFF2-40B4-BE49-F238E27FC236}">
                <a16:creationId xmlns:a16="http://schemas.microsoft.com/office/drawing/2014/main" xmlns="" id="{1807D8E7-826A-9238-1403-7B3EB2F89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8100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D-IP:C</a:t>
            </a:r>
          </a:p>
        </p:txBody>
      </p:sp>
      <p:sp>
        <p:nvSpPr>
          <p:cNvPr id="28714" name="Rectangle 95">
            <a:extLst>
              <a:ext uri="{FF2B5EF4-FFF2-40B4-BE49-F238E27FC236}">
                <a16:creationId xmlns:a16="http://schemas.microsoft.com/office/drawing/2014/main" xmlns="" id="{CB095851-9D3A-6DA5-8D01-8BFD0975C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05200"/>
            <a:ext cx="87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S-IP: B</a:t>
            </a:r>
          </a:p>
        </p:txBody>
      </p:sp>
      <p:sp>
        <p:nvSpPr>
          <p:cNvPr id="28715" name="Line 97">
            <a:extLst>
              <a:ext uri="{FF2B5EF4-FFF2-40B4-BE49-F238E27FC236}">
                <a16:creationId xmlns:a16="http://schemas.microsoft.com/office/drawing/2014/main" xmlns="" id="{2A805D7F-463F-F565-C860-18CBC05D6F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4114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xmlns="" id="{6AC98750-8765-65C0-0525-52B006A8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xmlns="" id="{ADE5864C-6320-CA32-0665-EFB7FFC1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F35C46C5-4C21-47A9-BC2D-31EB5CF25FA4}" type="slidenum">
              <a:rPr lang="en-US" altLang="en-US" sz="1400">
                <a:latin typeface="Arial" panose="020B0604020202020204" pitchFamily="34" charset="0"/>
              </a:rPr>
              <a:pPr/>
              <a:t>33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xmlns="" id="{E928F7FB-80B0-B2EE-15EB-2CD6624E4E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Connection-oriented demux: Threaded Web Server</a:t>
            </a:r>
          </a:p>
        </p:txBody>
      </p:sp>
      <p:sp>
        <p:nvSpPr>
          <p:cNvPr id="29701" name="Text Box 3">
            <a:extLst>
              <a:ext uri="{FF2B5EF4-FFF2-40B4-BE49-F238E27FC236}">
                <a16:creationId xmlns:a16="http://schemas.microsoft.com/office/drawing/2014/main" xmlns="" id="{95AFEE02-5A9C-3AF8-A5B1-4F5F95661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6863" y="4724400"/>
            <a:ext cx="86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Client</a:t>
            </a:r>
          </a:p>
          <a:p>
            <a:r>
              <a:rPr lang="en-US" altLang="en-US">
                <a:solidFill>
                  <a:schemeClr val="accent2"/>
                </a:solidFill>
              </a:rPr>
              <a:t>IP:B</a:t>
            </a:r>
          </a:p>
        </p:txBody>
      </p:sp>
      <p:grpSp>
        <p:nvGrpSpPr>
          <p:cNvPr id="29702" name="Group 4">
            <a:extLst>
              <a:ext uri="{FF2B5EF4-FFF2-40B4-BE49-F238E27FC236}">
                <a16:creationId xmlns:a16="http://schemas.microsoft.com/office/drawing/2014/main" xmlns="" id="{888096C2-48A4-6C75-992A-54AB1D3761C4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286000"/>
            <a:ext cx="1011238" cy="3136900"/>
            <a:chOff x="240" y="1440"/>
            <a:chExt cx="637" cy="1976"/>
          </a:xfrm>
        </p:grpSpPr>
        <p:grpSp>
          <p:nvGrpSpPr>
            <p:cNvPr id="29758" name="Group 5">
              <a:extLst>
                <a:ext uri="{FF2B5EF4-FFF2-40B4-BE49-F238E27FC236}">
                  <a16:creationId xmlns:a16="http://schemas.microsoft.com/office/drawing/2014/main" xmlns="" id="{9A800F42-A705-4798-C703-A263AB6A12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440"/>
              <a:ext cx="637" cy="1500"/>
              <a:chOff x="608" y="2454"/>
              <a:chExt cx="1261" cy="1500"/>
            </a:xfrm>
          </p:grpSpPr>
          <p:sp>
            <p:nvSpPr>
              <p:cNvPr id="29764" name="Rectangle 6">
                <a:extLst>
                  <a:ext uri="{FF2B5EF4-FFF2-40B4-BE49-F238E27FC236}">
                    <a16:creationId xmlns:a16="http://schemas.microsoft.com/office/drawing/2014/main" xmlns="" id="{A2EE9769-269F-715B-F24F-CFD4235B9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4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9765" name="Rectangle 7">
                <a:extLst>
                  <a:ext uri="{FF2B5EF4-FFF2-40B4-BE49-F238E27FC236}">
                    <a16:creationId xmlns:a16="http://schemas.microsoft.com/office/drawing/2014/main" xmlns="" id="{FEACBAA2-BD53-F546-CE8B-84824C32B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7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9766" name="Rectangle 8">
                <a:extLst>
                  <a:ext uri="{FF2B5EF4-FFF2-40B4-BE49-F238E27FC236}">
                    <a16:creationId xmlns:a16="http://schemas.microsoft.com/office/drawing/2014/main" xmlns="" id="{D24C9262-D097-D350-2074-876F735E0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0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9767" name="Rectangle 9">
                <a:extLst>
                  <a:ext uri="{FF2B5EF4-FFF2-40B4-BE49-F238E27FC236}">
                    <a16:creationId xmlns:a16="http://schemas.microsoft.com/office/drawing/2014/main" xmlns="" id="{45A7A512-E56D-9DD7-42DB-C986DBDD61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3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  <p:sp>
            <p:nvSpPr>
              <p:cNvPr id="29768" name="Rectangle 10">
                <a:extLst>
                  <a:ext uri="{FF2B5EF4-FFF2-40B4-BE49-F238E27FC236}">
                    <a16:creationId xmlns:a16="http://schemas.microsoft.com/office/drawing/2014/main" xmlns="" id="{A716CFAA-0283-60B9-C5BD-BDE48CAD1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3654"/>
                <a:ext cx="1261" cy="3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l"/>
                <a:endParaRPr lang="en-US" altLang="en-US"/>
              </a:p>
            </p:txBody>
          </p:sp>
        </p:grpSp>
        <p:grpSp>
          <p:nvGrpSpPr>
            <p:cNvPr id="29759" name="Group 11">
              <a:extLst>
                <a:ext uri="{FF2B5EF4-FFF2-40B4-BE49-F238E27FC236}">
                  <a16:creationId xmlns:a16="http://schemas.microsoft.com/office/drawing/2014/main" xmlns="" id="{D34CB401-F280-FB0F-CEE9-13618890EC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" y="1484"/>
              <a:ext cx="377" cy="315"/>
              <a:chOff x="2614" y="2862"/>
              <a:chExt cx="377" cy="315"/>
            </a:xfrm>
          </p:grpSpPr>
          <p:sp>
            <p:nvSpPr>
              <p:cNvPr id="29762" name="Rectangle 12">
                <a:extLst>
                  <a:ext uri="{FF2B5EF4-FFF2-40B4-BE49-F238E27FC236}">
                    <a16:creationId xmlns:a16="http://schemas.microsoft.com/office/drawing/2014/main" xmlns="" id="{146708DC-34CC-FEA1-F130-006BCAEFE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3054"/>
                <a:ext cx="377" cy="123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9763" name="Oval 13">
                <a:extLst>
                  <a:ext uri="{FF2B5EF4-FFF2-40B4-BE49-F238E27FC236}">
                    <a16:creationId xmlns:a16="http://schemas.microsoft.com/office/drawing/2014/main" xmlns="" id="{0C633C35-B015-72BB-2A2E-F6337E84E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4" y="2862"/>
                <a:ext cx="377" cy="192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r>
                  <a:rPr lang="en-US" altLang="en-US"/>
                  <a:t>P1</a:t>
                </a:r>
              </a:p>
            </p:txBody>
          </p:sp>
        </p:grpSp>
        <p:sp>
          <p:nvSpPr>
            <p:cNvPr id="29760" name="Text Box 14">
              <a:extLst>
                <a:ext uri="{FF2B5EF4-FFF2-40B4-BE49-F238E27FC236}">
                  <a16:creationId xmlns:a16="http://schemas.microsoft.com/office/drawing/2014/main" xmlns="" id="{0AB03DC1-FDBD-DD69-E18E-8F10F003B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" y="2974"/>
              <a:ext cx="547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>
                  <a:solidFill>
                    <a:schemeClr val="accent2"/>
                  </a:solidFill>
                </a:rPr>
                <a:t>client</a:t>
              </a:r>
            </a:p>
            <a:p>
              <a:r>
                <a:rPr lang="en-US" altLang="en-US" sz="2000">
                  <a:solidFill>
                    <a:schemeClr val="accent2"/>
                  </a:solidFill>
                </a:rPr>
                <a:t> IP: A</a:t>
              </a:r>
            </a:p>
          </p:txBody>
        </p:sp>
        <p:sp>
          <p:nvSpPr>
            <p:cNvPr id="29761" name="Line 15">
              <a:extLst>
                <a:ext uri="{FF2B5EF4-FFF2-40B4-BE49-F238E27FC236}">
                  <a16:creationId xmlns:a16="http://schemas.microsoft.com/office/drawing/2014/main" xmlns="" id="{AEDAABAA-9BF5-1B7E-AC2C-37C17ADA8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26"/>
              <a:ext cx="0" cy="11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29703" name="Group 16">
            <a:extLst>
              <a:ext uri="{FF2B5EF4-FFF2-40B4-BE49-F238E27FC236}">
                <a16:creationId xmlns:a16="http://schemas.microsoft.com/office/drawing/2014/main" xmlns="" id="{C6B15A65-00DE-74C0-1AE7-4EAE7C53BCCB}"/>
              </a:ext>
            </a:extLst>
          </p:cNvPr>
          <p:cNvGrpSpPr>
            <a:grpSpLocks/>
          </p:cNvGrpSpPr>
          <p:nvPr/>
        </p:nvGrpSpPr>
        <p:grpSpPr bwMode="auto">
          <a:xfrm>
            <a:off x="9099550" y="2325688"/>
            <a:ext cx="598488" cy="500062"/>
            <a:chOff x="2614" y="2862"/>
            <a:chExt cx="377" cy="315"/>
          </a:xfrm>
        </p:grpSpPr>
        <p:sp>
          <p:nvSpPr>
            <p:cNvPr id="29756" name="Rectangle 17">
              <a:extLst>
                <a:ext uri="{FF2B5EF4-FFF2-40B4-BE49-F238E27FC236}">
                  <a16:creationId xmlns:a16="http://schemas.microsoft.com/office/drawing/2014/main" xmlns="" id="{914E52A0-4925-B815-5DE2-6CCC43DD8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7" name="Oval 18">
              <a:extLst>
                <a:ext uri="{FF2B5EF4-FFF2-40B4-BE49-F238E27FC236}">
                  <a16:creationId xmlns:a16="http://schemas.microsoft.com/office/drawing/2014/main" xmlns="" id="{01AC70F9-2B2D-5FB4-773D-385DED296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P1</a:t>
              </a:r>
            </a:p>
          </p:txBody>
        </p:sp>
      </p:grpSp>
      <p:grpSp>
        <p:nvGrpSpPr>
          <p:cNvPr id="29704" name="Group 19">
            <a:extLst>
              <a:ext uri="{FF2B5EF4-FFF2-40B4-BE49-F238E27FC236}">
                <a16:creationId xmlns:a16="http://schemas.microsoft.com/office/drawing/2014/main" xmlns="" id="{59D17766-5795-6F4A-4B19-078DC7FC9177}"/>
              </a:ext>
            </a:extLst>
          </p:cNvPr>
          <p:cNvGrpSpPr>
            <a:grpSpLocks/>
          </p:cNvGrpSpPr>
          <p:nvPr/>
        </p:nvGrpSpPr>
        <p:grpSpPr bwMode="auto">
          <a:xfrm>
            <a:off x="8458201" y="2286000"/>
            <a:ext cx="1503363" cy="2381250"/>
            <a:chOff x="608" y="2454"/>
            <a:chExt cx="1261" cy="1500"/>
          </a:xfrm>
        </p:grpSpPr>
        <p:sp>
          <p:nvSpPr>
            <p:cNvPr id="29751" name="Rectangle 20">
              <a:extLst>
                <a:ext uri="{FF2B5EF4-FFF2-40B4-BE49-F238E27FC236}">
                  <a16:creationId xmlns:a16="http://schemas.microsoft.com/office/drawing/2014/main" xmlns="" id="{62885738-0F82-8118-DE67-05BB1A1E1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24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2" name="Rectangle 21">
              <a:extLst>
                <a:ext uri="{FF2B5EF4-FFF2-40B4-BE49-F238E27FC236}">
                  <a16:creationId xmlns:a16="http://schemas.microsoft.com/office/drawing/2014/main" xmlns="" id="{C7169F8F-4BED-03CF-6028-923F31794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27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3" name="Rectangle 22">
              <a:extLst>
                <a:ext uri="{FF2B5EF4-FFF2-40B4-BE49-F238E27FC236}">
                  <a16:creationId xmlns:a16="http://schemas.microsoft.com/office/drawing/2014/main" xmlns="" id="{BEE30C73-3439-AE0C-4BC6-9D91B1A6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30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4" name="Rectangle 23">
              <a:extLst>
                <a:ext uri="{FF2B5EF4-FFF2-40B4-BE49-F238E27FC236}">
                  <a16:creationId xmlns:a16="http://schemas.microsoft.com/office/drawing/2014/main" xmlns="" id="{2B4F431A-7C55-440B-3300-12851202A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33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5" name="Rectangle 24">
              <a:extLst>
                <a:ext uri="{FF2B5EF4-FFF2-40B4-BE49-F238E27FC236}">
                  <a16:creationId xmlns:a16="http://schemas.microsoft.com/office/drawing/2014/main" xmlns="" id="{83642058-2C1F-8CD1-89A0-5F484E684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" y="3654"/>
              <a:ext cx="1261" cy="3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29705" name="Group 25">
            <a:extLst>
              <a:ext uri="{FF2B5EF4-FFF2-40B4-BE49-F238E27FC236}">
                <a16:creationId xmlns:a16="http://schemas.microsoft.com/office/drawing/2014/main" xmlns="" id="{C9D13AE7-0642-ABC3-F21C-E6354EB120B6}"/>
              </a:ext>
            </a:extLst>
          </p:cNvPr>
          <p:cNvGrpSpPr>
            <a:grpSpLocks/>
          </p:cNvGrpSpPr>
          <p:nvPr/>
        </p:nvGrpSpPr>
        <p:grpSpPr bwMode="auto">
          <a:xfrm>
            <a:off x="8559800" y="2349501"/>
            <a:ext cx="598488" cy="500063"/>
            <a:chOff x="2614" y="2862"/>
            <a:chExt cx="377" cy="315"/>
          </a:xfrm>
        </p:grpSpPr>
        <p:sp>
          <p:nvSpPr>
            <p:cNvPr id="29749" name="Rectangle 26">
              <a:extLst>
                <a:ext uri="{FF2B5EF4-FFF2-40B4-BE49-F238E27FC236}">
                  <a16:creationId xmlns:a16="http://schemas.microsoft.com/office/drawing/2014/main" xmlns="" id="{9FB9474B-7735-D0E7-9F5F-0BFF4CCC0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50" name="Oval 27">
              <a:extLst>
                <a:ext uri="{FF2B5EF4-FFF2-40B4-BE49-F238E27FC236}">
                  <a16:creationId xmlns:a16="http://schemas.microsoft.com/office/drawing/2014/main" xmlns="" id="{B412BDC8-17DC-E274-0A15-64FA6237E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P2</a:t>
              </a:r>
            </a:p>
          </p:txBody>
        </p:sp>
      </p:grpSp>
      <p:sp>
        <p:nvSpPr>
          <p:cNvPr id="29706" name="Line 28">
            <a:extLst>
              <a:ext uri="{FF2B5EF4-FFF2-40B4-BE49-F238E27FC236}">
                <a16:creationId xmlns:a16="http://schemas.microsoft.com/office/drawing/2014/main" xmlns="" id="{B4FFF019-60EC-5FD3-BC74-7314038F4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1200" y="2743200"/>
            <a:ext cx="0" cy="1752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07" name="Rectangle 29">
            <a:extLst>
              <a:ext uri="{FF2B5EF4-FFF2-40B4-BE49-F238E27FC236}">
                <a16:creationId xmlns:a16="http://schemas.microsoft.com/office/drawing/2014/main" xmlns="" id="{7DFD8125-102A-CAF8-6758-3815538FA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2860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9708" name="Rectangle 30">
            <a:extLst>
              <a:ext uri="{FF2B5EF4-FFF2-40B4-BE49-F238E27FC236}">
                <a16:creationId xmlns:a16="http://schemas.microsoft.com/office/drawing/2014/main" xmlns="" id="{EEB0B91D-E31F-DF70-D139-D40920BA5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7432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9709" name="Rectangle 31">
            <a:extLst>
              <a:ext uri="{FF2B5EF4-FFF2-40B4-BE49-F238E27FC236}">
                <a16:creationId xmlns:a16="http://schemas.microsoft.com/office/drawing/2014/main" xmlns="" id="{EB979695-E5BA-F790-9D31-CE5FDF4F8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2385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9710" name="Rectangle 32">
            <a:extLst>
              <a:ext uri="{FF2B5EF4-FFF2-40B4-BE49-F238E27FC236}">
                <a16:creationId xmlns:a16="http://schemas.microsoft.com/office/drawing/2014/main" xmlns="" id="{18364F53-02E3-526B-0BC1-2749E456B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71475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9711" name="Rectangle 33">
            <a:extLst>
              <a:ext uri="{FF2B5EF4-FFF2-40B4-BE49-F238E27FC236}">
                <a16:creationId xmlns:a16="http://schemas.microsoft.com/office/drawing/2014/main" xmlns="" id="{7351A806-2CD5-0EC0-35BD-C71613997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91000"/>
            <a:ext cx="1981200" cy="47625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/>
          </a:p>
        </p:txBody>
      </p:sp>
      <p:sp>
        <p:nvSpPr>
          <p:cNvPr id="29712" name="Rectangle 35">
            <a:extLst>
              <a:ext uri="{FF2B5EF4-FFF2-40B4-BE49-F238E27FC236}">
                <a16:creationId xmlns:a16="http://schemas.microsoft.com/office/drawing/2014/main" xmlns="" id="{1B085F37-0BE5-FE84-D99F-9518DDFE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667001"/>
            <a:ext cx="571500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13" name="Text Box 37">
            <a:extLst>
              <a:ext uri="{FF2B5EF4-FFF2-40B4-BE49-F238E27FC236}">
                <a16:creationId xmlns:a16="http://schemas.microsoft.com/office/drawing/2014/main" xmlns="" id="{099B8D08-E574-CC6F-7402-C6A7FA2C6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539" y="4797426"/>
            <a:ext cx="955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server</a:t>
            </a:r>
          </a:p>
          <a:p>
            <a:r>
              <a:rPr lang="en-US" altLang="en-US" sz="2000">
                <a:solidFill>
                  <a:schemeClr val="accent2"/>
                </a:solidFill>
              </a:rPr>
              <a:t>IP: C</a:t>
            </a:r>
          </a:p>
        </p:txBody>
      </p:sp>
      <p:sp>
        <p:nvSpPr>
          <p:cNvPr id="29714" name="Line 38">
            <a:extLst>
              <a:ext uri="{FF2B5EF4-FFF2-40B4-BE49-F238E27FC236}">
                <a16:creationId xmlns:a16="http://schemas.microsoft.com/office/drawing/2014/main" xmlns="" id="{92C6FA55-94D8-48AD-C61E-8F4E86A8BD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819400"/>
            <a:ext cx="0" cy="1676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5" name="Line 39">
            <a:extLst>
              <a:ext uri="{FF2B5EF4-FFF2-40B4-BE49-F238E27FC236}">
                <a16:creationId xmlns:a16="http://schemas.microsoft.com/office/drawing/2014/main" xmlns="" id="{B39493AF-1BCD-8718-C055-26FA4A6DE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4495800"/>
            <a:ext cx="350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6" name="Line 40">
            <a:extLst>
              <a:ext uri="{FF2B5EF4-FFF2-40B4-BE49-F238E27FC236}">
                <a16:creationId xmlns:a16="http://schemas.microsoft.com/office/drawing/2014/main" xmlns="" id="{BFA0C599-C279-E079-E620-19633A0A19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2819400"/>
            <a:ext cx="0" cy="1676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7" name="Line 41">
            <a:extLst>
              <a:ext uri="{FF2B5EF4-FFF2-40B4-BE49-F238E27FC236}">
                <a16:creationId xmlns:a16="http://schemas.microsoft.com/office/drawing/2014/main" xmlns="" id="{6DABDE6E-81BB-3549-6AFA-4558FABE74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495800"/>
            <a:ext cx="3505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8" name="Line 42">
            <a:extLst>
              <a:ext uri="{FF2B5EF4-FFF2-40B4-BE49-F238E27FC236}">
                <a16:creationId xmlns:a16="http://schemas.microsoft.com/office/drawing/2014/main" xmlns="" id="{5942C25E-4591-4806-57A6-3389145679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971800"/>
            <a:ext cx="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19" name="Line 43">
            <a:extLst>
              <a:ext uri="{FF2B5EF4-FFF2-40B4-BE49-F238E27FC236}">
                <a16:creationId xmlns:a16="http://schemas.microsoft.com/office/drawing/2014/main" xmlns="" id="{5DF0CFD3-794E-81A7-AD97-F469E526A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4495800"/>
            <a:ext cx="31242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0" name="Rectangle 44">
            <a:extLst>
              <a:ext uri="{FF2B5EF4-FFF2-40B4-BE49-F238E27FC236}">
                <a16:creationId xmlns:a16="http://schemas.microsoft.com/office/drawing/2014/main" xmlns="" id="{0BA6886D-56C7-7E22-4726-E2E5B652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4196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SP: 9157</a:t>
            </a:r>
          </a:p>
        </p:txBody>
      </p:sp>
      <p:sp>
        <p:nvSpPr>
          <p:cNvPr id="29721" name="Rectangle 45">
            <a:extLst>
              <a:ext uri="{FF2B5EF4-FFF2-40B4-BE49-F238E27FC236}">
                <a16:creationId xmlns:a16="http://schemas.microsoft.com/office/drawing/2014/main" xmlns="" id="{4796558B-BCA6-88E9-4BAA-C0885189F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7244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DP: 80</a:t>
            </a:r>
          </a:p>
        </p:txBody>
      </p:sp>
      <p:sp>
        <p:nvSpPr>
          <p:cNvPr id="29722" name="Rectangle 46">
            <a:extLst>
              <a:ext uri="{FF2B5EF4-FFF2-40B4-BE49-F238E27FC236}">
                <a16:creationId xmlns:a16="http://schemas.microsoft.com/office/drawing/2014/main" xmlns="" id="{B2006313-DF10-B156-77AF-1CBB5F43B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0292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29723" name="Group 47">
            <a:extLst>
              <a:ext uri="{FF2B5EF4-FFF2-40B4-BE49-F238E27FC236}">
                <a16:creationId xmlns:a16="http://schemas.microsoft.com/office/drawing/2014/main" xmlns="" id="{0E73F9CB-03E7-D52A-924E-9D3F14634E9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4419600"/>
            <a:ext cx="990600" cy="914400"/>
            <a:chOff x="3936" y="2784"/>
            <a:chExt cx="624" cy="576"/>
          </a:xfrm>
        </p:grpSpPr>
        <p:sp>
          <p:nvSpPr>
            <p:cNvPr id="29746" name="Rectangle 48">
              <a:extLst>
                <a:ext uri="{FF2B5EF4-FFF2-40B4-BE49-F238E27FC236}">
                  <a16:creationId xmlns:a16="http://schemas.microsoft.com/office/drawing/2014/main" xmlns="" id="{BB38C3FD-CF64-88B5-9524-054968281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84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SP: 9157</a:t>
              </a:r>
            </a:p>
          </p:txBody>
        </p:sp>
        <p:sp>
          <p:nvSpPr>
            <p:cNvPr id="29747" name="Rectangle 49">
              <a:extLst>
                <a:ext uri="{FF2B5EF4-FFF2-40B4-BE49-F238E27FC236}">
                  <a16:creationId xmlns:a16="http://schemas.microsoft.com/office/drawing/2014/main" xmlns="" id="{AB9563D5-E3E1-918E-63F4-E5E33C7FB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976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DP: 80</a:t>
              </a:r>
            </a:p>
          </p:txBody>
        </p:sp>
        <p:sp>
          <p:nvSpPr>
            <p:cNvPr id="29748" name="Rectangle 50">
              <a:extLst>
                <a:ext uri="{FF2B5EF4-FFF2-40B4-BE49-F238E27FC236}">
                  <a16:creationId xmlns:a16="http://schemas.microsoft.com/office/drawing/2014/main" xmlns="" id="{39DBF64D-1EE2-AA83-6EA3-CB858E967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9724" name="Rectangle 52">
            <a:extLst>
              <a:ext uri="{FF2B5EF4-FFF2-40B4-BE49-F238E27FC236}">
                <a16:creationId xmlns:a16="http://schemas.microsoft.com/office/drawing/2014/main" xmlns="" id="{21BD6B2C-FD07-C8D2-8085-E23505C9D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667001"/>
            <a:ext cx="571500" cy="1952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5" name="Oval 53">
            <a:extLst>
              <a:ext uri="{FF2B5EF4-FFF2-40B4-BE49-F238E27FC236}">
                <a16:creationId xmlns:a16="http://schemas.microsoft.com/office/drawing/2014/main" xmlns="" id="{E0BF6726-ED26-A51D-2FCE-0AC81FD81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362200"/>
            <a:ext cx="19050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P4</a:t>
            </a:r>
          </a:p>
        </p:txBody>
      </p:sp>
      <p:sp>
        <p:nvSpPr>
          <p:cNvPr id="29726" name="Rectangle 55">
            <a:extLst>
              <a:ext uri="{FF2B5EF4-FFF2-40B4-BE49-F238E27FC236}">
                <a16:creationId xmlns:a16="http://schemas.microsoft.com/office/drawing/2014/main" xmlns="" id="{E0D73587-096A-36BD-330C-6447884B5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6850" y="2655888"/>
            <a:ext cx="571500" cy="1952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29727" name="Group 57">
            <a:extLst>
              <a:ext uri="{FF2B5EF4-FFF2-40B4-BE49-F238E27FC236}">
                <a16:creationId xmlns:a16="http://schemas.microsoft.com/office/drawing/2014/main" xmlns="" id="{4EDF2373-CBFB-57A1-6851-127D6D4F6D7A}"/>
              </a:ext>
            </a:extLst>
          </p:cNvPr>
          <p:cNvGrpSpPr>
            <a:grpSpLocks/>
          </p:cNvGrpSpPr>
          <p:nvPr/>
        </p:nvGrpSpPr>
        <p:grpSpPr bwMode="auto">
          <a:xfrm>
            <a:off x="9264650" y="2363788"/>
            <a:ext cx="598488" cy="500062"/>
            <a:chOff x="2614" y="2862"/>
            <a:chExt cx="377" cy="315"/>
          </a:xfrm>
        </p:grpSpPr>
        <p:sp>
          <p:nvSpPr>
            <p:cNvPr id="29744" name="Rectangle 58">
              <a:extLst>
                <a:ext uri="{FF2B5EF4-FFF2-40B4-BE49-F238E27FC236}">
                  <a16:creationId xmlns:a16="http://schemas.microsoft.com/office/drawing/2014/main" xmlns="" id="{62B3D500-6A06-3D4B-71B2-F0A907F7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3054"/>
              <a:ext cx="377" cy="123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745" name="Oval 59">
              <a:extLst>
                <a:ext uri="{FF2B5EF4-FFF2-40B4-BE49-F238E27FC236}">
                  <a16:creationId xmlns:a16="http://schemas.microsoft.com/office/drawing/2014/main" xmlns="" id="{CFBBB566-B9A1-4728-3E6E-F93FCB53F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4" y="2862"/>
              <a:ext cx="377" cy="192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P3</a:t>
              </a:r>
            </a:p>
          </p:txBody>
        </p:sp>
      </p:grpSp>
      <p:sp>
        <p:nvSpPr>
          <p:cNvPr id="29728" name="Line 60">
            <a:extLst>
              <a:ext uri="{FF2B5EF4-FFF2-40B4-BE49-F238E27FC236}">
                <a16:creationId xmlns:a16="http://schemas.microsoft.com/office/drawing/2014/main" xmlns="" id="{D7E6B55B-61D6-4C5D-C821-5CCE13CF2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2819400"/>
            <a:ext cx="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29" name="Line 61">
            <a:extLst>
              <a:ext uri="{FF2B5EF4-FFF2-40B4-BE49-F238E27FC236}">
                <a16:creationId xmlns:a16="http://schemas.microsoft.com/office/drawing/2014/main" xmlns="" id="{11FDE15C-D2A9-87CE-0193-C665D0B36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343400"/>
            <a:ext cx="20574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0" name="Line 62">
            <a:extLst>
              <a:ext uri="{FF2B5EF4-FFF2-40B4-BE49-F238E27FC236}">
                <a16:creationId xmlns:a16="http://schemas.microsoft.com/office/drawing/2014/main" xmlns="" id="{EA4A0A02-B5D2-FA81-6357-7398E69FCB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2819400"/>
            <a:ext cx="0" cy="1524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731" name="Rectangle 63">
            <a:extLst>
              <a:ext uri="{FF2B5EF4-FFF2-40B4-BE49-F238E27FC236}">
                <a16:creationId xmlns:a16="http://schemas.microsoft.com/office/drawing/2014/main" xmlns="" id="{BF6082CC-5202-0D62-2F8F-65906C060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3340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32" name="Rectangle 64">
            <a:extLst>
              <a:ext uri="{FF2B5EF4-FFF2-40B4-BE49-F238E27FC236}">
                <a16:creationId xmlns:a16="http://schemas.microsoft.com/office/drawing/2014/main" xmlns="" id="{F658D0BD-DDEC-6AF5-6D1F-D3C232EAE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3340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D-IP:C</a:t>
            </a:r>
          </a:p>
        </p:txBody>
      </p:sp>
      <p:sp>
        <p:nvSpPr>
          <p:cNvPr id="29733" name="Text Box 65">
            <a:extLst>
              <a:ext uri="{FF2B5EF4-FFF2-40B4-BE49-F238E27FC236}">
                <a16:creationId xmlns:a16="http://schemas.microsoft.com/office/drawing/2014/main" xmlns="" id="{1C7A1443-52F0-E430-3D78-18E549AC1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725" y="49418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34" name="Text Box 66">
            <a:extLst>
              <a:ext uri="{FF2B5EF4-FFF2-40B4-BE49-F238E27FC236}">
                <a16:creationId xmlns:a16="http://schemas.microsoft.com/office/drawing/2014/main" xmlns="" id="{08FE3CCE-9B35-1560-ACD5-6F7DA0B3C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029200"/>
            <a:ext cx="896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S-IP: A</a:t>
            </a:r>
          </a:p>
        </p:txBody>
      </p:sp>
      <p:sp>
        <p:nvSpPr>
          <p:cNvPr id="29735" name="Text Box 67">
            <a:extLst>
              <a:ext uri="{FF2B5EF4-FFF2-40B4-BE49-F238E27FC236}">
                <a16:creationId xmlns:a16="http://schemas.microsoft.com/office/drawing/2014/main" xmlns="" id="{3DE52C22-6646-0424-5A63-944C82368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334000"/>
            <a:ext cx="814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D-IP:C</a:t>
            </a:r>
          </a:p>
        </p:txBody>
      </p:sp>
      <p:sp>
        <p:nvSpPr>
          <p:cNvPr id="29736" name="Text Box 68">
            <a:extLst>
              <a:ext uri="{FF2B5EF4-FFF2-40B4-BE49-F238E27FC236}">
                <a16:creationId xmlns:a16="http://schemas.microsoft.com/office/drawing/2014/main" xmlns="" id="{FB2607D7-0F50-38BD-3499-49EFD85C9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3" y="5029200"/>
            <a:ext cx="87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S-IP: B</a:t>
            </a:r>
          </a:p>
        </p:txBody>
      </p:sp>
      <p:grpSp>
        <p:nvGrpSpPr>
          <p:cNvPr id="29737" name="Group 69">
            <a:extLst>
              <a:ext uri="{FF2B5EF4-FFF2-40B4-BE49-F238E27FC236}">
                <a16:creationId xmlns:a16="http://schemas.microsoft.com/office/drawing/2014/main" xmlns="" id="{245C6CF4-469D-DB87-356D-3E6EAF49F3AB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2895600"/>
            <a:ext cx="990600" cy="914400"/>
            <a:chOff x="3936" y="2784"/>
            <a:chExt cx="624" cy="576"/>
          </a:xfrm>
        </p:grpSpPr>
        <p:sp>
          <p:nvSpPr>
            <p:cNvPr id="29741" name="Rectangle 70">
              <a:extLst>
                <a:ext uri="{FF2B5EF4-FFF2-40B4-BE49-F238E27FC236}">
                  <a16:creationId xmlns:a16="http://schemas.microsoft.com/office/drawing/2014/main" xmlns="" id="{830E3AB7-5D40-02F0-C125-5D57119E9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784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SP: 5775</a:t>
              </a:r>
            </a:p>
          </p:txBody>
        </p:sp>
        <p:sp>
          <p:nvSpPr>
            <p:cNvPr id="29742" name="Rectangle 71">
              <a:extLst>
                <a:ext uri="{FF2B5EF4-FFF2-40B4-BE49-F238E27FC236}">
                  <a16:creationId xmlns:a16="http://schemas.microsoft.com/office/drawing/2014/main" xmlns="" id="{36D47D2B-96D6-1E29-F246-E98D6F0AB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976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/>
                <a:t>DP: 80</a:t>
              </a:r>
            </a:p>
          </p:txBody>
        </p:sp>
        <p:sp>
          <p:nvSpPr>
            <p:cNvPr id="29743" name="Rectangle 72">
              <a:extLst>
                <a:ext uri="{FF2B5EF4-FFF2-40B4-BE49-F238E27FC236}">
                  <a16:creationId xmlns:a16="http://schemas.microsoft.com/office/drawing/2014/main" xmlns="" id="{064C6ADC-8FE1-A801-EBEE-E1F1A038B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168"/>
              <a:ext cx="624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9738" name="Rectangle 73">
            <a:extLst>
              <a:ext uri="{FF2B5EF4-FFF2-40B4-BE49-F238E27FC236}">
                <a16:creationId xmlns:a16="http://schemas.microsoft.com/office/drawing/2014/main" xmlns="" id="{5E9D03F8-FCC8-A2A2-342D-AEF8144B3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3810000"/>
            <a:ext cx="990600" cy="3048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D-IP:C</a:t>
            </a:r>
          </a:p>
        </p:txBody>
      </p:sp>
      <p:sp>
        <p:nvSpPr>
          <p:cNvPr id="29739" name="Rectangle 74">
            <a:extLst>
              <a:ext uri="{FF2B5EF4-FFF2-40B4-BE49-F238E27FC236}">
                <a16:creationId xmlns:a16="http://schemas.microsoft.com/office/drawing/2014/main" xmlns="" id="{CB6312BC-072F-B139-3AC1-1044C7807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505200"/>
            <a:ext cx="876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S-IP: B</a:t>
            </a:r>
          </a:p>
        </p:txBody>
      </p:sp>
      <p:sp>
        <p:nvSpPr>
          <p:cNvPr id="29740" name="Line 75">
            <a:extLst>
              <a:ext uri="{FF2B5EF4-FFF2-40B4-BE49-F238E27FC236}">
                <a16:creationId xmlns:a16="http://schemas.microsoft.com/office/drawing/2014/main" xmlns="" id="{A2D6E336-3220-6BC8-8ECF-A5204B90E7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6200" y="41148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5">
            <a:extLst>
              <a:ext uri="{FF2B5EF4-FFF2-40B4-BE49-F238E27FC236}">
                <a16:creationId xmlns:a16="http://schemas.microsoft.com/office/drawing/2014/main" xmlns="" id="{35C86194-1406-DA6E-082C-8D0C5BE6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0723" name="Slide Number Placeholder 6">
            <a:extLst>
              <a:ext uri="{FF2B5EF4-FFF2-40B4-BE49-F238E27FC236}">
                <a16:creationId xmlns:a16="http://schemas.microsoft.com/office/drawing/2014/main" xmlns="" id="{12AE2640-F5C7-7731-0749-85EEAC85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1727D222-0FD5-4D6E-9DB2-3D1D31948F15}" type="slidenum">
              <a:rPr lang="en-US" altLang="en-US" sz="1400">
                <a:latin typeface="Arial" panose="020B0604020202020204" pitchFamily="34" charset="0"/>
              </a:rPr>
              <a:pPr/>
              <a:t>34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xmlns="" id="{AB333CA1-D928-61C5-8964-1B7B7A522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3 outline</a:t>
            </a: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xmlns="" id="{0FD4D671-74BF-9914-50E0-454D4B5650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3.1 Transport-layer services</a:t>
            </a:r>
          </a:p>
          <a:p>
            <a:r>
              <a:rPr lang="en-US" altLang="en-US" sz="2400"/>
              <a:t>3.2 Multiplexing and demultiplexing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3.3 Connectionless transport: UDP</a:t>
            </a:r>
            <a:endParaRPr lang="en-US" altLang="en-US" sz="2400"/>
          </a:p>
          <a:p>
            <a:r>
              <a:rPr lang="en-US" altLang="en-US" sz="2400"/>
              <a:t>3.4 Principles of reliable data transfer</a:t>
            </a: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xmlns="" id="{DF385E28-EFBA-A382-7FDF-40713345210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054475" cy="4648200"/>
          </a:xfrm>
        </p:spPr>
        <p:txBody>
          <a:bodyPr/>
          <a:lstStyle/>
          <a:p>
            <a:r>
              <a:rPr lang="en-US" altLang="en-US" sz="2400"/>
              <a:t>3.5 Connection-oriented transport: TCP</a:t>
            </a:r>
          </a:p>
          <a:p>
            <a:pPr lvl="1"/>
            <a:r>
              <a:rPr lang="en-US" altLang="en-US" sz="2000"/>
              <a:t>segment structure</a:t>
            </a:r>
          </a:p>
          <a:p>
            <a:pPr lvl="1"/>
            <a:r>
              <a:rPr lang="en-US" altLang="en-US" sz="2000"/>
              <a:t>reliable data transfer</a:t>
            </a:r>
          </a:p>
          <a:p>
            <a:pPr lvl="1"/>
            <a:r>
              <a:rPr lang="en-US" altLang="en-US" sz="2000"/>
              <a:t>flow control</a:t>
            </a:r>
          </a:p>
          <a:p>
            <a:pPr lvl="1"/>
            <a:r>
              <a:rPr lang="en-US" altLang="en-US" sz="2000"/>
              <a:t>connection management</a:t>
            </a:r>
          </a:p>
          <a:p>
            <a:r>
              <a:rPr lang="en-US" altLang="en-US" sz="2400"/>
              <a:t>3.6 Principles of congestion control</a:t>
            </a:r>
          </a:p>
          <a:p>
            <a:r>
              <a:rPr lang="en-US" altLang="en-US" sz="2400"/>
              <a:t>3.7 TCP congestion control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5">
            <a:extLst>
              <a:ext uri="{FF2B5EF4-FFF2-40B4-BE49-F238E27FC236}">
                <a16:creationId xmlns:a16="http://schemas.microsoft.com/office/drawing/2014/main" xmlns="" id="{632DE4FF-0E09-9DD4-F3F2-A126A61F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1747" name="Slide Number Placeholder 6">
            <a:extLst>
              <a:ext uri="{FF2B5EF4-FFF2-40B4-BE49-F238E27FC236}">
                <a16:creationId xmlns:a16="http://schemas.microsoft.com/office/drawing/2014/main" xmlns="" id="{B3444A29-088E-15EE-3182-B44A502D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91C3FE22-4650-4A63-9E64-61E4F703009F}" type="slidenum">
              <a:rPr lang="en-US" altLang="en-US" sz="1400">
                <a:latin typeface="Arial" panose="020B0604020202020204" pitchFamily="34" charset="0"/>
              </a:rPr>
              <a:pPr/>
              <a:t>35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xmlns="" id="{7D0545F7-AC3D-7779-E062-0EA5C85C8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343900" cy="1143000"/>
          </a:xfrm>
        </p:spPr>
        <p:txBody>
          <a:bodyPr/>
          <a:lstStyle/>
          <a:p>
            <a:r>
              <a:rPr lang="en-US" altLang="en-US" sz="3600"/>
              <a:t>UDP: User Datagram Protocol </a:t>
            </a:r>
            <a:r>
              <a:rPr lang="en-US" altLang="en-US" sz="2800"/>
              <a:t>[RFC 768]</a:t>
            </a:r>
            <a:endParaRPr lang="en-US" altLang="en-US"/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xmlns="" id="{EF0C8D5F-68E8-8F39-BEB7-084E9777C0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52625" y="1447800"/>
            <a:ext cx="3810000" cy="4648200"/>
          </a:xfrm>
        </p:spPr>
        <p:txBody>
          <a:bodyPr/>
          <a:lstStyle/>
          <a:p>
            <a:r>
              <a:rPr lang="en-US" altLang="en-US" sz="2000"/>
              <a:t>“no frills,” “bare bones” Internet transport protocol</a:t>
            </a:r>
          </a:p>
          <a:p>
            <a:r>
              <a:rPr lang="en-US" altLang="en-US" sz="2000"/>
              <a:t>“best effort” service, UDP segments may be:</a:t>
            </a:r>
          </a:p>
          <a:p>
            <a:pPr lvl="1"/>
            <a:r>
              <a:rPr lang="en-US" altLang="en-US" sz="2000"/>
              <a:t>lost</a:t>
            </a:r>
          </a:p>
          <a:p>
            <a:pPr lvl="1"/>
            <a:r>
              <a:rPr lang="en-US" altLang="en-US" sz="2000"/>
              <a:t>delivered out of order to app</a:t>
            </a:r>
          </a:p>
          <a:p>
            <a:r>
              <a:rPr lang="en-US" altLang="en-US" sz="2000" i="1">
                <a:solidFill>
                  <a:srgbClr val="FF0000"/>
                </a:solidFill>
              </a:rPr>
              <a:t>connectionless:</a:t>
            </a:r>
            <a:endParaRPr lang="en-US" altLang="en-US" sz="2400"/>
          </a:p>
          <a:p>
            <a:pPr lvl="1"/>
            <a:r>
              <a:rPr lang="en-US" altLang="en-US" sz="2000"/>
              <a:t>no handshaking between UDP sender, receiver</a:t>
            </a:r>
          </a:p>
          <a:p>
            <a:pPr lvl="1"/>
            <a:r>
              <a:rPr lang="en-US" altLang="en-US" sz="2000"/>
              <a:t>each UDP segment handled independently of others</a:t>
            </a:r>
          </a:p>
          <a:p>
            <a:endParaRPr lang="en-US" altLang="en-US" sz="2400"/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xmlns="" id="{D48A7800-4B82-755F-F8F4-06E736B5FA7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276975" y="1781176"/>
            <a:ext cx="3810000" cy="3819525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Why is there a UDP?</a:t>
            </a:r>
            <a:endParaRPr lang="en-US" altLang="en-US" sz="2400"/>
          </a:p>
          <a:p>
            <a:r>
              <a:rPr lang="en-US" altLang="en-US" sz="2000"/>
              <a:t>no connection establishment (which can add delay)</a:t>
            </a:r>
          </a:p>
          <a:p>
            <a:r>
              <a:rPr lang="en-US" altLang="en-US" sz="2000"/>
              <a:t>simple: no connection state at sender, receiver</a:t>
            </a:r>
          </a:p>
          <a:p>
            <a:r>
              <a:rPr lang="en-US" altLang="en-US" sz="2000"/>
              <a:t>small segment header</a:t>
            </a:r>
          </a:p>
          <a:p>
            <a:r>
              <a:rPr lang="en-US" altLang="en-US" sz="2000"/>
              <a:t>no congestion control: UDP can blast away as fast as desired</a:t>
            </a:r>
            <a:endParaRPr lang="en-US" altLang="en-US" sz="2400"/>
          </a:p>
          <a:p>
            <a:endParaRPr lang="en-US" altLang="en-US" sz="2400"/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xmlns="" id="{AC0DCB9B-79EE-D45C-4B87-311F6AFFE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1" y="1638301"/>
            <a:ext cx="4048125" cy="38385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5">
            <a:extLst>
              <a:ext uri="{FF2B5EF4-FFF2-40B4-BE49-F238E27FC236}">
                <a16:creationId xmlns:a16="http://schemas.microsoft.com/office/drawing/2014/main" xmlns="" id="{A9381988-7CB6-14B0-42C1-FEC525B1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2771" name="Slide Number Placeholder 6">
            <a:extLst>
              <a:ext uri="{FF2B5EF4-FFF2-40B4-BE49-F238E27FC236}">
                <a16:creationId xmlns:a16="http://schemas.microsoft.com/office/drawing/2014/main" xmlns="" id="{25A76B3A-A6AE-2CF5-853D-39B0B5F5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6E32767C-8E8D-4AF4-9CA6-A2601D2AC0A8}" type="slidenum">
              <a:rPr lang="en-US" altLang="en-US" sz="1400">
                <a:latin typeface="Arial" panose="020B0604020202020204" pitchFamily="34" charset="0"/>
              </a:rPr>
              <a:pPr/>
              <a:t>36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xmlns="" id="{A8B49B31-9C77-EFDB-C94A-DD598FC7E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343900" cy="1143000"/>
          </a:xfrm>
        </p:spPr>
        <p:txBody>
          <a:bodyPr/>
          <a:lstStyle/>
          <a:p>
            <a:r>
              <a:rPr lang="en-US" altLang="en-US" sz="3600"/>
              <a:t>UDP: more</a:t>
            </a:r>
            <a:endParaRPr lang="en-US" altLang="en-US"/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xmlns="" id="{34B2EBEA-16CB-3059-41D3-12AE22A780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52625" y="1447800"/>
            <a:ext cx="3810000" cy="4648200"/>
          </a:xfrm>
        </p:spPr>
        <p:txBody>
          <a:bodyPr/>
          <a:lstStyle/>
          <a:p>
            <a:r>
              <a:rPr lang="en-US" altLang="en-US" sz="2000"/>
              <a:t>often used for streaming multimedia apps</a:t>
            </a:r>
          </a:p>
          <a:p>
            <a:pPr lvl="1"/>
            <a:r>
              <a:rPr lang="en-US" altLang="en-US" sz="2000"/>
              <a:t>loss tolerant</a:t>
            </a:r>
          </a:p>
          <a:p>
            <a:pPr lvl="1"/>
            <a:r>
              <a:rPr lang="en-US" altLang="en-US" sz="2000"/>
              <a:t>rate sensitive</a:t>
            </a:r>
          </a:p>
          <a:p>
            <a:r>
              <a:rPr lang="en-US" altLang="en-US" sz="2400"/>
              <a:t>other UDP uses</a:t>
            </a:r>
          </a:p>
          <a:p>
            <a:pPr lvl="1"/>
            <a:r>
              <a:rPr lang="en-US" altLang="en-US" sz="2000"/>
              <a:t>DNS</a:t>
            </a:r>
          </a:p>
          <a:p>
            <a:pPr lvl="1"/>
            <a:r>
              <a:rPr lang="en-US" altLang="en-US" sz="2000"/>
              <a:t>SNMP</a:t>
            </a:r>
            <a:endParaRPr lang="en-US" altLang="en-US" sz="1800"/>
          </a:p>
          <a:p>
            <a:r>
              <a:rPr lang="en-US" altLang="en-US" sz="2000"/>
              <a:t>reliable transfer over UDP: add reliability at application layer</a:t>
            </a:r>
          </a:p>
          <a:p>
            <a:pPr lvl="1"/>
            <a:r>
              <a:rPr lang="en-US" altLang="en-US" sz="2000"/>
              <a:t>application-specific error recovery!</a:t>
            </a:r>
          </a:p>
        </p:txBody>
      </p:sp>
      <p:sp>
        <p:nvSpPr>
          <p:cNvPr id="32774" name="Rectangle 7">
            <a:extLst>
              <a:ext uri="{FF2B5EF4-FFF2-40B4-BE49-F238E27FC236}">
                <a16:creationId xmlns:a16="http://schemas.microsoft.com/office/drawing/2014/main" xmlns="" id="{8B60DA04-BF59-7522-1FD3-10925909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6" y="2000250"/>
            <a:ext cx="3324225" cy="32004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75" name="Rectangle 8">
            <a:extLst>
              <a:ext uri="{FF2B5EF4-FFF2-40B4-BE49-F238E27FC236}">
                <a16:creationId xmlns:a16="http://schemas.microsoft.com/office/drawing/2014/main" xmlns="" id="{2B42D8C8-7F1C-11E7-1986-5629576C6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26" y="2095500"/>
            <a:ext cx="3324225" cy="3200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6" name="Text Box 9">
            <a:extLst>
              <a:ext uri="{FF2B5EF4-FFF2-40B4-BE49-F238E27FC236}">
                <a16:creationId xmlns:a16="http://schemas.microsoft.com/office/drawing/2014/main" xmlns="" id="{124E6B76-92E8-A3EC-9FF7-C4E1CB227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0" y="2117726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/>
              <a:t>source port #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77" name="Text Box 10">
            <a:extLst>
              <a:ext uri="{FF2B5EF4-FFF2-40B4-BE49-F238E27FC236}">
                <a16:creationId xmlns:a16="http://schemas.microsoft.com/office/drawing/2014/main" xmlns="" id="{EF2A7985-E78F-35AF-680F-FEF273A83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8" y="2117726"/>
            <a:ext cx="1452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/>
              <a:t>dest port #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32778" name="Line 11">
            <a:extLst>
              <a:ext uri="{FF2B5EF4-FFF2-40B4-BE49-F238E27FC236}">
                <a16:creationId xmlns:a16="http://schemas.microsoft.com/office/drawing/2014/main" xmlns="" id="{B99BE935-652B-EC5E-124B-53C9DA01E2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495550"/>
            <a:ext cx="33289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79" name="Line 12">
            <a:extLst>
              <a:ext uri="{FF2B5EF4-FFF2-40B4-BE49-F238E27FC236}">
                <a16:creationId xmlns:a16="http://schemas.microsoft.com/office/drawing/2014/main" xmlns="" id="{4F500FA7-C718-18E1-1B60-E5A60A431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2276" y="2895600"/>
            <a:ext cx="3324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0" name="Line 13">
            <a:extLst>
              <a:ext uri="{FF2B5EF4-FFF2-40B4-BE49-F238E27FC236}">
                <a16:creationId xmlns:a16="http://schemas.microsoft.com/office/drawing/2014/main" xmlns="" id="{B079301B-85F9-5D05-1393-7550E6303B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625" y="2095500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1" name="Text Box 14">
            <a:extLst>
              <a:ext uri="{FF2B5EF4-FFF2-40B4-BE49-F238E27FC236}">
                <a16:creationId xmlns:a16="http://schemas.microsoft.com/office/drawing/2014/main" xmlns="" id="{DBC4781E-87F7-03C3-9B51-FBA35A67E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151" y="1665288"/>
            <a:ext cx="9493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/>
              <a:t>32 bits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2" name="Line 15">
            <a:extLst>
              <a:ext uri="{FF2B5EF4-FFF2-40B4-BE49-F238E27FC236}">
                <a16:creationId xmlns:a16="http://schemas.microsoft.com/office/drawing/2014/main" xmlns="" id="{86444472-B77B-009D-DB8D-15EB860B1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6825" y="1862138"/>
            <a:ext cx="1200150" cy="47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3" name="Line 16">
            <a:extLst>
              <a:ext uri="{FF2B5EF4-FFF2-40B4-BE49-F238E27FC236}">
                <a16:creationId xmlns:a16="http://schemas.microsoft.com/office/drawing/2014/main" xmlns="" id="{43F2BBED-C36A-107A-9ED1-F6DC2C9350D5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777038" y="1871663"/>
            <a:ext cx="11287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4" name="Text Box 17">
            <a:extLst>
              <a:ext uri="{FF2B5EF4-FFF2-40B4-BE49-F238E27FC236}">
                <a16:creationId xmlns:a16="http://schemas.microsoft.com/office/drawing/2014/main" xmlns="" id="{72DCFEDF-6573-F1D2-F3C0-13C49A8C0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8576" y="3951289"/>
            <a:ext cx="15017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/>
              <a:t>Application</a:t>
            </a:r>
          </a:p>
          <a:p>
            <a:r>
              <a:rPr lang="en-US" altLang="en-US" sz="2000"/>
              <a:t>data </a:t>
            </a:r>
          </a:p>
          <a:p>
            <a:r>
              <a:rPr lang="en-US" altLang="en-US" sz="2000"/>
              <a:t>(message)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5" name="Text Box 19">
            <a:extLst>
              <a:ext uri="{FF2B5EF4-FFF2-40B4-BE49-F238E27FC236}">
                <a16:creationId xmlns:a16="http://schemas.microsoft.com/office/drawing/2014/main" xmlns="" id="{B5F93BCE-B6EB-880E-D3C3-3056EC421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5518151"/>
            <a:ext cx="2655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/>
              <a:t>UDP segment format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6" name="Line 20">
            <a:extLst>
              <a:ext uri="{FF2B5EF4-FFF2-40B4-BE49-F238E27FC236}">
                <a16:creationId xmlns:a16="http://schemas.microsoft.com/office/drawing/2014/main" xmlns="" id="{3FC6897F-E219-191B-0CDA-4A687F616F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29625" y="2505075"/>
            <a:ext cx="0" cy="3952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2787" name="Text Box 22">
            <a:extLst>
              <a:ext uri="{FF2B5EF4-FFF2-40B4-BE49-F238E27FC236}">
                <a16:creationId xmlns:a16="http://schemas.microsoft.com/office/drawing/2014/main" xmlns="" id="{4A3E4B56-FAF5-1F1E-BCF6-5E7E3348C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2508251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/>
              <a:t>length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8" name="Text Box 23">
            <a:extLst>
              <a:ext uri="{FF2B5EF4-FFF2-40B4-BE49-F238E27FC236}">
                <a16:creationId xmlns:a16="http://schemas.microsoft.com/office/drawing/2014/main" xmlns="" id="{8A159480-4A2F-B8C0-BA57-ECCD3BB8C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4264" y="2498726"/>
            <a:ext cx="1208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/>
              <a:t>checksum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89" name="Text Box 24">
            <a:extLst>
              <a:ext uri="{FF2B5EF4-FFF2-40B4-BE49-F238E27FC236}">
                <a16:creationId xmlns:a16="http://schemas.microsoft.com/office/drawing/2014/main" xmlns="" id="{D9BD2529-3433-1E14-670C-7C755BCF3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4" y="2212976"/>
            <a:ext cx="1608137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 sz="1800"/>
              <a:t>Length, in</a:t>
            </a:r>
          </a:p>
          <a:p>
            <a:pPr algn="r"/>
            <a:r>
              <a:rPr lang="en-US" altLang="en-US" sz="1800"/>
              <a:t>bytes of UDP</a:t>
            </a:r>
          </a:p>
          <a:p>
            <a:pPr algn="r"/>
            <a:r>
              <a:rPr lang="en-US" altLang="en-US" sz="1800"/>
              <a:t>segment,</a:t>
            </a:r>
          </a:p>
          <a:p>
            <a:pPr algn="r"/>
            <a:r>
              <a:rPr lang="en-US" altLang="en-US" sz="1800"/>
              <a:t>including</a:t>
            </a:r>
          </a:p>
          <a:p>
            <a:pPr algn="r"/>
            <a:r>
              <a:rPr lang="en-US" altLang="en-US" sz="1800"/>
              <a:t>header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2790" name="Line 25">
            <a:extLst>
              <a:ext uri="{FF2B5EF4-FFF2-40B4-BE49-F238E27FC236}">
                <a16:creationId xmlns:a16="http://schemas.microsoft.com/office/drawing/2014/main" xmlns="" id="{267CD94C-90AB-4DD4-12D3-96CAB1BC5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5576" y="2543176"/>
            <a:ext cx="714375" cy="1428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5">
            <a:extLst>
              <a:ext uri="{FF2B5EF4-FFF2-40B4-BE49-F238E27FC236}">
                <a16:creationId xmlns:a16="http://schemas.microsoft.com/office/drawing/2014/main" xmlns="" id="{7BCC5E0A-7553-CA75-5750-87490CF4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3795" name="Slide Number Placeholder 6">
            <a:extLst>
              <a:ext uri="{FF2B5EF4-FFF2-40B4-BE49-F238E27FC236}">
                <a16:creationId xmlns:a16="http://schemas.microsoft.com/office/drawing/2014/main" xmlns="" id="{ED172998-F7D2-61AA-156F-DFC710DD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A135691A-1874-4F93-8459-BE42D9A90BBB}" type="slidenum">
              <a:rPr lang="en-US" altLang="en-US" sz="1400">
                <a:latin typeface="Arial" panose="020B0604020202020204" pitchFamily="34" charset="0"/>
              </a:rPr>
              <a:pPr/>
              <a:t>37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xmlns="" id="{889F3663-F3B2-D3C7-6E28-F785B1F64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UDP checksum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xmlns="" id="{62598CC8-33F1-082E-8BDA-FFE586A229A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2557464"/>
            <a:ext cx="3657600" cy="3495675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Sender:</a:t>
            </a:r>
            <a:endParaRPr lang="en-US" altLang="en-US" sz="2400"/>
          </a:p>
          <a:p>
            <a:r>
              <a:rPr lang="en-US" altLang="en-US" sz="2000"/>
              <a:t>treat segment contents as sequence of 16-bit integers</a:t>
            </a:r>
          </a:p>
          <a:p>
            <a:r>
              <a:rPr lang="en-US" altLang="en-US" sz="2000"/>
              <a:t>checksum: addition (1’s complement sum) of segment contents</a:t>
            </a:r>
          </a:p>
          <a:p>
            <a:r>
              <a:rPr lang="en-US" altLang="en-US" sz="2000"/>
              <a:t>sender puts checksum value into UDP checksum field</a:t>
            </a:r>
          </a:p>
          <a:p>
            <a:pPr>
              <a:buFont typeface="ZapfDingbats" pitchFamily="82" charset="2"/>
              <a:buNone/>
            </a:pPr>
            <a:endParaRPr lang="en-US" altLang="en-US" sz="2400"/>
          </a:p>
          <a:p>
            <a:endParaRPr lang="en-US" altLang="en-US" sz="2400"/>
          </a:p>
        </p:txBody>
      </p:sp>
      <p:sp>
        <p:nvSpPr>
          <p:cNvPr id="33798" name="Rectangle 4">
            <a:extLst>
              <a:ext uri="{FF2B5EF4-FFF2-40B4-BE49-F238E27FC236}">
                <a16:creationId xmlns:a16="http://schemas.microsoft.com/office/drawing/2014/main" xmlns="" id="{71630C58-638C-15F6-E026-D45DB0FA05D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72200" y="2552700"/>
            <a:ext cx="4057650" cy="325755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Receiver:</a:t>
            </a:r>
            <a:endParaRPr lang="en-US" altLang="en-US" sz="2400"/>
          </a:p>
          <a:p>
            <a:r>
              <a:rPr lang="en-US" altLang="en-US" sz="2000"/>
              <a:t>compute checksum of received segment</a:t>
            </a:r>
          </a:p>
          <a:p>
            <a:r>
              <a:rPr lang="en-US" altLang="en-US" sz="2000"/>
              <a:t>check if computed checksum equals checksum field value:</a:t>
            </a:r>
          </a:p>
          <a:p>
            <a:pPr lvl="1"/>
            <a:r>
              <a:rPr lang="en-US" altLang="en-US" sz="2000"/>
              <a:t>NO - error detected</a:t>
            </a:r>
          </a:p>
          <a:p>
            <a:pPr lvl="1"/>
            <a:r>
              <a:rPr lang="en-US" altLang="en-US" sz="2000"/>
              <a:t>YES - no error detected. </a:t>
            </a:r>
            <a:r>
              <a:rPr lang="en-US" altLang="en-US" sz="2000" i="1"/>
              <a:t>But maybe errors nonetheless?</a:t>
            </a:r>
            <a:r>
              <a:rPr lang="en-US" altLang="en-US" sz="2000"/>
              <a:t> More later ….</a:t>
            </a:r>
          </a:p>
          <a:p>
            <a:endParaRPr lang="en-US" altLang="en-US" sz="2400"/>
          </a:p>
        </p:txBody>
      </p:sp>
      <p:sp>
        <p:nvSpPr>
          <p:cNvPr id="33799" name="Rectangle 5">
            <a:extLst>
              <a:ext uri="{FF2B5EF4-FFF2-40B4-BE49-F238E27FC236}">
                <a16:creationId xmlns:a16="http://schemas.microsoft.com/office/drawing/2014/main" xmlns="" id="{35BE68A3-05A4-521F-B0EB-B81AAC9DA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1457326"/>
            <a:ext cx="7924800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Goal:</a:t>
            </a:r>
            <a:r>
              <a:rPr lang="en-US" altLang="en-US" sz="2400"/>
              <a:t> detect “errors” (e.g., flipped bits) in transmitted segment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>
            <a:extLst>
              <a:ext uri="{FF2B5EF4-FFF2-40B4-BE49-F238E27FC236}">
                <a16:creationId xmlns:a16="http://schemas.microsoft.com/office/drawing/2014/main" xmlns="" id="{5A352A1E-35CF-7498-9673-3B689B05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xmlns="" id="{94B6BDBB-EDEA-52BB-17BD-9653C89D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9E1468C2-EB12-4753-BC95-485B977BD6C1}" type="slidenum">
              <a:rPr lang="en-US" altLang="en-US" sz="1400">
                <a:latin typeface="Arial" panose="020B0604020202020204" pitchFamily="34" charset="0"/>
              </a:rPr>
              <a:pPr/>
              <a:t>38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xmlns="" id="{659DAA40-5BA7-19C8-F666-EE017DFC3E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Internet Checksum Example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xmlns="" id="{92FD544B-195B-B32F-B10A-4ED31A06C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066800"/>
            <a:ext cx="7772400" cy="2743200"/>
          </a:xfrm>
        </p:spPr>
        <p:txBody>
          <a:bodyPr/>
          <a:lstStyle/>
          <a:p>
            <a:r>
              <a:rPr lang="en-US" altLang="en-US" sz="2400"/>
              <a:t>Note</a:t>
            </a:r>
          </a:p>
          <a:p>
            <a:pPr lvl="1"/>
            <a:r>
              <a:rPr lang="en-US" altLang="en-US"/>
              <a:t>When adding numbers, a carryout from the most significant bit needs to be added to the result</a:t>
            </a:r>
          </a:p>
          <a:p>
            <a:pPr>
              <a:lnSpc>
                <a:spcPct val="130000"/>
              </a:lnSpc>
            </a:pPr>
            <a:r>
              <a:rPr lang="en-US" altLang="en-US" sz="2400"/>
              <a:t>Example: add two 16-bit integers</a:t>
            </a:r>
          </a:p>
        </p:txBody>
      </p:sp>
      <p:sp>
        <p:nvSpPr>
          <p:cNvPr id="34822" name="Text Box 4">
            <a:extLst>
              <a:ext uri="{FF2B5EF4-FFF2-40B4-BE49-F238E27FC236}">
                <a16:creationId xmlns:a16="http://schemas.microsoft.com/office/drawing/2014/main" xmlns="" id="{C270BD0C-95F2-21FF-AF28-A65A5C46D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981450"/>
            <a:ext cx="6400800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med"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 b="1">
                <a:solidFill>
                  <a:schemeClr val="bg1"/>
                </a:solidFill>
              </a:rPr>
              <a:t>1</a:t>
            </a:r>
            <a:r>
              <a:rPr lang="en-US" altLang="en-US" sz="2000" b="1"/>
              <a:t>  1  1  1  0  0  1  1  0  0  1  1  0  0  1  1  0</a:t>
            </a:r>
          </a:p>
          <a:p>
            <a:pPr algn="l"/>
            <a:r>
              <a:rPr lang="en-US" altLang="en-US" sz="2000" b="1">
                <a:solidFill>
                  <a:schemeClr val="bg1"/>
                </a:solidFill>
              </a:rPr>
              <a:t>1</a:t>
            </a:r>
            <a:r>
              <a:rPr lang="en-US" altLang="en-US" sz="2000" b="1"/>
              <a:t>  1  1  0  1  0  1  0  1  0  1  0  1  0  1  0  1</a:t>
            </a:r>
          </a:p>
          <a:p>
            <a:pPr algn="l">
              <a:lnSpc>
                <a:spcPct val="120000"/>
              </a:lnSpc>
            </a:pPr>
            <a:endParaRPr lang="en-US" altLang="en-US" sz="2000" b="1"/>
          </a:p>
          <a:p>
            <a:pPr algn="l"/>
            <a:r>
              <a:rPr lang="en-US" altLang="en-US" sz="2000" b="1"/>
              <a:t>1  1  0  1  1  1  0  1  1  1  0  1  1  1  0  1  1</a:t>
            </a:r>
          </a:p>
          <a:p>
            <a:pPr algn="l">
              <a:lnSpc>
                <a:spcPct val="120000"/>
              </a:lnSpc>
            </a:pPr>
            <a:endParaRPr lang="en-US" altLang="en-US" sz="2000" b="1"/>
          </a:p>
          <a:p>
            <a:pPr algn="l"/>
            <a:r>
              <a:rPr lang="en-US" altLang="en-US" sz="2000" b="1">
                <a:solidFill>
                  <a:schemeClr val="bg1"/>
                </a:solidFill>
              </a:rPr>
              <a:t>1</a:t>
            </a:r>
            <a:r>
              <a:rPr lang="en-US" altLang="en-US" sz="2000" b="1"/>
              <a:t>  1  0  1  1  1  0  1  1  1  0  1  1  1  1  0  0</a:t>
            </a:r>
          </a:p>
          <a:p>
            <a:pPr algn="l"/>
            <a:r>
              <a:rPr lang="en-US" altLang="en-US" sz="2000" b="1">
                <a:solidFill>
                  <a:schemeClr val="bg1"/>
                </a:solidFill>
              </a:rPr>
              <a:t>1</a:t>
            </a:r>
            <a:r>
              <a:rPr lang="en-US" altLang="en-US" sz="2000" b="1"/>
              <a:t>  0  1  0  0  0  1  0  0  0  1  0  0  0  0  1  1</a:t>
            </a:r>
            <a:endParaRPr lang="en-US" altLang="en-US" sz="2400" b="1"/>
          </a:p>
        </p:txBody>
      </p:sp>
      <p:sp>
        <p:nvSpPr>
          <p:cNvPr id="34823" name="Line 5">
            <a:extLst>
              <a:ext uri="{FF2B5EF4-FFF2-40B4-BE49-F238E27FC236}">
                <a16:creationId xmlns:a16="http://schemas.microsoft.com/office/drawing/2014/main" xmlns="" id="{B54F97CC-7107-69FF-C360-0952388E59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4808538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4" name="Oval 6">
            <a:extLst>
              <a:ext uri="{FF2B5EF4-FFF2-40B4-BE49-F238E27FC236}">
                <a16:creationId xmlns:a16="http://schemas.microsoft.com/office/drawing/2014/main" xmlns="" id="{F63AC6C3-2B42-F3CB-4207-B6399B477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98475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4825" name="Text Box 7">
            <a:extLst>
              <a:ext uri="{FF2B5EF4-FFF2-40B4-BE49-F238E27FC236}">
                <a16:creationId xmlns:a16="http://schemas.microsoft.com/office/drawing/2014/main" xmlns="" id="{B4C4D5D2-BE45-4AE5-E4CC-CCBDC79F9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4940301"/>
            <a:ext cx="1546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med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wraparound</a:t>
            </a:r>
          </a:p>
        </p:txBody>
      </p:sp>
      <p:sp>
        <p:nvSpPr>
          <p:cNvPr id="34826" name="Text Box 8">
            <a:extLst>
              <a:ext uri="{FF2B5EF4-FFF2-40B4-BE49-F238E27FC236}">
                <a16:creationId xmlns:a16="http://schemas.microsoft.com/office/drawing/2014/main" xmlns="" id="{CCB7F6DB-373A-B97C-2016-19AA52410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9" y="5548314"/>
            <a:ext cx="636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med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sum</a:t>
            </a:r>
          </a:p>
        </p:txBody>
      </p:sp>
      <p:sp>
        <p:nvSpPr>
          <p:cNvPr id="34827" name="Text Box 9">
            <a:extLst>
              <a:ext uri="{FF2B5EF4-FFF2-40B4-BE49-F238E27FC236}">
                <a16:creationId xmlns:a16="http://schemas.microsoft.com/office/drawing/2014/main" xmlns="" id="{D01C200E-ADEA-C144-C75A-B273E993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3" y="5900739"/>
            <a:ext cx="13192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med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checksum</a:t>
            </a:r>
          </a:p>
        </p:txBody>
      </p:sp>
      <p:sp>
        <p:nvSpPr>
          <p:cNvPr id="34828" name="Line 10">
            <a:extLst>
              <a:ext uri="{FF2B5EF4-FFF2-40B4-BE49-F238E27FC236}">
                <a16:creationId xmlns:a16="http://schemas.microsoft.com/office/drawing/2014/main" xmlns="" id="{A83780EE-E57F-CCCA-84E1-4C982373E59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5527675"/>
            <a:ext cx="6477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4829" name="Freeform 11">
            <a:extLst>
              <a:ext uri="{FF2B5EF4-FFF2-40B4-BE49-F238E27FC236}">
                <a16:creationId xmlns:a16="http://schemas.microsoft.com/office/drawing/2014/main" xmlns="" id="{3233826F-350B-8343-7D80-21B8E618B15F}"/>
              </a:ext>
            </a:extLst>
          </p:cNvPr>
          <p:cNvSpPr>
            <a:spLocks/>
          </p:cNvSpPr>
          <p:nvPr/>
        </p:nvSpPr>
        <p:spPr bwMode="auto">
          <a:xfrm>
            <a:off x="3590925" y="5291139"/>
            <a:ext cx="6013450" cy="92075"/>
          </a:xfrm>
          <a:custGeom>
            <a:avLst/>
            <a:gdLst>
              <a:gd name="T0" fmla="*/ 0 w 3788"/>
              <a:gd name="T1" fmla="*/ 0 h 58"/>
              <a:gd name="T2" fmla="*/ 0 w 3788"/>
              <a:gd name="T3" fmla="*/ 2147483647 h 58"/>
              <a:gd name="T4" fmla="*/ 2147483647 w 3788"/>
              <a:gd name="T5" fmla="*/ 2147483647 h 58"/>
              <a:gd name="T6" fmla="*/ 0 60000 65536"/>
              <a:gd name="T7" fmla="*/ 0 60000 65536"/>
              <a:gd name="T8" fmla="*/ 0 60000 65536"/>
              <a:gd name="T9" fmla="*/ 0 w 3788"/>
              <a:gd name="T10" fmla="*/ 0 h 58"/>
              <a:gd name="T11" fmla="*/ 3788 w 3788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88" h="5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 type="none" w="sm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5">
            <a:extLst>
              <a:ext uri="{FF2B5EF4-FFF2-40B4-BE49-F238E27FC236}">
                <a16:creationId xmlns:a16="http://schemas.microsoft.com/office/drawing/2014/main" xmlns="" id="{E1F5CABE-2E13-F59D-64EF-0964B9ED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5843" name="Slide Number Placeholder 6">
            <a:extLst>
              <a:ext uri="{FF2B5EF4-FFF2-40B4-BE49-F238E27FC236}">
                <a16:creationId xmlns:a16="http://schemas.microsoft.com/office/drawing/2014/main" xmlns="" id="{59F04EBF-392D-651A-3B44-224F15F0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159412FA-7F40-41F9-A614-B346E9DB63D3}" type="slidenum">
              <a:rPr lang="en-US" altLang="en-US" sz="1400">
                <a:latin typeface="Arial" panose="020B0604020202020204" pitchFamily="34" charset="0"/>
              </a:rPr>
              <a:pPr/>
              <a:t>39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xmlns="" id="{6D8259E2-D446-B9E8-920A-26A95C96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3 outline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xmlns="" id="{70787652-F881-AF62-20E4-A0A487CD55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 sz="2400"/>
              <a:t>3.1 Transport-layer services</a:t>
            </a:r>
          </a:p>
          <a:p>
            <a:r>
              <a:rPr lang="en-US" altLang="en-US" sz="2400"/>
              <a:t>3.2 Multiplexing and demultiplexing</a:t>
            </a:r>
          </a:p>
          <a:p>
            <a:r>
              <a:rPr lang="en-US" altLang="en-US" sz="2400"/>
              <a:t>3.3 Connectionless transport: UDP</a:t>
            </a:r>
          </a:p>
          <a:p>
            <a:r>
              <a:rPr lang="en-US" altLang="en-US" sz="2400">
                <a:solidFill>
                  <a:srgbClr val="FF0000"/>
                </a:solidFill>
              </a:rPr>
              <a:t>3.4 Principles of reliable data transfer</a:t>
            </a:r>
            <a:endParaRPr lang="en-US" altLang="en-US" sz="2400"/>
          </a:p>
        </p:txBody>
      </p:sp>
      <p:sp>
        <p:nvSpPr>
          <p:cNvPr id="35846" name="Rectangle 4">
            <a:extLst>
              <a:ext uri="{FF2B5EF4-FFF2-40B4-BE49-F238E27FC236}">
                <a16:creationId xmlns:a16="http://schemas.microsoft.com/office/drawing/2014/main" xmlns="" id="{DE837039-CF5A-6ADA-BC3F-44355ACB0DF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1" y="1600200"/>
            <a:ext cx="4054475" cy="4648200"/>
          </a:xfrm>
        </p:spPr>
        <p:txBody>
          <a:bodyPr/>
          <a:lstStyle/>
          <a:p>
            <a:r>
              <a:rPr lang="en-US" altLang="en-US" sz="2400"/>
              <a:t>3.5 Connection-oriented transport: TCP</a:t>
            </a:r>
          </a:p>
          <a:p>
            <a:pPr lvl="1"/>
            <a:r>
              <a:rPr lang="en-US" altLang="en-US" sz="2000"/>
              <a:t>segment structure</a:t>
            </a:r>
          </a:p>
          <a:p>
            <a:pPr lvl="1"/>
            <a:r>
              <a:rPr lang="en-US" altLang="en-US" sz="2000"/>
              <a:t>reliable data transfer</a:t>
            </a:r>
          </a:p>
          <a:p>
            <a:pPr lvl="1"/>
            <a:r>
              <a:rPr lang="en-US" altLang="en-US" sz="2000"/>
              <a:t>flow control</a:t>
            </a:r>
          </a:p>
          <a:p>
            <a:pPr lvl="1"/>
            <a:r>
              <a:rPr lang="en-US" altLang="en-US" sz="2000"/>
              <a:t>connection management</a:t>
            </a:r>
          </a:p>
          <a:p>
            <a:r>
              <a:rPr lang="en-US" altLang="en-US" sz="2400"/>
              <a:t>3.6 Principles of congestion control</a:t>
            </a:r>
          </a:p>
          <a:p>
            <a:r>
              <a:rPr lang="en-US" altLang="en-US" sz="2400"/>
              <a:t>3.7 TCP congestion control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5">
            <a:extLst>
              <a:ext uri="{FF2B5EF4-FFF2-40B4-BE49-F238E27FC236}">
                <a16:creationId xmlns:a16="http://schemas.microsoft.com/office/drawing/2014/main" xmlns="" id="{500CEFD7-A3CA-9FAA-F927-AE30E6574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6867" name="Slide Number Placeholder 6">
            <a:extLst>
              <a:ext uri="{FF2B5EF4-FFF2-40B4-BE49-F238E27FC236}">
                <a16:creationId xmlns:a16="http://schemas.microsoft.com/office/drawing/2014/main" xmlns="" id="{5FDB4628-17B4-E296-9BDA-12164C69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D9A7CB79-EE7F-4AD6-B8CE-74D82776AA43}" type="slidenum">
              <a:rPr lang="en-US" altLang="en-US" sz="1400">
                <a:latin typeface="Arial" panose="020B0604020202020204" pitchFamily="34" charset="0"/>
              </a:rPr>
              <a:pPr/>
              <a:t>40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xmlns="" id="{811F335F-30CE-9B43-B61E-CD6D836A58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Principles of Reliable data transfer</a:t>
            </a:r>
            <a:endParaRPr lang="en-US" altLang="en-US"/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xmlns="" id="{4B975B22-AF9E-F28F-D017-4D77DF326CE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333500"/>
            <a:ext cx="7658100" cy="838200"/>
          </a:xfrm>
        </p:spPr>
        <p:txBody>
          <a:bodyPr/>
          <a:lstStyle/>
          <a:p>
            <a:r>
              <a:rPr lang="en-US" altLang="en-US" sz="2000"/>
              <a:t>important in app., transport, link layers</a:t>
            </a:r>
          </a:p>
          <a:p>
            <a:r>
              <a:rPr lang="en-US" altLang="en-US" sz="2000"/>
              <a:t>top-10 list of important networking topics!</a:t>
            </a:r>
          </a:p>
          <a:p>
            <a:endParaRPr lang="en-US" altLang="en-US" sz="2400"/>
          </a:p>
        </p:txBody>
      </p:sp>
      <p:sp>
        <p:nvSpPr>
          <p:cNvPr id="36870" name="Rectangle 4">
            <a:extLst>
              <a:ext uri="{FF2B5EF4-FFF2-40B4-BE49-F238E27FC236}">
                <a16:creationId xmlns:a16="http://schemas.microsoft.com/office/drawing/2014/main" xmlns="" id="{E48E20AE-02E6-7AE0-9C6E-D398AFF30C4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28826" y="5619751"/>
            <a:ext cx="7781925" cy="466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000"/>
              <a:t>characteristics of unreliable channel will determine complexity of reliable data transfer protocol (rdt)</a:t>
            </a:r>
            <a:endParaRPr lang="en-US" altLang="en-US" sz="2400"/>
          </a:p>
        </p:txBody>
      </p:sp>
      <p:pic>
        <p:nvPicPr>
          <p:cNvPr id="36871" name="Picture 5" descr="rdt_service">
            <a:extLst>
              <a:ext uri="{FF2B5EF4-FFF2-40B4-BE49-F238E27FC236}">
                <a16:creationId xmlns:a16="http://schemas.microsoft.com/office/drawing/2014/main" xmlns="" id="{BBAD263E-9967-2038-9792-E0581CD70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1" y="2114550"/>
            <a:ext cx="76231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2" name="Rectangle 7">
            <a:extLst>
              <a:ext uri="{FF2B5EF4-FFF2-40B4-BE49-F238E27FC236}">
                <a16:creationId xmlns:a16="http://schemas.microsoft.com/office/drawing/2014/main" xmlns="" id="{FA798A13-3BE6-6FF1-534A-9798746E0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276600"/>
            <a:ext cx="4800600" cy="2209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oter Placeholder 5">
            <a:extLst>
              <a:ext uri="{FF2B5EF4-FFF2-40B4-BE49-F238E27FC236}">
                <a16:creationId xmlns:a16="http://schemas.microsoft.com/office/drawing/2014/main" xmlns="" id="{63E815DE-8587-07FF-6CA8-6232C274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7891" name="Slide Number Placeholder 6">
            <a:extLst>
              <a:ext uri="{FF2B5EF4-FFF2-40B4-BE49-F238E27FC236}">
                <a16:creationId xmlns:a16="http://schemas.microsoft.com/office/drawing/2014/main" xmlns="" id="{7129C601-4876-0282-1F88-B414DC3D2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C9F70600-DE7C-4BE4-8889-C1EEA19C49EA}" type="slidenum">
              <a:rPr lang="en-US" altLang="en-US" sz="1400">
                <a:latin typeface="Arial" panose="020B0604020202020204" pitchFamily="34" charset="0"/>
              </a:rPr>
              <a:pPr/>
              <a:t>41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xmlns="" id="{8D697DBA-6EC6-25AB-7621-57595B332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Principles of Reliable data transfer</a:t>
            </a:r>
            <a:endParaRPr lang="en-US" altLang="en-US"/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xmlns="" id="{ADCF9F04-D60F-B7AF-95A8-5453FB08DE1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333500"/>
            <a:ext cx="7658100" cy="838200"/>
          </a:xfrm>
        </p:spPr>
        <p:txBody>
          <a:bodyPr/>
          <a:lstStyle/>
          <a:p>
            <a:r>
              <a:rPr lang="en-US" altLang="en-US" sz="2000"/>
              <a:t>important in app., transport, link layers</a:t>
            </a:r>
          </a:p>
          <a:p>
            <a:r>
              <a:rPr lang="en-US" altLang="en-US" sz="2000"/>
              <a:t>top-10 list of important networking topics!</a:t>
            </a:r>
          </a:p>
          <a:p>
            <a:endParaRPr lang="en-US" altLang="en-US" sz="2400"/>
          </a:p>
        </p:txBody>
      </p:sp>
      <p:sp>
        <p:nvSpPr>
          <p:cNvPr id="37894" name="Rectangle 4">
            <a:extLst>
              <a:ext uri="{FF2B5EF4-FFF2-40B4-BE49-F238E27FC236}">
                <a16:creationId xmlns:a16="http://schemas.microsoft.com/office/drawing/2014/main" xmlns="" id="{EA0383C3-9A83-6CB0-A650-4A034A17412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28826" y="5619751"/>
            <a:ext cx="7781925" cy="466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000"/>
              <a:t>characteristics of unreliable channel will determine complexity of reliable data transfer protocol (rdt)</a:t>
            </a:r>
            <a:endParaRPr lang="en-US" altLang="en-US" sz="2400"/>
          </a:p>
        </p:txBody>
      </p:sp>
      <p:pic>
        <p:nvPicPr>
          <p:cNvPr id="37895" name="Picture 5" descr="rdt_service">
            <a:extLst>
              <a:ext uri="{FF2B5EF4-FFF2-40B4-BE49-F238E27FC236}">
                <a16:creationId xmlns:a16="http://schemas.microsoft.com/office/drawing/2014/main" xmlns="" id="{6092ECCB-4587-6319-5166-92235424D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1" y="2114550"/>
            <a:ext cx="76231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6" name="Rectangle 6">
            <a:extLst>
              <a:ext uri="{FF2B5EF4-FFF2-40B4-BE49-F238E27FC236}">
                <a16:creationId xmlns:a16="http://schemas.microsoft.com/office/drawing/2014/main" xmlns="" id="{EFAAFDE5-1DD5-676F-FB48-C6D138AC9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3352800"/>
            <a:ext cx="4648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Footer Placeholder 5">
            <a:extLst>
              <a:ext uri="{FF2B5EF4-FFF2-40B4-BE49-F238E27FC236}">
                <a16:creationId xmlns:a16="http://schemas.microsoft.com/office/drawing/2014/main" xmlns="" id="{05F320F6-B459-2357-A9E7-CEAEC025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8915" name="Slide Number Placeholder 6">
            <a:extLst>
              <a:ext uri="{FF2B5EF4-FFF2-40B4-BE49-F238E27FC236}">
                <a16:creationId xmlns:a16="http://schemas.microsoft.com/office/drawing/2014/main" xmlns="" id="{80D06BE5-5C4F-CC53-035C-AE5A82D6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BFA9B8E2-6849-4EDA-B9DB-3A5A7AAFAB91}" type="slidenum">
              <a:rPr lang="en-US" altLang="en-US" sz="1400">
                <a:latin typeface="Arial" panose="020B0604020202020204" pitchFamily="34" charset="0"/>
              </a:rPr>
              <a:pPr/>
              <a:t>42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xmlns="" id="{8B0DB7A7-4233-BEAA-A214-61CCB06D9A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Principles of Reliable data transfer</a:t>
            </a:r>
            <a:endParaRPr lang="en-US" altLang="en-US"/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xmlns="" id="{3C2D24A3-5F4B-5235-3654-C8FB76DB30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333500"/>
            <a:ext cx="7658100" cy="838200"/>
          </a:xfrm>
        </p:spPr>
        <p:txBody>
          <a:bodyPr/>
          <a:lstStyle/>
          <a:p>
            <a:r>
              <a:rPr lang="en-US" altLang="en-US" sz="2000"/>
              <a:t>important in app., transport, link layers</a:t>
            </a:r>
          </a:p>
          <a:p>
            <a:r>
              <a:rPr lang="en-US" altLang="en-US" sz="2000"/>
              <a:t>top-10 list of important networking topics!</a:t>
            </a:r>
          </a:p>
          <a:p>
            <a:endParaRPr lang="en-US" altLang="en-US" sz="2400"/>
          </a:p>
        </p:txBody>
      </p:sp>
      <p:sp>
        <p:nvSpPr>
          <p:cNvPr id="38918" name="Rectangle 4">
            <a:extLst>
              <a:ext uri="{FF2B5EF4-FFF2-40B4-BE49-F238E27FC236}">
                <a16:creationId xmlns:a16="http://schemas.microsoft.com/office/drawing/2014/main" xmlns="" id="{084A8A07-A728-1770-5C3A-9DD940C4098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028826" y="5619751"/>
            <a:ext cx="7781925" cy="466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2000"/>
              <a:t>characteristics of unreliable channel will determine complexity of reliable data transfer protocol (rdt)</a:t>
            </a:r>
            <a:endParaRPr lang="en-US" altLang="en-US" sz="2400"/>
          </a:p>
        </p:txBody>
      </p:sp>
      <p:pic>
        <p:nvPicPr>
          <p:cNvPr id="38919" name="Picture 5" descr="rdt_service">
            <a:extLst>
              <a:ext uri="{FF2B5EF4-FFF2-40B4-BE49-F238E27FC236}">
                <a16:creationId xmlns:a16="http://schemas.microsoft.com/office/drawing/2014/main" xmlns="" id="{859E8853-81CD-244C-10B2-5AC2081B9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1" y="2114550"/>
            <a:ext cx="76231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5">
            <a:extLst>
              <a:ext uri="{FF2B5EF4-FFF2-40B4-BE49-F238E27FC236}">
                <a16:creationId xmlns:a16="http://schemas.microsoft.com/office/drawing/2014/main" xmlns="" id="{F12E0504-D987-1C6D-BCF2-FD6B1E879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9939" name="Slide Number Placeholder 6">
            <a:extLst>
              <a:ext uri="{FF2B5EF4-FFF2-40B4-BE49-F238E27FC236}">
                <a16:creationId xmlns:a16="http://schemas.microsoft.com/office/drawing/2014/main" xmlns="" id="{67F40B49-65DB-6B1E-EBEA-5510D625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BD944383-7132-4921-BA29-5003A08E7F75}" type="slidenum">
              <a:rPr lang="en-US" altLang="en-US" sz="1400">
                <a:latin typeface="Arial" panose="020B0604020202020204" pitchFamily="34" charset="0"/>
              </a:rPr>
              <a:pPr/>
              <a:t>43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xmlns="" id="{6B58792B-253F-7854-2C81-296FDC7B7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Reliable data transfer: getting started</a:t>
            </a:r>
            <a:endParaRPr lang="en-US" altLang="en-US"/>
          </a:p>
        </p:txBody>
      </p:sp>
      <p:pic>
        <p:nvPicPr>
          <p:cNvPr id="39941" name="Picture 3" descr="rdt_part2">
            <a:extLst>
              <a:ext uri="{FF2B5EF4-FFF2-40B4-BE49-F238E27FC236}">
                <a16:creationId xmlns:a16="http://schemas.microsoft.com/office/drawing/2014/main" xmlns="" id="{0AA460B4-CE9A-A207-4021-C58F2E8BB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2652713"/>
            <a:ext cx="5969000" cy="238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Text Box 4">
            <a:extLst>
              <a:ext uri="{FF2B5EF4-FFF2-40B4-BE49-F238E27FC236}">
                <a16:creationId xmlns:a16="http://schemas.microsoft.com/office/drawing/2014/main" xmlns="" id="{B2ACDE9E-80DF-B0DF-1AB8-1B1ECC651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4" y="3113089"/>
            <a:ext cx="84510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>
                <a:solidFill>
                  <a:schemeClr val="accent2"/>
                </a:solidFill>
              </a:rPr>
              <a:t>send</a:t>
            </a:r>
          </a:p>
          <a:p>
            <a:r>
              <a:rPr lang="en-US" altLang="en-US" sz="2400">
                <a:solidFill>
                  <a:schemeClr val="accent2"/>
                </a:solidFill>
              </a:rPr>
              <a:t>side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9943" name="Text Box 5">
            <a:extLst>
              <a:ext uri="{FF2B5EF4-FFF2-40B4-BE49-F238E27FC236}">
                <a16:creationId xmlns:a16="http://schemas.microsoft.com/office/drawing/2014/main" xmlns="" id="{CD9C4C9E-32FB-D568-153D-05390A3C9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1564" y="3122614"/>
            <a:ext cx="123142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>
                <a:solidFill>
                  <a:schemeClr val="accent2"/>
                </a:solidFill>
              </a:rPr>
              <a:t>receive</a:t>
            </a:r>
          </a:p>
          <a:p>
            <a:r>
              <a:rPr lang="en-US" altLang="en-US" sz="2400">
                <a:solidFill>
                  <a:schemeClr val="accent2"/>
                </a:solidFill>
              </a:rPr>
              <a:t>side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xmlns="" id="{688D99EC-2BD7-F8FE-ED88-BF61439A30F2}"/>
              </a:ext>
            </a:extLst>
          </p:cNvPr>
          <p:cNvGrpSpPr>
            <a:grpSpLocks/>
          </p:cNvGrpSpPr>
          <p:nvPr/>
        </p:nvGrpSpPr>
        <p:grpSpPr bwMode="auto">
          <a:xfrm>
            <a:off x="1751014" y="1460500"/>
            <a:ext cx="3965575" cy="1416050"/>
            <a:chOff x="143" y="920"/>
            <a:chExt cx="2498" cy="892"/>
          </a:xfrm>
        </p:grpSpPr>
        <p:sp>
          <p:nvSpPr>
            <p:cNvPr id="39960" name="Text Box 7">
              <a:extLst>
                <a:ext uri="{FF2B5EF4-FFF2-40B4-BE49-F238E27FC236}">
                  <a16:creationId xmlns:a16="http://schemas.microsoft.com/office/drawing/2014/main" xmlns="" id="{EAAB7E7E-0BF5-CCF1-A5DA-636E68F31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" y="920"/>
              <a:ext cx="249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rdt_send():</a:t>
              </a:r>
              <a:r>
                <a:rPr lang="en-US" altLang="en-US" sz="1800">
                  <a:latin typeface="Times New Roman" panose="02020603050405020304" pitchFamily="18" charset="0"/>
                </a:rPr>
                <a:t> </a:t>
              </a:r>
              <a:r>
                <a:rPr lang="en-US" altLang="en-US" sz="1800"/>
                <a:t>called from above, (e.g., by app.). Passed data to </a:t>
              </a:r>
            </a:p>
            <a:p>
              <a:r>
                <a:rPr lang="en-US" altLang="en-US" sz="1800"/>
                <a:t>deliver to receiver upper layer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9961" name="Group 8">
              <a:extLst>
                <a:ext uri="{FF2B5EF4-FFF2-40B4-BE49-F238E27FC236}">
                  <a16:creationId xmlns:a16="http://schemas.microsoft.com/office/drawing/2014/main" xmlns="" id="{B0D7A6B6-827F-8794-9836-CF2C548F17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30"/>
              <a:ext cx="2370" cy="882"/>
              <a:chOff x="240" y="942"/>
              <a:chExt cx="2370" cy="882"/>
            </a:xfrm>
          </p:grpSpPr>
          <p:sp>
            <p:nvSpPr>
              <p:cNvPr id="39962" name="Line 9">
                <a:extLst>
                  <a:ext uri="{FF2B5EF4-FFF2-40B4-BE49-F238E27FC236}">
                    <a16:creationId xmlns:a16="http://schemas.microsoft.com/office/drawing/2014/main" xmlns="" id="{82C3C3B1-E129-B8E2-4F7B-8772B71C5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2" y="1500"/>
                <a:ext cx="174" cy="32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963" name="Rectangle 10">
                <a:extLst>
                  <a:ext uri="{FF2B5EF4-FFF2-40B4-BE49-F238E27FC236}">
                    <a16:creationId xmlns:a16="http://schemas.microsoft.com/office/drawing/2014/main" xmlns="" id="{1ED4A03F-AC03-B5F4-FDCF-3427F48EC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" y="94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xmlns="" id="{A57DC21A-95FC-10F9-CEA3-FFF13A0C6D97}"/>
              </a:ext>
            </a:extLst>
          </p:cNvPr>
          <p:cNvGrpSpPr>
            <a:grpSpLocks/>
          </p:cNvGrpSpPr>
          <p:nvPr/>
        </p:nvGrpSpPr>
        <p:grpSpPr bwMode="auto">
          <a:xfrm>
            <a:off x="1800226" y="4381500"/>
            <a:ext cx="3762375" cy="1862138"/>
            <a:chOff x="174" y="2760"/>
            <a:chExt cx="2370" cy="1173"/>
          </a:xfrm>
        </p:grpSpPr>
        <p:sp>
          <p:nvSpPr>
            <p:cNvPr id="39956" name="Text Box 12">
              <a:extLst>
                <a:ext uri="{FF2B5EF4-FFF2-40B4-BE49-F238E27FC236}">
                  <a16:creationId xmlns:a16="http://schemas.microsoft.com/office/drawing/2014/main" xmlns="" id="{1BF3BEA8-AE43-D1CB-FB37-EEC774225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" y="3356"/>
              <a:ext cx="2144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udt_send():</a:t>
              </a:r>
              <a:r>
                <a:rPr lang="en-US" altLang="en-US" sz="1800">
                  <a:latin typeface="Times New Roman" panose="02020603050405020304" pitchFamily="18" charset="0"/>
                </a:rPr>
                <a:t> </a:t>
              </a:r>
              <a:r>
                <a:rPr lang="en-US" altLang="en-US" sz="1800"/>
                <a:t>called by rdt,</a:t>
              </a:r>
            </a:p>
            <a:p>
              <a:r>
                <a:rPr lang="en-US" altLang="en-US" sz="1800"/>
                <a:t>to transfer packet over </a:t>
              </a:r>
            </a:p>
            <a:p>
              <a:r>
                <a:rPr lang="en-US" altLang="en-US" sz="1800"/>
                <a:t>unreliable channel to receiver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9957" name="Group 13">
              <a:extLst>
                <a:ext uri="{FF2B5EF4-FFF2-40B4-BE49-F238E27FC236}">
                  <a16:creationId xmlns:a16="http://schemas.microsoft.com/office/drawing/2014/main" xmlns="" id="{A035A1EF-C0CD-6933-6189-05EF52D6DE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" y="2760"/>
              <a:ext cx="2370" cy="1170"/>
              <a:chOff x="174" y="2760"/>
              <a:chExt cx="2370" cy="1170"/>
            </a:xfrm>
          </p:grpSpPr>
          <p:sp>
            <p:nvSpPr>
              <p:cNvPr id="39958" name="Line 14">
                <a:extLst>
                  <a:ext uri="{FF2B5EF4-FFF2-40B4-BE49-F238E27FC236}">
                    <a16:creationId xmlns:a16="http://schemas.microsoft.com/office/drawing/2014/main" xmlns="" id="{8C3ED6A5-78BD-65CC-2665-46FE8DA0C1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2" y="2760"/>
                <a:ext cx="228" cy="606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959" name="Rectangle 15">
                <a:extLst>
                  <a:ext uri="{FF2B5EF4-FFF2-40B4-BE49-F238E27FC236}">
                    <a16:creationId xmlns:a16="http://schemas.microsoft.com/office/drawing/2014/main" xmlns="" id="{0639F175-A1AD-F479-66FD-79F3F110A6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" y="3372"/>
                <a:ext cx="2370" cy="55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grpSp>
        <p:nvGrpSpPr>
          <p:cNvPr id="6" name="Group 16">
            <a:extLst>
              <a:ext uri="{FF2B5EF4-FFF2-40B4-BE49-F238E27FC236}">
                <a16:creationId xmlns:a16="http://schemas.microsoft.com/office/drawing/2014/main" xmlns="" id="{33080709-0209-012D-DBE1-E65B6DFB8656}"/>
              </a:ext>
            </a:extLst>
          </p:cNvPr>
          <p:cNvGrpSpPr>
            <a:grpSpLocks/>
          </p:cNvGrpSpPr>
          <p:nvPr/>
        </p:nvGrpSpPr>
        <p:grpSpPr bwMode="auto">
          <a:xfrm>
            <a:off x="6446839" y="4362451"/>
            <a:ext cx="3965575" cy="1647825"/>
            <a:chOff x="3101" y="2748"/>
            <a:chExt cx="2498" cy="1038"/>
          </a:xfrm>
        </p:grpSpPr>
        <p:sp>
          <p:nvSpPr>
            <p:cNvPr id="39952" name="Text Box 17">
              <a:extLst>
                <a:ext uri="{FF2B5EF4-FFF2-40B4-BE49-F238E27FC236}">
                  <a16:creationId xmlns:a16="http://schemas.microsoft.com/office/drawing/2014/main" xmlns="" id="{205E30AD-B373-6663-7136-B35BE43829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1" y="3368"/>
              <a:ext cx="249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rdt_rcv():</a:t>
              </a:r>
              <a:r>
                <a:rPr lang="en-US" altLang="en-US" sz="1800">
                  <a:latin typeface="Times New Roman" panose="02020603050405020304" pitchFamily="18" charset="0"/>
                </a:rPr>
                <a:t> </a:t>
              </a:r>
              <a:r>
                <a:rPr lang="en-US" altLang="en-US" sz="1800"/>
                <a:t>called when packet arrives on rcv-side of channel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9953" name="Group 18">
              <a:extLst>
                <a:ext uri="{FF2B5EF4-FFF2-40B4-BE49-F238E27FC236}">
                  <a16:creationId xmlns:a16="http://schemas.microsoft.com/office/drawing/2014/main" xmlns="" id="{4021EFC7-0E18-521C-51D9-8FF54D0B79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2" y="2748"/>
              <a:ext cx="2370" cy="1038"/>
              <a:chOff x="3162" y="2748"/>
              <a:chExt cx="2370" cy="1038"/>
            </a:xfrm>
          </p:grpSpPr>
          <p:sp>
            <p:nvSpPr>
              <p:cNvPr id="39954" name="Line 19">
                <a:extLst>
                  <a:ext uri="{FF2B5EF4-FFF2-40B4-BE49-F238E27FC236}">
                    <a16:creationId xmlns:a16="http://schemas.microsoft.com/office/drawing/2014/main" xmlns="" id="{C5A9927C-D94F-069E-AB6B-779D2FFC8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596" y="2748"/>
                <a:ext cx="300" cy="63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955" name="Rectangle 20">
                <a:extLst>
                  <a:ext uri="{FF2B5EF4-FFF2-40B4-BE49-F238E27FC236}">
                    <a16:creationId xmlns:a16="http://schemas.microsoft.com/office/drawing/2014/main" xmlns="" id="{8D49677A-1900-EC14-EC3B-C1E9FF341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2" y="3390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grpSp>
        <p:nvGrpSpPr>
          <p:cNvPr id="8" name="Group 21">
            <a:extLst>
              <a:ext uri="{FF2B5EF4-FFF2-40B4-BE49-F238E27FC236}">
                <a16:creationId xmlns:a16="http://schemas.microsoft.com/office/drawing/2014/main" xmlns="" id="{C58C000F-3348-F7B6-2FCB-D871B17388BF}"/>
              </a:ext>
            </a:extLst>
          </p:cNvPr>
          <p:cNvGrpSpPr>
            <a:grpSpLocks/>
          </p:cNvGrpSpPr>
          <p:nvPr/>
        </p:nvGrpSpPr>
        <p:grpSpPr bwMode="auto">
          <a:xfrm>
            <a:off x="6505576" y="1470026"/>
            <a:ext cx="3762375" cy="1349375"/>
            <a:chOff x="3138" y="926"/>
            <a:chExt cx="2370" cy="850"/>
          </a:xfrm>
        </p:grpSpPr>
        <p:sp>
          <p:nvSpPr>
            <p:cNvPr id="39948" name="Text Box 22">
              <a:extLst>
                <a:ext uri="{FF2B5EF4-FFF2-40B4-BE49-F238E27FC236}">
                  <a16:creationId xmlns:a16="http://schemas.microsoft.com/office/drawing/2014/main" xmlns="" id="{5573C606-9C8E-1607-F9BB-1D45B4A04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926"/>
              <a:ext cx="207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800" b="1">
                  <a:solidFill>
                    <a:srgbClr val="FF0000"/>
                  </a:solidFill>
                  <a:latin typeface="Courier New" panose="02070309020205020404" pitchFamily="49" charset="0"/>
                </a:rPr>
                <a:t>deliver_data():</a:t>
              </a:r>
              <a:r>
                <a:rPr lang="en-US" altLang="en-US" sz="1800">
                  <a:latin typeface="Times New Roman" panose="02020603050405020304" pitchFamily="18" charset="0"/>
                </a:rPr>
                <a:t> </a:t>
              </a:r>
              <a:r>
                <a:rPr lang="en-US" altLang="en-US" sz="1800"/>
                <a:t>called by </a:t>
              </a:r>
              <a:r>
                <a:rPr lang="en-US" altLang="en-US" sz="1800" b="1">
                  <a:latin typeface="Courier New" panose="02070309020205020404" pitchFamily="49" charset="0"/>
                </a:rPr>
                <a:t>rdt</a:t>
              </a:r>
              <a:r>
                <a:rPr lang="en-US" altLang="en-US" sz="1800"/>
                <a:t> to deliver data to upper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39949" name="Group 23">
              <a:extLst>
                <a:ext uri="{FF2B5EF4-FFF2-40B4-BE49-F238E27FC236}">
                  <a16:creationId xmlns:a16="http://schemas.microsoft.com/office/drawing/2014/main" xmlns="" id="{CDCF55AC-CC84-F6F1-54C7-A32CFD477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8" y="942"/>
              <a:ext cx="2370" cy="834"/>
              <a:chOff x="3138" y="942"/>
              <a:chExt cx="2370" cy="834"/>
            </a:xfrm>
          </p:grpSpPr>
          <p:sp>
            <p:nvSpPr>
              <p:cNvPr id="39950" name="Line 24">
                <a:extLst>
                  <a:ext uri="{FF2B5EF4-FFF2-40B4-BE49-F238E27FC236}">
                    <a16:creationId xmlns:a16="http://schemas.microsoft.com/office/drawing/2014/main" xmlns="" id="{4F46EA31-47C2-D1C9-00A2-882428CE7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60" y="1344"/>
                <a:ext cx="150" cy="432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951" name="Rectangle 25">
                <a:extLst>
                  <a:ext uri="{FF2B5EF4-FFF2-40B4-BE49-F238E27FC236}">
                    <a16:creationId xmlns:a16="http://schemas.microsoft.com/office/drawing/2014/main" xmlns="" id="{39FB856C-EBA7-C134-D3F3-1AC8CD2BB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942"/>
                <a:ext cx="2370" cy="396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Footer Placeholder 5">
            <a:extLst>
              <a:ext uri="{FF2B5EF4-FFF2-40B4-BE49-F238E27FC236}">
                <a16:creationId xmlns:a16="http://schemas.microsoft.com/office/drawing/2014/main" xmlns="" id="{695882C4-6C6D-2332-9234-FB1E13E9F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0963" name="Slide Number Placeholder 6">
            <a:extLst>
              <a:ext uri="{FF2B5EF4-FFF2-40B4-BE49-F238E27FC236}">
                <a16:creationId xmlns:a16="http://schemas.microsoft.com/office/drawing/2014/main" xmlns="" id="{3AE2181E-CE0C-F189-A056-7FF16389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4EDD813F-2F55-4554-AD53-630249E7CF54}" type="slidenum">
              <a:rPr lang="en-US" altLang="en-US" sz="1400">
                <a:latin typeface="Arial" panose="020B0604020202020204" pitchFamily="34" charset="0"/>
              </a:rPr>
              <a:pPr/>
              <a:t>44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xmlns="" id="{7A6E4F63-2FC3-165C-38CB-A8ADCF99D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Reliable data transfer: getting started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xmlns="" id="{3657B6D0-47B0-53B7-9A8F-E3E7CDCDBE4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38350" y="1304925"/>
            <a:ext cx="7258050" cy="3352800"/>
          </a:xfrm>
          <a:noFill/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We’ll:</a:t>
            </a:r>
            <a:endParaRPr lang="en-US" altLang="en-US" sz="2400"/>
          </a:p>
          <a:p>
            <a:r>
              <a:rPr lang="en-US" altLang="en-US" sz="2400"/>
              <a:t>incrementally develop sender, receiver sides of reliable data transfer protocol (rdt)</a:t>
            </a:r>
          </a:p>
          <a:p>
            <a:r>
              <a:rPr lang="en-US" altLang="en-US" sz="2400"/>
              <a:t>consider only unidirectional data transfer</a:t>
            </a:r>
          </a:p>
          <a:p>
            <a:pPr lvl="1"/>
            <a:r>
              <a:rPr lang="en-US" altLang="en-US" sz="2000"/>
              <a:t>but control info will flow on both directions!</a:t>
            </a:r>
          </a:p>
          <a:p>
            <a:r>
              <a:rPr lang="en-US" altLang="en-US" sz="2400"/>
              <a:t>use finite state machines (FSM)  to specify sender, receiver</a:t>
            </a:r>
          </a:p>
        </p:txBody>
      </p:sp>
      <p:grpSp>
        <p:nvGrpSpPr>
          <p:cNvPr id="40966" name="Group 4">
            <a:extLst>
              <a:ext uri="{FF2B5EF4-FFF2-40B4-BE49-F238E27FC236}">
                <a16:creationId xmlns:a16="http://schemas.microsoft.com/office/drawing/2014/main" xmlns="" id="{D55B828B-9F7B-97E7-B870-E79A34EC5665}"/>
              </a:ext>
            </a:extLst>
          </p:cNvPr>
          <p:cNvGrpSpPr>
            <a:grpSpLocks/>
          </p:cNvGrpSpPr>
          <p:nvPr/>
        </p:nvGrpSpPr>
        <p:grpSpPr bwMode="auto">
          <a:xfrm>
            <a:off x="4587876" y="4619626"/>
            <a:ext cx="917575" cy="942975"/>
            <a:chOff x="670" y="3294"/>
            <a:chExt cx="578" cy="594"/>
          </a:xfrm>
        </p:grpSpPr>
        <p:sp>
          <p:nvSpPr>
            <p:cNvPr id="40983" name="Oval 5">
              <a:extLst>
                <a:ext uri="{FF2B5EF4-FFF2-40B4-BE49-F238E27FC236}">
                  <a16:creationId xmlns:a16="http://schemas.microsoft.com/office/drawing/2014/main" xmlns="" id="{51A101F2-32C4-2857-C7E9-3985E928A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" y="3294"/>
              <a:ext cx="510" cy="5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84" name="Oval 6">
              <a:extLst>
                <a:ext uri="{FF2B5EF4-FFF2-40B4-BE49-F238E27FC236}">
                  <a16:creationId xmlns:a16="http://schemas.microsoft.com/office/drawing/2014/main" xmlns="" id="{9ABEA0C8-DE21-9FAC-C72A-20F5CF465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" y="3336"/>
              <a:ext cx="510" cy="55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85" name="Text Box 7">
              <a:extLst>
                <a:ext uri="{FF2B5EF4-FFF2-40B4-BE49-F238E27FC236}">
                  <a16:creationId xmlns:a16="http://schemas.microsoft.com/office/drawing/2014/main" xmlns="" id="{3C44B456-1C6F-DFBD-00B9-3D6B6CF8C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" y="3425"/>
              <a:ext cx="51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/>
                <a:t>state</a:t>
              </a:r>
            </a:p>
            <a:p>
              <a:r>
                <a:rPr lang="en-US" altLang="en-US" sz="2000"/>
                <a:t>1</a:t>
              </a:r>
            </a:p>
          </p:txBody>
        </p:sp>
      </p:grpSp>
      <p:sp>
        <p:nvSpPr>
          <p:cNvPr id="40967" name="Freeform 8">
            <a:extLst>
              <a:ext uri="{FF2B5EF4-FFF2-40B4-BE49-F238E27FC236}">
                <a16:creationId xmlns:a16="http://schemas.microsoft.com/office/drawing/2014/main" xmlns="" id="{83F61D96-279F-C911-A7FE-F87CC7731613}"/>
              </a:ext>
            </a:extLst>
          </p:cNvPr>
          <p:cNvSpPr>
            <a:spLocks/>
          </p:cNvSpPr>
          <p:nvPr/>
        </p:nvSpPr>
        <p:spPr bwMode="auto">
          <a:xfrm>
            <a:off x="5505451" y="4638675"/>
            <a:ext cx="3952875" cy="285750"/>
          </a:xfrm>
          <a:custGeom>
            <a:avLst/>
            <a:gdLst>
              <a:gd name="T0" fmla="*/ 0 w 1446"/>
              <a:gd name="T1" fmla="*/ 2147483647 h 180"/>
              <a:gd name="T2" fmla="*/ 2147483647 w 1446"/>
              <a:gd name="T3" fmla="*/ 2147483647 h 180"/>
              <a:gd name="T4" fmla="*/ 0 60000 65536"/>
              <a:gd name="T5" fmla="*/ 0 60000 65536"/>
              <a:gd name="T6" fmla="*/ 0 w 1446"/>
              <a:gd name="T7" fmla="*/ 0 h 180"/>
              <a:gd name="T8" fmla="*/ 1446 w 1446"/>
              <a:gd name="T9" fmla="*/ 180 h 1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46" h="180">
                <a:moveTo>
                  <a:pt x="0" y="180"/>
                </a:moveTo>
                <a:cubicBezTo>
                  <a:pt x="540" y="30"/>
                  <a:pt x="972" y="0"/>
                  <a:pt x="1446" y="168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0968" name="Group 9">
            <a:extLst>
              <a:ext uri="{FF2B5EF4-FFF2-40B4-BE49-F238E27FC236}">
                <a16:creationId xmlns:a16="http://schemas.microsoft.com/office/drawing/2014/main" xmlns="" id="{208F1365-BBFA-9C17-01C4-B28DED3D3216}"/>
              </a:ext>
            </a:extLst>
          </p:cNvPr>
          <p:cNvGrpSpPr>
            <a:grpSpLocks/>
          </p:cNvGrpSpPr>
          <p:nvPr/>
        </p:nvGrpSpPr>
        <p:grpSpPr bwMode="auto">
          <a:xfrm>
            <a:off x="9340851" y="4724401"/>
            <a:ext cx="917575" cy="942975"/>
            <a:chOff x="670" y="3294"/>
            <a:chExt cx="578" cy="594"/>
          </a:xfrm>
        </p:grpSpPr>
        <p:sp>
          <p:nvSpPr>
            <p:cNvPr id="40980" name="Oval 10">
              <a:extLst>
                <a:ext uri="{FF2B5EF4-FFF2-40B4-BE49-F238E27FC236}">
                  <a16:creationId xmlns:a16="http://schemas.microsoft.com/office/drawing/2014/main" xmlns="" id="{397E0A76-77BE-4761-2029-0C80A7F5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" y="3294"/>
              <a:ext cx="510" cy="5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81" name="Oval 11">
              <a:extLst>
                <a:ext uri="{FF2B5EF4-FFF2-40B4-BE49-F238E27FC236}">
                  <a16:creationId xmlns:a16="http://schemas.microsoft.com/office/drawing/2014/main" xmlns="" id="{53D47519-E108-7C88-0D0D-E203B5845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" y="3336"/>
              <a:ext cx="510" cy="55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82" name="Text Box 12">
              <a:extLst>
                <a:ext uri="{FF2B5EF4-FFF2-40B4-BE49-F238E27FC236}">
                  <a16:creationId xmlns:a16="http://schemas.microsoft.com/office/drawing/2014/main" xmlns="" id="{0431F8FB-6DAC-CB39-71F2-EA5EE0F5F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" y="3425"/>
              <a:ext cx="51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/>
                <a:t>state</a:t>
              </a:r>
            </a:p>
            <a:p>
              <a:r>
                <a:rPr lang="en-US" altLang="en-US" sz="2000"/>
                <a:t>2</a:t>
              </a:r>
            </a:p>
          </p:txBody>
        </p:sp>
      </p:grpSp>
      <p:sp>
        <p:nvSpPr>
          <p:cNvPr id="40969" name="Text Box 13">
            <a:extLst>
              <a:ext uri="{FF2B5EF4-FFF2-40B4-BE49-F238E27FC236}">
                <a16:creationId xmlns:a16="http://schemas.microsoft.com/office/drawing/2014/main" xmlns="" id="{D413D302-7F6A-2B16-F472-D98DB526E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039" y="4013201"/>
            <a:ext cx="3355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event causing state transition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0970" name="Text Box 14">
            <a:extLst>
              <a:ext uri="{FF2B5EF4-FFF2-40B4-BE49-F238E27FC236}">
                <a16:creationId xmlns:a16="http://schemas.microsoft.com/office/drawing/2014/main" xmlns="" id="{4F9C0D21-2617-83BD-D1B8-12002E907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138" y="4308476"/>
            <a:ext cx="3657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>
                <a:solidFill>
                  <a:srgbClr val="FF0000"/>
                </a:solidFill>
              </a:rPr>
              <a:t>actions taken on state transition</a:t>
            </a:r>
            <a:endParaRPr lang="en-US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1" name="Line 15">
            <a:extLst>
              <a:ext uri="{FF2B5EF4-FFF2-40B4-BE49-F238E27FC236}">
                <a16:creationId xmlns:a16="http://schemas.microsoft.com/office/drawing/2014/main" xmlns="" id="{5E9516DE-118E-ACB7-E4E1-2983BC744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6" y="4352925"/>
            <a:ext cx="33813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972" name="Rectangle 16">
            <a:extLst>
              <a:ext uri="{FF2B5EF4-FFF2-40B4-BE49-F238E27FC236}">
                <a16:creationId xmlns:a16="http://schemas.microsoft.com/office/drawing/2014/main" xmlns="" id="{22851D5F-9B19-78E5-E38C-70A385812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826" y="4686300"/>
            <a:ext cx="27717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>
                <a:solidFill>
                  <a:srgbClr val="FF0000"/>
                </a:solidFill>
              </a:rPr>
              <a:t>state:</a:t>
            </a:r>
            <a:r>
              <a:rPr lang="en-US" altLang="en-US" sz="1800"/>
              <a:t> when in this “state” next state uniquely determined by next event</a:t>
            </a:r>
          </a:p>
        </p:txBody>
      </p:sp>
      <p:sp>
        <p:nvSpPr>
          <p:cNvPr id="40973" name="Freeform 17">
            <a:extLst>
              <a:ext uri="{FF2B5EF4-FFF2-40B4-BE49-F238E27FC236}">
                <a16:creationId xmlns:a16="http://schemas.microsoft.com/office/drawing/2014/main" xmlns="" id="{1B22CE0F-9D4F-A00B-A292-3FAB022494F1}"/>
              </a:ext>
            </a:extLst>
          </p:cNvPr>
          <p:cNvSpPr>
            <a:spLocks/>
          </p:cNvSpPr>
          <p:nvPr/>
        </p:nvSpPr>
        <p:spPr bwMode="auto">
          <a:xfrm>
            <a:off x="4905375" y="5562601"/>
            <a:ext cx="95250" cy="581025"/>
          </a:xfrm>
          <a:custGeom>
            <a:avLst/>
            <a:gdLst>
              <a:gd name="T0" fmla="*/ 2147483647 w 60"/>
              <a:gd name="T1" fmla="*/ 2147483647 h 366"/>
              <a:gd name="T2" fmla="*/ 2147483647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4" name="Freeform 18">
            <a:extLst>
              <a:ext uri="{FF2B5EF4-FFF2-40B4-BE49-F238E27FC236}">
                <a16:creationId xmlns:a16="http://schemas.microsoft.com/office/drawing/2014/main" xmlns="" id="{D3638571-7B1B-55A0-B3D3-1BF4C6E7DB80}"/>
              </a:ext>
            </a:extLst>
          </p:cNvPr>
          <p:cNvSpPr>
            <a:spLocks/>
          </p:cNvSpPr>
          <p:nvPr/>
        </p:nvSpPr>
        <p:spPr bwMode="auto">
          <a:xfrm flipH="1" flipV="1">
            <a:off x="10048875" y="5600701"/>
            <a:ext cx="95250" cy="581025"/>
          </a:xfrm>
          <a:custGeom>
            <a:avLst/>
            <a:gdLst>
              <a:gd name="T0" fmla="*/ 2147483647 w 60"/>
              <a:gd name="T1" fmla="*/ 2147483647 h 366"/>
              <a:gd name="T2" fmla="*/ 2147483647 w 60"/>
              <a:gd name="T3" fmla="*/ 0 h 366"/>
              <a:gd name="T4" fmla="*/ 0 60000 65536"/>
              <a:gd name="T5" fmla="*/ 0 60000 65536"/>
              <a:gd name="T6" fmla="*/ 0 w 60"/>
              <a:gd name="T7" fmla="*/ 0 h 366"/>
              <a:gd name="T8" fmla="*/ 60 w 60"/>
              <a:gd name="T9" fmla="*/ 366 h 36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" h="366">
                <a:moveTo>
                  <a:pt x="48" y="366"/>
                </a:moveTo>
                <a:cubicBezTo>
                  <a:pt x="0" y="204"/>
                  <a:pt x="60" y="55"/>
                  <a:pt x="6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5" name="Line 19">
            <a:extLst>
              <a:ext uri="{FF2B5EF4-FFF2-40B4-BE49-F238E27FC236}">
                <a16:creationId xmlns:a16="http://schemas.microsoft.com/office/drawing/2014/main" xmlns="" id="{0F3C247E-45D0-0DC3-57B2-8ABD4172E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1" y="5305426"/>
            <a:ext cx="1571625" cy="7524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40976" name="Group 20">
            <a:extLst>
              <a:ext uri="{FF2B5EF4-FFF2-40B4-BE49-F238E27FC236}">
                <a16:creationId xmlns:a16="http://schemas.microsoft.com/office/drawing/2014/main" xmlns="" id="{9AFF9966-81EA-69C7-2BEB-3AC4748ADC32}"/>
              </a:ext>
            </a:extLst>
          </p:cNvPr>
          <p:cNvGrpSpPr>
            <a:grpSpLocks/>
          </p:cNvGrpSpPr>
          <p:nvPr/>
        </p:nvGrpSpPr>
        <p:grpSpPr bwMode="auto">
          <a:xfrm>
            <a:off x="6105525" y="5108576"/>
            <a:ext cx="966788" cy="671513"/>
            <a:chOff x="3516" y="3260"/>
            <a:chExt cx="609" cy="423"/>
          </a:xfrm>
        </p:grpSpPr>
        <p:sp>
          <p:nvSpPr>
            <p:cNvPr id="40977" name="Text Box 21">
              <a:extLst>
                <a:ext uri="{FF2B5EF4-FFF2-40B4-BE49-F238E27FC236}">
                  <a16:creationId xmlns:a16="http://schemas.microsoft.com/office/drawing/2014/main" xmlns="" id="{9452A12D-1019-1375-B3D3-7BF10EBFF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4" y="3260"/>
              <a:ext cx="4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800">
                  <a:solidFill>
                    <a:srgbClr val="FF0000"/>
                  </a:solidFill>
                </a:rPr>
                <a:t>event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0978" name="Text Box 22">
              <a:extLst>
                <a:ext uri="{FF2B5EF4-FFF2-40B4-BE49-F238E27FC236}">
                  <a16:creationId xmlns:a16="http://schemas.microsoft.com/office/drawing/2014/main" xmlns="" id="{150E1A84-F29E-BFB0-13E7-7015FC6ACB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2" y="3452"/>
              <a:ext cx="5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800">
                  <a:solidFill>
                    <a:srgbClr val="FF0000"/>
                  </a:solidFill>
                </a:rPr>
                <a:t>actions</a:t>
              </a:r>
              <a:endPara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79" name="Line 23">
              <a:extLst>
                <a:ext uri="{FF2B5EF4-FFF2-40B4-BE49-F238E27FC236}">
                  <a16:creationId xmlns:a16="http://schemas.microsoft.com/office/drawing/2014/main" xmlns="" id="{CB08EDFA-5720-29EC-5270-222551F803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" y="3480"/>
              <a:ext cx="59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5">
            <a:extLst>
              <a:ext uri="{FF2B5EF4-FFF2-40B4-BE49-F238E27FC236}">
                <a16:creationId xmlns:a16="http://schemas.microsoft.com/office/drawing/2014/main" xmlns="" id="{812AACA3-DB5E-BC63-935F-FE499799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1987" name="Slide Number Placeholder 6">
            <a:extLst>
              <a:ext uri="{FF2B5EF4-FFF2-40B4-BE49-F238E27FC236}">
                <a16:creationId xmlns:a16="http://schemas.microsoft.com/office/drawing/2014/main" xmlns="" id="{4FD8FB50-69A3-EE69-116E-4638E8786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254811CA-339D-4BD5-94AE-88F7D05E4189}" type="slidenum">
              <a:rPr lang="en-US" altLang="en-US" sz="1400">
                <a:latin typeface="Arial" panose="020B0604020202020204" pitchFamily="34" charset="0"/>
              </a:rPr>
              <a:pPr/>
              <a:t>45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xmlns="" id="{9F078CBD-E670-5744-4017-D067A58B1B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001000" cy="1143000"/>
          </a:xfrm>
        </p:spPr>
        <p:txBody>
          <a:bodyPr/>
          <a:lstStyle/>
          <a:p>
            <a:r>
              <a:rPr lang="en-US" altLang="en-US" sz="3200"/>
              <a:t>Rdt1.0: </a:t>
            </a:r>
            <a:r>
              <a:rPr lang="en-US" altLang="en-US" sz="2400"/>
              <a:t>reliable transfer over a reliable channel</a:t>
            </a:r>
            <a:endParaRPr lang="en-US" altLang="en-US"/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xmlns="" id="{BFE265B6-C2F3-503F-B0CB-23CB2D8D60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55801" y="1331914"/>
            <a:ext cx="7896225" cy="3019425"/>
          </a:xfrm>
        </p:spPr>
        <p:txBody>
          <a:bodyPr/>
          <a:lstStyle/>
          <a:p>
            <a:r>
              <a:rPr lang="en-US" altLang="en-US" sz="2400"/>
              <a:t>underlying channel perfectly reliable</a:t>
            </a:r>
          </a:p>
          <a:p>
            <a:pPr lvl="1"/>
            <a:r>
              <a:rPr lang="en-US" altLang="en-US" sz="2000"/>
              <a:t>no bit errors</a:t>
            </a:r>
          </a:p>
          <a:p>
            <a:pPr lvl="1"/>
            <a:r>
              <a:rPr lang="en-US" altLang="en-US" sz="2000"/>
              <a:t>no loss of packets</a:t>
            </a:r>
          </a:p>
          <a:p>
            <a:r>
              <a:rPr lang="en-US" altLang="en-US" sz="2400"/>
              <a:t>separate FSMs for sender, receiver:</a:t>
            </a:r>
          </a:p>
          <a:p>
            <a:pPr lvl="1"/>
            <a:r>
              <a:rPr lang="en-US" altLang="en-US" sz="2000"/>
              <a:t>sender sends data into underlying channel</a:t>
            </a:r>
          </a:p>
          <a:p>
            <a:pPr lvl="1"/>
            <a:r>
              <a:rPr lang="en-US" altLang="en-US" sz="2000"/>
              <a:t>receiver read data from underlying channel</a:t>
            </a:r>
          </a:p>
        </p:txBody>
      </p:sp>
      <p:sp>
        <p:nvSpPr>
          <p:cNvPr id="41990" name="Oval 4">
            <a:extLst>
              <a:ext uri="{FF2B5EF4-FFF2-40B4-BE49-F238E27FC236}">
                <a16:creationId xmlns:a16="http://schemas.microsoft.com/office/drawing/2014/main" xmlns="" id="{ACDB1135-5826-BBCE-23DF-2896CF910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9" y="4246564"/>
            <a:ext cx="955675" cy="101123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1" name="Text Box 5">
            <a:extLst>
              <a:ext uri="{FF2B5EF4-FFF2-40B4-BE49-F238E27FC236}">
                <a16:creationId xmlns:a16="http://schemas.microsoft.com/office/drawing/2014/main" xmlns="" id="{A140A601-07CC-5F59-281A-FC0D4129F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4332288"/>
            <a:ext cx="1098550" cy="91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above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2" name="Freeform 6">
            <a:extLst>
              <a:ext uri="{FF2B5EF4-FFF2-40B4-BE49-F238E27FC236}">
                <a16:creationId xmlns:a16="http://schemas.microsoft.com/office/drawing/2014/main" xmlns="" id="{B0720A58-4E07-B249-63FC-F5E46AA620E6}"/>
              </a:ext>
            </a:extLst>
          </p:cNvPr>
          <p:cNvSpPr>
            <a:spLocks/>
          </p:cNvSpPr>
          <p:nvPr/>
        </p:nvSpPr>
        <p:spPr bwMode="auto">
          <a:xfrm>
            <a:off x="3141664" y="4230688"/>
            <a:ext cx="611187" cy="1027112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3" name="Text Box 7">
            <a:extLst>
              <a:ext uri="{FF2B5EF4-FFF2-40B4-BE49-F238E27FC236}">
                <a16:creationId xmlns:a16="http://schemas.microsoft.com/office/drawing/2014/main" xmlns="" id="{1F363639-DFF2-20D6-DB07-4C7DE9B6E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4101" y="4754564"/>
            <a:ext cx="2682875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packet = make_pkt(data)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udt_send(packet)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4" name="Text Box 8">
            <a:extLst>
              <a:ext uri="{FF2B5EF4-FFF2-40B4-BE49-F238E27FC236}">
                <a16:creationId xmlns:a16="http://schemas.microsoft.com/office/drawing/2014/main" xmlns="" id="{80487D69-001B-C993-E9E8-B3AE957E4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4287839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5" name="Line 9">
            <a:extLst>
              <a:ext uri="{FF2B5EF4-FFF2-40B4-BE49-F238E27FC236}">
                <a16:creationId xmlns:a16="http://schemas.microsoft.com/office/drawing/2014/main" xmlns="" id="{49E551A1-ABF5-728B-B27B-D884BBF2E0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2839" y="4630738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6" name="Line 10">
            <a:extLst>
              <a:ext uri="{FF2B5EF4-FFF2-40B4-BE49-F238E27FC236}">
                <a16:creationId xmlns:a16="http://schemas.microsoft.com/office/drawing/2014/main" xmlns="" id="{47AE4B3E-A87D-4088-1788-0CA7D8E1B3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08188" y="4230689"/>
            <a:ext cx="385762" cy="2428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997" name="Text Box 11">
            <a:extLst>
              <a:ext uri="{FF2B5EF4-FFF2-40B4-BE49-F238E27FC236}">
                <a16:creationId xmlns:a16="http://schemas.microsoft.com/office/drawing/2014/main" xmlns="" id="{AFDE9FBB-9B8F-185C-0DB7-95F183D61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9713" y="4613276"/>
            <a:ext cx="24876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extract (packet,data)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deliver_data(data)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98" name="Oval 12">
            <a:extLst>
              <a:ext uri="{FF2B5EF4-FFF2-40B4-BE49-F238E27FC236}">
                <a16:creationId xmlns:a16="http://schemas.microsoft.com/office/drawing/2014/main" xmlns="" id="{2838AFE6-42E5-4C79-5900-08460BBC2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514" y="4232275"/>
            <a:ext cx="955675" cy="10112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9" name="Text Box 13">
            <a:extLst>
              <a:ext uri="{FF2B5EF4-FFF2-40B4-BE49-F238E27FC236}">
                <a16:creationId xmlns:a16="http://schemas.microsoft.com/office/drawing/2014/main" xmlns="" id="{4FA249F2-5965-2B4C-B194-2D087DE2A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7013" y="4318001"/>
            <a:ext cx="1098550" cy="9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below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2000" name="Freeform 14">
            <a:extLst>
              <a:ext uri="{FF2B5EF4-FFF2-40B4-BE49-F238E27FC236}">
                <a16:creationId xmlns:a16="http://schemas.microsoft.com/office/drawing/2014/main" xmlns="" id="{76FD4B4C-0E87-5942-ECDE-B14B13533533}"/>
              </a:ext>
            </a:extLst>
          </p:cNvPr>
          <p:cNvSpPr>
            <a:spLocks/>
          </p:cNvSpPr>
          <p:nvPr/>
        </p:nvSpPr>
        <p:spPr bwMode="auto">
          <a:xfrm>
            <a:off x="7450139" y="4216401"/>
            <a:ext cx="611187" cy="102711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2001" name="Text Box 15">
            <a:extLst>
              <a:ext uri="{FF2B5EF4-FFF2-40B4-BE49-F238E27FC236}">
                <a16:creationId xmlns:a16="http://schemas.microsoft.com/office/drawing/2014/main" xmlns="" id="{18319A62-72F0-4C1D-6370-A234AF1B3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1300" y="4273551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2002" name="Line 16">
            <a:extLst>
              <a:ext uri="{FF2B5EF4-FFF2-40B4-BE49-F238E27FC236}">
                <a16:creationId xmlns:a16="http://schemas.microsoft.com/office/drawing/2014/main" xmlns="" id="{CF42CF2D-B26E-F74B-F92C-E79185B83E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1314" y="4616450"/>
            <a:ext cx="12969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03" name="Line 17">
            <a:extLst>
              <a:ext uri="{FF2B5EF4-FFF2-40B4-BE49-F238E27FC236}">
                <a16:creationId xmlns:a16="http://schemas.microsoft.com/office/drawing/2014/main" xmlns="" id="{982DCD3C-0F31-E393-EC29-8E52D92DA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6663" y="4216400"/>
            <a:ext cx="385762" cy="242888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004" name="Rectangle 18">
            <a:extLst>
              <a:ext uri="{FF2B5EF4-FFF2-40B4-BE49-F238E27FC236}">
                <a16:creationId xmlns:a16="http://schemas.microsoft.com/office/drawing/2014/main" xmlns="" id="{617779F1-43D2-8310-5E75-C03AF3D39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5588" y="4292600"/>
            <a:ext cx="15414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rdt_rcv(packet)</a:t>
            </a:r>
          </a:p>
        </p:txBody>
      </p:sp>
      <p:sp>
        <p:nvSpPr>
          <p:cNvPr id="42005" name="Text Box 19">
            <a:extLst>
              <a:ext uri="{FF2B5EF4-FFF2-40B4-BE49-F238E27FC236}">
                <a16:creationId xmlns:a16="http://schemas.microsoft.com/office/drawing/2014/main" xmlns="" id="{D0DD0C94-3C6A-3656-ED25-ADC56F733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5553075"/>
            <a:ext cx="115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</a:rPr>
              <a:t>sender</a:t>
            </a:r>
          </a:p>
        </p:txBody>
      </p:sp>
      <p:sp>
        <p:nvSpPr>
          <p:cNvPr id="42006" name="Text Box 20">
            <a:extLst>
              <a:ext uri="{FF2B5EF4-FFF2-40B4-BE49-F238E27FC236}">
                <a16:creationId xmlns:a16="http://schemas.microsoft.com/office/drawing/2014/main" xmlns="" id="{EE1C0036-0D21-E048-33A1-049F431A6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3014" y="5594350"/>
            <a:ext cx="136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</a:rPr>
              <a:t>receiver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5">
            <a:extLst>
              <a:ext uri="{FF2B5EF4-FFF2-40B4-BE49-F238E27FC236}">
                <a16:creationId xmlns:a16="http://schemas.microsoft.com/office/drawing/2014/main" xmlns="" id="{FE88F3CC-85AA-2734-131E-AFA7D5C04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3011" name="Slide Number Placeholder 6">
            <a:extLst>
              <a:ext uri="{FF2B5EF4-FFF2-40B4-BE49-F238E27FC236}">
                <a16:creationId xmlns:a16="http://schemas.microsoft.com/office/drawing/2014/main" xmlns="" id="{740F6A4F-4360-503B-046B-C7E40B53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7F03DE96-8F3B-47AF-8462-CC4B64F335FB}" type="slidenum">
              <a:rPr lang="en-US" altLang="en-US" sz="1400">
                <a:latin typeface="Arial" panose="020B0604020202020204" pitchFamily="34" charset="0"/>
              </a:rPr>
              <a:pPr/>
              <a:t>46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xmlns="" id="{47D052F8-673C-59CD-11FE-DDD15F554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228600"/>
            <a:ext cx="8001000" cy="1143000"/>
          </a:xfrm>
        </p:spPr>
        <p:txBody>
          <a:bodyPr/>
          <a:lstStyle/>
          <a:p>
            <a:r>
              <a:rPr lang="en-US" altLang="en-US" sz="3200"/>
              <a:t>Rdt2.0: channel with bit errors</a:t>
            </a:r>
            <a:endParaRPr lang="en-US" altLang="en-US"/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xmlns="" id="{90887D31-C1AD-40C9-D7A9-FD9BA8A82B8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466976" y="1333501"/>
            <a:ext cx="7896225" cy="4448175"/>
          </a:xfrm>
        </p:spPr>
        <p:txBody>
          <a:bodyPr/>
          <a:lstStyle/>
          <a:p>
            <a:r>
              <a:rPr lang="en-US" altLang="en-US" sz="2400"/>
              <a:t>underlying channel may flip bits in packet</a:t>
            </a:r>
          </a:p>
          <a:p>
            <a:pPr lvl="1"/>
            <a:r>
              <a:rPr lang="en-US" altLang="en-US" sz="2000"/>
              <a:t>checksum to detect bit errors</a:t>
            </a:r>
          </a:p>
          <a:p>
            <a:r>
              <a:rPr lang="en-US" altLang="en-US" sz="2400" i="1"/>
              <a:t>the</a:t>
            </a:r>
            <a:r>
              <a:rPr lang="en-US" altLang="en-US" sz="2400"/>
              <a:t> question: how to recover from errors:</a:t>
            </a:r>
          </a:p>
          <a:p>
            <a:pPr lvl="1"/>
            <a:r>
              <a:rPr lang="en-US" altLang="en-US" sz="2000" i="1">
                <a:solidFill>
                  <a:srgbClr val="FF0000"/>
                </a:solidFill>
              </a:rPr>
              <a:t>acknowledgements (ACKs):</a:t>
            </a:r>
            <a:r>
              <a:rPr lang="en-US" altLang="en-US" sz="2000"/>
              <a:t> receiver explicitly tells sender that pkt received OK</a:t>
            </a:r>
          </a:p>
          <a:p>
            <a:pPr lvl="1"/>
            <a:r>
              <a:rPr lang="en-US" altLang="en-US" sz="2000" i="1">
                <a:solidFill>
                  <a:srgbClr val="FF0000"/>
                </a:solidFill>
              </a:rPr>
              <a:t>negative acknowledgements (NAKs):</a:t>
            </a:r>
            <a:r>
              <a:rPr lang="en-US" altLang="en-US" sz="2000"/>
              <a:t> receiver explicitly tells sender that pkt had errors</a:t>
            </a:r>
          </a:p>
          <a:p>
            <a:pPr lvl="1"/>
            <a:r>
              <a:rPr lang="en-US" altLang="en-US" sz="2000"/>
              <a:t>sender retransmits pkt on receipt of NAK</a:t>
            </a:r>
          </a:p>
          <a:p>
            <a:r>
              <a:rPr lang="en-US" altLang="en-US" sz="2400"/>
              <a:t>new mechanisms in </a:t>
            </a:r>
            <a:r>
              <a:rPr lang="en-US" altLang="en-US" sz="2400" b="1">
                <a:latin typeface="Courier New" panose="02070309020205020404" pitchFamily="49" charset="0"/>
              </a:rPr>
              <a:t>rdt2.0</a:t>
            </a:r>
            <a:r>
              <a:rPr lang="en-US" altLang="en-US" sz="2400"/>
              <a:t> (beyond </a:t>
            </a:r>
            <a:r>
              <a:rPr lang="en-US" altLang="en-US" sz="2400" b="1">
                <a:latin typeface="Courier New" panose="02070309020205020404" pitchFamily="49" charset="0"/>
              </a:rPr>
              <a:t>rdt1.0</a:t>
            </a:r>
            <a:r>
              <a:rPr lang="en-US" altLang="en-US" sz="2400"/>
              <a:t>):</a:t>
            </a:r>
          </a:p>
          <a:p>
            <a:pPr lvl="1"/>
            <a:r>
              <a:rPr lang="en-US" altLang="en-US" sz="2000"/>
              <a:t>error detection</a:t>
            </a:r>
          </a:p>
          <a:p>
            <a:pPr lvl="1"/>
            <a:r>
              <a:rPr lang="en-US" altLang="en-US" sz="2000"/>
              <a:t>receiver feedback: control msgs (ACK,NAK) rcvr-&gt;sender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3">
            <a:extLst>
              <a:ext uri="{FF2B5EF4-FFF2-40B4-BE49-F238E27FC236}">
                <a16:creationId xmlns:a16="http://schemas.microsoft.com/office/drawing/2014/main" xmlns="" id="{A2C90DF8-2874-C605-B319-288CA853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4035" name="Slide Number Placeholder 4">
            <a:extLst>
              <a:ext uri="{FF2B5EF4-FFF2-40B4-BE49-F238E27FC236}">
                <a16:creationId xmlns:a16="http://schemas.microsoft.com/office/drawing/2014/main" xmlns="" id="{F6D662B2-B545-7E90-F1A1-3A2D65DE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CAB685D5-1CA9-4E07-A44B-6DBD8D7411DE}" type="slidenum">
              <a:rPr lang="en-US" altLang="en-US" sz="1400">
                <a:latin typeface="Arial" panose="020B0604020202020204" pitchFamily="34" charset="0"/>
              </a:rPr>
              <a:pPr/>
              <a:t>47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xmlns="" id="{E676F467-50E7-86BE-0774-C9E0151EC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rdt2.0: FSM specification</a:t>
            </a:r>
            <a:endParaRPr lang="en-US" altLang="en-US"/>
          </a:p>
        </p:txBody>
      </p:sp>
      <p:sp>
        <p:nvSpPr>
          <p:cNvPr id="44037" name="Oval 3">
            <a:extLst>
              <a:ext uri="{FF2B5EF4-FFF2-40B4-BE49-F238E27FC236}">
                <a16:creationId xmlns:a16="http://schemas.microsoft.com/office/drawing/2014/main" xmlns="" id="{8961F7DC-A5E3-65D1-F055-AB3F9A562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4" y="2209801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38" name="Text Box 4">
            <a:extLst>
              <a:ext uri="{FF2B5EF4-FFF2-40B4-BE49-F238E27FC236}">
                <a16:creationId xmlns:a16="http://schemas.microsoft.com/office/drawing/2014/main" xmlns="" id="{56C093A8-AE33-1060-A1A7-9CCFF0488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3" y="22939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above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9" name="Text Box 5">
            <a:extLst>
              <a:ext uri="{FF2B5EF4-FFF2-40B4-BE49-F238E27FC236}">
                <a16:creationId xmlns:a16="http://schemas.microsoft.com/office/drawing/2014/main" xmlns="" id="{7D1494CC-BA4B-1C45-2662-48E611AB6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1490663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snkpkt = make_pkt(data, checksum)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40" name="Line 6">
            <a:extLst>
              <a:ext uri="{FF2B5EF4-FFF2-40B4-BE49-F238E27FC236}">
                <a16:creationId xmlns:a16="http://schemas.microsoft.com/office/drawing/2014/main" xmlns="" id="{8DF5FE3A-2179-68EE-4106-DB8384F509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3663" y="1535113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1" name="Text Box 7">
            <a:extLst>
              <a:ext uri="{FF2B5EF4-FFF2-40B4-BE49-F238E27FC236}">
                <a16:creationId xmlns:a16="http://schemas.microsoft.com/office/drawing/2014/main" xmlns="" id="{48AC59E9-B525-B838-8024-EDECD7E50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9" y="5314951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udt_send(ACK)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42" name="Text Box 8">
            <a:extLst>
              <a:ext uri="{FF2B5EF4-FFF2-40B4-BE49-F238E27FC236}">
                <a16:creationId xmlns:a16="http://schemas.microsoft.com/office/drawing/2014/main" xmlns="" id="{48F60C5D-6354-9D7C-11B0-8F37D1070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613" y="4781551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notcorrupt(rcvpkt)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43" name="Line 9">
            <a:extLst>
              <a:ext uri="{FF2B5EF4-FFF2-40B4-BE49-F238E27FC236}">
                <a16:creationId xmlns:a16="http://schemas.microsoft.com/office/drawing/2014/main" xmlns="" id="{AE9EFCCF-C07B-8790-4DA8-19ED7F547E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3851" y="5370513"/>
            <a:ext cx="1489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4" name="Freeform 10">
            <a:extLst>
              <a:ext uri="{FF2B5EF4-FFF2-40B4-BE49-F238E27FC236}">
                <a16:creationId xmlns:a16="http://schemas.microsoft.com/office/drawing/2014/main" xmlns="" id="{8253A3C8-DC13-3C23-544C-EDAF1CFDE5D2}"/>
              </a:ext>
            </a:extLst>
          </p:cNvPr>
          <p:cNvSpPr>
            <a:spLocks/>
          </p:cNvSpPr>
          <p:nvPr/>
        </p:nvSpPr>
        <p:spPr bwMode="auto">
          <a:xfrm flipV="1">
            <a:off x="2581276" y="19796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45" name="Freeform 11">
            <a:extLst>
              <a:ext uri="{FF2B5EF4-FFF2-40B4-BE49-F238E27FC236}">
                <a16:creationId xmlns:a16="http://schemas.microsoft.com/office/drawing/2014/main" xmlns="" id="{903D25F8-31C9-C7EB-708A-57393DB64B5A}"/>
              </a:ext>
            </a:extLst>
          </p:cNvPr>
          <p:cNvSpPr>
            <a:spLocks/>
          </p:cNvSpPr>
          <p:nvPr/>
        </p:nvSpPr>
        <p:spPr bwMode="auto">
          <a:xfrm>
            <a:off x="2628901" y="3140075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46" name="Text Box 12">
            <a:extLst>
              <a:ext uri="{FF2B5EF4-FFF2-40B4-BE49-F238E27FC236}">
                <a16:creationId xmlns:a16="http://schemas.microsoft.com/office/drawing/2014/main" xmlns="" id="{0DFF92B2-96ED-E986-BE12-D078B39D1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isACK(rcvpkt)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47" name="Line 13">
            <a:extLst>
              <a:ext uri="{FF2B5EF4-FFF2-40B4-BE49-F238E27FC236}">
                <a16:creationId xmlns:a16="http://schemas.microsoft.com/office/drawing/2014/main" xmlns="" id="{53A49854-2C3A-5AA9-11D6-4AC9ACB43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7163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48" name="Freeform 14">
            <a:extLst>
              <a:ext uri="{FF2B5EF4-FFF2-40B4-BE49-F238E27FC236}">
                <a16:creationId xmlns:a16="http://schemas.microsoft.com/office/drawing/2014/main" xmlns="" id="{B22E06EC-0DF0-D71F-BEC2-E96547DA8D57}"/>
              </a:ext>
            </a:extLst>
          </p:cNvPr>
          <p:cNvSpPr>
            <a:spLocks/>
          </p:cNvSpPr>
          <p:nvPr/>
        </p:nvSpPr>
        <p:spPr bwMode="auto">
          <a:xfrm>
            <a:off x="4776789" y="2286001"/>
            <a:ext cx="466725" cy="89376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49" name="Text Box 15">
            <a:extLst>
              <a:ext uri="{FF2B5EF4-FFF2-40B4-BE49-F238E27FC236}">
                <a16:creationId xmlns:a16="http://schemas.microsoft.com/office/drawing/2014/main" xmlns="" id="{CAC6DBAC-5769-26E5-5127-B97482ED7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1" y="2600325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50" name="Text Box 16">
            <a:extLst>
              <a:ext uri="{FF2B5EF4-FFF2-40B4-BE49-F238E27FC236}">
                <a16:creationId xmlns:a16="http://schemas.microsoft.com/office/drawing/2014/main" xmlns="" id="{C9D1CC65-61FD-24A0-E7E8-4062FE00D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1" y="1925639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isNAK(rcvpkt)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51" name="Line 17">
            <a:extLst>
              <a:ext uri="{FF2B5EF4-FFF2-40B4-BE49-F238E27FC236}">
                <a16:creationId xmlns:a16="http://schemas.microsoft.com/office/drawing/2014/main" xmlns="" id="{3FF17FF3-6C4B-3529-BAF5-D1A279D55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4052" name="Group 18">
            <a:extLst>
              <a:ext uri="{FF2B5EF4-FFF2-40B4-BE49-F238E27FC236}">
                <a16:creationId xmlns:a16="http://schemas.microsoft.com/office/drawing/2014/main" xmlns="" id="{3A8F229A-A665-B4B8-B1C4-0F9AFDBE2412}"/>
              </a:ext>
            </a:extLst>
          </p:cNvPr>
          <p:cNvGrpSpPr>
            <a:grpSpLocks/>
          </p:cNvGrpSpPr>
          <p:nvPr/>
        </p:nvGrpSpPr>
        <p:grpSpPr bwMode="auto">
          <a:xfrm>
            <a:off x="8097838" y="2352675"/>
            <a:ext cx="1924050" cy="858838"/>
            <a:chOff x="2222" y="2660"/>
            <a:chExt cx="1212" cy="541"/>
          </a:xfrm>
        </p:grpSpPr>
        <p:sp>
          <p:nvSpPr>
            <p:cNvPr id="44067" name="Text Box 19">
              <a:extLst>
                <a:ext uri="{FF2B5EF4-FFF2-40B4-BE49-F238E27FC236}">
                  <a16:creationId xmlns:a16="http://schemas.microsoft.com/office/drawing/2014/main" xmlns="" id="{C13F7040-2EE6-5923-ACE5-385F45E20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udt_send(NAK)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4068" name="Text Box 20">
              <a:extLst>
                <a:ext uri="{FF2B5EF4-FFF2-40B4-BE49-F238E27FC236}">
                  <a16:creationId xmlns:a16="http://schemas.microsoft.com/office/drawing/2014/main" xmlns="" id="{E5987183-0513-56F7-BBB2-25C422F36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rdt_rcv(rcvpkt) &amp;&amp; 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corrupt(rcvpkt)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4069" name="Line 21">
              <a:extLst>
                <a:ext uri="{FF2B5EF4-FFF2-40B4-BE49-F238E27FC236}">
                  <a16:creationId xmlns:a16="http://schemas.microsoft.com/office/drawing/2014/main" xmlns="" id="{64FD8E96-393F-A7E8-A17F-4AD875FAF5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4053" name="Group 22">
            <a:extLst>
              <a:ext uri="{FF2B5EF4-FFF2-40B4-BE49-F238E27FC236}">
                <a16:creationId xmlns:a16="http://schemas.microsoft.com/office/drawing/2014/main" xmlns="" id="{3AC66346-08AC-B9A2-AF4A-16084D695EC3}"/>
              </a:ext>
            </a:extLst>
          </p:cNvPr>
          <p:cNvGrpSpPr>
            <a:grpSpLocks/>
          </p:cNvGrpSpPr>
          <p:nvPr/>
        </p:nvGrpSpPr>
        <p:grpSpPr bwMode="auto">
          <a:xfrm>
            <a:off x="3816350" y="2222501"/>
            <a:ext cx="1074738" cy="962025"/>
            <a:chOff x="1540" y="2116"/>
            <a:chExt cx="677" cy="606"/>
          </a:xfrm>
        </p:grpSpPr>
        <p:sp>
          <p:nvSpPr>
            <p:cNvPr id="44065" name="Oval 23">
              <a:extLst>
                <a:ext uri="{FF2B5EF4-FFF2-40B4-BE49-F238E27FC236}">
                  <a16:creationId xmlns:a16="http://schemas.microsoft.com/office/drawing/2014/main" xmlns="" id="{4B8141EA-C5B6-8673-8722-90B13D2AB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66" name="Text Box 24">
              <a:extLst>
                <a:ext uri="{FF2B5EF4-FFF2-40B4-BE49-F238E27FC236}">
                  <a16:creationId xmlns:a16="http://schemas.microsoft.com/office/drawing/2014/main" xmlns="" id="{A2016E27-3CE1-410A-D5C8-77A65599F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Wait for ACK or NAK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4054" name="Line 25">
            <a:extLst>
              <a:ext uri="{FF2B5EF4-FFF2-40B4-BE49-F238E27FC236}">
                <a16:creationId xmlns:a16="http://schemas.microsoft.com/office/drawing/2014/main" xmlns="" id="{6D18449E-070B-9030-6E3C-68CCF88DD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125" y="3497264"/>
            <a:ext cx="433388" cy="244475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55" name="Freeform 26">
            <a:extLst>
              <a:ext uri="{FF2B5EF4-FFF2-40B4-BE49-F238E27FC236}">
                <a16:creationId xmlns:a16="http://schemas.microsoft.com/office/drawing/2014/main" xmlns="" id="{6DC0546B-985D-6F5D-FDE8-CFC45C2C58E0}"/>
              </a:ext>
            </a:extLst>
          </p:cNvPr>
          <p:cNvSpPr>
            <a:spLocks/>
          </p:cNvSpPr>
          <p:nvPr/>
        </p:nvSpPr>
        <p:spPr bwMode="auto">
          <a:xfrm>
            <a:off x="8196263" y="3148013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4056" name="Group 27">
            <a:extLst>
              <a:ext uri="{FF2B5EF4-FFF2-40B4-BE49-F238E27FC236}">
                <a16:creationId xmlns:a16="http://schemas.microsoft.com/office/drawing/2014/main" xmlns="" id="{04BEC7F4-151F-E812-763A-4A88E024CD0E}"/>
              </a:ext>
            </a:extLst>
          </p:cNvPr>
          <p:cNvGrpSpPr>
            <a:grpSpLocks/>
          </p:cNvGrpSpPr>
          <p:nvPr/>
        </p:nvGrpSpPr>
        <p:grpSpPr bwMode="auto">
          <a:xfrm>
            <a:off x="8201025" y="3568701"/>
            <a:ext cx="1200150" cy="962025"/>
            <a:chOff x="1335" y="3347"/>
            <a:chExt cx="756" cy="606"/>
          </a:xfrm>
        </p:grpSpPr>
        <p:sp>
          <p:nvSpPr>
            <p:cNvPr id="44063" name="Oval 28">
              <a:extLst>
                <a:ext uri="{FF2B5EF4-FFF2-40B4-BE49-F238E27FC236}">
                  <a16:creationId xmlns:a16="http://schemas.microsoft.com/office/drawing/2014/main" xmlns="" id="{16C90780-9F2E-7819-6A87-681D9223B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" y="3347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64" name="Text Box 29">
              <a:extLst>
                <a:ext uri="{FF2B5EF4-FFF2-40B4-BE49-F238E27FC236}">
                  <a16:creationId xmlns:a16="http://schemas.microsoft.com/office/drawing/2014/main" xmlns="" id="{A079A7BB-62B8-DFB2-6008-1EE081805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5" y="3400"/>
              <a:ext cx="756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Wait for call from below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4057" name="Freeform 30">
            <a:extLst>
              <a:ext uri="{FF2B5EF4-FFF2-40B4-BE49-F238E27FC236}">
                <a16:creationId xmlns:a16="http://schemas.microsoft.com/office/drawing/2014/main" xmlns="" id="{EA6FE64D-25F4-9B67-734F-7CE1A86DF172}"/>
              </a:ext>
            </a:extLst>
          </p:cNvPr>
          <p:cNvSpPr>
            <a:spLocks/>
          </p:cNvSpPr>
          <p:nvPr/>
        </p:nvSpPr>
        <p:spPr bwMode="auto">
          <a:xfrm flipV="1">
            <a:off x="8208963" y="4464050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58" name="Text Box 31">
            <a:extLst>
              <a:ext uri="{FF2B5EF4-FFF2-40B4-BE49-F238E27FC236}">
                <a16:creationId xmlns:a16="http://schemas.microsoft.com/office/drawing/2014/main" xmlns="" id="{9A44C76A-215A-B548-A744-F99ECA865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0775" y="4167188"/>
            <a:ext cx="115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</a:rPr>
              <a:t>sender</a:t>
            </a:r>
          </a:p>
        </p:txBody>
      </p:sp>
      <p:sp>
        <p:nvSpPr>
          <p:cNvPr id="44059" name="Text Box 32">
            <a:extLst>
              <a:ext uri="{FF2B5EF4-FFF2-40B4-BE49-F238E27FC236}">
                <a16:creationId xmlns:a16="http://schemas.microsoft.com/office/drawing/2014/main" xmlns="" id="{50A53FE9-7D96-9C61-54C6-7F7AFC74E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7564" y="1479550"/>
            <a:ext cx="136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</a:rPr>
              <a:t>receiver</a:t>
            </a:r>
          </a:p>
        </p:txBody>
      </p:sp>
      <p:sp>
        <p:nvSpPr>
          <p:cNvPr id="44060" name="Line 33">
            <a:extLst>
              <a:ext uri="{FF2B5EF4-FFF2-40B4-BE49-F238E27FC236}">
                <a16:creationId xmlns:a16="http://schemas.microsoft.com/office/drawing/2014/main" xmlns="" id="{0F819690-0169-C8C7-F26B-D151F50A5A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73250" y="2166939"/>
            <a:ext cx="433388" cy="244475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061" name="Text Box 34">
            <a:extLst>
              <a:ext uri="{FF2B5EF4-FFF2-40B4-BE49-F238E27FC236}">
                <a16:creationId xmlns:a16="http://schemas.microsoft.com/office/drawing/2014/main" xmlns="" id="{A5DC2DCB-71B6-E5B2-3E70-5C7A7C52E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1212851"/>
            <a:ext cx="22558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62" name="Text Box 35">
            <a:extLst>
              <a:ext uri="{FF2B5EF4-FFF2-40B4-BE49-F238E27FC236}">
                <a16:creationId xmlns:a16="http://schemas.microsoft.com/office/drawing/2014/main" xmlns="" id="{07325E0F-DFD4-FF9C-1938-F500BD6A5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378618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>
            <a:extLst>
              <a:ext uri="{FF2B5EF4-FFF2-40B4-BE49-F238E27FC236}">
                <a16:creationId xmlns:a16="http://schemas.microsoft.com/office/drawing/2014/main" xmlns="" id="{3111FC11-FC5C-98BD-2AC8-BFC69E38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5059" name="Slide Number Placeholder 4">
            <a:extLst>
              <a:ext uri="{FF2B5EF4-FFF2-40B4-BE49-F238E27FC236}">
                <a16:creationId xmlns:a16="http://schemas.microsoft.com/office/drawing/2014/main" xmlns="" id="{2DDCAA63-D1E5-8106-C13B-667D64082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351B9026-BE7B-46BB-8168-B1581B0B6308}" type="slidenum">
              <a:rPr lang="en-US" altLang="en-US" sz="1400">
                <a:latin typeface="Arial" panose="020B0604020202020204" pitchFamily="34" charset="0"/>
              </a:rPr>
              <a:pPr/>
              <a:t>48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xmlns="" id="{A40FD82F-66D0-EBD5-84D9-F8B71B966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rdt2.0: operation with no errors</a:t>
            </a:r>
            <a:endParaRPr lang="en-US" altLang="en-US"/>
          </a:p>
        </p:txBody>
      </p:sp>
      <p:sp>
        <p:nvSpPr>
          <p:cNvPr id="45061" name="Oval 3">
            <a:extLst>
              <a:ext uri="{FF2B5EF4-FFF2-40B4-BE49-F238E27FC236}">
                <a16:creationId xmlns:a16="http://schemas.microsoft.com/office/drawing/2014/main" xmlns="" id="{E72ED825-9E45-74C9-1F32-BA38CB709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4" y="2209801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2" name="Text Box 4">
            <a:extLst>
              <a:ext uri="{FF2B5EF4-FFF2-40B4-BE49-F238E27FC236}">
                <a16:creationId xmlns:a16="http://schemas.microsoft.com/office/drawing/2014/main" xmlns="" id="{C9F0E493-9B83-3F02-BFB3-DCE7E559A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3" y="22939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above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63" name="Text Box 5">
            <a:extLst>
              <a:ext uri="{FF2B5EF4-FFF2-40B4-BE49-F238E27FC236}">
                <a16:creationId xmlns:a16="http://schemas.microsoft.com/office/drawing/2014/main" xmlns="" id="{42C746A2-5229-E8B8-1978-7E73BB8C1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1490663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snkpkt = make_pkt(data, checksum)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64" name="Line 6">
            <a:extLst>
              <a:ext uri="{FF2B5EF4-FFF2-40B4-BE49-F238E27FC236}">
                <a16:creationId xmlns:a16="http://schemas.microsoft.com/office/drawing/2014/main" xmlns="" id="{7AD7BDFD-F28C-1D8B-289F-D3F34BF98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3663" y="1535113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65" name="Text Box 7">
            <a:extLst>
              <a:ext uri="{FF2B5EF4-FFF2-40B4-BE49-F238E27FC236}">
                <a16:creationId xmlns:a16="http://schemas.microsoft.com/office/drawing/2014/main" xmlns="" id="{75F1B0D3-E04A-B36B-1985-BF4FFA527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9" y="5314951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udt_send(ACK)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66" name="Text Box 8">
            <a:extLst>
              <a:ext uri="{FF2B5EF4-FFF2-40B4-BE49-F238E27FC236}">
                <a16:creationId xmlns:a16="http://schemas.microsoft.com/office/drawing/2014/main" xmlns="" id="{52F4EB1B-38D3-3F66-AAD0-0B5875A15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613" y="4781551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notcorrupt(rcvpkt)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67" name="Line 9">
            <a:extLst>
              <a:ext uri="{FF2B5EF4-FFF2-40B4-BE49-F238E27FC236}">
                <a16:creationId xmlns:a16="http://schemas.microsoft.com/office/drawing/2014/main" xmlns="" id="{A0A6FC2D-348D-7F3F-7D78-BEF723698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3851" y="5370513"/>
            <a:ext cx="1489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68" name="Freeform 10">
            <a:extLst>
              <a:ext uri="{FF2B5EF4-FFF2-40B4-BE49-F238E27FC236}">
                <a16:creationId xmlns:a16="http://schemas.microsoft.com/office/drawing/2014/main" xmlns="" id="{01116C39-F56E-D14F-1349-691098B8E97C}"/>
              </a:ext>
            </a:extLst>
          </p:cNvPr>
          <p:cNvSpPr>
            <a:spLocks/>
          </p:cNvSpPr>
          <p:nvPr/>
        </p:nvSpPr>
        <p:spPr bwMode="auto">
          <a:xfrm flipV="1">
            <a:off x="2581276" y="19796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9" name="Freeform 11">
            <a:extLst>
              <a:ext uri="{FF2B5EF4-FFF2-40B4-BE49-F238E27FC236}">
                <a16:creationId xmlns:a16="http://schemas.microsoft.com/office/drawing/2014/main" xmlns="" id="{41703469-1AEC-CB48-42B9-BE022404C6A4}"/>
              </a:ext>
            </a:extLst>
          </p:cNvPr>
          <p:cNvSpPr>
            <a:spLocks/>
          </p:cNvSpPr>
          <p:nvPr/>
        </p:nvSpPr>
        <p:spPr bwMode="auto">
          <a:xfrm>
            <a:off x="2628901" y="3140075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70" name="Text Box 12">
            <a:extLst>
              <a:ext uri="{FF2B5EF4-FFF2-40B4-BE49-F238E27FC236}">
                <a16:creationId xmlns:a16="http://schemas.microsoft.com/office/drawing/2014/main" xmlns="" id="{0A1C554D-1322-0E55-A789-21A1BEFF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isACK(rcvpkt)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71" name="Line 13">
            <a:extLst>
              <a:ext uri="{FF2B5EF4-FFF2-40B4-BE49-F238E27FC236}">
                <a16:creationId xmlns:a16="http://schemas.microsoft.com/office/drawing/2014/main" xmlns="" id="{AB3E3B39-A339-3736-4BB4-95FA2306BC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7163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5072" name="Freeform 14">
            <a:extLst>
              <a:ext uri="{FF2B5EF4-FFF2-40B4-BE49-F238E27FC236}">
                <a16:creationId xmlns:a16="http://schemas.microsoft.com/office/drawing/2014/main" xmlns="" id="{A5D48D01-5CA0-91B0-8B46-306EC02F4715}"/>
              </a:ext>
            </a:extLst>
          </p:cNvPr>
          <p:cNvSpPr>
            <a:spLocks/>
          </p:cNvSpPr>
          <p:nvPr/>
        </p:nvSpPr>
        <p:spPr bwMode="auto">
          <a:xfrm>
            <a:off x="4776789" y="2286001"/>
            <a:ext cx="466725" cy="89376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73" name="Text Box 15">
            <a:extLst>
              <a:ext uri="{FF2B5EF4-FFF2-40B4-BE49-F238E27FC236}">
                <a16:creationId xmlns:a16="http://schemas.microsoft.com/office/drawing/2014/main" xmlns="" id="{DE699677-E769-2F82-6B7A-9F5F71960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1" y="2600325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74" name="Text Box 16">
            <a:extLst>
              <a:ext uri="{FF2B5EF4-FFF2-40B4-BE49-F238E27FC236}">
                <a16:creationId xmlns:a16="http://schemas.microsoft.com/office/drawing/2014/main" xmlns="" id="{ADD34131-C7D5-D73F-FC60-9BB86F052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1" y="1925639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isNAK(rcvpkt)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75" name="Line 17">
            <a:extLst>
              <a:ext uri="{FF2B5EF4-FFF2-40B4-BE49-F238E27FC236}">
                <a16:creationId xmlns:a16="http://schemas.microsoft.com/office/drawing/2014/main" xmlns="" id="{50535ACE-834A-F63D-2C03-946FFE4AC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5076" name="Group 18">
            <a:extLst>
              <a:ext uri="{FF2B5EF4-FFF2-40B4-BE49-F238E27FC236}">
                <a16:creationId xmlns:a16="http://schemas.microsoft.com/office/drawing/2014/main" xmlns="" id="{6F90BBE3-D01D-8CD8-C46D-8B5EBB753C86}"/>
              </a:ext>
            </a:extLst>
          </p:cNvPr>
          <p:cNvGrpSpPr>
            <a:grpSpLocks/>
          </p:cNvGrpSpPr>
          <p:nvPr/>
        </p:nvGrpSpPr>
        <p:grpSpPr bwMode="auto">
          <a:xfrm>
            <a:off x="8097838" y="2352675"/>
            <a:ext cx="1924050" cy="858838"/>
            <a:chOff x="2222" y="2660"/>
            <a:chExt cx="1212" cy="541"/>
          </a:xfrm>
        </p:grpSpPr>
        <p:sp>
          <p:nvSpPr>
            <p:cNvPr id="45104" name="Text Box 19">
              <a:extLst>
                <a:ext uri="{FF2B5EF4-FFF2-40B4-BE49-F238E27FC236}">
                  <a16:creationId xmlns:a16="http://schemas.microsoft.com/office/drawing/2014/main" xmlns="" id="{B0EFBF79-B455-4937-925D-6AF33F992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udt_send(NAK)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5105" name="Text Box 20">
              <a:extLst>
                <a:ext uri="{FF2B5EF4-FFF2-40B4-BE49-F238E27FC236}">
                  <a16:creationId xmlns:a16="http://schemas.microsoft.com/office/drawing/2014/main" xmlns="" id="{76506ADA-14E5-3D49-954B-8F63F16AD1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rdt_rcv(rcvpkt) &amp;&amp; 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corrupt(rcvpkt)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5106" name="Line 21">
              <a:extLst>
                <a:ext uri="{FF2B5EF4-FFF2-40B4-BE49-F238E27FC236}">
                  <a16:creationId xmlns:a16="http://schemas.microsoft.com/office/drawing/2014/main" xmlns="" id="{6B19C941-4A1A-7A8D-0AA2-A031F17D4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5077" name="Group 22">
            <a:extLst>
              <a:ext uri="{FF2B5EF4-FFF2-40B4-BE49-F238E27FC236}">
                <a16:creationId xmlns:a16="http://schemas.microsoft.com/office/drawing/2014/main" xmlns="" id="{CA00E945-B1D0-60DE-DE3F-316F1314422F}"/>
              </a:ext>
            </a:extLst>
          </p:cNvPr>
          <p:cNvGrpSpPr>
            <a:grpSpLocks/>
          </p:cNvGrpSpPr>
          <p:nvPr/>
        </p:nvGrpSpPr>
        <p:grpSpPr bwMode="auto">
          <a:xfrm>
            <a:off x="3816350" y="2222501"/>
            <a:ext cx="1074738" cy="962025"/>
            <a:chOff x="1540" y="2116"/>
            <a:chExt cx="677" cy="606"/>
          </a:xfrm>
        </p:grpSpPr>
        <p:sp>
          <p:nvSpPr>
            <p:cNvPr id="45102" name="Oval 23">
              <a:extLst>
                <a:ext uri="{FF2B5EF4-FFF2-40B4-BE49-F238E27FC236}">
                  <a16:creationId xmlns:a16="http://schemas.microsoft.com/office/drawing/2014/main" xmlns="" id="{D2A1F196-F733-FB8D-5E5A-A6175FE66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5103" name="Text Box 24">
              <a:extLst>
                <a:ext uri="{FF2B5EF4-FFF2-40B4-BE49-F238E27FC236}">
                  <a16:creationId xmlns:a16="http://schemas.microsoft.com/office/drawing/2014/main" xmlns="" id="{03D1F5DD-422E-6139-E5C7-505D74917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Wait for ACK or NAK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5078" name="Freeform 25">
            <a:extLst>
              <a:ext uri="{FF2B5EF4-FFF2-40B4-BE49-F238E27FC236}">
                <a16:creationId xmlns:a16="http://schemas.microsoft.com/office/drawing/2014/main" xmlns="" id="{3FB6379F-24FF-6551-D1D6-8AFCA752D234}"/>
              </a:ext>
            </a:extLst>
          </p:cNvPr>
          <p:cNvSpPr>
            <a:spLocks/>
          </p:cNvSpPr>
          <p:nvPr/>
        </p:nvSpPr>
        <p:spPr bwMode="auto">
          <a:xfrm>
            <a:off x="8196263" y="3148013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79" name="Oval 26">
            <a:extLst>
              <a:ext uri="{FF2B5EF4-FFF2-40B4-BE49-F238E27FC236}">
                <a16:creationId xmlns:a16="http://schemas.microsoft.com/office/drawing/2014/main" xmlns="" id="{DD3A448D-EE54-B1F9-A557-3B1013734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339" y="3568701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80" name="Text Box 27">
            <a:extLst>
              <a:ext uri="{FF2B5EF4-FFF2-40B4-BE49-F238E27FC236}">
                <a16:creationId xmlns:a16="http://schemas.microsoft.com/office/drawing/2014/main" xmlns="" id="{3809AA29-A49A-C4C5-32EF-A07059B49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5" y="36528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below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81" name="Freeform 28">
            <a:extLst>
              <a:ext uri="{FF2B5EF4-FFF2-40B4-BE49-F238E27FC236}">
                <a16:creationId xmlns:a16="http://schemas.microsoft.com/office/drawing/2014/main" xmlns="" id="{AE233B73-0F66-27A3-235F-C87CDE137EE7}"/>
              </a:ext>
            </a:extLst>
          </p:cNvPr>
          <p:cNvSpPr>
            <a:spLocks/>
          </p:cNvSpPr>
          <p:nvPr/>
        </p:nvSpPr>
        <p:spPr bwMode="auto">
          <a:xfrm flipV="1">
            <a:off x="8208963" y="4464050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xmlns="" id="{CADE0EA3-797A-0E8C-ACAD-CD179BC3E128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2166939"/>
            <a:ext cx="1333500" cy="1004887"/>
            <a:chOff x="220" y="1365"/>
            <a:chExt cx="840" cy="633"/>
          </a:xfrm>
        </p:grpSpPr>
        <p:sp>
          <p:nvSpPr>
            <p:cNvPr id="45100" name="Line 30">
              <a:extLst>
                <a:ext uri="{FF2B5EF4-FFF2-40B4-BE49-F238E27FC236}">
                  <a16:creationId xmlns:a16="http://schemas.microsoft.com/office/drawing/2014/main" xmlns="" id="{96EC4B20-524C-7B72-21A5-EB59E5A265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101" name="Oval 31">
              <a:extLst>
                <a:ext uri="{FF2B5EF4-FFF2-40B4-BE49-F238E27FC236}">
                  <a16:creationId xmlns:a16="http://schemas.microsoft.com/office/drawing/2014/main" xmlns="" id="{9187FC46-0588-95B5-E86C-3AF404E1E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xmlns="" id="{9B27231E-1FB4-51DC-2DB6-6CE167B9D851}"/>
              </a:ext>
            </a:extLst>
          </p:cNvPr>
          <p:cNvGrpSpPr>
            <a:grpSpLocks/>
          </p:cNvGrpSpPr>
          <p:nvPr/>
        </p:nvGrpSpPr>
        <p:grpSpPr bwMode="auto">
          <a:xfrm>
            <a:off x="7858126" y="3497263"/>
            <a:ext cx="1414463" cy="1033462"/>
            <a:chOff x="3990" y="2203"/>
            <a:chExt cx="891" cy="651"/>
          </a:xfrm>
        </p:grpSpPr>
        <p:sp>
          <p:nvSpPr>
            <p:cNvPr id="45098" name="Line 33">
              <a:extLst>
                <a:ext uri="{FF2B5EF4-FFF2-40B4-BE49-F238E27FC236}">
                  <a16:creationId xmlns:a16="http://schemas.microsoft.com/office/drawing/2014/main" xmlns="" id="{E536051F-7B3E-D112-0B2B-8782D4D93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2203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099" name="Oval 34">
              <a:extLst>
                <a:ext uri="{FF2B5EF4-FFF2-40B4-BE49-F238E27FC236}">
                  <a16:creationId xmlns:a16="http://schemas.microsoft.com/office/drawing/2014/main" xmlns="" id="{5997044E-E5CA-B09E-6168-E622A6480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" y="2248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5084" name="Text Box 35">
            <a:extLst>
              <a:ext uri="{FF2B5EF4-FFF2-40B4-BE49-F238E27FC236}">
                <a16:creationId xmlns:a16="http://schemas.microsoft.com/office/drawing/2014/main" xmlns="" id="{FD3F9DEF-6D37-7421-0F81-FC1D2E997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9" y="1200151"/>
            <a:ext cx="22558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8804" name="Line 36">
            <a:extLst>
              <a:ext uri="{FF2B5EF4-FFF2-40B4-BE49-F238E27FC236}">
                <a16:creationId xmlns:a16="http://schemas.microsoft.com/office/drawing/2014/main" xmlns="" id="{711B5B4E-F855-AC86-F623-D08037F762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1289051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8805" name="Freeform 37">
            <a:extLst>
              <a:ext uri="{FF2B5EF4-FFF2-40B4-BE49-F238E27FC236}">
                <a16:creationId xmlns:a16="http://schemas.microsoft.com/office/drawing/2014/main" xmlns="" id="{D1B39D1A-349A-7276-1106-7E8111541337}"/>
              </a:ext>
            </a:extLst>
          </p:cNvPr>
          <p:cNvSpPr>
            <a:spLocks/>
          </p:cNvSpPr>
          <p:nvPr/>
        </p:nvSpPr>
        <p:spPr bwMode="auto">
          <a:xfrm>
            <a:off x="2535238" y="2006600"/>
            <a:ext cx="6697662" cy="3060700"/>
          </a:xfrm>
          <a:custGeom>
            <a:avLst/>
            <a:gdLst>
              <a:gd name="T0" fmla="*/ 0 w 4219"/>
              <a:gd name="T1" fmla="*/ 2147483647 h 1928"/>
              <a:gd name="T2" fmla="*/ 2147483647 w 4219"/>
              <a:gd name="T3" fmla="*/ 0 h 1928"/>
              <a:gd name="T4" fmla="*/ 2147483647 w 4219"/>
              <a:gd name="T5" fmla="*/ 2147483647 h 1928"/>
              <a:gd name="T6" fmla="*/ 2147483647 w 4219"/>
              <a:gd name="T7" fmla="*/ 2147483647 h 1928"/>
              <a:gd name="T8" fmla="*/ 0 60000 65536"/>
              <a:gd name="T9" fmla="*/ 0 60000 65536"/>
              <a:gd name="T10" fmla="*/ 0 60000 65536"/>
              <a:gd name="T11" fmla="*/ 0 60000 65536"/>
              <a:gd name="T12" fmla="*/ 0 w 4219"/>
              <a:gd name="T13" fmla="*/ 0 h 1928"/>
              <a:gd name="T14" fmla="*/ 4219 w 4219"/>
              <a:gd name="T15" fmla="*/ 1928 h 19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19" h="1928">
                <a:moveTo>
                  <a:pt x="0" y="10"/>
                </a:moveTo>
                <a:lnTo>
                  <a:pt x="1003" y="0"/>
                </a:lnTo>
                <a:lnTo>
                  <a:pt x="3387" y="1928"/>
                </a:lnTo>
                <a:lnTo>
                  <a:pt x="4219" y="1928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xmlns="" id="{8FE37B0E-1D68-1DF4-DD99-8ABD49DCF9C6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2166939"/>
            <a:ext cx="1333500" cy="1004887"/>
            <a:chOff x="220" y="1365"/>
            <a:chExt cx="840" cy="633"/>
          </a:xfrm>
        </p:grpSpPr>
        <p:sp>
          <p:nvSpPr>
            <p:cNvPr id="45096" name="Line 39">
              <a:extLst>
                <a:ext uri="{FF2B5EF4-FFF2-40B4-BE49-F238E27FC236}">
                  <a16:creationId xmlns:a16="http://schemas.microsoft.com/office/drawing/2014/main" xmlns="" id="{19FA3BB4-A1A6-B6B0-B50D-3724C7AE4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097" name="Oval 40">
              <a:extLst>
                <a:ext uri="{FF2B5EF4-FFF2-40B4-BE49-F238E27FC236}">
                  <a16:creationId xmlns:a16="http://schemas.microsoft.com/office/drawing/2014/main" xmlns="" id="{788DE430-D6F6-2786-F9C6-C1195DBB7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88809" name="Oval 41">
            <a:extLst>
              <a:ext uri="{FF2B5EF4-FFF2-40B4-BE49-F238E27FC236}">
                <a16:creationId xmlns:a16="http://schemas.microsoft.com/office/drawing/2014/main" xmlns="" id="{E6BB96BE-9190-3502-FC74-E2577DF4B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9" y="2222501"/>
            <a:ext cx="985837" cy="9620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8810" name="Line 42">
            <a:extLst>
              <a:ext uri="{FF2B5EF4-FFF2-40B4-BE49-F238E27FC236}">
                <a16:creationId xmlns:a16="http://schemas.microsoft.com/office/drawing/2014/main" xmlns="" id="{4481C6D0-7BE3-C08B-AB1C-EEB4670F1F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5100" y="4902200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8811" name="Freeform 43">
            <a:extLst>
              <a:ext uri="{FF2B5EF4-FFF2-40B4-BE49-F238E27FC236}">
                <a16:creationId xmlns:a16="http://schemas.microsoft.com/office/drawing/2014/main" xmlns="" id="{DBAFF1AE-DCE8-C297-E5EF-2964A171C6D8}"/>
              </a:ext>
            </a:extLst>
          </p:cNvPr>
          <p:cNvSpPr>
            <a:spLocks/>
          </p:cNvSpPr>
          <p:nvPr/>
        </p:nvSpPr>
        <p:spPr bwMode="auto">
          <a:xfrm>
            <a:off x="2679700" y="3886200"/>
            <a:ext cx="6667500" cy="2260600"/>
          </a:xfrm>
          <a:custGeom>
            <a:avLst/>
            <a:gdLst>
              <a:gd name="T0" fmla="*/ 2147483647 w 4200"/>
              <a:gd name="T1" fmla="*/ 2147483647 h 1424"/>
              <a:gd name="T2" fmla="*/ 2147483647 w 4200"/>
              <a:gd name="T3" fmla="*/ 2147483647 h 1424"/>
              <a:gd name="T4" fmla="*/ 2147483647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00" h="1424">
                <a:moveTo>
                  <a:pt x="4200" y="1424"/>
                </a:moveTo>
                <a:lnTo>
                  <a:pt x="3224" y="1424"/>
                </a:lnTo>
                <a:lnTo>
                  <a:pt x="188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7" name="Group 44">
            <a:extLst>
              <a:ext uri="{FF2B5EF4-FFF2-40B4-BE49-F238E27FC236}">
                <a16:creationId xmlns:a16="http://schemas.microsoft.com/office/drawing/2014/main" xmlns="" id="{FE0DB6E1-4FE5-B342-C378-3BBCB13A3E3B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2166939"/>
            <a:ext cx="1333500" cy="1004887"/>
            <a:chOff x="220" y="1365"/>
            <a:chExt cx="840" cy="633"/>
          </a:xfrm>
        </p:grpSpPr>
        <p:sp>
          <p:nvSpPr>
            <p:cNvPr id="45094" name="Line 45">
              <a:extLst>
                <a:ext uri="{FF2B5EF4-FFF2-40B4-BE49-F238E27FC236}">
                  <a16:creationId xmlns:a16="http://schemas.microsoft.com/office/drawing/2014/main" xmlns="" id="{21061B3D-8F7A-8277-5453-A7454C651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095" name="Oval 46">
              <a:extLst>
                <a:ext uri="{FF2B5EF4-FFF2-40B4-BE49-F238E27FC236}">
                  <a16:creationId xmlns:a16="http://schemas.microsoft.com/office/drawing/2014/main" xmlns="" id="{3CAFC27D-587B-48D8-47F6-AD1362DAB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88815" name="Oval 47">
            <a:extLst>
              <a:ext uri="{FF2B5EF4-FFF2-40B4-BE49-F238E27FC236}">
                <a16:creationId xmlns:a16="http://schemas.microsoft.com/office/drawing/2014/main" xmlns="" id="{969F2089-785F-A7E6-56FC-A236C33AA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2227264"/>
            <a:ext cx="985837" cy="9620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93" name="Text Box 48">
            <a:extLst>
              <a:ext uri="{FF2B5EF4-FFF2-40B4-BE49-F238E27FC236}">
                <a16:creationId xmlns:a16="http://schemas.microsoft.com/office/drawing/2014/main" xmlns="" id="{9C59D29E-C15F-3EC6-CF37-427AAFA96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3700" y="38544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8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88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88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288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0"/>
                                            </p:cond>
                                          </p:stCondLst>
                                        </p:cTn>
                                        <p:tgtEl>
                                          <p:spTgt spid="288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05" grpId="0" animBg="1"/>
      <p:bldP spid="288809" grpId="0" animBg="1"/>
      <p:bldP spid="288811" grpId="0" animBg="1"/>
      <p:bldP spid="288815" grpId="0" animBg="1"/>
      <p:bldP spid="288815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xmlns="" id="{F0DD834B-C2D1-60A1-3F8C-F93F13CE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6083" name="Slide Number Placeholder 4">
            <a:extLst>
              <a:ext uri="{FF2B5EF4-FFF2-40B4-BE49-F238E27FC236}">
                <a16:creationId xmlns:a16="http://schemas.microsoft.com/office/drawing/2014/main" xmlns="" id="{EE63449D-9173-2CE5-8A39-45158857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51EB8927-4AC7-4B33-A3BA-EB92FFEE610B}" type="slidenum">
              <a:rPr lang="en-US" altLang="en-US" sz="1400">
                <a:latin typeface="Arial" panose="020B0604020202020204" pitchFamily="34" charset="0"/>
              </a:rPr>
              <a:pPr/>
              <a:t>49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6084" name="Rectangle 2">
            <a:extLst>
              <a:ext uri="{FF2B5EF4-FFF2-40B4-BE49-F238E27FC236}">
                <a16:creationId xmlns:a16="http://schemas.microsoft.com/office/drawing/2014/main" xmlns="" id="{134C39A2-3A3F-033E-F6D7-AD349E69C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rdt2.0: error scenario</a:t>
            </a:r>
            <a:endParaRPr lang="en-US" altLang="en-US"/>
          </a:p>
        </p:txBody>
      </p:sp>
      <p:sp>
        <p:nvSpPr>
          <p:cNvPr id="46085" name="Oval 3">
            <a:extLst>
              <a:ext uri="{FF2B5EF4-FFF2-40B4-BE49-F238E27FC236}">
                <a16:creationId xmlns:a16="http://schemas.microsoft.com/office/drawing/2014/main" xmlns="" id="{4DAD6EB1-CB1C-329B-83D3-2D60E1251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4" y="2209801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86" name="Text Box 4">
            <a:extLst>
              <a:ext uri="{FF2B5EF4-FFF2-40B4-BE49-F238E27FC236}">
                <a16:creationId xmlns:a16="http://schemas.microsoft.com/office/drawing/2014/main" xmlns="" id="{BFCA11F1-1822-42A0-7EF4-E534270B8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3" y="22939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above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7" name="Text Box 5">
            <a:extLst>
              <a:ext uri="{FF2B5EF4-FFF2-40B4-BE49-F238E27FC236}">
                <a16:creationId xmlns:a16="http://schemas.microsoft.com/office/drawing/2014/main" xmlns="" id="{A294EBF2-B08B-DDC5-1AA9-C7A06F3C7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1490663"/>
            <a:ext cx="36433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snkpkt = make_pkt(data, checksum)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8" name="Line 6">
            <a:extLst>
              <a:ext uri="{FF2B5EF4-FFF2-40B4-BE49-F238E27FC236}">
                <a16:creationId xmlns:a16="http://schemas.microsoft.com/office/drawing/2014/main" xmlns="" id="{AE2EDF14-EFFD-96E1-7380-47AB9F636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3663" y="1535113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89" name="Text Box 7">
            <a:extLst>
              <a:ext uri="{FF2B5EF4-FFF2-40B4-BE49-F238E27FC236}">
                <a16:creationId xmlns:a16="http://schemas.microsoft.com/office/drawing/2014/main" xmlns="" id="{91ED392A-0D5F-5199-6834-C7287D3DF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9" y="5314951"/>
            <a:ext cx="214312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udt_send(ACK)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90" name="Text Box 8">
            <a:extLst>
              <a:ext uri="{FF2B5EF4-FFF2-40B4-BE49-F238E27FC236}">
                <a16:creationId xmlns:a16="http://schemas.microsoft.com/office/drawing/2014/main" xmlns="" id="{339ACB3B-7C9C-FCE1-2AED-2B26F7695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613" y="4781551"/>
            <a:ext cx="21574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notcorrupt(rcvpkt)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91" name="Line 9">
            <a:extLst>
              <a:ext uri="{FF2B5EF4-FFF2-40B4-BE49-F238E27FC236}">
                <a16:creationId xmlns:a16="http://schemas.microsoft.com/office/drawing/2014/main" xmlns="" id="{A219B532-7745-A875-B5D3-CDABA67E7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3851" y="5370513"/>
            <a:ext cx="14890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2" name="Freeform 10">
            <a:extLst>
              <a:ext uri="{FF2B5EF4-FFF2-40B4-BE49-F238E27FC236}">
                <a16:creationId xmlns:a16="http://schemas.microsoft.com/office/drawing/2014/main" xmlns="" id="{F39EB568-9D17-777E-6AE0-E37998016A5F}"/>
              </a:ext>
            </a:extLst>
          </p:cNvPr>
          <p:cNvSpPr>
            <a:spLocks/>
          </p:cNvSpPr>
          <p:nvPr/>
        </p:nvSpPr>
        <p:spPr bwMode="auto">
          <a:xfrm flipV="1">
            <a:off x="2581276" y="1979613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93" name="Freeform 11">
            <a:extLst>
              <a:ext uri="{FF2B5EF4-FFF2-40B4-BE49-F238E27FC236}">
                <a16:creationId xmlns:a16="http://schemas.microsoft.com/office/drawing/2014/main" xmlns="" id="{E5B4144E-7C20-876D-5CEE-0EFACFD133B8}"/>
              </a:ext>
            </a:extLst>
          </p:cNvPr>
          <p:cNvSpPr>
            <a:spLocks/>
          </p:cNvSpPr>
          <p:nvPr/>
        </p:nvSpPr>
        <p:spPr bwMode="auto">
          <a:xfrm>
            <a:off x="2628901" y="3140075"/>
            <a:ext cx="1800225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94" name="Text Box 12">
            <a:extLst>
              <a:ext uri="{FF2B5EF4-FFF2-40B4-BE49-F238E27FC236}">
                <a16:creationId xmlns:a16="http://schemas.microsoft.com/office/drawing/2014/main" xmlns="" id="{D66CFD38-F0A2-0C4C-C357-5725AAAD1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3" y="3492500"/>
            <a:ext cx="35480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isACK(rcvpkt)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95" name="Line 13">
            <a:extLst>
              <a:ext uri="{FF2B5EF4-FFF2-40B4-BE49-F238E27FC236}">
                <a16:creationId xmlns:a16="http://schemas.microsoft.com/office/drawing/2014/main" xmlns="" id="{EEDD8434-D6D2-13A3-AD7E-032B825639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7163" y="38163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6096" name="Freeform 14">
            <a:extLst>
              <a:ext uri="{FF2B5EF4-FFF2-40B4-BE49-F238E27FC236}">
                <a16:creationId xmlns:a16="http://schemas.microsoft.com/office/drawing/2014/main" xmlns="" id="{47BB130F-046D-7D63-5644-0EBD0B4CAE4E}"/>
              </a:ext>
            </a:extLst>
          </p:cNvPr>
          <p:cNvSpPr>
            <a:spLocks/>
          </p:cNvSpPr>
          <p:nvPr/>
        </p:nvSpPr>
        <p:spPr bwMode="auto">
          <a:xfrm>
            <a:off x="4776789" y="2286001"/>
            <a:ext cx="466725" cy="893763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97" name="Text Box 15">
            <a:extLst>
              <a:ext uri="{FF2B5EF4-FFF2-40B4-BE49-F238E27FC236}">
                <a16:creationId xmlns:a16="http://schemas.microsoft.com/office/drawing/2014/main" xmlns="" id="{1527F924-65B7-4AF0-501B-823ED7351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6351" y="2600325"/>
            <a:ext cx="1763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98" name="Text Box 16">
            <a:extLst>
              <a:ext uri="{FF2B5EF4-FFF2-40B4-BE49-F238E27FC236}">
                <a16:creationId xmlns:a16="http://schemas.microsoft.com/office/drawing/2014/main" xmlns="" id="{C13ECBEE-E027-15DC-189C-3507562EB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1" y="1925639"/>
            <a:ext cx="20859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isNAK(rcvpkt)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99" name="Line 17">
            <a:extLst>
              <a:ext uri="{FF2B5EF4-FFF2-40B4-BE49-F238E27FC236}">
                <a16:creationId xmlns:a16="http://schemas.microsoft.com/office/drawing/2014/main" xmlns="" id="{0C8CC334-14B0-8C25-9217-1E6D0D532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0013" y="26003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6100" name="Group 18">
            <a:extLst>
              <a:ext uri="{FF2B5EF4-FFF2-40B4-BE49-F238E27FC236}">
                <a16:creationId xmlns:a16="http://schemas.microsoft.com/office/drawing/2014/main" xmlns="" id="{657D2EE4-0343-01E8-F034-BF45C047F88F}"/>
              </a:ext>
            </a:extLst>
          </p:cNvPr>
          <p:cNvGrpSpPr>
            <a:grpSpLocks/>
          </p:cNvGrpSpPr>
          <p:nvPr/>
        </p:nvGrpSpPr>
        <p:grpSpPr bwMode="auto">
          <a:xfrm>
            <a:off x="8097838" y="2352675"/>
            <a:ext cx="1924050" cy="858838"/>
            <a:chOff x="2222" y="2660"/>
            <a:chExt cx="1212" cy="541"/>
          </a:xfrm>
        </p:grpSpPr>
        <p:sp>
          <p:nvSpPr>
            <p:cNvPr id="46132" name="Text Box 19">
              <a:extLst>
                <a:ext uri="{FF2B5EF4-FFF2-40B4-BE49-F238E27FC236}">
                  <a16:creationId xmlns:a16="http://schemas.microsoft.com/office/drawing/2014/main" xmlns="" id="{B959F2BD-B904-99A4-2611-4A5FF565A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3039"/>
              <a:ext cx="1152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udt_send(NAK)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6133" name="Text Box 20">
              <a:extLst>
                <a:ext uri="{FF2B5EF4-FFF2-40B4-BE49-F238E27FC236}">
                  <a16:creationId xmlns:a16="http://schemas.microsoft.com/office/drawing/2014/main" xmlns="" id="{3E958137-8396-0A97-6E1C-01EF84446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5" y="2660"/>
              <a:ext cx="1209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l"/>
              <a:r>
                <a:rPr lang="en-US" altLang="en-US">
                  <a:latin typeface="Arial" panose="020B0604020202020204" pitchFamily="34" charset="0"/>
                </a:rPr>
                <a:t>rdt_rcv(rcvpkt) &amp;&amp; </a:t>
              </a:r>
            </a:p>
            <a:p>
              <a:pPr algn="l"/>
              <a:r>
                <a:rPr lang="en-US" altLang="en-US">
                  <a:latin typeface="Arial" panose="020B0604020202020204" pitchFamily="34" charset="0"/>
                </a:rPr>
                <a:t>  corrupt(rcvpkt)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46134" name="Line 21">
              <a:extLst>
                <a:ext uri="{FF2B5EF4-FFF2-40B4-BE49-F238E27FC236}">
                  <a16:creationId xmlns:a16="http://schemas.microsoft.com/office/drawing/2014/main" xmlns="" id="{B1E4D7AC-0D13-75E4-DA7F-70FC41EFC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5" y="3040"/>
              <a:ext cx="62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6101" name="Group 22">
            <a:extLst>
              <a:ext uri="{FF2B5EF4-FFF2-40B4-BE49-F238E27FC236}">
                <a16:creationId xmlns:a16="http://schemas.microsoft.com/office/drawing/2014/main" xmlns="" id="{F803D474-EC9F-D7DB-8FD5-63A3D314229F}"/>
              </a:ext>
            </a:extLst>
          </p:cNvPr>
          <p:cNvGrpSpPr>
            <a:grpSpLocks/>
          </p:cNvGrpSpPr>
          <p:nvPr/>
        </p:nvGrpSpPr>
        <p:grpSpPr bwMode="auto">
          <a:xfrm>
            <a:off x="3816350" y="2222501"/>
            <a:ext cx="1074738" cy="962025"/>
            <a:chOff x="1540" y="2116"/>
            <a:chExt cx="677" cy="606"/>
          </a:xfrm>
        </p:grpSpPr>
        <p:sp>
          <p:nvSpPr>
            <p:cNvPr id="46130" name="Oval 23">
              <a:extLst>
                <a:ext uri="{FF2B5EF4-FFF2-40B4-BE49-F238E27FC236}">
                  <a16:creationId xmlns:a16="http://schemas.microsoft.com/office/drawing/2014/main" xmlns="" id="{7F605EFA-FFA9-F3B0-6ADD-644BD4CF1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131" name="Text Box 24">
              <a:extLst>
                <a:ext uri="{FF2B5EF4-FFF2-40B4-BE49-F238E27FC236}">
                  <a16:creationId xmlns:a16="http://schemas.microsoft.com/office/drawing/2014/main" xmlns="" id="{1747873E-3231-413E-3776-BB61A59DB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Wait for ACK or NAK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46102" name="Freeform 25">
            <a:extLst>
              <a:ext uri="{FF2B5EF4-FFF2-40B4-BE49-F238E27FC236}">
                <a16:creationId xmlns:a16="http://schemas.microsoft.com/office/drawing/2014/main" xmlns="" id="{B99D4B93-ECE8-9045-6CF1-57D1C8AA4CAC}"/>
              </a:ext>
            </a:extLst>
          </p:cNvPr>
          <p:cNvSpPr>
            <a:spLocks/>
          </p:cNvSpPr>
          <p:nvPr/>
        </p:nvSpPr>
        <p:spPr bwMode="auto">
          <a:xfrm>
            <a:off x="8196263" y="3148013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103" name="Oval 26">
            <a:extLst>
              <a:ext uri="{FF2B5EF4-FFF2-40B4-BE49-F238E27FC236}">
                <a16:creationId xmlns:a16="http://schemas.microsoft.com/office/drawing/2014/main" xmlns="" id="{A75234A8-E3CF-F1C4-3162-B7A7F488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8339" y="3568701"/>
            <a:ext cx="985837" cy="9620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104" name="Text Box 27">
            <a:extLst>
              <a:ext uri="{FF2B5EF4-FFF2-40B4-BE49-F238E27FC236}">
                <a16:creationId xmlns:a16="http://schemas.microsoft.com/office/drawing/2014/main" xmlns="" id="{F159F8DE-6EF4-351F-18CC-C503B3F87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5" y="3652838"/>
            <a:ext cx="1200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 for call from below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105" name="Freeform 28">
            <a:extLst>
              <a:ext uri="{FF2B5EF4-FFF2-40B4-BE49-F238E27FC236}">
                <a16:creationId xmlns:a16="http://schemas.microsoft.com/office/drawing/2014/main" xmlns="" id="{5C03AF6C-6B6A-2660-E149-4192E77B7903}"/>
              </a:ext>
            </a:extLst>
          </p:cNvPr>
          <p:cNvSpPr>
            <a:spLocks/>
          </p:cNvSpPr>
          <p:nvPr/>
        </p:nvSpPr>
        <p:spPr bwMode="auto">
          <a:xfrm flipV="1">
            <a:off x="8208963" y="4464050"/>
            <a:ext cx="12573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" name="Group 29">
            <a:extLst>
              <a:ext uri="{FF2B5EF4-FFF2-40B4-BE49-F238E27FC236}">
                <a16:creationId xmlns:a16="http://schemas.microsoft.com/office/drawing/2014/main" xmlns="" id="{6B1A9DFC-4E90-C65A-A422-462517A4EF5D}"/>
              </a:ext>
            </a:extLst>
          </p:cNvPr>
          <p:cNvGrpSpPr>
            <a:grpSpLocks/>
          </p:cNvGrpSpPr>
          <p:nvPr/>
        </p:nvGrpSpPr>
        <p:grpSpPr bwMode="auto">
          <a:xfrm>
            <a:off x="1873250" y="2166939"/>
            <a:ext cx="1333500" cy="1004887"/>
            <a:chOff x="220" y="1365"/>
            <a:chExt cx="840" cy="633"/>
          </a:xfrm>
        </p:grpSpPr>
        <p:sp>
          <p:nvSpPr>
            <p:cNvPr id="46128" name="Line 30">
              <a:extLst>
                <a:ext uri="{FF2B5EF4-FFF2-40B4-BE49-F238E27FC236}">
                  <a16:creationId xmlns:a16="http://schemas.microsoft.com/office/drawing/2014/main" xmlns="" id="{2262BEE7-79BD-2B77-4660-07333AF7A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129" name="Oval 31">
              <a:extLst>
                <a:ext uri="{FF2B5EF4-FFF2-40B4-BE49-F238E27FC236}">
                  <a16:creationId xmlns:a16="http://schemas.microsoft.com/office/drawing/2014/main" xmlns="" id="{1BB1FC6D-8D3F-AAB8-E7E8-0BFCDFE0A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xmlns="" id="{54F2D27C-D4AD-9AA4-09E9-56312546ABE7}"/>
              </a:ext>
            </a:extLst>
          </p:cNvPr>
          <p:cNvGrpSpPr>
            <a:grpSpLocks/>
          </p:cNvGrpSpPr>
          <p:nvPr/>
        </p:nvGrpSpPr>
        <p:grpSpPr bwMode="auto">
          <a:xfrm>
            <a:off x="7858126" y="3497263"/>
            <a:ext cx="1414463" cy="1033462"/>
            <a:chOff x="3990" y="2203"/>
            <a:chExt cx="891" cy="651"/>
          </a:xfrm>
        </p:grpSpPr>
        <p:sp>
          <p:nvSpPr>
            <p:cNvPr id="46126" name="Line 33">
              <a:extLst>
                <a:ext uri="{FF2B5EF4-FFF2-40B4-BE49-F238E27FC236}">
                  <a16:creationId xmlns:a16="http://schemas.microsoft.com/office/drawing/2014/main" xmlns="" id="{FE220079-F4EA-8B90-DEFA-C27D854BE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2203"/>
              <a:ext cx="273" cy="1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127" name="Oval 34">
              <a:extLst>
                <a:ext uri="{FF2B5EF4-FFF2-40B4-BE49-F238E27FC236}">
                  <a16:creationId xmlns:a16="http://schemas.microsoft.com/office/drawing/2014/main" xmlns="" id="{1A747F7E-BBD5-F7CA-CC46-1B9A7DA15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0" y="2248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6108" name="Text Box 35">
            <a:extLst>
              <a:ext uri="{FF2B5EF4-FFF2-40B4-BE49-F238E27FC236}">
                <a16:creationId xmlns:a16="http://schemas.microsoft.com/office/drawing/2014/main" xmlns="" id="{E57CD3D7-FB81-2D5E-9469-8E7B08522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9" y="1200151"/>
            <a:ext cx="22558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89828" name="Line 36">
            <a:extLst>
              <a:ext uri="{FF2B5EF4-FFF2-40B4-BE49-F238E27FC236}">
                <a16:creationId xmlns:a16="http://schemas.microsoft.com/office/drawing/2014/main" xmlns="" id="{759E7199-2EAE-BDBB-2D99-32160B5D0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5238" y="1289051"/>
            <a:ext cx="12700" cy="7477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9829" name="Freeform 37">
            <a:extLst>
              <a:ext uri="{FF2B5EF4-FFF2-40B4-BE49-F238E27FC236}">
                <a16:creationId xmlns:a16="http://schemas.microsoft.com/office/drawing/2014/main" xmlns="" id="{71B66F3B-7222-8AB0-94D7-6B12189AF53A}"/>
              </a:ext>
            </a:extLst>
          </p:cNvPr>
          <p:cNvSpPr>
            <a:spLocks/>
          </p:cNvSpPr>
          <p:nvPr/>
        </p:nvSpPr>
        <p:spPr bwMode="auto">
          <a:xfrm>
            <a:off x="2535238" y="2006600"/>
            <a:ext cx="6940550" cy="654050"/>
          </a:xfrm>
          <a:custGeom>
            <a:avLst/>
            <a:gdLst>
              <a:gd name="T0" fmla="*/ 0 w 4372"/>
              <a:gd name="T1" fmla="*/ 2147483647 h 412"/>
              <a:gd name="T2" fmla="*/ 2147483647 w 4372"/>
              <a:gd name="T3" fmla="*/ 0 h 412"/>
              <a:gd name="T4" fmla="*/ 2147483647 w 4372"/>
              <a:gd name="T5" fmla="*/ 2147483647 h 412"/>
              <a:gd name="T6" fmla="*/ 2147483647 w 4372"/>
              <a:gd name="T7" fmla="*/ 2147483647 h 412"/>
              <a:gd name="T8" fmla="*/ 0 60000 65536"/>
              <a:gd name="T9" fmla="*/ 0 60000 65536"/>
              <a:gd name="T10" fmla="*/ 0 60000 65536"/>
              <a:gd name="T11" fmla="*/ 0 60000 65536"/>
              <a:gd name="T12" fmla="*/ 0 w 4372"/>
              <a:gd name="T13" fmla="*/ 0 h 412"/>
              <a:gd name="T14" fmla="*/ 4372 w 4372"/>
              <a:gd name="T15" fmla="*/ 412 h 4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72" h="412">
                <a:moveTo>
                  <a:pt x="0" y="10"/>
                </a:moveTo>
                <a:lnTo>
                  <a:pt x="1003" y="0"/>
                </a:lnTo>
                <a:lnTo>
                  <a:pt x="3508" y="412"/>
                </a:lnTo>
                <a:lnTo>
                  <a:pt x="4372" y="412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6" name="Group 38">
            <a:extLst>
              <a:ext uri="{FF2B5EF4-FFF2-40B4-BE49-F238E27FC236}">
                <a16:creationId xmlns:a16="http://schemas.microsoft.com/office/drawing/2014/main" xmlns="" id="{17B59EC6-0573-9FFC-8D11-55B676E6686F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2166939"/>
            <a:ext cx="1333500" cy="1004887"/>
            <a:chOff x="220" y="1365"/>
            <a:chExt cx="840" cy="633"/>
          </a:xfrm>
        </p:grpSpPr>
        <p:sp>
          <p:nvSpPr>
            <p:cNvPr id="46124" name="Line 39">
              <a:extLst>
                <a:ext uri="{FF2B5EF4-FFF2-40B4-BE49-F238E27FC236}">
                  <a16:creationId xmlns:a16="http://schemas.microsoft.com/office/drawing/2014/main" xmlns="" id="{8A250480-9693-8657-0684-9AE03C58F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125" name="Oval 40">
              <a:extLst>
                <a:ext uri="{FF2B5EF4-FFF2-40B4-BE49-F238E27FC236}">
                  <a16:creationId xmlns:a16="http://schemas.microsoft.com/office/drawing/2014/main" xmlns="" id="{9A166C76-FE83-0771-28A9-D2AFA3D54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89833" name="Oval 41">
            <a:extLst>
              <a:ext uri="{FF2B5EF4-FFF2-40B4-BE49-F238E27FC236}">
                <a16:creationId xmlns:a16="http://schemas.microsoft.com/office/drawing/2014/main" xmlns="" id="{151417A5-0426-442B-BF19-3E23D5015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9" y="2222501"/>
            <a:ext cx="985837" cy="96202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9834" name="Line 42">
            <a:extLst>
              <a:ext uri="{FF2B5EF4-FFF2-40B4-BE49-F238E27FC236}">
                <a16:creationId xmlns:a16="http://schemas.microsoft.com/office/drawing/2014/main" xmlns="" id="{4DE74BF1-3394-D914-BE42-D1A1E02A1D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85100" y="4902200"/>
            <a:ext cx="12700" cy="11938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9835" name="Freeform 43">
            <a:extLst>
              <a:ext uri="{FF2B5EF4-FFF2-40B4-BE49-F238E27FC236}">
                <a16:creationId xmlns:a16="http://schemas.microsoft.com/office/drawing/2014/main" xmlns="" id="{50B601A1-5EEF-BCC5-6C16-B2F08151D2CA}"/>
              </a:ext>
            </a:extLst>
          </p:cNvPr>
          <p:cNvSpPr>
            <a:spLocks/>
          </p:cNvSpPr>
          <p:nvPr/>
        </p:nvSpPr>
        <p:spPr bwMode="auto">
          <a:xfrm>
            <a:off x="2679700" y="3886200"/>
            <a:ext cx="6667500" cy="2260600"/>
          </a:xfrm>
          <a:custGeom>
            <a:avLst/>
            <a:gdLst>
              <a:gd name="T0" fmla="*/ 2147483647 w 4200"/>
              <a:gd name="T1" fmla="*/ 2147483647 h 1424"/>
              <a:gd name="T2" fmla="*/ 2147483647 w 4200"/>
              <a:gd name="T3" fmla="*/ 2147483647 h 1424"/>
              <a:gd name="T4" fmla="*/ 2147483647 w 4200"/>
              <a:gd name="T5" fmla="*/ 0 h 1424"/>
              <a:gd name="T6" fmla="*/ 0 w 4200"/>
              <a:gd name="T7" fmla="*/ 0 h 1424"/>
              <a:gd name="T8" fmla="*/ 0 60000 65536"/>
              <a:gd name="T9" fmla="*/ 0 60000 65536"/>
              <a:gd name="T10" fmla="*/ 0 60000 65536"/>
              <a:gd name="T11" fmla="*/ 0 60000 65536"/>
              <a:gd name="T12" fmla="*/ 0 w 4200"/>
              <a:gd name="T13" fmla="*/ 0 h 1424"/>
              <a:gd name="T14" fmla="*/ 4200 w 4200"/>
              <a:gd name="T15" fmla="*/ 1424 h 14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00" h="1424">
                <a:moveTo>
                  <a:pt x="4200" y="1424"/>
                </a:moveTo>
                <a:lnTo>
                  <a:pt x="3224" y="1424"/>
                </a:lnTo>
                <a:lnTo>
                  <a:pt x="1880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7" name="Group 44">
            <a:extLst>
              <a:ext uri="{FF2B5EF4-FFF2-40B4-BE49-F238E27FC236}">
                <a16:creationId xmlns:a16="http://schemas.microsoft.com/office/drawing/2014/main" xmlns="" id="{50909468-4C3F-A81F-B6EA-794F17B9DEC2}"/>
              </a:ext>
            </a:extLst>
          </p:cNvPr>
          <p:cNvGrpSpPr>
            <a:grpSpLocks/>
          </p:cNvGrpSpPr>
          <p:nvPr/>
        </p:nvGrpSpPr>
        <p:grpSpPr bwMode="auto">
          <a:xfrm>
            <a:off x="1871663" y="2166939"/>
            <a:ext cx="1333500" cy="1004887"/>
            <a:chOff x="220" y="1365"/>
            <a:chExt cx="840" cy="633"/>
          </a:xfrm>
        </p:grpSpPr>
        <p:sp>
          <p:nvSpPr>
            <p:cNvPr id="46122" name="Line 45">
              <a:extLst>
                <a:ext uri="{FF2B5EF4-FFF2-40B4-BE49-F238E27FC236}">
                  <a16:creationId xmlns:a16="http://schemas.microsoft.com/office/drawing/2014/main" xmlns="" id="{0B58B2F7-F973-2FD6-C240-EF44E110F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" y="1365"/>
              <a:ext cx="273" cy="15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123" name="Oval 46">
              <a:extLst>
                <a:ext uri="{FF2B5EF4-FFF2-40B4-BE49-F238E27FC236}">
                  <a16:creationId xmlns:a16="http://schemas.microsoft.com/office/drawing/2014/main" xmlns="" id="{5B9B0932-EF5E-BCBA-E7FD-3867DE464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1392"/>
              <a:ext cx="621" cy="6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89839" name="Oval 47">
            <a:extLst>
              <a:ext uri="{FF2B5EF4-FFF2-40B4-BE49-F238E27FC236}">
                <a16:creationId xmlns:a16="http://schemas.microsoft.com/office/drawing/2014/main" xmlns="" id="{84CE12F9-BF39-E6AB-0416-5E6335FBC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4" y="2227264"/>
            <a:ext cx="985837" cy="9620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9840" name="Line 48">
            <a:extLst>
              <a:ext uri="{FF2B5EF4-FFF2-40B4-BE49-F238E27FC236}">
                <a16:creationId xmlns:a16="http://schemas.microsoft.com/office/drawing/2014/main" xmlns="" id="{15C6CFBD-6FAF-F6D0-A148-298519A64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493963"/>
            <a:ext cx="0" cy="817562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9841" name="Freeform 49">
            <a:extLst>
              <a:ext uri="{FF2B5EF4-FFF2-40B4-BE49-F238E27FC236}">
                <a16:creationId xmlns:a16="http://schemas.microsoft.com/office/drawing/2014/main" xmlns="" id="{0217AA04-3F9F-5AAE-724E-A45FF4C6F9E1}"/>
              </a:ext>
            </a:extLst>
          </p:cNvPr>
          <p:cNvSpPr>
            <a:spLocks/>
          </p:cNvSpPr>
          <p:nvPr/>
        </p:nvSpPr>
        <p:spPr bwMode="auto">
          <a:xfrm>
            <a:off x="5181601" y="2216151"/>
            <a:ext cx="4378325" cy="1025525"/>
          </a:xfrm>
          <a:custGeom>
            <a:avLst/>
            <a:gdLst>
              <a:gd name="T0" fmla="*/ 2147483647 w 2758"/>
              <a:gd name="T1" fmla="*/ 2147483647 h 646"/>
              <a:gd name="T2" fmla="*/ 2147483647 w 2758"/>
              <a:gd name="T3" fmla="*/ 2147483647 h 646"/>
              <a:gd name="T4" fmla="*/ 2147483647 w 2758"/>
              <a:gd name="T5" fmla="*/ 0 h 646"/>
              <a:gd name="T6" fmla="*/ 0 w 2758"/>
              <a:gd name="T7" fmla="*/ 0 h 646"/>
              <a:gd name="T8" fmla="*/ 0 60000 65536"/>
              <a:gd name="T9" fmla="*/ 0 60000 65536"/>
              <a:gd name="T10" fmla="*/ 0 60000 65536"/>
              <a:gd name="T11" fmla="*/ 0 60000 65536"/>
              <a:gd name="T12" fmla="*/ 0 w 2758"/>
              <a:gd name="T13" fmla="*/ 0 h 646"/>
              <a:gd name="T14" fmla="*/ 2758 w 2758"/>
              <a:gd name="T15" fmla="*/ 646 h 6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58" h="646">
                <a:moveTo>
                  <a:pt x="2758" y="646"/>
                </a:moveTo>
                <a:lnTo>
                  <a:pt x="1763" y="629"/>
                </a:lnTo>
                <a:lnTo>
                  <a:pt x="1039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9842" name="Line 50">
            <a:extLst>
              <a:ext uri="{FF2B5EF4-FFF2-40B4-BE49-F238E27FC236}">
                <a16:creationId xmlns:a16="http://schemas.microsoft.com/office/drawing/2014/main" xmlns="" id="{2A5AA1F6-A27F-35E9-152A-BA789FA5D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2063" y="2090739"/>
            <a:ext cx="0" cy="84613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9843" name="Freeform 51">
            <a:extLst>
              <a:ext uri="{FF2B5EF4-FFF2-40B4-BE49-F238E27FC236}">
                <a16:creationId xmlns:a16="http://schemas.microsoft.com/office/drawing/2014/main" xmlns="" id="{BB95E1E2-3EFC-A034-2FB4-A115A580027E}"/>
              </a:ext>
            </a:extLst>
          </p:cNvPr>
          <p:cNvSpPr>
            <a:spLocks/>
          </p:cNvSpPr>
          <p:nvPr/>
        </p:nvSpPr>
        <p:spPr bwMode="auto">
          <a:xfrm>
            <a:off x="5167314" y="2951163"/>
            <a:ext cx="4073525" cy="2133600"/>
          </a:xfrm>
          <a:custGeom>
            <a:avLst/>
            <a:gdLst>
              <a:gd name="T0" fmla="*/ 0 w 2566"/>
              <a:gd name="T1" fmla="*/ 0 h 1344"/>
              <a:gd name="T2" fmla="*/ 2147483647 w 2566"/>
              <a:gd name="T3" fmla="*/ 0 h 1344"/>
              <a:gd name="T4" fmla="*/ 2147483647 w 2566"/>
              <a:gd name="T5" fmla="*/ 2147483647 h 1344"/>
              <a:gd name="T6" fmla="*/ 2147483647 w 2566"/>
              <a:gd name="T7" fmla="*/ 2147483647 h 1344"/>
              <a:gd name="T8" fmla="*/ 0 60000 65536"/>
              <a:gd name="T9" fmla="*/ 0 60000 65536"/>
              <a:gd name="T10" fmla="*/ 0 60000 65536"/>
              <a:gd name="T11" fmla="*/ 0 60000 65536"/>
              <a:gd name="T12" fmla="*/ 0 w 2566"/>
              <a:gd name="T13" fmla="*/ 0 h 1344"/>
              <a:gd name="T14" fmla="*/ 2566 w 2566"/>
              <a:gd name="T15" fmla="*/ 1344 h 1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566" h="1344">
                <a:moveTo>
                  <a:pt x="0" y="0"/>
                </a:moveTo>
                <a:lnTo>
                  <a:pt x="1013" y="0"/>
                </a:lnTo>
                <a:lnTo>
                  <a:pt x="1650" y="1344"/>
                </a:lnTo>
                <a:lnTo>
                  <a:pt x="2566" y="1344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121" name="Text Box 52">
            <a:extLst>
              <a:ext uri="{FF2B5EF4-FFF2-40B4-BE49-F238E27FC236}">
                <a16:creationId xmlns:a16="http://schemas.microsoft.com/office/drawing/2014/main" xmlns="" id="{EABF288E-7550-A4A1-DBCA-DF6CD3948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386873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2898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898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898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2898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0"/>
                                        <p:tgtEl>
                                          <p:spTgt spid="2898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98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2898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28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29" grpId="0" animBg="1"/>
      <p:bldP spid="289833" grpId="0" animBg="1"/>
      <p:bldP spid="289835" grpId="0" animBg="1"/>
      <p:bldP spid="289839" grpId="0" animBg="1"/>
      <p:bldP spid="289839" grpId="1" animBg="1"/>
      <p:bldP spid="289841" grpId="0" animBg="1"/>
      <p:bldP spid="28984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Footer Placeholder 5">
            <a:extLst>
              <a:ext uri="{FF2B5EF4-FFF2-40B4-BE49-F238E27FC236}">
                <a16:creationId xmlns:a16="http://schemas.microsoft.com/office/drawing/2014/main" xmlns="" id="{208AEF96-9F4F-23C4-09D2-C46C95E26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7107" name="Slide Number Placeholder 6">
            <a:extLst>
              <a:ext uri="{FF2B5EF4-FFF2-40B4-BE49-F238E27FC236}">
                <a16:creationId xmlns:a16="http://schemas.microsoft.com/office/drawing/2014/main" xmlns="" id="{F2E2B6D5-A8F2-F0BC-2714-1460CB2C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2AB21576-055D-40BE-AC3B-FAD8CAD5FB22}" type="slidenum">
              <a:rPr lang="en-US" altLang="en-US" sz="1400">
                <a:latin typeface="Arial" panose="020B0604020202020204" pitchFamily="34" charset="0"/>
              </a:rPr>
              <a:pPr/>
              <a:t>50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xmlns="" id="{D0D78CE5-F1CF-72E5-D348-0ED91558C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rdt2.0 has a fatal flaw!</a:t>
            </a:r>
          </a:p>
        </p:txBody>
      </p:sp>
      <p:sp>
        <p:nvSpPr>
          <p:cNvPr id="47109" name="Rectangle 3">
            <a:extLst>
              <a:ext uri="{FF2B5EF4-FFF2-40B4-BE49-F238E27FC236}">
                <a16:creationId xmlns:a16="http://schemas.microsoft.com/office/drawing/2014/main" xmlns="" id="{349147F4-97C4-ABE0-3A99-87CDB66E17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What happens if ACK/NAK corrupted?</a:t>
            </a:r>
            <a:endParaRPr lang="en-US" altLang="en-US" sz="2400"/>
          </a:p>
          <a:p>
            <a:r>
              <a:rPr lang="en-US" altLang="en-US" sz="2000"/>
              <a:t>sender doesn’t know what happened at receiver!</a:t>
            </a:r>
          </a:p>
          <a:p>
            <a:r>
              <a:rPr lang="en-US" altLang="en-US" sz="2000"/>
              <a:t>can’t just retransmit: possible duplicate</a:t>
            </a:r>
            <a:endParaRPr lang="en-US" altLang="en-US" sz="2400"/>
          </a:p>
          <a:p>
            <a:pPr>
              <a:spcBef>
                <a:spcPct val="60000"/>
              </a:spcBef>
              <a:buFont typeface="ZapfDingbats" pitchFamily="82" charset="2"/>
              <a:buNone/>
            </a:pPr>
            <a:endParaRPr lang="en-US" altLang="en-US" sz="2000"/>
          </a:p>
          <a:p>
            <a:pPr>
              <a:buFont typeface="ZapfDingbats" pitchFamily="82" charset="2"/>
              <a:buNone/>
            </a:pPr>
            <a:endParaRPr lang="en-US" altLang="en-US" sz="2400"/>
          </a:p>
          <a:p>
            <a:pPr>
              <a:buFont typeface="ZapfDingbats" pitchFamily="82" charset="2"/>
              <a:buNone/>
            </a:pPr>
            <a:endParaRPr lang="en-US" altLang="en-US" sz="2400"/>
          </a:p>
        </p:txBody>
      </p:sp>
      <p:sp>
        <p:nvSpPr>
          <p:cNvPr id="47110" name="Rectangle 4">
            <a:extLst>
              <a:ext uri="{FF2B5EF4-FFF2-40B4-BE49-F238E27FC236}">
                <a16:creationId xmlns:a16="http://schemas.microsoft.com/office/drawing/2014/main" xmlns="" id="{EE48C4D5-9A05-D325-A102-DF347A7D2CF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600201"/>
            <a:ext cx="3810000" cy="2562225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Handling duplicates: </a:t>
            </a:r>
          </a:p>
          <a:p>
            <a:r>
              <a:rPr lang="en-US" altLang="en-US" sz="2000"/>
              <a:t>sender retransmits current pkt if ACK/NAK garbled</a:t>
            </a:r>
          </a:p>
          <a:p>
            <a:r>
              <a:rPr lang="en-US" altLang="en-US" sz="2000"/>
              <a:t>sender adds </a:t>
            </a:r>
            <a:r>
              <a:rPr lang="en-US" altLang="en-US" sz="2000" i="1">
                <a:solidFill>
                  <a:schemeClr val="accent2"/>
                </a:solidFill>
              </a:rPr>
              <a:t>sequence number</a:t>
            </a:r>
            <a:r>
              <a:rPr lang="en-US" altLang="en-US" sz="2000"/>
              <a:t> to each pkt</a:t>
            </a:r>
          </a:p>
          <a:p>
            <a:r>
              <a:rPr lang="en-US" altLang="en-US" sz="2000"/>
              <a:t>receiver discards (doesn’t deliver up) duplicate pkt</a:t>
            </a:r>
          </a:p>
        </p:txBody>
      </p:sp>
      <p:sp>
        <p:nvSpPr>
          <p:cNvPr id="47111" name="Text Box 5">
            <a:extLst>
              <a:ext uri="{FF2B5EF4-FFF2-40B4-BE49-F238E27FC236}">
                <a16:creationId xmlns:a16="http://schemas.microsoft.com/office/drawing/2014/main" xmlns="" id="{FF1310AA-7A27-FDF6-D589-AA426F179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7163" y="4818064"/>
            <a:ext cx="32877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2000"/>
              <a:t>Sender sends one packet, </a:t>
            </a:r>
          </a:p>
          <a:p>
            <a:pPr algn="l"/>
            <a:r>
              <a:rPr lang="en-US" altLang="en-US" sz="2000"/>
              <a:t>then waits for receiver </a:t>
            </a:r>
          </a:p>
          <a:p>
            <a:pPr algn="l"/>
            <a:r>
              <a:rPr lang="en-US" altLang="en-US" sz="2000"/>
              <a:t>response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7112" name="Rectangle 6">
            <a:extLst>
              <a:ext uri="{FF2B5EF4-FFF2-40B4-BE49-F238E27FC236}">
                <a16:creationId xmlns:a16="http://schemas.microsoft.com/office/drawing/2014/main" xmlns="" id="{A0C6517D-FF32-DAEA-CCD8-01BCB1B1A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686300"/>
            <a:ext cx="3467100" cy="123825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7113" name="Group 7">
            <a:extLst>
              <a:ext uri="{FF2B5EF4-FFF2-40B4-BE49-F238E27FC236}">
                <a16:creationId xmlns:a16="http://schemas.microsoft.com/office/drawing/2014/main" xmlns="" id="{F915DAFE-780B-B3E7-7C69-EB4766F4B858}"/>
              </a:ext>
            </a:extLst>
          </p:cNvPr>
          <p:cNvGrpSpPr>
            <a:grpSpLocks/>
          </p:cNvGrpSpPr>
          <p:nvPr/>
        </p:nvGrpSpPr>
        <p:grpSpPr bwMode="auto">
          <a:xfrm>
            <a:off x="6510339" y="4522789"/>
            <a:ext cx="1755775" cy="396875"/>
            <a:chOff x="2943" y="2669"/>
            <a:chExt cx="1106" cy="250"/>
          </a:xfrm>
        </p:grpSpPr>
        <p:sp>
          <p:nvSpPr>
            <p:cNvPr id="47114" name="Rectangle 8">
              <a:extLst>
                <a:ext uri="{FF2B5EF4-FFF2-40B4-BE49-F238E27FC236}">
                  <a16:creationId xmlns:a16="http://schemas.microsoft.com/office/drawing/2014/main" xmlns="" id="{9857F133-CA21-47CB-9D91-902E5CF62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712"/>
              <a:ext cx="1038" cy="1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7115" name="Text Box 9">
              <a:extLst>
                <a:ext uri="{FF2B5EF4-FFF2-40B4-BE49-F238E27FC236}">
                  <a16:creationId xmlns:a16="http://schemas.microsoft.com/office/drawing/2014/main" xmlns="" id="{14FEF6E0-2860-3581-154D-97416CEFC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3" y="2669"/>
              <a:ext cx="110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stop and wait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5">
            <a:extLst>
              <a:ext uri="{FF2B5EF4-FFF2-40B4-BE49-F238E27FC236}">
                <a16:creationId xmlns:a16="http://schemas.microsoft.com/office/drawing/2014/main" xmlns="" id="{1B24680D-FC65-C483-F675-F73ADAE9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8131" name="Slide Number Placeholder 6">
            <a:extLst>
              <a:ext uri="{FF2B5EF4-FFF2-40B4-BE49-F238E27FC236}">
                <a16:creationId xmlns:a16="http://schemas.microsoft.com/office/drawing/2014/main" xmlns="" id="{48641605-38C7-B6EE-13F7-9E659CBF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820D46DC-25EE-4B49-A13A-680A8B794BC2}" type="slidenum">
              <a:rPr lang="en-US" altLang="en-US" sz="1400">
                <a:latin typeface="Arial" panose="020B0604020202020204" pitchFamily="34" charset="0"/>
              </a:rPr>
              <a:pPr/>
              <a:t>51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xmlns="" id="{91F2986F-B04E-3A43-75C7-DA256E6002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57376" y="238125"/>
            <a:ext cx="8277225" cy="1143000"/>
          </a:xfrm>
        </p:spPr>
        <p:txBody>
          <a:bodyPr/>
          <a:lstStyle/>
          <a:p>
            <a:r>
              <a:rPr lang="en-US" altLang="en-US" sz="3200"/>
              <a:t>rdt2.1: sender, handles garbled ACK/NAKs</a:t>
            </a:r>
            <a:endParaRPr lang="en-US" altLang="en-US"/>
          </a:p>
        </p:txBody>
      </p:sp>
      <p:sp>
        <p:nvSpPr>
          <p:cNvPr id="48133" name="Oval 3">
            <a:extLst>
              <a:ext uri="{FF2B5EF4-FFF2-40B4-BE49-F238E27FC236}">
                <a16:creationId xmlns:a16="http://schemas.microsoft.com/office/drawing/2014/main" xmlns="" id="{50C62B05-31B3-05D6-A968-416279097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2306638"/>
            <a:ext cx="901700" cy="8366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34" name="Text Box 4">
            <a:extLst>
              <a:ext uri="{FF2B5EF4-FFF2-40B4-BE49-F238E27FC236}">
                <a16:creationId xmlns:a16="http://schemas.microsoft.com/office/drawing/2014/main" xmlns="" id="{85F339DC-65FB-28FB-BE9D-5C6435997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226" y="2395538"/>
            <a:ext cx="1090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Wait for call 0 from above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8135" name="Text Box 5">
            <a:extLst>
              <a:ext uri="{FF2B5EF4-FFF2-40B4-BE49-F238E27FC236}">
                <a16:creationId xmlns:a16="http://schemas.microsoft.com/office/drawing/2014/main" xmlns="" id="{634BEB91-189F-69D6-D30D-3BA96AB36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1" y="1577975"/>
            <a:ext cx="3694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sndpkt = make_pkt(0, data, checksum)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6" name="Text Box 6">
            <a:extLst>
              <a:ext uri="{FF2B5EF4-FFF2-40B4-BE49-F238E27FC236}">
                <a16:creationId xmlns:a16="http://schemas.microsoft.com/office/drawing/2014/main" xmlns="" id="{9B2F3DAC-3339-44B9-2EDE-942D308BE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9" y="1265239"/>
            <a:ext cx="2111375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7" name="Line 7">
            <a:extLst>
              <a:ext uri="{FF2B5EF4-FFF2-40B4-BE49-F238E27FC236}">
                <a16:creationId xmlns:a16="http://schemas.microsoft.com/office/drawing/2014/main" xmlns="" id="{24D76D90-F492-C666-2EB2-56B0B612B0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9963" y="1630363"/>
            <a:ext cx="27352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8" name="Line 8">
            <a:extLst>
              <a:ext uri="{FF2B5EF4-FFF2-40B4-BE49-F238E27FC236}">
                <a16:creationId xmlns:a16="http://schemas.microsoft.com/office/drawing/2014/main" xmlns="" id="{FE8E1764-0D3E-3DA5-3355-19DA5414A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7976" y="2262188"/>
            <a:ext cx="377825" cy="1905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39" name="Freeform 9">
            <a:extLst>
              <a:ext uri="{FF2B5EF4-FFF2-40B4-BE49-F238E27FC236}">
                <a16:creationId xmlns:a16="http://schemas.microsoft.com/office/drawing/2014/main" xmlns="" id="{D02A2047-ED84-9696-9A1F-125553DC4851}"/>
              </a:ext>
            </a:extLst>
          </p:cNvPr>
          <p:cNvSpPr>
            <a:spLocks/>
          </p:cNvSpPr>
          <p:nvPr/>
        </p:nvSpPr>
        <p:spPr bwMode="auto">
          <a:xfrm rot="14610547">
            <a:off x="3703638" y="4603750"/>
            <a:ext cx="952500" cy="469900"/>
          </a:xfrm>
          <a:custGeom>
            <a:avLst/>
            <a:gdLst>
              <a:gd name="T0" fmla="*/ 2147483647 w 1500"/>
              <a:gd name="T1" fmla="*/ 2147483647 h 740"/>
              <a:gd name="T2" fmla="*/ 2147483647 w 1500"/>
              <a:gd name="T3" fmla="*/ 2147483647 h 740"/>
              <a:gd name="T4" fmla="*/ 0 60000 65536"/>
              <a:gd name="T5" fmla="*/ 0 60000 65536"/>
              <a:gd name="T6" fmla="*/ 0 w 1500"/>
              <a:gd name="T7" fmla="*/ 0 h 740"/>
              <a:gd name="T8" fmla="*/ 1500 w 1500"/>
              <a:gd name="T9" fmla="*/ 740 h 7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00" h="740">
                <a:moveTo>
                  <a:pt x="361" y="671"/>
                </a:moveTo>
                <a:cubicBezTo>
                  <a:pt x="0" y="0"/>
                  <a:pt x="1500" y="90"/>
                  <a:pt x="1017" y="74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8140" name="Group 10">
            <a:extLst>
              <a:ext uri="{FF2B5EF4-FFF2-40B4-BE49-F238E27FC236}">
                <a16:creationId xmlns:a16="http://schemas.microsoft.com/office/drawing/2014/main" xmlns="" id="{6406FDDE-BA71-B09E-6F7B-FDD979B9B033}"/>
              </a:ext>
            </a:extLst>
          </p:cNvPr>
          <p:cNvGrpSpPr>
            <a:grpSpLocks/>
          </p:cNvGrpSpPr>
          <p:nvPr/>
        </p:nvGrpSpPr>
        <p:grpSpPr bwMode="auto">
          <a:xfrm>
            <a:off x="6226176" y="2254250"/>
            <a:ext cx="1089025" cy="865188"/>
            <a:chOff x="2848" y="1499"/>
            <a:chExt cx="660" cy="510"/>
          </a:xfrm>
        </p:grpSpPr>
        <p:sp>
          <p:nvSpPr>
            <p:cNvPr id="48167" name="Oval 11">
              <a:extLst>
                <a:ext uri="{FF2B5EF4-FFF2-40B4-BE49-F238E27FC236}">
                  <a16:creationId xmlns:a16="http://schemas.microsoft.com/office/drawing/2014/main" xmlns="" id="{C0A3F3A5-51D7-46B3-DCFE-D35BD86CD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68" name="Text Box 12">
              <a:extLst>
                <a:ext uri="{FF2B5EF4-FFF2-40B4-BE49-F238E27FC236}">
                  <a16:creationId xmlns:a16="http://schemas.microsoft.com/office/drawing/2014/main" xmlns="" id="{75D998B8-9479-C389-9C40-4598326986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1535"/>
              <a:ext cx="66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ACK or NAK 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48141" name="Freeform 13">
            <a:extLst>
              <a:ext uri="{FF2B5EF4-FFF2-40B4-BE49-F238E27FC236}">
                <a16:creationId xmlns:a16="http://schemas.microsoft.com/office/drawing/2014/main" xmlns="" id="{7D389A2C-0E4F-2EB1-BF8C-CC04C2D78616}"/>
              </a:ext>
            </a:extLst>
          </p:cNvPr>
          <p:cNvSpPr>
            <a:spLocks/>
          </p:cNvSpPr>
          <p:nvPr/>
        </p:nvSpPr>
        <p:spPr bwMode="auto">
          <a:xfrm flipV="1">
            <a:off x="4949826" y="2132013"/>
            <a:ext cx="1482725" cy="220662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42" name="Freeform 14">
            <a:extLst>
              <a:ext uri="{FF2B5EF4-FFF2-40B4-BE49-F238E27FC236}">
                <a16:creationId xmlns:a16="http://schemas.microsoft.com/office/drawing/2014/main" xmlns="" id="{6AB91665-E5FD-18A4-41BB-3649A49C95AD}"/>
              </a:ext>
            </a:extLst>
          </p:cNvPr>
          <p:cNvSpPr>
            <a:spLocks/>
          </p:cNvSpPr>
          <p:nvPr/>
        </p:nvSpPr>
        <p:spPr bwMode="auto">
          <a:xfrm rot="20242820">
            <a:off x="7113589" y="2116138"/>
            <a:ext cx="466725" cy="685800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43" name="Text Box 15">
            <a:extLst>
              <a:ext uri="{FF2B5EF4-FFF2-40B4-BE49-F238E27FC236}">
                <a16:creationId xmlns:a16="http://schemas.microsoft.com/office/drawing/2014/main" xmlns="" id="{0566DB33-B831-0831-A7AB-7606160D4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7439" y="2678113"/>
            <a:ext cx="2262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44" name="Text Box 16">
            <a:extLst>
              <a:ext uri="{FF2B5EF4-FFF2-40B4-BE49-F238E27FC236}">
                <a16:creationId xmlns:a16="http://schemas.microsoft.com/office/drawing/2014/main" xmlns="" id="{06C59823-9E4B-FE6E-06C5-ECB6E0301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1920875"/>
            <a:ext cx="2563812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( corrupt(rcvpkt) ||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isNAK(rcvpkt) 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45" name="Line 17">
            <a:extLst>
              <a:ext uri="{FF2B5EF4-FFF2-40B4-BE49-F238E27FC236}">
                <a16:creationId xmlns:a16="http://schemas.microsoft.com/office/drawing/2014/main" xmlns="" id="{CDDB6108-A268-5B16-EA5F-771A1D78F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69201" y="2717800"/>
            <a:ext cx="14335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46" name="Freeform 18">
            <a:extLst>
              <a:ext uri="{FF2B5EF4-FFF2-40B4-BE49-F238E27FC236}">
                <a16:creationId xmlns:a16="http://schemas.microsoft.com/office/drawing/2014/main" xmlns="" id="{1C188D5C-558A-D248-07C2-A81D488B38FD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3725864" y="3492501"/>
            <a:ext cx="1266825" cy="123825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47" name="Freeform 19">
            <a:extLst>
              <a:ext uri="{FF2B5EF4-FFF2-40B4-BE49-F238E27FC236}">
                <a16:creationId xmlns:a16="http://schemas.microsoft.com/office/drawing/2014/main" xmlns="" id="{298190F6-A961-40BB-1BEA-B1FF1BF1FEF5}"/>
              </a:ext>
            </a:extLst>
          </p:cNvPr>
          <p:cNvSpPr>
            <a:spLocks/>
          </p:cNvSpPr>
          <p:nvPr/>
        </p:nvSpPr>
        <p:spPr bwMode="auto">
          <a:xfrm>
            <a:off x="5124450" y="4779963"/>
            <a:ext cx="1606550" cy="247650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48" name="Freeform 20">
            <a:extLst>
              <a:ext uri="{FF2B5EF4-FFF2-40B4-BE49-F238E27FC236}">
                <a16:creationId xmlns:a16="http://schemas.microsoft.com/office/drawing/2014/main" xmlns="" id="{45C41482-84E5-BAFD-93F1-167437EE4593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6494463" y="3440113"/>
            <a:ext cx="1363663" cy="204788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49" name="Text Box 21">
            <a:extLst>
              <a:ext uri="{FF2B5EF4-FFF2-40B4-BE49-F238E27FC236}">
                <a16:creationId xmlns:a16="http://schemas.microsoft.com/office/drawing/2014/main" xmlns="" id="{3E20C4C7-5283-4ABF-CB49-F43F2778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1" y="5364163"/>
            <a:ext cx="3763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sndpkt = make_pkt(1, data, checksum)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50" name="Text Box 22">
            <a:extLst>
              <a:ext uri="{FF2B5EF4-FFF2-40B4-BE49-F238E27FC236}">
                <a16:creationId xmlns:a16="http://schemas.microsoft.com/office/drawing/2014/main" xmlns="" id="{43FAA7A9-8CAF-E38F-55C2-CCE54A7AF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350" y="5026025"/>
            <a:ext cx="238918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51" name="Line 23">
            <a:extLst>
              <a:ext uri="{FF2B5EF4-FFF2-40B4-BE49-F238E27FC236}">
                <a16:creationId xmlns:a16="http://schemas.microsoft.com/office/drawing/2014/main" xmlns="" id="{E06F8D25-18DB-9A6C-F3F3-4DEAFDAF61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6975" y="5378450"/>
            <a:ext cx="29035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52" name="Text Box 24">
            <a:extLst>
              <a:ext uri="{FF2B5EF4-FFF2-40B4-BE49-F238E27FC236}">
                <a16:creationId xmlns:a16="http://schemas.microsoft.com/office/drawing/2014/main" xmlns="" id="{CC300CE9-2E2B-177F-CAE4-25A2769C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6776" y="3173413"/>
            <a:ext cx="299561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 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&amp;&amp; notcorrupt(rcvpkt)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&amp;&amp; isACK(rcvpkt) </a:t>
            </a:r>
          </a:p>
        </p:txBody>
      </p:sp>
      <p:sp>
        <p:nvSpPr>
          <p:cNvPr id="48153" name="Line 25">
            <a:extLst>
              <a:ext uri="{FF2B5EF4-FFF2-40B4-BE49-F238E27FC236}">
                <a16:creationId xmlns:a16="http://schemas.microsoft.com/office/drawing/2014/main" xmlns="" id="{A6501949-52A3-AD20-AE3E-6136D87CF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3" y="3984625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54" name="Text Box 26">
            <a:extLst>
              <a:ext uri="{FF2B5EF4-FFF2-40B4-BE49-F238E27FC236}">
                <a16:creationId xmlns:a16="http://schemas.microsoft.com/office/drawing/2014/main" xmlns="" id="{0CE5A3E4-0928-0772-21EB-94904EED8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6" y="5435601"/>
            <a:ext cx="181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55" name="Text Box 27">
            <a:extLst>
              <a:ext uri="{FF2B5EF4-FFF2-40B4-BE49-F238E27FC236}">
                <a16:creationId xmlns:a16="http://schemas.microsoft.com/office/drawing/2014/main" xmlns="" id="{E4E5D98E-51C0-9C0B-EAF2-86DD9A9F2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9326" y="4618038"/>
            <a:ext cx="2011363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( corrupt(rcvpkt) ||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isNAK(rcvpkt) 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56" name="Line 28">
            <a:extLst>
              <a:ext uri="{FF2B5EF4-FFF2-40B4-BE49-F238E27FC236}">
                <a16:creationId xmlns:a16="http://schemas.microsoft.com/office/drawing/2014/main" xmlns="" id="{C90E5C9D-6777-AA07-F85F-9A95DDB13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5214" y="5443538"/>
            <a:ext cx="15573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8157" name="Text Box 29">
            <a:extLst>
              <a:ext uri="{FF2B5EF4-FFF2-40B4-BE49-F238E27FC236}">
                <a16:creationId xmlns:a16="http://schemas.microsoft.com/office/drawing/2014/main" xmlns="" id="{821B845A-B3F1-40B4-C2FE-CF8B9DCF1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3016250"/>
            <a:ext cx="210978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 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&amp;&amp; notcorrupt(rcvpkt)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&amp;&amp; isACK(rcvpkt)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8158" name="Line 30">
            <a:extLst>
              <a:ext uri="{FF2B5EF4-FFF2-40B4-BE49-F238E27FC236}">
                <a16:creationId xmlns:a16="http://schemas.microsoft.com/office/drawing/2014/main" xmlns="" id="{513B533F-8E90-0261-657B-A3418F6D6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6638" y="3854450"/>
            <a:ext cx="173831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48159" name="Group 31">
            <a:extLst>
              <a:ext uri="{FF2B5EF4-FFF2-40B4-BE49-F238E27FC236}">
                <a16:creationId xmlns:a16="http://schemas.microsoft.com/office/drawing/2014/main" xmlns="" id="{80517B78-8D24-8639-DDF9-B978FDC47B78}"/>
              </a:ext>
            </a:extLst>
          </p:cNvPr>
          <p:cNvGrpSpPr>
            <a:grpSpLocks/>
          </p:cNvGrpSpPr>
          <p:nvPr/>
        </p:nvGrpSpPr>
        <p:grpSpPr bwMode="auto">
          <a:xfrm>
            <a:off x="6376988" y="4200526"/>
            <a:ext cx="1117600" cy="823913"/>
            <a:chOff x="4156" y="2812"/>
            <a:chExt cx="704" cy="519"/>
          </a:xfrm>
        </p:grpSpPr>
        <p:sp>
          <p:nvSpPr>
            <p:cNvPr id="48165" name="Oval 32">
              <a:extLst>
                <a:ext uri="{FF2B5EF4-FFF2-40B4-BE49-F238E27FC236}">
                  <a16:creationId xmlns:a16="http://schemas.microsoft.com/office/drawing/2014/main" xmlns="" id="{4F009B3F-0E8B-E90E-C7DF-D6317F99B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66" name="Text Box 33">
              <a:extLst>
                <a:ext uri="{FF2B5EF4-FFF2-40B4-BE49-F238E27FC236}">
                  <a16:creationId xmlns:a16="http://schemas.microsoft.com/office/drawing/2014/main" xmlns="" id="{2032C6B2-4BDE-69BC-7FEC-B8D8689AA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6" y="2870"/>
              <a:ext cx="7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 call 1 from above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8160" name="Group 34">
            <a:extLst>
              <a:ext uri="{FF2B5EF4-FFF2-40B4-BE49-F238E27FC236}">
                <a16:creationId xmlns:a16="http://schemas.microsoft.com/office/drawing/2014/main" xmlns="" id="{F7682205-EED0-3BB0-FEB9-6C7C36F735D6}"/>
              </a:ext>
            </a:extLst>
          </p:cNvPr>
          <p:cNvGrpSpPr>
            <a:grpSpLocks/>
          </p:cNvGrpSpPr>
          <p:nvPr/>
        </p:nvGrpSpPr>
        <p:grpSpPr bwMode="auto">
          <a:xfrm>
            <a:off x="4187826" y="4146551"/>
            <a:ext cx="1046163" cy="823913"/>
            <a:chOff x="4916" y="3266"/>
            <a:chExt cx="659" cy="519"/>
          </a:xfrm>
        </p:grpSpPr>
        <p:sp>
          <p:nvSpPr>
            <p:cNvPr id="48163" name="Oval 35">
              <a:extLst>
                <a:ext uri="{FF2B5EF4-FFF2-40B4-BE49-F238E27FC236}">
                  <a16:creationId xmlns:a16="http://schemas.microsoft.com/office/drawing/2014/main" xmlns="" id="{B27CC082-40F1-809A-0DED-663D0E392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64" name="Text Box 36">
              <a:extLst>
                <a:ext uri="{FF2B5EF4-FFF2-40B4-BE49-F238E27FC236}">
                  <a16:creationId xmlns:a16="http://schemas.microsoft.com/office/drawing/2014/main" xmlns="" id="{652236A8-AFA6-4F7E-EA32-B04F66FD12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6" y="3319"/>
              <a:ext cx="65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ACK or NAK 1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48161" name="Text Box 37">
            <a:extLst>
              <a:ext uri="{FF2B5EF4-FFF2-40B4-BE49-F238E27FC236}">
                <a16:creationId xmlns:a16="http://schemas.microsoft.com/office/drawing/2014/main" xmlns="" id="{9A02AE3F-60E6-7A3F-13F3-9121A13F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950" y="39941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48162" name="Text Box 38">
            <a:extLst>
              <a:ext uri="{FF2B5EF4-FFF2-40B4-BE49-F238E27FC236}">
                <a16:creationId xmlns:a16="http://schemas.microsoft.com/office/drawing/2014/main" xmlns="" id="{322ED3C0-3218-9EBD-AF18-4781C2F8E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138" y="386873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xmlns="" id="{17AA0F60-27FE-B229-4724-A71579A9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55" name="Slide Number Placeholder 4">
            <a:extLst>
              <a:ext uri="{FF2B5EF4-FFF2-40B4-BE49-F238E27FC236}">
                <a16:creationId xmlns:a16="http://schemas.microsoft.com/office/drawing/2014/main" xmlns="" id="{3EE7E109-5EA2-C4B3-3BBB-C550145D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F350C0CE-AC17-4ED2-AAAB-D3FDB973EB28}" type="slidenum">
              <a:rPr lang="en-US" altLang="en-US" sz="1400">
                <a:latin typeface="Arial" panose="020B0604020202020204" pitchFamily="34" charset="0"/>
              </a:rPr>
              <a:pPr/>
              <a:t>52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xmlns="" id="{FF1AB7D4-372A-D697-2F3E-135D3FF40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3100" y="228600"/>
            <a:ext cx="8324850" cy="1143000"/>
          </a:xfrm>
        </p:spPr>
        <p:txBody>
          <a:bodyPr/>
          <a:lstStyle/>
          <a:p>
            <a:r>
              <a:rPr lang="en-US" altLang="en-US" sz="3200"/>
              <a:t>rdt2.1: receiver, handles garbled </a:t>
            </a:r>
            <a:r>
              <a:rPr lang="en-US" altLang="en-US" sz="2800"/>
              <a:t>ACK/NAKs</a:t>
            </a:r>
            <a:endParaRPr lang="en-US" altLang="en-US" sz="3200"/>
          </a:p>
        </p:txBody>
      </p:sp>
      <p:grpSp>
        <p:nvGrpSpPr>
          <p:cNvPr id="49157" name="Group 3">
            <a:extLst>
              <a:ext uri="{FF2B5EF4-FFF2-40B4-BE49-F238E27FC236}">
                <a16:creationId xmlns:a16="http://schemas.microsoft.com/office/drawing/2014/main" xmlns="" id="{A5A9C684-D581-A7F2-2299-F49F107C1D97}"/>
              </a:ext>
            </a:extLst>
          </p:cNvPr>
          <p:cNvGrpSpPr>
            <a:grpSpLocks/>
          </p:cNvGrpSpPr>
          <p:nvPr/>
        </p:nvGrpSpPr>
        <p:grpSpPr bwMode="auto">
          <a:xfrm>
            <a:off x="4562476" y="3352800"/>
            <a:ext cx="817563" cy="795338"/>
            <a:chOff x="963" y="1131"/>
            <a:chExt cx="515" cy="501"/>
          </a:xfrm>
        </p:grpSpPr>
        <p:sp>
          <p:nvSpPr>
            <p:cNvPr id="49186" name="Oval 4">
              <a:extLst>
                <a:ext uri="{FF2B5EF4-FFF2-40B4-BE49-F238E27FC236}">
                  <a16:creationId xmlns:a16="http://schemas.microsoft.com/office/drawing/2014/main" xmlns="" id="{57E7980F-62C6-1968-3B3A-ACB801843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187" name="Text Box 5">
              <a:extLst>
                <a:ext uri="{FF2B5EF4-FFF2-40B4-BE49-F238E27FC236}">
                  <a16:creationId xmlns:a16="http://schemas.microsoft.com/office/drawing/2014/main" xmlns="" id="{BF6015A0-CBC4-1AB5-2258-EBBF719FD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4" y="1153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0 from below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49158" name="Line 6">
            <a:extLst>
              <a:ext uri="{FF2B5EF4-FFF2-40B4-BE49-F238E27FC236}">
                <a16:creationId xmlns:a16="http://schemas.microsoft.com/office/drawing/2014/main" xmlns="" id="{8907477B-5FA2-FFCD-AC20-2B32594EF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8963" y="2282825"/>
            <a:ext cx="419100" cy="1079500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59" name="Freeform 7">
            <a:extLst>
              <a:ext uri="{FF2B5EF4-FFF2-40B4-BE49-F238E27FC236}">
                <a16:creationId xmlns:a16="http://schemas.microsoft.com/office/drawing/2014/main" xmlns="" id="{EE7D6078-DEA5-BB16-F10C-0A93EB1E13D3}"/>
              </a:ext>
            </a:extLst>
          </p:cNvPr>
          <p:cNvSpPr>
            <a:spLocks/>
          </p:cNvSpPr>
          <p:nvPr/>
        </p:nvSpPr>
        <p:spPr bwMode="auto">
          <a:xfrm flipV="1">
            <a:off x="5080001" y="2600326"/>
            <a:ext cx="1590675" cy="785813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60" name="Text Box 8">
            <a:extLst>
              <a:ext uri="{FF2B5EF4-FFF2-40B4-BE49-F238E27FC236}">
                <a16:creationId xmlns:a16="http://schemas.microsoft.com/office/drawing/2014/main" xmlns="" id="{515463A1-60D0-4155-8663-BAD70C684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638" y="2959101"/>
            <a:ext cx="30273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make_pkt(NAK, 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61" name="Text Box 9">
            <a:extLst>
              <a:ext uri="{FF2B5EF4-FFF2-40B4-BE49-F238E27FC236}">
                <a16:creationId xmlns:a16="http://schemas.microsoft.com/office/drawing/2014/main" xmlns="" id="{0FBEA3A5-B4D1-7A31-D8EA-6FD0B4739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3814" y="3671888"/>
            <a:ext cx="26241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not corrupt(rcvpkt) &amp;&amp;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has_seq0(rcvpkt)</a:t>
            </a:r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62" name="Line 10">
            <a:extLst>
              <a:ext uri="{FF2B5EF4-FFF2-40B4-BE49-F238E27FC236}">
                <a16:creationId xmlns:a16="http://schemas.microsoft.com/office/drawing/2014/main" xmlns="" id="{CF3D2E91-C625-3593-1561-B9D251C71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7950" y="4370388"/>
            <a:ext cx="19383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63" name="Freeform 11">
            <a:extLst>
              <a:ext uri="{FF2B5EF4-FFF2-40B4-BE49-F238E27FC236}">
                <a16:creationId xmlns:a16="http://schemas.microsoft.com/office/drawing/2014/main" xmlns="" id="{31D87191-4ABE-1837-7004-925708B05069}"/>
              </a:ext>
            </a:extLst>
          </p:cNvPr>
          <p:cNvSpPr>
            <a:spLocks/>
          </p:cNvSpPr>
          <p:nvPr/>
        </p:nvSpPr>
        <p:spPr bwMode="auto">
          <a:xfrm>
            <a:off x="5097464" y="4168776"/>
            <a:ext cx="1590675" cy="688975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64" name="Text Box 12">
            <a:extLst>
              <a:ext uri="{FF2B5EF4-FFF2-40B4-BE49-F238E27FC236}">
                <a16:creationId xmlns:a16="http://schemas.microsoft.com/office/drawing/2014/main" xmlns="" id="{C99CADB6-1C99-0DA3-F1C0-1D687A330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275" y="4749800"/>
            <a:ext cx="3581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notcorrupt(rcvpkt)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&amp;&amp; has_seq1(rcvpkt)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65" name="Line 13">
            <a:extLst>
              <a:ext uri="{FF2B5EF4-FFF2-40B4-BE49-F238E27FC236}">
                <a16:creationId xmlns:a16="http://schemas.microsoft.com/office/drawing/2014/main" xmlns="" id="{4DFFC9B2-1F67-E682-F305-F1578703C7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2951" y="5307013"/>
            <a:ext cx="28987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66" name="Text Box 14">
            <a:extLst>
              <a:ext uri="{FF2B5EF4-FFF2-40B4-BE49-F238E27FC236}">
                <a16:creationId xmlns:a16="http://schemas.microsoft.com/office/drawing/2014/main" xmlns="" id="{B6839E4D-35FF-BF02-0A7E-855238AF3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1" y="5362576"/>
            <a:ext cx="3852863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make_pkt(ACK, 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49167" name="Group 15">
            <a:extLst>
              <a:ext uri="{FF2B5EF4-FFF2-40B4-BE49-F238E27FC236}">
                <a16:creationId xmlns:a16="http://schemas.microsoft.com/office/drawing/2014/main" xmlns="" id="{625BDB92-F0AB-F30F-5604-022C11D1C429}"/>
              </a:ext>
            </a:extLst>
          </p:cNvPr>
          <p:cNvGrpSpPr>
            <a:grpSpLocks/>
          </p:cNvGrpSpPr>
          <p:nvPr/>
        </p:nvGrpSpPr>
        <p:grpSpPr bwMode="auto">
          <a:xfrm>
            <a:off x="6261100" y="3387726"/>
            <a:ext cx="825500" cy="796925"/>
            <a:chOff x="4398" y="3133"/>
            <a:chExt cx="520" cy="502"/>
          </a:xfrm>
        </p:grpSpPr>
        <p:sp>
          <p:nvSpPr>
            <p:cNvPr id="49184" name="Oval 16">
              <a:extLst>
                <a:ext uri="{FF2B5EF4-FFF2-40B4-BE49-F238E27FC236}">
                  <a16:creationId xmlns:a16="http://schemas.microsoft.com/office/drawing/2014/main" xmlns="" id="{134A538F-A694-4553-CB2B-F33B75306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185" name="Text Box 17">
              <a:extLst>
                <a:ext uri="{FF2B5EF4-FFF2-40B4-BE49-F238E27FC236}">
                  <a16:creationId xmlns:a16="http://schemas.microsoft.com/office/drawing/2014/main" xmlns="" id="{2E22E58C-951D-2E93-4ED9-249E52647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4" y="3163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1 from below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49168" name="Freeform 18">
            <a:extLst>
              <a:ext uri="{FF2B5EF4-FFF2-40B4-BE49-F238E27FC236}">
                <a16:creationId xmlns:a16="http://schemas.microsoft.com/office/drawing/2014/main" xmlns="" id="{801F78C6-8080-4373-BE03-08D6BD940D0B}"/>
              </a:ext>
            </a:extLst>
          </p:cNvPr>
          <p:cNvSpPr>
            <a:spLocks/>
          </p:cNvSpPr>
          <p:nvPr/>
        </p:nvSpPr>
        <p:spPr bwMode="auto">
          <a:xfrm rot="20238987">
            <a:off x="6961189" y="2979738"/>
            <a:ext cx="839787" cy="8636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69" name="Text Box 19">
            <a:extLst>
              <a:ext uri="{FF2B5EF4-FFF2-40B4-BE49-F238E27FC236}">
                <a16:creationId xmlns:a16="http://schemas.microsoft.com/office/drawing/2014/main" xmlns="" id="{671742B7-8387-122D-7D66-9798B30BD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284288"/>
            <a:ext cx="39814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notcorrupt(rcvpkt)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&amp;&amp; has_seq0(rcvpkt) 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70" name="Line 20">
            <a:extLst>
              <a:ext uri="{FF2B5EF4-FFF2-40B4-BE49-F238E27FC236}">
                <a16:creationId xmlns:a16="http://schemas.microsoft.com/office/drawing/2014/main" xmlns="" id="{84358D7B-2D67-065C-5A88-532F3C5CEA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7739" y="1854200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71" name="Text Box 21">
            <a:extLst>
              <a:ext uri="{FF2B5EF4-FFF2-40B4-BE49-F238E27FC236}">
                <a16:creationId xmlns:a16="http://schemas.microsoft.com/office/drawing/2014/main" xmlns="" id="{02111D7B-0E83-5F6E-CBE6-4274F39DD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900" y="1811338"/>
            <a:ext cx="3475038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make_pkt(ACK, 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72" name="Freeform 22">
            <a:extLst>
              <a:ext uri="{FF2B5EF4-FFF2-40B4-BE49-F238E27FC236}">
                <a16:creationId xmlns:a16="http://schemas.microsoft.com/office/drawing/2014/main" xmlns="" id="{1790BB3D-B2CC-5771-1D72-28C1D999A0C6}"/>
              </a:ext>
            </a:extLst>
          </p:cNvPr>
          <p:cNvSpPr>
            <a:spLocks/>
          </p:cNvSpPr>
          <p:nvPr/>
        </p:nvSpPr>
        <p:spPr bwMode="auto">
          <a:xfrm rot="1020547">
            <a:off x="6985000" y="3703638"/>
            <a:ext cx="839788" cy="8636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73" name="Text Box 23">
            <a:extLst>
              <a:ext uri="{FF2B5EF4-FFF2-40B4-BE49-F238E27FC236}">
                <a16:creationId xmlns:a16="http://schemas.microsoft.com/office/drawing/2014/main" xmlns="" id="{D7B62727-02C0-5A13-9424-B8224EF78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425" y="2662238"/>
            <a:ext cx="2871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(corrupt(rcvpkt)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74" name="Line 24">
            <a:extLst>
              <a:ext uri="{FF2B5EF4-FFF2-40B4-BE49-F238E27FC236}">
                <a16:creationId xmlns:a16="http://schemas.microsoft.com/office/drawing/2014/main" xmlns="" id="{EFEE8BE0-CD0E-2F22-C27D-5CA58FB0B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9539" y="2973388"/>
            <a:ext cx="19383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75" name="Text Box 25">
            <a:extLst>
              <a:ext uri="{FF2B5EF4-FFF2-40B4-BE49-F238E27FC236}">
                <a16:creationId xmlns:a16="http://schemas.microsoft.com/office/drawing/2014/main" xmlns="" id="{777DD716-2D92-761E-5612-757851C0A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9363" y="4424364"/>
            <a:ext cx="29400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make_pkt(ACK, 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76" name="Text Box 26">
            <a:extLst>
              <a:ext uri="{FF2B5EF4-FFF2-40B4-BE49-F238E27FC236}">
                <a16:creationId xmlns:a16="http://schemas.microsoft.com/office/drawing/2014/main" xmlns="" id="{291776B5-5FC1-313C-0DD0-2867C3138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675" y="3651250"/>
            <a:ext cx="26241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not corrupt(rcvpkt) &amp;&amp;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has_seq1(rcvpkt)</a:t>
            </a:r>
          </a:p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77" name="Line 27">
            <a:extLst>
              <a:ext uri="{FF2B5EF4-FFF2-40B4-BE49-F238E27FC236}">
                <a16:creationId xmlns:a16="http://schemas.microsoft.com/office/drawing/2014/main" xmlns="" id="{B085AC37-3BFE-CEA0-663E-B4472183F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1814" y="4359275"/>
            <a:ext cx="19383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78" name="Text Box 28">
            <a:extLst>
              <a:ext uri="{FF2B5EF4-FFF2-40B4-BE49-F238E27FC236}">
                <a16:creationId xmlns:a16="http://schemas.microsoft.com/office/drawing/2014/main" xmlns="" id="{7B9C3DAE-FC06-848F-6EA1-E670D99FB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9" y="2598738"/>
            <a:ext cx="28717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(corrupt(rcvpkt)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79" name="Line 29">
            <a:extLst>
              <a:ext uri="{FF2B5EF4-FFF2-40B4-BE49-F238E27FC236}">
                <a16:creationId xmlns:a16="http://schemas.microsoft.com/office/drawing/2014/main" xmlns="" id="{BA8CDBFC-DABA-5E8F-D1FD-C23392989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2973388"/>
            <a:ext cx="19383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9180" name="Text Box 30">
            <a:extLst>
              <a:ext uri="{FF2B5EF4-FFF2-40B4-BE49-F238E27FC236}">
                <a16:creationId xmlns:a16="http://schemas.microsoft.com/office/drawing/2014/main" xmlns="" id="{4C714412-2E7D-5483-D94F-2EF5D4D64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4381501"/>
            <a:ext cx="29400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make_pkt(ACK, 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81" name="Text Box 31">
            <a:extLst>
              <a:ext uri="{FF2B5EF4-FFF2-40B4-BE49-F238E27FC236}">
                <a16:creationId xmlns:a16="http://schemas.microsoft.com/office/drawing/2014/main" xmlns="" id="{3DF6A67A-22FE-B76D-1DB9-61BE14A67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2940051"/>
            <a:ext cx="302736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make_pkt(NAK, 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9182" name="Freeform 32">
            <a:extLst>
              <a:ext uri="{FF2B5EF4-FFF2-40B4-BE49-F238E27FC236}">
                <a16:creationId xmlns:a16="http://schemas.microsoft.com/office/drawing/2014/main" xmlns="" id="{6BBE2C96-449E-B735-33E9-1E10B51C44B4}"/>
              </a:ext>
            </a:extLst>
          </p:cNvPr>
          <p:cNvSpPr>
            <a:spLocks/>
          </p:cNvSpPr>
          <p:nvPr/>
        </p:nvSpPr>
        <p:spPr bwMode="auto">
          <a:xfrm rot="20579453" flipH="1">
            <a:off x="3759200" y="3640138"/>
            <a:ext cx="839788" cy="8636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83" name="Freeform 33">
            <a:extLst>
              <a:ext uri="{FF2B5EF4-FFF2-40B4-BE49-F238E27FC236}">
                <a16:creationId xmlns:a16="http://schemas.microsoft.com/office/drawing/2014/main" xmlns="" id="{548037BC-0FCC-A527-6025-BCA364EC7067}"/>
              </a:ext>
            </a:extLst>
          </p:cNvPr>
          <p:cNvSpPr>
            <a:spLocks/>
          </p:cNvSpPr>
          <p:nvPr/>
        </p:nvSpPr>
        <p:spPr bwMode="auto">
          <a:xfrm rot="1361013" flipH="1">
            <a:off x="3746500" y="2992438"/>
            <a:ext cx="839788" cy="8636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Footer Placeholder 5">
            <a:extLst>
              <a:ext uri="{FF2B5EF4-FFF2-40B4-BE49-F238E27FC236}">
                <a16:creationId xmlns:a16="http://schemas.microsoft.com/office/drawing/2014/main" xmlns="" id="{6E7CEE2B-284A-2E67-7FAE-6E492A29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0179" name="Slide Number Placeholder 6">
            <a:extLst>
              <a:ext uri="{FF2B5EF4-FFF2-40B4-BE49-F238E27FC236}">
                <a16:creationId xmlns:a16="http://schemas.microsoft.com/office/drawing/2014/main" xmlns="" id="{7C6FA00E-CE5E-2B4B-CE0F-098807706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D1A38D4B-C21B-4DAB-AEA0-B20D12A8EA04}" type="slidenum">
              <a:rPr lang="en-US" altLang="en-US" sz="1400">
                <a:latin typeface="Arial" panose="020B0604020202020204" pitchFamily="34" charset="0"/>
              </a:rPr>
              <a:pPr/>
              <a:t>53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xmlns="" id="{96C7F0B2-B0BD-883E-DA58-FBBCB833D2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rdt2.1: discussion</a:t>
            </a:r>
          </a:p>
        </p:txBody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xmlns="" id="{55BC9742-6111-4B91-9D29-8A1DFC022F5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Sender:</a:t>
            </a:r>
            <a:endParaRPr lang="en-US" altLang="en-US" sz="2400"/>
          </a:p>
          <a:p>
            <a:r>
              <a:rPr lang="en-US" altLang="en-US" sz="2400"/>
              <a:t>seq # added to pkt</a:t>
            </a:r>
          </a:p>
          <a:p>
            <a:r>
              <a:rPr lang="en-US" altLang="en-US" sz="2400"/>
              <a:t>two seq. #’s (0,1) will suffice.  Why?</a:t>
            </a:r>
          </a:p>
          <a:p>
            <a:r>
              <a:rPr lang="en-US" altLang="en-US" sz="2400"/>
              <a:t>must check if received ACK/NAK corrupted </a:t>
            </a:r>
          </a:p>
          <a:p>
            <a:r>
              <a:rPr lang="en-US" altLang="en-US" sz="2400"/>
              <a:t>twice as many states</a:t>
            </a:r>
          </a:p>
          <a:p>
            <a:pPr lvl="1"/>
            <a:r>
              <a:rPr lang="en-US" altLang="en-US" sz="2000"/>
              <a:t>state must “remember” whether “current” pkt has 0 or 1 seq. #</a:t>
            </a:r>
          </a:p>
          <a:p>
            <a:endParaRPr lang="en-US" altLang="en-US" sz="2400"/>
          </a:p>
        </p:txBody>
      </p:sp>
      <p:sp>
        <p:nvSpPr>
          <p:cNvPr id="50182" name="Rectangle 4">
            <a:extLst>
              <a:ext uri="{FF2B5EF4-FFF2-40B4-BE49-F238E27FC236}">
                <a16:creationId xmlns:a16="http://schemas.microsoft.com/office/drawing/2014/main" xmlns="" id="{A99DD4DB-E2AF-8018-E859-BE4895A1A21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Receiver:</a:t>
            </a:r>
            <a:endParaRPr lang="en-US" altLang="en-US" sz="2400"/>
          </a:p>
          <a:p>
            <a:r>
              <a:rPr lang="en-US" altLang="en-US" sz="2400"/>
              <a:t>must check if received packet is duplicate</a:t>
            </a:r>
          </a:p>
          <a:p>
            <a:pPr lvl="1"/>
            <a:r>
              <a:rPr lang="en-US" altLang="en-US" sz="2000"/>
              <a:t>state indicates whether 0 or 1 is expected pkt seq #</a:t>
            </a:r>
          </a:p>
          <a:p>
            <a:r>
              <a:rPr lang="en-US" altLang="en-US" sz="2400"/>
              <a:t>note: receiver can </a:t>
            </a:r>
            <a:r>
              <a:rPr lang="en-US" altLang="en-US" sz="2400" i="1"/>
              <a:t>not</a:t>
            </a:r>
            <a:r>
              <a:rPr lang="en-US" altLang="en-US" sz="2400"/>
              <a:t> know if its last ACK/NAK received OK at sender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5">
            <a:extLst>
              <a:ext uri="{FF2B5EF4-FFF2-40B4-BE49-F238E27FC236}">
                <a16:creationId xmlns:a16="http://schemas.microsoft.com/office/drawing/2014/main" xmlns="" id="{9D9BFA13-62F9-CBA8-1A9A-92EEAD7BA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1203" name="Slide Number Placeholder 6">
            <a:extLst>
              <a:ext uri="{FF2B5EF4-FFF2-40B4-BE49-F238E27FC236}">
                <a16:creationId xmlns:a16="http://schemas.microsoft.com/office/drawing/2014/main" xmlns="" id="{AC9D7B68-4368-E354-EB90-6E83E6D0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9EE13136-CE63-4B49-A42E-AEE624EA394E}" type="slidenum">
              <a:rPr lang="en-US" altLang="en-US" sz="1400">
                <a:latin typeface="Arial" panose="020B0604020202020204" pitchFamily="34" charset="0"/>
              </a:rPr>
              <a:pPr/>
              <a:t>54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xmlns="" id="{A7DE2021-544B-DB40-5A34-495BEB387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rdt2.2: a NAK-free protocol</a:t>
            </a:r>
            <a:endParaRPr lang="en-US" altLang="en-US"/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xmlns="" id="{5D00253F-98DE-4E70-3C56-A537B13A163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43100" y="1581150"/>
            <a:ext cx="8064500" cy="2749550"/>
          </a:xfrm>
        </p:spPr>
        <p:txBody>
          <a:bodyPr/>
          <a:lstStyle/>
          <a:p>
            <a:r>
              <a:rPr lang="en-US" altLang="en-US" sz="2400"/>
              <a:t>same functionality as rdt2.1, using ACKs only</a:t>
            </a:r>
          </a:p>
          <a:p>
            <a:r>
              <a:rPr lang="en-US" altLang="en-US" sz="2400"/>
              <a:t>instead of NAK, receiver sends ACK for last pkt received OK</a:t>
            </a:r>
          </a:p>
          <a:p>
            <a:pPr lvl="1"/>
            <a:r>
              <a:rPr lang="en-US" altLang="en-US" sz="2000"/>
              <a:t>receiver must </a:t>
            </a:r>
            <a:r>
              <a:rPr lang="en-US" altLang="en-US" sz="2000" i="1"/>
              <a:t>explicitly</a:t>
            </a:r>
            <a:r>
              <a:rPr lang="en-US" altLang="en-US" sz="2000"/>
              <a:t> include seq # of pkt being ACKed </a:t>
            </a:r>
          </a:p>
          <a:p>
            <a:r>
              <a:rPr lang="en-US" altLang="en-US" sz="2400"/>
              <a:t>duplicate ACK at sender results in same action as NAK: </a:t>
            </a:r>
            <a:r>
              <a:rPr lang="en-US" altLang="en-US" sz="2400" i="1"/>
              <a:t>retransmit current pkt</a:t>
            </a:r>
            <a:endParaRPr lang="en-US" altLang="en-US"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4">
            <a:extLst>
              <a:ext uri="{FF2B5EF4-FFF2-40B4-BE49-F238E27FC236}">
                <a16:creationId xmlns:a16="http://schemas.microsoft.com/office/drawing/2014/main" xmlns="" id="{2BCD8B79-BE66-CFFD-C3AE-523F164B5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2227" name="Slide Number Placeholder 5">
            <a:extLst>
              <a:ext uri="{FF2B5EF4-FFF2-40B4-BE49-F238E27FC236}">
                <a16:creationId xmlns:a16="http://schemas.microsoft.com/office/drawing/2014/main" xmlns="" id="{5D7D0A4D-3338-70D4-6CE9-B4A2AAD8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1762AADB-747F-4342-97C7-A585FA814FF8}" type="slidenum">
              <a:rPr lang="en-US" altLang="en-US" sz="1400">
                <a:latin typeface="Arial" panose="020B0604020202020204" pitchFamily="34" charset="0"/>
              </a:rPr>
              <a:pPr/>
              <a:t>55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xmlns="" id="{BBC4E39C-41B8-16EC-1F0B-E10A5413D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3263" y="173038"/>
            <a:ext cx="7772400" cy="1143000"/>
          </a:xfrm>
        </p:spPr>
        <p:txBody>
          <a:bodyPr/>
          <a:lstStyle/>
          <a:p>
            <a:r>
              <a:rPr lang="en-US" altLang="en-US" sz="3200"/>
              <a:t>rdt2.2: sender, receiver fragments</a:t>
            </a:r>
          </a:p>
        </p:txBody>
      </p:sp>
      <p:grpSp>
        <p:nvGrpSpPr>
          <p:cNvPr id="52229" name="Group 3">
            <a:extLst>
              <a:ext uri="{FF2B5EF4-FFF2-40B4-BE49-F238E27FC236}">
                <a16:creationId xmlns:a16="http://schemas.microsoft.com/office/drawing/2014/main" xmlns="" id="{9FFA90E2-F305-959B-F730-F93076A696C7}"/>
              </a:ext>
            </a:extLst>
          </p:cNvPr>
          <p:cNvGrpSpPr>
            <a:grpSpLocks/>
          </p:cNvGrpSpPr>
          <p:nvPr/>
        </p:nvGrpSpPr>
        <p:grpSpPr bwMode="auto">
          <a:xfrm>
            <a:off x="4144964" y="2220913"/>
            <a:ext cx="1062037" cy="838200"/>
            <a:chOff x="1441" y="2062"/>
            <a:chExt cx="669" cy="528"/>
          </a:xfrm>
        </p:grpSpPr>
        <p:sp>
          <p:nvSpPr>
            <p:cNvPr id="52261" name="Oval 4">
              <a:extLst>
                <a:ext uri="{FF2B5EF4-FFF2-40B4-BE49-F238E27FC236}">
                  <a16:creationId xmlns:a16="http://schemas.microsoft.com/office/drawing/2014/main" xmlns="" id="{8F5F89D3-96BF-0522-8D1B-0D031A22A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3" y="2062"/>
              <a:ext cx="578" cy="5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262" name="Text Box 5">
              <a:extLst>
                <a:ext uri="{FF2B5EF4-FFF2-40B4-BE49-F238E27FC236}">
                  <a16:creationId xmlns:a16="http://schemas.microsoft.com/office/drawing/2014/main" xmlns="" id="{55713974-D9F7-D25D-AC4C-1DEEACBD8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" y="2110"/>
              <a:ext cx="66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call 0 from above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2230" name="Text Box 6">
            <a:extLst>
              <a:ext uri="{FF2B5EF4-FFF2-40B4-BE49-F238E27FC236}">
                <a16:creationId xmlns:a16="http://schemas.microsoft.com/office/drawing/2014/main" xmlns="" id="{0B9E0F77-C8DE-013D-FD47-E8DDC44C1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4" y="1519238"/>
            <a:ext cx="3722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sndpkt = make_pkt(0, data, checksum)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xmlns="" id="{192A2964-D8DE-B9A0-6C9B-B16CD1441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214" y="1238250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rdt_send(data)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32" name="Line 8">
            <a:extLst>
              <a:ext uri="{FF2B5EF4-FFF2-40B4-BE49-F238E27FC236}">
                <a16:creationId xmlns:a16="http://schemas.microsoft.com/office/drawing/2014/main" xmlns="" id="{9103CF5E-E6F3-EABC-C947-1F414C221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6126" y="1574800"/>
            <a:ext cx="35528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33" name="Line 9">
            <a:extLst>
              <a:ext uri="{FF2B5EF4-FFF2-40B4-BE49-F238E27FC236}">
                <a16:creationId xmlns:a16="http://schemas.microsoft.com/office/drawing/2014/main" xmlns="" id="{D58F316F-BFB0-B983-710F-4C1D40276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1288" y="2084389"/>
            <a:ext cx="419100" cy="23018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34" name="Freeform 10">
            <a:extLst>
              <a:ext uri="{FF2B5EF4-FFF2-40B4-BE49-F238E27FC236}">
                <a16:creationId xmlns:a16="http://schemas.microsoft.com/office/drawing/2014/main" xmlns="" id="{AB705996-FA6B-7951-36AA-80F18B23BFAA}"/>
              </a:ext>
            </a:extLst>
          </p:cNvPr>
          <p:cNvSpPr>
            <a:spLocks/>
          </p:cNvSpPr>
          <p:nvPr/>
        </p:nvSpPr>
        <p:spPr bwMode="auto">
          <a:xfrm flipV="1">
            <a:off x="4851401" y="2019301"/>
            <a:ext cx="1897063" cy="206375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35" name="Freeform 11">
            <a:extLst>
              <a:ext uri="{FF2B5EF4-FFF2-40B4-BE49-F238E27FC236}">
                <a16:creationId xmlns:a16="http://schemas.microsoft.com/office/drawing/2014/main" xmlns="" id="{DA28C579-8D5A-FC68-082C-88EE4578D4F4}"/>
              </a:ext>
            </a:extLst>
          </p:cNvPr>
          <p:cNvSpPr>
            <a:spLocks/>
          </p:cNvSpPr>
          <p:nvPr/>
        </p:nvSpPr>
        <p:spPr bwMode="auto">
          <a:xfrm rot="20242820">
            <a:off x="7326314" y="1944689"/>
            <a:ext cx="452437" cy="860425"/>
          </a:xfrm>
          <a:custGeom>
            <a:avLst/>
            <a:gdLst>
              <a:gd name="T0" fmla="*/ 0 w 735"/>
              <a:gd name="T1" fmla="*/ 2147483647 h 1080"/>
              <a:gd name="T2" fmla="*/ 0 w 735"/>
              <a:gd name="T3" fmla="*/ 2147483647 h 1080"/>
              <a:gd name="T4" fmla="*/ 0 60000 65536"/>
              <a:gd name="T5" fmla="*/ 0 60000 65536"/>
              <a:gd name="T6" fmla="*/ 0 w 735"/>
              <a:gd name="T7" fmla="*/ 0 h 1080"/>
              <a:gd name="T8" fmla="*/ 735 w 735"/>
              <a:gd name="T9" fmla="*/ 1080 h 10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5" h="1080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36" name="Text Box 12">
            <a:extLst>
              <a:ext uri="{FF2B5EF4-FFF2-40B4-BE49-F238E27FC236}">
                <a16:creationId xmlns:a16="http://schemas.microsoft.com/office/drawing/2014/main" xmlns="" id="{EFB62832-1BC5-4F7A-EE9E-332B30DF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9076" y="2651125"/>
            <a:ext cx="2124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udt_send(sndpkt)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7" name="Text Box 13">
            <a:extLst>
              <a:ext uri="{FF2B5EF4-FFF2-40B4-BE49-F238E27FC236}">
                <a16:creationId xmlns:a16="http://schemas.microsoft.com/office/drawing/2014/main" xmlns="" id="{7077316C-32BD-93F1-3993-55361C8C1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2238" y="1863725"/>
            <a:ext cx="2717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( corrupt(rcvpkt) ||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isACK(rcvpkt,1)</a:t>
            </a:r>
            <a:r>
              <a:rPr lang="en-US" altLang="en-US">
                <a:latin typeface="Arial" panose="020B0604020202020204" pitchFamily="34" charset="0"/>
              </a:rPr>
              <a:t> 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38" name="Line 14">
            <a:extLst>
              <a:ext uri="{FF2B5EF4-FFF2-40B4-BE49-F238E27FC236}">
                <a16:creationId xmlns:a16="http://schemas.microsoft.com/office/drawing/2014/main" xmlns="" id="{3B5344E5-437F-7C77-8483-48DD5A29EC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2263" y="2644775"/>
            <a:ext cx="1420812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39" name="Freeform 15">
            <a:extLst>
              <a:ext uri="{FF2B5EF4-FFF2-40B4-BE49-F238E27FC236}">
                <a16:creationId xmlns:a16="http://schemas.microsoft.com/office/drawing/2014/main" xmlns="" id="{448AE344-6F71-C120-53B4-B89FEEB2E903}"/>
              </a:ext>
            </a:extLst>
          </p:cNvPr>
          <p:cNvSpPr>
            <a:spLocks/>
          </p:cNvSpPr>
          <p:nvPr/>
        </p:nvSpPr>
        <p:spPr bwMode="auto">
          <a:xfrm>
            <a:off x="7472363" y="2844801"/>
            <a:ext cx="203200" cy="1228725"/>
          </a:xfrm>
          <a:custGeom>
            <a:avLst/>
            <a:gdLst>
              <a:gd name="T0" fmla="*/ 2147483647 w 128"/>
              <a:gd name="T1" fmla="*/ 2147483647 h 774"/>
              <a:gd name="T2" fmla="*/ 0 w 128"/>
              <a:gd name="T3" fmla="*/ 0 h 774"/>
              <a:gd name="T4" fmla="*/ 0 60000 65536"/>
              <a:gd name="T5" fmla="*/ 0 60000 65536"/>
              <a:gd name="T6" fmla="*/ 0 w 128"/>
              <a:gd name="T7" fmla="*/ 0 h 774"/>
              <a:gd name="T8" fmla="*/ 128 w 128"/>
              <a:gd name="T9" fmla="*/ 774 h 7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8" h="774">
                <a:moveTo>
                  <a:pt x="67" y="774"/>
                </a:moveTo>
                <a:cubicBezTo>
                  <a:pt x="128" y="425"/>
                  <a:pt x="81" y="0"/>
                  <a:pt x="0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40" name="Text Box 16">
            <a:extLst>
              <a:ext uri="{FF2B5EF4-FFF2-40B4-BE49-F238E27FC236}">
                <a16:creationId xmlns:a16="http://schemas.microsoft.com/office/drawing/2014/main" xmlns="" id="{19DEA897-A627-6F4E-786B-43F052F2F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825" y="3255963"/>
            <a:ext cx="2413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 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&amp;&amp; notcorrupt(rcvpkt)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&amp;&amp;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isACK(rcvpkt,0)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2241" name="Line 17">
            <a:extLst>
              <a:ext uri="{FF2B5EF4-FFF2-40B4-BE49-F238E27FC236}">
                <a16:creationId xmlns:a16="http://schemas.microsoft.com/office/drawing/2014/main" xmlns="" id="{55915C04-5CD2-1532-2B66-53C927197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05726" y="4079875"/>
            <a:ext cx="1863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2242" name="Group 18">
            <a:extLst>
              <a:ext uri="{FF2B5EF4-FFF2-40B4-BE49-F238E27FC236}">
                <a16:creationId xmlns:a16="http://schemas.microsoft.com/office/drawing/2014/main" xmlns="" id="{3FABF4E5-5BBD-7A94-C107-FDD3DB555E51}"/>
              </a:ext>
            </a:extLst>
          </p:cNvPr>
          <p:cNvGrpSpPr>
            <a:grpSpLocks/>
          </p:cNvGrpSpPr>
          <p:nvPr/>
        </p:nvGrpSpPr>
        <p:grpSpPr bwMode="auto">
          <a:xfrm>
            <a:off x="6500814" y="2166938"/>
            <a:ext cx="1062037" cy="838200"/>
            <a:chOff x="1441" y="2062"/>
            <a:chExt cx="669" cy="528"/>
          </a:xfrm>
        </p:grpSpPr>
        <p:sp>
          <p:nvSpPr>
            <p:cNvPr id="52259" name="Oval 19">
              <a:extLst>
                <a:ext uri="{FF2B5EF4-FFF2-40B4-BE49-F238E27FC236}">
                  <a16:creationId xmlns:a16="http://schemas.microsoft.com/office/drawing/2014/main" xmlns="" id="{64A84FDB-3D82-F358-30F5-6D1F56A60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3" y="2062"/>
              <a:ext cx="578" cy="52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260" name="Text Box 20">
              <a:extLst>
                <a:ext uri="{FF2B5EF4-FFF2-40B4-BE49-F238E27FC236}">
                  <a16:creationId xmlns:a16="http://schemas.microsoft.com/office/drawing/2014/main" xmlns="" id="{84E1E6B3-527B-DE04-4AB2-9657179FE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1" y="2110"/>
              <a:ext cx="66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ACK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2243" name="Text Box 21">
            <a:extLst>
              <a:ext uri="{FF2B5EF4-FFF2-40B4-BE49-F238E27FC236}">
                <a16:creationId xmlns:a16="http://schemas.microsoft.com/office/drawing/2014/main" xmlns="" id="{382D7AFA-9E8A-E961-4C20-75F10186D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1" y="2884489"/>
            <a:ext cx="1622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sender FSM</a:t>
            </a:r>
          </a:p>
          <a:p>
            <a:r>
              <a:rPr lang="en-US" altLang="en-US" sz="2000">
                <a:solidFill>
                  <a:schemeClr val="accent2"/>
                </a:solidFill>
              </a:rPr>
              <a:t>fragment</a:t>
            </a:r>
          </a:p>
        </p:txBody>
      </p:sp>
      <p:grpSp>
        <p:nvGrpSpPr>
          <p:cNvPr id="52244" name="Group 22">
            <a:extLst>
              <a:ext uri="{FF2B5EF4-FFF2-40B4-BE49-F238E27FC236}">
                <a16:creationId xmlns:a16="http://schemas.microsoft.com/office/drawing/2014/main" xmlns="" id="{196F9167-1840-4733-F452-67AD6D4725BB}"/>
              </a:ext>
            </a:extLst>
          </p:cNvPr>
          <p:cNvGrpSpPr>
            <a:grpSpLocks/>
          </p:cNvGrpSpPr>
          <p:nvPr/>
        </p:nvGrpSpPr>
        <p:grpSpPr bwMode="auto">
          <a:xfrm>
            <a:off x="3951289" y="4265614"/>
            <a:ext cx="847725" cy="795337"/>
            <a:chOff x="3570" y="3063"/>
            <a:chExt cx="534" cy="501"/>
          </a:xfrm>
        </p:grpSpPr>
        <p:sp>
          <p:nvSpPr>
            <p:cNvPr id="52257" name="Oval 23">
              <a:extLst>
                <a:ext uri="{FF2B5EF4-FFF2-40B4-BE49-F238E27FC236}">
                  <a16:creationId xmlns:a16="http://schemas.microsoft.com/office/drawing/2014/main" xmlns="" id="{26789B09-51E9-790B-3B0F-A6BAA1688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0" y="3063"/>
              <a:ext cx="534" cy="501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258" name="Text Box 24">
              <a:extLst>
                <a:ext uri="{FF2B5EF4-FFF2-40B4-BE49-F238E27FC236}">
                  <a16:creationId xmlns:a16="http://schemas.microsoft.com/office/drawing/2014/main" xmlns="" id="{3C58F2BD-78FD-92F0-8C8E-C17394669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" y="3085"/>
              <a:ext cx="50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0 from below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2245" name="Freeform 25">
            <a:extLst>
              <a:ext uri="{FF2B5EF4-FFF2-40B4-BE49-F238E27FC236}">
                <a16:creationId xmlns:a16="http://schemas.microsoft.com/office/drawing/2014/main" xmlns="" id="{D02F2CF6-66A8-24DA-9657-D43BA72C4B73}"/>
              </a:ext>
            </a:extLst>
          </p:cNvPr>
          <p:cNvSpPr>
            <a:spLocks/>
          </p:cNvSpPr>
          <p:nvPr/>
        </p:nvSpPr>
        <p:spPr bwMode="auto">
          <a:xfrm>
            <a:off x="4579938" y="4156075"/>
            <a:ext cx="825500" cy="185738"/>
          </a:xfrm>
          <a:custGeom>
            <a:avLst/>
            <a:gdLst>
              <a:gd name="T0" fmla="*/ 0 w 520"/>
              <a:gd name="T1" fmla="*/ 2147483647 h 117"/>
              <a:gd name="T2" fmla="*/ 2147483647 w 520"/>
              <a:gd name="T3" fmla="*/ 2147483647 h 117"/>
              <a:gd name="T4" fmla="*/ 0 60000 65536"/>
              <a:gd name="T5" fmla="*/ 0 60000 65536"/>
              <a:gd name="T6" fmla="*/ 0 w 520"/>
              <a:gd name="T7" fmla="*/ 0 h 117"/>
              <a:gd name="T8" fmla="*/ 520 w 520"/>
              <a:gd name="T9" fmla="*/ 117 h 11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0" h="117">
                <a:moveTo>
                  <a:pt x="0" y="117"/>
                </a:moveTo>
                <a:cubicBezTo>
                  <a:pt x="136" y="17"/>
                  <a:pt x="276" y="0"/>
                  <a:pt x="520" y="17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46" name="Freeform 26">
            <a:extLst>
              <a:ext uri="{FF2B5EF4-FFF2-40B4-BE49-F238E27FC236}">
                <a16:creationId xmlns:a16="http://schemas.microsoft.com/office/drawing/2014/main" xmlns="" id="{5DE38302-CA7B-C264-528D-89810076171B}"/>
              </a:ext>
            </a:extLst>
          </p:cNvPr>
          <p:cNvSpPr>
            <a:spLocks/>
          </p:cNvSpPr>
          <p:nvPr/>
        </p:nvSpPr>
        <p:spPr bwMode="auto">
          <a:xfrm>
            <a:off x="4692651" y="4960939"/>
            <a:ext cx="2403475" cy="206375"/>
          </a:xfrm>
          <a:custGeom>
            <a:avLst/>
            <a:gdLst>
              <a:gd name="T0" fmla="*/ 0 w 1514"/>
              <a:gd name="T1" fmla="*/ 0 h 130"/>
              <a:gd name="T2" fmla="*/ 2147483647 w 1514"/>
              <a:gd name="T3" fmla="*/ 2147483647 h 130"/>
              <a:gd name="T4" fmla="*/ 0 60000 65536"/>
              <a:gd name="T5" fmla="*/ 0 60000 65536"/>
              <a:gd name="T6" fmla="*/ 0 w 1514"/>
              <a:gd name="T7" fmla="*/ 0 h 130"/>
              <a:gd name="T8" fmla="*/ 1514 w 1514"/>
              <a:gd name="T9" fmla="*/ 130 h 1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14" h="130">
                <a:moveTo>
                  <a:pt x="0" y="0"/>
                </a:moveTo>
                <a:cubicBezTo>
                  <a:pt x="266" y="130"/>
                  <a:pt x="1322" y="113"/>
                  <a:pt x="1514" y="17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47" name="Text Box 27">
            <a:extLst>
              <a:ext uri="{FF2B5EF4-FFF2-40B4-BE49-F238E27FC236}">
                <a16:creationId xmlns:a16="http://schemas.microsoft.com/office/drawing/2014/main" xmlns="" id="{91FA4B5D-B242-5823-CA06-117C9D900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9" y="5106988"/>
            <a:ext cx="39401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notcorrupt(rcvpkt)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&amp;&amp; has_seq1(rcvpkt) 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48" name="Line 28">
            <a:extLst>
              <a:ext uri="{FF2B5EF4-FFF2-40B4-BE49-F238E27FC236}">
                <a16:creationId xmlns:a16="http://schemas.microsoft.com/office/drawing/2014/main" xmlns="" id="{33CBA75D-AEA8-454E-46E8-1B5C00647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0414" y="5678488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49" name="Text Box 29">
            <a:extLst>
              <a:ext uri="{FF2B5EF4-FFF2-40B4-BE49-F238E27FC236}">
                <a16:creationId xmlns:a16="http://schemas.microsoft.com/office/drawing/2014/main" xmlns="" id="{CBB0EB30-5791-94BA-734A-7D0471E96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9" y="5664201"/>
            <a:ext cx="4175125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sndpkt = make_pkt(ACK1, chksum)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udt_send(sndpkt)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50" name="Freeform 30">
            <a:extLst>
              <a:ext uri="{FF2B5EF4-FFF2-40B4-BE49-F238E27FC236}">
                <a16:creationId xmlns:a16="http://schemas.microsoft.com/office/drawing/2014/main" xmlns="" id="{D7A0ABF1-1FCF-28BA-55B6-B3002A15C00A}"/>
              </a:ext>
            </a:extLst>
          </p:cNvPr>
          <p:cNvSpPr>
            <a:spLocks/>
          </p:cNvSpPr>
          <p:nvPr/>
        </p:nvSpPr>
        <p:spPr bwMode="auto">
          <a:xfrm flipH="1">
            <a:off x="3487739" y="3917950"/>
            <a:ext cx="490537" cy="1358900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51" name="Line 31">
            <a:extLst>
              <a:ext uri="{FF2B5EF4-FFF2-40B4-BE49-F238E27FC236}">
                <a16:creationId xmlns:a16="http://schemas.microsoft.com/office/drawing/2014/main" xmlns="" id="{595C36BC-ED6C-180C-D1B8-E70981B86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4488" y="4660900"/>
            <a:ext cx="1924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52" name="Text Box 32">
            <a:extLst>
              <a:ext uri="{FF2B5EF4-FFF2-40B4-BE49-F238E27FC236}">
                <a16:creationId xmlns:a16="http://schemas.microsoft.com/office/drawing/2014/main" xmlns="" id="{78E20FC9-2292-7041-D234-C3F8B7E39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526" y="3824289"/>
            <a:ext cx="2360613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(corrupt(rcvpkt) ||</a:t>
            </a:r>
          </a:p>
          <a:p>
            <a:pPr algn="l"/>
            <a:r>
              <a:rPr lang="en-US" altLang="en-US">
                <a:latin typeface="Arial" panose="020B0604020202020204" pitchFamily="34" charset="0"/>
              </a:rPr>
              <a:t>     </a:t>
            </a:r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has_seq1(rcvpkt))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3" name="Text Box 33">
            <a:extLst>
              <a:ext uri="{FF2B5EF4-FFF2-40B4-BE49-F238E27FC236}">
                <a16:creationId xmlns:a16="http://schemas.microsoft.com/office/drawing/2014/main" xmlns="" id="{F9B9BFA5-F206-EFE8-0B41-42EA1528D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89476"/>
            <a:ext cx="20383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b="1">
                <a:solidFill>
                  <a:srgbClr val="FF0000"/>
                </a:solidFill>
                <a:latin typeface="Arial" panose="020B0604020202020204" pitchFamily="34" charset="0"/>
              </a:rPr>
              <a:t>udt_send(sndpkt)</a:t>
            </a:r>
            <a:endParaRPr lang="en-US" altLang="en-US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54" name="Text Box 34">
            <a:extLst>
              <a:ext uri="{FF2B5EF4-FFF2-40B4-BE49-F238E27FC236}">
                <a16:creationId xmlns:a16="http://schemas.microsoft.com/office/drawing/2014/main" xmlns="" id="{140D8357-221B-47BE-4597-08F130253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0450" y="4311651"/>
            <a:ext cx="1803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chemeClr val="accent2"/>
                </a:solidFill>
              </a:rPr>
              <a:t>receiver FSM</a:t>
            </a:r>
          </a:p>
          <a:p>
            <a:r>
              <a:rPr lang="en-US" altLang="en-US" sz="2000">
                <a:solidFill>
                  <a:schemeClr val="accent2"/>
                </a:solidFill>
              </a:rPr>
              <a:t>fragment</a:t>
            </a:r>
          </a:p>
        </p:txBody>
      </p:sp>
      <p:sp>
        <p:nvSpPr>
          <p:cNvPr id="52255" name="Line 35">
            <a:extLst>
              <a:ext uri="{FF2B5EF4-FFF2-40B4-BE49-F238E27FC236}">
                <a16:creationId xmlns:a16="http://schemas.microsoft.com/office/drawing/2014/main" xmlns="" id="{4171B437-4EBB-1EF7-66F0-9DA683872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9164" y="2603500"/>
            <a:ext cx="7883525" cy="275748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256" name="Text Box 36">
            <a:extLst>
              <a:ext uri="{FF2B5EF4-FFF2-40B4-BE49-F238E27FC236}">
                <a16:creationId xmlns:a16="http://schemas.microsoft.com/office/drawing/2014/main" xmlns="" id="{A49C4F99-AC1B-CCD8-8FFA-265733569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8826" y="4103688"/>
            <a:ext cx="379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5">
            <a:extLst>
              <a:ext uri="{FF2B5EF4-FFF2-40B4-BE49-F238E27FC236}">
                <a16:creationId xmlns:a16="http://schemas.microsoft.com/office/drawing/2014/main" xmlns="" id="{44931C67-64DA-9562-9A3B-04424A99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3251" name="Slide Number Placeholder 6">
            <a:extLst>
              <a:ext uri="{FF2B5EF4-FFF2-40B4-BE49-F238E27FC236}">
                <a16:creationId xmlns:a16="http://schemas.microsoft.com/office/drawing/2014/main" xmlns="" id="{AF48AE51-591E-D8A1-C1C5-591A161F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C4F790B8-F032-40EB-8231-5D5E9E3AC657}" type="slidenum">
              <a:rPr lang="en-US" altLang="en-US" sz="1400">
                <a:latin typeface="Arial" panose="020B0604020202020204" pitchFamily="34" charset="0"/>
              </a:rPr>
              <a:pPr/>
              <a:t>56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xmlns="" id="{7A923C14-D0FF-8F2A-0005-520406A74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rdt3.0: channels with errors </a:t>
            </a:r>
            <a:r>
              <a:rPr lang="en-US" altLang="en-US" sz="3200" i="1"/>
              <a:t>and</a:t>
            </a:r>
            <a:r>
              <a:rPr lang="en-US" altLang="en-US" sz="3200"/>
              <a:t> loss</a:t>
            </a:r>
            <a:endParaRPr lang="en-US" altLang="en-US"/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xmlns="" id="{F1FF1117-0E70-C1DF-2EEE-6AA74CD7D9C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New assumption:</a:t>
            </a:r>
            <a:r>
              <a:rPr lang="en-US" altLang="en-US" sz="2400"/>
              <a:t> underlying channel can also lose packets (data or ACKs)</a:t>
            </a:r>
          </a:p>
          <a:p>
            <a:pPr lvl="1"/>
            <a:r>
              <a:rPr lang="en-US" altLang="en-US" sz="2000"/>
              <a:t>checksum, seq. #, ACKs, retransmissions will be of help, but not enough</a:t>
            </a:r>
          </a:p>
        </p:txBody>
      </p:sp>
      <p:sp>
        <p:nvSpPr>
          <p:cNvPr id="53254" name="Rectangle 4">
            <a:extLst>
              <a:ext uri="{FF2B5EF4-FFF2-40B4-BE49-F238E27FC236}">
                <a16:creationId xmlns:a16="http://schemas.microsoft.com/office/drawing/2014/main" xmlns="" id="{8BF7D6C8-F6F5-C56A-57FB-EEB756258B4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19800" y="1600200"/>
            <a:ext cx="4095750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Approach:</a:t>
            </a:r>
            <a:r>
              <a:rPr lang="en-US" altLang="en-US" sz="2400"/>
              <a:t> sender waits “reasonable” amount of time for ACK </a:t>
            </a:r>
          </a:p>
          <a:p>
            <a:r>
              <a:rPr lang="en-US" altLang="en-US" sz="2000"/>
              <a:t>retransmits if no ACK received in this time</a:t>
            </a:r>
          </a:p>
          <a:p>
            <a:r>
              <a:rPr lang="en-US" altLang="en-US" sz="2000"/>
              <a:t>if pkt (or ACK) just delayed (not lost):</a:t>
            </a:r>
          </a:p>
          <a:p>
            <a:pPr lvl="1"/>
            <a:r>
              <a:rPr lang="en-US" altLang="en-US" sz="2000"/>
              <a:t>retransmission will be  duplicate, but use of seq. #’s already handles this</a:t>
            </a:r>
            <a:endParaRPr lang="en-US" altLang="en-US" sz="1800"/>
          </a:p>
          <a:p>
            <a:pPr lvl="1"/>
            <a:r>
              <a:rPr lang="en-US" altLang="en-US" sz="2000"/>
              <a:t>receiver must specify seq # of pkt being ACKed</a:t>
            </a:r>
            <a:endParaRPr lang="en-US" altLang="en-US" sz="1800"/>
          </a:p>
          <a:p>
            <a:r>
              <a:rPr lang="en-US" altLang="en-US" sz="2000"/>
              <a:t>requires countdown timer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xmlns="" id="{DB0B2AEA-5033-CE1D-17D7-4E4F63AA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75" name="Slide Number Placeholder 4">
            <a:extLst>
              <a:ext uri="{FF2B5EF4-FFF2-40B4-BE49-F238E27FC236}">
                <a16:creationId xmlns:a16="http://schemas.microsoft.com/office/drawing/2014/main" xmlns="" id="{57FC7762-CA40-8B76-2E45-B151E2071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AF4AB8B2-B292-4CE6-AF73-4098220997AE}" type="slidenum">
              <a:rPr lang="en-US" altLang="en-US" sz="1400">
                <a:latin typeface="Arial" panose="020B0604020202020204" pitchFamily="34" charset="0"/>
              </a:rPr>
              <a:pPr/>
              <a:t>57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xmlns="" id="{804CE35F-E307-BA65-31AB-0992D5304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3726" y="242888"/>
            <a:ext cx="3560763" cy="893762"/>
          </a:xfrm>
        </p:spPr>
        <p:txBody>
          <a:bodyPr/>
          <a:lstStyle/>
          <a:p>
            <a:r>
              <a:rPr lang="en-US" altLang="en-US" sz="3600"/>
              <a:t>rdt3.0 sender</a:t>
            </a:r>
            <a:endParaRPr lang="en-US" altLang="en-US"/>
          </a:p>
        </p:txBody>
      </p:sp>
      <p:sp>
        <p:nvSpPr>
          <p:cNvPr id="54277" name="Text Box 3">
            <a:extLst>
              <a:ext uri="{FF2B5EF4-FFF2-40B4-BE49-F238E27FC236}">
                <a16:creationId xmlns:a16="http://schemas.microsoft.com/office/drawing/2014/main" xmlns="" id="{4FC2CFFF-6FE1-26B3-9CD5-1811768E5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1384301"/>
            <a:ext cx="38608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make_pkt(0, data, checksum)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start_timer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78" name="Text Box 4">
            <a:extLst>
              <a:ext uri="{FF2B5EF4-FFF2-40B4-BE49-F238E27FC236}">
                <a16:creationId xmlns:a16="http://schemas.microsoft.com/office/drawing/2014/main" xmlns="" id="{784587B0-7EC0-ED70-462E-4EA93A618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4701" y="1090613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rdt_send(data)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79" name="Line 5">
            <a:extLst>
              <a:ext uri="{FF2B5EF4-FFF2-40B4-BE49-F238E27FC236}">
                <a16:creationId xmlns:a16="http://schemas.microsoft.com/office/drawing/2014/main" xmlns="" id="{20235D18-DC50-1B34-35E3-041C4D666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4287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80" name="Line 6">
            <a:extLst>
              <a:ext uri="{FF2B5EF4-FFF2-40B4-BE49-F238E27FC236}">
                <a16:creationId xmlns:a16="http://schemas.microsoft.com/office/drawing/2014/main" xmlns="" id="{9582F522-A785-2CEC-EF63-8B5119A29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551" y="1544638"/>
            <a:ext cx="157163" cy="5762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4281" name="Group 7">
            <a:extLst>
              <a:ext uri="{FF2B5EF4-FFF2-40B4-BE49-F238E27FC236}">
                <a16:creationId xmlns:a16="http://schemas.microsoft.com/office/drawing/2014/main" xmlns="" id="{C2BF764E-8CF2-A947-3D4B-6863356C1EDC}"/>
              </a:ext>
            </a:extLst>
          </p:cNvPr>
          <p:cNvGrpSpPr>
            <a:grpSpLocks/>
          </p:cNvGrpSpPr>
          <p:nvPr/>
        </p:nvGrpSpPr>
        <p:grpSpPr bwMode="auto">
          <a:xfrm>
            <a:off x="6884988" y="2090739"/>
            <a:ext cx="889000" cy="865187"/>
            <a:chOff x="445" y="1273"/>
            <a:chExt cx="560" cy="545"/>
          </a:xfrm>
        </p:grpSpPr>
        <p:sp>
          <p:nvSpPr>
            <p:cNvPr id="54328" name="Oval 8">
              <a:extLst>
                <a:ext uri="{FF2B5EF4-FFF2-40B4-BE49-F238E27FC236}">
                  <a16:creationId xmlns:a16="http://schemas.microsoft.com/office/drawing/2014/main" xmlns="" id="{A41295C9-A64A-B2F9-D544-EEBBAD915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29" name="Text Box 9">
              <a:extLst>
                <a:ext uri="{FF2B5EF4-FFF2-40B4-BE49-F238E27FC236}">
                  <a16:creationId xmlns:a16="http://schemas.microsoft.com/office/drawing/2014/main" xmlns="" id="{3C343846-3E90-CC1D-2EB7-3B45981C0A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ACK0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4282" name="Freeform 10">
            <a:extLst>
              <a:ext uri="{FF2B5EF4-FFF2-40B4-BE49-F238E27FC236}">
                <a16:creationId xmlns:a16="http://schemas.microsoft.com/office/drawing/2014/main" xmlns="" id="{75083CE8-4599-1EE1-72AB-771C04E1A955}"/>
              </a:ext>
            </a:extLst>
          </p:cNvPr>
          <p:cNvSpPr>
            <a:spLocks/>
          </p:cNvSpPr>
          <p:nvPr/>
        </p:nvSpPr>
        <p:spPr bwMode="auto">
          <a:xfrm flipV="1">
            <a:off x="4908550" y="2071688"/>
            <a:ext cx="2090738" cy="163512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83" name="Freeform 11">
            <a:extLst>
              <a:ext uri="{FF2B5EF4-FFF2-40B4-BE49-F238E27FC236}">
                <a16:creationId xmlns:a16="http://schemas.microsoft.com/office/drawing/2014/main" xmlns="" id="{523E329E-9C4D-A0A9-4239-0B6D61644C5F}"/>
              </a:ext>
            </a:extLst>
          </p:cNvPr>
          <p:cNvSpPr>
            <a:spLocks/>
          </p:cNvSpPr>
          <p:nvPr/>
        </p:nvSpPr>
        <p:spPr bwMode="auto">
          <a:xfrm>
            <a:off x="7593014" y="1674813"/>
            <a:ext cx="871537" cy="666750"/>
          </a:xfrm>
          <a:custGeom>
            <a:avLst/>
            <a:gdLst>
              <a:gd name="T0" fmla="*/ 0 w 549"/>
              <a:gd name="T1" fmla="*/ 2147483647 h 420"/>
              <a:gd name="T2" fmla="*/ 2147483647 w 549"/>
              <a:gd name="T3" fmla="*/ 2147483647 h 420"/>
              <a:gd name="T4" fmla="*/ 0 60000 65536"/>
              <a:gd name="T5" fmla="*/ 0 60000 65536"/>
              <a:gd name="T6" fmla="*/ 0 w 549"/>
              <a:gd name="T7" fmla="*/ 0 h 420"/>
              <a:gd name="T8" fmla="*/ 549 w 549"/>
              <a:gd name="T9" fmla="*/ 420 h 42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49" h="420">
                <a:moveTo>
                  <a:pt x="0" y="306"/>
                </a:moveTo>
                <a:cubicBezTo>
                  <a:pt x="78" y="0"/>
                  <a:pt x="549" y="315"/>
                  <a:pt x="87" y="42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84" name="Text Box 12">
            <a:extLst>
              <a:ext uri="{FF2B5EF4-FFF2-40B4-BE49-F238E27FC236}">
                <a16:creationId xmlns:a16="http://schemas.microsoft.com/office/drawing/2014/main" xmlns="" id="{C5AEF966-FCB5-0C5F-61F7-CB188CE51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764" y="1196975"/>
            <a:ext cx="17049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( corrupt(rcvpkt) ||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isACK(rcvpkt,1) 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85" name="Line 13">
            <a:extLst>
              <a:ext uri="{FF2B5EF4-FFF2-40B4-BE49-F238E27FC236}">
                <a16:creationId xmlns:a16="http://schemas.microsoft.com/office/drawing/2014/main" xmlns="" id="{5D162A0A-33F8-6BB9-C0CA-42A2E2AE47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5313" y="1898650"/>
            <a:ext cx="1350962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4286" name="Group 14">
            <a:extLst>
              <a:ext uri="{FF2B5EF4-FFF2-40B4-BE49-F238E27FC236}">
                <a16:creationId xmlns:a16="http://schemas.microsoft.com/office/drawing/2014/main" xmlns="" id="{6810D628-0775-2183-37FB-CDF3A6A59DA7}"/>
              </a:ext>
            </a:extLst>
          </p:cNvPr>
          <p:cNvGrpSpPr>
            <a:grpSpLocks/>
          </p:cNvGrpSpPr>
          <p:nvPr/>
        </p:nvGrpSpPr>
        <p:grpSpPr bwMode="auto">
          <a:xfrm>
            <a:off x="6977064" y="4005263"/>
            <a:ext cx="1189037" cy="850900"/>
            <a:chOff x="4090" y="3230"/>
            <a:chExt cx="749" cy="536"/>
          </a:xfrm>
        </p:grpSpPr>
        <p:sp>
          <p:nvSpPr>
            <p:cNvPr id="54326" name="Oval 15">
              <a:extLst>
                <a:ext uri="{FF2B5EF4-FFF2-40B4-BE49-F238E27FC236}">
                  <a16:creationId xmlns:a16="http://schemas.microsoft.com/office/drawing/2014/main" xmlns="" id="{CED3D95E-132D-39D6-2817-17C506B3D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27" name="Text Box 16">
              <a:extLst>
                <a:ext uri="{FF2B5EF4-FFF2-40B4-BE49-F238E27FC236}">
                  <a16:creationId xmlns:a16="http://schemas.microsoft.com/office/drawing/2014/main" xmlns="" id="{2C29AC8F-F9FB-820A-5D02-3A33D3C3B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call 1 from above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4287" name="Freeform 17">
            <a:extLst>
              <a:ext uri="{FF2B5EF4-FFF2-40B4-BE49-F238E27FC236}">
                <a16:creationId xmlns:a16="http://schemas.microsoft.com/office/drawing/2014/main" xmlns="" id="{C88F01E3-476A-0112-B39E-C4BD475B27A1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3664745" y="3402807"/>
            <a:ext cx="1254125" cy="150813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88" name="Freeform 18">
            <a:extLst>
              <a:ext uri="{FF2B5EF4-FFF2-40B4-BE49-F238E27FC236}">
                <a16:creationId xmlns:a16="http://schemas.microsoft.com/office/drawing/2014/main" xmlns="" id="{FEBE3C91-F055-2235-439A-69A7B9E25819}"/>
              </a:ext>
            </a:extLst>
          </p:cNvPr>
          <p:cNvSpPr>
            <a:spLocks/>
          </p:cNvSpPr>
          <p:nvPr/>
        </p:nvSpPr>
        <p:spPr bwMode="auto">
          <a:xfrm>
            <a:off x="4894264" y="4738689"/>
            <a:ext cx="2312987" cy="274637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89" name="Freeform 19">
            <a:extLst>
              <a:ext uri="{FF2B5EF4-FFF2-40B4-BE49-F238E27FC236}">
                <a16:creationId xmlns:a16="http://schemas.microsoft.com/office/drawing/2014/main" xmlns="" id="{11DE44E6-432C-917F-C55D-5593D62B9DE7}"/>
              </a:ext>
            </a:extLst>
          </p:cNvPr>
          <p:cNvSpPr>
            <a:spLocks/>
          </p:cNvSpPr>
          <p:nvPr/>
        </p:nvSpPr>
        <p:spPr bwMode="auto">
          <a:xfrm rot="5400000" flipH="1" flipV="1">
            <a:off x="7135020" y="3328195"/>
            <a:ext cx="1184275" cy="166687"/>
          </a:xfrm>
          <a:custGeom>
            <a:avLst/>
            <a:gdLst>
              <a:gd name="T0" fmla="*/ 0 w 2835"/>
              <a:gd name="T1" fmla="*/ 0 h 525"/>
              <a:gd name="T2" fmla="*/ 2147483647 w 2835"/>
              <a:gd name="T3" fmla="*/ 0 h 525"/>
              <a:gd name="T4" fmla="*/ 0 60000 65536"/>
              <a:gd name="T5" fmla="*/ 0 60000 65536"/>
              <a:gd name="T6" fmla="*/ 0 w 2835"/>
              <a:gd name="T7" fmla="*/ 0 h 525"/>
              <a:gd name="T8" fmla="*/ 2835 w 2835"/>
              <a:gd name="T9" fmla="*/ 525 h 5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835" h="525">
                <a:moveTo>
                  <a:pt x="0" y="0"/>
                </a:moveTo>
                <a:cubicBezTo>
                  <a:pt x="60" y="525"/>
                  <a:pt x="2835" y="495"/>
                  <a:pt x="2835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90" name="Text Box 20">
            <a:extLst>
              <a:ext uri="{FF2B5EF4-FFF2-40B4-BE49-F238E27FC236}">
                <a16:creationId xmlns:a16="http://schemas.microsoft.com/office/drawing/2014/main" xmlns="" id="{2C79F513-D7C1-BBFD-A707-0CB7ED67F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289" y="5224463"/>
            <a:ext cx="34448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make_pkt(1, data, checksum)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start_timer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91" name="Text Box 21">
            <a:extLst>
              <a:ext uri="{FF2B5EF4-FFF2-40B4-BE49-F238E27FC236}">
                <a16:creationId xmlns:a16="http://schemas.microsoft.com/office/drawing/2014/main" xmlns="" id="{E897A510-91AC-4759-B099-99F28880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0289" y="4941888"/>
            <a:ext cx="17240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rdt_send(data)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92" name="Line 22">
            <a:extLst>
              <a:ext uri="{FF2B5EF4-FFF2-40B4-BE49-F238E27FC236}">
                <a16:creationId xmlns:a16="http://schemas.microsoft.com/office/drawing/2014/main" xmlns="" id="{FB5274A8-39FA-261D-DB26-A141DEDDE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9350" y="5253038"/>
            <a:ext cx="259873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93" name="Text Box 23">
            <a:extLst>
              <a:ext uri="{FF2B5EF4-FFF2-40B4-BE49-F238E27FC236}">
                <a16:creationId xmlns:a16="http://schemas.microsoft.com/office/drawing/2014/main" xmlns="" id="{227FDB7E-2303-8D46-C4A1-C0B620BC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4151" y="3106738"/>
            <a:ext cx="21494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 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&amp;&amp; notcorrupt(rcvpkt)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&amp;&amp; isACK(rcvpkt,0)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4294" name="Line 24">
            <a:extLst>
              <a:ext uri="{FF2B5EF4-FFF2-40B4-BE49-F238E27FC236}">
                <a16:creationId xmlns:a16="http://schemas.microsoft.com/office/drawing/2014/main" xmlns="" id="{422BCAA1-0E5B-963B-C630-1017BB3F4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0039" y="3817938"/>
            <a:ext cx="14192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95" name="Text Box 25">
            <a:extLst>
              <a:ext uri="{FF2B5EF4-FFF2-40B4-BE49-F238E27FC236}">
                <a16:creationId xmlns:a16="http://schemas.microsoft.com/office/drawing/2014/main" xmlns="" id="{8332B537-DA47-BC5F-9F83-F1D3EBAF1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9" y="5062538"/>
            <a:ext cx="16224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( corrupt(rcvpkt) ||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isACK(rcvpkt,0) 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296" name="Line 26">
            <a:extLst>
              <a:ext uri="{FF2B5EF4-FFF2-40B4-BE49-F238E27FC236}">
                <a16:creationId xmlns:a16="http://schemas.microsoft.com/office/drawing/2014/main" xmlns="" id="{22F2CCDA-B0C2-2F0D-5EA9-E516EA01C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7826" y="5788025"/>
            <a:ext cx="12541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97" name="Text Box 27">
            <a:extLst>
              <a:ext uri="{FF2B5EF4-FFF2-40B4-BE49-F238E27FC236}">
                <a16:creationId xmlns:a16="http://schemas.microsoft.com/office/drawing/2014/main" xmlns="" id="{74E2F7AA-FD50-62F8-E268-C3CA170B2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2050" y="2865438"/>
            <a:ext cx="19129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 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&amp;&amp; notcorrupt(rcvpkt)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&amp;&amp; isACK(rcvpkt,1)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4298" name="Line 28">
            <a:extLst>
              <a:ext uri="{FF2B5EF4-FFF2-40B4-BE49-F238E27FC236}">
                <a16:creationId xmlns:a16="http://schemas.microsoft.com/office/drawing/2014/main" xmlns="" id="{1B36B930-8666-27B6-01FB-188872097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9050" y="3605213"/>
            <a:ext cx="15176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299" name="Text Box 29">
            <a:extLst>
              <a:ext uri="{FF2B5EF4-FFF2-40B4-BE49-F238E27FC236}">
                <a16:creationId xmlns:a16="http://schemas.microsoft.com/office/drawing/2014/main" xmlns="" id="{31494723-72EF-9E10-C645-59C270531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9" y="3798889"/>
            <a:ext cx="1514475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stop_timer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00" name="Text Box 30">
            <a:extLst>
              <a:ext uri="{FF2B5EF4-FFF2-40B4-BE49-F238E27FC236}">
                <a16:creationId xmlns:a16="http://schemas.microsoft.com/office/drawing/2014/main" xmlns="" id="{5ACDF3AB-98DC-0B17-9816-ACC28FD0D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4" y="3578225"/>
            <a:ext cx="151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stop_timer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01" name="Freeform 31">
            <a:extLst>
              <a:ext uri="{FF2B5EF4-FFF2-40B4-BE49-F238E27FC236}">
                <a16:creationId xmlns:a16="http://schemas.microsoft.com/office/drawing/2014/main" xmlns="" id="{FAB22A35-7BA7-0F4E-4C4E-B451FD5F7B9D}"/>
              </a:ext>
            </a:extLst>
          </p:cNvPr>
          <p:cNvSpPr>
            <a:spLocks/>
          </p:cNvSpPr>
          <p:nvPr/>
        </p:nvSpPr>
        <p:spPr bwMode="auto">
          <a:xfrm>
            <a:off x="7762876" y="2338389"/>
            <a:ext cx="461963" cy="682625"/>
          </a:xfrm>
          <a:custGeom>
            <a:avLst/>
            <a:gdLst>
              <a:gd name="T0" fmla="*/ 0 w 291"/>
              <a:gd name="T1" fmla="*/ 2147483647 h 430"/>
              <a:gd name="T2" fmla="*/ 2147483647 w 291"/>
              <a:gd name="T3" fmla="*/ 2147483647 h 430"/>
              <a:gd name="T4" fmla="*/ 0 60000 65536"/>
              <a:gd name="T5" fmla="*/ 0 60000 65536"/>
              <a:gd name="T6" fmla="*/ 0 w 291"/>
              <a:gd name="T7" fmla="*/ 0 h 430"/>
              <a:gd name="T8" fmla="*/ 291 w 291"/>
              <a:gd name="T9" fmla="*/ 430 h 43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91" h="430">
                <a:moveTo>
                  <a:pt x="0" y="120"/>
                </a:moveTo>
                <a:cubicBezTo>
                  <a:pt x="291" y="0"/>
                  <a:pt x="259" y="430"/>
                  <a:pt x="15" y="25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302" name="Text Box 32">
            <a:extLst>
              <a:ext uri="{FF2B5EF4-FFF2-40B4-BE49-F238E27FC236}">
                <a16:creationId xmlns:a16="http://schemas.microsoft.com/office/drawing/2014/main" xmlns="" id="{DB759FB7-CEAC-99B3-1EB0-9F8E0610F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4664" y="2516189"/>
            <a:ext cx="2116137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start_timer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03" name="Text Box 33">
            <a:extLst>
              <a:ext uri="{FF2B5EF4-FFF2-40B4-BE49-F238E27FC236}">
                <a16:creationId xmlns:a16="http://schemas.microsoft.com/office/drawing/2014/main" xmlns="" id="{CFBC1E18-1866-2B3D-0015-734B1D8B0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6889" y="2279650"/>
            <a:ext cx="1114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timeout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04" name="Line 34">
            <a:extLst>
              <a:ext uri="{FF2B5EF4-FFF2-40B4-BE49-F238E27FC236}">
                <a16:creationId xmlns:a16="http://schemas.microsoft.com/office/drawing/2014/main" xmlns="" id="{3D92B5FE-42D4-E2CD-2F75-CB1CAF7DE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5788" y="25336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305" name="Freeform 35">
            <a:extLst>
              <a:ext uri="{FF2B5EF4-FFF2-40B4-BE49-F238E27FC236}">
                <a16:creationId xmlns:a16="http://schemas.microsoft.com/office/drawing/2014/main" xmlns="" id="{8E0701DD-1B4E-F22B-8B09-79A88169E944}"/>
              </a:ext>
            </a:extLst>
          </p:cNvPr>
          <p:cNvSpPr>
            <a:spLocks/>
          </p:cNvSpPr>
          <p:nvPr/>
        </p:nvSpPr>
        <p:spPr bwMode="auto">
          <a:xfrm>
            <a:off x="3754438" y="4702176"/>
            <a:ext cx="692150" cy="631825"/>
          </a:xfrm>
          <a:custGeom>
            <a:avLst/>
            <a:gdLst>
              <a:gd name="T0" fmla="*/ 2147483647 w 436"/>
              <a:gd name="T1" fmla="*/ 2147483647 h 398"/>
              <a:gd name="T2" fmla="*/ 2147483647 w 436"/>
              <a:gd name="T3" fmla="*/ 0 h 398"/>
              <a:gd name="T4" fmla="*/ 0 60000 65536"/>
              <a:gd name="T5" fmla="*/ 0 60000 65536"/>
              <a:gd name="T6" fmla="*/ 0 w 436"/>
              <a:gd name="T7" fmla="*/ 0 h 398"/>
              <a:gd name="T8" fmla="*/ 436 w 436"/>
              <a:gd name="T9" fmla="*/ 398 h 3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6" h="398">
                <a:moveTo>
                  <a:pt x="436" y="101"/>
                </a:moveTo>
                <a:cubicBezTo>
                  <a:pt x="367" y="398"/>
                  <a:pt x="0" y="31"/>
                  <a:pt x="300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306" name="Freeform 36">
            <a:extLst>
              <a:ext uri="{FF2B5EF4-FFF2-40B4-BE49-F238E27FC236}">
                <a16:creationId xmlns:a16="http://schemas.microsoft.com/office/drawing/2014/main" xmlns="" id="{855F6EF3-3256-CAE4-C758-2B45F2765E09}"/>
              </a:ext>
            </a:extLst>
          </p:cNvPr>
          <p:cNvSpPr>
            <a:spLocks/>
          </p:cNvSpPr>
          <p:nvPr/>
        </p:nvSpPr>
        <p:spPr bwMode="auto">
          <a:xfrm>
            <a:off x="3554413" y="4413250"/>
            <a:ext cx="571500" cy="420688"/>
          </a:xfrm>
          <a:custGeom>
            <a:avLst/>
            <a:gdLst>
              <a:gd name="T0" fmla="*/ 2147483647 w 900"/>
              <a:gd name="T1" fmla="*/ 2147483647 h 662"/>
              <a:gd name="T2" fmla="*/ 2147483647 w 900"/>
              <a:gd name="T3" fmla="*/ 2147483647 h 662"/>
              <a:gd name="T4" fmla="*/ 0 60000 65536"/>
              <a:gd name="T5" fmla="*/ 0 60000 65536"/>
              <a:gd name="T6" fmla="*/ 0 w 900"/>
              <a:gd name="T7" fmla="*/ 0 h 662"/>
              <a:gd name="T8" fmla="*/ 900 w 900"/>
              <a:gd name="T9" fmla="*/ 662 h 6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00" h="662">
                <a:moveTo>
                  <a:pt x="900" y="360"/>
                </a:moveTo>
                <a:cubicBezTo>
                  <a:pt x="171" y="662"/>
                  <a:pt x="0" y="0"/>
                  <a:pt x="825" y="1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307" name="Text Box 37">
            <a:extLst>
              <a:ext uri="{FF2B5EF4-FFF2-40B4-BE49-F238E27FC236}">
                <a16:creationId xmlns:a16="http://schemas.microsoft.com/office/drawing/2014/main" xmlns="" id="{4D751528-9AB3-683A-F0BF-A92C5704C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4460876"/>
            <a:ext cx="1824038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start_timer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08" name="Text Box 38">
            <a:extLst>
              <a:ext uri="{FF2B5EF4-FFF2-40B4-BE49-F238E27FC236}">
                <a16:creationId xmlns:a16="http://schemas.microsoft.com/office/drawing/2014/main" xmlns="" id="{61087E62-C744-2B51-5FA2-616D22C22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6939" y="4206875"/>
            <a:ext cx="11144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timeout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09" name="Line 39">
            <a:extLst>
              <a:ext uri="{FF2B5EF4-FFF2-40B4-BE49-F238E27FC236}">
                <a16:creationId xmlns:a16="http://schemas.microsoft.com/office/drawing/2014/main" xmlns="" id="{48F4907A-33AB-5E4D-D2F5-6C8AA4FFD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0125" y="44894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310" name="Freeform 40">
            <a:extLst>
              <a:ext uri="{FF2B5EF4-FFF2-40B4-BE49-F238E27FC236}">
                <a16:creationId xmlns:a16="http://schemas.microsoft.com/office/drawing/2014/main" xmlns="" id="{BE7B6BF4-9F9A-5350-67DD-29EBE5011E44}"/>
              </a:ext>
            </a:extLst>
          </p:cNvPr>
          <p:cNvSpPr>
            <a:spLocks/>
          </p:cNvSpPr>
          <p:nvPr/>
        </p:nvSpPr>
        <p:spPr bwMode="auto">
          <a:xfrm>
            <a:off x="7950200" y="4373564"/>
            <a:ext cx="579438" cy="890587"/>
          </a:xfrm>
          <a:custGeom>
            <a:avLst/>
            <a:gdLst>
              <a:gd name="T0" fmla="*/ 2147483647 w 322"/>
              <a:gd name="T1" fmla="*/ 2147483647 h 483"/>
              <a:gd name="T2" fmla="*/ 0 w 322"/>
              <a:gd name="T3" fmla="*/ 2147483647 h 483"/>
              <a:gd name="T4" fmla="*/ 0 60000 65536"/>
              <a:gd name="T5" fmla="*/ 0 60000 65536"/>
              <a:gd name="T6" fmla="*/ 0 w 322"/>
              <a:gd name="T7" fmla="*/ 0 h 483"/>
              <a:gd name="T8" fmla="*/ 322 w 322"/>
              <a:gd name="T9" fmla="*/ 483 h 4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311" name="Text Box 41">
            <a:extLst>
              <a:ext uri="{FF2B5EF4-FFF2-40B4-BE49-F238E27FC236}">
                <a16:creationId xmlns:a16="http://schemas.microsoft.com/office/drawing/2014/main" xmlns="" id="{E373C394-C974-FC4A-DFE1-6552FDDE9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0638" y="1874838"/>
            <a:ext cx="14287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grpSp>
        <p:nvGrpSpPr>
          <p:cNvPr id="54312" name="Group 42">
            <a:extLst>
              <a:ext uri="{FF2B5EF4-FFF2-40B4-BE49-F238E27FC236}">
                <a16:creationId xmlns:a16="http://schemas.microsoft.com/office/drawing/2014/main" xmlns="" id="{D6E05665-8E26-4135-1445-71C41EC19BE0}"/>
              </a:ext>
            </a:extLst>
          </p:cNvPr>
          <p:cNvGrpSpPr>
            <a:grpSpLocks/>
          </p:cNvGrpSpPr>
          <p:nvPr/>
        </p:nvGrpSpPr>
        <p:grpSpPr bwMode="auto">
          <a:xfrm>
            <a:off x="3943350" y="2135188"/>
            <a:ext cx="1189038" cy="850900"/>
            <a:chOff x="4090" y="3230"/>
            <a:chExt cx="749" cy="536"/>
          </a:xfrm>
        </p:grpSpPr>
        <p:sp>
          <p:nvSpPr>
            <p:cNvPr id="54324" name="Oval 43">
              <a:extLst>
                <a:ext uri="{FF2B5EF4-FFF2-40B4-BE49-F238E27FC236}">
                  <a16:creationId xmlns:a16="http://schemas.microsoft.com/office/drawing/2014/main" xmlns="" id="{3AF44B9E-3AB2-C500-BBAF-8C23389FC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25" name="Text Box 44">
              <a:extLst>
                <a:ext uri="{FF2B5EF4-FFF2-40B4-BE49-F238E27FC236}">
                  <a16:creationId xmlns:a16="http://schemas.microsoft.com/office/drawing/2014/main" xmlns="" id="{2D28D3A5-23BA-E12E-9F0E-C850412A4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</a:t>
              </a:r>
            </a:p>
            <a:p>
              <a:r>
                <a:rPr lang="en-US" altLang="en-US" sz="1400">
                  <a:latin typeface="Arial" panose="020B0604020202020204" pitchFamily="34" charset="0"/>
                </a:rPr>
                <a:t>call 0from above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4313" name="Line 45">
            <a:extLst>
              <a:ext uri="{FF2B5EF4-FFF2-40B4-BE49-F238E27FC236}">
                <a16:creationId xmlns:a16="http://schemas.microsoft.com/office/drawing/2014/main" xmlns="" id="{98D189DB-C3A7-BF7E-9B77-3E1E0221A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7951" y="2160588"/>
            <a:ext cx="1101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4314" name="Group 46">
            <a:extLst>
              <a:ext uri="{FF2B5EF4-FFF2-40B4-BE49-F238E27FC236}">
                <a16:creationId xmlns:a16="http://schemas.microsoft.com/office/drawing/2014/main" xmlns="" id="{403CA390-A760-994C-A8E0-4AF05D332420}"/>
              </a:ext>
            </a:extLst>
          </p:cNvPr>
          <p:cNvGrpSpPr>
            <a:grpSpLocks/>
          </p:cNvGrpSpPr>
          <p:nvPr/>
        </p:nvGrpSpPr>
        <p:grpSpPr bwMode="auto">
          <a:xfrm>
            <a:off x="4154488" y="3989389"/>
            <a:ext cx="889000" cy="865187"/>
            <a:chOff x="445" y="1273"/>
            <a:chExt cx="560" cy="545"/>
          </a:xfrm>
        </p:grpSpPr>
        <p:sp>
          <p:nvSpPr>
            <p:cNvPr id="54322" name="Oval 47">
              <a:extLst>
                <a:ext uri="{FF2B5EF4-FFF2-40B4-BE49-F238E27FC236}">
                  <a16:creationId xmlns:a16="http://schemas.microsoft.com/office/drawing/2014/main" xmlns="" id="{0C4F4EDB-919A-E7AF-7F1E-2D4B3043F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323" name="Text Box 48">
              <a:extLst>
                <a:ext uri="{FF2B5EF4-FFF2-40B4-BE49-F238E27FC236}">
                  <a16:creationId xmlns:a16="http://schemas.microsoft.com/office/drawing/2014/main" xmlns="" id="{5A327BBF-E148-A970-CFCA-67E893FC4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1400">
                  <a:latin typeface="Arial" panose="020B0604020202020204" pitchFamily="34" charset="0"/>
                </a:rPr>
                <a:t>Wait for ACK1</a:t>
              </a:r>
              <a:endParaRPr lang="en-US" altLang="en-US" sz="1400">
                <a:latin typeface="Times New Roman" panose="02020603050405020304" pitchFamily="18" charset="0"/>
              </a:endParaRPr>
            </a:p>
          </p:txBody>
        </p:sp>
      </p:grpSp>
      <p:sp>
        <p:nvSpPr>
          <p:cNvPr id="54315" name="Freeform 49">
            <a:extLst>
              <a:ext uri="{FF2B5EF4-FFF2-40B4-BE49-F238E27FC236}">
                <a16:creationId xmlns:a16="http://schemas.microsoft.com/office/drawing/2014/main" xmlns="" id="{C9B454FD-766F-D654-A7C2-037A7150DB1F}"/>
              </a:ext>
            </a:extLst>
          </p:cNvPr>
          <p:cNvSpPr>
            <a:spLocks/>
          </p:cNvSpPr>
          <p:nvPr/>
        </p:nvSpPr>
        <p:spPr bwMode="auto">
          <a:xfrm flipH="1" flipV="1">
            <a:off x="3530600" y="1782764"/>
            <a:ext cx="579438" cy="890587"/>
          </a:xfrm>
          <a:custGeom>
            <a:avLst/>
            <a:gdLst>
              <a:gd name="T0" fmla="*/ 2147483647 w 322"/>
              <a:gd name="T1" fmla="*/ 2147483647 h 483"/>
              <a:gd name="T2" fmla="*/ 0 w 322"/>
              <a:gd name="T3" fmla="*/ 2147483647 h 483"/>
              <a:gd name="T4" fmla="*/ 0 60000 65536"/>
              <a:gd name="T5" fmla="*/ 0 60000 65536"/>
              <a:gd name="T6" fmla="*/ 0 w 322"/>
              <a:gd name="T7" fmla="*/ 0 h 483"/>
              <a:gd name="T8" fmla="*/ 322 w 322"/>
              <a:gd name="T9" fmla="*/ 483 h 48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22" h="483">
                <a:moveTo>
                  <a:pt x="31" y="120"/>
                </a:moveTo>
                <a:cubicBezTo>
                  <a:pt x="322" y="0"/>
                  <a:pt x="64" y="483"/>
                  <a:pt x="0" y="18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316" name="Text Box 50">
            <a:extLst>
              <a:ext uri="{FF2B5EF4-FFF2-40B4-BE49-F238E27FC236}">
                <a16:creationId xmlns:a16="http://schemas.microsoft.com/office/drawing/2014/main" xmlns="" id="{B56BD2D0-7628-8A4E-D7E5-8BB5A9BBD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8713" y="485298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54317" name="Text Box 51">
            <a:extLst>
              <a:ext uri="{FF2B5EF4-FFF2-40B4-BE49-F238E27FC236}">
                <a16:creationId xmlns:a16="http://schemas.microsoft.com/office/drawing/2014/main" xmlns="" id="{18911C11-6F52-14C4-C7C4-A3EFD9C82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1988" y="4603750"/>
            <a:ext cx="14287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4318" name="Line 52">
            <a:extLst>
              <a:ext uri="{FF2B5EF4-FFF2-40B4-BE49-F238E27FC236}">
                <a16:creationId xmlns:a16="http://schemas.microsoft.com/office/drawing/2014/main" xmlns="" id="{3BC53869-204D-762A-B26C-E19DF187F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9301" y="4889500"/>
            <a:ext cx="1101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319" name="Text Box 53">
            <a:extLst>
              <a:ext uri="{FF2B5EF4-FFF2-40B4-BE49-F238E27FC236}">
                <a16:creationId xmlns:a16="http://schemas.microsoft.com/office/drawing/2014/main" xmlns="" id="{94E41C58-02F4-A687-9AD0-A8ED71D49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75" y="18478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54320" name="Text Box 54">
            <a:extLst>
              <a:ext uri="{FF2B5EF4-FFF2-40B4-BE49-F238E27FC236}">
                <a16:creationId xmlns:a16="http://schemas.microsoft.com/office/drawing/2014/main" xmlns="" id="{5D4B2D4E-1F51-38F3-B2C3-DD4343A65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75" y="212407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54321" name="Text Box 55">
            <a:extLst>
              <a:ext uri="{FF2B5EF4-FFF2-40B4-BE49-F238E27FC236}">
                <a16:creationId xmlns:a16="http://schemas.microsoft.com/office/drawing/2014/main" xmlns="" id="{1927D802-817F-3877-96D5-D861EA36E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3600" y="579437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3">
            <a:extLst>
              <a:ext uri="{FF2B5EF4-FFF2-40B4-BE49-F238E27FC236}">
                <a16:creationId xmlns:a16="http://schemas.microsoft.com/office/drawing/2014/main" xmlns="" id="{C2DA8250-6BA4-F61C-4FB1-371E04B73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5299" name="Slide Number Placeholder 4">
            <a:extLst>
              <a:ext uri="{FF2B5EF4-FFF2-40B4-BE49-F238E27FC236}">
                <a16:creationId xmlns:a16="http://schemas.microsoft.com/office/drawing/2014/main" xmlns="" id="{7FF88266-871F-5C9E-DC84-820EA769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E0FD747B-8DE4-4037-84BC-F447CF2A948C}" type="slidenum">
              <a:rPr lang="en-US" altLang="en-US" sz="1400">
                <a:latin typeface="Arial" panose="020B0604020202020204" pitchFamily="34" charset="0"/>
              </a:rPr>
              <a:pPr/>
              <a:t>58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xmlns="" id="{AEE538F7-FD73-17B7-55B9-C9852B785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rdt3.0 in action</a:t>
            </a:r>
            <a:endParaRPr lang="en-US" altLang="en-US"/>
          </a:p>
        </p:txBody>
      </p:sp>
      <p:pic>
        <p:nvPicPr>
          <p:cNvPr id="55301" name="Picture 3" descr="rdt30_examplesa">
            <a:extLst>
              <a:ext uri="{FF2B5EF4-FFF2-40B4-BE49-F238E27FC236}">
                <a16:creationId xmlns:a16="http://schemas.microsoft.com/office/drawing/2014/main" xmlns="" id="{0E51E9A5-077E-850E-EB81-1A1155D40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485900"/>
            <a:ext cx="8428038" cy="438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xmlns="" id="{E5338D39-FF20-5E90-F0C8-1111504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6323" name="Slide Number Placeholder 4">
            <a:extLst>
              <a:ext uri="{FF2B5EF4-FFF2-40B4-BE49-F238E27FC236}">
                <a16:creationId xmlns:a16="http://schemas.microsoft.com/office/drawing/2014/main" xmlns="" id="{73B1E470-EDB7-9652-FAA1-3C264E62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05647E01-0E8D-46FE-B188-EF7135807821}" type="slidenum">
              <a:rPr lang="en-US" altLang="en-US" sz="1400">
                <a:latin typeface="Arial" panose="020B0604020202020204" pitchFamily="34" charset="0"/>
              </a:rPr>
              <a:pPr/>
              <a:t>59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xmlns="" id="{2ACB46AC-3C5E-2235-8BC6-9122BC2BE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rdt3.0 in action</a:t>
            </a:r>
            <a:endParaRPr lang="en-US" altLang="en-US"/>
          </a:p>
        </p:txBody>
      </p:sp>
      <p:pic>
        <p:nvPicPr>
          <p:cNvPr id="56325" name="Picture 3" descr="rdt30_examplesb">
            <a:extLst>
              <a:ext uri="{FF2B5EF4-FFF2-40B4-BE49-F238E27FC236}">
                <a16:creationId xmlns:a16="http://schemas.microsoft.com/office/drawing/2014/main" xmlns="" id="{164AB6BD-0E93-6CB4-CDD9-667D34BBE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1524000"/>
            <a:ext cx="8218488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Footer Placeholder 5">
            <a:extLst>
              <a:ext uri="{FF2B5EF4-FFF2-40B4-BE49-F238E27FC236}">
                <a16:creationId xmlns:a16="http://schemas.microsoft.com/office/drawing/2014/main" xmlns="" id="{AEA33E86-1953-BF88-B3F4-75DC28E7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3077" name="Slide Number Placeholder 6">
            <a:extLst>
              <a:ext uri="{FF2B5EF4-FFF2-40B4-BE49-F238E27FC236}">
                <a16:creationId xmlns:a16="http://schemas.microsoft.com/office/drawing/2014/main" xmlns="" id="{7A2D8BE4-E176-23DE-40C6-5F1DEE3D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3EE23E56-8836-4E21-A61F-6B8E19634D86}" type="slidenum">
              <a:rPr lang="en-US" altLang="en-US" sz="1400">
                <a:latin typeface="Arial" panose="020B0604020202020204" pitchFamily="34" charset="0"/>
              </a:rPr>
              <a:pPr/>
              <a:t>60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3078" name="Rectangle 2">
            <a:extLst>
              <a:ext uri="{FF2B5EF4-FFF2-40B4-BE49-F238E27FC236}">
                <a16:creationId xmlns:a16="http://schemas.microsoft.com/office/drawing/2014/main" xmlns="" id="{3B6B926C-72B4-E5B5-D3B0-8924F3C97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Performance of rdt3.0</a:t>
            </a:r>
            <a:endParaRPr lang="en-US" altLang="en-US"/>
          </a:p>
        </p:txBody>
      </p:sp>
      <p:sp>
        <p:nvSpPr>
          <p:cNvPr id="3079" name="Rectangle 3">
            <a:extLst>
              <a:ext uri="{FF2B5EF4-FFF2-40B4-BE49-F238E27FC236}">
                <a16:creationId xmlns:a16="http://schemas.microsoft.com/office/drawing/2014/main" xmlns="" id="{C23C32A7-9E3B-B17A-E224-E6BD8A6D3E9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57401" y="1600200"/>
            <a:ext cx="8372475" cy="990600"/>
          </a:xfrm>
        </p:spPr>
        <p:txBody>
          <a:bodyPr/>
          <a:lstStyle/>
          <a:p>
            <a:r>
              <a:rPr lang="en-US" altLang="en-US" sz="2400"/>
              <a:t>rdt3.0 works, but performance stinks</a:t>
            </a:r>
          </a:p>
          <a:p>
            <a:r>
              <a:rPr lang="en-US" altLang="en-US" sz="2400"/>
              <a:t>ex: 1 Gbps link, 15 ms prop. delay, 8000 bit packet:</a:t>
            </a:r>
          </a:p>
          <a:p>
            <a:endParaRPr lang="en-US" altLang="en-US" sz="2400"/>
          </a:p>
        </p:txBody>
      </p:sp>
      <p:sp>
        <p:nvSpPr>
          <p:cNvPr id="3080" name="Rectangle 11">
            <a:extLst>
              <a:ext uri="{FF2B5EF4-FFF2-40B4-BE49-F238E27FC236}">
                <a16:creationId xmlns:a16="http://schemas.microsoft.com/office/drawing/2014/main" xmlns="" id="{0E1DB70D-C771-349D-D31C-70FCFFC06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3657600"/>
            <a:ext cx="8372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algn="l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en-US" sz="2000"/>
              <a:t>U </a:t>
            </a:r>
            <a:r>
              <a:rPr lang="en-US" altLang="en-US" sz="2000" baseline="-25000"/>
              <a:t>sender</a:t>
            </a:r>
            <a:r>
              <a:rPr lang="en-US" altLang="en-US" sz="2000"/>
              <a:t>: </a:t>
            </a:r>
            <a:r>
              <a:rPr lang="en-US" altLang="en-US" sz="2000">
                <a:solidFill>
                  <a:srgbClr val="FF0000"/>
                </a:solidFill>
              </a:rPr>
              <a:t>utilization</a:t>
            </a:r>
            <a:r>
              <a:rPr lang="en-US" altLang="en-US" sz="2000"/>
              <a:t> – fraction of time sender busy sending</a:t>
            </a:r>
          </a:p>
        </p:txBody>
      </p:sp>
      <p:graphicFrame>
        <p:nvGraphicFramePr>
          <p:cNvPr id="3074" name="Object 12">
            <a:extLst>
              <a:ext uri="{FF2B5EF4-FFF2-40B4-BE49-F238E27FC236}">
                <a16:creationId xmlns:a16="http://schemas.microsoft.com/office/drawing/2014/main" xmlns="" id="{9D2C16D5-79BE-D4E9-9C14-39EBAD005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4191000"/>
          <a:ext cx="59944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Picture" r:id="rId3" imgW="3177616" imgH="498211" progId="Word.Picture.8">
                  <p:embed/>
                </p:oleObj>
              </mc:Choice>
              <mc:Fallback>
                <p:oleObj name="Picture" r:id="rId3" imgW="3177616" imgH="498211" progId="Word.Picture.8">
                  <p:embed/>
                  <p:pic>
                    <p:nvPicPr>
                      <p:cNvPr id="3074" name="Object 12">
                        <a:extLst>
                          <a:ext uri="{FF2B5EF4-FFF2-40B4-BE49-F238E27FC236}">
                            <a16:creationId xmlns:a16="http://schemas.microsoft.com/office/drawing/2014/main" xmlns="" id="{9D2C16D5-79BE-D4E9-9C14-39EBAD0055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191000"/>
                        <a:ext cx="59944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13">
            <a:extLst>
              <a:ext uri="{FF2B5EF4-FFF2-40B4-BE49-F238E27FC236}">
                <a16:creationId xmlns:a16="http://schemas.microsoft.com/office/drawing/2014/main" xmlns="" id="{96D6D757-B2DE-1925-E1A8-97C1E5064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938" y="2774951"/>
            <a:ext cx="260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/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82" name="Rectangle 17">
            <a:extLst>
              <a:ext uri="{FF2B5EF4-FFF2-40B4-BE49-F238E27FC236}">
                <a16:creationId xmlns:a16="http://schemas.microsoft.com/office/drawing/2014/main" xmlns="" id="{A5FEDC52-0B33-9C97-D7E6-027608CE1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1" y="5105400"/>
            <a:ext cx="8372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algn="l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en-US" sz="2000"/>
              <a:t>1KB pkt every 30 msec -&gt; 33kB/sec thruput over 1 Gbps link</a:t>
            </a:r>
          </a:p>
          <a:p>
            <a:pPr lvl="1" algn="l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en-US" sz="2000"/>
              <a:t>network protocol limits use of physical resources!</a:t>
            </a:r>
          </a:p>
        </p:txBody>
      </p:sp>
      <p:graphicFrame>
        <p:nvGraphicFramePr>
          <p:cNvPr id="3075" name="Object 18">
            <a:extLst>
              <a:ext uri="{FF2B5EF4-FFF2-40B4-BE49-F238E27FC236}">
                <a16:creationId xmlns:a16="http://schemas.microsoft.com/office/drawing/2014/main" xmlns="" id="{3209EE21-229B-044C-8DDA-813037A3FD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3475" y="2676525"/>
          <a:ext cx="4991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2387600" imgH="419100" progId="Equation.3">
                  <p:embed/>
                </p:oleObj>
              </mc:Choice>
              <mc:Fallback>
                <p:oleObj name="Equation" r:id="rId5" imgW="2387600" imgH="419100" progId="Equation.3">
                  <p:embed/>
                  <p:pic>
                    <p:nvPicPr>
                      <p:cNvPr id="3075" name="Object 18">
                        <a:extLst>
                          <a:ext uri="{FF2B5EF4-FFF2-40B4-BE49-F238E27FC236}">
                            <a16:creationId xmlns:a16="http://schemas.microsoft.com/office/drawing/2014/main" xmlns="" id="{3209EE21-229B-044C-8DDA-813037A3FD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3475" y="2676525"/>
                        <a:ext cx="49911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Footer Placeholder 4">
            <a:extLst>
              <a:ext uri="{FF2B5EF4-FFF2-40B4-BE49-F238E27FC236}">
                <a16:creationId xmlns:a16="http://schemas.microsoft.com/office/drawing/2014/main" xmlns="" id="{AE39D911-D45D-7EFF-94B4-20D4E1E4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4100" name="Slide Number Placeholder 5">
            <a:extLst>
              <a:ext uri="{FF2B5EF4-FFF2-40B4-BE49-F238E27FC236}">
                <a16:creationId xmlns:a16="http://schemas.microsoft.com/office/drawing/2014/main" xmlns="" id="{3E1F2954-1AC4-2807-CBAB-5708DE37B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2DD2D99B-F6CC-4D84-A09D-D20CF2BA336F}" type="slidenum">
              <a:rPr lang="en-US" altLang="en-US" sz="1400">
                <a:latin typeface="Arial" panose="020B0604020202020204" pitchFamily="34" charset="0"/>
              </a:rPr>
              <a:pPr/>
              <a:t>61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4101" name="Rectangle 2">
            <a:extLst>
              <a:ext uri="{FF2B5EF4-FFF2-40B4-BE49-F238E27FC236}">
                <a16:creationId xmlns:a16="http://schemas.microsoft.com/office/drawing/2014/main" xmlns="" id="{87500F3B-0C37-EEE9-C2F6-0936883C67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rdt3.0: stop-and-wait operation</a:t>
            </a:r>
          </a:p>
        </p:txBody>
      </p:sp>
      <p:sp>
        <p:nvSpPr>
          <p:cNvPr id="4102" name="Line 3">
            <a:extLst>
              <a:ext uri="{FF2B5EF4-FFF2-40B4-BE49-F238E27FC236}">
                <a16:creationId xmlns:a16="http://schemas.microsoft.com/office/drawing/2014/main" xmlns="" id="{A58F0EF8-CF2C-404A-ABE2-CFAD87CB5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1588" y="2001839"/>
            <a:ext cx="2227262" cy="922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3" name="Text Box 4">
            <a:extLst>
              <a:ext uri="{FF2B5EF4-FFF2-40B4-BE49-F238E27FC236}">
                <a16:creationId xmlns:a16="http://schemas.microsoft.com/office/drawing/2014/main" xmlns="" id="{89D03A81-D85C-13F1-131C-FF3E90A29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1797051"/>
            <a:ext cx="3232150" cy="3524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first packet bit transmitted, t = 0</a:t>
            </a:r>
          </a:p>
        </p:txBody>
      </p:sp>
      <p:sp>
        <p:nvSpPr>
          <p:cNvPr id="4104" name="Line 5">
            <a:extLst>
              <a:ext uri="{FF2B5EF4-FFF2-40B4-BE49-F238E27FC236}">
                <a16:creationId xmlns:a16="http://schemas.microsoft.com/office/drawing/2014/main" xmlns="" id="{4B646108-91B5-BD51-EFBC-E8EDC2871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0476" y="1782763"/>
            <a:ext cx="23813" cy="2913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" name="Line 6">
            <a:extLst>
              <a:ext uri="{FF2B5EF4-FFF2-40B4-BE49-F238E27FC236}">
                <a16:creationId xmlns:a16="http://schemas.microsoft.com/office/drawing/2014/main" xmlns="" id="{61016A57-F71E-667F-C947-351CB8C789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7739" y="1795464"/>
            <a:ext cx="22225" cy="2890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" name="Text Box 7">
            <a:extLst>
              <a:ext uri="{FF2B5EF4-FFF2-40B4-BE49-F238E27FC236}">
                <a16:creationId xmlns:a16="http://schemas.microsoft.com/office/drawing/2014/main" xmlns="" id="{2B3E59C2-0AA2-D875-E6E6-EFDD0C020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839" y="1446214"/>
            <a:ext cx="885825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sender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07" name="Text Box 8">
            <a:extLst>
              <a:ext uri="{FF2B5EF4-FFF2-40B4-BE49-F238E27FC236}">
                <a16:creationId xmlns:a16="http://schemas.microsoft.com/office/drawing/2014/main" xmlns="" id="{BCDFA2A1-6F8D-57D0-04C9-1A7CD5205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9888" y="1446214"/>
            <a:ext cx="946150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receiver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08" name="Line 9">
            <a:extLst>
              <a:ext uri="{FF2B5EF4-FFF2-40B4-BE49-F238E27FC236}">
                <a16:creationId xmlns:a16="http://schemas.microsoft.com/office/drawing/2014/main" xmlns="" id="{C067D1F5-479D-6250-58AA-B0CAC41BE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4288" y="1997076"/>
            <a:ext cx="2190750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9" name="Line 10">
            <a:extLst>
              <a:ext uri="{FF2B5EF4-FFF2-40B4-BE49-F238E27FC236}">
                <a16:creationId xmlns:a16="http://schemas.microsoft.com/office/drawing/2014/main" xmlns="" id="{072A8008-F40F-76C2-BEDA-A7F3EB3C1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050" y="4108450"/>
            <a:ext cx="21923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0" name="Line 11">
            <a:extLst>
              <a:ext uri="{FF2B5EF4-FFF2-40B4-BE49-F238E27FC236}">
                <a16:creationId xmlns:a16="http://schemas.microsoft.com/office/drawing/2014/main" xmlns="" id="{C9F40793-FA0A-18ED-E5C8-3577CE566A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9050" y="3165475"/>
            <a:ext cx="2209800" cy="922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1" name="Freeform 12">
            <a:extLst>
              <a:ext uri="{FF2B5EF4-FFF2-40B4-BE49-F238E27FC236}">
                <a16:creationId xmlns:a16="http://schemas.microsoft.com/office/drawing/2014/main" xmlns="" id="{3351D931-7315-4256-CD2B-4411A487B99D}"/>
              </a:ext>
            </a:extLst>
          </p:cNvPr>
          <p:cNvSpPr>
            <a:spLocks/>
          </p:cNvSpPr>
          <p:nvPr/>
        </p:nvSpPr>
        <p:spPr bwMode="auto">
          <a:xfrm>
            <a:off x="5076826" y="1995488"/>
            <a:ext cx="2232025" cy="1155700"/>
          </a:xfrm>
          <a:custGeom>
            <a:avLst/>
            <a:gdLst>
              <a:gd name="T0" fmla="*/ 0 w 2902"/>
              <a:gd name="T1" fmla="*/ 0 h 1185"/>
              <a:gd name="T2" fmla="*/ 2147483647 w 2902"/>
              <a:gd name="T3" fmla="*/ 2147483647 h 1185"/>
              <a:gd name="T4" fmla="*/ 2147483647 w 2902"/>
              <a:gd name="T5" fmla="*/ 2147483647 h 1185"/>
              <a:gd name="T6" fmla="*/ 0 w 2902"/>
              <a:gd name="T7" fmla="*/ 2147483647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12" name="Line 13">
            <a:extLst>
              <a:ext uri="{FF2B5EF4-FFF2-40B4-BE49-F238E27FC236}">
                <a16:creationId xmlns:a16="http://schemas.microsoft.com/office/drawing/2014/main" xmlns="" id="{E864864B-A22B-A65D-A834-2E47DC30D0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2363" y="1995488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3" name="Line 14">
            <a:extLst>
              <a:ext uri="{FF2B5EF4-FFF2-40B4-BE49-F238E27FC236}">
                <a16:creationId xmlns:a16="http://schemas.microsoft.com/office/drawing/2014/main" xmlns="" id="{C0AE53F3-DA78-4D2D-4805-4E7FEEF215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32363" y="2236788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4" name="Line 15">
            <a:extLst>
              <a:ext uri="{FF2B5EF4-FFF2-40B4-BE49-F238E27FC236}">
                <a16:creationId xmlns:a16="http://schemas.microsoft.com/office/drawing/2014/main" xmlns="" id="{F13C489F-B976-D8E1-7540-98F9A5ED69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3475" y="4095750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5" name="Text Box 16">
            <a:extLst>
              <a:ext uri="{FF2B5EF4-FFF2-40B4-BE49-F238E27FC236}">
                <a16:creationId xmlns:a16="http://schemas.microsoft.com/office/drawing/2014/main" xmlns="" id="{1A080064-C7BB-5137-C0E3-AB718E2D4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9901" y="2968625"/>
            <a:ext cx="847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RTT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4116" name="Line 17">
            <a:extLst>
              <a:ext uri="{FF2B5EF4-FFF2-40B4-BE49-F238E27FC236}">
                <a16:creationId xmlns:a16="http://schemas.microsoft.com/office/drawing/2014/main" xmlns="" id="{53D3EA2D-B549-FA01-B639-5F99CBBCF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7288" y="3276601"/>
            <a:ext cx="11112" cy="811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7" name="Line 18">
            <a:extLst>
              <a:ext uri="{FF2B5EF4-FFF2-40B4-BE49-F238E27FC236}">
                <a16:creationId xmlns:a16="http://schemas.microsoft.com/office/drawing/2014/main" xmlns="" id="{FABC682A-127B-A84C-16D9-0B3157938F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2051" y="2259013"/>
            <a:ext cx="3175" cy="768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8" name="Text Box 19">
            <a:extLst>
              <a:ext uri="{FF2B5EF4-FFF2-40B4-BE49-F238E27FC236}">
                <a16:creationId xmlns:a16="http://schemas.microsoft.com/office/drawing/2014/main" xmlns="" id="{BFDE0117-63BF-9530-4B12-44A43ADFF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074864"/>
            <a:ext cx="34655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last packet bit transmitted,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t = L / R</a:t>
            </a:r>
            <a:endParaRPr lang="en-US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19" name="Line 20">
            <a:extLst>
              <a:ext uri="{FF2B5EF4-FFF2-40B4-BE49-F238E27FC236}">
                <a16:creationId xmlns:a16="http://schemas.microsoft.com/office/drawing/2014/main" xmlns="" id="{860A5608-4CE5-F3C6-C4FE-E41768CEB6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85038" y="2909888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0" name="Text Box 21">
            <a:extLst>
              <a:ext uri="{FF2B5EF4-FFF2-40B4-BE49-F238E27FC236}">
                <a16:creationId xmlns:a16="http://schemas.microsoft.com/office/drawing/2014/main" xmlns="" id="{49E0CA3B-6EBB-77F0-D787-39045012D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0" y="2733676"/>
            <a:ext cx="2425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first packet bit arrives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21" name="Line 22">
            <a:extLst>
              <a:ext uri="{FF2B5EF4-FFF2-40B4-BE49-F238E27FC236}">
                <a16:creationId xmlns:a16="http://schemas.microsoft.com/office/drawing/2014/main" xmlns="" id="{560A657E-43FF-D579-8A0A-49F043774DA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3159125"/>
            <a:ext cx="127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2" name="Text Box 23">
            <a:extLst>
              <a:ext uri="{FF2B5EF4-FFF2-40B4-BE49-F238E27FC236}">
                <a16:creationId xmlns:a16="http://schemas.microsoft.com/office/drawing/2014/main" xmlns="" id="{C4796352-21D3-6E5E-7DC8-C25B3CE08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1" y="2986088"/>
            <a:ext cx="3114675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last packet bit arrives, send ACK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23" name="Text Box 24">
            <a:extLst>
              <a:ext uri="{FF2B5EF4-FFF2-40B4-BE49-F238E27FC236}">
                <a16:creationId xmlns:a16="http://schemas.microsoft.com/office/drawing/2014/main" xmlns="" id="{09836AEF-18F6-7B1E-7528-49D33345B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0" y="3768725"/>
            <a:ext cx="268605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ACK arrives, send next </a:t>
            </a:r>
          </a:p>
          <a:p>
            <a:pPr algn="r"/>
            <a:r>
              <a:rPr lang="en-US" altLang="en-US">
                <a:latin typeface="Arial" panose="020B0604020202020204" pitchFamily="34" charset="0"/>
              </a:rPr>
              <a:t>packet,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</a:rPr>
              <a:t>t = RTT + L / R</a:t>
            </a:r>
            <a:endParaRPr lang="en-US" altLang="en-US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24" name="Freeform 25">
            <a:extLst>
              <a:ext uri="{FF2B5EF4-FFF2-40B4-BE49-F238E27FC236}">
                <a16:creationId xmlns:a16="http://schemas.microsoft.com/office/drawing/2014/main" xmlns="" id="{707CCDA1-D3C0-2863-271D-64B8AAC73298}"/>
              </a:ext>
            </a:extLst>
          </p:cNvPr>
          <p:cNvSpPr>
            <a:spLocks/>
          </p:cNvSpPr>
          <p:nvPr/>
        </p:nvSpPr>
        <p:spPr bwMode="auto">
          <a:xfrm>
            <a:off x="5094289" y="4103688"/>
            <a:ext cx="1419225" cy="577850"/>
          </a:xfrm>
          <a:custGeom>
            <a:avLst/>
            <a:gdLst>
              <a:gd name="T0" fmla="*/ 0 w 1845"/>
              <a:gd name="T1" fmla="*/ 0 h 592"/>
              <a:gd name="T2" fmla="*/ 2147483647 w 1845"/>
              <a:gd name="T3" fmla="*/ 2147483647 h 592"/>
              <a:gd name="T4" fmla="*/ 2147483647 w 1845"/>
              <a:gd name="T5" fmla="*/ 2147483647 h 592"/>
              <a:gd name="T6" fmla="*/ 0 w 1845"/>
              <a:gd name="T7" fmla="*/ 2147483647 h 592"/>
              <a:gd name="T8" fmla="*/ 0 w 1845"/>
              <a:gd name="T9" fmla="*/ 0 h 5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5"/>
              <a:gd name="T16" fmla="*/ 0 h 592"/>
              <a:gd name="T17" fmla="*/ 1845 w 1845"/>
              <a:gd name="T18" fmla="*/ 592 h 5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125" name="Group 26">
            <a:extLst>
              <a:ext uri="{FF2B5EF4-FFF2-40B4-BE49-F238E27FC236}">
                <a16:creationId xmlns:a16="http://schemas.microsoft.com/office/drawing/2014/main" xmlns="" id="{74608199-11A0-7CD4-E024-85D9566475DD}"/>
              </a:ext>
            </a:extLst>
          </p:cNvPr>
          <p:cNvGrpSpPr>
            <a:grpSpLocks/>
          </p:cNvGrpSpPr>
          <p:nvPr/>
        </p:nvGrpSpPr>
        <p:grpSpPr bwMode="auto">
          <a:xfrm>
            <a:off x="5087938" y="4095750"/>
            <a:ext cx="1281112" cy="534988"/>
            <a:chOff x="12315" y="13225"/>
            <a:chExt cx="2775" cy="913"/>
          </a:xfrm>
        </p:grpSpPr>
        <p:sp>
          <p:nvSpPr>
            <p:cNvPr id="4128" name="Line 27">
              <a:extLst>
                <a:ext uri="{FF2B5EF4-FFF2-40B4-BE49-F238E27FC236}">
                  <a16:creationId xmlns:a16="http://schemas.microsoft.com/office/drawing/2014/main" xmlns="" id="{3DF5707D-BE8F-F5BE-3AAA-70BCEECFD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5" y="13225"/>
              <a:ext cx="1587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29" name="Line 28">
              <a:extLst>
                <a:ext uri="{FF2B5EF4-FFF2-40B4-BE49-F238E27FC236}">
                  <a16:creationId xmlns:a16="http://schemas.microsoft.com/office/drawing/2014/main" xmlns="" id="{35544FDD-A9B4-479D-78B5-96218863C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15" y="13737"/>
              <a:ext cx="1175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126" name="Line 29">
            <a:extLst>
              <a:ext uri="{FF2B5EF4-FFF2-40B4-BE49-F238E27FC236}">
                <a16:creationId xmlns:a16="http://schemas.microsoft.com/office/drawing/2014/main" xmlns="" id="{FC80D2C2-3244-43AD-DDB1-DC01FD31B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4337051"/>
            <a:ext cx="317500" cy="123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7" name="Line 30">
            <a:extLst>
              <a:ext uri="{FF2B5EF4-FFF2-40B4-BE49-F238E27FC236}">
                <a16:creationId xmlns:a16="http://schemas.microsoft.com/office/drawing/2014/main" xmlns="" id="{5C3BE65E-B1C9-0478-4EB2-3687D9E41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1789" y="4460875"/>
            <a:ext cx="541337" cy="2349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098" name="Object 31">
            <a:extLst>
              <a:ext uri="{FF2B5EF4-FFF2-40B4-BE49-F238E27FC236}">
                <a16:creationId xmlns:a16="http://schemas.microsoft.com/office/drawing/2014/main" xmlns="" id="{D8FDB872-E666-9893-B76B-CEA5C0991B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5325" y="5065713"/>
          <a:ext cx="59944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Picture" r:id="rId3" imgW="3177616" imgH="498211" progId="Word.Picture.8">
                  <p:embed/>
                </p:oleObj>
              </mc:Choice>
              <mc:Fallback>
                <p:oleObj name="Picture" r:id="rId3" imgW="3177616" imgH="498211" progId="Word.Picture.8">
                  <p:embed/>
                  <p:pic>
                    <p:nvPicPr>
                      <p:cNvPr id="4098" name="Object 31">
                        <a:extLst>
                          <a:ext uri="{FF2B5EF4-FFF2-40B4-BE49-F238E27FC236}">
                            <a16:creationId xmlns:a16="http://schemas.microsoft.com/office/drawing/2014/main" xmlns="" id="{D8FDB872-E666-9893-B76B-CEA5C0991B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325" y="5065713"/>
                        <a:ext cx="59944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5">
            <a:extLst>
              <a:ext uri="{FF2B5EF4-FFF2-40B4-BE49-F238E27FC236}">
                <a16:creationId xmlns:a16="http://schemas.microsoft.com/office/drawing/2014/main" xmlns="" id="{CD47B103-8F47-4076-442E-1349AECF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7347" name="Slide Number Placeholder 6">
            <a:extLst>
              <a:ext uri="{FF2B5EF4-FFF2-40B4-BE49-F238E27FC236}">
                <a16:creationId xmlns:a16="http://schemas.microsoft.com/office/drawing/2014/main" xmlns="" id="{DACB080B-F9ED-0DB8-7A57-1BB9E3512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0C82B562-7761-49CF-83B9-E9470AB6A166}" type="slidenum">
              <a:rPr lang="en-US" altLang="en-US" sz="1400">
                <a:latin typeface="Arial" panose="020B0604020202020204" pitchFamily="34" charset="0"/>
              </a:rPr>
              <a:pPr/>
              <a:t>62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7348" name="Rectangle 2">
            <a:extLst>
              <a:ext uri="{FF2B5EF4-FFF2-40B4-BE49-F238E27FC236}">
                <a16:creationId xmlns:a16="http://schemas.microsoft.com/office/drawing/2014/main" xmlns="" id="{ACA87EAF-1953-983A-5C1B-E468D8D44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Pipelined protocols</a:t>
            </a:r>
            <a:endParaRPr lang="en-US" altLang="en-US"/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xmlns="" id="{488D64FC-E327-5805-3F0D-3E8F1BD6E38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47876" y="1304925"/>
            <a:ext cx="7591425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Pipelining:</a:t>
            </a:r>
            <a:r>
              <a:rPr lang="en-US" altLang="en-US" sz="2400"/>
              <a:t> sender allows multiple, “in-flight”, yet-to-be-acknowledged pkts</a:t>
            </a:r>
          </a:p>
          <a:p>
            <a:pPr lvl="1"/>
            <a:r>
              <a:rPr lang="en-US" altLang="en-US" sz="2000"/>
              <a:t>range of sequence numbers must be increased</a:t>
            </a:r>
          </a:p>
          <a:p>
            <a:pPr lvl="1"/>
            <a:r>
              <a:rPr lang="en-US" altLang="en-US" sz="2000"/>
              <a:t>buffering at sender and/or receiver</a:t>
            </a:r>
          </a:p>
        </p:txBody>
      </p:sp>
      <p:sp>
        <p:nvSpPr>
          <p:cNvPr id="57350" name="Rectangle 4">
            <a:extLst>
              <a:ext uri="{FF2B5EF4-FFF2-40B4-BE49-F238E27FC236}">
                <a16:creationId xmlns:a16="http://schemas.microsoft.com/office/drawing/2014/main" xmlns="" id="{4CD1881F-3BCE-1B75-CAAA-8B03D25BCD8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114550" y="5419726"/>
            <a:ext cx="8286750" cy="1076325"/>
          </a:xfrm>
        </p:spPr>
        <p:txBody>
          <a:bodyPr/>
          <a:lstStyle/>
          <a:p>
            <a:r>
              <a:rPr lang="en-US" altLang="en-US" sz="2400"/>
              <a:t>Two generic forms of pipelined protocols: </a:t>
            </a:r>
            <a:r>
              <a:rPr lang="en-US" altLang="en-US" sz="2400" i="1">
                <a:solidFill>
                  <a:srgbClr val="FF0000"/>
                </a:solidFill>
              </a:rPr>
              <a:t>go-Back-N, selective repeat</a:t>
            </a:r>
          </a:p>
        </p:txBody>
      </p:sp>
      <p:pic>
        <p:nvPicPr>
          <p:cNvPr id="57351" name="Picture 5" descr="rdt_pipelined1">
            <a:extLst>
              <a:ext uri="{FF2B5EF4-FFF2-40B4-BE49-F238E27FC236}">
                <a16:creationId xmlns:a16="http://schemas.microsoft.com/office/drawing/2014/main" xmlns="" id="{A0A7738D-1F55-A6C5-0771-6605E5D49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89" y="2890839"/>
            <a:ext cx="6105525" cy="237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Footer Placeholder 4">
            <a:extLst>
              <a:ext uri="{FF2B5EF4-FFF2-40B4-BE49-F238E27FC236}">
                <a16:creationId xmlns:a16="http://schemas.microsoft.com/office/drawing/2014/main" xmlns="" id="{7CDA6877-8F31-AD24-39D1-71A86B809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124" name="Slide Number Placeholder 5">
            <a:extLst>
              <a:ext uri="{FF2B5EF4-FFF2-40B4-BE49-F238E27FC236}">
                <a16:creationId xmlns:a16="http://schemas.microsoft.com/office/drawing/2014/main" xmlns="" id="{9C867224-0B1C-C358-BD10-C4BC1FA8D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88C5AACA-3471-47ED-9146-AF94C594F174}" type="slidenum">
              <a:rPr lang="en-US" altLang="en-US" sz="1400">
                <a:latin typeface="Arial" panose="020B0604020202020204" pitchFamily="34" charset="0"/>
              </a:rPr>
              <a:pPr/>
              <a:t>63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xmlns="" id="{BAAD2CC3-A868-B11A-A6D0-2188E84C47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Pipelining: increased utilization</a:t>
            </a:r>
          </a:p>
        </p:txBody>
      </p:sp>
      <p:sp>
        <p:nvSpPr>
          <p:cNvPr id="5126" name="Line 3">
            <a:extLst>
              <a:ext uri="{FF2B5EF4-FFF2-40B4-BE49-F238E27FC236}">
                <a16:creationId xmlns:a16="http://schemas.microsoft.com/office/drawing/2014/main" xmlns="" id="{5333814A-B066-A03A-004F-DDB5CBA242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5825" y="1778001"/>
            <a:ext cx="2082800" cy="931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7" name="Text Box 4">
            <a:extLst>
              <a:ext uri="{FF2B5EF4-FFF2-40B4-BE49-F238E27FC236}">
                <a16:creationId xmlns:a16="http://schemas.microsoft.com/office/drawing/2014/main" xmlns="" id="{B494B787-2043-E929-D4AF-F01F53071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571626"/>
            <a:ext cx="3086100" cy="3540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first packet bit transmitted, t = 0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8" name="Line 5">
            <a:extLst>
              <a:ext uri="{FF2B5EF4-FFF2-40B4-BE49-F238E27FC236}">
                <a16:creationId xmlns:a16="http://schemas.microsoft.com/office/drawing/2014/main" xmlns="" id="{B6EDC4B8-C439-5BF9-90D1-0D2ED6E0F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6300" y="1555750"/>
            <a:ext cx="20638" cy="32845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29" name="Line 6">
            <a:extLst>
              <a:ext uri="{FF2B5EF4-FFF2-40B4-BE49-F238E27FC236}">
                <a16:creationId xmlns:a16="http://schemas.microsoft.com/office/drawing/2014/main" xmlns="" id="{CA2700C7-3CE1-1248-B4D4-BF6CD5181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7514" y="1568451"/>
            <a:ext cx="22225" cy="33512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0" name="Text Box 7">
            <a:extLst>
              <a:ext uri="{FF2B5EF4-FFF2-40B4-BE49-F238E27FC236}">
                <a16:creationId xmlns:a16="http://schemas.microsoft.com/office/drawing/2014/main" xmlns="" id="{A238C312-FE49-E50A-6C1C-B7FEFE58F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5925" y="1228725"/>
            <a:ext cx="1042988" cy="355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sender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31" name="Text Box 8">
            <a:extLst>
              <a:ext uri="{FF2B5EF4-FFF2-40B4-BE49-F238E27FC236}">
                <a16:creationId xmlns:a16="http://schemas.microsoft.com/office/drawing/2014/main" xmlns="" id="{3798675C-3BB3-4573-B5F9-2D42C9976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1" y="1228725"/>
            <a:ext cx="1108075" cy="355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receiver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32" name="Line 9">
            <a:extLst>
              <a:ext uri="{FF2B5EF4-FFF2-40B4-BE49-F238E27FC236}">
                <a16:creationId xmlns:a16="http://schemas.microsoft.com/office/drawing/2014/main" xmlns="" id="{6B9D4B21-3865-CCAA-1E6A-20A29BEA5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6938" y="1773239"/>
            <a:ext cx="2049462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3" name="Line 10">
            <a:extLst>
              <a:ext uri="{FF2B5EF4-FFF2-40B4-BE49-F238E27FC236}">
                <a16:creationId xmlns:a16="http://schemas.microsoft.com/office/drawing/2014/main" xmlns="" id="{6C22A6C9-DD36-807B-F6DE-1EFC280C4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3288" y="3905250"/>
            <a:ext cx="2049462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4" name="Freeform 11">
            <a:extLst>
              <a:ext uri="{FF2B5EF4-FFF2-40B4-BE49-F238E27FC236}">
                <a16:creationId xmlns:a16="http://schemas.microsoft.com/office/drawing/2014/main" xmlns="" id="{C33F0DB8-95D7-0433-D46D-C5E5475C70F0}"/>
              </a:ext>
            </a:extLst>
          </p:cNvPr>
          <p:cNvSpPr>
            <a:spLocks/>
          </p:cNvSpPr>
          <p:nvPr/>
        </p:nvSpPr>
        <p:spPr bwMode="auto">
          <a:xfrm>
            <a:off x="4691063" y="1770064"/>
            <a:ext cx="2087562" cy="1169987"/>
          </a:xfrm>
          <a:custGeom>
            <a:avLst/>
            <a:gdLst>
              <a:gd name="T0" fmla="*/ 0 w 2902"/>
              <a:gd name="T1" fmla="*/ 0 h 1185"/>
              <a:gd name="T2" fmla="*/ 2147483647 w 2902"/>
              <a:gd name="T3" fmla="*/ 2147483647 h 1185"/>
              <a:gd name="T4" fmla="*/ 2147483647 w 2902"/>
              <a:gd name="T5" fmla="*/ 2147483647 h 1185"/>
              <a:gd name="T6" fmla="*/ 0 w 2902"/>
              <a:gd name="T7" fmla="*/ 2147483647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35" name="Line 12">
            <a:extLst>
              <a:ext uri="{FF2B5EF4-FFF2-40B4-BE49-F238E27FC236}">
                <a16:creationId xmlns:a16="http://schemas.microsoft.com/office/drawing/2014/main" xmlns="" id="{C636A3D6-D7DE-FCDF-66B5-8DABD41DA6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6126" y="1770064"/>
            <a:ext cx="123825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6" name="Line 13">
            <a:extLst>
              <a:ext uri="{FF2B5EF4-FFF2-40B4-BE49-F238E27FC236}">
                <a16:creationId xmlns:a16="http://schemas.microsoft.com/office/drawing/2014/main" xmlns="" id="{D53E2011-73B3-9102-8D21-340819F420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6126" y="2014538"/>
            <a:ext cx="123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7" name="Text Box 14">
            <a:extLst>
              <a:ext uri="{FF2B5EF4-FFF2-40B4-BE49-F238E27FC236}">
                <a16:creationId xmlns:a16="http://schemas.microsoft.com/office/drawing/2014/main" xmlns="" id="{335DD246-0101-E629-06F9-5AAA81386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075" y="2754314"/>
            <a:ext cx="9652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RTT 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38" name="Line 15">
            <a:extLst>
              <a:ext uri="{FF2B5EF4-FFF2-40B4-BE49-F238E27FC236}">
                <a16:creationId xmlns:a16="http://schemas.microsoft.com/office/drawing/2014/main" xmlns="" id="{AB2D93EF-9282-23C6-15DE-9C40CB93F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4" y="3065464"/>
            <a:ext cx="9525" cy="820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39" name="Line 16">
            <a:extLst>
              <a:ext uri="{FF2B5EF4-FFF2-40B4-BE49-F238E27FC236}">
                <a16:creationId xmlns:a16="http://schemas.microsoft.com/office/drawing/2014/main" xmlns="" id="{25A64E8B-D6E2-DA03-E47B-6F74E5DF3F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94225" y="2036764"/>
            <a:ext cx="1588" cy="7762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0" name="Text Box 17">
            <a:extLst>
              <a:ext uri="{FF2B5EF4-FFF2-40B4-BE49-F238E27FC236}">
                <a16:creationId xmlns:a16="http://schemas.microsoft.com/office/drawing/2014/main" xmlns="" id="{B84D1C22-6E22-B805-C95A-B5B5FE07B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0076" y="1852613"/>
            <a:ext cx="2740025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last bit transmitted, t = L / 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41" name="Line 18">
            <a:extLst>
              <a:ext uri="{FF2B5EF4-FFF2-40B4-BE49-F238E27FC236}">
                <a16:creationId xmlns:a16="http://schemas.microsoft.com/office/drawing/2014/main" xmlns="" id="{A2880DA1-1F39-DEC7-9B93-0216D0B145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56401" y="2695575"/>
            <a:ext cx="1254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2" name="Text Box 19">
            <a:extLst>
              <a:ext uri="{FF2B5EF4-FFF2-40B4-BE49-F238E27FC236}">
                <a16:creationId xmlns:a16="http://schemas.microsoft.com/office/drawing/2014/main" xmlns="" id="{7B97F61F-9F72-E898-1C22-75C66FC21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2600" y="2517775"/>
            <a:ext cx="26416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first packet bit arrives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43" name="Line 20">
            <a:extLst>
              <a:ext uri="{FF2B5EF4-FFF2-40B4-BE49-F238E27FC236}">
                <a16:creationId xmlns:a16="http://schemas.microsoft.com/office/drawing/2014/main" xmlns="" id="{D236D7E4-4C13-89DB-A723-95E7AC69261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8626" y="2946400"/>
            <a:ext cx="1190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44" name="Text Box 21">
            <a:extLst>
              <a:ext uri="{FF2B5EF4-FFF2-40B4-BE49-F238E27FC236}">
                <a16:creationId xmlns:a16="http://schemas.microsoft.com/office/drawing/2014/main" xmlns="" id="{8BC83ABA-D8D1-BABE-76DD-C698F89CA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3" y="2770189"/>
            <a:ext cx="35814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last packet bit arrives, send ACK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45" name="Text Box 22">
            <a:extLst>
              <a:ext uri="{FF2B5EF4-FFF2-40B4-BE49-F238E27FC236}">
                <a16:creationId xmlns:a16="http://schemas.microsoft.com/office/drawing/2014/main" xmlns="" id="{B0199201-536A-EBAA-C023-530121636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3562350"/>
            <a:ext cx="2635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r"/>
            <a:r>
              <a:rPr lang="en-US" altLang="en-US">
                <a:latin typeface="Arial" panose="020B0604020202020204" pitchFamily="34" charset="0"/>
              </a:rPr>
              <a:t>ACK arrives, send next </a:t>
            </a:r>
          </a:p>
          <a:p>
            <a:pPr algn="r"/>
            <a:r>
              <a:rPr lang="en-US" altLang="en-US">
                <a:latin typeface="Arial" panose="020B0604020202020204" pitchFamily="34" charset="0"/>
              </a:rPr>
              <a:t>packet, t = RTT + L / R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5146" name="Group 23">
            <a:extLst>
              <a:ext uri="{FF2B5EF4-FFF2-40B4-BE49-F238E27FC236}">
                <a16:creationId xmlns:a16="http://schemas.microsoft.com/office/drawing/2014/main" xmlns="" id="{2F1642DA-0CB3-B863-98C7-5E5BB1B9BA96}"/>
              </a:ext>
            </a:extLst>
          </p:cNvPr>
          <p:cNvGrpSpPr>
            <a:grpSpLocks/>
          </p:cNvGrpSpPr>
          <p:nvPr/>
        </p:nvGrpSpPr>
        <p:grpSpPr bwMode="auto">
          <a:xfrm>
            <a:off x="4567238" y="3892551"/>
            <a:ext cx="1466850" cy="608013"/>
            <a:chOff x="12502" y="21425"/>
            <a:chExt cx="3400" cy="1025"/>
          </a:xfrm>
        </p:grpSpPr>
        <p:sp>
          <p:nvSpPr>
            <p:cNvPr id="5174" name="Line 24">
              <a:extLst>
                <a:ext uri="{FF2B5EF4-FFF2-40B4-BE49-F238E27FC236}">
                  <a16:creationId xmlns:a16="http://schemas.microsoft.com/office/drawing/2014/main" xmlns="" id="{3E172BC9-451D-3C37-7FF4-4AAE58E50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75" name="Freeform 25">
              <a:extLst>
                <a:ext uri="{FF2B5EF4-FFF2-40B4-BE49-F238E27FC236}">
                  <a16:creationId xmlns:a16="http://schemas.microsoft.com/office/drawing/2014/main" xmlns="" id="{B15EAB26-8FE5-A82F-0672-B429BF819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23728 w 1845"/>
                <a:gd name="T3" fmla="*/ 7628 h 592"/>
                <a:gd name="T4" fmla="*/ 14083 w 1845"/>
                <a:gd name="T5" fmla="*/ 7628 h 592"/>
                <a:gd name="T6" fmla="*/ 0 w 1845"/>
                <a:gd name="T7" fmla="*/ 318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76" name="Group 26">
              <a:extLst>
                <a:ext uri="{FF2B5EF4-FFF2-40B4-BE49-F238E27FC236}">
                  <a16:creationId xmlns:a16="http://schemas.microsoft.com/office/drawing/2014/main" xmlns="" id="{672A8E49-80FD-50AA-3E6D-09921D926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5179" name="Line 27">
                <a:extLst>
                  <a:ext uri="{FF2B5EF4-FFF2-40B4-BE49-F238E27FC236}">
                    <a16:creationId xmlns:a16="http://schemas.microsoft.com/office/drawing/2014/main" xmlns="" id="{59824834-C0BC-4F3E-342E-18FB54F76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80" name="Line 28">
                <a:extLst>
                  <a:ext uri="{FF2B5EF4-FFF2-40B4-BE49-F238E27FC236}">
                    <a16:creationId xmlns:a16="http://schemas.microsoft.com/office/drawing/2014/main" xmlns="" id="{E581CADD-07E7-8380-4F14-5D3A1D282B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177" name="Line 29">
              <a:extLst>
                <a:ext uri="{FF2B5EF4-FFF2-40B4-BE49-F238E27FC236}">
                  <a16:creationId xmlns:a16="http://schemas.microsoft.com/office/drawing/2014/main" xmlns="" id="{31F585CF-998E-E569-2C40-F7A8FC0C6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78" name="Line 30">
              <a:extLst>
                <a:ext uri="{FF2B5EF4-FFF2-40B4-BE49-F238E27FC236}">
                  <a16:creationId xmlns:a16="http://schemas.microsoft.com/office/drawing/2014/main" xmlns="" id="{9254D56E-DA8A-2AAD-A5C2-FE2AE10FB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47" name="Freeform 31">
            <a:extLst>
              <a:ext uri="{FF2B5EF4-FFF2-40B4-BE49-F238E27FC236}">
                <a16:creationId xmlns:a16="http://schemas.microsoft.com/office/drawing/2014/main" xmlns="" id="{1B02CCFC-45D3-C7DE-7201-4B10911DCD37}"/>
              </a:ext>
            </a:extLst>
          </p:cNvPr>
          <p:cNvSpPr>
            <a:spLocks/>
          </p:cNvSpPr>
          <p:nvPr/>
        </p:nvSpPr>
        <p:spPr bwMode="auto">
          <a:xfrm>
            <a:off x="4695826" y="2022475"/>
            <a:ext cx="2087563" cy="1168400"/>
          </a:xfrm>
          <a:custGeom>
            <a:avLst/>
            <a:gdLst>
              <a:gd name="T0" fmla="*/ 0 w 2902"/>
              <a:gd name="T1" fmla="*/ 0 h 1185"/>
              <a:gd name="T2" fmla="*/ 2147483647 w 2902"/>
              <a:gd name="T3" fmla="*/ 2147483647 h 1185"/>
              <a:gd name="T4" fmla="*/ 2147483647 w 2902"/>
              <a:gd name="T5" fmla="*/ 2147483647 h 1185"/>
              <a:gd name="T6" fmla="*/ 0 w 2902"/>
              <a:gd name="T7" fmla="*/ 2147483647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8" name="Freeform 32">
            <a:extLst>
              <a:ext uri="{FF2B5EF4-FFF2-40B4-BE49-F238E27FC236}">
                <a16:creationId xmlns:a16="http://schemas.microsoft.com/office/drawing/2014/main" xmlns="" id="{976D4861-1F6A-BA5C-3BD2-9C3D042013A7}"/>
              </a:ext>
            </a:extLst>
          </p:cNvPr>
          <p:cNvSpPr>
            <a:spLocks/>
          </p:cNvSpPr>
          <p:nvPr/>
        </p:nvSpPr>
        <p:spPr bwMode="auto">
          <a:xfrm>
            <a:off x="4695826" y="2273300"/>
            <a:ext cx="2087563" cy="1168400"/>
          </a:xfrm>
          <a:custGeom>
            <a:avLst/>
            <a:gdLst>
              <a:gd name="T0" fmla="*/ 0 w 2902"/>
              <a:gd name="T1" fmla="*/ 0 h 1185"/>
              <a:gd name="T2" fmla="*/ 2147483647 w 2902"/>
              <a:gd name="T3" fmla="*/ 2147483647 h 1185"/>
              <a:gd name="T4" fmla="*/ 2147483647 w 2902"/>
              <a:gd name="T5" fmla="*/ 2147483647 h 1185"/>
              <a:gd name="T6" fmla="*/ 0 w 2902"/>
              <a:gd name="T7" fmla="*/ 2147483647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02"/>
              <a:gd name="T16" fmla="*/ 0 h 1185"/>
              <a:gd name="T17" fmla="*/ 2902 w 2902"/>
              <a:gd name="T18" fmla="*/ 1185 h 118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49" name="Line 33">
            <a:extLst>
              <a:ext uri="{FF2B5EF4-FFF2-40B4-BE49-F238E27FC236}">
                <a16:creationId xmlns:a16="http://schemas.microsoft.com/office/drawing/2014/main" xmlns="" id="{E25273A3-6933-D0D2-6B50-942EF307AC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3289" y="2954338"/>
            <a:ext cx="2065337" cy="931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0" name="Line 34">
            <a:extLst>
              <a:ext uri="{FF2B5EF4-FFF2-40B4-BE49-F238E27FC236}">
                <a16:creationId xmlns:a16="http://schemas.microsoft.com/office/drawing/2014/main" xmlns="" id="{81AFF1C6-FBD2-EDCD-0DB1-2B2BFE25EB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3289" y="3205163"/>
            <a:ext cx="2065337" cy="9318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grpSp>
        <p:nvGrpSpPr>
          <p:cNvPr id="5151" name="Group 35">
            <a:extLst>
              <a:ext uri="{FF2B5EF4-FFF2-40B4-BE49-F238E27FC236}">
                <a16:creationId xmlns:a16="http://schemas.microsoft.com/office/drawing/2014/main" xmlns="" id="{44A29845-F529-97B8-2DCB-F38E2A7782F6}"/>
              </a:ext>
            </a:extLst>
          </p:cNvPr>
          <p:cNvGrpSpPr>
            <a:grpSpLocks/>
          </p:cNvGrpSpPr>
          <p:nvPr/>
        </p:nvGrpSpPr>
        <p:grpSpPr bwMode="auto">
          <a:xfrm>
            <a:off x="4556125" y="4130676"/>
            <a:ext cx="1466850" cy="606425"/>
            <a:chOff x="12502" y="21425"/>
            <a:chExt cx="3400" cy="1025"/>
          </a:xfrm>
        </p:grpSpPr>
        <p:sp>
          <p:nvSpPr>
            <p:cNvPr id="5167" name="Line 36">
              <a:extLst>
                <a:ext uri="{FF2B5EF4-FFF2-40B4-BE49-F238E27FC236}">
                  <a16:creationId xmlns:a16="http://schemas.microsoft.com/office/drawing/2014/main" xmlns="" id="{4FC151ED-B286-D898-41FA-E4B57E282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68" name="Freeform 37">
              <a:extLst>
                <a:ext uri="{FF2B5EF4-FFF2-40B4-BE49-F238E27FC236}">
                  <a16:creationId xmlns:a16="http://schemas.microsoft.com/office/drawing/2014/main" xmlns="" id="{CCB18E31-1F6C-0F71-95CB-EDC7FF039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23728 w 1845"/>
                <a:gd name="T3" fmla="*/ 7628 h 592"/>
                <a:gd name="T4" fmla="*/ 14083 w 1845"/>
                <a:gd name="T5" fmla="*/ 7628 h 592"/>
                <a:gd name="T6" fmla="*/ 0 w 1845"/>
                <a:gd name="T7" fmla="*/ 318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69" name="Group 38">
              <a:extLst>
                <a:ext uri="{FF2B5EF4-FFF2-40B4-BE49-F238E27FC236}">
                  <a16:creationId xmlns:a16="http://schemas.microsoft.com/office/drawing/2014/main" xmlns="" id="{D5902DDD-607B-09F8-B227-89BE7F296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5172" name="Line 39">
                <a:extLst>
                  <a:ext uri="{FF2B5EF4-FFF2-40B4-BE49-F238E27FC236}">
                    <a16:creationId xmlns:a16="http://schemas.microsoft.com/office/drawing/2014/main" xmlns="" id="{A710A021-A339-7DCF-81F4-7E9350C4BF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73" name="Line 40">
                <a:extLst>
                  <a:ext uri="{FF2B5EF4-FFF2-40B4-BE49-F238E27FC236}">
                    <a16:creationId xmlns:a16="http://schemas.microsoft.com/office/drawing/2014/main" xmlns="" id="{2925824F-A341-3A74-783F-11259F9A9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170" name="Line 41">
              <a:extLst>
                <a:ext uri="{FF2B5EF4-FFF2-40B4-BE49-F238E27FC236}">
                  <a16:creationId xmlns:a16="http://schemas.microsoft.com/office/drawing/2014/main" xmlns="" id="{943E8F9D-1C1C-1EB6-4266-AA8AD6669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71" name="Line 42">
              <a:extLst>
                <a:ext uri="{FF2B5EF4-FFF2-40B4-BE49-F238E27FC236}">
                  <a16:creationId xmlns:a16="http://schemas.microsoft.com/office/drawing/2014/main" xmlns="" id="{A9EDDE26-4F8C-0F5B-C841-CB7CE3FF5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152" name="Group 43">
            <a:extLst>
              <a:ext uri="{FF2B5EF4-FFF2-40B4-BE49-F238E27FC236}">
                <a16:creationId xmlns:a16="http://schemas.microsoft.com/office/drawing/2014/main" xmlns="" id="{5D49F79D-5571-9366-B13E-A92957E2A4BC}"/>
              </a:ext>
            </a:extLst>
          </p:cNvPr>
          <p:cNvGrpSpPr>
            <a:grpSpLocks/>
          </p:cNvGrpSpPr>
          <p:nvPr/>
        </p:nvGrpSpPr>
        <p:grpSpPr bwMode="auto">
          <a:xfrm>
            <a:off x="4567238" y="4381501"/>
            <a:ext cx="1466850" cy="606425"/>
            <a:chOff x="12502" y="21425"/>
            <a:chExt cx="3400" cy="1025"/>
          </a:xfrm>
        </p:grpSpPr>
        <p:sp>
          <p:nvSpPr>
            <p:cNvPr id="5160" name="Line 44">
              <a:extLst>
                <a:ext uri="{FF2B5EF4-FFF2-40B4-BE49-F238E27FC236}">
                  <a16:creationId xmlns:a16="http://schemas.microsoft.com/office/drawing/2014/main" xmlns="" id="{8ED630B2-D09D-084C-5A45-4E1D38B14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61" name="Freeform 45">
              <a:extLst>
                <a:ext uri="{FF2B5EF4-FFF2-40B4-BE49-F238E27FC236}">
                  <a16:creationId xmlns:a16="http://schemas.microsoft.com/office/drawing/2014/main" xmlns="" id="{CD4E5804-76EC-C227-87FE-F45E7A42A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23728 w 1845"/>
                <a:gd name="T3" fmla="*/ 7628 h 592"/>
                <a:gd name="T4" fmla="*/ 14083 w 1845"/>
                <a:gd name="T5" fmla="*/ 7628 h 592"/>
                <a:gd name="T6" fmla="*/ 0 w 1845"/>
                <a:gd name="T7" fmla="*/ 3183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45"/>
                <a:gd name="T16" fmla="*/ 0 h 592"/>
                <a:gd name="T17" fmla="*/ 1845 w 1845"/>
                <a:gd name="T18" fmla="*/ 592 h 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5162" name="Group 46">
              <a:extLst>
                <a:ext uri="{FF2B5EF4-FFF2-40B4-BE49-F238E27FC236}">
                  <a16:creationId xmlns:a16="http://schemas.microsoft.com/office/drawing/2014/main" xmlns="" id="{A08FD3E7-E33C-80AA-1DAA-51E5AD0E3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5165" name="Line 47">
                <a:extLst>
                  <a:ext uri="{FF2B5EF4-FFF2-40B4-BE49-F238E27FC236}">
                    <a16:creationId xmlns:a16="http://schemas.microsoft.com/office/drawing/2014/main" xmlns="" id="{28D85A19-2994-B668-BC09-DEC6660E8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66" name="Line 48">
                <a:extLst>
                  <a:ext uri="{FF2B5EF4-FFF2-40B4-BE49-F238E27FC236}">
                    <a16:creationId xmlns:a16="http://schemas.microsoft.com/office/drawing/2014/main" xmlns="" id="{DD04BDC1-25D1-4FC8-E5C6-97809A15D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163" name="Line 49">
              <a:extLst>
                <a:ext uri="{FF2B5EF4-FFF2-40B4-BE49-F238E27FC236}">
                  <a16:creationId xmlns:a16="http://schemas.microsoft.com/office/drawing/2014/main" xmlns="" id="{D5FDEFB1-55EB-74A8-A625-70280717F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64" name="Line 50">
              <a:extLst>
                <a:ext uri="{FF2B5EF4-FFF2-40B4-BE49-F238E27FC236}">
                  <a16:creationId xmlns:a16="http://schemas.microsoft.com/office/drawing/2014/main" xmlns="" id="{C94054EA-0514-BD22-F6A6-9CA284A91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53" name="Line 51">
            <a:extLst>
              <a:ext uri="{FF2B5EF4-FFF2-40B4-BE49-F238E27FC236}">
                <a16:creationId xmlns:a16="http://schemas.microsoft.com/office/drawing/2014/main" xmlns="" id="{48EE180E-DFB7-A6FB-B5E5-2DDE508883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8050" y="3457576"/>
            <a:ext cx="2065338" cy="9318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4" name="Text Box 52">
            <a:extLst>
              <a:ext uri="{FF2B5EF4-FFF2-40B4-BE49-F238E27FC236}">
                <a16:creationId xmlns:a16="http://schemas.microsoft.com/office/drawing/2014/main" xmlns="" id="{D86D275C-2067-A694-3C3C-CBEF094F3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88" y="3024189"/>
            <a:ext cx="38338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last bit of 2</a:t>
            </a:r>
            <a:r>
              <a:rPr lang="en-US" altLang="en-US" baseline="30000">
                <a:latin typeface="Arial" panose="020B0604020202020204" pitchFamily="34" charset="0"/>
              </a:rPr>
              <a:t>nd</a:t>
            </a:r>
            <a:r>
              <a:rPr lang="en-US" altLang="en-US">
                <a:latin typeface="Arial" panose="020B0604020202020204" pitchFamily="34" charset="0"/>
              </a:rPr>
              <a:t> packet arrives, send ACK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55" name="Line 53">
            <a:extLst>
              <a:ext uri="{FF2B5EF4-FFF2-40B4-BE49-F238E27FC236}">
                <a16:creationId xmlns:a16="http://schemas.microsoft.com/office/drawing/2014/main" xmlns="" id="{CA65F58C-FB18-DC56-B500-0F8B26DEE8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8626" y="3182938"/>
            <a:ext cx="1127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6" name="Line 54">
            <a:extLst>
              <a:ext uri="{FF2B5EF4-FFF2-40B4-BE49-F238E27FC236}">
                <a16:creationId xmlns:a16="http://schemas.microsoft.com/office/drawing/2014/main" xmlns="" id="{7F50959E-ABE2-C33C-20F8-301685B2D0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9738" y="3435350"/>
            <a:ext cx="1127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7" name="Text Box 55">
            <a:extLst>
              <a:ext uri="{FF2B5EF4-FFF2-40B4-BE49-F238E27FC236}">
                <a16:creationId xmlns:a16="http://schemas.microsoft.com/office/drawing/2014/main" xmlns="" id="{648F72E9-335B-9767-FF86-E2D08A084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9426" y="3257551"/>
            <a:ext cx="38385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>
                <a:latin typeface="Arial" panose="020B0604020202020204" pitchFamily="34" charset="0"/>
              </a:rPr>
              <a:t>last bit of 3</a:t>
            </a:r>
            <a:r>
              <a:rPr lang="en-US" altLang="en-US" baseline="30000">
                <a:latin typeface="Arial" panose="020B0604020202020204" pitchFamily="34" charset="0"/>
              </a:rPr>
              <a:t>rd</a:t>
            </a:r>
            <a:r>
              <a:rPr lang="en-US" altLang="en-US">
                <a:latin typeface="Arial" panose="020B0604020202020204" pitchFamily="34" charset="0"/>
              </a:rPr>
              <a:t> packet arrives, send ACK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aphicFrame>
        <p:nvGraphicFramePr>
          <p:cNvPr id="5122" name="Object 56">
            <a:extLst>
              <a:ext uri="{FF2B5EF4-FFF2-40B4-BE49-F238E27FC236}">
                <a16:creationId xmlns:a16="http://schemas.microsoft.com/office/drawing/2014/main" xmlns="" id="{C1366212-CD95-0CFB-3DF7-767A7C328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6088" y="5135563"/>
          <a:ext cx="59944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Picture" r:id="rId3" imgW="3177616" imgH="498211" progId="Word.Picture.8">
                  <p:embed/>
                </p:oleObj>
              </mc:Choice>
              <mc:Fallback>
                <p:oleObj name="Picture" r:id="rId3" imgW="3177616" imgH="498211" progId="Word.Picture.8">
                  <p:embed/>
                  <p:pic>
                    <p:nvPicPr>
                      <p:cNvPr id="5122" name="Object 56">
                        <a:extLst>
                          <a:ext uri="{FF2B5EF4-FFF2-40B4-BE49-F238E27FC236}">
                            <a16:creationId xmlns:a16="http://schemas.microsoft.com/office/drawing/2014/main" xmlns="" id="{C1366212-CD95-0CFB-3DF7-767A7C328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088" y="5135563"/>
                        <a:ext cx="59944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58" name="Text Box 57">
            <a:extLst>
              <a:ext uri="{FF2B5EF4-FFF2-40B4-BE49-F238E27FC236}">
                <a16:creationId xmlns:a16="http://schemas.microsoft.com/office/drawing/2014/main" xmlns="" id="{E4BF1A37-3DE4-6C3A-368D-D27D67336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314" y="4437064"/>
            <a:ext cx="25050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2000">
                <a:solidFill>
                  <a:srgbClr val="FF0000"/>
                </a:solidFill>
              </a:rPr>
              <a:t>Increase utilization</a:t>
            </a:r>
          </a:p>
          <a:p>
            <a:r>
              <a:rPr lang="en-US" altLang="en-US" sz="2000">
                <a:solidFill>
                  <a:srgbClr val="FF0000"/>
                </a:solidFill>
              </a:rPr>
              <a:t>by a factor of 3!</a:t>
            </a:r>
          </a:p>
        </p:txBody>
      </p:sp>
      <p:sp>
        <p:nvSpPr>
          <p:cNvPr id="5159" name="Line 58">
            <a:extLst>
              <a:ext uri="{FF2B5EF4-FFF2-40B4-BE49-F238E27FC236}">
                <a16:creationId xmlns:a16="http://schemas.microsoft.com/office/drawing/2014/main" xmlns="" id="{E1B6CF1C-E038-F382-2003-8984509991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10513" y="4821238"/>
            <a:ext cx="125412" cy="5127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5">
            <a:extLst>
              <a:ext uri="{FF2B5EF4-FFF2-40B4-BE49-F238E27FC236}">
                <a16:creationId xmlns:a16="http://schemas.microsoft.com/office/drawing/2014/main" xmlns="" id="{74DA63D3-285B-D39E-2992-972DE9C8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8371" name="Slide Number Placeholder 6">
            <a:extLst>
              <a:ext uri="{FF2B5EF4-FFF2-40B4-BE49-F238E27FC236}">
                <a16:creationId xmlns:a16="http://schemas.microsoft.com/office/drawing/2014/main" xmlns="" id="{8867AF4C-BE85-B8AA-AF4B-36DF136B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EA7D23C8-7632-423A-AAC1-49E3F27288B3}" type="slidenum">
              <a:rPr lang="en-US" altLang="en-US" sz="1400">
                <a:latin typeface="Arial" panose="020B0604020202020204" pitchFamily="34" charset="0"/>
              </a:rPr>
              <a:pPr/>
              <a:t>64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xmlns="" id="{FFAA5AA5-4B45-2289-DC3C-136588D29D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Pipelining Protocols</a:t>
            </a:r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xmlns="" id="{D3951C5F-66DD-E5C7-3C2B-4D6BD022899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Go-back-N: big picture: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Sender can have up to N unacked packets in pipeline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Rcvr only sends cumulative acks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Doesn’t ack packet if there’s a gap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Sender has timer for oldest unacked packet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If timer expires, retransmit all unacked packets</a:t>
            </a:r>
          </a:p>
        </p:txBody>
      </p:sp>
      <p:sp>
        <p:nvSpPr>
          <p:cNvPr id="58374" name="Rectangle 4">
            <a:extLst>
              <a:ext uri="{FF2B5EF4-FFF2-40B4-BE49-F238E27FC236}">
                <a16:creationId xmlns:a16="http://schemas.microsoft.com/office/drawing/2014/main" xmlns="" id="{B9364356-F8B5-4322-00F2-C93FC9F2699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ZapfDingbats" pitchFamily="82" charset="2"/>
              <a:buNone/>
            </a:pPr>
            <a:r>
              <a:rPr lang="en-US" altLang="en-US" sz="2400" u="sng">
                <a:solidFill>
                  <a:srgbClr val="FF0000"/>
                </a:solidFill>
              </a:rPr>
              <a:t>Selective Repeat: big pic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Sender can have up to N unacked packets in pipeline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Rcvr acks individual packets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Sender maintains timer for each unacked packet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When timer expires, retransmit only unack packet</a:t>
            </a:r>
          </a:p>
          <a:p>
            <a:pPr>
              <a:lnSpc>
                <a:spcPct val="90000"/>
              </a:lnSpc>
            </a:pPr>
            <a:endParaRPr lang="en-US" altLang="en-US" sz="2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4">
            <a:extLst>
              <a:ext uri="{FF2B5EF4-FFF2-40B4-BE49-F238E27FC236}">
                <a16:creationId xmlns:a16="http://schemas.microsoft.com/office/drawing/2014/main" xmlns="" id="{9B3B78A2-8249-011D-C99F-276B9622C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59395" name="Slide Number Placeholder 5">
            <a:extLst>
              <a:ext uri="{FF2B5EF4-FFF2-40B4-BE49-F238E27FC236}">
                <a16:creationId xmlns:a16="http://schemas.microsoft.com/office/drawing/2014/main" xmlns="" id="{2EDE9BAD-559E-FEF9-4D2C-233E8262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48A5BEA6-ECE9-43E9-BDCC-869800455A55}" type="slidenum">
              <a:rPr lang="en-US" altLang="en-US" sz="1400">
                <a:latin typeface="Arial" panose="020B0604020202020204" pitchFamily="34" charset="0"/>
              </a:rPr>
              <a:pPr/>
              <a:t>65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xmlns="" id="{53A75A53-6EBC-3113-DCBD-F4729616D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Selective repeat: big picture</a:t>
            </a:r>
          </a:p>
        </p:txBody>
      </p:sp>
      <p:sp>
        <p:nvSpPr>
          <p:cNvPr id="59397" name="Rectangle 3">
            <a:extLst>
              <a:ext uri="{FF2B5EF4-FFF2-40B4-BE49-F238E27FC236}">
                <a16:creationId xmlns:a16="http://schemas.microsoft.com/office/drawing/2014/main" xmlns="" id="{1FFC632B-68B9-C115-F35C-EF51228E8F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Sender can have up to N unacked packets in pipeline</a:t>
            </a:r>
          </a:p>
          <a:p>
            <a:r>
              <a:rPr lang="en-US" altLang="en-US"/>
              <a:t>Rcvr acks individual packets</a:t>
            </a:r>
          </a:p>
          <a:p>
            <a:r>
              <a:rPr lang="en-US" altLang="en-US"/>
              <a:t>Sender maintains timer for each unacked packet</a:t>
            </a:r>
          </a:p>
          <a:p>
            <a:pPr lvl="1"/>
            <a:r>
              <a:rPr lang="en-US" altLang="en-US"/>
              <a:t>When timer expires, retransmit only unack packet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5">
            <a:extLst>
              <a:ext uri="{FF2B5EF4-FFF2-40B4-BE49-F238E27FC236}">
                <a16:creationId xmlns:a16="http://schemas.microsoft.com/office/drawing/2014/main" xmlns="" id="{AD9478F1-8CFA-7EB0-33E5-36FABB9E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0419" name="Slide Number Placeholder 6">
            <a:extLst>
              <a:ext uri="{FF2B5EF4-FFF2-40B4-BE49-F238E27FC236}">
                <a16:creationId xmlns:a16="http://schemas.microsoft.com/office/drawing/2014/main" xmlns="" id="{8CD82B1B-DDAD-C7F7-E1E7-D9F41981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6FF3C91B-253C-43E3-AD63-8A0F7F608B1D}" type="slidenum">
              <a:rPr lang="en-US" altLang="en-US" sz="1400">
                <a:latin typeface="Arial" panose="020B0604020202020204" pitchFamily="34" charset="0"/>
              </a:rPr>
              <a:pPr/>
              <a:t>66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xmlns="" id="{F46DAFF6-0102-5B2E-0AAB-E40E850BA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2964" y="109538"/>
            <a:ext cx="6770687" cy="4873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Go-Back-N</a:t>
            </a:r>
          </a:p>
        </p:txBody>
      </p:sp>
      <p:sp>
        <p:nvSpPr>
          <p:cNvPr id="60421" name="Rectangle 3">
            <a:extLst>
              <a:ext uri="{FF2B5EF4-FFF2-40B4-BE49-F238E27FC236}">
                <a16:creationId xmlns:a16="http://schemas.microsoft.com/office/drawing/2014/main" xmlns="" id="{C514D906-9310-54CF-FF65-864C333645D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00250" y="774701"/>
            <a:ext cx="8324850" cy="1814513"/>
          </a:xfrm>
        </p:spPr>
        <p:txBody>
          <a:bodyPr>
            <a:normAutofit fontScale="92500" lnSpcReduction="10000"/>
          </a:bodyPr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Sender:</a:t>
            </a:r>
            <a:endParaRPr lang="en-US" altLang="en-US" sz="2400"/>
          </a:p>
          <a:p>
            <a:r>
              <a:rPr lang="en-US" altLang="en-US" sz="2000"/>
              <a:t>k-bit seq # in pkt header</a:t>
            </a:r>
          </a:p>
          <a:p>
            <a:r>
              <a:rPr lang="en-US" altLang="en-US" sz="2000"/>
              <a:t>“window” of up to N, consecutive unack’ed pkts allowed</a:t>
            </a:r>
          </a:p>
          <a:p>
            <a:r>
              <a:rPr lang="en-US" altLang="en-US" sz="2000"/>
              <a:t>send_base: oldest unacked packet</a:t>
            </a:r>
          </a:p>
          <a:p>
            <a:r>
              <a:rPr lang="en-US" altLang="en-US" sz="2000"/>
              <a:t>nextseqnum: smallest unused seqnum</a:t>
            </a:r>
          </a:p>
          <a:p>
            <a:endParaRPr lang="en-US" altLang="en-US" sz="2000"/>
          </a:p>
          <a:p>
            <a:endParaRPr lang="en-US" altLang="en-US" sz="2400"/>
          </a:p>
          <a:p>
            <a:endParaRPr lang="en-US" altLang="en-US" sz="2400"/>
          </a:p>
        </p:txBody>
      </p:sp>
      <p:pic>
        <p:nvPicPr>
          <p:cNvPr id="60422" name="Picture 4" descr="gbn_seqnum">
            <a:extLst>
              <a:ext uri="{FF2B5EF4-FFF2-40B4-BE49-F238E27FC236}">
                <a16:creationId xmlns:a16="http://schemas.microsoft.com/office/drawing/2014/main" xmlns="" id="{FF931991-220F-35EA-C556-EC2437DA4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964" y="2752726"/>
            <a:ext cx="809942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3" name="Rectangle 5">
            <a:extLst>
              <a:ext uri="{FF2B5EF4-FFF2-40B4-BE49-F238E27FC236}">
                <a16:creationId xmlns:a16="http://schemas.microsoft.com/office/drawing/2014/main" xmlns="" id="{109BBB0F-3BDE-6A72-DDE3-AF9A8DF39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241800"/>
            <a:ext cx="8324850" cy="216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>
                <a:solidFill>
                  <a:srgbClr val="FF0000"/>
                </a:solidFill>
              </a:rPr>
              <a:t>nextseqnum - send_base </a:t>
            </a:r>
            <a:r>
              <a:rPr lang="en-US" altLang="en-US" sz="3200">
                <a:solidFill>
                  <a:srgbClr val="FF0000"/>
                </a:solidFill>
              </a:rPr>
              <a:t>≤</a:t>
            </a:r>
            <a:r>
              <a:rPr lang="en-US" altLang="en-US" sz="2000">
                <a:solidFill>
                  <a:srgbClr val="FF0000"/>
                </a:solidFill>
              </a:rPr>
              <a:t>Sender Window Size (SWS=N) 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ACK(n): ACKs all pkts up to, including seq # n - “cumulative ACK”</a:t>
            </a:r>
          </a:p>
          <a:p>
            <a:pPr lvl="1" algn="l">
              <a:spcBef>
                <a:spcPct val="20000"/>
              </a:spcBef>
              <a:buClr>
                <a:schemeClr val="accent2"/>
              </a:buClr>
              <a:buSzPct val="75000"/>
              <a:buFont typeface="ZapfDingbats" pitchFamily="82" charset="2"/>
              <a:buChar char="m"/>
            </a:pPr>
            <a:r>
              <a:rPr lang="en-US" altLang="en-US" sz="2000"/>
              <a:t>may receive duplicate ACKs (see receiver)</a:t>
            </a:r>
            <a:endParaRPr lang="en-US" altLang="en-US" sz="1800"/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timer for each in-flight pkt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 i="1"/>
              <a:t>timeout(n):</a:t>
            </a:r>
            <a:r>
              <a:rPr lang="en-US" altLang="en-US" sz="2000"/>
              <a:t> retransmit pkt n and all higher seq # pkts in window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en-US" sz="2400"/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en-US" sz="2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3">
            <a:extLst>
              <a:ext uri="{FF2B5EF4-FFF2-40B4-BE49-F238E27FC236}">
                <a16:creationId xmlns:a16="http://schemas.microsoft.com/office/drawing/2014/main" xmlns="" id="{B0669EEA-2F92-4042-B4F6-D48DCBFDE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1443" name="Slide Number Placeholder 4">
            <a:extLst>
              <a:ext uri="{FF2B5EF4-FFF2-40B4-BE49-F238E27FC236}">
                <a16:creationId xmlns:a16="http://schemas.microsoft.com/office/drawing/2014/main" xmlns="" id="{69415F37-8099-3D75-27F9-C3402131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5DF4DC40-F3ED-49FF-928C-A0C85004E8C8}" type="slidenum">
              <a:rPr lang="en-US" altLang="en-US" sz="1400">
                <a:latin typeface="Arial" panose="020B0604020202020204" pitchFamily="34" charset="0"/>
              </a:rPr>
              <a:pPr/>
              <a:t>67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1444" name="Rectangle 2">
            <a:extLst>
              <a:ext uri="{FF2B5EF4-FFF2-40B4-BE49-F238E27FC236}">
                <a16:creationId xmlns:a16="http://schemas.microsoft.com/office/drawing/2014/main" xmlns="" id="{3804A5F8-5524-AC6D-86E5-9EFFE9AC5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1838" y="296864"/>
            <a:ext cx="7772400" cy="700087"/>
          </a:xfrm>
        </p:spPr>
        <p:txBody>
          <a:bodyPr/>
          <a:lstStyle/>
          <a:p>
            <a:r>
              <a:rPr lang="en-US" altLang="en-US" sz="3200"/>
              <a:t>GBN: sender extended FSM</a:t>
            </a:r>
            <a:endParaRPr lang="en-US" altLang="en-US"/>
          </a:p>
        </p:txBody>
      </p:sp>
      <p:grpSp>
        <p:nvGrpSpPr>
          <p:cNvPr id="61445" name="Group 3">
            <a:extLst>
              <a:ext uri="{FF2B5EF4-FFF2-40B4-BE49-F238E27FC236}">
                <a16:creationId xmlns:a16="http://schemas.microsoft.com/office/drawing/2014/main" xmlns="" id="{5D062104-2FDD-4655-7E5B-6684FBD350B0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3743326"/>
            <a:ext cx="800100" cy="657225"/>
            <a:chOff x="1939" y="2515"/>
            <a:chExt cx="504" cy="414"/>
          </a:xfrm>
        </p:grpSpPr>
        <p:sp>
          <p:nvSpPr>
            <p:cNvPr id="61466" name="Oval 4">
              <a:extLst>
                <a:ext uri="{FF2B5EF4-FFF2-40B4-BE49-F238E27FC236}">
                  <a16:creationId xmlns:a16="http://schemas.microsoft.com/office/drawing/2014/main" xmlns="" id="{FCB58749-F414-F329-296C-42765427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2515"/>
              <a:ext cx="420" cy="41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1467" name="Text Box 5">
              <a:extLst>
                <a:ext uri="{FF2B5EF4-FFF2-40B4-BE49-F238E27FC236}">
                  <a16:creationId xmlns:a16="http://schemas.microsoft.com/office/drawing/2014/main" xmlns="" id="{445A6A05-2D21-14D1-4946-C0D25BF344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9" y="2611"/>
              <a:ext cx="50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>
                  <a:latin typeface="Arial" panose="020B0604020202020204" pitchFamily="34" charset="0"/>
                </a:rPr>
                <a:t>Wait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61446" name="Line 6">
            <a:extLst>
              <a:ext uri="{FF2B5EF4-FFF2-40B4-BE49-F238E27FC236}">
                <a16:creationId xmlns:a16="http://schemas.microsoft.com/office/drawing/2014/main" xmlns="" id="{AD6F084E-3D3B-1C4A-B137-BC017ED383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826" y="2830514"/>
            <a:ext cx="1624013" cy="1069975"/>
          </a:xfrm>
          <a:prstGeom prst="line">
            <a:avLst/>
          </a:prstGeom>
          <a:noFill/>
          <a:ln w="28575">
            <a:solidFill>
              <a:srgbClr val="0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xmlns="" id="{17C25CB3-C332-57B4-FA67-6B01D9734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9" y="3810001"/>
            <a:ext cx="2776537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start_timer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udt_send(sndpkt[base])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udt_send(sndpkt[base+1])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…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udt_send(sndpkt[nextseqnum-1])</a:t>
            </a:r>
          </a:p>
          <a:p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xmlns="" id="{B31309A6-A398-2292-A5EA-EC0013AE1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7614" y="3575050"/>
            <a:ext cx="110013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timeout</a:t>
            </a:r>
            <a:endParaRPr lang="en-US" altLang="en-US" sz="1400">
              <a:latin typeface="Times New Roman" panose="02020603050405020304" pitchFamily="18" charset="0"/>
            </a:endParaRPr>
          </a:p>
          <a:p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1449" name="Line 9">
            <a:extLst>
              <a:ext uri="{FF2B5EF4-FFF2-40B4-BE49-F238E27FC236}">
                <a16:creationId xmlns:a16="http://schemas.microsoft.com/office/drawing/2014/main" xmlns="" id="{204066B0-18D5-E0C3-E44D-EEC5179F0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0" y="3851275"/>
            <a:ext cx="16192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0" name="Freeform 10">
            <a:extLst>
              <a:ext uri="{FF2B5EF4-FFF2-40B4-BE49-F238E27FC236}">
                <a16:creationId xmlns:a16="http://schemas.microsoft.com/office/drawing/2014/main" xmlns="" id="{263C3E0F-218C-5572-E59C-BFF91F29F243}"/>
              </a:ext>
            </a:extLst>
          </p:cNvPr>
          <p:cNvSpPr>
            <a:spLocks/>
          </p:cNvSpPr>
          <p:nvPr/>
        </p:nvSpPr>
        <p:spPr bwMode="auto">
          <a:xfrm>
            <a:off x="5884863" y="3498851"/>
            <a:ext cx="393700" cy="1152525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51" name="Text Box 11">
            <a:extLst>
              <a:ext uri="{FF2B5EF4-FFF2-40B4-BE49-F238E27FC236}">
                <a16:creationId xmlns:a16="http://schemas.microsoft.com/office/drawing/2014/main" xmlns="" id="{29670A6A-6661-CD5D-E536-30D6282EB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1" y="1069976"/>
            <a:ext cx="23336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rdt_send(data)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1452" name="Line 12">
            <a:extLst>
              <a:ext uri="{FF2B5EF4-FFF2-40B4-BE49-F238E27FC236}">
                <a16:creationId xmlns:a16="http://schemas.microsoft.com/office/drawing/2014/main" xmlns="" id="{D350CDDF-F8C3-F831-6637-81599A6964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1" y="1389063"/>
            <a:ext cx="19145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3" name="Text Box 13">
            <a:extLst>
              <a:ext uri="{FF2B5EF4-FFF2-40B4-BE49-F238E27FC236}">
                <a16:creationId xmlns:a16="http://schemas.microsoft.com/office/drawing/2014/main" xmlns="" id="{40A408B0-0CB6-B913-36CD-8FC301BB7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8051" y="1411288"/>
            <a:ext cx="5521325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if (nextseqnum &lt; base+N) {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sndpkt[nextseqnum] = make_pkt(nextseqnum,data,chksum)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udt_send(sndpkt[nextseqnum])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if (base == nextseqnum)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   start_timer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nextseqnum++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}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else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refuse_data(data)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1454" name="Freeform 14">
            <a:extLst>
              <a:ext uri="{FF2B5EF4-FFF2-40B4-BE49-F238E27FC236}">
                <a16:creationId xmlns:a16="http://schemas.microsoft.com/office/drawing/2014/main" xmlns="" id="{DDA93C90-D3B5-7FA4-05C8-176122A01A6C}"/>
              </a:ext>
            </a:extLst>
          </p:cNvPr>
          <p:cNvSpPr>
            <a:spLocks/>
          </p:cNvSpPr>
          <p:nvPr/>
        </p:nvSpPr>
        <p:spPr bwMode="auto">
          <a:xfrm rot="5142103" flipH="1">
            <a:off x="5311776" y="2933701"/>
            <a:ext cx="393700" cy="1152525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Text Box 15">
            <a:extLst>
              <a:ext uri="{FF2B5EF4-FFF2-40B4-BE49-F238E27FC236}">
                <a16:creationId xmlns:a16="http://schemas.microsoft.com/office/drawing/2014/main" xmlns="" id="{5D0BD5BA-B261-C320-964D-63D92B7B7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7276" y="5478464"/>
            <a:ext cx="36861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base = getacknum(rcvpkt)+1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If (base == nextseqnum)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stop_timer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else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 restart_timer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1456" name="Text Box 16">
            <a:extLst>
              <a:ext uri="{FF2B5EF4-FFF2-40B4-BE49-F238E27FC236}">
                <a16:creationId xmlns:a16="http://schemas.microsoft.com/office/drawing/2014/main" xmlns="" id="{2239A704-B8BD-E2C1-A10B-383032CC1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9975" y="4978401"/>
            <a:ext cx="283368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&amp;&amp;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notcorrupt(rcvpkt) </a:t>
            </a:r>
          </a:p>
          <a:p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1457" name="Line 17">
            <a:extLst>
              <a:ext uri="{FF2B5EF4-FFF2-40B4-BE49-F238E27FC236}">
                <a16:creationId xmlns:a16="http://schemas.microsoft.com/office/drawing/2014/main" xmlns="" id="{D290E6FB-E47F-D212-7D1E-078A32A1CA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5502275"/>
            <a:ext cx="1619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58" name="Freeform 18">
            <a:extLst>
              <a:ext uri="{FF2B5EF4-FFF2-40B4-BE49-F238E27FC236}">
                <a16:creationId xmlns:a16="http://schemas.microsoft.com/office/drawing/2014/main" xmlns="" id="{DEE02507-9698-E0BF-D504-2B00DAC4F4E7}"/>
              </a:ext>
            </a:extLst>
          </p:cNvPr>
          <p:cNvSpPr>
            <a:spLocks/>
          </p:cNvSpPr>
          <p:nvPr/>
        </p:nvSpPr>
        <p:spPr bwMode="auto">
          <a:xfrm>
            <a:off x="5029200" y="4446589"/>
            <a:ext cx="1054100" cy="674687"/>
          </a:xfrm>
          <a:custGeom>
            <a:avLst/>
            <a:gdLst>
              <a:gd name="T0" fmla="*/ 2147483647 w 664"/>
              <a:gd name="T1" fmla="*/ 2147483647 h 425"/>
              <a:gd name="T2" fmla="*/ 2147483647 w 664"/>
              <a:gd name="T3" fmla="*/ 0 h 425"/>
              <a:gd name="T4" fmla="*/ 0 60000 65536"/>
              <a:gd name="T5" fmla="*/ 0 60000 65536"/>
              <a:gd name="T6" fmla="*/ 0 w 664"/>
              <a:gd name="T7" fmla="*/ 0 h 425"/>
              <a:gd name="T8" fmla="*/ 664 w 664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4" h="425">
                <a:moveTo>
                  <a:pt x="241" y="20"/>
                </a:moveTo>
                <a:cubicBezTo>
                  <a:pt x="0" y="393"/>
                  <a:pt x="664" y="425"/>
                  <a:pt x="388" y="0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59" name="Line 19">
            <a:extLst>
              <a:ext uri="{FF2B5EF4-FFF2-40B4-BE49-F238E27FC236}">
                <a16:creationId xmlns:a16="http://schemas.microsoft.com/office/drawing/2014/main" xmlns="" id="{4C1AE44D-38C1-FADD-8CC4-B98CE9D66F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9" y="3257550"/>
            <a:ext cx="8032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60" name="Text Box 20">
            <a:extLst>
              <a:ext uri="{FF2B5EF4-FFF2-40B4-BE49-F238E27FC236}">
                <a16:creationId xmlns:a16="http://schemas.microsoft.com/office/drawing/2014/main" xmlns="" id="{86118AD7-4433-6E6D-B226-360CAA0DE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1488" y="3227388"/>
            <a:ext cx="14859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base=1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nextseqnum=1</a:t>
            </a:r>
            <a:endParaRPr lang="en-US" altLang="en-US" sz="1400">
              <a:latin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1461" name="Text Box 21">
            <a:extLst>
              <a:ext uri="{FF2B5EF4-FFF2-40B4-BE49-F238E27FC236}">
                <a16:creationId xmlns:a16="http://schemas.microsoft.com/office/drawing/2014/main" xmlns="" id="{33F5D936-3459-9B89-7DCC-1E8A5258F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4951" y="4289426"/>
            <a:ext cx="20478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 &amp;&amp; corrupt(rcvpkt)</a:t>
            </a:r>
            <a:r>
              <a:rPr lang="en-US" altLang="en-US" sz="1000">
                <a:latin typeface="Arial" panose="020B0604020202020204" pitchFamily="34" charset="0"/>
              </a:rPr>
              <a:t> </a:t>
            </a: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1462" name="Line 22">
            <a:extLst>
              <a:ext uri="{FF2B5EF4-FFF2-40B4-BE49-F238E27FC236}">
                <a16:creationId xmlns:a16="http://schemas.microsoft.com/office/drawing/2014/main" xmlns="" id="{086E24F6-38D9-7568-C5BF-51F6744BD0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7026" y="4787900"/>
            <a:ext cx="1520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63" name="Freeform 23">
            <a:extLst>
              <a:ext uri="{FF2B5EF4-FFF2-40B4-BE49-F238E27FC236}">
                <a16:creationId xmlns:a16="http://schemas.microsoft.com/office/drawing/2014/main" xmlns="" id="{30D938D8-9077-2653-43A0-97C8F425CDC2}"/>
              </a:ext>
            </a:extLst>
          </p:cNvPr>
          <p:cNvSpPr>
            <a:spLocks/>
          </p:cNvSpPr>
          <p:nvPr/>
        </p:nvSpPr>
        <p:spPr bwMode="auto">
          <a:xfrm>
            <a:off x="4422776" y="4221164"/>
            <a:ext cx="695325" cy="638175"/>
          </a:xfrm>
          <a:custGeom>
            <a:avLst/>
            <a:gdLst>
              <a:gd name="T0" fmla="*/ 2147483647 w 1095"/>
              <a:gd name="T1" fmla="*/ 0 h 1005"/>
              <a:gd name="T2" fmla="*/ 2147483647 w 1095"/>
              <a:gd name="T3" fmla="*/ 2147483647 h 1005"/>
              <a:gd name="T4" fmla="*/ 0 60000 65536"/>
              <a:gd name="T5" fmla="*/ 0 60000 65536"/>
              <a:gd name="T6" fmla="*/ 0 w 1095"/>
              <a:gd name="T7" fmla="*/ 0 h 1005"/>
              <a:gd name="T8" fmla="*/ 1095 w 1095"/>
              <a:gd name="T9" fmla="*/ 1005 h 100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095" h="1005">
                <a:moveTo>
                  <a:pt x="1005" y="0"/>
                </a:moveTo>
                <a:cubicBezTo>
                  <a:pt x="0" y="30"/>
                  <a:pt x="645" y="1005"/>
                  <a:pt x="1095" y="165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64" name="Text Box 24">
            <a:extLst>
              <a:ext uri="{FF2B5EF4-FFF2-40B4-BE49-F238E27FC236}">
                <a16:creationId xmlns:a16="http://schemas.microsoft.com/office/drawing/2014/main" xmlns="" id="{D5E6A811-A98F-C423-4DD7-E9D5A4B9F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4350" y="292735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  <p:sp>
        <p:nvSpPr>
          <p:cNvPr id="61465" name="Text Box 55">
            <a:extLst>
              <a:ext uri="{FF2B5EF4-FFF2-40B4-BE49-F238E27FC236}">
                <a16:creationId xmlns:a16="http://schemas.microsoft.com/office/drawing/2014/main" xmlns="" id="{AFBB63F3-1ABB-CF55-4164-FF8425BE2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6150" y="487680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Footer Placeholder 5">
            <a:extLst>
              <a:ext uri="{FF2B5EF4-FFF2-40B4-BE49-F238E27FC236}">
                <a16:creationId xmlns:a16="http://schemas.microsoft.com/office/drawing/2014/main" xmlns="" id="{B500D452-1639-6C26-8ECA-94104C2F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2467" name="Slide Number Placeholder 6">
            <a:extLst>
              <a:ext uri="{FF2B5EF4-FFF2-40B4-BE49-F238E27FC236}">
                <a16:creationId xmlns:a16="http://schemas.microsoft.com/office/drawing/2014/main" xmlns="" id="{744D6858-87D0-1D94-31A4-2C49699AA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CC2AD5E1-7DEC-45FC-A25C-D224F126840C}" type="slidenum">
              <a:rPr lang="en-US" altLang="en-US" sz="1400">
                <a:latin typeface="Arial" panose="020B0604020202020204" pitchFamily="34" charset="0"/>
              </a:rPr>
              <a:pPr/>
              <a:t>68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2468" name="Rectangle 2">
            <a:extLst>
              <a:ext uri="{FF2B5EF4-FFF2-40B4-BE49-F238E27FC236}">
                <a16:creationId xmlns:a16="http://schemas.microsoft.com/office/drawing/2014/main" xmlns="" id="{58B865F2-9EA3-CD15-2F8B-F2DA8BDC4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GBN: receiver extended FSM</a:t>
            </a:r>
            <a:endParaRPr lang="en-US" altLang="en-US"/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xmlns="" id="{D99C9CB0-57EC-F7E2-D051-430C57DA31C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325689" y="3641726"/>
            <a:ext cx="8148637" cy="2854325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/>
              <a:t>ACK-only: always send ACK for correctly-received pkt with highest </a:t>
            </a:r>
            <a:r>
              <a:rPr lang="en-US" altLang="en-US" sz="2400" i="1">
                <a:solidFill>
                  <a:schemeClr val="accent2"/>
                </a:solidFill>
              </a:rPr>
              <a:t>in-order</a:t>
            </a:r>
            <a:r>
              <a:rPr lang="en-US" altLang="en-US" sz="2400"/>
              <a:t> seq #</a:t>
            </a:r>
          </a:p>
          <a:p>
            <a:pPr lvl="1"/>
            <a:r>
              <a:rPr lang="en-US" altLang="en-US" sz="2000"/>
              <a:t>may generate duplicate ACKs</a:t>
            </a:r>
          </a:p>
          <a:p>
            <a:pPr lvl="1"/>
            <a:r>
              <a:rPr lang="en-US" altLang="en-US" sz="2000"/>
              <a:t>need only remember </a:t>
            </a:r>
            <a:r>
              <a:rPr lang="en-US" altLang="en-US" sz="2000" b="1">
                <a:latin typeface="Courier New" panose="02070309020205020404" pitchFamily="49" charset="0"/>
              </a:rPr>
              <a:t>expectedseqnum</a:t>
            </a:r>
          </a:p>
          <a:p>
            <a:r>
              <a:rPr lang="en-US" altLang="en-US" sz="2400"/>
              <a:t>out-of-order pkt: </a:t>
            </a:r>
          </a:p>
          <a:p>
            <a:pPr lvl="1"/>
            <a:r>
              <a:rPr lang="en-US" altLang="en-US" sz="2000"/>
              <a:t>discard (don’t buffer) -&gt; </a:t>
            </a:r>
            <a:r>
              <a:rPr lang="en-US" altLang="en-US" sz="2000">
                <a:solidFill>
                  <a:srgbClr val="FF0000"/>
                </a:solidFill>
              </a:rPr>
              <a:t>no receiver buffering</a:t>
            </a:r>
            <a:r>
              <a:rPr lang="en-US" altLang="en-US" sz="2000"/>
              <a:t>!</a:t>
            </a:r>
          </a:p>
          <a:p>
            <a:pPr lvl="2"/>
            <a:r>
              <a:rPr lang="en-US" altLang="en-US" sz="1600"/>
              <a:t>Is it bad?</a:t>
            </a:r>
          </a:p>
          <a:p>
            <a:pPr lvl="1"/>
            <a:r>
              <a:rPr lang="en-US" altLang="en-US" sz="2000"/>
              <a:t>Re-ACK pkt with highest in-order seq #</a:t>
            </a:r>
          </a:p>
        </p:txBody>
      </p:sp>
      <p:sp>
        <p:nvSpPr>
          <p:cNvPr id="62470" name="Oval 4">
            <a:extLst>
              <a:ext uri="{FF2B5EF4-FFF2-40B4-BE49-F238E27FC236}">
                <a16:creationId xmlns:a16="http://schemas.microsoft.com/office/drawing/2014/main" xmlns="" id="{AB560794-8841-EDDB-D5DF-6473DE00E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5" y="2041526"/>
            <a:ext cx="666750" cy="6572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Text Box 5">
            <a:extLst>
              <a:ext uri="{FF2B5EF4-FFF2-40B4-BE49-F238E27FC236}">
                <a16:creationId xmlns:a16="http://schemas.microsoft.com/office/drawing/2014/main" xmlns="" id="{BF392B65-62D8-649A-F16A-2EE1472C3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2638" y="2209801"/>
            <a:ext cx="8001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</a:rPr>
              <a:t>Wait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2472" name="Line 6">
            <a:extLst>
              <a:ext uri="{FF2B5EF4-FFF2-40B4-BE49-F238E27FC236}">
                <a16:creationId xmlns:a16="http://schemas.microsoft.com/office/drawing/2014/main" xmlns="" id="{8A08AF51-E7BD-E4FD-A42B-C2775909D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8550" y="1881188"/>
            <a:ext cx="2298700" cy="474662"/>
          </a:xfrm>
          <a:prstGeom prst="line">
            <a:avLst/>
          </a:prstGeom>
          <a:noFill/>
          <a:ln w="2857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73" name="Text Box 7">
            <a:extLst>
              <a:ext uri="{FF2B5EF4-FFF2-40B4-BE49-F238E27FC236}">
                <a16:creationId xmlns:a16="http://schemas.microsoft.com/office/drawing/2014/main" xmlns="" id="{0562229E-723F-3D3C-00BA-1924C7703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1463" y="1468439"/>
            <a:ext cx="161766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2474" name="Text Box 8">
            <a:extLst>
              <a:ext uri="{FF2B5EF4-FFF2-40B4-BE49-F238E27FC236}">
                <a16:creationId xmlns:a16="http://schemas.microsoft.com/office/drawing/2014/main" xmlns="" id="{EA44A7C4-D073-5AC8-98DB-BC5D8D789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1150" y="1192213"/>
            <a:ext cx="725488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default</a:t>
            </a:r>
            <a:endParaRPr lang="en-US" altLang="en-US" sz="1400">
              <a:latin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75" name="Line 9">
            <a:extLst>
              <a:ext uri="{FF2B5EF4-FFF2-40B4-BE49-F238E27FC236}">
                <a16:creationId xmlns:a16="http://schemas.microsoft.com/office/drawing/2014/main" xmlns="" id="{6E7C58AC-55FB-5CFD-891C-787A16065F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02114" y="1489075"/>
            <a:ext cx="8159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76" name="Freeform 10">
            <a:extLst>
              <a:ext uri="{FF2B5EF4-FFF2-40B4-BE49-F238E27FC236}">
                <a16:creationId xmlns:a16="http://schemas.microsoft.com/office/drawing/2014/main" xmlns="" id="{471BE41F-240C-3AC9-E9A1-A8BBF83A120B}"/>
              </a:ext>
            </a:extLst>
          </p:cNvPr>
          <p:cNvSpPr>
            <a:spLocks/>
          </p:cNvSpPr>
          <p:nvPr/>
        </p:nvSpPr>
        <p:spPr bwMode="auto">
          <a:xfrm>
            <a:off x="5356226" y="1784351"/>
            <a:ext cx="828675" cy="1152525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Text Box 11">
            <a:extLst>
              <a:ext uri="{FF2B5EF4-FFF2-40B4-BE49-F238E27FC236}">
                <a16:creationId xmlns:a16="http://schemas.microsoft.com/office/drawing/2014/main" xmlns="" id="{34E90D47-6C87-954B-978E-7E7576BFE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939" y="1554163"/>
            <a:ext cx="3570287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rdt_rcv(rcvpkt)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&amp;&amp; notcurrupt(rcvpkt)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&amp;&amp; hasseqnum(rcvpkt,expectedseqnum) 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2478" name="Line 12">
            <a:extLst>
              <a:ext uri="{FF2B5EF4-FFF2-40B4-BE49-F238E27FC236}">
                <a16:creationId xmlns:a16="http://schemas.microsoft.com/office/drawing/2014/main" xmlns="" id="{10A3C668-F996-0E6D-A962-348FC49F0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9788" y="2246314"/>
            <a:ext cx="3175000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79" name="Text Box 13">
            <a:extLst>
              <a:ext uri="{FF2B5EF4-FFF2-40B4-BE49-F238E27FC236}">
                <a16:creationId xmlns:a16="http://schemas.microsoft.com/office/drawing/2014/main" xmlns="" id="{3C1A2138-BF76-FA2E-E3AC-845CBE40B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4701" y="2289175"/>
            <a:ext cx="4314825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extract(rcvpkt,data)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deliver_data(data)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make_pkt(expectedseqnum,ACK,chksum)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udt_send(sndpkt)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expectedseqnum++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2480" name="Freeform 14">
            <a:extLst>
              <a:ext uri="{FF2B5EF4-FFF2-40B4-BE49-F238E27FC236}">
                <a16:creationId xmlns:a16="http://schemas.microsoft.com/office/drawing/2014/main" xmlns="" id="{7589545C-A845-5E78-A11A-6419D30E8E6F}"/>
              </a:ext>
            </a:extLst>
          </p:cNvPr>
          <p:cNvSpPr>
            <a:spLocks/>
          </p:cNvSpPr>
          <p:nvPr/>
        </p:nvSpPr>
        <p:spPr bwMode="auto">
          <a:xfrm rot="5142103" flipH="1">
            <a:off x="4829176" y="1260476"/>
            <a:ext cx="393700" cy="1152525"/>
          </a:xfrm>
          <a:custGeom>
            <a:avLst/>
            <a:gdLst>
              <a:gd name="T0" fmla="*/ 2147483647 w 619"/>
              <a:gd name="T1" fmla="*/ 2147483647 h 1815"/>
              <a:gd name="T2" fmla="*/ 0 w 619"/>
              <a:gd name="T3" fmla="*/ 2147483647 h 1815"/>
              <a:gd name="T4" fmla="*/ 0 60000 65536"/>
              <a:gd name="T5" fmla="*/ 0 60000 65536"/>
              <a:gd name="T6" fmla="*/ 0 w 619"/>
              <a:gd name="T7" fmla="*/ 0 h 1815"/>
              <a:gd name="T8" fmla="*/ 619 w 619"/>
              <a:gd name="T9" fmla="*/ 1815 h 18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9" h="1815">
                <a:moveTo>
                  <a:pt x="39" y="1136"/>
                </a:moveTo>
                <a:cubicBezTo>
                  <a:pt x="619" y="1815"/>
                  <a:pt x="484" y="0"/>
                  <a:pt x="0" y="773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2481" name="Line 15">
            <a:extLst>
              <a:ext uri="{FF2B5EF4-FFF2-40B4-BE49-F238E27FC236}">
                <a16:creationId xmlns:a16="http://schemas.microsoft.com/office/drawing/2014/main" xmlns="" id="{AE4D170A-B125-372C-11AC-1F9CB9C99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8225" y="2293938"/>
            <a:ext cx="12382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2482" name="Text Box 16">
            <a:extLst>
              <a:ext uri="{FF2B5EF4-FFF2-40B4-BE49-F238E27FC236}">
                <a16:creationId xmlns:a16="http://schemas.microsoft.com/office/drawing/2014/main" xmlns="" id="{212FC030-8645-337C-BB59-EBDF39B54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739" y="2314576"/>
            <a:ext cx="36417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/>
            <a:r>
              <a:rPr lang="en-US" altLang="en-US" sz="1400">
                <a:latin typeface="Arial" panose="020B0604020202020204" pitchFamily="34" charset="0"/>
              </a:rPr>
              <a:t>expectedseqnum=1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sndpkt =    </a:t>
            </a:r>
          </a:p>
          <a:p>
            <a:pPr algn="l"/>
            <a:r>
              <a:rPr lang="en-US" altLang="en-US" sz="1400">
                <a:latin typeface="Arial" panose="020B0604020202020204" pitchFamily="34" charset="0"/>
              </a:rPr>
              <a:t>  make_pkt(expectedseqnum,ACK,chksum)</a:t>
            </a:r>
          </a:p>
          <a:p>
            <a:pPr algn="l"/>
            <a:endParaRPr lang="en-US" altLang="en-US" sz="1400">
              <a:latin typeface="Times New Roman" panose="02020603050405020304" pitchFamily="18" charset="0"/>
            </a:endParaRPr>
          </a:p>
          <a:p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62483" name="Text Box 17">
            <a:extLst>
              <a:ext uri="{FF2B5EF4-FFF2-40B4-BE49-F238E27FC236}">
                <a16:creationId xmlns:a16="http://schemas.microsoft.com/office/drawing/2014/main" xmlns="" id="{280A4699-A45B-F6FE-276C-A0A928C5B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0" y="1990725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Symbol" panose="05050102010706020507" pitchFamily="18" charset="2"/>
              </a:rPr>
              <a:t>L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Footer Placeholder 3">
            <a:extLst>
              <a:ext uri="{FF2B5EF4-FFF2-40B4-BE49-F238E27FC236}">
                <a16:creationId xmlns:a16="http://schemas.microsoft.com/office/drawing/2014/main" xmlns="" id="{7FFE8832-4CD6-4DB9-1161-E54D1610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3491" name="Slide Number Placeholder 4">
            <a:extLst>
              <a:ext uri="{FF2B5EF4-FFF2-40B4-BE49-F238E27FC236}">
                <a16:creationId xmlns:a16="http://schemas.microsoft.com/office/drawing/2014/main" xmlns="" id="{A734DD33-E97C-422F-9D7B-8C2DDE318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5D1D161E-B78B-4506-A7D4-071365FF3ED1}" type="slidenum">
              <a:rPr lang="en-US" altLang="en-US" sz="1400">
                <a:latin typeface="Arial" panose="020B0604020202020204" pitchFamily="34" charset="0"/>
              </a:rPr>
              <a:pPr/>
              <a:t>69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xmlns="" id="{D40FEAA6-1B74-0524-D4FE-755C6F55D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6925" y="438150"/>
            <a:ext cx="7772400" cy="1143000"/>
          </a:xfrm>
        </p:spPr>
        <p:txBody>
          <a:bodyPr/>
          <a:lstStyle/>
          <a:p>
            <a:r>
              <a:rPr lang="en-US" altLang="en-US" sz="3600"/>
              <a:t>GBN in</a:t>
            </a:r>
            <a:br>
              <a:rPr lang="en-US" altLang="en-US" sz="3600"/>
            </a:br>
            <a:r>
              <a:rPr lang="en-US" altLang="en-US" sz="3600"/>
              <a:t>action</a:t>
            </a:r>
            <a:endParaRPr lang="en-US" altLang="en-US"/>
          </a:p>
        </p:txBody>
      </p:sp>
      <p:pic>
        <p:nvPicPr>
          <p:cNvPr id="308227" name="Picture 3" descr="gbn_example">
            <a:extLst>
              <a:ext uri="{FF2B5EF4-FFF2-40B4-BE49-F238E27FC236}">
                <a16:creationId xmlns:a16="http://schemas.microsoft.com/office/drawing/2014/main" xmlns="" id="{81C27BC9-8E2D-1EA3-CEF8-9EE441FF9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314" y="482600"/>
            <a:ext cx="5972175" cy="574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30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5">
            <a:extLst>
              <a:ext uri="{FF2B5EF4-FFF2-40B4-BE49-F238E27FC236}">
                <a16:creationId xmlns:a16="http://schemas.microsoft.com/office/drawing/2014/main" xmlns="" id="{01436655-8752-E9D2-F235-F6AE7F2F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4515" name="Slide Number Placeholder 6">
            <a:extLst>
              <a:ext uri="{FF2B5EF4-FFF2-40B4-BE49-F238E27FC236}">
                <a16:creationId xmlns:a16="http://schemas.microsoft.com/office/drawing/2014/main" xmlns="" id="{EF93B72C-817C-231D-9DA5-96DD52BCB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D1BCFB8F-5054-47AF-8FF5-6C7534059F16}" type="slidenum">
              <a:rPr lang="en-US" altLang="en-US" sz="1400">
                <a:latin typeface="Arial" panose="020B0604020202020204" pitchFamily="34" charset="0"/>
              </a:rPr>
              <a:pPr/>
              <a:t>70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4516" name="Rectangle 2">
            <a:extLst>
              <a:ext uri="{FF2B5EF4-FFF2-40B4-BE49-F238E27FC236}">
                <a16:creationId xmlns:a16="http://schemas.microsoft.com/office/drawing/2014/main" xmlns="" id="{B214992D-C2F4-66C1-E675-F65E62978C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Selective Repeat</a:t>
            </a:r>
            <a:endParaRPr lang="en-US" altLang="en-US"/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xmlns="" id="{BF03A5F9-C64B-D26D-8EF7-730AC67AEF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76450" y="1466850"/>
            <a:ext cx="7562850" cy="4648200"/>
          </a:xfrm>
        </p:spPr>
        <p:txBody>
          <a:bodyPr/>
          <a:lstStyle/>
          <a:p>
            <a:r>
              <a:rPr lang="en-US" altLang="en-US" sz="2400"/>
              <a:t>receiver </a:t>
            </a:r>
            <a:r>
              <a:rPr lang="en-US" altLang="en-US" sz="2400" i="1"/>
              <a:t>individually</a:t>
            </a:r>
            <a:r>
              <a:rPr lang="en-US" altLang="en-US" sz="2400"/>
              <a:t> acknowledges all correctly received pkts</a:t>
            </a:r>
          </a:p>
          <a:p>
            <a:pPr lvl="1"/>
            <a:r>
              <a:rPr lang="en-US" altLang="en-US" sz="2000"/>
              <a:t>buffers pkts, as needed, for eventual in-order delivery to upper layer</a:t>
            </a:r>
          </a:p>
          <a:p>
            <a:r>
              <a:rPr lang="en-US" altLang="en-US" sz="2400"/>
              <a:t>sender only resends pkts for which ACK not received</a:t>
            </a:r>
          </a:p>
          <a:p>
            <a:pPr lvl="1"/>
            <a:r>
              <a:rPr lang="en-US" altLang="en-US" sz="2000"/>
              <a:t>sender timer for each unACKed pkt</a:t>
            </a:r>
          </a:p>
          <a:p>
            <a:r>
              <a:rPr lang="en-US" altLang="en-US" sz="2400"/>
              <a:t>sender window</a:t>
            </a:r>
          </a:p>
          <a:p>
            <a:pPr lvl="1"/>
            <a:r>
              <a:rPr lang="en-US" altLang="en-US" sz="2000"/>
              <a:t>N consecutive seq #’s</a:t>
            </a:r>
          </a:p>
          <a:p>
            <a:pPr lvl="1"/>
            <a:r>
              <a:rPr lang="en-US" altLang="en-US" sz="2000"/>
              <a:t>again limits seq #s of sent, unACKed pkts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xmlns="" id="{0AEA0CA8-6FDF-CE66-300F-BD3BF1344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5539" name="Slide Number Placeholder 4">
            <a:extLst>
              <a:ext uri="{FF2B5EF4-FFF2-40B4-BE49-F238E27FC236}">
                <a16:creationId xmlns:a16="http://schemas.microsoft.com/office/drawing/2014/main" xmlns="" id="{09F96A71-D089-BDEF-8EE4-D6BBD63D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D686BED4-89AF-4759-83B5-3E455115A259}" type="slidenum">
              <a:rPr lang="en-US" altLang="en-US" sz="1400">
                <a:latin typeface="Arial" panose="020B0604020202020204" pitchFamily="34" charset="0"/>
              </a:rPr>
              <a:pPr/>
              <a:t>71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5540" name="Rectangle 2">
            <a:extLst>
              <a:ext uri="{FF2B5EF4-FFF2-40B4-BE49-F238E27FC236}">
                <a16:creationId xmlns:a16="http://schemas.microsoft.com/office/drawing/2014/main" xmlns="" id="{6A8A1F92-22D2-AEEB-8826-9FC54B4C8A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9751" y="304800"/>
            <a:ext cx="8486775" cy="1143000"/>
          </a:xfrm>
        </p:spPr>
        <p:txBody>
          <a:bodyPr/>
          <a:lstStyle/>
          <a:p>
            <a:r>
              <a:rPr lang="en-US" altLang="en-US" sz="3200"/>
              <a:t>Selective repeat: sender, receiver windows</a:t>
            </a:r>
            <a:endParaRPr lang="en-US" altLang="en-US"/>
          </a:p>
        </p:txBody>
      </p:sp>
      <p:pic>
        <p:nvPicPr>
          <p:cNvPr id="65541" name="Picture 3" descr="sr_seqnum">
            <a:extLst>
              <a:ext uri="{FF2B5EF4-FFF2-40B4-BE49-F238E27FC236}">
                <a16:creationId xmlns:a16="http://schemas.microsoft.com/office/drawing/2014/main" xmlns="" id="{78DC9C88-2630-0344-E41C-E6E044E03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1404939"/>
            <a:ext cx="8235950" cy="491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5">
            <a:extLst>
              <a:ext uri="{FF2B5EF4-FFF2-40B4-BE49-F238E27FC236}">
                <a16:creationId xmlns:a16="http://schemas.microsoft.com/office/drawing/2014/main" xmlns="" id="{C632F1F8-9C48-C476-5661-B1DA4250E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6563" name="Slide Number Placeholder 6">
            <a:extLst>
              <a:ext uri="{FF2B5EF4-FFF2-40B4-BE49-F238E27FC236}">
                <a16:creationId xmlns:a16="http://schemas.microsoft.com/office/drawing/2014/main" xmlns="" id="{148BD2D2-68EA-4317-DE4F-AE482ABA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53517095-8DB0-4F86-B14F-A716B0FEA142}" type="slidenum">
              <a:rPr lang="en-US" altLang="en-US" sz="1400">
                <a:latin typeface="Arial" panose="020B0604020202020204" pitchFamily="34" charset="0"/>
              </a:rPr>
              <a:pPr/>
              <a:t>72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6564" name="Rectangle 2">
            <a:extLst>
              <a:ext uri="{FF2B5EF4-FFF2-40B4-BE49-F238E27FC236}">
                <a16:creationId xmlns:a16="http://schemas.microsoft.com/office/drawing/2014/main" xmlns="" id="{871A2EAE-5A0F-9FD1-3C84-E930C15E0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71675" y="247650"/>
            <a:ext cx="7772400" cy="838200"/>
          </a:xfrm>
        </p:spPr>
        <p:txBody>
          <a:bodyPr/>
          <a:lstStyle/>
          <a:p>
            <a:r>
              <a:rPr lang="en-US" altLang="en-US"/>
              <a:t>Selective repeat</a:t>
            </a:r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xmlns="" id="{39FA1A2E-C0E8-0A08-133C-0D44B21662F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data from above :</a:t>
            </a:r>
            <a:endParaRPr lang="en-US" altLang="en-US" sz="2400"/>
          </a:p>
          <a:p>
            <a:r>
              <a:rPr lang="en-US" altLang="en-US" sz="2000"/>
              <a:t>if next available seq # in window, send pkt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timeout(n):</a:t>
            </a:r>
            <a:endParaRPr lang="en-US" altLang="en-US" sz="2400"/>
          </a:p>
          <a:p>
            <a:r>
              <a:rPr lang="en-US" altLang="en-US" sz="2000"/>
              <a:t>resend pkt n, restart timer</a:t>
            </a:r>
          </a:p>
          <a:p>
            <a:pPr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ACK(n) </a:t>
            </a:r>
            <a:r>
              <a:rPr lang="en-US" altLang="en-US" sz="2000"/>
              <a:t>in </a:t>
            </a:r>
            <a:r>
              <a:rPr lang="en-US" altLang="en-US" sz="1600"/>
              <a:t>[sendbase,sendbase+N]:</a:t>
            </a:r>
            <a:endParaRPr lang="en-US" altLang="en-US" sz="2000"/>
          </a:p>
          <a:p>
            <a:r>
              <a:rPr lang="en-US" altLang="en-US" sz="2000"/>
              <a:t>mark pkt n as received</a:t>
            </a:r>
          </a:p>
          <a:p>
            <a:r>
              <a:rPr lang="en-US" altLang="en-US" sz="2000"/>
              <a:t>if n smallest unACKed pkt, advance window base to next unACKed seq # </a:t>
            </a:r>
            <a:endParaRPr lang="en-US" altLang="en-US" sz="2400"/>
          </a:p>
          <a:p>
            <a:endParaRPr lang="en-US" altLang="en-US" sz="2400"/>
          </a:p>
        </p:txBody>
      </p:sp>
      <p:sp>
        <p:nvSpPr>
          <p:cNvPr id="66566" name="Rectangle 4">
            <a:extLst>
              <a:ext uri="{FF2B5EF4-FFF2-40B4-BE49-F238E27FC236}">
                <a16:creationId xmlns:a16="http://schemas.microsoft.com/office/drawing/2014/main" xmlns="" id="{47C9CB34-41B2-290A-E594-558180B4E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1" y="1457325"/>
            <a:ext cx="3838575" cy="4610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66567" name="Group 5">
            <a:extLst>
              <a:ext uri="{FF2B5EF4-FFF2-40B4-BE49-F238E27FC236}">
                <a16:creationId xmlns:a16="http://schemas.microsoft.com/office/drawing/2014/main" xmlns="" id="{53C6E9ED-DBC1-E270-593C-C78CEE598C60}"/>
              </a:ext>
            </a:extLst>
          </p:cNvPr>
          <p:cNvGrpSpPr>
            <a:grpSpLocks/>
          </p:cNvGrpSpPr>
          <p:nvPr/>
        </p:nvGrpSpPr>
        <p:grpSpPr bwMode="auto">
          <a:xfrm>
            <a:off x="2227264" y="1208088"/>
            <a:ext cx="1150937" cy="457200"/>
            <a:chOff x="1103" y="3929"/>
            <a:chExt cx="725" cy="288"/>
          </a:xfrm>
        </p:grpSpPr>
        <p:sp>
          <p:nvSpPr>
            <p:cNvPr id="66573" name="Rectangle 6">
              <a:extLst>
                <a:ext uri="{FF2B5EF4-FFF2-40B4-BE49-F238E27FC236}">
                  <a16:creationId xmlns:a16="http://schemas.microsoft.com/office/drawing/2014/main" xmlns="" id="{E905C21D-75EC-558E-41BB-1EE56BD37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3984"/>
              <a:ext cx="61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574" name="Text Box 7">
              <a:extLst>
                <a:ext uri="{FF2B5EF4-FFF2-40B4-BE49-F238E27FC236}">
                  <a16:creationId xmlns:a16="http://schemas.microsoft.com/office/drawing/2014/main" xmlns="" id="{FF290FF9-F784-29B9-6B77-78B50A3A5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3" y="3929"/>
              <a:ext cx="72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400">
                  <a:solidFill>
                    <a:schemeClr val="accent2"/>
                  </a:solidFill>
                </a:rPr>
                <a:t>sender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6568" name="Rectangle 8">
            <a:extLst>
              <a:ext uri="{FF2B5EF4-FFF2-40B4-BE49-F238E27FC236}">
                <a16:creationId xmlns:a16="http://schemas.microsoft.com/office/drawing/2014/main" xmlns="" id="{7017EC20-5D6D-9EDD-C44D-ACE6103D4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25" y="1581150"/>
            <a:ext cx="3810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pkt n in </a:t>
            </a:r>
            <a:r>
              <a:rPr lang="en-US" altLang="en-US">
                <a:solidFill>
                  <a:srgbClr val="FF0000"/>
                </a:solidFill>
              </a:rPr>
              <a:t>[rcvbase, rcvbase+N-1]</a:t>
            </a:r>
            <a:endParaRPr lang="en-US" altLang="en-US" sz="2400"/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send ACK(n)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out-of-order: buffer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in-order: deliver (also deliver buffered, in-order pkts), advance window to next not-yet-received pkt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pkt n in </a:t>
            </a:r>
            <a:r>
              <a:rPr lang="en-US" altLang="en-US">
                <a:solidFill>
                  <a:srgbClr val="FF0000"/>
                </a:solidFill>
              </a:rPr>
              <a:t>[rcvbase-N,rcvbase-1]</a:t>
            </a:r>
            <a:endParaRPr lang="en-US" altLang="en-US" sz="2400"/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ACK(n), why?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2400">
                <a:solidFill>
                  <a:srgbClr val="FF0000"/>
                </a:solidFill>
              </a:rPr>
              <a:t>otherwise:</a:t>
            </a:r>
            <a:r>
              <a:rPr lang="en-US" altLang="en-US" sz="2000">
                <a:solidFill>
                  <a:srgbClr val="FF0000"/>
                </a:solidFill>
              </a:rPr>
              <a:t> </a:t>
            </a:r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en-US" sz="2000"/>
              <a:t>ignore </a:t>
            </a:r>
            <a:endParaRPr lang="en-US" altLang="en-US" sz="2400"/>
          </a:p>
          <a:p>
            <a:pPr algn="l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en-US" altLang="en-US" sz="2400"/>
          </a:p>
        </p:txBody>
      </p:sp>
      <p:sp>
        <p:nvSpPr>
          <p:cNvPr id="66569" name="Rectangle 9">
            <a:extLst>
              <a:ext uri="{FF2B5EF4-FFF2-40B4-BE49-F238E27FC236}">
                <a16:creationId xmlns:a16="http://schemas.microsoft.com/office/drawing/2014/main" xmlns="" id="{13CD1502-06A3-456D-9BFB-C25B0E7FE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526" y="1438275"/>
            <a:ext cx="3838575" cy="4610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66570" name="Group 10">
            <a:extLst>
              <a:ext uri="{FF2B5EF4-FFF2-40B4-BE49-F238E27FC236}">
                <a16:creationId xmlns:a16="http://schemas.microsoft.com/office/drawing/2014/main" xmlns="" id="{AD267573-5B34-7E46-7E95-1F7AB63C27BA}"/>
              </a:ext>
            </a:extLst>
          </p:cNvPr>
          <p:cNvGrpSpPr>
            <a:grpSpLocks/>
          </p:cNvGrpSpPr>
          <p:nvPr/>
        </p:nvGrpSpPr>
        <p:grpSpPr bwMode="auto">
          <a:xfrm>
            <a:off x="6710364" y="1179513"/>
            <a:ext cx="1366837" cy="457200"/>
            <a:chOff x="3339" y="191"/>
            <a:chExt cx="861" cy="288"/>
          </a:xfrm>
        </p:grpSpPr>
        <p:sp>
          <p:nvSpPr>
            <p:cNvPr id="66571" name="Rectangle 11">
              <a:extLst>
                <a:ext uri="{FF2B5EF4-FFF2-40B4-BE49-F238E27FC236}">
                  <a16:creationId xmlns:a16="http://schemas.microsoft.com/office/drawing/2014/main" xmlns="" id="{3DB0A2F6-9C94-7315-4F23-9A9918D53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64"/>
              <a:ext cx="822" cy="1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6572" name="Text Box 12">
              <a:extLst>
                <a:ext uri="{FF2B5EF4-FFF2-40B4-BE49-F238E27FC236}">
                  <a16:creationId xmlns:a16="http://schemas.microsoft.com/office/drawing/2014/main" xmlns="" id="{B8AB2184-2622-16C9-F17F-7CDA5EE02F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" y="191"/>
              <a:ext cx="8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en-US" altLang="en-US" sz="2400">
                  <a:solidFill>
                    <a:schemeClr val="accent2"/>
                  </a:solidFill>
                </a:rPr>
                <a:t>receiver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xmlns="" id="{63C0C97E-02CF-A70D-BE56-D45DFBE12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7587" name="Slide Number Placeholder 4">
            <a:extLst>
              <a:ext uri="{FF2B5EF4-FFF2-40B4-BE49-F238E27FC236}">
                <a16:creationId xmlns:a16="http://schemas.microsoft.com/office/drawing/2014/main" xmlns="" id="{BFC55C9F-9131-35E2-5ADC-5A50D0532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B2826494-8C40-4C0C-BC6B-EBB49FF7CD19}" type="slidenum">
              <a:rPr lang="en-US" altLang="en-US" sz="1400">
                <a:latin typeface="Arial" panose="020B0604020202020204" pitchFamily="34" charset="0"/>
              </a:rPr>
              <a:pPr/>
              <a:t>73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xmlns="" id="{B020A1F8-47B8-EE15-F9FA-C415AC0BF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3725" y="255588"/>
            <a:ext cx="7772400" cy="838200"/>
          </a:xfrm>
        </p:spPr>
        <p:txBody>
          <a:bodyPr/>
          <a:lstStyle/>
          <a:p>
            <a:r>
              <a:rPr lang="en-US" altLang="en-US" sz="3200"/>
              <a:t>Selective repeat in action</a:t>
            </a:r>
          </a:p>
        </p:txBody>
      </p:sp>
      <p:pic>
        <p:nvPicPr>
          <p:cNvPr id="67589" name="Picture 3" descr="03-25">
            <a:extLst>
              <a:ext uri="{FF2B5EF4-FFF2-40B4-BE49-F238E27FC236}">
                <a16:creationId xmlns:a16="http://schemas.microsoft.com/office/drawing/2014/main" xmlns="" id="{C8A2F6C3-9810-CAE5-F7DB-416A15B68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088" y="1028700"/>
            <a:ext cx="6856412" cy="582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Footer Placeholder 5">
            <a:extLst>
              <a:ext uri="{FF2B5EF4-FFF2-40B4-BE49-F238E27FC236}">
                <a16:creationId xmlns:a16="http://schemas.microsoft.com/office/drawing/2014/main" xmlns="" id="{9F5BAFFE-6C07-8774-DD68-14681B5A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8611" name="Slide Number Placeholder 6">
            <a:extLst>
              <a:ext uri="{FF2B5EF4-FFF2-40B4-BE49-F238E27FC236}">
                <a16:creationId xmlns:a16="http://schemas.microsoft.com/office/drawing/2014/main" xmlns="" id="{E14E2D1E-F638-0E71-5B76-77C19500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30E43904-8E58-429B-8BF7-08C433D8DA07}" type="slidenum">
              <a:rPr lang="en-US" altLang="en-US" sz="1400">
                <a:latin typeface="Arial" panose="020B0604020202020204" pitchFamily="34" charset="0"/>
              </a:rPr>
              <a:pPr/>
              <a:t>74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68612" name="Rectangle 2">
            <a:extLst>
              <a:ext uri="{FF2B5EF4-FFF2-40B4-BE49-F238E27FC236}">
                <a16:creationId xmlns:a16="http://schemas.microsoft.com/office/drawing/2014/main" xmlns="" id="{25D4F35F-E872-24FA-B73D-2E7B9C34A4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Selective repeat:</a:t>
            </a:r>
            <a:br>
              <a:rPr lang="en-US" altLang="en-US" sz="3200"/>
            </a:br>
            <a:r>
              <a:rPr lang="en-US" altLang="en-US" sz="3200"/>
              <a:t> dilemma</a:t>
            </a:r>
            <a:endParaRPr lang="en-US" altLang="en-US"/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xmlns="" id="{645F3ABA-0456-6F32-43C6-F519B0E0D9D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066925" y="1524000"/>
            <a:ext cx="3276600" cy="4648200"/>
          </a:xfrm>
        </p:spPr>
        <p:txBody>
          <a:bodyPr/>
          <a:lstStyle/>
          <a:p>
            <a:pPr>
              <a:buFont typeface="ZapfDingbats" pitchFamily="82" charset="2"/>
              <a:buNone/>
            </a:pPr>
            <a:r>
              <a:rPr lang="en-US" altLang="en-US" sz="2400"/>
              <a:t>Example: </a:t>
            </a:r>
          </a:p>
          <a:p>
            <a:r>
              <a:rPr lang="en-US" altLang="en-US" sz="2000"/>
              <a:t>seq #’s: 0, 1, 2, 3</a:t>
            </a:r>
          </a:p>
          <a:p>
            <a:r>
              <a:rPr lang="en-US" altLang="en-US" sz="2000"/>
              <a:t>window size=3</a:t>
            </a:r>
            <a:endParaRPr lang="en-US" altLang="en-US" sz="2400"/>
          </a:p>
          <a:p>
            <a:endParaRPr lang="en-US" altLang="en-US" sz="2400"/>
          </a:p>
          <a:p>
            <a:r>
              <a:rPr lang="en-US" altLang="en-US" sz="2000"/>
              <a:t>receiver sees no difference in two scenarios!</a:t>
            </a:r>
          </a:p>
          <a:p>
            <a:r>
              <a:rPr lang="en-US" altLang="en-US" sz="2000"/>
              <a:t>incorrectly passes duplicate data as new in (a)</a:t>
            </a:r>
          </a:p>
          <a:p>
            <a:endParaRPr lang="en-US" altLang="en-US" sz="2000"/>
          </a:p>
          <a:p>
            <a:pPr>
              <a:buFont typeface="ZapfDingbats" pitchFamily="82" charset="2"/>
              <a:buNone/>
            </a:pPr>
            <a:r>
              <a:rPr lang="en-US" altLang="en-US" sz="2000">
                <a:solidFill>
                  <a:srgbClr val="FF0000"/>
                </a:solidFill>
              </a:rPr>
              <a:t>Q:</a:t>
            </a:r>
            <a:r>
              <a:rPr lang="en-US" altLang="en-US" sz="2000"/>
              <a:t> what relationship between seq # size and window size?</a:t>
            </a:r>
          </a:p>
        </p:txBody>
      </p:sp>
      <p:pic>
        <p:nvPicPr>
          <p:cNvPr id="68614" name="Picture 4" descr="sr_dilemma">
            <a:extLst>
              <a:ext uri="{FF2B5EF4-FFF2-40B4-BE49-F238E27FC236}">
                <a16:creationId xmlns:a16="http://schemas.microsoft.com/office/drawing/2014/main" xmlns="" id="{250C4B52-6F01-0E76-AF8C-47EC7C69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364" y="323851"/>
            <a:ext cx="4225925" cy="602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xmlns="" id="{886D0EEA-8DAB-7C70-D56C-38F5631F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Relationship b/w seq# &amp; window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D1E5AA-83B1-E5D7-C60E-79C1424B2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LAF – LFR &lt;= RWS</a:t>
            </a:r>
          </a:p>
          <a:p>
            <a:pPr marL="457200" lvl="1" indent="0">
              <a:buNone/>
              <a:defRPr/>
            </a:pPr>
            <a:r>
              <a:rPr lang="en-US" dirty="0"/>
              <a:t>where LAF: Largest Acceptable frame</a:t>
            </a:r>
          </a:p>
          <a:p>
            <a:pPr marL="457200" lvl="1" indent="0">
              <a:buNone/>
              <a:defRPr/>
            </a:pPr>
            <a:r>
              <a:rPr lang="en-US" dirty="0"/>
              <a:t>           LFR: </a:t>
            </a:r>
            <a:r>
              <a:rPr lang="en-US" dirty="0" err="1"/>
              <a:t>recv_base</a:t>
            </a:r>
            <a:r>
              <a:rPr lang="en-US" dirty="0"/>
              <a:t> – 1: Last Frame Received</a:t>
            </a:r>
          </a:p>
          <a:p>
            <a:pPr marL="514350" indent="-457200">
              <a:defRPr/>
            </a:pPr>
            <a:r>
              <a:rPr lang="en-US" sz="2400" dirty="0"/>
              <a:t>RWS=1 for Go-Back-N protocol</a:t>
            </a:r>
          </a:p>
          <a:p>
            <a:pPr marL="514350" indent="-457200">
              <a:defRPr/>
            </a:pPr>
            <a:r>
              <a:rPr lang="en-US" sz="2400" dirty="0"/>
              <a:t>RWS &lt;= SWS for Selective Repeat proto</a:t>
            </a:r>
          </a:p>
          <a:p>
            <a:pPr marL="514350" indent="-457200">
              <a:defRPr/>
            </a:pPr>
            <a:r>
              <a:rPr lang="en-US" sz="2400" dirty="0"/>
              <a:t>When RWS=1, SWS &lt;= N -1 (N=size of </a:t>
            </a:r>
            <a:r>
              <a:rPr lang="en-US" sz="2400" dirty="0" err="1"/>
              <a:t>seq</a:t>
            </a:r>
            <a:r>
              <a:rPr lang="en-US" sz="2400" dirty="0"/>
              <a:t># space= 2^k for k-bit </a:t>
            </a:r>
            <a:r>
              <a:rPr lang="en-US" sz="2400" dirty="0" err="1"/>
              <a:t>seq</a:t>
            </a:r>
            <a:r>
              <a:rPr lang="en-US" sz="2400" dirty="0"/>
              <a:t> no field)</a:t>
            </a:r>
          </a:p>
          <a:p>
            <a:pPr marL="514350" indent="-457200">
              <a:defRPr/>
            </a:pPr>
            <a:r>
              <a:rPr lang="en-US" sz="2400" dirty="0"/>
              <a:t>When RWS=SWS, SWS &lt;= N/2</a:t>
            </a:r>
          </a:p>
          <a:p>
            <a:pPr marL="57150" indent="0">
              <a:buNone/>
              <a:defRPr/>
            </a:pPr>
            <a:endParaRPr lang="en-US" sz="2000" i="1" dirty="0">
              <a:solidFill>
                <a:srgbClr val="002060"/>
              </a:solidFill>
            </a:endParaRPr>
          </a:p>
          <a:p>
            <a:pPr marL="57150" indent="0">
              <a:buNone/>
              <a:defRPr/>
            </a:pPr>
            <a:r>
              <a:rPr lang="en-US" sz="2000" i="1" dirty="0">
                <a:solidFill>
                  <a:srgbClr val="002060"/>
                </a:solidFill>
              </a:rPr>
              <a:t>SW protocol alternates b/w two halves of </a:t>
            </a:r>
            <a:r>
              <a:rPr lang="en-US" sz="2000" i="1" dirty="0" err="1">
                <a:solidFill>
                  <a:srgbClr val="002060"/>
                </a:solidFill>
              </a:rPr>
              <a:t>seq</a:t>
            </a:r>
            <a:r>
              <a:rPr lang="en-US" sz="2000" i="1" dirty="0">
                <a:solidFill>
                  <a:srgbClr val="002060"/>
                </a:solidFill>
              </a:rPr>
              <a:t># space </a:t>
            </a:r>
          </a:p>
          <a:p>
            <a:pPr marL="57150" indent="0">
              <a:buNone/>
              <a:defRPr/>
            </a:pPr>
            <a:r>
              <a:rPr lang="en-US" sz="2000" i="1" dirty="0">
                <a:solidFill>
                  <a:srgbClr val="002060"/>
                </a:solidFill>
              </a:rPr>
              <a:t>It also continually slides b/w two halves rather than discretely alternating b/w them</a:t>
            </a:r>
          </a:p>
          <a:p>
            <a:pPr marL="514350" indent="-457200">
              <a:defRPr/>
            </a:pPr>
            <a:endParaRPr lang="en-US" sz="2400" dirty="0"/>
          </a:p>
        </p:txBody>
      </p:sp>
      <p:sp>
        <p:nvSpPr>
          <p:cNvPr id="69636" name="Footer Placeholder 3">
            <a:extLst>
              <a:ext uri="{FF2B5EF4-FFF2-40B4-BE49-F238E27FC236}">
                <a16:creationId xmlns:a16="http://schemas.microsoft.com/office/drawing/2014/main" xmlns="" id="{40C67EF8-85F4-EFF5-E0A0-54F6E173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/>
              <a:t>Transport Layer</a:t>
            </a:r>
            <a:endParaRPr lang="en-US" altLang="en-US" sz="1400">
              <a:latin typeface="Times New Roman" panose="02020603050405020304" pitchFamily="18" charset="0"/>
            </a:endParaRPr>
          </a:p>
        </p:txBody>
      </p:sp>
      <p:sp>
        <p:nvSpPr>
          <p:cNvPr id="69637" name="Slide Number Placeholder 4">
            <a:extLst>
              <a:ext uri="{FF2B5EF4-FFF2-40B4-BE49-F238E27FC236}">
                <a16:creationId xmlns:a16="http://schemas.microsoft.com/office/drawing/2014/main" xmlns="" id="{B7DDF7B7-FC07-BB0E-4E9C-CD9BD64D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400">
                <a:latin typeface="Arial" panose="020B0604020202020204" pitchFamily="34" charset="0"/>
              </a:rPr>
              <a:t>3-</a:t>
            </a:r>
            <a:fld id="{565E13DC-ACF3-416F-BD2E-D1A89DB3AFE4}" type="slidenum">
              <a:rPr lang="en-US" altLang="en-US" sz="1400">
                <a:latin typeface="Arial" panose="020B0604020202020204" pitchFamily="34" charset="0"/>
              </a:rPr>
              <a:pPr/>
              <a:t>75</a:t>
            </a:fld>
            <a:endParaRPr lang="en-US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b="0" dirty="0">
              <a:solidFill>
                <a:srgbClr val="FF0000"/>
              </a:solidFill>
            </a:endParaRPr>
          </a:p>
        </p:txBody>
      </p:sp>
      <p:pic>
        <p:nvPicPr>
          <p:cNvPr id="22530" name="Picture 2" descr="How To Write A Thank You Note In Five Easy Ste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722" y="2599396"/>
            <a:ext cx="4468184" cy="251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5083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002533A2C464CBD7F5B3D09DA59C7" ma:contentTypeVersion="28" ma:contentTypeDescription="Create a new document." ma:contentTypeScope="" ma:versionID="1685237c5012c7d90733e3feefc4a729">
  <xsd:schema xmlns:xsd="http://www.w3.org/2001/XMLSchema" xmlns:xs="http://www.w3.org/2001/XMLSchema" xmlns:p="http://schemas.microsoft.com/office/2006/metadata/properties" xmlns:ns2="6fdd37d2-8c27-4924-b2e6-c1d2ce638cc3" targetNamespace="http://schemas.microsoft.com/office/2006/metadata/properties" ma:root="true" ma:fieldsID="c68d5ebc5661ba923e8f5fcf6ca981fc" ns2:_="">
    <xsd:import namespace="6fdd37d2-8c27-4924-b2e6-c1d2ce638c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dd37d2-8c27-4924-b2e6-c1d2ce638c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as_Teacher_Only_SectionGroup xmlns="6fdd37d2-8c27-4924-b2e6-c1d2ce638cc3" xsi:nil="true"/>
    <NotebookType xmlns="6fdd37d2-8c27-4924-b2e6-c1d2ce638cc3" xsi:nil="true"/>
    <LMS_Mappings xmlns="6fdd37d2-8c27-4924-b2e6-c1d2ce638cc3" xsi:nil="true"/>
    <Teams_Channel_Section_Location xmlns="6fdd37d2-8c27-4924-b2e6-c1d2ce638cc3" xsi:nil="true"/>
    <FolderType xmlns="6fdd37d2-8c27-4924-b2e6-c1d2ce638cc3" xsi:nil="true"/>
    <CultureName xmlns="6fdd37d2-8c27-4924-b2e6-c1d2ce638cc3" xsi:nil="true"/>
    <Owner xmlns="6fdd37d2-8c27-4924-b2e6-c1d2ce638cc3">
      <UserInfo>
        <DisplayName/>
        <AccountId xsi:nil="true"/>
        <AccountType/>
      </UserInfo>
    </Owner>
    <Invited_Students xmlns="6fdd37d2-8c27-4924-b2e6-c1d2ce638cc3" xsi:nil="true"/>
    <Math_Settings xmlns="6fdd37d2-8c27-4924-b2e6-c1d2ce638cc3" xsi:nil="true"/>
    <Templates xmlns="6fdd37d2-8c27-4924-b2e6-c1d2ce638cc3" xsi:nil="true"/>
    <AppVersion xmlns="6fdd37d2-8c27-4924-b2e6-c1d2ce638cc3" xsi:nil="true"/>
    <Self_Registration_Enabled xmlns="6fdd37d2-8c27-4924-b2e6-c1d2ce638cc3" xsi:nil="true"/>
    <Distribution_Groups xmlns="6fdd37d2-8c27-4924-b2e6-c1d2ce638cc3" xsi:nil="true"/>
    <TeamsChannelId xmlns="6fdd37d2-8c27-4924-b2e6-c1d2ce638cc3" xsi:nil="true"/>
    <Invited_Teachers xmlns="6fdd37d2-8c27-4924-b2e6-c1d2ce638cc3" xsi:nil="true"/>
    <IsNotebookLocked xmlns="6fdd37d2-8c27-4924-b2e6-c1d2ce638cc3" xsi:nil="true"/>
    <Teachers xmlns="6fdd37d2-8c27-4924-b2e6-c1d2ce638cc3">
      <UserInfo>
        <DisplayName/>
        <AccountId xsi:nil="true"/>
        <AccountType/>
      </UserInfo>
    </Teachers>
    <Students xmlns="6fdd37d2-8c27-4924-b2e6-c1d2ce638cc3">
      <UserInfo>
        <DisplayName/>
        <AccountId xsi:nil="true"/>
        <AccountType/>
      </UserInfo>
    </Students>
    <Student_Groups xmlns="6fdd37d2-8c27-4924-b2e6-c1d2ce638cc3">
      <UserInfo>
        <DisplayName/>
        <AccountId xsi:nil="true"/>
        <AccountType/>
      </UserInfo>
    </Student_Groups>
    <DefaultSectionNames xmlns="6fdd37d2-8c27-4924-b2e6-c1d2ce638cc3" xsi:nil="true"/>
    <Is_Collaboration_Space_Locked xmlns="6fdd37d2-8c27-4924-b2e6-c1d2ce638cc3" xsi:nil="true"/>
  </documentManagement>
</p:properties>
</file>

<file path=customXml/itemProps1.xml><?xml version="1.0" encoding="utf-8"?>
<ds:datastoreItem xmlns:ds="http://schemas.openxmlformats.org/officeDocument/2006/customXml" ds:itemID="{5941AC81-711F-4875-AD17-7D2EFAC77BF8}"/>
</file>

<file path=customXml/itemProps2.xml><?xml version="1.0" encoding="utf-8"?>
<ds:datastoreItem xmlns:ds="http://schemas.openxmlformats.org/officeDocument/2006/customXml" ds:itemID="{BD2DB653-280B-40DD-9E5C-076E82F607EE}"/>
</file>

<file path=customXml/itemProps3.xml><?xml version="1.0" encoding="utf-8"?>
<ds:datastoreItem xmlns:ds="http://schemas.openxmlformats.org/officeDocument/2006/customXml" ds:itemID="{4833CC5E-6CC8-4D5D-B729-655958AB2745}"/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4871</Words>
  <Application>Microsoft Office PowerPoint</Application>
  <PresentationFormat>Widescreen</PresentationFormat>
  <Paragraphs>1244</Paragraphs>
  <Slides>76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76</vt:i4>
      </vt:variant>
    </vt:vector>
  </HeadingPairs>
  <TitlesOfParts>
    <vt:vector size="92" baseType="lpstr">
      <vt:lpstr>SimSun</vt:lpstr>
      <vt:lpstr>Arial</vt:lpstr>
      <vt:lpstr>Calibri</vt:lpstr>
      <vt:lpstr>Calibri Light</vt:lpstr>
      <vt:lpstr>Comic Sans MS</vt:lpstr>
      <vt:lpstr>Courier New</vt:lpstr>
      <vt:lpstr>Symbol</vt:lpstr>
      <vt:lpstr>Times New Roman</vt:lpstr>
      <vt:lpstr>Ubuntu</vt:lpstr>
      <vt:lpstr>Wingdings</vt:lpstr>
      <vt:lpstr>ZapfDingbats</vt:lpstr>
      <vt:lpstr>Office Theme</vt:lpstr>
      <vt:lpstr>Clip</vt:lpstr>
      <vt:lpstr>VISIO</vt:lpstr>
      <vt:lpstr>Picture</vt:lpstr>
      <vt:lpstr>Equation</vt:lpstr>
      <vt:lpstr>PowerPoint Presentation</vt:lpstr>
      <vt:lpstr>PowerPoint Presentation</vt:lpstr>
      <vt:lpstr>PowerPoint Presentation</vt:lpstr>
      <vt:lpstr>PowerPoint Presentation</vt:lpstr>
      <vt:lpstr>Socket programming</vt:lpstr>
      <vt:lpstr>Socket-programming using TCP</vt:lpstr>
      <vt:lpstr>Socket programming with TCP</vt:lpstr>
      <vt:lpstr>Client/server socket interaction: TCP</vt:lpstr>
      <vt:lpstr>PowerPoint Presentation</vt:lpstr>
      <vt:lpstr>Socket programming with TCP</vt:lpstr>
      <vt:lpstr>Example: Java client (TCP)</vt:lpstr>
      <vt:lpstr>Example: Java client (TCP), cont.</vt:lpstr>
      <vt:lpstr>Example: Java server (TCP)</vt:lpstr>
      <vt:lpstr>Example: Java server (TCP), cont</vt:lpstr>
      <vt:lpstr>Chapter 2: Application layer</vt:lpstr>
      <vt:lpstr>Socket programming with UDP</vt:lpstr>
      <vt:lpstr>Client/server socket interaction: UDP</vt:lpstr>
      <vt:lpstr>Example: Java client (UDP)</vt:lpstr>
      <vt:lpstr>Example: Java client (UDP)</vt:lpstr>
      <vt:lpstr>Example: Java client (UDP), cont.</vt:lpstr>
      <vt:lpstr>Example: Java server (UDP)</vt:lpstr>
      <vt:lpstr>Example: Java server (UDP), cont</vt:lpstr>
      <vt:lpstr>Transport services and protocols</vt:lpstr>
      <vt:lpstr>PowerPoint Presentation</vt:lpstr>
      <vt:lpstr>PowerPoint Presentation</vt:lpstr>
      <vt:lpstr>PowerPoint Presentation</vt:lpstr>
      <vt:lpstr>Multiplexing/demultiplexing</vt:lpstr>
      <vt:lpstr>How demultiplexing works</vt:lpstr>
      <vt:lpstr>Connectionless demultiplexing</vt:lpstr>
      <vt:lpstr>Connectionless demux (cont)</vt:lpstr>
      <vt:lpstr>Connection-oriented demux</vt:lpstr>
      <vt:lpstr>Connection-oriented demux (cont)</vt:lpstr>
      <vt:lpstr>Connection-oriented demux: Threaded Web Server</vt:lpstr>
      <vt:lpstr>Chapter 3 outline</vt:lpstr>
      <vt:lpstr>UDP: User Datagram Protocol [RFC 768]</vt:lpstr>
      <vt:lpstr>UDP: more</vt:lpstr>
      <vt:lpstr>UDP checksum</vt:lpstr>
      <vt:lpstr>Internet Checksum Example</vt:lpstr>
      <vt:lpstr>Chapter 3 outline</vt:lpstr>
      <vt:lpstr>Principles of Reliable data transfer</vt:lpstr>
      <vt:lpstr>Principles of Reliable data transfer</vt:lpstr>
      <vt:lpstr>Principles of Reliable data transfer</vt:lpstr>
      <vt:lpstr>Reliable data transfer: getting started</vt:lpstr>
      <vt:lpstr>Reliable data transfer: getting started</vt:lpstr>
      <vt:lpstr>Rdt1.0: reliable transfer over a reliable channel</vt:lpstr>
      <vt:lpstr>Rdt2.0: channel with bit errors</vt:lpstr>
      <vt:lpstr>rdt2.0: FSM specification</vt:lpstr>
      <vt:lpstr>rdt2.0: operation with no errors</vt:lpstr>
      <vt:lpstr>rdt2.0: error scenario</vt:lpstr>
      <vt:lpstr>rdt2.0 has a fatal flaw!</vt:lpstr>
      <vt:lpstr>rdt2.1: sender, handles garbled ACK/NAKs</vt:lpstr>
      <vt:lpstr>rdt2.1: receiver, handles garbled ACK/NAKs</vt:lpstr>
      <vt:lpstr>rdt2.1: discussion</vt:lpstr>
      <vt:lpstr>rdt2.2: a NAK-free protocol</vt:lpstr>
      <vt:lpstr>rdt2.2: sender, receiver fragments</vt:lpstr>
      <vt:lpstr>rdt3.0: channels with errors and loss</vt:lpstr>
      <vt:lpstr>rdt3.0 sender</vt:lpstr>
      <vt:lpstr>rdt3.0 in action</vt:lpstr>
      <vt:lpstr>rdt3.0 in action</vt:lpstr>
      <vt:lpstr>Performance of rdt3.0</vt:lpstr>
      <vt:lpstr>rdt3.0: stop-and-wait operation</vt:lpstr>
      <vt:lpstr>Pipelined protocols</vt:lpstr>
      <vt:lpstr>Pipelining: increased utilization</vt:lpstr>
      <vt:lpstr>Pipelining Protocols</vt:lpstr>
      <vt:lpstr>Selective repeat: big picture</vt:lpstr>
      <vt:lpstr>Go-Back-N</vt:lpstr>
      <vt:lpstr>GBN: sender extended FSM</vt:lpstr>
      <vt:lpstr>GBN: receiver extended FSM</vt:lpstr>
      <vt:lpstr>GBN in action</vt:lpstr>
      <vt:lpstr>Selective Repeat</vt:lpstr>
      <vt:lpstr>Selective repeat: sender, receiver windows</vt:lpstr>
      <vt:lpstr>Selective repeat</vt:lpstr>
      <vt:lpstr>Selective repeat in action</vt:lpstr>
      <vt:lpstr>Selective repeat:  dilemma</vt:lpstr>
      <vt:lpstr>Relationship b/w seq# &amp; window sizes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Animesh  Giri</dc:creator>
  <cp:lastModifiedBy>Prabhu S</cp:lastModifiedBy>
  <cp:revision>6</cp:revision>
  <dcterms:created xsi:type="dcterms:W3CDTF">2021-10-30T10:47:41Z</dcterms:created>
  <dcterms:modified xsi:type="dcterms:W3CDTF">2026-07-25T03:31:40Z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0x0101006F9002533A2C464CBD7F5B3D09DA59C7</vt:lpwstr>
  </property>
</Properties>
</file>