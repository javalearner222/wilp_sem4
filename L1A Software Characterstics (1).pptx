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22"/>
  </p:notesMasterIdLst>
  <p:sldIdLst>
    <p:sldId id="279"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780"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26-02-2014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xmlns=""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FB1F9F8-2F33-48A0-B6E1-CBD34DA86FA7}" type="datetime1">
              <a:rPr lang="en-IN" smtClean="0"/>
              <a:pPr/>
              <a:t>26-02-2014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38AF320-491D-4762-9CEF-3E1E34D8F95D}" type="datetime1">
              <a:rPr lang="en-IN" smtClean="0"/>
              <a:pPr/>
              <a:t>26-02-2014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82208E44-E056-4529-AB17-D5D4ED060997}" type="datetime1">
              <a:rPr lang="en-IN" smtClean="0"/>
              <a:pPr/>
              <a:t>26-02-2014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919CFB88-53D3-4CA9-98AE-144A38B513BC}" type="datetime1">
              <a:rPr lang="en-IN" smtClean="0"/>
              <a:pPr/>
              <a:t>26-02-2014</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6D0D0566-7D22-4575-A4D4-6F2EADBD37EA}" type="datetime1">
              <a:rPr lang="en-IN" smtClean="0"/>
              <a:pPr/>
              <a:t>26-02-2014</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8F8992E-3A7A-498B-BA4F-ED4E9E99F9C5}" type="datetime1">
              <a:rPr lang="en-IN" smtClean="0"/>
              <a:pPr/>
              <a:t>26-02-2014</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64542FCF-AAF1-43F7-BF4B-ACFF6C5E1F9E}" type="datetime1">
              <a:rPr lang="en-IN" smtClean="0"/>
              <a:pPr/>
              <a:t>26-02-2014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C22291EF-5C9A-4DA0-9BCB-C3A40F654C61}" type="datetime1">
              <a:rPr lang="en-IN" smtClean="0"/>
              <a:pPr/>
              <a:t>26-02-2014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F9511ED-0BE1-4F2B-B63D-1D3DD25330C5}" type="datetime1">
              <a:rPr lang="en-IN" smtClean="0"/>
              <a:pPr/>
              <a:t>26-02-2014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5D982D4-3B7D-49CC-89D2-CE37596BBCA6}" type="datetime1">
              <a:rPr lang="en-IN" smtClean="0"/>
              <a:pPr/>
              <a:t>26-02-2014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IN" smtClean="0"/>
              <a:t>&lt;Course Code&gt;</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xmlns="" val="113624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a:t>
            </a:r>
            <a:r>
              <a:rPr lang="en-US" sz="1100" dirty="0" smtClean="0">
                <a:solidFill>
                  <a:srgbClr val="101141"/>
                </a:solidFill>
                <a:latin typeface="Arial"/>
                <a:cs typeface="Arial"/>
              </a:rPr>
              <a:t>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3"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0F2899A1-5BFA-4D14-B690-5DD6CFCAE8DC}" type="datetime1">
              <a:rPr lang="en-IN" smtClean="0">
                <a:solidFill>
                  <a:prstClr val="black">
                    <a:tint val="75000"/>
                  </a:prstClr>
                </a:solidFill>
              </a:rPr>
              <a:pPr/>
              <a:t>26-02-2014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&lt;Course Code&gt;</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95736" y="3810000"/>
            <a:ext cx="6408712" cy="1524000"/>
          </a:xfrm>
        </p:spPr>
        <p:txBody>
          <a:bodyPr/>
          <a:lstStyle/>
          <a:p>
            <a:r>
              <a:rPr lang="en-US" dirty="0" smtClean="0"/>
              <a:t>Course Name : </a:t>
            </a:r>
            <a:br>
              <a:rPr lang="en-US" dirty="0" smtClean="0"/>
            </a:br>
            <a:r>
              <a:rPr lang="en-US" dirty="0" smtClean="0"/>
              <a:t>Software Engineering</a:t>
            </a:r>
            <a:endParaRPr lang="en-US"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T V Rao</a:t>
            </a:r>
            <a:endParaRPr lang="en-US" dirty="0" smtClean="0"/>
          </a:p>
          <a:p>
            <a:r>
              <a:rPr lang="en-US" dirty="0" smtClean="0"/>
              <a:t>Work-Integrated Learning </a:t>
            </a:r>
            <a:r>
              <a:rPr lang="en-US" dirty="0" err="1" smtClean="0"/>
              <a:t>Programme</a:t>
            </a:r>
            <a:endParaRPr lang="en-US" dirty="0"/>
          </a:p>
        </p:txBody>
      </p:sp>
    </p:spTree>
    <p:extLst>
      <p:ext uri="{BB962C8B-B14F-4D97-AF65-F5344CB8AC3E}">
        <p14:creationId xmlns:p14="http://schemas.microsoft.com/office/powerpoint/2010/main" xmlns=""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55576" y="188913"/>
            <a:ext cx="4514850" cy="533400"/>
          </a:xfrm>
        </p:spPr>
        <p:txBody>
          <a:bodyPr>
            <a:normAutofit fontScale="90000"/>
          </a:bodyPr>
          <a:lstStyle/>
          <a:p>
            <a:pPr algn="l" eaLnBrk="1" hangingPunct="1"/>
            <a:r>
              <a:rPr lang="en-US" sz="4000" b="1" dirty="0" smtClean="0"/>
              <a:t>What is Software?</a:t>
            </a:r>
          </a:p>
        </p:txBody>
      </p:sp>
      <p:sp>
        <p:nvSpPr>
          <p:cNvPr id="5" name="Rectangle 3"/>
          <p:cNvSpPr txBox="1">
            <a:spLocks noChangeArrowheads="1"/>
          </p:cNvSpPr>
          <p:nvPr/>
        </p:nvSpPr>
        <p:spPr bwMode="auto">
          <a:xfrm>
            <a:off x="611188" y="1439639"/>
            <a:ext cx="8137525" cy="4365625"/>
          </a:xfrm>
          <a:prstGeom prst="rect">
            <a:avLst/>
          </a:prstGeom>
          <a:noFill/>
          <a:ln w="9525">
            <a:noFill/>
            <a:miter lim="800000"/>
            <a:headEnd/>
            <a:tailEnd/>
          </a:ln>
        </p:spPr>
        <p:txBody>
          <a:bodyPr/>
          <a:lstStyle/>
          <a:p>
            <a:pPr marL="342900" indent="-342900">
              <a:spcBef>
                <a:spcPct val="20000"/>
              </a:spcBef>
              <a:defRPr/>
            </a:pPr>
            <a:r>
              <a:rPr lang="en-US" sz="2800" dirty="0">
                <a:latin typeface="+mn-lt"/>
                <a:cs typeface="+mn-cs"/>
              </a:rPr>
              <a:t>1) instructions (programs) that when executed provide desired function and performance</a:t>
            </a:r>
          </a:p>
          <a:p>
            <a:pPr marL="342900" indent="-342900">
              <a:spcBef>
                <a:spcPct val="20000"/>
              </a:spcBef>
              <a:defRPr/>
            </a:pPr>
            <a:r>
              <a:rPr lang="en-US" sz="2800" dirty="0">
                <a:latin typeface="+mn-lt"/>
                <a:cs typeface="+mn-cs"/>
              </a:rPr>
              <a:t>2) data structures that enable the programs to adequately manipulate information</a:t>
            </a:r>
          </a:p>
          <a:p>
            <a:pPr marL="342900" indent="-342900">
              <a:spcBef>
                <a:spcPct val="20000"/>
              </a:spcBef>
              <a:defRPr/>
            </a:pPr>
            <a:r>
              <a:rPr lang="en-US" sz="2800" dirty="0">
                <a:latin typeface="+mn-lt"/>
                <a:cs typeface="+mn-cs"/>
              </a:rPr>
              <a:t>3) documents that describe the operation and use of the programs</a:t>
            </a:r>
          </a:p>
          <a:p>
            <a:pPr marL="342900" indent="-342900">
              <a:spcBef>
                <a:spcPct val="20000"/>
              </a:spcBef>
              <a:buFont typeface="Arial" charset="0"/>
              <a:buChar char="•"/>
              <a:defRPr/>
            </a:pPr>
            <a:endParaRPr lang="en-US" sz="2800" dirty="0">
              <a:latin typeface="+mn-lt"/>
              <a:cs typeface="+mn-cs"/>
            </a:endParaRPr>
          </a:p>
          <a:p>
            <a:pPr marL="342900" indent="-342900">
              <a:spcBef>
                <a:spcPct val="20000"/>
              </a:spcBef>
              <a:buFont typeface="Arial" charset="0"/>
              <a:buChar char="•"/>
              <a:defRPr/>
            </a:pPr>
            <a:r>
              <a:rPr lang="en-US" sz="2800" dirty="0">
                <a:latin typeface="+mn-lt"/>
                <a:cs typeface="+mn-cs"/>
              </a:rPr>
              <a:t>A </a:t>
            </a:r>
            <a:r>
              <a:rPr lang="en-US" sz="2800" b="1" i="1" dirty="0">
                <a:latin typeface="+mn-lt"/>
                <a:cs typeface="+mn-cs"/>
              </a:rPr>
              <a:t>logical</a:t>
            </a:r>
            <a:r>
              <a:rPr lang="en-US" sz="2800" dirty="0">
                <a:latin typeface="+mn-lt"/>
                <a:cs typeface="+mn-cs"/>
              </a:rPr>
              <a:t> rather than </a:t>
            </a:r>
            <a:r>
              <a:rPr lang="en-US" sz="2800" b="1" i="1" dirty="0">
                <a:latin typeface="+mn-lt"/>
                <a:cs typeface="+mn-cs"/>
              </a:rPr>
              <a:t>physical</a:t>
            </a:r>
            <a:r>
              <a:rPr lang="en-US" sz="2800" dirty="0">
                <a:latin typeface="+mn-lt"/>
                <a:cs typeface="+mn-cs"/>
              </a:rPr>
              <a:t> </a:t>
            </a:r>
            <a:r>
              <a:rPr lang="en-US" sz="2800" dirty="0" smtClean="0">
                <a:latin typeface="+mn-lt"/>
                <a:cs typeface="+mn-cs"/>
              </a:rPr>
              <a:t>entity</a:t>
            </a:r>
            <a:endParaRPr lang="en-US" sz="2800" dirty="0">
              <a:latin typeface="+mn-lt"/>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07504" y="116632"/>
            <a:ext cx="6120680" cy="771525"/>
          </a:xfrm>
        </p:spPr>
        <p:txBody>
          <a:bodyPr/>
          <a:lstStyle/>
          <a:p>
            <a:r>
              <a:rPr lang="en-US" sz="4000" b="1" dirty="0" smtClean="0"/>
              <a:t>Several Roles of Software</a:t>
            </a:r>
          </a:p>
        </p:txBody>
      </p:sp>
      <p:sp>
        <p:nvSpPr>
          <p:cNvPr id="5" name="Rectangle 3"/>
          <p:cNvSpPr txBox="1">
            <a:spLocks noChangeArrowheads="1"/>
          </p:cNvSpPr>
          <p:nvPr/>
        </p:nvSpPr>
        <p:spPr bwMode="auto">
          <a:xfrm>
            <a:off x="683568" y="1340768"/>
            <a:ext cx="7772400" cy="5112568"/>
          </a:xfrm>
          <a:prstGeom prst="rect">
            <a:avLst/>
          </a:prstGeom>
          <a:noFill/>
          <a:ln w="9525">
            <a:noFill/>
            <a:miter lim="800000"/>
            <a:headEnd/>
            <a:tailEnd/>
          </a:ln>
        </p:spPr>
        <p:txBody>
          <a:bodyPr/>
          <a:lstStyle/>
          <a:p>
            <a:pPr marL="342900" indent="-342900" eaLnBrk="0" hangingPunct="0">
              <a:lnSpc>
                <a:spcPct val="90000"/>
              </a:lnSpc>
              <a:spcBef>
                <a:spcPct val="20000"/>
              </a:spcBef>
              <a:buFont typeface="Arial" charset="0"/>
              <a:buChar char="•"/>
              <a:defRPr/>
            </a:pPr>
            <a:r>
              <a:rPr lang="en-US" sz="2800" dirty="0" smtClean="0">
                <a:latin typeface="+mn-lt"/>
                <a:cs typeface="+mn-cs"/>
              </a:rPr>
              <a:t>Software can be </a:t>
            </a:r>
            <a:r>
              <a:rPr lang="en-US" sz="2800" dirty="0">
                <a:latin typeface="+mn-lt"/>
                <a:cs typeface="+mn-cs"/>
              </a:rPr>
              <a:t>a product and a vehicle for delivering a product</a:t>
            </a:r>
          </a:p>
          <a:p>
            <a:pPr marL="742950" lvl="1" indent="-285750" eaLnBrk="0" hangingPunct="0">
              <a:lnSpc>
                <a:spcPct val="90000"/>
              </a:lnSpc>
              <a:spcBef>
                <a:spcPct val="20000"/>
              </a:spcBef>
              <a:buFont typeface="Arial" charset="0"/>
              <a:buChar char="–"/>
              <a:defRPr/>
            </a:pPr>
            <a:r>
              <a:rPr lang="en-US" sz="2400" dirty="0">
                <a:latin typeface="+mn-lt"/>
                <a:cs typeface="+mn-cs"/>
              </a:rPr>
              <a:t>Product</a:t>
            </a:r>
          </a:p>
          <a:p>
            <a:pPr marL="1143000" lvl="2" indent="-228600" eaLnBrk="0" hangingPunct="0">
              <a:lnSpc>
                <a:spcPct val="90000"/>
              </a:lnSpc>
              <a:spcBef>
                <a:spcPct val="20000"/>
              </a:spcBef>
              <a:buFont typeface="Arial" charset="0"/>
              <a:buChar char="•"/>
              <a:defRPr/>
            </a:pPr>
            <a:r>
              <a:rPr lang="en-US" sz="2000" dirty="0">
                <a:latin typeface="+mn-lt"/>
                <a:cs typeface="+mn-cs"/>
              </a:rPr>
              <a:t>Delivers computing potential</a:t>
            </a:r>
          </a:p>
          <a:p>
            <a:pPr marL="1143000" lvl="2" indent="-228600" eaLnBrk="0" hangingPunct="0">
              <a:lnSpc>
                <a:spcPct val="90000"/>
              </a:lnSpc>
              <a:spcBef>
                <a:spcPct val="20000"/>
              </a:spcBef>
              <a:buFont typeface="Arial" charset="0"/>
              <a:buChar char="•"/>
              <a:defRPr/>
            </a:pPr>
            <a:r>
              <a:rPr lang="en-US" sz="2000" dirty="0">
                <a:latin typeface="+mn-lt"/>
                <a:cs typeface="+mn-cs"/>
              </a:rPr>
              <a:t>Produces, manages, acquires, modifies, display, or transmits information</a:t>
            </a:r>
          </a:p>
          <a:p>
            <a:pPr marL="742950" lvl="1" indent="-285750" eaLnBrk="0" hangingPunct="0">
              <a:lnSpc>
                <a:spcPct val="90000"/>
              </a:lnSpc>
              <a:spcBef>
                <a:spcPts val="1200"/>
              </a:spcBef>
              <a:buFont typeface="Arial" charset="0"/>
              <a:buChar char="–"/>
              <a:defRPr/>
            </a:pPr>
            <a:r>
              <a:rPr lang="en-US" sz="2400" dirty="0">
                <a:latin typeface="+mn-lt"/>
                <a:cs typeface="+mn-cs"/>
              </a:rPr>
              <a:t>Vehicle</a:t>
            </a:r>
          </a:p>
          <a:p>
            <a:pPr marL="1143000" lvl="2" indent="-228600" eaLnBrk="0" hangingPunct="0">
              <a:lnSpc>
                <a:spcPct val="90000"/>
              </a:lnSpc>
              <a:spcBef>
                <a:spcPct val="20000"/>
              </a:spcBef>
              <a:buFont typeface="Arial" charset="0"/>
              <a:buChar char="•"/>
              <a:defRPr/>
            </a:pPr>
            <a:r>
              <a:rPr lang="en-US" sz="2000" dirty="0">
                <a:latin typeface="+mn-lt"/>
                <a:cs typeface="+mn-cs"/>
              </a:rPr>
              <a:t>Supports or directly provides system functionality</a:t>
            </a:r>
          </a:p>
          <a:p>
            <a:pPr marL="1143000" lvl="2" indent="-228600" eaLnBrk="0" hangingPunct="0">
              <a:lnSpc>
                <a:spcPct val="90000"/>
              </a:lnSpc>
              <a:spcBef>
                <a:spcPct val="20000"/>
              </a:spcBef>
              <a:buFont typeface="Arial" charset="0"/>
              <a:buChar char="•"/>
              <a:defRPr/>
            </a:pPr>
            <a:r>
              <a:rPr lang="en-US" sz="2000" dirty="0">
                <a:latin typeface="+mn-lt"/>
                <a:cs typeface="+mn-cs"/>
              </a:rPr>
              <a:t>Controls other programs (e.g., operating systems)</a:t>
            </a:r>
          </a:p>
          <a:p>
            <a:pPr marL="1143000" lvl="2" indent="-228600" eaLnBrk="0" hangingPunct="0">
              <a:lnSpc>
                <a:spcPct val="90000"/>
              </a:lnSpc>
              <a:spcBef>
                <a:spcPct val="20000"/>
              </a:spcBef>
              <a:buFont typeface="Arial" charset="0"/>
              <a:buChar char="•"/>
              <a:defRPr/>
            </a:pPr>
            <a:r>
              <a:rPr lang="en-US" sz="2000" dirty="0">
                <a:latin typeface="+mn-lt"/>
                <a:cs typeface="+mn-cs"/>
              </a:rPr>
              <a:t>Effects communications (e.g., networking software)</a:t>
            </a:r>
          </a:p>
          <a:p>
            <a:pPr marL="1143000" lvl="2" indent="-228600" eaLnBrk="0" hangingPunct="0">
              <a:lnSpc>
                <a:spcPct val="90000"/>
              </a:lnSpc>
              <a:spcBef>
                <a:spcPct val="20000"/>
              </a:spcBef>
              <a:buFont typeface="Arial" charset="0"/>
              <a:buChar char="•"/>
              <a:defRPr/>
            </a:pPr>
            <a:r>
              <a:rPr lang="en-US" sz="2000" dirty="0">
                <a:latin typeface="+mn-lt"/>
                <a:cs typeface="+mn-cs"/>
              </a:rPr>
              <a:t>Helps build other software (e.g., software tools</a:t>
            </a:r>
            <a:r>
              <a:rPr lang="en-US" sz="2000" dirty="0" smtClean="0">
                <a:latin typeface="+mn-lt"/>
                <a:cs typeface="+mn-cs"/>
              </a:rPr>
              <a:t>)</a:t>
            </a:r>
          </a:p>
          <a:p>
            <a:pPr marL="1143000" lvl="2" indent="-228600" eaLnBrk="0" hangingPunct="0">
              <a:lnSpc>
                <a:spcPct val="90000"/>
              </a:lnSpc>
              <a:spcBef>
                <a:spcPct val="20000"/>
              </a:spcBef>
              <a:buFont typeface="Arial" charset="0"/>
              <a:buChar char="•"/>
              <a:defRPr/>
            </a:pPr>
            <a:endParaRPr lang="en-US" sz="2000" dirty="0" smtClean="0">
              <a:latin typeface="+mn-lt"/>
              <a:cs typeface="+mn-cs"/>
            </a:endParaRPr>
          </a:p>
          <a:p>
            <a:pPr marL="228600" indent="-228600" eaLnBrk="0" hangingPunct="0">
              <a:lnSpc>
                <a:spcPct val="90000"/>
              </a:lnSpc>
              <a:spcBef>
                <a:spcPct val="20000"/>
              </a:spcBef>
              <a:buFont typeface="Arial" charset="0"/>
              <a:buChar char="•"/>
              <a:defRPr/>
            </a:pPr>
            <a:r>
              <a:rPr lang="en-US" sz="2800" dirty="0" smtClean="0">
                <a:latin typeface="+mn-lt"/>
                <a:cs typeface="+mn-cs"/>
              </a:rPr>
              <a:t>Software bridges gap between the way a bare machine thinks and the way humans think</a:t>
            </a:r>
            <a:endParaRPr lang="en-US" sz="2800" dirty="0">
              <a:latin typeface="+mn-lt"/>
              <a:cs typeface="+mn-cs"/>
            </a:endParaRPr>
          </a:p>
          <a:p>
            <a:pPr marL="342900" indent="-342900" eaLnBrk="0" hangingPunct="0">
              <a:lnSpc>
                <a:spcPct val="90000"/>
              </a:lnSpc>
              <a:spcBef>
                <a:spcPct val="20000"/>
              </a:spcBef>
              <a:buFont typeface="Arial" charset="0"/>
              <a:buChar char="•"/>
              <a:defRPr/>
            </a:pPr>
            <a:endParaRPr lang="en-US" sz="2800" dirty="0">
              <a:latin typeface="+mn-lt"/>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345986"/>
            <a:ext cx="8424935" cy="5755422"/>
          </a:xfrm>
          <a:prstGeom prst="rect">
            <a:avLst/>
          </a:prstGeom>
        </p:spPr>
        <p:txBody>
          <a:bodyPr wrap="square">
            <a:spAutoFit/>
          </a:bodyPr>
          <a:lstStyle/>
          <a:p>
            <a:pPr>
              <a:buFont typeface="Arial" pitchFamily="34" charset="0"/>
              <a:buChar char="•"/>
              <a:defRPr/>
            </a:pPr>
            <a:r>
              <a:rPr lang="en-IN" sz="2000" b="1" dirty="0"/>
              <a:t>Generic products</a:t>
            </a:r>
          </a:p>
          <a:p>
            <a:pPr lvl="1">
              <a:spcAft>
                <a:spcPts val="600"/>
              </a:spcAft>
              <a:buFont typeface="Arial" pitchFamily="34" charset="0"/>
              <a:buChar char="•"/>
              <a:defRPr/>
            </a:pPr>
            <a:r>
              <a:rPr lang="en-IN" dirty="0"/>
              <a:t>Stand-alone systems which are produced by </a:t>
            </a:r>
            <a:r>
              <a:rPr lang="en-IN" dirty="0" smtClean="0"/>
              <a:t>a development </a:t>
            </a:r>
            <a:r>
              <a:rPr lang="en-IN" dirty="0"/>
              <a:t>organization and sold on the </a:t>
            </a:r>
            <a:r>
              <a:rPr lang="en-IN" dirty="0" smtClean="0"/>
              <a:t>open market </a:t>
            </a:r>
            <a:r>
              <a:rPr lang="en-IN" dirty="0"/>
              <a:t>to any </a:t>
            </a:r>
            <a:r>
              <a:rPr lang="en-IN" dirty="0" smtClean="0"/>
              <a:t>customer</a:t>
            </a:r>
          </a:p>
          <a:p>
            <a:pPr lvl="1">
              <a:buFont typeface="Arial" pitchFamily="34" charset="0"/>
              <a:buChar char="•"/>
              <a:defRPr/>
            </a:pPr>
            <a:r>
              <a:rPr lang="en-US" dirty="0" smtClean="0"/>
              <a:t>The specification of what the software should do is owned by the software developer and decisions on software change are made by the developer.</a:t>
            </a:r>
            <a:endParaRPr lang="en-IN" dirty="0" smtClean="0"/>
          </a:p>
          <a:p>
            <a:pPr lvl="2">
              <a:buFont typeface="Arial" pitchFamily="34" charset="0"/>
              <a:buChar char="•"/>
              <a:defRPr/>
            </a:pPr>
            <a:r>
              <a:rPr lang="en-US" sz="1600" dirty="0" smtClean="0"/>
              <a:t>Examples – PC software such as word processor, project management tools; CAD software; software for specific markets such as appointments systems for dentists.</a:t>
            </a:r>
          </a:p>
          <a:p>
            <a:pPr lvl="1">
              <a:defRPr/>
            </a:pPr>
            <a:endParaRPr lang="en-IN" dirty="0"/>
          </a:p>
          <a:p>
            <a:pPr>
              <a:buFont typeface="Arial" pitchFamily="34" charset="0"/>
              <a:buChar char="•"/>
              <a:defRPr/>
            </a:pPr>
            <a:r>
              <a:rPr lang="en-IN" sz="2000" b="1" dirty="0"/>
              <a:t>Bespoke (customized) products</a:t>
            </a:r>
          </a:p>
          <a:p>
            <a:pPr lvl="1">
              <a:spcAft>
                <a:spcPts val="600"/>
              </a:spcAft>
              <a:buFont typeface="Arial" pitchFamily="34" charset="0"/>
              <a:buChar char="•"/>
              <a:defRPr/>
            </a:pPr>
            <a:r>
              <a:rPr lang="en-IN" dirty="0"/>
              <a:t>Systems which are commissioned by a </a:t>
            </a:r>
            <a:r>
              <a:rPr lang="en-IN" dirty="0" smtClean="0"/>
              <a:t>specific customer </a:t>
            </a:r>
            <a:r>
              <a:rPr lang="en-IN" dirty="0"/>
              <a:t>and developed specially by </a:t>
            </a:r>
            <a:r>
              <a:rPr lang="en-IN" dirty="0" smtClean="0"/>
              <a:t>some Contractor</a:t>
            </a:r>
          </a:p>
          <a:p>
            <a:pPr lvl="1">
              <a:buFont typeface="Arial" pitchFamily="34" charset="0"/>
              <a:buChar char="•"/>
              <a:defRPr/>
            </a:pPr>
            <a:r>
              <a:rPr lang="en-US" dirty="0" smtClean="0"/>
              <a:t>The specification of what the software should do is owned by the customer for the software and they make decisions on software changes that are required.</a:t>
            </a:r>
            <a:endParaRPr lang="en-IN" dirty="0" smtClean="0"/>
          </a:p>
          <a:p>
            <a:pPr lvl="2">
              <a:buFont typeface="Arial" pitchFamily="34" charset="0"/>
              <a:buChar char="•"/>
              <a:defRPr/>
            </a:pPr>
            <a:r>
              <a:rPr lang="en-US" sz="1600" dirty="0" smtClean="0"/>
              <a:t>Examples –e-commerce application of an organization, embedded software for anti-lock braking systems.</a:t>
            </a:r>
          </a:p>
          <a:p>
            <a:pPr lvl="1">
              <a:defRPr/>
            </a:pPr>
            <a:endParaRPr lang="en-IN" sz="1400" dirty="0"/>
          </a:p>
          <a:p>
            <a:pPr marL="0" lvl="1">
              <a:buFont typeface="Arial" pitchFamily="34" charset="0"/>
              <a:buChar char="•"/>
              <a:defRPr/>
            </a:pPr>
            <a:r>
              <a:rPr lang="en-IN" sz="2000" b="1" dirty="0"/>
              <a:t>Most software expenditure is on </a:t>
            </a:r>
            <a:r>
              <a:rPr lang="en-IN" sz="2000" b="1" dirty="0" smtClean="0"/>
              <a:t>generic products </a:t>
            </a:r>
            <a:r>
              <a:rPr lang="en-IN" sz="2000" b="1" dirty="0"/>
              <a:t>but most development effort is </a:t>
            </a:r>
            <a:r>
              <a:rPr lang="en-IN" sz="2000" b="1" dirty="0" smtClean="0"/>
              <a:t>on bespoke </a:t>
            </a:r>
            <a:r>
              <a:rPr lang="en-IN" sz="2000" b="1" dirty="0"/>
              <a:t>systems</a:t>
            </a:r>
            <a:endParaRPr lang="en-IN" sz="2000" b="1" dirty="0">
              <a:latin typeface="+mj-lt"/>
              <a:ea typeface="+mj-ea"/>
              <a:cs typeface="+mj-cs"/>
            </a:endParaRPr>
          </a:p>
        </p:txBody>
      </p:sp>
      <p:sp>
        <p:nvSpPr>
          <p:cNvPr id="3" name="Rectangle 2"/>
          <p:cNvSpPr/>
          <p:nvPr/>
        </p:nvSpPr>
        <p:spPr>
          <a:xfrm>
            <a:off x="323528" y="44624"/>
            <a:ext cx="4095750" cy="707886"/>
          </a:xfrm>
          <a:prstGeom prst="rect">
            <a:avLst/>
          </a:prstGeom>
        </p:spPr>
        <p:txBody>
          <a:bodyPr wrap="square">
            <a:spAutoFit/>
          </a:bodyPr>
          <a:lstStyle/>
          <a:p>
            <a:pPr>
              <a:defRPr/>
            </a:pPr>
            <a:r>
              <a:rPr lang="en-IN" sz="4000" b="1" dirty="0">
                <a:latin typeface="+mj-lt"/>
                <a:ea typeface="+mj-ea"/>
                <a:cs typeface="+mj-cs"/>
              </a:rPr>
              <a:t>Software Products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5888"/>
            <a:ext cx="6336704" cy="584775"/>
          </a:xfrm>
          <a:prstGeom prst="rect">
            <a:avLst/>
          </a:prstGeom>
        </p:spPr>
        <p:txBody>
          <a:bodyPr wrap="square">
            <a:spAutoFit/>
          </a:bodyPr>
          <a:lstStyle/>
          <a:p>
            <a:pPr>
              <a:defRPr/>
            </a:pPr>
            <a:r>
              <a:rPr lang="en-IN" sz="3200" b="1" dirty="0" smtClean="0">
                <a:latin typeface="+mj-lt"/>
                <a:ea typeface="+mj-ea"/>
                <a:cs typeface="+mj-cs"/>
              </a:rPr>
              <a:t>Wide-ranging Software </a:t>
            </a:r>
            <a:r>
              <a:rPr lang="en-IN" sz="3200" b="1" dirty="0">
                <a:latin typeface="+mj-lt"/>
                <a:ea typeface="+mj-ea"/>
                <a:cs typeface="+mj-cs"/>
              </a:rPr>
              <a:t>Applications</a:t>
            </a:r>
          </a:p>
        </p:txBody>
      </p:sp>
      <p:sp>
        <p:nvSpPr>
          <p:cNvPr id="6147" name="Rectangle 2"/>
          <p:cNvSpPr>
            <a:spLocks noChangeArrowheads="1"/>
          </p:cNvSpPr>
          <p:nvPr/>
        </p:nvSpPr>
        <p:spPr bwMode="auto">
          <a:xfrm>
            <a:off x="179512" y="1268760"/>
            <a:ext cx="4248471" cy="5400600"/>
          </a:xfrm>
          <a:prstGeom prst="rect">
            <a:avLst/>
          </a:prstGeom>
          <a:noFill/>
          <a:ln w="9525">
            <a:noFill/>
            <a:miter lim="800000"/>
            <a:headEnd/>
            <a:tailEnd/>
          </a:ln>
        </p:spPr>
        <p:txBody>
          <a:bodyPr wrap="square">
            <a:spAutoFit/>
          </a:bodyPr>
          <a:lstStyle/>
          <a:p>
            <a:pPr>
              <a:spcAft>
                <a:spcPts val="1200"/>
              </a:spcAft>
              <a:buFont typeface="Arial" charset="0"/>
              <a:buChar char="•"/>
            </a:pPr>
            <a:r>
              <a:rPr lang="en-IN" sz="2800" dirty="0"/>
              <a:t>System software</a:t>
            </a:r>
          </a:p>
          <a:p>
            <a:pPr lvl="1">
              <a:spcAft>
                <a:spcPts val="1200"/>
              </a:spcAft>
              <a:buFont typeface="Arial" charset="0"/>
              <a:buChar char="–"/>
            </a:pPr>
            <a:r>
              <a:rPr lang="en-US" sz="2000" dirty="0"/>
              <a:t>Compiler, Operating System…</a:t>
            </a:r>
            <a:endParaRPr lang="en-IN" sz="2000" dirty="0"/>
          </a:p>
          <a:p>
            <a:pPr>
              <a:spcBef>
                <a:spcPts val="1200"/>
              </a:spcBef>
              <a:spcAft>
                <a:spcPts val="1200"/>
              </a:spcAft>
              <a:buFont typeface="Arial" charset="0"/>
              <a:buChar char="•"/>
            </a:pPr>
            <a:r>
              <a:rPr lang="en-IN" sz="2800" dirty="0"/>
              <a:t>Application software</a:t>
            </a:r>
          </a:p>
          <a:p>
            <a:pPr lvl="1">
              <a:spcAft>
                <a:spcPts val="1200"/>
              </a:spcAft>
              <a:buFont typeface="Arial" charset="0"/>
              <a:buChar char="–"/>
            </a:pPr>
            <a:r>
              <a:rPr lang="en-US" sz="2000" dirty="0"/>
              <a:t>Railway reservation…</a:t>
            </a:r>
            <a:endParaRPr lang="en-IN" sz="2000" dirty="0"/>
          </a:p>
          <a:p>
            <a:pPr>
              <a:spcBef>
                <a:spcPts val="1200"/>
              </a:spcBef>
              <a:spcAft>
                <a:spcPts val="1200"/>
              </a:spcAft>
              <a:buFont typeface="Arial" charset="0"/>
              <a:buChar char="•"/>
            </a:pPr>
            <a:r>
              <a:rPr lang="en-IN" sz="2800" dirty="0"/>
              <a:t>Engineering/scientific Software</a:t>
            </a:r>
          </a:p>
          <a:p>
            <a:pPr lvl="1">
              <a:spcAft>
                <a:spcPts val="1200"/>
              </a:spcAft>
              <a:buFont typeface="Arial" charset="0"/>
              <a:buChar char="–"/>
            </a:pPr>
            <a:r>
              <a:rPr lang="en-US" sz="2000" dirty="0"/>
              <a:t>Astronomy, automated manufacturing…</a:t>
            </a:r>
            <a:endParaRPr lang="en-IN" sz="2000" dirty="0"/>
          </a:p>
          <a:p>
            <a:pPr>
              <a:spcBef>
                <a:spcPts val="1200"/>
              </a:spcBef>
              <a:spcAft>
                <a:spcPts val="1200"/>
              </a:spcAft>
              <a:buFont typeface="Arial" charset="0"/>
              <a:buChar char="•"/>
            </a:pPr>
            <a:r>
              <a:rPr lang="en-IN" sz="2800" dirty="0"/>
              <a:t>Embedded software</a:t>
            </a:r>
          </a:p>
          <a:p>
            <a:pPr lvl="1">
              <a:spcAft>
                <a:spcPts val="1200"/>
              </a:spcAft>
              <a:buFont typeface="Arial" charset="0"/>
              <a:buChar char="–"/>
            </a:pPr>
            <a:r>
              <a:rPr lang="en-US" sz="2000" dirty="0"/>
              <a:t>Braking system, Mobile phone…</a:t>
            </a:r>
            <a:endParaRPr lang="en-IN" sz="2000" dirty="0"/>
          </a:p>
        </p:txBody>
      </p:sp>
      <p:sp>
        <p:nvSpPr>
          <p:cNvPr id="7" name="Rectangle 2"/>
          <p:cNvSpPr>
            <a:spLocks noChangeArrowheads="1"/>
          </p:cNvSpPr>
          <p:nvPr/>
        </p:nvSpPr>
        <p:spPr bwMode="auto">
          <a:xfrm>
            <a:off x="4788025" y="1285304"/>
            <a:ext cx="4032447" cy="4231928"/>
          </a:xfrm>
          <a:prstGeom prst="rect">
            <a:avLst/>
          </a:prstGeom>
          <a:noFill/>
          <a:ln w="9525">
            <a:noFill/>
            <a:miter lim="800000"/>
            <a:headEnd/>
            <a:tailEnd/>
          </a:ln>
        </p:spPr>
        <p:txBody>
          <a:bodyPr wrap="square">
            <a:spAutoFit/>
          </a:bodyPr>
          <a:lstStyle/>
          <a:p>
            <a:pPr>
              <a:spcAft>
                <a:spcPts val="1800"/>
              </a:spcAft>
              <a:buFont typeface="Arial" charset="0"/>
              <a:buChar char="•"/>
            </a:pPr>
            <a:r>
              <a:rPr lang="en-IN" sz="2800" dirty="0" smtClean="0"/>
              <a:t>Product-line </a:t>
            </a:r>
            <a:r>
              <a:rPr lang="en-IN" sz="2800" dirty="0"/>
              <a:t>software</a:t>
            </a:r>
          </a:p>
          <a:p>
            <a:pPr lvl="1">
              <a:spcAft>
                <a:spcPts val="1800"/>
              </a:spcAft>
              <a:buFont typeface="Arial" charset="0"/>
              <a:buChar char="–"/>
            </a:pPr>
            <a:r>
              <a:rPr lang="en-US" sz="2000" dirty="0"/>
              <a:t>Word processor, personal finance application…</a:t>
            </a:r>
            <a:endParaRPr lang="en-IN" sz="2000" dirty="0"/>
          </a:p>
          <a:p>
            <a:pPr>
              <a:spcBef>
                <a:spcPts val="600"/>
              </a:spcBef>
              <a:spcAft>
                <a:spcPts val="1800"/>
              </a:spcAft>
              <a:buFont typeface="Arial" charset="0"/>
              <a:buChar char="•"/>
            </a:pPr>
            <a:r>
              <a:rPr lang="en-IN" sz="2800" dirty="0" smtClean="0"/>
              <a:t>Web applications</a:t>
            </a:r>
            <a:endParaRPr lang="en-IN" sz="2800" dirty="0"/>
          </a:p>
          <a:p>
            <a:pPr lvl="1">
              <a:spcAft>
                <a:spcPts val="1800"/>
              </a:spcAft>
              <a:buFont typeface="Arial" charset="0"/>
              <a:buChar char="–"/>
            </a:pPr>
            <a:r>
              <a:rPr lang="en-US" sz="2000" dirty="0"/>
              <a:t>Social networks…</a:t>
            </a:r>
            <a:endParaRPr lang="en-IN" sz="2000" dirty="0"/>
          </a:p>
          <a:p>
            <a:pPr>
              <a:spcBef>
                <a:spcPts val="600"/>
              </a:spcBef>
              <a:spcAft>
                <a:spcPts val="1800"/>
              </a:spcAft>
              <a:buFont typeface="Arial" charset="0"/>
              <a:buChar char="•"/>
            </a:pPr>
            <a:r>
              <a:rPr lang="en-IN" sz="2800" dirty="0"/>
              <a:t>AI software</a:t>
            </a:r>
          </a:p>
          <a:p>
            <a:pPr lvl="1">
              <a:spcAft>
                <a:spcPts val="1800"/>
              </a:spcAft>
              <a:buFont typeface="Arial" charset="0"/>
              <a:buChar char="–"/>
            </a:pPr>
            <a:r>
              <a:rPr lang="en-US" sz="2000" dirty="0"/>
              <a:t>Pattern recognition, neural networks…</a:t>
            </a:r>
            <a:endParaRPr lang="en-IN"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115889"/>
            <a:ext cx="5324475" cy="707886"/>
          </a:xfrm>
          <a:prstGeom prst="rect">
            <a:avLst/>
          </a:prstGeom>
        </p:spPr>
        <p:txBody>
          <a:bodyPr wrap="square">
            <a:spAutoFit/>
          </a:bodyPr>
          <a:lstStyle/>
          <a:p>
            <a:pPr>
              <a:defRPr/>
            </a:pPr>
            <a:r>
              <a:rPr lang="en-IN" sz="4000" b="1" dirty="0">
                <a:latin typeface="+mj-lt"/>
                <a:ea typeface="+mj-ea"/>
                <a:cs typeface="+mj-cs"/>
              </a:rPr>
              <a:t>Software Characteristics</a:t>
            </a:r>
          </a:p>
        </p:txBody>
      </p:sp>
      <p:sp>
        <p:nvSpPr>
          <p:cNvPr id="9219" name="Rectangle 4"/>
          <p:cNvSpPr>
            <a:spLocks noChangeArrowheads="1"/>
          </p:cNvSpPr>
          <p:nvPr/>
        </p:nvSpPr>
        <p:spPr bwMode="auto">
          <a:xfrm>
            <a:off x="785813" y="1627038"/>
            <a:ext cx="7489825" cy="3386138"/>
          </a:xfrm>
          <a:prstGeom prst="rect">
            <a:avLst/>
          </a:prstGeom>
          <a:noFill/>
          <a:ln w="9525">
            <a:noFill/>
            <a:miter lim="800000"/>
            <a:headEnd/>
            <a:tailEnd/>
          </a:ln>
        </p:spPr>
        <p:txBody>
          <a:bodyPr>
            <a:spAutoFit/>
          </a:bodyPr>
          <a:lstStyle/>
          <a:p>
            <a:pPr lvl="1" indent="-457200">
              <a:spcBef>
                <a:spcPts val="1200"/>
              </a:spcBef>
              <a:spcAft>
                <a:spcPts val="1200"/>
              </a:spcAft>
              <a:buFont typeface="Arial" pitchFamily="34" charset="0"/>
              <a:buChar char="•"/>
              <a:defRPr/>
            </a:pPr>
            <a:r>
              <a:rPr lang="en-IN" sz="2400" dirty="0">
                <a:latin typeface="Arial" pitchFamily="34" charset="0"/>
                <a:cs typeface="Arial" pitchFamily="34" charset="0"/>
              </a:rPr>
              <a:t>Software is developed or engineered....Not manufactured in the classical sense</a:t>
            </a:r>
          </a:p>
          <a:p>
            <a:pPr indent="-457200">
              <a:spcBef>
                <a:spcPts val="1200"/>
              </a:spcBef>
              <a:spcAft>
                <a:spcPts val="1200"/>
              </a:spcAft>
              <a:buFont typeface="Arial" pitchFamily="34" charset="0"/>
              <a:buChar char="•"/>
              <a:defRPr/>
            </a:pPr>
            <a:r>
              <a:rPr lang="en-IN" sz="2400" dirty="0">
                <a:latin typeface="Arial" pitchFamily="34" charset="0"/>
                <a:cs typeface="Arial" pitchFamily="34" charset="0"/>
              </a:rPr>
              <a:t>Software does NOT “wear out”</a:t>
            </a:r>
          </a:p>
          <a:p>
            <a:pPr lvl="1">
              <a:spcBef>
                <a:spcPts val="0"/>
              </a:spcBef>
              <a:spcAft>
                <a:spcPts val="1200"/>
              </a:spcAft>
              <a:buFont typeface="Arial" pitchFamily="34" charset="0"/>
              <a:buChar char="–"/>
              <a:defRPr/>
            </a:pPr>
            <a:r>
              <a:rPr lang="en-US" sz="2000" dirty="0">
                <a:latin typeface="Arial" pitchFamily="34" charset="0"/>
                <a:cs typeface="Arial" pitchFamily="34" charset="0"/>
              </a:rPr>
              <a:t>Aging of software is very unlike material objects (hardware)</a:t>
            </a:r>
            <a:endParaRPr lang="en-IN" dirty="0">
              <a:latin typeface="Arial" pitchFamily="34" charset="0"/>
              <a:cs typeface="Arial" pitchFamily="34" charset="0"/>
            </a:endParaRPr>
          </a:p>
          <a:p>
            <a:pPr lvl="1" indent="-457200">
              <a:spcBef>
                <a:spcPts val="1200"/>
              </a:spcBef>
              <a:spcAft>
                <a:spcPts val="1200"/>
              </a:spcAft>
              <a:buFont typeface="Arial" pitchFamily="34" charset="0"/>
              <a:buChar char="•"/>
              <a:defRPr/>
            </a:pPr>
            <a:r>
              <a:rPr lang="en-IN" sz="2400" dirty="0">
                <a:latin typeface="Arial" pitchFamily="34" charset="0"/>
                <a:cs typeface="Arial" pitchFamily="34" charset="0"/>
              </a:rPr>
              <a:t>Industry is moving towards component-based construction, but most of the software effort is for the custom-building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74638"/>
            <a:ext cx="6563072" cy="562074"/>
          </a:xfrm>
        </p:spPr>
        <p:txBody>
          <a:bodyPr rtlCol="0">
            <a:noAutofit/>
          </a:bodyPr>
          <a:lstStyle/>
          <a:p>
            <a:pPr algn="l" eaLnBrk="1" fontAlgn="auto" hangingPunct="1">
              <a:spcAft>
                <a:spcPts val="0"/>
              </a:spcAft>
              <a:defRPr/>
            </a:pPr>
            <a:r>
              <a:rPr lang="en-US" sz="2800" b="1" dirty="0" smtClean="0"/>
              <a:t>Failure (“Bathtub”) Curve for Hardware</a:t>
            </a:r>
          </a:p>
        </p:txBody>
      </p:sp>
      <p:sp>
        <p:nvSpPr>
          <p:cNvPr id="2051" name="Rectangle 2"/>
          <p:cNvSpPr>
            <a:spLocks noChangeArrowheads="1"/>
          </p:cNvSpPr>
          <p:nvPr/>
        </p:nvSpPr>
        <p:spPr bwMode="auto">
          <a:xfrm>
            <a:off x="1762125" y="2133600"/>
            <a:ext cx="5953125" cy="3236913"/>
          </a:xfrm>
          <a:prstGeom prst="rect">
            <a:avLst/>
          </a:prstGeom>
          <a:solidFill>
            <a:srgbClr val="FFFFFF"/>
          </a:solidFill>
          <a:ln w="9525">
            <a:solidFill>
              <a:srgbClr val="000000"/>
            </a:solidFill>
            <a:miter lim="800000"/>
            <a:headEnd/>
            <a:tailEnd/>
          </a:ln>
        </p:spPr>
        <p:txBody>
          <a:bodyPr/>
          <a:lstStyle/>
          <a:p>
            <a:endParaRPr lang="en-US">
              <a:latin typeface="Calibri" pitchFamily="34" charset="0"/>
            </a:endParaRPr>
          </a:p>
        </p:txBody>
      </p:sp>
      <p:cxnSp>
        <p:nvCxnSpPr>
          <p:cNvPr id="2052" name="AutoShape 3"/>
          <p:cNvCxnSpPr>
            <a:cxnSpLocks noChangeShapeType="1"/>
          </p:cNvCxnSpPr>
          <p:nvPr/>
        </p:nvCxnSpPr>
        <p:spPr bwMode="auto">
          <a:xfrm>
            <a:off x="2628900" y="4579938"/>
            <a:ext cx="4314825" cy="0"/>
          </a:xfrm>
          <a:prstGeom prst="straightConnector1">
            <a:avLst/>
          </a:prstGeom>
          <a:noFill/>
          <a:ln w="9525">
            <a:solidFill>
              <a:srgbClr val="000000"/>
            </a:solidFill>
            <a:round/>
            <a:headEnd/>
            <a:tailEnd/>
          </a:ln>
        </p:spPr>
      </p:cxnSp>
      <p:sp>
        <p:nvSpPr>
          <p:cNvPr id="2053" name="Arc 4"/>
          <p:cNvSpPr>
            <a:spLocks/>
          </p:cNvSpPr>
          <p:nvPr/>
        </p:nvSpPr>
        <p:spPr bwMode="auto">
          <a:xfrm flipH="1" flipV="1">
            <a:off x="2371725" y="3022600"/>
            <a:ext cx="257175" cy="1557338"/>
          </a:xfrm>
          <a:custGeom>
            <a:avLst/>
            <a:gdLst>
              <a:gd name="T0" fmla="*/ 0 w 21600"/>
              <a:gd name="T1" fmla="*/ 0 h 21600"/>
              <a:gd name="T2" fmla="*/ 3061989 w 21600"/>
              <a:gd name="T3" fmla="*/ 112266473 h 21600"/>
              <a:gd name="T4" fmla="*/ 0 w 21600"/>
              <a:gd name="T5" fmla="*/ 11226647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en-IN"/>
          </a:p>
        </p:txBody>
      </p:sp>
      <p:sp>
        <p:nvSpPr>
          <p:cNvPr id="2054" name="Arc 5"/>
          <p:cNvSpPr>
            <a:spLocks/>
          </p:cNvSpPr>
          <p:nvPr/>
        </p:nvSpPr>
        <p:spPr bwMode="auto">
          <a:xfrm flipV="1">
            <a:off x="6943725" y="3108325"/>
            <a:ext cx="238125" cy="1471613"/>
          </a:xfrm>
          <a:custGeom>
            <a:avLst/>
            <a:gdLst>
              <a:gd name="T0" fmla="*/ 0 w 21600"/>
              <a:gd name="T1" fmla="*/ 0 h 21600"/>
              <a:gd name="T2" fmla="*/ 2625162 w 21600"/>
              <a:gd name="T3" fmla="*/ 100300098 h 21600"/>
              <a:gd name="T4" fmla="*/ 0 w 21600"/>
              <a:gd name="T5" fmla="*/ 10030009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en-IN"/>
          </a:p>
        </p:txBody>
      </p:sp>
      <p:cxnSp>
        <p:nvCxnSpPr>
          <p:cNvPr id="2055" name="AutoShape 6"/>
          <p:cNvCxnSpPr>
            <a:cxnSpLocks noChangeShapeType="1"/>
          </p:cNvCxnSpPr>
          <p:nvPr/>
        </p:nvCxnSpPr>
        <p:spPr bwMode="auto">
          <a:xfrm flipH="1">
            <a:off x="2419350" y="3465513"/>
            <a:ext cx="676275" cy="219075"/>
          </a:xfrm>
          <a:prstGeom prst="straightConnector1">
            <a:avLst/>
          </a:prstGeom>
          <a:noFill/>
          <a:ln w="9525">
            <a:solidFill>
              <a:srgbClr val="000000"/>
            </a:solidFill>
            <a:round/>
            <a:headEnd/>
            <a:tailEnd type="triangle" w="med" len="med"/>
          </a:ln>
        </p:spPr>
      </p:cxnSp>
      <p:cxnSp>
        <p:nvCxnSpPr>
          <p:cNvPr id="2056" name="AutoShape 7"/>
          <p:cNvCxnSpPr>
            <a:cxnSpLocks noChangeShapeType="1"/>
          </p:cNvCxnSpPr>
          <p:nvPr/>
        </p:nvCxnSpPr>
        <p:spPr bwMode="auto">
          <a:xfrm>
            <a:off x="6305550" y="3656013"/>
            <a:ext cx="819150" cy="200025"/>
          </a:xfrm>
          <a:prstGeom prst="straightConnector1">
            <a:avLst/>
          </a:prstGeom>
          <a:noFill/>
          <a:ln w="9525">
            <a:solidFill>
              <a:srgbClr val="000000"/>
            </a:solidFill>
            <a:round/>
            <a:headEnd/>
            <a:tailEnd type="triangle" w="med" len="med"/>
          </a:ln>
        </p:spPr>
      </p:cxnSp>
      <p:sp>
        <p:nvSpPr>
          <p:cNvPr id="2057" name="Text Box 8"/>
          <p:cNvSpPr txBox="1">
            <a:spLocks noChangeArrowheads="1"/>
          </p:cNvSpPr>
          <p:nvPr/>
        </p:nvSpPr>
        <p:spPr bwMode="auto">
          <a:xfrm>
            <a:off x="3095625" y="3173413"/>
            <a:ext cx="1133475" cy="292100"/>
          </a:xfrm>
          <a:prstGeom prst="rect">
            <a:avLst/>
          </a:prstGeom>
          <a:solidFill>
            <a:srgbClr val="FFFFFF"/>
          </a:solidFill>
          <a:ln w="9525">
            <a:noFill/>
            <a:miter lim="800000"/>
            <a:headEnd/>
            <a:tailEnd/>
          </a:ln>
        </p:spPr>
        <p:txBody>
          <a:bodyPr/>
          <a:lstStyle/>
          <a:p>
            <a:pPr>
              <a:spcAft>
                <a:spcPts val="1000"/>
              </a:spcAft>
            </a:pPr>
            <a:r>
              <a:rPr lang="en-US" sz="1600">
                <a:latin typeface="Times New Roman" pitchFamily="18" charset="0"/>
                <a:cs typeface="Times New Roman" pitchFamily="18" charset="0"/>
              </a:rPr>
              <a:t>Infant mortality</a:t>
            </a:r>
          </a:p>
        </p:txBody>
      </p:sp>
      <p:sp>
        <p:nvSpPr>
          <p:cNvPr id="2058" name="Text Box 9"/>
          <p:cNvSpPr txBox="1">
            <a:spLocks noChangeArrowheads="1"/>
          </p:cNvSpPr>
          <p:nvPr/>
        </p:nvSpPr>
        <p:spPr bwMode="auto">
          <a:xfrm>
            <a:off x="5534025" y="3459163"/>
            <a:ext cx="828675" cy="339725"/>
          </a:xfrm>
          <a:prstGeom prst="rect">
            <a:avLst/>
          </a:prstGeom>
          <a:solidFill>
            <a:srgbClr val="FFFFFF"/>
          </a:solidFill>
          <a:ln w="9525">
            <a:noFill/>
            <a:miter lim="800000"/>
            <a:headEnd/>
            <a:tailEnd/>
          </a:ln>
        </p:spPr>
        <p:txBody>
          <a:bodyPr/>
          <a:lstStyle/>
          <a:p>
            <a:pPr>
              <a:spcAft>
                <a:spcPts val="1000"/>
              </a:spcAft>
            </a:pPr>
            <a:r>
              <a:rPr lang="en-US" sz="1600">
                <a:latin typeface="Times New Roman" pitchFamily="18" charset="0"/>
                <a:cs typeface="Times New Roman" pitchFamily="18" charset="0"/>
              </a:rPr>
              <a:t>Wear out</a:t>
            </a:r>
          </a:p>
        </p:txBody>
      </p:sp>
      <p:sp>
        <p:nvSpPr>
          <p:cNvPr id="2059" name="Text Box 10"/>
          <p:cNvSpPr txBox="1">
            <a:spLocks noChangeArrowheads="1"/>
          </p:cNvSpPr>
          <p:nvPr/>
        </p:nvSpPr>
        <p:spPr bwMode="auto">
          <a:xfrm>
            <a:off x="3390900" y="5594350"/>
            <a:ext cx="2438400" cy="339725"/>
          </a:xfrm>
          <a:prstGeom prst="rect">
            <a:avLst/>
          </a:prstGeom>
          <a:noFill/>
          <a:ln w="9525">
            <a:noFill/>
            <a:miter lim="800000"/>
            <a:headEnd/>
            <a:tailEnd/>
          </a:ln>
        </p:spPr>
        <p:txBody>
          <a:bodyPr/>
          <a:lstStyle/>
          <a:p>
            <a:pPr algn="ctr">
              <a:spcAft>
                <a:spcPts val="1000"/>
              </a:spcAft>
            </a:pPr>
            <a:r>
              <a:rPr lang="en-US" sz="2000" b="1">
                <a:latin typeface="Times New Roman" pitchFamily="18" charset="0"/>
                <a:cs typeface="Times New Roman" pitchFamily="18" charset="0"/>
              </a:rPr>
              <a:t>Time</a:t>
            </a:r>
          </a:p>
        </p:txBody>
      </p:sp>
      <p:sp>
        <p:nvSpPr>
          <p:cNvPr id="3" name="Text Box 11"/>
          <p:cNvSpPr txBox="1">
            <a:spLocks noChangeArrowheads="1"/>
          </p:cNvSpPr>
          <p:nvPr/>
        </p:nvSpPr>
        <p:spPr bwMode="auto">
          <a:xfrm>
            <a:off x="1295400" y="2438400"/>
            <a:ext cx="438150" cy="2571750"/>
          </a:xfrm>
          <a:prstGeom prst="rect">
            <a:avLst/>
          </a:prstGeom>
          <a:noFill/>
          <a:ln w="9525">
            <a:noFill/>
            <a:miter lim="800000"/>
            <a:headEnd/>
            <a:tailEnd/>
          </a:ln>
        </p:spPr>
        <p:txBody>
          <a:bodyPr vert="vert"/>
          <a:lstStyle/>
          <a:p>
            <a:pPr>
              <a:spcAft>
                <a:spcPts val="1000"/>
              </a:spcAft>
              <a:defRPr/>
            </a:pPr>
            <a:r>
              <a:rPr lang="en-US" sz="2400" b="1" dirty="0">
                <a:latin typeface="Times New Roman" pitchFamily="18" charset="0"/>
                <a:cs typeface="Times New Roman" pitchFamily="18" charset="0"/>
              </a:rPr>
              <a:t>Failure rate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274638"/>
            <a:ext cx="4906888" cy="562074"/>
          </a:xfrm>
        </p:spPr>
        <p:txBody>
          <a:bodyPr>
            <a:noAutofit/>
          </a:bodyPr>
          <a:lstStyle/>
          <a:p>
            <a:pPr eaLnBrk="1" hangingPunct="1"/>
            <a:r>
              <a:rPr lang="en-US" sz="3600" b="1" dirty="0" smtClean="0"/>
              <a:t>Software Deterioration</a:t>
            </a:r>
          </a:p>
        </p:txBody>
      </p:sp>
      <p:cxnSp>
        <p:nvCxnSpPr>
          <p:cNvPr id="3075" name="AutoShape 2"/>
          <p:cNvCxnSpPr>
            <a:cxnSpLocks noChangeShapeType="1"/>
          </p:cNvCxnSpPr>
          <p:nvPr/>
        </p:nvCxnSpPr>
        <p:spPr bwMode="auto">
          <a:xfrm>
            <a:off x="1529011" y="5601866"/>
            <a:ext cx="5572125" cy="0"/>
          </a:xfrm>
          <a:prstGeom prst="straightConnector1">
            <a:avLst/>
          </a:prstGeom>
          <a:noFill/>
          <a:ln w="28575">
            <a:solidFill>
              <a:srgbClr val="000000"/>
            </a:solidFill>
            <a:round/>
            <a:headEnd/>
            <a:tailEnd type="triangle" w="med" len="med"/>
          </a:ln>
        </p:spPr>
      </p:cxnSp>
      <p:cxnSp>
        <p:nvCxnSpPr>
          <p:cNvPr id="3076" name="AutoShape 3"/>
          <p:cNvCxnSpPr>
            <a:cxnSpLocks noChangeShapeType="1"/>
          </p:cNvCxnSpPr>
          <p:nvPr/>
        </p:nvCxnSpPr>
        <p:spPr bwMode="auto">
          <a:xfrm flipV="1">
            <a:off x="1529011" y="2210966"/>
            <a:ext cx="0" cy="3390900"/>
          </a:xfrm>
          <a:prstGeom prst="straightConnector1">
            <a:avLst/>
          </a:prstGeom>
          <a:noFill/>
          <a:ln w="28575">
            <a:solidFill>
              <a:srgbClr val="000000"/>
            </a:solidFill>
            <a:round/>
            <a:headEnd/>
            <a:tailEnd type="triangle" w="med" len="med"/>
          </a:ln>
        </p:spPr>
      </p:cxnSp>
      <p:sp>
        <p:nvSpPr>
          <p:cNvPr id="3077" name="Freeform 4"/>
          <p:cNvSpPr>
            <a:spLocks/>
          </p:cNvSpPr>
          <p:nvPr/>
        </p:nvSpPr>
        <p:spPr bwMode="auto">
          <a:xfrm>
            <a:off x="1652836" y="2077616"/>
            <a:ext cx="3152775" cy="3057525"/>
          </a:xfrm>
          <a:custGeom>
            <a:avLst/>
            <a:gdLst>
              <a:gd name="T0" fmla="*/ 0 w 4965"/>
              <a:gd name="T1" fmla="*/ 0 h 6015"/>
              <a:gd name="T2" fmla="*/ 847725 w 4965"/>
              <a:gd name="T3" fmla="*/ 2539042 h 6015"/>
              <a:gd name="T4" fmla="*/ 3152775 w 4965"/>
              <a:gd name="T5" fmla="*/ 3057525 h 6015"/>
              <a:gd name="T6" fmla="*/ 0 60000 65536"/>
              <a:gd name="T7" fmla="*/ 0 60000 65536"/>
              <a:gd name="T8" fmla="*/ 0 60000 65536"/>
              <a:gd name="T9" fmla="*/ 0 w 4965"/>
              <a:gd name="T10" fmla="*/ 0 h 6015"/>
              <a:gd name="T11" fmla="*/ 4965 w 4965"/>
              <a:gd name="T12" fmla="*/ 6015 h 6015"/>
            </a:gdLst>
            <a:ahLst/>
            <a:cxnLst>
              <a:cxn ang="T6">
                <a:pos x="T0" y="T1"/>
              </a:cxn>
              <a:cxn ang="T7">
                <a:pos x="T2" y="T3"/>
              </a:cxn>
              <a:cxn ang="T8">
                <a:pos x="T4" y="T5"/>
              </a:cxn>
            </a:cxnLst>
            <a:rect l="T9" t="T10" r="T11" b="T12"/>
            <a:pathLst>
              <a:path w="4965" h="6015">
                <a:moveTo>
                  <a:pt x="0" y="0"/>
                </a:moveTo>
                <a:cubicBezTo>
                  <a:pt x="254" y="1996"/>
                  <a:pt x="508" y="3993"/>
                  <a:pt x="1335" y="4995"/>
                </a:cubicBezTo>
                <a:cubicBezTo>
                  <a:pt x="2162" y="5997"/>
                  <a:pt x="3563" y="6006"/>
                  <a:pt x="4965" y="6015"/>
                </a:cubicBezTo>
              </a:path>
            </a:pathLst>
          </a:custGeom>
          <a:noFill/>
          <a:ln w="28575" cmpd="sng">
            <a:solidFill>
              <a:srgbClr val="000000"/>
            </a:solidFill>
            <a:round/>
            <a:headEnd/>
            <a:tailEnd/>
          </a:ln>
        </p:spPr>
        <p:txBody>
          <a:bodyPr/>
          <a:lstStyle/>
          <a:p>
            <a:endParaRPr lang="en-IN"/>
          </a:p>
        </p:txBody>
      </p:sp>
      <p:sp>
        <p:nvSpPr>
          <p:cNvPr id="3078" name="Text Box 5"/>
          <p:cNvSpPr txBox="1">
            <a:spLocks noChangeArrowheads="1"/>
          </p:cNvSpPr>
          <p:nvPr/>
        </p:nvSpPr>
        <p:spPr bwMode="auto">
          <a:xfrm>
            <a:off x="5996236" y="5020841"/>
            <a:ext cx="1638300" cy="257175"/>
          </a:xfrm>
          <a:prstGeom prst="rect">
            <a:avLst/>
          </a:prstGeom>
          <a:solidFill>
            <a:srgbClr val="FFFFFF"/>
          </a:solidFill>
          <a:ln w="9525">
            <a:noFill/>
            <a:miter lim="800000"/>
            <a:headEnd/>
            <a:tailEnd/>
          </a:ln>
        </p:spPr>
        <p:txBody>
          <a:bodyPr/>
          <a:lstStyle/>
          <a:p>
            <a:pPr>
              <a:spcAft>
                <a:spcPts val="1000"/>
              </a:spcAft>
            </a:pPr>
            <a:r>
              <a:rPr lang="en-US" sz="1400">
                <a:latin typeface="Times New Roman" pitchFamily="18" charset="0"/>
                <a:cs typeface="Times New Roman" pitchFamily="18" charset="0"/>
              </a:rPr>
              <a:t>idealized curve</a:t>
            </a:r>
          </a:p>
        </p:txBody>
      </p:sp>
      <p:sp>
        <p:nvSpPr>
          <p:cNvPr id="3079" name="Freeform 6"/>
          <p:cNvSpPr>
            <a:spLocks/>
          </p:cNvSpPr>
          <p:nvPr/>
        </p:nvSpPr>
        <p:spPr bwMode="auto">
          <a:xfrm>
            <a:off x="1871911" y="2077616"/>
            <a:ext cx="5000625" cy="2549525"/>
          </a:xfrm>
          <a:custGeom>
            <a:avLst/>
            <a:gdLst>
              <a:gd name="T0" fmla="*/ 0 w 7875"/>
              <a:gd name="T1" fmla="*/ 0 h 4015"/>
              <a:gd name="T2" fmla="*/ 1295400 w 7875"/>
              <a:gd name="T3" fmla="*/ 2390775 h 4015"/>
              <a:gd name="T4" fmla="*/ 5000625 w 7875"/>
              <a:gd name="T5" fmla="*/ 952500 h 4015"/>
              <a:gd name="T6" fmla="*/ 0 60000 65536"/>
              <a:gd name="T7" fmla="*/ 0 60000 65536"/>
              <a:gd name="T8" fmla="*/ 0 60000 65536"/>
              <a:gd name="T9" fmla="*/ 0 w 7875"/>
              <a:gd name="T10" fmla="*/ 0 h 4015"/>
              <a:gd name="T11" fmla="*/ 7875 w 7875"/>
              <a:gd name="T12" fmla="*/ 4015 h 4015"/>
            </a:gdLst>
            <a:ahLst/>
            <a:cxnLst>
              <a:cxn ang="T6">
                <a:pos x="T0" y="T1"/>
              </a:cxn>
              <a:cxn ang="T7">
                <a:pos x="T2" y="T3"/>
              </a:cxn>
              <a:cxn ang="T8">
                <a:pos x="T4" y="T5"/>
              </a:cxn>
            </a:cxnLst>
            <a:rect l="T9" t="T10" r="T11" b="T12"/>
            <a:pathLst>
              <a:path w="7875" h="4015">
                <a:moveTo>
                  <a:pt x="0" y="0"/>
                </a:moveTo>
                <a:cubicBezTo>
                  <a:pt x="364" y="1757"/>
                  <a:pt x="728" y="3515"/>
                  <a:pt x="2040" y="3765"/>
                </a:cubicBezTo>
                <a:cubicBezTo>
                  <a:pt x="3352" y="4015"/>
                  <a:pt x="5613" y="2757"/>
                  <a:pt x="7875" y="1500"/>
                </a:cubicBezTo>
              </a:path>
            </a:pathLst>
          </a:custGeom>
          <a:noFill/>
          <a:ln w="19050" cmpd="sng">
            <a:solidFill>
              <a:srgbClr val="000000"/>
            </a:solidFill>
            <a:round/>
            <a:headEnd/>
            <a:tailEnd/>
          </a:ln>
        </p:spPr>
        <p:txBody>
          <a:bodyPr/>
          <a:lstStyle/>
          <a:p>
            <a:endParaRPr lang="en-IN"/>
          </a:p>
        </p:txBody>
      </p:sp>
      <p:sp>
        <p:nvSpPr>
          <p:cNvPr id="3080" name="Text Box 7"/>
          <p:cNvSpPr txBox="1">
            <a:spLocks noChangeArrowheads="1"/>
          </p:cNvSpPr>
          <p:nvPr/>
        </p:nvSpPr>
        <p:spPr bwMode="auto">
          <a:xfrm>
            <a:off x="6062911" y="3506366"/>
            <a:ext cx="1162050" cy="276225"/>
          </a:xfrm>
          <a:prstGeom prst="rect">
            <a:avLst/>
          </a:prstGeom>
          <a:solidFill>
            <a:srgbClr val="FFFFFF"/>
          </a:solidFill>
          <a:ln w="9525">
            <a:noFill/>
            <a:miter lim="800000"/>
            <a:headEnd/>
            <a:tailEnd/>
          </a:ln>
        </p:spPr>
        <p:txBody>
          <a:bodyPr/>
          <a:lstStyle/>
          <a:p>
            <a:pPr>
              <a:spcAft>
                <a:spcPts val="1000"/>
              </a:spcAft>
            </a:pPr>
            <a:r>
              <a:rPr lang="en-US" sz="1400">
                <a:latin typeface="Times New Roman" pitchFamily="18" charset="0"/>
                <a:cs typeface="Times New Roman" pitchFamily="18" charset="0"/>
              </a:rPr>
              <a:t>actual curve</a:t>
            </a:r>
          </a:p>
        </p:txBody>
      </p:sp>
      <p:cxnSp>
        <p:nvCxnSpPr>
          <p:cNvPr id="3081" name="AutoShape 8"/>
          <p:cNvCxnSpPr>
            <a:cxnSpLocks noChangeShapeType="1"/>
          </p:cNvCxnSpPr>
          <p:nvPr/>
        </p:nvCxnSpPr>
        <p:spPr bwMode="auto">
          <a:xfrm flipH="1">
            <a:off x="3519736" y="2496716"/>
            <a:ext cx="9525" cy="1990725"/>
          </a:xfrm>
          <a:prstGeom prst="straightConnector1">
            <a:avLst/>
          </a:prstGeom>
          <a:noFill/>
          <a:ln w="12700">
            <a:solidFill>
              <a:srgbClr val="000000"/>
            </a:solidFill>
            <a:round/>
            <a:headEnd/>
            <a:tailEnd/>
          </a:ln>
        </p:spPr>
      </p:cxnSp>
      <p:cxnSp>
        <p:nvCxnSpPr>
          <p:cNvPr id="3082" name="AutoShape 9"/>
          <p:cNvCxnSpPr>
            <a:cxnSpLocks noChangeShapeType="1"/>
          </p:cNvCxnSpPr>
          <p:nvPr/>
        </p:nvCxnSpPr>
        <p:spPr bwMode="auto">
          <a:xfrm flipH="1">
            <a:off x="4481761" y="2249066"/>
            <a:ext cx="9525" cy="1990725"/>
          </a:xfrm>
          <a:prstGeom prst="straightConnector1">
            <a:avLst/>
          </a:prstGeom>
          <a:noFill/>
          <a:ln w="9525">
            <a:solidFill>
              <a:srgbClr val="000000"/>
            </a:solidFill>
            <a:round/>
            <a:headEnd/>
            <a:tailEnd/>
          </a:ln>
        </p:spPr>
      </p:cxnSp>
      <p:cxnSp>
        <p:nvCxnSpPr>
          <p:cNvPr id="3083" name="AutoShape 10"/>
          <p:cNvCxnSpPr>
            <a:cxnSpLocks noChangeShapeType="1"/>
          </p:cNvCxnSpPr>
          <p:nvPr/>
        </p:nvCxnSpPr>
        <p:spPr bwMode="auto">
          <a:xfrm flipH="1">
            <a:off x="5415211" y="2020466"/>
            <a:ext cx="9525" cy="1800225"/>
          </a:xfrm>
          <a:prstGeom prst="straightConnector1">
            <a:avLst/>
          </a:prstGeom>
          <a:noFill/>
          <a:ln w="9525">
            <a:solidFill>
              <a:srgbClr val="000000"/>
            </a:solidFill>
            <a:round/>
            <a:headEnd/>
            <a:tailEnd/>
          </a:ln>
        </p:spPr>
      </p:cxnSp>
      <p:sp>
        <p:nvSpPr>
          <p:cNvPr id="3084" name="Arc 11"/>
          <p:cNvSpPr>
            <a:spLocks/>
          </p:cNvSpPr>
          <p:nvPr/>
        </p:nvSpPr>
        <p:spPr bwMode="auto">
          <a:xfrm rot="10800000">
            <a:off x="3529261" y="2496716"/>
            <a:ext cx="952500" cy="1743075"/>
          </a:xfrm>
          <a:custGeom>
            <a:avLst/>
            <a:gdLst>
              <a:gd name="T0" fmla="*/ 0 w 21600"/>
              <a:gd name="T1" fmla="*/ 0 h 21600"/>
              <a:gd name="T2" fmla="*/ 42002600 w 21600"/>
              <a:gd name="T3" fmla="*/ 140662511 h 21600"/>
              <a:gd name="T4" fmla="*/ 0 w 21600"/>
              <a:gd name="T5" fmla="*/ 14066251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00"/>
            </a:solidFill>
            <a:round/>
            <a:headEnd/>
            <a:tailEnd/>
          </a:ln>
        </p:spPr>
        <p:txBody>
          <a:bodyPr/>
          <a:lstStyle/>
          <a:p>
            <a:endParaRPr lang="en-IN"/>
          </a:p>
        </p:txBody>
      </p:sp>
      <p:sp>
        <p:nvSpPr>
          <p:cNvPr id="3085" name="Arc 12"/>
          <p:cNvSpPr>
            <a:spLocks/>
          </p:cNvSpPr>
          <p:nvPr/>
        </p:nvSpPr>
        <p:spPr bwMode="auto">
          <a:xfrm rot="10800000">
            <a:off x="4492874" y="2249066"/>
            <a:ext cx="922337" cy="1571625"/>
          </a:xfrm>
          <a:custGeom>
            <a:avLst/>
            <a:gdLst>
              <a:gd name="T0" fmla="*/ 1517031 w 21600"/>
              <a:gd name="T1" fmla="*/ 0 h 21584"/>
              <a:gd name="T2" fmla="*/ 39384512 w 21600"/>
              <a:gd name="T3" fmla="*/ 114436853 h 21584"/>
              <a:gd name="T4" fmla="*/ 0 w 21600"/>
              <a:gd name="T5" fmla="*/ 114436853 h 21584"/>
              <a:gd name="T6" fmla="*/ 0 60000 65536"/>
              <a:gd name="T7" fmla="*/ 0 60000 65536"/>
              <a:gd name="T8" fmla="*/ 0 60000 65536"/>
              <a:gd name="T9" fmla="*/ 0 w 21600"/>
              <a:gd name="T10" fmla="*/ 0 h 21584"/>
              <a:gd name="T11" fmla="*/ 21600 w 21600"/>
              <a:gd name="T12" fmla="*/ 21584 h 21584"/>
            </a:gdLst>
            <a:ahLst/>
            <a:cxnLst>
              <a:cxn ang="T6">
                <a:pos x="T0" y="T1"/>
              </a:cxn>
              <a:cxn ang="T7">
                <a:pos x="T2" y="T3"/>
              </a:cxn>
              <a:cxn ang="T8">
                <a:pos x="T4" y="T5"/>
              </a:cxn>
            </a:cxnLst>
            <a:rect l="T9" t="T10" r="T11" b="T12"/>
            <a:pathLst>
              <a:path w="21600" h="21584" fill="none" extrusionOk="0">
                <a:moveTo>
                  <a:pt x="831" y="0"/>
                </a:moveTo>
                <a:cubicBezTo>
                  <a:pt x="12429" y="447"/>
                  <a:pt x="21600" y="9978"/>
                  <a:pt x="21600" y="21584"/>
                </a:cubicBezTo>
              </a:path>
              <a:path w="21600" h="21584" stroke="0" extrusionOk="0">
                <a:moveTo>
                  <a:pt x="831" y="0"/>
                </a:moveTo>
                <a:cubicBezTo>
                  <a:pt x="12429" y="447"/>
                  <a:pt x="21600" y="9978"/>
                  <a:pt x="21600" y="21584"/>
                </a:cubicBezTo>
                <a:lnTo>
                  <a:pt x="0" y="21584"/>
                </a:lnTo>
                <a:close/>
              </a:path>
            </a:pathLst>
          </a:custGeom>
          <a:noFill/>
          <a:ln w="9525">
            <a:solidFill>
              <a:srgbClr val="000000"/>
            </a:solidFill>
            <a:round/>
            <a:headEnd/>
            <a:tailEnd/>
          </a:ln>
        </p:spPr>
        <p:txBody>
          <a:bodyPr/>
          <a:lstStyle/>
          <a:p>
            <a:endParaRPr lang="en-IN"/>
          </a:p>
        </p:txBody>
      </p:sp>
      <p:sp>
        <p:nvSpPr>
          <p:cNvPr id="3086" name="Arc 13"/>
          <p:cNvSpPr>
            <a:spLocks/>
          </p:cNvSpPr>
          <p:nvPr/>
        </p:nvSpPr>
        <p:spPr bwMode="auto">
          <a:xfrm rot="10800000">
            <a:off x="5424736" y="2020466"/>
            <a:ext cx="838200" cy="1343025"/>
          </a:xfrm>
          <a:custGeom>
            <a:avLst/>
            <a:gdLst>
              <a:gd name="T0" fmla="*/ 1252876 w 21600"/>
              <a:gd name="T1" fmla="*/ 0 h 21584"/>
              <a:gd name="T2" fmla="*/ 32526815 w 21600"/>
              <a:gd name="T3" fmla="*/ 83567280 h 21584"/>
              <a:gd name="T4" fmla="*/ 0 w 21600"/>
              <a:gd name="T5" fmla="*/ 83567280 h 21584"/>
              <a:gd name="T6" fmla="*/ 0 60000 65536"/>
              <a:gd name="T7" fmla="*/ 0 60000 65536"/>
              <a:gd name="T8" fmla="*/ 0 60000 65536"/>
              <a:gd name="T9" fmla="*/ 0 w 21600"/>
              <a:gd name="T10" fmla="*/ 0 h 21584"/>
              <a:gd name="T11" fmla="*/ 21600 w 21600"/>
              <a:gd name="T12" fmla="*/ 21584 h 21584"/>
            </a:gdLst>
            <a:ahLst/>
            <a:cxnLst>
              <a:cxn ang="T6">
                <a:pos x="T0" y="T1"/>
              </a:cxn>
              <a:cxn ang="T7">
                <a:pos x="T2" y="T3"/>
              </a:cxn>
              <a:cxn ang="T8">
                <a:pos x="T4" y="T5"/>
              </a:cxn>
            </a:cxnLst>
            <a:rect l="T9" t="T10" r="T11" b="T12"/>
            <a:pathLst>
              <a:path w="21600" h="21584" fill="none" extrusionOk="0">
                <a:moveTo>
                  <a:pt x="831" y="0"/>
                </a:moveTo>
                <a:cubicBezTo>
                  <a:pt x="12429" y="447"/>
                  <a:pt x="21600" y="9978"/>
                  <a:pt x="21600" y="21584"/>
                </a:cubicBezTo>
              </a:path>
              <a:path w="21600" h="21584" stroke="0" extrusionOk="0">
                <a:moveTo>
                  <a:pt x="831" y="0"/>
                </a:moveTo>
                <a:cubicBezTo>
                  <a:pt x="12429" y="447"/>
                  <a:pt x="21600" y="9978"/>
                  <a:pt x="21600" y="21584"/>
                </a:cubicBezTo>
                <a:lnTo>
                  <a:pt x="0" y="21584"/>
                </a:lnTo>
                <a:close/>
              </a:path>
            </a:pathLst>
          </a:custGeom>
          <a:noFill/>
          <a:ln w="9525">
            <a:solidFill>
              <a:srgbClr val="000000"/>
            </a:solidFill>
            <a:round/>
            <a:headEnd/>
            <a:tailEnd/>
          </a:ln>
        </p:spPr>
        <p:txBody>
          <a:bodyPr/>
          <a:lstStyle/>
          <a:p>
            <a:endParaRPr lang="en-IN"/>
          </a:p>
        </p:txBody>
      </p:sp>
      <p:sp>
        <p:nvSpPr>
          <p:cNvPr id="3087" name="Text Box 14"/>
          <p:cNvSpPr txBox="1">
            <a:spLocks noChangeArrowheads="1"/>
          </p:cNvSpPr>
          <p:nvPr/>
        </p:nvSpPr>
        <p:spPr bwMode="auto">
          <a:xfrm>
            <a:off x="2310061" y="3277766"/>
            <a:ext cx="1162050" cy="276225"/>
          </a:xfrm>
          <a:prstGeom prst="rect">
            <a:avLst/>
          </a:prstGeom>
          <a:solidFill>
            <a:srgbClr val="FFFFFF"/>
          </a:solidFill>
          <a:ln w="9525">
            <a:noFill/>
            <a:miter lim="800000"/>
            <a:headEnd/>
            <a:tailEnd/>
          </a:ln>
        </p:spPr>
        <p:txBody>
          <a:bodyPr/>
          <a:lstStyle/>
          <a:p>
            <a:pPr>
              <a:spcAft>
                <a:spcPts val="1000"/>
              </a:spcAft>
            </a:pPr>
            <a:r>
              <a:rPr lang="en-US" sz="1400">
                <a:latin typeface="Times New Roman" pitchFamily="18" charset="0"/>
                <a:cs typeface="Times New Roman" pitchFamily="18" charset="0"/>
              </a:rPr>
              <a:t>change</a:t>
            </a:r>
          </a:p>
        </p:txBody>
      </p:sp>
      <p:sp>
        <p:nvSpPr>
          <p:cNvPr id="3088" name="Text Box 15"/>
          <p:cNvSpPr txBox="1">
            <a:spLocks noChangeArrowheads="1"/>
          </p:cNvSpPr>
          <p:nvPr/>
        </p:nvSpPr>
        <p:spPr bwMode="auto">
          <a:xfrm>
            <a:off x="2148136" y="1772816"/>
            <a:ext cx="2124075" cy="476250"/>
          </a:xfrm>
          <a:prstGeom prst="rect">
            <a:avLst/>
          </a:prstGeom>
          <a:solidFill>
            <a:srgbClr val="FFFFFF"/>
          </a:solidFill>
          <a:ln w="9525">
            <a:noFill/>
            <a:miter lim="800000"/>
            <a:headEnd/>
            <a:tailEnd/>
          </a:ln>
        </p:spPr>
        <p:txBody>
          <a:bodyPr/>
          <a:lstStyle/>
          <a:p>
            <a:pPr>
              <a:spcAft>
                <a:spcPts val="1000"/>
              </a:spcAft>
            </a:pPr>
            <a:r>
              <a:rPr lang="en-US" sz="1400">
                <a:latin typeface="Times New Roman" pitchFamily="18" charset="0"/>
                <a:cs typeface="Times New Roman" pitchFamily="18" charset="0"/>
              </a:rPr>
              <a:t>Increase failure rate due to side effects</a:t>
            </a:r>
          </a:p>
        </p:txBody>
      </p:sp>
      <p:sp>
        <p:nvSpPr>
          <p:cNvPr id="3089" name="Text Box 16"/>
          <p:cNvSpPr txBox="1">
            <a:spLocks noChangeArrowheads="1"/>
          </p:cNvSpPr>
          <p:nvPr/>
        </p:nvSpPr>
        <p:spPr bwMode="auto">
          <a:xfrm>
            <a:off x="395536" y="2496716"/>
            <a:ext cx="1057275" cy="581025"/>
          </a:xfrm>
          <a:prstGeom prst="rect">
            <a:avLst/>
          </a:prstGeom>
          <a:solidFill>
            <a:srgbClr val="FFFFFF"/>
          </a:solidFill>
          <a:ln w="9525">
            <a:noFill/>
            <a:miter lim="800000"/>
            <a:headEnd/>
            <a:tailEnd/>
          </a:ln>
        </p:spPr>
        <p:txBody>
          <a:bodyPr/>
          <a:lstStyle/>
          <a:p>
            <a:pPr>
              <a:spcAft>
                <a:spcPts val="1000"/>
              </a:spcAft>
            </a:pPr>
            <a:r>
              <a:rPr lang="en-US" b="1">
                <a:latin typeface="Times New Roman" pitchFamily="18" charset="0"/>
                <a:cs typeface="Times New Roman" pitchFamily="18" charset="0"/>
              </a:rPr>
              <a:t>Failure Rate</a:t>
            </a:r>
            <a:endParaRPr lang="en-US">
              <a:latin typeface="Times New Roman" pitchFamily="18" charset="0"/>
              <a:cs typeface="Times New Roman" pitchFamily="18" charset="0"/>
            </a:endParaRPr>
          </a:p>
        </p:txBody>
      </p:sp>
      <p:sp>
        <p:nvSpPr>
          <p:cNvPr id="3090" name="Text Box 17"/>
          <p:cNvSpPr txBox="1">
            <a:spLocks noChangeArrowheads="1"/>
          </p:cNvSpPr>
          <p:nvPr/>
        </p:nvSpPr>
        <p:spPr bwMode="auto">
          <a:xfrm>
            <a:off x="6529636" y="5744741"/>
            <a:ext cx="695325" cy="266700"/>
          </a:xfrm>
          <a:prstGeom prst="rect">
            <a:avLst/>
          </a:prstGeom>
          <a:solidFill>
            <a:srgbClr val="FFFFFF"/>
          </a:solidFill>
          <a:ln w="9525">
            <a:noFill/>
            <a:miter lim="800000"/>
            <a:headEnd/>
            <a:tailEnd/>
          </a:ln>
        </p:spPr>
        <p:txBody>
          <a:bodyPr/>
          <a:lstStyle/>
          <a:p>
            <a:pPr>
              <a:spcAft>
                <a:spcPts val="1000"/>
              </a:spcAft>
            </a:pPr>
            <a:r>
              <a:rPr lang="en-US" b="1">
                <a:latin typeface="Times New Roman" pitchFamily="18" charset="0"/>
                <a:cs typeface="Times New Roman" pitchFamily="18" charset="0"/>
              </a:rPr>
              <a:t>Time</a:t>
            </a:r>
            <a:endParaRPr lang="en-US">
              <a:latin typeface="Times New Roman" pitchFamily="18" charset="0"/>
              <a:cs typeface="Times New Roman" pitchFamily="18" charset="0"/>
            </a:endParaRPr>
          </a:p>
        </p:txBody>
      </p:sp>
      <p:cxnSp>
        <p:nvCxnSpPr>
          <p:cNvPr id="3091" name="AutoShape 18"/>
          <p:cNvCxnSpPr>
            <a:cxnSpLocks noChangeShapeType="1"/>
          </p:cNvCxnSpPr>
          <p:nvPr/>
        </p:nvCxnSpPr>
        <p:spPr bwMode="auto">
          <a:xfrm flipH="1" flipV="1">
            <a:off x="2881561" y="2249066"/>
            <a:ext cx="590550" cy="828675"/>
          </a:xfrm>
          <a:prstGeom prst="straightConnector1">
            <a:avLst/>
          </a:prstGeom>
          <a:noFill/>
          <a:ln w="12700">
            <a:solidFill>
              <a:srgbClr val="000000"/>
            </a:solidFill>
            <a:round/>
            <a:headEnd/>
            <a:tailEnd/>
          </a:ln>
        </p:spPr>
      </p:cxnSp>
      <p:cxnSp>
        <p:nvCxnSpPr>
          <p:cNvPr id="3092" name="AutoShape 19"/>
          <p:cNvCxnSpPr>
            <a:cxnSpLocks noChangeShapeType="1"/>
          </p:cNvCxnSpPr>
          <p:nvPr/>
        </p:nvCxnSpPr>
        <p:spPr bwMode="auto">
          <a:xfrm>
            <a:off x="2786311" y="3553991"/>
            <a:ext cx="685800" cy="876300"/>
          </a:xfrm>
          <a:prstGeom prst="straightConnector1">
            <a:avLst/>
          </a:prstGeom>
          <a:noFill/>
          <a:ln w="9525">
            <a:solidFill>
              <a:srgbClr val="000000"/>
            </a:solidFill>
            <a:round/>
            <a:headEnd/>
            <a:tailEnd type="triangle" w="med" len="med"/>
          </a:ln>
        </p:spPr>
      </p:cxnSp>
      <p:cxnSp>
        <p:nvCxnSpPr>
          <p:cNvPr id="3093" name="AutoShape 38"/>
          <p:cNvCxnSpPr>
            <a:cxnSpLocks noChangeShapeType="1"/>
          </p:cNvCxnSpPr>
          <p:nvPr/>
        </p:nvCxnSpPr>
        <p:spPr bwMode="auto">
          <a:xfrm>
            <a:off x="4738936" y="5125616"/>
            <a:ext cx="1057275" cy="0"/>
          </a:xfrm>
          <a:prstGeom prst="straightConnector1">
            <a:avLst/>
          </a:prstGeom>
          <a:noFill/>
          <a:ln w="28575">
            <a:solidFill>
              <a:srgbClr val="000000"/>
            </a:solidFill>
            <a:round/>
            <a:headEnd/>
            <a:tailEnd/>
          </a:ln>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23528" y="188913"/>
            <a:ext cx="6049044" cy="647700"/>
          </a:xfrm>
        </p:spPr>
        <p:txBody>
          <a:bodyPr/>
          <a:lstStyle/>
          <a:p>
            <a:r>
              <a:rPr lang="en-US" sz="3600" b="1" dirty="0" smtClean="0"/>
              <a:t>Evolving the Legacy Software</a:t>
            </a:r>
          </a:p>
        </p:txBody>
      </p:sp>
      <p:sp>
        <p:nvSpPr>
          <p:cNvPr id="5" name="Rectangle 3"/>
          <p:cNvSpPr txBox="1">
            <a:spLocks noChangeArrowheads="1"/>
          </p:cNvSpPr>
          <p:nvPr/>
        </p:nvSpPr>
        <p:spPr bwMode="auto">
          <a:xfrm>
            <a:off x="611188" y="1557338"/>
            <a:ext cx="7772400" cy="4114800"/>
          </a:xfrm>
          <a:prstGeom prst="rect">
            <a:avLst/>
          </a:prstGeom>
          <a:noFill/>
          <a:ln w="9525">
            <a:noFill/>
            <a:miter lim="800000"/>
            <a:headEnd/>
            <a:tailEnd/>
          </a:ln>
        </p:spPr>
        <p:txBody>
          <a:bodyPr/>
          <a:lstStyle/>
          <a:p>
            <a:pPr marL="342900" indent="-342900" eaLnBrk="0" hangingPunct="0">
              <a:spcBef>
                <a:spcPct val="20000"/>
              </a:spcBef>
              <a:spcAft>
                <a:spcPts val="1200"/>
              </a:spcAft>
              <a:buFont typeface="Arial" charset="0"/>
              <a:buChar char="•"/>
              <a:defRPr/>
            </a:pPr>
            <a:r>
              <a:rPr lang="en-US" sz="2400" dirty="0">
                <a:latin typeface="+mn-lt"/>
                <a:cs typeface="+mn-cs"/>
              </a:rPr>
              <a:t>(Adaptive) Must be adapted to meet the needs of new computing environments or more modern systems, databases, or networks</a:t>
            </a:r>
          </a:p>
          <a:p>
            <a:pPr marL="342900" indent="-342900" eaLnBrk="0" hangingPunct="0">
              <a:spcBef>
                <a:spcPct val="20000"/>
              </a:spcBef>
              <a:spcAft>
                <a:spcPts val="1200"/>
              </a:spcAft>
              <a:buFont typeface="Arial" charset="0"/>
              <a:buChar char="•"/>
              <a:defRPr/>
            </a:pPr>
            <a:r>
              <a:rPr lang="en-US" sz="2400" dirty="0">
                <a:latin typeface="+mn-lt"/>
                <a:cs typeface="+mn-cs"/>
              </a:rPr>
              <a:t>(Perfective) Must be enhanced to implement new business requirements , improve performance etc.</a:t>
            </a:r>
          </a:p>
          <a:p>
            <a:pPr marL="342900" indent="-342900" eaLnBrk="0" hangingPunct="0">
              <a:spcBef>
                <a:spcPct val="20000"/>
              </a:spcBef>
              <a:buFont typeface="Arial" charset="0"/>
              <a:buChar char="•"/>
              <a:defRPr/>
            </a:pPr>
            <a:r>
              <a:rPr lang="en-US" sz="2400" dirty="0">
                <a:latin typeface="+mn-lt"/>
                <a:cs typeface="+mn-cs"/>
              </a:rPr>
              <a:t>(Corrective) Must be changed because of errors found in the specification, design, or implementation</a:t>
            </a:r>
          </a:p>
          <a:p>
            <a:pPr marL="342900" indent="-342900" eaLnBrk="0" hangingPunct="0">
              <a:spcBef>
                <a:spcPct val="20000"/>
              </a:spcBef>
              <a:buFont typeface="Arial" charset="0"/>
              <a:buChar char="•"/>
              <a:defRPr/>
            </a:pPr>
            <a:endParaRPr lang="en-US" sz="2400" dirty="0">
              <a:latin typeface="+mn-lt"/>
              <a:cs typeface="+mn-cs"/>
            </a:endParaRPr>
          </a:p>
          <a:p>
            <a:pPr marL="342900" indent="-342900" eaLnBrk="0" hangingPunct="0">
              <a:spcBef>
                <a:spcPct val="20000"/>
              </a:spcBef>
              <a:defRPr/>
            </a:pPr>
            <a:r>
              <a:rPr lang="en-US" dirty="0"/>
              <a:t>(Note: These are three major reasons for software maintenance, along with Preventive </a:t>
            </a:r>
            <a:r>
              <a:rPr lang="en-US" dirty="0" err="1"/>
              <a:t>maintenence</a:t>
            </a:r>
            <a:r>
              <a:rPr lang="en-US" dirty="0"/>
              <a:t>)</a:t>
            </a:r>
          </a:p>
          <a:p>
            <a:pPr marL="342900" indent="-342900" eaLnBrk="0" hangingPunct="0">
              <a:spcBef>
                <a:spcPct val="20000"/>
              </a:spcBef>
              <a:defRPr/>
            </a:pPr>
            <a:endParaRPr lang="en-US" sz="2400" dirty="0">
              <a:latin typeface="+mn-lt"/>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ChangeArrowheads="1"/>
          </p:cNvSpPr>
          <p:nvPr/>
        </p:nvSpPr>
        <p:spPr bwMode="auto">
          <a:xfrm>
            <a:off x="468313" y="1376511"/>
            <a:ext cx="8351837" cy="5076825"/>
          </a:xfrm>
          <a:prstGeom prst="rect">
            <a:avLst/>
          </a:prstGeom>
          <a:noFill/>
          <a:ln w="9525">
            <a:noFill/>
            <a:miter lim="800000"/>
            <a:headEnd/>
            <a:tailEnd/>
          </a:ln>
        </p:spPr>
        <p:txBody>
          <a:bodyPr>
            <a:spAutoFit/>
          </a:bodyPr>
          <a:lstStyle/>
          <a:p>
            <a:r>
              <a:rPr lang="en-IN" b="1" dirty="0"/>
              <a:t>Network intensiveness</a:t>
            </a:r>
            <a:r>
              <a:rPr lang="en-IN" dirty="0"/>
              <a:t>. A </a:t>
            </a:r>
            <a:r>
              <a:rPr lang="en-IN" dirty="0" err="1"/>
              <a:t>WebApp</a:t>
            </a:r>
            <a:r>
              <a:rPr lang="en-IN" dirty="0"/>
              <a:t> resides on a network and must serve the needs of a diverse community of clients.</a:t>
            </a:r>
          </a:p>
          <a:p>
            <a:endParaRPr lang="en-IN" dirty="0"/>
          </a:p>
          <a:p>
            <a:r>
              <a:rPr lang="en-IN" b="1" dirty="0"/>
              <a:t>Concurrency. </a:t>
            </a:r>
            <a:r>
              <a:rPr lang="en-IN" dirty="0"/>
              <a:t>A large number of users may access the </a:t>
            </a:r>
            <a:r>
              <a:rPr lang="en-IN" dirty="0" err="1"/>
              <a:t>WebApp</a:t>
            </a:r>
            <a:r>
              <a:rPr lang="en-IN" dirty="0"/>
              <a:t> at one time.</a:t>
            </a:r>
          </a:p>
          <a:p>
            <a:endParaRPr lang="en-IN" dirty="0"/>
          </a:p>
          <a:p>
            <a:r>
              <a:rPr lang="en-IN" b="1" dirty="0"/>
              <a:t>Unpredictable load. </a:t>
            </a:r>
            <a:r>
              <a:rPr lang="en-IN" dirty="0"/>
              <a:t>The number of users of the </a:t>
            </a:r>
            <a:r>
              <a:rPr lang="en-IN" dirty="0" err="1"/>
              <a:t>WebApp</a:t>
            </a:r>
            <a:r>
              <a:rPr lang="en-IN" dirty="0"/>
              <a:t> may vary by orders of magnitude from day to day.</a:t>
            </a:r>
          </a:p>
          <a:p>
            <a:endParaRPr lang="en-IN" dirty="0"/>
          </a:p>
          <a:p>
            <a:r>
              <a:rPr lang="en-IN" b="1" dirty="0"/>
              <a:t>Performance. </a:t>
            </a:r>
            <a:r>
              <a:rPr lang="en-IN" dirty="0"/>
              <a:t>If a </a:t>
            </a:r>
            <a:r>
              <a:rPr lang="en-IN" dirty="0" err="1"/>
              <a:t>WebApp</a:t>
            </a:r>
            <a:r>
              <a:rPr lang="en-IN" dirty="0"/>
              <a:t> user must wait too long (for access, for server-side processing, for client-side formatting and display), he or she may decide to go elsewhere.</a:t>
            </a:r>
          </a:p>
          <a:p>
            <a:endParaRPr lang="en-IN" dirty="0"/>
          </a:p>
          <a:p>
            <a:r>
              <a:rPr lang="en-IN" b="1" dirty="0"/>
              <a:t>Availability. </a:t>
            </a:r>
            <a:r>
              <a:rPr lang="en-IN" dirty="0"/>
              <a:t>Although expectation of 100 percent availability is unreasonable, users of popular </a:t>
            </a:r>
            <a:r>
              <a:rPr lang="en-IN" dirty="0" err="1"/>
              <a:t>WebApps</a:t>
            </a:r>
            <a:r>
              <a:rPr lang="en-IN" dirty="0"/>
              <a:t> often demand access on a “24/7/365” basis.</a:t>
            </a:r>
          </a:p>
          <a:p>
            <a:endParaRPr lang="en-IN" dirty="0"/>
          </a:p>
          <a:p>
            <a:r>
              <a:rPr lang="en-IN" b="1" dirty="0"/>
              <a:t>Data driven. </a:t>
            </a:r>
            <a:r>
              <a:rPr lang="en-IN" dirty="0"/>
              <a:t>The primary function of many </a:t>
            </a:r>
            <a:r>
              <a:rPr lang="en-IN" dirty="0" err="1"/>
              <a:t>WebApps</a:t>
            </a:r>
            <a:r>
              <a:rPr lang="en-IN" dirty="0"/>
              <a:t> is to use hypermedia to present text, graphics, audio, and video content to the end-user.</a:t>
            </a:r>
          </a:p>
          <a:p>
            <a:endParaRPr lang="en-IN" dirty="0"/>
          </a:p>
        </p:txBody>
      </p:sp>
      <p:sp>
        <p:nvSpPr>
          <p:cNvPr id="9219" name="Rectangle 2"/>
          <p:cNvSpPr>
            <a:spLocks noChangeArrowheads="1"/>
          </p:cNvSpPr>
          <p:nvPr/>
        </p:nvSpPr>
        <p:spPr bwMode="auto">
          <a:xfrm>
            <a:off x="179512" y="115888"/>
            <a:ext cx="5832647" cy="687368"/>
          </a:xfrm>
          <a:prstGeom prst="rect">
            <a:avLst/>
          </a:prstGeom>
          <a:noFill/>
          <a:ln w="9525">
            <a:noFill/>
            <a:miter lim="800000"/>
            <a:headEnd/>
            <a:tailEnd/>
          </a:ln>
        </p:spPr>
        <p:txBody>
          <a:bodyPr wrap="square">
            <a:spAutoFit/>
          </a:bodyPr>
          <a:lstStyle/>
          <a:p>
            <a:pPr>
              <a:lnSpc>
                <a:spcPts val="3200"/>
              </a:lnSpc>
              <a:defRPr/>
            </a:pPr>
            <a:r>
              <a:rPr lang="en-IN" sz="2800" b="1" dirty="0">
                <a:latin typeface="+mj-lt"/>
                <a:ea typeface="+mj-ea"/>
                <a:cs typeface="+mj-cs"/>
              </a:rPr>
              <a:t>Characteristics of </a:t>
            </a:r>
            <a:r>
              <a:rPr lang="en-IN" sz="2800" b="1" dirty="0" smtClean="0">
                <a:latin typeface="+mj-lt"/>
                <a:ea typeface="+mj-ea"/>
                <a:cs typeface="+mj-cs"/>
              </a:rPr>
              <a:t>Contemporary Apps</a:t>
            </a:r>
            <a:endParaRPr lang="en-IN" sz="1200" dirty="0" smtClean="0"/>
          </a:p>
          <a:p>
            <a:pPr algn="ctr">
              <a:defRPr/>
            </a:pPr>
            <a:r>
              <a:rPr lang="en-IN" sz="1200" dirty="0" smtClean="0"/>
              <a:t>(</a:t>
            </a:r>
            <a:r>
              <a:rPr lang="en-IN" sz="1200" dirty="0" err="1" smtClean="0"/>
              <a:t>WebApps</a:t>
            </a:r>
            <a:r>
              <a:rPr lang="en-IN" sz="1200" dirty="0" smtClean="0"/>
              <a:t>)</a:t>
            </a:r>
            <a:endParaRPr lang="en-IN"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ChangeArrowheads="1"/>
          </p:cNvSpPr>
          <p:nvPr/>
        </p:nvSpPr>
        <p:spPr bwMode="auto">
          <a:xfrm>
            <a:off x="468313" y="1424905"/>
            <a:ext cx="8207375" cy="4524375"/>
          </a:xfrm>
          <a:prstGeom prst="rect">
            <a:avLst/>
          </a:prstGeom>
          <a:noFill/>
          <a:ln w="9525">
            <a:noFill/>
            <a:miter lim="800000"/>
            <a:headEnd/>
            <a:tailEnd/>
          </a:ln>
        </p:spPr>
        <p:txBody>
          <a:bodyPr>
            <a:spAutoFit/>
          </a:bodyPr>
          <a:lstStyle/>
          <a:p>
            <a:r>
              <a:rPr lang="en-IN" b="1" dirty="0"/>
              <a:t>Content sensitive. </a:t>
            </a:r>
            <a:r>
              <a:rPr lang="en-IN" dirty="0"/>
              <a:t>The quality and aesthetic nature of content remains an important determinant of the quality of a </a:t>
            </a:r>
            <a:r>
              <a:rPr lang="en-IN" dirty="0" err="1"/>
              <a:t>WebApp</a:t>
            </a:r>
            <a:endParaRPr lang="en-IN" dirty="0"/>
          </a:p>
          <a:p>
            <a:endParaRPr lang="en-IN" dirty="0"/>
          </a:p>
          <a:p>
            <a:r>
              <a:rPr lang="en-IN" b="1" dirty="0"/>
              <a:t>Continuous evolution. </a:t>
            </a:r>
            <a:r>
              <a:rPr lang="en-IN" dirty="0"/>
              <a:t>Unlike conventional application software that evolves over a series of planned, chronologically-spaced releases, Web applications evolve continuously</a:t>
            </a:r>
          </a:p>
          <a:p>
            <a:endParaRPr lang="en-IN" dirty="0"/>
          </a:p>
          <a:p>
            <a:r>
              <a:rPr lang="en-IN" b="1" dirty="0"/>
              <a:t>Immediacy. </a:t>
            </a:r>
            <a:r>
              <a:rPr lang="en-IN" dirty="0"/>
              <a:t>Although </a:t>
            </a:r>
            <a:r>
              <a:rPr lang="en-IN" i="1" dirty="0"/>
              <a:t>immediacy—the compelling need to get </a:t>
            </a:r>
            <a:r>
              <a:rPr lang="en-IN" dirty="0"/>
              <a:t>software to market quickly—is a characteristic of many application domains, </a:t>
            </a:r>
            <a:r>
              <a:rPr lang="en-IN" dirty="0" err="1"/>
              <a:t>WebApps</a:t>
            </a:r>
            <a:r>
              <a:rPr lang="en-IN" dirty="0"/>
              <a:t> often exhibit a time to market that can be a matter of a few days or weeks</a:t>
            </a:r>
          </a:p>
          <a:p>
            <a:endParaRPr lang="en-IN" dirty="0"/>
          </a:p>
          <a:p>
            <a:r>
              <a:rPr lang="en-IN" b="1" dirty="0"/>
              <a:t>Security. </a:t>
            </a:r>
            <a:r>
              <a:rPr lang="en-IN" dirty="0"/>
              <a:t>Because </a:t>
            </a:r>
            <a:r>
              <a:rPr lang="en-IN" dirty="0" err="1"/>
              <a:t>WebApps</a:t>
            </a:r>
            <a:r>
              <a:rPr lang="en-IN" dirty="0"/>
              <a:t> are available via network access, it is difficult, if not impossible, to limit the population of end-users who may access the application</a:t>
            </a:r>
          </a:p>
          <a:p>
            <a:endParaRPr lang="en-IN" dirty="0"/>
          </a:p>
          <a:p>
            <a:r>
              <a:rPr lang="en-IN" b="1" dirty="0"/>
              <a:t>Aesthetics. </a:t>
            </a:r>
            <a:r>
              <a:rPr lang="en-IN" dirty="0"/>
              <a:t>An undeniable part of the appeal of a </a:t>
            </a:r>
            <a:r>
              <a:rPr lang="en-IN" dirty="0" err="1"/>
              <a:t>WebApp</a:t>
            </a:r>
            <a:r>
              <a:rPr lang="en-IN" dirty="0"/>
              <a:t> is its look and feel</a:t>
            </a:r>
          </a:p>
        </p:txBody>
      </p:sp>
      <p:sp>
        <p:nvSpPr>
          <p:cNvPr id="8" name="Rectangle 2"/>
          <p:cNvSpPr>
            <a:spLocks noChangeArrowheads="1"/>
          </p:cNvSpPr>
          <p:nvPr/>
        </p:nvSpPr>
        <p:spPr bwMode="auto">
          <a:xfrm>
            <a:off x="107504" y="115888"/>
            <a:ext cx="6192688" cy="687368"/>
          </a:xfrm>
          <a:prstGeom prst="rect">
            <a:avLst/>
          </a:prstGeom>
          <a:noFill/>
          <a:ln w="9525">
            <a:noFill/>
            <a:miter lim="800000"/>
            <a:headEnd/>
            <a:tailEnd/>
          </a:ln>
        </p:spPr>
        <p:txBody>
          <a:bodyPr wrap="square">
            <a:spAutoFit/>
          </a:bodyPr>
          <a:lstStyle/>
          <a:p>
            <a:pPr>
              <a:lnSpc>
                <a:spcPts val="3200"/>
              </a:lnSpc>
              <a:defRPr/>
            </a:pPr>
            <a:r>
              <a:rPr lang="en-IN" sz="2800" b="1" dirty="0">
                <a:latin typeface="+mj-lt"/>
                <a:ea typeface="+mj-ea"/>
                <a:cs typeface="+mj-cs"/>
              </a:rPr>
              <a:t>Characteristics of </a:t>
            </a:r>
            <a:r>
              <a:rPr lang="en-IN" sz="2800" b="1" dirty="0" smtClean="0">
                <a:latin typeface="+mj-lt"/>
                <a:ea typeface="+mj-ea"/>
                <a:cs typeface="+mj-cs"/>
              </a:rPr>
              <a:t>Contemporary Apps</a:t>
            </a:r>
            <a:r>
              <a:rPr lang="en-IN" sz="1200" dirty="0" smtClean="0"/>
              <a:t> (Cont)</a:t>
            </a:r>
          </a:p>
          <a:p>
            <a:pPr algn="ctr">
              <a:defRPr/>
            </a:pPr>
            <a:r>
              <a:rPr lang="en-IN" sz="1200" dirty="0" smtClean="0"/>
              <a:t>(</a:t>
            </a:r>
            <a:r>
              <a:rPr lang="en-IN" sz="1200" dirty="0" err="1" smtClean="0"/>
              <a:t>WebApps</a:t>
            </a:r>
            <a:r>
              <a:rPr lang="en-IN" sz="1200" dirty="0" smtClean="0"/>
              <a:t>)</a:t>
            </a:r>
            <a:endParaRPr lang="en-IN"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95536" y="285750"/>
            <a:ext cx="5398368" cy="622970"/>
          </a:xfrm>
        </p:spPr>
        <p:txBody>
          <a:bodyPr>
            <a:normAutofit/>
          </a:bodyPr>
          <a:lstStyle/>
          <a:p>
            <a:pPr>
              <a:lnSpc>
                <a:spcPts val="3200"/>
              </a:lnSpc>
            </a:pPr>
            <a:r>
              <a:rPr lang="en-US" sz="4000" b="1" dirty="0" smtClean="0"/>
              <a:t>Unchanging Questions</a:t>
            </a:r>
          </a:p>
        </p:txBody>
      </p:sp>
      <p:sp>
        <p:nvSpPr>
          <p:cNvPr id="3" name="Rectangle 3"/>
          <p:cNvSpPr txBox="1">
            <a:spLocks noChangeArrowheads="1"/>
          </p:cNvSpPr>
          <p:nvPr/>
        </p:nvSpPr>
        <p:spPr bwMode="auto">
          <a:xfrm>
            <a:off x="685800" y="1556792"/>
            <a:ext cx="7990656" cy="4658271"/>
          </a:xfrm>
          <a:prstGeom prst="rect">
            <a:avLst/>
          </a:prstGeom>
          <a:noFill/>
          <a:ln w="9525">
            <a:noFill/>
            <a:miter lim="800000"/>
            <a:headEnd/>
            <a:tailEnd/>
          </a:ln>
        </p:spPr>
        <p:txBody>
          <a:bodyPr/>
          <a:lstStyle/>
          <a:p>
            <a:pPr eaLnBrk="0" hangingPunct="0">
              <a:lnSpc>
                <a:spcPct val="90000"/>
              </a:lnSpc>
              <a:spcBef>
                <a:spcPct val="20000"/>
              </a:spcBef>
              <a:spcAft>
                <a:spcPts val="1200"/>
              </a:spcAft>
              <a:defRPr/>
            </a:pPr>
            <a:r>
              <a:rPr lang="en-US" sz="2200" dirty="0" smtClean="0"/>
              <a:t>Some Questions About Software Haven't Changed Over the Decades</a:t>
            </a:r>
            <a:endParaRPr lang="en-US" sz="2200" dirty="0" smtClean="0">
              <a:latin typeface="+mn-lt"/>
              <a:cs typeface="+mn-cs"/>
            </a:endParaRPr>
          </a:p>
          <a:p>
            <a:pPr marL="432000" indent="-342900" eaLnBrk="0" hangingPunct="0">
              <a:lnSpc>
                <a:spcPct val="90000"/>
              </a:lnSpc>
              <a:spcBef>
                <a:spcPct val="20000"/>
              </a:spcBef>
              <a:spcAft>
                <a:spcPts val="1200"/>
              </a:spcAft>
              <a:buFont typeface="Arial" charset="0"/>
              <a:buChar char="•"/>
              <a:defRPr/>
            </a:pPr>
            <a:r>
              <a:rPr lang="en-US" sz="2200" dirty="0" smtClean="0">
                <a:latin typeface="+mn-lt"/>
                <a:cs typeface="+mn-cs"/>
              </a:rPr>
              <a:t>Why </a:t>
            </a:r>
            <a:r>
              <a:rPr lang="en-US" sz="2200" dirty="0">
                <a:latin typeface="+mn-lt"/>
                <a:cs typeface="+mn-cs"/>
              </a:rPr>
              <a:t>does it take so long to get software finished?</a:t>
            </a:r>
          </a:p>
          <a:p>
            <a:pPr marL="432000" indent="-342900" eaLnBrk="0" hangingPunct="0">
              <a:lnSpc>
                <a:spcPct val="90000"/>
              </a:lnSpc>
              <a:spcBef>
                <a:spcPct val="20000"/>
              </a:spcBef>
              <a:spcAft>
                <a:spcPts val="1200"/>
              </a:spcAft>
              <a:buFont typeface="Arial" charset="0"/>
              <a:buChar char="•"/>
              <a:defRPr/>
            </a:pPr>
            <a:r>
              <a:rPr lang="en-US" sz="2200" dirty="0">
                <a:latin typeface="+mn-lt"/>
                <a:cs typeface="+mn-cs"/>
              </a:rPr>
              <a:t>Why are development costs so high?</a:t>
            </a:r>
          </a:p>
          <a:p>
            <a:pPr marL="432000" indent="-342900" eaLnBrk="0" hangingPunct="0">
              <a:lnSpc>
                <a:spcPct val="90000"/>
              </a:lnSpc>
              <a:spcBef>
                <a:spcPct val="20000"/>
              </a:spcBef>
              <a:spcAft>
                <a:spcPts val="1200"/>
              </a:spcAft>
              <a:buFont typeface="Arial" charset="0"/>
              <a:buChar char="•"/>
              <a:defRPr/>
            </a:pPr>
            <a:r>
              <a:rPr lang="en-US" sz="2200" dirty="0">
                <a:latin typeface="+mn-lt"/>
                <a:cs typeface="+mn-cs"/>
              </a:rPr>
              <a:t>Why can't we find all errors before we give the software to our customers?</a:t>
            </a:r>
          </a:p>
          <a:p>
            <a:pPr marL="432000" indent="-342900" eaLnBrk="0" hangingPunct="0">
              <a:lnSpc>
                <a:spcPct val="90000"/>
              </a:lnSpc>
              <a:spcBef>
                <a:spcPct val="20000"/>
              </a:spcBef>
              <a:spcAft>
                <a:spcPts val="1200"/>
              </a:spcAft>
              <a:buFont typeface="Arial" charset="0"/>
              <a:buChar char="•"/>
              <a:defRPr/>
            </a:pPr>
            <a:r>
              <a:rPr lang="en-US" sz="2200" dirty="0">
                <a:latin typeface="+mn-lt"/>
                <a:cs typeface="+mn-cs"/>
              </a:rPr>
              <a:t>Why do we spend so much time and effort maintaining existing programs?</a:t>
            </a:r>
          </a:p>
          <a:p>
            <a:pPr marL="432000" indent="-342900" eaLnBrk="0" hangingPunct="0">
              <a:lnSpc>
                <a:spcPct val="90000"/>
              </a:lnSpc>
              <a:spcBef>
                <a:spcPct val="20000"/>
              </a:spcBef>
              <a:spcAft>
                <a:spcPts val="1200"/>
              </a:spcAft>
              <a:buFont typeface="Arial" charset="0"/>
              <a:buChar char="•"/>
              <a:defRPr/>
            </a:pPr>
            <a:r>
              <a:rPr lang="en-US" sz="2200" dirty="0">
                <a:latin typeface="+mn-lt"/>
                <a:cs typeface="+mn-cs"/>
              </a:rPr>
              <a:t>Why do we continue to have difficulty in measuring progress as software is being developed and maintained?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152400"/>
            <a:ext cx="7770813" cy="685800"/>
          </a:xfrm>
        </p:spPr>
        <p:txBody>
          <a:bodyPr>
            <a:normAutofit/>
          </a:bodyPr>
          <a:lstStyle/>
          <a:p>
            <a:pPr eaLnBrk="1" hangingPunct="1"/>
            <a:r>
              <a:rPr lang="en-US" dirty="0" smtClean="0"/>
              <a:t>Software engineering </a:t>
            </a:r>
          </a:p>
        </p:txBody>
      </p:sp>
      <p:sp>
        <p:nvSpPr>
          <p:cNvPr id="5123" name="Content Placeholder 2"/>
          <p:cNvSpPr>
            <a:spLocks noGrp="1"/>
          </p:cNvSpPr>
          <p:nvPr>
            <p:ph idx="1"/>
          </p:nvPr>
        </p:nvSpPr>
        <p:spPr>
          <a:xfrm>
            <a:off x="457200" y="1368896"/>
            <a:ext cx="8077200" cy="4724400"/>
          </a:xfrm>
        </p:spPr>
        <p:txBody>
          <a:bodyPr/>
          <a:lstStyle/>
          <a:p>
            <a:pPr eaLnBrk="1" hangingPunct="1"/>
            <a:r>
              <a:rPr lang="en-US" sz="2400" dirty="0" smtClean="0"/>
              <a:t>Software engineering is an engineering discipline that is concerned with all aspects of software production from the early stages of system specification through to maintaining the system after it has gone into use.</a:t>
            </a:r>
          </a:p>
          <a:p>
            <a:pPr eaLnBrk="1" hangingPunct="1"/>
            <a:endParaRPr lang="en-US" sz="2400" dirty="0" smtClean="0"/>
          </a:p>
          <a:p>
            <a:pPr lvl="1" eaLnBrk="1" hangingPunct="1"/>
            <a:r>
              <a:rPr lang="en-US" sz="2400" dirty="0" smtClean="0"/>
              <a:t>Engineering discipline</a:t>
            </a:r>
          </a:p>
          <a:p>
            <a:pPr lvl="2" eaLnBrk="1" hangingPunct="1"/>
            <a:r>
              <a:rPr lang="en-US" sz="1800" dirty="0" smtClean="0"/>
              <a:t>Using appropriate theories and methods to solve problems bearing in mind organizational and financial constraints.</a:t>
            </a:r>
          </a:p>
          <a:p>
            <a:pPr lvl="1" eaLnBrk="1" hangingPunct="1">
              <a:spcBef>
                <a:spcPts val="1200"/>
              </a:spcBef>
            </a:pPr>
            <a:r>
              <a:rPr lang="en-US" sz="2400" dirty="0" smtClean="0"/>
              <a:t>All aspects of software production</a:t>
            </a:r>
          </a:p>
          <a:p>
            <a:pPr lvl="2" eaLnBrk="1" hangingPunct="1"/>
            <a:r>
              <a:rPr lang="en-US" sz="1800" dirty="0" smtClean="0"/>
              <a:t>Not just technical process of development. Also project management and the development of tools, methods etc. to support software production.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1" y="274638"/>
            <a:ext cx="5482951" cy="634082"/>
          </a:xfrm>
        </p:spPr>
        <p:txBody>
          <a:bodyPr>
            <a:normAutofit/>
          </a:bodyPr>
          <a:lstStyle/>
          <a:p>
            <a:pPr eaLnBrk="1" hangingPunct="1">
              <a:lnSpc>
                <a:spcPts val="1600"/>
              </a:lnSpc>
            </a:pPr>
            <a:r>
              <a:rPr lang="en-GB" sz="3200" b="1" dirty="0" smtClean="0"/>
              <a:t>FAQs on Software Engineering</a:t>
            </a:r>
            <a:endParaRPr lang="en-US" sz="1100" b="1" dirty="0" smtClean="0"/>
          </a:p>
        </p:txBody>
      </p:sp>
      <p:graphicFrame>
        <p:nvGraphicFramePr>
          <p:cNvPr id="5" name="Table 4"/>
          <p:cNvGraphicFramePr>
            <a:graphicFrameLocks noGrp="1"/>
          </p:cNvGraphicFramePr>
          <p:nvPr/>
        </p:nvGraphicFramePr>
        <p:xfrm>
          <a:off x="467544" y="1591130"/>
          <a:ext cx="8089977" cy="3986670"/>
        </p:xfrm>
        <a:graphic>
          <a:graphicData uri="http://schemas.openxmlformats.org/drawingml/2006/table">
            <a:tbl>
              <a:tblPr firstRow="1" bandRow="1">
                <a:tableStyleId>{B301B821-A1FF-4177-AEE7-76D212191A09}</a:tableStyleId>
              </a:tblPr>
              <a:tblGrid>
                <a:gridCol w="3096344"/>
                <a:gridCol w="4993633"/>
              </a:tblGrid>
              <a:tr h="473850">
                <a:tc>
                  <a:txBody>
                    <a:bodyPr/>
                    <a:lstStyle/>
                    <a:p>
                      <a:pPr algn="ctr">
                        <a:spcAft>
                          <a:spcPts val="0"/>
                        </a:spcAft>
                      </a:pPr>
                      <a:r>
                        <a:rPr lang="en-GB" sz="1800" dirty="0">
                          <a:solidFill>
                            <a:schemeClr val="tx1"/>
                          </a:solidFill>
                          <a:latin typeface="+mj-lt"/>
                          <a:cs typeface="Arial"/>
                        </a:rPr>
                        <a:t>Question</a:t>
                      </a:r>
                      <a:endParaRPr lang="en-GB" sz="1800" b="1" dirty="0">
                        <a:solidFill>
                          <a:schemeClr val="tx1"/>
                        </a:solidFill>
                        <a:latin typeface="+mj-lt"/>
                        <a:ea typeface="Times New Roman"/>
                        <a:cs typeface="Arial"/>
                      </a:endParaRPr>
                    </a:p>
                  </a:txBody>
                  <a:tcPr marL="73025" marR="73025" marT="73025" marB="73025">
                    <a:solidFill>
                      <a:schemeClr val="accent1">
                        <a:lumMod val="40000"/>
                        <a:lumOff val="60000"/>
                      </a:schemeClr>
                    </a:solidFill>
                  </a:tcPr>
                </a:tc>
                <a:tc>
                  <a:txBody>
                    <a:bodyPr/>
                    <a:lstStyle/>
                    <a:p>
                      <a:pPr algn="ctr">
                        <a:spcAft>
                          <a:spcPts val="0"/>
                        </a:spcAft>
                      </a:pPr>
                      <a:r>
                        <a:rPr lang="en-GB" sz="1800" dirty="0">
                          <a:solidFill>
                            <a:schemeClr val="tx1"/>
                          </a:solidFill>
                          <a:latin typeface="+mj-lt"/>
                          <a:cs typeface="Arial"/>
                        </a:rPr>
                        <a:t>Answer</a:t>
                      </a:r>
                      <a:endParaRPr lang="en-GB" sz="1800" b="1" dirty="0">
                        <a:solidFill>
                          <a:schemeClr val="tx1"/>
                        </a:solidFill>
                        <a:latin typeface="+mj-lt"/>
                        <a:ea typeface="Times New Roman"/>
                        <a:cs typeface="Arial"/>
                      </a:endParaRPr>
                    </a:p>
                  </a:txBody>
                  <a:tcPr marL="73025" marR="73025" marT="73025" marB="73025">
                    <a:solidFill>
                      <a:schemeClr val="accent1">
                        <a:lumMod val="40000"/>
                        <a:lumOff val="60000"/>
                      </a:schemeClr>
                    </a:solidFill>
                  </a:tcPr>
                </a:tc>
              </a:tr>
              <a:tr h="613408">
                <a:tc>
                  <a:txBody>
                    <a:bodyPr/>
                    <a:lstStyle/>
                    <a:p>
                      <a:pPr algn="just">
                        <a:spcAft>
                          <a:spcPts val="0"/>
                        </a:spcAft>
                      </a:pPr>
                      <a:r>
                        <a:rPr lang="en-GB" sz="1500" dirty="0">
                          <a:latin typeface="+mj-lt"/>
                          <a:cs typeface="Arial"/>
                        </a:rPr>
                        <a:t>What is software?</a:t>
                      </a:r>
                      <a:endParaRPr lang="en-GB" sz="1500" dirty="0">
                        <a:solidFill>
                          <a:srgbClr val="000000"/>
                        </a:solidFill>
                        <a:latin typeface="+mj-lt"/>
                        <a:ea typeface="Times New Roman"/>
                        <a:cs typeface="Arial"/>
                      </a:endParaRPr>
                    </a:p>
                  </a:txBody>
                  <a:tcPr marL="73025" marR="73025" marT="0" marB="68580"/>
                </a:tc>
                <a:tc>
                  <a:txBody>
                    <a:bodyPr/>
                    <a:lstStyle/>
                    <a:p>
                      <a:pPr algn="just">
                        <a:spcAft>
                          <a:spcPts val="0"/>
                        </a:spcAft>
                      </a:pPr>
                      <a:r>
                        <a:rPr lang="en-GB" sz="1600" dirty="0">
                          <a:latin typeface="+mj-lt"/>
                          <a:cs typeface="Arial"/>
                        </a:rPr>
                        <a:t>Computer programs and associated documentation. Software products may be developed for a particular customer or may be developed for a general market.</a:t>
                      </a:r>
                      <a:endParaRPr lang="en-GB" sz="1600" dirty="0">
                        <a:solidFill>
                          <a:srgbClr val="000000"/>
                        </a:solidFill>
                        <a:latin typeface="+mj-lt"/>
                        <a:ea typeface="Times New Roman"/>
                        <a:cs typeface="Arial"/>
                      </a:endParaRPr>
                    </a:p>
                  </a:txBody>
                  <a:tcPr marL="73025" marR="73025" marT="0" marB="68580"/>
                </a:tc>
              </a:tr>
              <a:tr h="613408">
                <a:tc>
                  <a:txBody>
                    <a:bodyPr/>
                    <a:lstStyle/>
                    <a:p>
                      <a:pPr algn="just">
                        <a:spcAft>
                          <a:spcPts val="0"/>
                        </a:spcAft>
                      </a:pPr>
                      <a:r>
                        <a:rPr lang="en-GB" sz="1500" dirty="0">
                          <a:latin typeface="+mj-lt"/>
                          <a:cs typeface="Arial"/>
                        </a:rPr>
                        <a:t>What are the attributes of good software?</a:t>
                      </a:r>
                      <a:endParaRPr lang="en-GB" sz="1500" dirty="0">
                        <a:solidFill>
                          <a:srgbClr val="000000"/>
                        </a:solidFill>
                        <a:latin typeface="+mj-lt"/>
                        <a:ea typeface="Times New Roman"/>
                        <a:cs typeface="Arial"/>
                      </a:endParaRPr>
                    </a:p>
                  </a:txBody>
                  <a:tcPr marL="73025" marR="73025" marT="0" marB="68580"/>
                </a:tc>
                <a:tc>
                  <a:txBody>
                    <a:bodyPr/>
                    <a:lstStyle/>
                    <a:p>
                      <a:pPr algn="just">
                        <a:spcAft>
                          <a:spcPts val="0"/>
                        </a:spcAft>
                      </a:pPr>
                      <a:r>
                        <a:rPr lang="en-GB" sz="1600" dirty="0">
                          <a:latin typeface="+mj-lt"/>
                          <a:cs typeface="Arial"/>
                        </a:rPr>
                        <a:t>Good software should deliver the required functionality and performance to the user and should be maintainable, dependable and usable.</a:t>
                      </a:r>
                      <a:endParaRPr lang="en-GB" sz="1600" dirty="0">
                        <a:solidFill>
                          <a:srgbClr val="000000"/>
                        </a:solidFill>
                        <a:latin typeface="+mj-lt"/>
                        <a:ea typeface="Times New Roman"/>
                        <a:cs typeface="Arial"/>
                      </a:endParaRPr>
                    </a:p>
                  </a:txBody>
                  <a:tcPr marL="73025" marR="73025" marT="0" marB="68580"/>
                </a:tc>
              </a:tr>
              <a:tr h="473850">
                <a:tc>
                  <a:txBody>
                    <a:bodyPr/>
                    <a:lstStyle/>
                    <a:p>
                      <a:pPr algn="just">
                        <a:spcAft>
                          <a:spcPts val="0"/>
                        </a:spcAft>
                      </a:pPr>
                      <a:r>
                        <a:rPr lang="en-GB" sz="1500" dirty="0">
                          <a:latin typeface="+mj-lt"/>
                          <a:cs typeface="Arial"/>
                        </a:rPr>
                        <a:t>What is software engineering?</a:t>
                      </a:r>
                      <a:endParaRPr lang="en-GB" sz="1500" dirty="0">
                        <a:solidFill>
                          <a:srgbClr val="000000"/>
                        </a:solidFill>
                        <a:latin typeface="+mj-lt"/>
                        <a:ea typeface="Times New Roman"/>
                        <a:cs typeface="Arial"/>
                      </a:endParaRPr>
                    </a:p>
                  </a:txBody>
                  <a:tcPr marL="73025" marR="73025" marT="0" marB="68580"/>
                </a:tc>
                <a:tc>
                  <a:txBody>
                    <a:bodyPr/>
                    <a:lstStyle/>
                    <a:p>
                      <a:pPr algn="just">
                        <a:spcAft>
                          <a:spcPts val="0"/>
                        </a:spcAft>
                      </a:pPr>
                      <a:r>
                        <a:rPr lang="en-GB" sz="1600" dirty="0">
                          <a:latin typeface="+mj-lt"/>
                          <a:cs typeface="Arial"/>
                        </a:rPr>
                        <a:t>Software engineering is an engineering discipline that is concerned with all aspects of software production.</a:t>
                      </a:r>
                      <a:endParaRPr lang="en-GB" sz="1600" dirty="0">
                        <a:solidFill>
                          <a:srgbClr val="000000"/>
                        </a:solidFill>
                        <a:latin typeface="+mj-lt"/>
                        <a:ea typeface="Times New Roman"/>
                        <a:cs typeface="Arial"/>
                      </a:endParaRPr>
                    </a:p>
                  </a:txBody>
                  <a:tcPr marL="73025" marR="73025" marT="0" marB="68580"/>
                </a:tc>
              </a:tr>
              <a:tr h="473850">
                <a:tc>
                  <a:txBody>
                    <a:bodyPr/>
                    <a:lstStyle/>
                    <a:p>
                      <a:pPr algn="just">
                        <a:spcAft>
                          <a:spcPts val="0"/>
                        </a:spcAft>
                      </a:pPr>
                      <a:r>
                        <a:rPr lang="en-GB" sz="1500" dirty="0">
                          <a:latin typeface="+mj-lt"/>
                          <a:cs typeface="Arial"/>
                        </a:rPr>
                        <a:t>What are the fundamental software engineering activities?</a:t>
                      </a:r>
                      <a:endParaRPr lang="en-GB" sz="1500" dirty="0">
                        <a:solidFill>
                          <a:srgbClr val="000000"/>
                        </a:solidFill>
                        <a:latin typeface="+mj-lt"/>
                        <a:ea typeface="Times New Roman"/>
                        <a:cs typeface="Arial"/>
                      </a:endParaRPr>
                    </a:p>
                  </a:txBody>
                  <a:tcPr marL="73025" marR="73025" marT="0" marB="68580"/>
                </a:tc>
                <a:tc>
                  <a:txBody>
                    <a:bodyPr/>
                    <a:lstStyle/>
                    <a:p>
                      <a:pPr algn="just">
                        <a:spcAft>
                          <a:spcPts val="0"/>
                        </a:spcAft>
                      </a:pPr>
                      <a:r>
                        <a:rPr lang="en-GB" sz="1600" dirty="0">
                          <a:latin typeface="+mj-lt"/>
                          <a:cs typeface="Arial"/>
                        </a:rPr>
                        <a:t>Software specification, software development, software validation and software evolution.</a:t>
                      </a:r>
                      <a:endParaRPr lang="en-GB" sz="1600" dirty="0">
                        <a:solidFill>
                          <a:srgbClr val="000000"/>
                        </a:solidFill>
                        <a:latin typeface="+mj-lt"/>
                        <a:ea typeface="Times New Roman"/>
                        <a:cs typeface="Arial"/>
                      </a:endParaRPr>
                    </a:p>
                  </a:txBody>
                  <a:tcPr marL="73025" marR="73025" marT="0" marB="68580"/>
                </a:tc>
              </a:tr>
              <a:tr h="613408">
                <a:tc>
                  <a:txBody>
                    <a:bodyPr/>
                    <a:lstStyle/>
                    <a:p>
                      <a:pPr algn="just">
                        <a:spcAft>
                          <a:spcPts val="0"/>
                        </a:spcAft>
                      </a:pPr>
                      <a:r>
                        <a:rPr lang="en-GB" sz="1500" dirty="0">
                          <a:latin typeface="+mj-lt"/>
                          <a:cs typeface="Arial"/>
                        </a:rPr>
                        <a:t>What is the difference between software engineering and computer science?</a:t>
                      </a:r>
                      <a:endParaRPr lang="en-GB" sz="1500" dirty="0">
                        <a:solidFill>
                          <a:srgbClr val="000000"/>
                        </a:solidFill>
                        <a:latin typeface="+mj-lt"/>
                        <a:ea typeface="Times New Roman"/>
                        <a:cs typeface="Arial"/>
                      </a:endParaRPr>
                    </a:p>
                  </a:txBody>
                  <a:tcPr marL="73025" marR="73025" marT="0" marB="68580"/>
                </a:tc>
                <a:tc>
                  <a:txBody>
                    <a:bodyPr/>
                    <a:lstStyle/>
                    <a:p>
                      <a:pPr algn="just">
                        <a:spcAft>
                          <a:spcPts val="0"/>
                        </a:spcAft>
                      </a:pPr>
                      <a:r>
                        <a:rPr lang="en-GB" sz="1600" dirty="0">
                          <a:latin typeface="+mj-lt"/>
                          <a:cs typeface="Arial"/>
                        </a:rPr>
                        <a:t>Computer science focuses on theory and fundamentals; software engineering is concerned with the practicalities of developing and delivering useful software.</a:t>
                      </a:r>
                      <a:endParaRPr lang="en-GB" sz="1600" dirty="0">
                        <a:solidFill>
                          <a:srgbClr val="000000"/>
                        </a:solidFill>
                        <a:latin typeface="+mj-lt"/>
                        <a:ea typeface="Times New Roman"/>
                        <a:cs typeface="Arial"/>
                      </a:endParaRPr>
                    </a:p>
                  </a:txBody>
                  <a:tcPr marL="73025" marR="73025" marT="0" marB="68580"/>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95536" y="228600"/>
            <a:ext cx="5040561" cy="608112"/>
          </a:xfrm>
        </p:spPr>
        <p:txBody>
          <a:bodyPr>
            <a:normAutofit/>
          </a:bodyPr>
          <a:lstStyle/>
          <a:p>
            <a:pPr eaLnBrk="1" hangingPunct="1">
              <a:lnSpc>
                <a:spcPts val="1600"/>
              </a:lnSpc>
            </a:pPr>
            <a:r>
              <a:rPr lang="en-GB" sz="3200" b="1" dirty="0" smtClean="0"/>
              <a:t>Attributes of good software</a:t>
            </a:r>
            <a:endParaRPr lang="en-US" sz="3200" b="1" dirty="0" smtClean="0"/>
          </a:p>
        </p:txBody>
      </p:sp>
      <p:graphicFrame>
        <p:nvGraphicFramePr>
          <p:cNvPr id="4" name="Table 3"/>
          <p:cNvGraphicFramePr>
            <a:graphicFrameLocks noGrp="1"/>
          </p:cNvGraphicFramePr>
          <p:nvPr/>
        </p:nvGraphicFramePr>
        <p:xfrm>
          <a:off x="395536" y="1544733"/>
          <a:ext cx="8352928" cy="4312451"/>
        </p:xfrm>
        <a:graphic>
          <a:graphicData uri="http://schemas.openxmlformats.org/drawingml/2006/table">
            <a:tbl>
              <a:tblPr firstRow="1" bandRow="1">
                <a:tableStyleId>{B301B821-A1FF-4177-AEE7-76D212191A09}</a:tableStyleId>
              </a:tblPr>
              <a:tblGrid>
                <a:gridCol w="2379322"/>
                <a:gridCol w="5973606"/>
              </a:tblGrid>
              <a:tr h="497387">
                <a:tc>
                  <a:txBody>
                    <a:bodyPr/>
                    <a:lstStyle/>
                    <a:p>
                      <a:pPr algn="ctr">
                        <a:spcAft>
                          <a:spcPts val="0"/>
                        </a:spcAft>
                      </a:pPr>
                      <a:r>
                        <a:rPr lang="en-GB" sz="1600" dirty="0">
                          <a:solidFill>
                            <a:schemeClr val="tx1"/>
                          </a:solidFill>
                          <a:latin typeface="+mj-lt"/>
                          <a:cs typeface="Arial"/>
                        </a:rPr>
                        <a:t>Product characteristic</a:t>
                      </a:r>
                      <a:endParaRPr lang="en-GB" sz="1600" b="1" dirty="0">
                        <a:solidFill>
                          <a:schemeClr val="tx1"/>
                        </a:solidFill>
                        <a:latin typeface="+mj-lt"/>
                        <a:ea typeface="Times New Roman"/>
                        <a:cs typeface="Arial"/>
                      </a:endParaRPr>
                    </a:p>
                  </a:txBody>
                  <a:tcPr marL="54610" marR="54610" marT="91440" marB="91440">
                    <a:solidFill>
                      <a:schemeClr val="accent1">
                        <a:lumMod val="40000"/>
                        <a:lumOff val="60000"/>
                      </a:schemeClr>
                    </a:solidFill>
                  </a:tcPr>
                </a:tc>
                <a:tc>
                  <a:txBody>
                    <a:bodyPr/>
                    <a:lstStyle/>
                    <a:p>
                      <a:pPr algn="ctr">
                        <a:spcAft>
                          <a:spcPts val="0"/>
                        </a:spcAft>
                      </a:pPr>
                      <a:r>
                        <a:rPr lang="en-GB" sz="1600" dirty="0">
                          <a:solidFill>
                            <a:schemeClr val="tx1"/>
                          </a:solidFill>
                          <a:latin typeface="+mj-lt"/>
                          <a:cs typeface="Arial"/>
                        </a:rPr>
                        <a:t>Description</a:t>
                      </a:r>
                      <a:endParaRPr lang="en-GB" sz="1600" b="1" dirty="0">
                        <a:solidFill>
                          <a:schemeClr val="tx1"/>
                        </a:solidFill>
                        <a:latin typeface="+mj-lt"/>
                        <a:ea typeface="Times New Roman"/>
                        <a:cs typeface="Arial"/>
                      </a:endParaRPr>
                    </a:p>
                  </a:txBody>
                  <a:tcPr marL="54610" marR="54610" marT="91440" marB="91440">
                    <a:solidFill>
                      <a:schemeClr val="accent1">
                        <a:lumMod val="40000"/>
                        <a:lumOff val="60000"/>
                      </a:schemeClr>
                    </a:solidFill>
                  </a:tcPr>
                </a:tc>
              </a:tr>
              <a:tr h="858504">
                <a:tc>
                  <a:txBody>
                    <a:bodyPr/>
                    <a:lstStyle/>
                    <a:p>
                      <a:pPr algn="just">
                        <a:spcAft>
                          <a:spcPts val="0"/>
                        </a:spcAft>
                      </a:pPr>
                      <a:r>
                        <a:rPr lang="en-GB" sz="1600" dirty="0">
                          <a:latin typeface="+mj-lt"/>
                          <a:cs typeface="Arial"/>
                        </a:rPr>
                        <a:t>Maintainability</a:t>
                      </a:r>
                      <a:endParaRPr lang="en-GB" sz="1600" dirty="0">
                        <a:solidFill>
                          <a:srgbClr val="000000"/>
                        </a:solidFill>
                        <a:latin typeface="+mj-lt"/>
                        <a:ea typeface="Times New Roman"/>
                        <a:cs typeface="Arial"/>
                      </a:endParaRPr>
                    </a:p>
                  </a:txBody>
                  <a:tcPr marL="54610" marR="54610" marT="0" marB="91440"/>
                </a:tc>
                <a:tc>
                  <a:txBody>
                    <a:bodyPr/>
                    <a:lstStyle/>
                    <a:p>
                      <a:pPr algn="just">
                        <a:spcAft>
                          <a:spcPts val="0"/>
                        </a:spcAft>
                      </a:pPr>
                      <a:r>
                        <a:rPr lang="en-GB" sz="1600" dirty="0">
                          <a:latin typeface="+mj-lt"/>
                          <a:cs typeface="Arial"/>
                        </a:rPr>
                        <a:t>Software should be written in such a way so that it can evolve to meet the changing needs of customers. This is a critical attribute because software change is an inevitable requirement of a changing business environment.</a:t>
                      </a:r>
                      <a:endParaRPr lang="en-GB" sz="1600" dirty="0">
                        <a:solidFill>
                          <a:srgbClr val="000000"/>
                        </a:solidFill>
                        <a:latin typeface="+mj-lt"/>
                        <a:ea typeface="Times New Roman"/>
                        <a:cs typeface="Arial"/>
                      </a:endParaRPr>
                    </a:p>
                  </a:txBody>
                  <a:tcPr marL="54610" marR="54610" marT="0" marB="91440"/>
                </a:tc>
              </a:tr>
              <a:tr h="1042469">
                <a:tc>
                  <a:txBody>
                    <a:bodyPr/>
                    <a:lstStyle/>
                    <a:p>
                      <a:pPr algn="l">
                        <a:spcAft>
                          <a:spcPts val="0"/>
                        </a:spcAft>
                      </a:pPr>
                      <a:r>
                        <a:rPr lang="en-GB" sz="1600" dirty="0">
                          <a:latin typeface="+mj-lt"/>
                          <a:cs typeface="Arial"/>
                        </a:rPr>
                        <a:t>Dependability and security</a:t>
                      </a:r>
                      <a:endParaRPr lang="en-GB" sz="1600" dirty="0">
                        <a:solidFill>
                          <a:srgbClr val="000000"/>
                        </a:solidFill>
                        <a:latin typeface="+mj-lt"/>
                        <a:ea typeface="Times New Roman"/>
                        <a:cs typeface="Arial"/>
                      </a:endParaRPr>
                    </a:p>
                  </a:txBody>
                  <a:tcPr marL="54610" marR="54610" marT="0" marB="91440"/>
                </a:tc>
                <a:tc>
                  <a:txBody>
                    <a:bodyPr/>
                    <a:lstStyle/>
                    <a:p>
                      <a:pPr algn="just">
                        <a:spcAft>
                          <a:spcPts val="0"/>
                        </a:spcAft>
                      </a:pPr>
                      <a:r>
                        <a:rPr lang="en-GB" sz="1600" dirty="0">
                          <a:latin typeface="+mj-lt"/>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600" dirty="0">
                        <a:solidFill>
                          <a:srgbClr val="000000"/>
                        </a:solidFill>
                        <a:latin typeface="+mj-lt"/>
                        <a:ea typeface="Times New Roman"/>
                        <a:cs typeface="Arial"/>
                      </a:endParaRPr>
                    </a:p>
                  </a:txBody>
                  <a:tcPr marL="54610" marR="54610" marT="0" marB="91440"/>
                </a:tc>
              </a:tr>
              <a:tr h="858504">
                <a:tc>
                  <a:txBody>
                    <a:bodyPr/>
                    <a:lstStyle/>
                    <a:p>
                      <a:pPr algn="just">
                        <a:spcAft>
                          <a:spcPts val="0"/>
                        </a:spcAft>
                      </a:pPr>
                      <a:r>
                        <a:rPr lang="en-GB" sz="1600" dirty="0">
                          <a:latin typeface="+mj-lt"/>
                          <a:cs typeface="Arial"/>
                        </a:rPr>
                        <a:t>Efficiency</a:t>
                      </a:r>
                      <a:endParaRPr lang="en-GB" sz="1600" dirty="0">
                        <a:solidFill>
                          <a:srgbClr val="000000"/>
                        </a:solidFill>
                        <a:latin typeface="+mj-lt"/>
                        <a:ea typeface="Times New Roman"/>
                        <a:cs typeface="Arial"/>
                      </a:endParaRPr>
                    </a:p>
                  </a:txBody>
                  <a:tcPr marL="54610" marR="54610" marT="0" marB="91440"/>
                </a:tc>
                <a:tc>
                  <a:txBody>
                    <a:bodyPr/>
                    <a:lstStyle/>
                    <a:p>
                      <a:pPr algn="just">
                        <a:spcAft>
                          <a:spcPts val="0"/>
                        </a:spcAft>
                      </a:pPr>
                      <a:r>
                        <a:rPr lang="en-GB" sz="1600" dirty="0">
                          <a:latin typeface="+mj-lt"/>
                          <a:cs typeface="Arial"/>
                        </a:rPr>
                        <a:t>Software should not make wasteful use of system resources such as memory and processor cycles. Efficiency therefore includes responsiveness, processing time, memory utilisation, etc.</a:t>
                      </a:r>
                      <a:endParaRPr lang="en-GB" sz="1600" dirty="0">
                        <a:solidFill>
                          <a:srgbClr val="000000"/>
                        </a:solidFill>
                        <a:latin typeface="+mj-lt"/>
                        <a:ea typeface="Times New Roman"/>
                        <a:cs typeface="Arial"/>
                      </a:endParaRPr>
                    </a:p>
                  </a:txBody>
                  <a:tcPr marL="54610" marR="54610" marT="0" marB="91440"/>
                </a:tc>
              </a:tr>
              <a:tr h="674539">
                <a:tc>
                  <a:txBody>
                    <a:bodyPr/>
                    <a:lstStyle/>
                    <a:p>
                      <a:pPr algn="just">
                        <a:spcAft>
                          <a:spcPts val="0"/>
                        </a:spcAft>
                      </a:pPr>
                      <a:r>
                        <a:rPr lang="en-GB" sz="1600" dirty="0">
                          <a:latin typeface="+mj-lt"/>
                          <a:cs typeface="Arial"/>
                        </a:rPr>
                        <a:t>Acceptability</a:t>
                      </a:r>
                      <a:endParaRPr lang="en-GB" sz="1600" dirty="0">
                        <a:solidFill>
                          <a:srgbClr val="000000"/>
                        </a:solidFill>
                        <a:latin typeface="+mj-lt"/>
                        <a:ea typeface="Times New Roman"/>
                        <a:cs typeface="Arial"/>
                      </a:endParaRPr>
                    </a:p>
                  </a:txBody>
                  <a:tcPr marL="54610" marR="54610" marT="0" marB="91440"/>
                </a:tc>
                <a:tc>
                  <a:txBody>
                    <a:bodyPr/>
                    <a:lstStyle/>
                    <a:p>
                      <a:pPr algn="just">
                        <a:spcAft>
                          <a:spcPts val="0"/>
                        </a:spcAft>
                      </a:pPr>
                      <a:r>
                        <a:rPr lang="en-GB" sz="1600" dirty="0">
                          <a:latin typeface="+mj-lt"/>
                          <a:cs typeface="Arial"/>
                        </a:rPr>
                        <a:t>Software must be acceptable to the type of users for which it is designed. This means that it must be understandable, usable and compatible with other systems that they use. </a:t>
                      </a:r>
                      <a:endParaRPr lang="en-GB" sz="1600" dirty="0">
                        <a:solidFill>
                          <a:srgbClr val="000000"/>
                        </a:solidFill>
                        <a:latin typeface="+mj-lt"/>
                        <a:ea typeface="Times New Roman"/>
                        <a:cs typeface="Arial"/>
                      </a:endParaRPr>
                    </a:p>
                  </a:txBody>
                  <a:tcPr marL="54610" marR="54610" marT="0" marB="91440"/>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4258816" cy="634082"/>
          </a:xfrm>
        </p:spPr>
        <p:txBody>
          <a:bodyPr>
            <a:noAutofit/>
          </a:bodyPr>
          <a:lstStyle/>
          <a:p>
            <a:r>
              <a:rPr lang="en-US" sz="3600" b="1" dirty="0" smtClean="0"/>
              <a:t>What Lies Ahead?</a:t>
            </a:r>
            <a:endParaRPr lang="en-IN" sz="3600" b="1" dirty="0"/>
          </a:p>
        </p:txBody>
      </p:sp>
      <p:sp>
        <p:nvSpPr>
          <p:cNvPr id="3" name="Content Placeholder 2"/>
          <p:cNvSpPr>
            <a:spLocks noGrp="1"/>
          </p:cNvSpPr>
          <p:nvPr>
            <p:ph idx="1"/>
          </p:nvPr>
        </p:nvSpPr>
        <p:spPr>
          <a:xfrm>
            <a:off x="457200" y="1412776"/>
            <a:ext cx="8229600" cy="5112568"/>
          </a:xfrm>
        </p:spPr>
        <p:txBody>
          <a:bodyPr>
            <a:normAutofit fontScale="92500" lnSpcReduction="10000"/>
          </a:bodyPr>
          <a:lstStyle/>
          <a:p>
            <a:pPr marL="0" indent="0">
              <a:spcAft>
                <a:spcPts val="1200"/>
              </a:spcAft>
              <a:buNone/>
            </a:pPr>
            <a:r>
              <a:rPr lang="en-US" sz="1800" dirty="0" smtClean="0"/>
              <a:t>Some trends that will exacerbate Hardware-software-human factors integration problems are  </a:t>
            </a:r>
            <a:endParaRPr lang="en-IN" sz="1800" dirty="0" smtClean="0"/>
          </a:p>
          <a:p>
            <a:pPr lvl="0">
              <a:spcAft>
                <a:spcPts val="1200"/>
              </a:spcAft>
            </a:pPr>
            <a:r>
              <a:rPr lang="en-US" sz="1800" b="1" i="1" dirty="0" smtClean="0"/>
              <a:t>Complex, multi-owner systems of systems.</a:t>
            </a:r>
            <a:r>
              <a:rPr lang="en-US" sz="1800" dirty="0" smtClean="0"/>
              <a:t>  Current collections of incompatible, separately-developed systems  will cause numerous challenges.</a:t>
            </a:r>
            <a:endParaRPr lang="en-IN" sz="1800" dirty="0" smtClean="0"/>
          </a:p>
          <a:p>
            <a:pPr lvl="0">
              <a:spcAft>
                <a:spcPts val="1200"/>
              </a:spcAft>
            </a:pPr>
            <a:r>
              <a:rPr lang="en-US" sz="1800" b="1" i="1" dirty="0" smtClean="0"/>
              <a:t>Emergent requirements</a:t>
            </a:r>
            <a:r>
              <a:rPr lang="en-US" sz="1800" b="1" dirty="0" smtClean="0"/>
              <a:t>. </a:t>
            </a:r>
            <a:r>
              <a:rPr lang="en-US" sz="1800" dirty="0" smtClean="0"/>
              <a:t> Demands for most appropriate user interfaces and collaboration modes for a complex human-intensive system.</a:t>
            </a:r>
            <a:endParaRPr lang="en-IN" sz="1800" dirty="0" smtClean="0"/>
          </a:p>
          <a:p>
            <a:pPr lvl="0">
              <a:spcAft>
                <a:spcPts val="1200"/>
              </a:spcAft>
            </a:pPr>
            <a:r>
              <a:rPr lang="en-US" sz="1800" b="1" i="1" dirty="0" smtClean="0"/>
              <a:t>Rapid change</a:t>
            </a:r>
            <a:r>
              <a:rPr lang="en-US" sz="1800" b="1" dirty="0" smtClean="0"/>
              <a:t>.</a:t>
            </a:r>
            <a:r>
              <a:rPr lang="en-US" sz="1800" dirty="0" smtClean="0"/>
              <a:t>  Specifying current-point-in-time snapshot requirements on a cost-competitive contract generally leads to a big design up front, and a point-solution architecture that is hard to adapt to new developments.  </a:t>
            </a:r>
            <a:endParaRPr lang="en-IN" sz="1800" dirty="0" smtClean="0"/>
          </a:p>
          <a:p>
            <a:pPr lvl="0">
              <a:spcAft>
                <a:spcPts val="1200"/>
              </a:spcAft>
            </a:pPr>
            <a:r>
              <a:rPr lang="en-US" sz="1800" b="1" i="1" dirty="0" smtClean="0"/>
              <a:t>Reused components.</a:t>
            </a:r>
            <a:r>
              <a:rPr lang="en-US" sz="1800" dirty="0" smtClean="0"/>
              <a:t> Reuse-based development has major bottom-up development implications, and is incompatible with pure top-down requirements-first approaches.  </a:t>
            </a:r>
            <a:endParaRPr lang="en-IN" sz="1800" dirty="0" smtClean="0"/>
          </a:p>
          <a:p>
            <a:pPr lvl="0">
              <a:spcAft>
                <a:spcPts val="1200"/>
              </a:spcAft>
            </a:pPr>
            <a:r>
              <a:rPr lang="en-US" sz="1800" b="1" i="1" dirty="0" smtClean="0"/>
              <a:t>High assurance of qualities.</a:t>
            </a:r>
            <a:r>
              <a:rPr lang="en-US" sz="1800" i="1" dirty="0" smtClean="0"/>
              <a:t>  </a:t>
            </a:r>
            <a:r>
              <a:rPr lang="en-US" sz="1800" dirty="0" smtClean="0"/>
              <a:t>Future systems will need higher assurance levels of such qualities as safety, security, reliability/availability/maintainability, performance, adaptability, interoperability, usability, and scalability.  </a:t>
            </a:r>
          </a:p>
          <a:p>
            <a:pPr algn="r">
              <a:spcAft>
                <a:spcPts val="1200"/>
              </a:spcAft>
              <a:buNone/>
            </a:pPr>
            <a:r>
              <a:rPr lang="en-US" sz="1800" dirty="0" smtClean="0">
                <a:solidFill>
                  <a:schemeClr val="tx1">
                    <a:lumMod val="65000"/>
                    <a:lumOff val="35000"/>
                  </a:schemeClr>
                </a:solidFill>
              </a:rPr>
              <a:t>- Barry Boehm and Jo Ann Lane, University of Southern California, 2007</a:t>
            </a:r>
          </a:p>
          <a:p>
            <a:pPr lvl="0">
              <a:spcAft>
                <a:spcPts val="1200"/>
              </a:spcAft>
            </a:pPr>
            <a:endParaRPr lang="en-IN" sz="1800" dirty="0" smtClean="0"/>
          </a:p>
          <a:p>
            <a:pPr>
              <a:spcAft>
                <a:spcPts val="600"/>
              </a:spcAft>
              <a:buNone/>
            </a:pPr>
            <a:endParaRPr lang="en-IN" sz="1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2630"/>
            <a:ext cx="4474840" cy="778098"/>
          </a:xfrm>
        </p:spPr>
        <p:txBody>
          <a:bodyPr>
            <a:noAutofit/>
          </a:bodyPr>
          <a:lstStyle/>
          <a:p>
            <a:pPr>
              <a:lnSpc>
                <a:spcPts val="2400"/>
              </a:lnSpc>
            </a:pPr>
            <a:r>
              <a:rPr lang="en-US" sz="1600" dirty="0" smtClean="0"/>
              <a:t>Concern about Software Engineering:</a:t>
            </a:r>
            <a:r>
              <a:rPr lang="en-US" sz="2800" dirty="0" smtClean="0"/>
              <a:t/>
            </a:r>
            <a:br>
              <a:rPr lang="en-US" sz="2800" dirty="0" smtClean="0"/>
            </a:br>
            <a:r>
              <a:rPr lang="en-IN" sz="2800" b="1" dirty="0" smtClean="0"/>
              <a:t>Do we stand on quicksand or the shoulders of giants?</a:t>
            </a:r>
            <a:endParaRPr lang="en-IN" sz="2800" dirty="0"/>
          </a:p>
        </p:txBody>
      </p:sp>
      <p:sp>
        <p:nvSpPr>
          <p:cNvPr id="3" name="Content Placeholder 2"/>
          <p:cNvSpPr>
            <a:spLocks noGrp="1"/>
          </p:cNvSpPr>
          <p:nvPr>
            <p:ph idx="1"/>
          </p:nvPr>
        </p:nvSpPr>
        <p:spPr>
          <a:xfrm>
            <a:off x="457200" y="1412776"/>
            <a:ext cx="8229600" cy="5112568"/>
          </a:xfrm>
        </p:spPr>
        <p:txBody>
          <a:bodyPr>
            <a:normAutofit lnSpcReduction="10000"/>
          </a:bodyPr>
          <a:lstStyle/>
          <a:p>
            <a:pPr>
              <a:spcAft>
                <a:spcPts val="300"/>
              </a:spcAft>
            </a:pPr>
            <a:r>
              <a:rPr lang="en-IN" sz="2000" dirty="0" smtClean="0"/>
              <a:t>Have you ever found that a new method or practice is just the re-branding and regurgitation of old?</a:t>
            </a:r>
          </a:p>
          <a:p>
            <a:pPr>
              <a:spcAft>
                <a:spcPts val="300"/>
              </a:spcAft>
            </a:pPr>
            <a:r>
              <a:rPr lang="en-IN" sz="2000" dirty="0" smtClean="0"/>
              <a:t>Do you find every new idea about software development seems to be at the expense and in aggressive competition with everything that has gone before?</a:t>
            </a:r>
          </a:p>
          <a:p>
            <a:pPr>
              <a:spcAft>
                <a:spcPts val="300"/>
              </a:spcAft>
            </a:pPr>
            <a:r>
              <a:rPr lang="en-IN" sz="2000" dirty="0" smtClean="0"/>
              <a:t>Does it seem to you that following that latest software development trend has become more important than producing great software?</a:t>
            </a:r>
          </a:p>
          <a:p>
            <a:pPr>
              <a:spcAft>
                <a:spcPts val="300"/>
              </a:spcAft>
            </a:pPr>
            <a:r>
              <a:rPr lang="en-IN" sz="2000" dirty="0" smtClean="0"/>
              <a:t>Have you noticed how in their hurry to forge ahead people seem to throw away the good with the bad? It is as though they have no solid knowledge to stand upon. </a:t>
            </a:r>
          </a:p>
          <a:p>
            <a:pPr>
              <a:spcAft>
                <a:spcPts val="300"/>
              </a:spcAft>
            </a:pPr>
            <a:r>
              <a:rPr lang="en-IN" sz="2000" dirty="0" smtClean="0"/>
              <a:t>Many teams carelessly discard expensive process and tool investments, almost before they have even tried them. </a:t>
            </a:r>
          </a:p>
          <a:p>
            <a:pPr>
              <a:spcAft>
                <a:spcPts val="300"/>
              </a:spcAft>
            </a:pPr>
            <a:r>
              <a:rPr lang="en-IN" sz="2000" dirty="0" smtClean="0"/>
              <a:t>Every time someone changes their job they have to learn a new approach before they can get on with the real task at hand. People cannot learn from experience as they are forever starting over. </a:t>
            </a:r>
          </a:p>
          <a:p>
            <a:pPr algn="r">
              <a:buNone/>
            </a:pPr>
            <a:r>
              <a:rPr lang="en-US" sz="1600" dirty="0" smtClean="0">
                <a:solidFill>
                  <a:schemeClr val="tx1">
                    <a:lumMod val="65000"/>
                    <a:lumOff val="35000"/>
                  </a:schemeClr>
                </a:solidFill>
              </a:rPr>
              <a:t>- </a:t>
            </a:r>
            <a:r>
              <a:rPr lang="en-US" sz="1600" dirty="0" err="1" smtClean="0">
                <a:solidFill>
                  <a:schemeClr val="tx1">
                    <a:lumMod val="65000"/>
                    <a:lumOff val="35000"/>
                  </a:schemeClr>
                </a:solidFill>
              </a:rPr>
              <a:t>Ivar</a:t>
            </a:r>
            <a:r>
              <a:rPr lang="en-US" sz="1600" dirty="0" smtClean="0">
                <a:solidFill>
                  <a:schemeClr val="tx1">
                    <a:lumMod val="65000"/>
                    <a:lumOff val="35000"/>
                  </a:schemeClr>
                </a:solidFill>
              </a:rPr>
              <a:t> Jacobson, Ian Spencer  “Why we need a theory for Software Engineering”, 2009</a:t>
            </a:r>
          </a:p>
          <a:p>
            <a:endParaRPr lang="en-IN"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Thank </a:t>
            </a:r>
            <a:r>
              <a:rPr lang="en-US" sz="3600" b="1" dirty="0" smtClean="0"/>
              <a:t>You</a:t>
            </a:r>
            <a:r>
              <a:rPr lang="en-IN" sz="3600" b="1" dirty="0" smtClean="0"/>
              <a:t>…</a:t>
            </a:r>
            <a:endParaRPr lang="en-IN" sz="3600" b="1" dirty="0"/>
          </a:p>
        </p:txBody>
      </p:sp>
      <p:sp>
        <p:nvSpPr>
          <p:cNvPr id="3" name="Content Placeholder 2"/>
          <p:cNvSpPr>
            <a:spLocks noGrp="1"/>
          </p:cNvSpPr>
          <p:nvPr>
            <p:ph idx="1"/>
          </p:nvPr>
        </p:nvSpPr>
        <p:spPr/>
        <p:txBody>
          <a:bodyPr/>
          <a:lstStyle/>
          <a:p>
            <a:endParaRPr lang="en-IN" dirty="0"/>
          </a:p>
        </p:txBody>
      </p:sp>
      <p:sp>
        <p:nvSpPr>
          <p:cNvPr id="5" name="Slide Number Placeholder 4"/>
          <p:cNvSpPr>
            <a:spLocks noGrp="1"/>
          </p:cNvSpPr>
          <p:nvPr>
            <p:ph type="sldNum" sz="quarter" idx="12"/>
          </p:nvPr>
        </p:nvSpPr>
        <p:spPr/>
        <p:txBody>
          <a:bodyPr/>
          <a:lstStyle/>
          <a:p>
            <a:fld id="{67F776DB-C4B4-46F1-926D-41EFCFC3A86A}" type="slidenum">
              <a:rPr lang="en-IN" smtClean="0"/>
              <a:pPr/>
              <a:t>18</a:t>
            </a:fld>
            <a:endParaRPr lang="en-I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smtClean="0"/>
              <a:t>Credits </a:t>
            </a:r>
            <a:endParaRPr lang="en-IN" sz="4000" dirty="0"/>
          </a:p>
        </p:txBody>
      </p:sp>
      <p:sp>
        <p:nvSpPr>
          <p:cNvPr id="3" name="Content Placeholder 2"/>
          <p:cNvSpPr>
            <a:spLocks noGrp="1"/>
          </p:cNvSpPr>
          <p:nvPr>
            <p:ph idx="1"/>
          </p:nvPr>
        </p:nvSpPr>
        <p:spPr/>
        <p:txBody>
          <a:bodyPr/>
          <a:lstStyle/>
          <a:p>
            <a:endParaRPr lang="en-IN" dirty="0" smtClean="0"/>
          </a:p>
          <a:p>
            <a:endParaRPr lang="en-IN" dirty="0" smtClean="0"/>
          </a:p>
          <a:p>
            <a:r>
              <a:rPr lang="en-IN" dirty="0" smtClean="0"/>
              <a:t>Software Engineering 7/</a:t>
            </a:r>
            <a:r>
              <a:rPr lang="en-IN" dirty="0" err="1" smtClean="0"/>
              <a:t>ed</a:t>
            </a:r>
            <a:r>
              <a:rPr lang="en-IN" dirty="0" smtClean="0"/>
              <a:t> by Roger Pressman </a:t>
            </a:r>
            <a:r>
              <a:rPr lang="en-IN" dirty="0" smtClean="0"/>
              <a:t>– Reference </a:t>
            </a:r>
          </a:p>
          <a:p>
            <a:endParaRPr lang="en-IN" dirty="0"/>
          </a:p>
        </p:txBody>
      </p:sp>
      <p:sp>
        <p:nvSpPr>
          <p:cNvPr id="5" name="Slide Number Placeholder 4"/>
          <p:cNvSpPr>
            <a:spLocks noGrp="1"/>
          </p:cNvSpPr>
          <p:nvPr>
            <p:ph type="sldNum" sz="quarter" idx="12"/>
          </p:nvPr>
        </p:nvSpPr>
        <p:spPr/>
        <p:txBody>
          <a:bodyPr/>
          <a:lstStyle/>
          <a:p>
            <a:fld id="{67F776DB-C4B4-46F1-926D-41EFCFC3A86A}" type="slidenum">
              <a:rPr lang="en-IN" smtClean="0"/>
              <a:pPr/>
              <a:t>19</a:t>
            </a:fld>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1577</Words>
  <Application>Microsoft Office PowerPoint</Application>
  <PresentationFormat>On-screen Show (4:3)</PresentationFormat>
  <Paragraphs>156</Paragraphs>
  <Slides>19</Slides>
  <Notes>0</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1_Office Theme</vt:lpstr>
      <vt:lpstr>Course Name :  Software Engineering</vt:lpstr>
      <vt:lpstr>What is Software?</vt:lpstr>
      <vt:lpstr>Several Roles of Software</vt:lpstr>
      <vt:lpstr>Slide 4</vt:lpstr>
      <vt:lpstr>Slide 5</vt:lpstr>
      <vt:lpstr>Slide 6</vt:lpstr>
      <vt:lpstr>Failure (“Bathtub”) Curve for Hardware</vt:lpstr>
      <vt:lpstr>Software Deterioration</vt:lpstr>
      <vt:lpstr>Evolving the Legacy Software</vt:lpstr>
      <vt:lpstr>Slide 10</vt:lpstr>
      <vt:lpstr>Slide 11</vt:lpstr>
      <vt:lpstr>Unchanging Questions</vt:lpstr>
      <vt:lpstr>Software engineering </vt:lpstr>
      <vt:lpstr>FAQs on Software Engineering</vt:lpstr>
      <vt:lpstr>Attributes of good software</vt:lpstr>
      <vt:lpstr>What Lies Ahead?</vt:lpstr>
      <vt:lpstr>Concern about Software Engineering: Do we stand on quicksand or the shoulders of giants?</vt:lpstr>
      <vt:lpstr>Thank You…</vt:lpstr>
      <vt:lpstr>Credits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T V Rao</cp:lastModifiedBy>
  <cp:revision>15</cp:revision>
  <dcterms:created xsi:type="dcterms:W3CDTF">2012-01-02T05:05:52Z</dcterms:created>
  <dcterms:modified xsi:type="dcterms:W3CDTF">2014-02-26T05:38:23Z</dcterms:modified>
</cp:coreProperties>
</file>