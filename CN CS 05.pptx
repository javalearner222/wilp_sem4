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8.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4.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46.xml" ContentType="application/vnd.openxmlformats-officedocument.presentationml.slide+xml"/>
  <Override PartName="/ppt/slides/slide52.xml" ContentType="application/vnd.openxmlformats-officedocument.presentationml.slide+xml"/>
  <Override PartName="/ppt/slides/slide44.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9.xml" ContentType="application/vnd.openxmlformats-officedocument.presentationml.slide+xml"/>
  <Override PartName="/ppt/slides/slide45.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slideMasters/slideMaster1.xml" ContentType="application/vnd.openxmlformats-officedocument.presentationml.slideMaster+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slideLayouts/slideLayout1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Slides/notesSlide3.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2.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257" r:id="rId2"/>
    <p:sldId id="1547" r:id="rId3"/>
    <p:sldId id="259" r:id="rId4"/>
    <p:sldId id="279" r:id="rId5"/>
    <p:sldId id="280" r:id="rId6"/>
    <p:sldId id="281" r:id="rId7"/>
    <p:sldId id="282" r:id="rId8"/>
    <p:sldId id="283" r:id="rId9"/>
    <p:sldId id="284" r:id="rId10"/>
    <p:sldId id="285" r:id="rId11"/>
    <p:sldId id="286" r:id="rId12"/>
    <p:sldId id="287" r:id="rId13"/>
    <p:sldId id="288" r:id="rId14"/>
    <p:sldId id="289" r:id="rId15"/>
    <p:sldId id="1155" r:id="rId16"/>
    <p:sldId id="1154" r:id="rId17"/>
    <p:sldId id="1086" r:id="rId18"/>
    <p:sldId id="290" r:id="rId19"/>
    <p:sldId id="1156" r:id="rId20"/>
    <p:sldId id="1157" r:id="rId21"/>
    <p:sldId id="1158" r:id="rId22"/>
    <p:sldId id="1159" r:id="rId23"/>
    <p:sldId id="1160" r:id="rId24"/>
    <p:sldId id="1050" r:id="rId25"/>
    <p:sldId id="1051" r:id="rId26"/>
    <p:sldId id="291" r:id="rId27"/>
    <p:sldId id="292" r:id="rId28"/>
    <p:sldId id="293" r:id="rId29"/>
    <p:sldId id="1061" r:id="rId30"/>
    <p:sldId id="1213" r:id="rId31"/>
    <p:sldId id="1214" r:id="rId32"/>
    <p:sldId id="1215" r:id="rId33"/>
    <p:sldId id="1062" r:id="rId34"/>
    <p:sldId id="1063" r:id="rId35"/>
    <p:sldId id="409" r:id="rId36"/>
    <p:sldId id="294" r:id="rId37"/>
    <p:sldId id="295" r:id="rId38"/>
    <p:sldId id="296" r:id="rId39"/>
    <p:sldId id="297" r:id="rId40"/>
    <p:sldId id="307" r:id="rId41"/>
    <p:sldId id="308" r:id="rId42"/>
    <p:sldId id="298" r:id="rId43"/>
    <p:sldId id="299" r:id="rId44"/>
    <p:sldId id="300" r:id="rId45"/>
    <p:sldId id="301" r:id="rId46"/>
    <p:sldId id="305" r:id="rId47"/>
    <p:sldId id="302" r:id="rId48"/>
    <p:sldId id="304" r:id="rId49"/>
    <p:sldId id="303" r:id="rId50"/>
    <p:sldId id="309" r:id="rId51"/>
    <p:sldId id="310" r:id="rId52"/>
    <p:sldId id="311" r:id="rId53"/>
    <p:sldId id="276" r:id="rId54"/>
    <p:sldId id="35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54"/>
      </p:cViewPr>
      <p:guideLst/>
    </p:cSldViewPr>
  </p:slideViewPr>
  <p:notesTextViewPr>
    <p:cViewPr>
      <p:scale>
        <a:sx n="1" d="1"/>
        <a:sy n="1" d="1"/>
      </p:scale>
      <p:origin x="0" y="0"/>
    </p:cViewPr>
  </p:notesTextViewPr>
  <p:notesViewPr>
    <p:cSldViewPr snapToGrid="0">
      <p:cViewPr varScale="1">
        <p:scale>
          <a:sx n="63" d="100"/>
          <a:sy n="63" d="100"/>
        </p:scale>
        <p:origin x="3206"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987E23A3-E61E-4A94-BD41-181359DB51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71A8F3E1-6ABB-46B1-8F79-E70911FE47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C0CED1-4683-4880-B5DE-0F9730384628}" type="datetimeFigureOut">
              <a:rPr lang="en-IN" smtClean="0"/>
              <a:t>27-02-2026</a:t>
            </a:fld>
            <a:endParaRPr lang="en-IN"/>
          </a:p>
        </p:txBody>
      </p:sp>
      <p:sp>
        <p:nvSpPr>
          <p:cNvPr id="4" name="Footer Placeholder 3">
            <a:extLst>
              <a:ext uri="{FF2B5EF4-FFF2-40B4-BE49-F238E27FC236}">
                <a16:creationId xmlns:a16="http://schemas.microsoft.com/office/drawing/2014/main" xmlns="" id="{1A712777-0629-4166-9CBF-D42E270F24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7D131CFC-A983-4BD6-87CA-EC981C3D98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5B1F45-3417-4A90-ADC3-13D226273C3D}" type="slidenum">
              <a:rPr lang="en-IN" smtClean="0"/>
              <a:t>‹#›</a:t>
            </a:fld>
            <a:endParaRPr lang="en-IN"/>
          </a:p>
        </p:txBody>
      </p:sp>
    </p:spTree>
    <p:extLst>
      <p:ext uri="{BB962C8B-B14F-4D97-AF65-F5344CB8AC3E}">
        <p14:creationId xmlns:p14="http://schemas.microsoft.com/office/powerpoint/2010/main" val="22429851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3C171-5AF8-4CB4-ADC2-D7E28C1AC82E}"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6B8D05-8E28-4CFA-B10C-B254E05403BB}" type="slidenum">
              <a:rPr lang="en-IN" smtClean="0"/>
              <a:t>‹#›</a:t>
            </a:fld>
            <a:endParaRPr lang="en-IN"/>
          </a:p>
        </p:txBody>
      </p:sp>
    </p:spTree>
    <p:extLst>
      <p:ext uri="{BB962C8B-B14F-4D97-AF65-F5344CB8AC3E}">
        <p14:creationId xmlns:p14="http://schemas.microsoft.com/office/powerpoint/2010/main" val="359018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19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4354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513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182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3717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9435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001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282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333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a:t>
            </a:r>
            <a:r>
              <a:rPr lang="en-US" dirty="0" err="1"/>
              <a:t>TWO-way</a:t>
            </a:r>
            <a:r>
              <a:rPr lang="en-US" dirty="0"/>
              <a:t>: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a:t>
            </a:r>
            <a:r>
              <a:rPr lang="en-US" dirty="0" err="1"/>
              <a:t>rdt</a:t>
            </a:r>
            <a:r>
              <a:rPr lang="en-US" dirty="0"/>
              <a: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AC68D-457B-4EB0-8349-28F8608E53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4DBDB28-6D03-4D62-9999-ED3CE530CF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90CA45F-0ECF-4179-A8F3-CF02E292710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AABFC597-6ED3-473C-8E00-570EEA6D7C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1820D15-1338-4FA4-81B8-62DCDE69E588}"/>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302646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129044-241A-4B49-AA71-29622874E4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956BF08-5525-44E1-9CBC-08F4DB382A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3032EA1-BDF6-47D5-83C1-17F10E9FC5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7362C8C8-E692-417E-939F-5D54D7150C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D26E870-228C-40FA-96BF-E5EAA547A616}"/>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342498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FFE598-368F-4BAF-8459-9D2DD6DC4B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B0ED5C5-FE6F-4DE5-808A-1DC2887411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67EA050-88EF-4E74-9B6A-9DBD30B2641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F65ABF41-748C-4D7D-89DB-B28F12896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6EF4CFF-2C80-4B1F-8301-6FD056ABD492}"/>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2274084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A699B8-99C5-412F-8417-9C5920635B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702F8A2-2B55-4D26-B5B4-91F3E6410F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8374EA15-1FFC-4439-8E00-3F41E10D25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6885A66-6587-4159-B995-66D9D8AD1EB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DA250D78-2958-4FD0-9FB6-7C2803665C4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327226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1FADC9-3DFF-4B64-8515-E2DB007950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7E80FF-9B8F-4423-A75A-7B1373EE20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2DF7B69-9360-452F-AD9A-F64EB5ED6A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0D548944-61FB-4CC1-AA32-54593DC6D7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5BC2F6F-452B-412E-AC68-5DEC3BFB3B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FC04886-CF78-4E91-9538-612E745278C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xmlns="" id="{74EF4EA3-9E30-45F9-88D2-1BBDEBCB2D2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58647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210C51-8D30-4EE6-A7DC-49370F95A8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88B016C-D836-49DE-A7A8-7FF54E820409}"/>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xmlns="" id="{E91790BF-9870-4AE2-B899-648B9736C0F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811433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AE68A3D-EE19-4B90-8E3C-D6620D33698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xmlns="" id="{81DE1B44-FB6B-4D81-9F50-34BECB1D576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246803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DB1CB4-6396-4D24-BE77-A04473461E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AA58F8B-9FC1-4CA5-92FF-3A7B12BEF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D27F549-A937-4E7A-A987-D9FB149B1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DCC5333-FCB4-4EA2-BD6A-03644F0EDF7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BB95B3CF-6AB7-4541-90C4-3B68C8FC766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724069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A88944-BD39-468F-B01D-7BC9565EF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67B6C8D0-A64C-4ED5-844B-E99968AD1A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649E219-18AC-4B43-B226-317682842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8552A45-41DB-44BE-A633-0A829775802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F7B37505-4B21-4668-B749-3CD1715A5BE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4291474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8056C4-2765-4D17-8460-E3B998941E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0181CB3-32F0-4496-B213-50DE6B4478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0528562-AF09-4AE8-84CC-AC006E7789C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F77EE95F-09D7-46BB-B9B6-ED427A7CEB9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683991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FA46257-E188-4C8C-9090-F6B8779B04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B368D73-3B3D-4E98-AE84-9B4A8312F7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3898B74-BE35-4ED9-8C0D-AB9E7107C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D240DEA6-0D1A-4F24-8409-32793E90A778}"/>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8382480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79744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Section Header">
    <p:bg>
      <p:bgPr>
        <a:solidFill>
          <a:srgbClr val="FFFFFF"/>
        </a:solidFill>
        <a:effectLst/>
      </p:bgPr>
    </p:bg>
    <p:spTree>
      <p:nvGrpSpPr>
        <p:cNvPr id="1" name=""/>
        <p:cNvGrpSpPr/>
        <p:nvPr/>
      </p:nvGrpSpPr>
      <p:grpSpPr>
        <a:xfrm>
          <a:off x="0" y="0"/>
          <a:ext cx="0" cy="0"/>
          <a:chOff x="0" y="0"/>
          <a:chExt cx="0" cy="0"/>
        </a:xfrm>
      </p:grpSpPr>
      <p:pic>
        <p:nvPicPr>
          <p:cNvPr id="2" name="Picture 6" descr="Picture 6">
            <a:extLst>
              <a:ext uri="{FF2B5EF4-FFF2-40B4-BE49-F238E27FC236}">
                <a16:creationId xmlns:a16="http://schemas.microsoft.com/office/drawing/2014/main" xmlns="" id="{006E70B9-055C-C0A9-9EF4-7CB48FDDC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 name="Rectangle 2">
            <a:extLst>
              <a:ext uri="{FF2B5EF4-FFF2-40B4-BE49-F238E27FC236}">
                <a16:creationId xmlns:a16="http://schemas.microsoft.com/office/drawing/2014/main" xmlns="" id="{209F2CBF-1A35-4879-C3AA-282AC9842403}"/>
              </a:ext>
            </a:extLst>
          </p:cNvPr>
          <p:cNvSpPr/>
          <p:nvPr/>
        </p:nvSpPr>
        <p:spPr>
          <a:xfrm>
            <a:off x="0" y="4281488"/>
            <a:ext cx="12192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sz="1800">
              <a:solidFill>
                <a:srgbClr val="FFFFFF"/>
              </a:solidFill>
            </a:endParaRPr>
          </a:p>
        </p:txBody>
      </p:sp>
      <p:pic>
        <p:nvPicPr>
          <p:cNvPr id="4" name="Picture 8" descr="Picture 8">
            <a:extLst>
              <a:ext uri="{FF2B5EF4-FFF2-40B4-BE49-F238E27FC236}">
                <a16:creationId xmlns:a16="http://schemas.microsoft.com/office/drawing/2014/main" xmlns="" id="{E4EBEC62-8399-035A-13DF-776D662BDC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2676" b="267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 name="Rectangle 4">
            <a:extLst>
              <a:ext uri="{FF2B5EF4-FFF2-40B4-BE49-F238E27FC236}">
                <a16:creationId xmlns:a16="http://schemas.microsoft.com/office/drawing/2014/main" xmlns="" id="{EED906E5-F350-4A39-0C52-E0CEEA216287}"/>
              </a:ext>
            </a:extLst>
          </p:cNvPr>
          <p:cNvSpPr>
            <a:spLocks noChangeArrowheads="1"/>
          </p:cNvSpPr>
          <p:nvPr/>
        </p:nvSpPr>
        <p:spPr bwMode="auto">
          <a:xfrm>
            <a:off x="3843867" y="6775450"/>
            <a:ext cx="3860800" cy="76200"/>
          </a:xfrm>
          <a:prstGeom prst="rect">
            <a:avLst/>
          </a:prstGeom>
          <a:solidFill>
            <a:srgbClr val="76C2E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endParaRPr lang="en-US" altLang="en-US" sz="1800">
              <a:solidFill>
                <a:srgbClr val="FFFFFF"/>
              </a:solidFill>
            </a:endParaRPr>
          </a:p>
        </p:txBody>
      </p:sp>
      <p:sp>
        <p:nvSpPr>
          <p:cNvPr id="6" name="Rectangle 5">
            <a:extLst>
              <a:ext uri="{FF2B5EF4-FFF2-40B4-BE49-F238E27FC236}">
                <a16:creationId xmlns:a16="http://schemas.microsoft.com/office/drawing/2014/main" xmlns="" id="{383D79F8-6C1D-36FD-9406-44861ECAEEAC}"/>
              </a:ext>
            </a:extLst>
          </p:cNvPr>
          <p:cNvSpPr>
            <a:spLocks noChangeArrowheads="1"/>
          </p:cNvSpPr>
          <p:nvPr/>
        </p:nvSpPr>
        <p:spPr bwMode="auto">
          <a:xfrm>
            <a:off x="-16933" y="6775450"/>
            <a:ext cx="3860800" cy="76200"/>
          </a:xfrm>
          <a:prstGeom prst="rect">
            <a:avLst/>
          </a:prstGeom>
          <a:solidFill>
            <a:srgbClr val="FCB01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endParaRPr lang="en-US" altLang="en-US" sz="1800">
              <a:solidFill>
                <a:srgbClr val="FFFFFF"/>
              </a:solidFill>
            </a:endParaRPr>
          </a:p>
        </p:txBody>
      </p:sp>
      <p:sp>
        <p:nvSpPr>
          <p:cNvPr id="7" name="Rectangle 6">
            <a:extLst>
              <a:ext uri="{FF2B5EF4-FFF2-40B4-BE49-F238E27FC236}">
                <a16:creationId xmlns:a16="http://schemas.microsoft.com/office/drawing/2014/main" xmlns="" id="{2E9C2918-0838-20D7-5749-A3D149F1A4AE}"/>
              </a:ext>
            </a:extLst>
          </p:cNvPr>
          <p:cNvSpPr>
            <a:spLocks noChangeArrowheads="1"/>
          </p:cNvSpPr>
          <p:nvPr/>
        </p:nvSpPr>
        <p:spPr bwMode="auto">
          <a:xfrm>
            <a:off x="7704667" y="6775450"/>
            <a:ext cx="3860800" cy="76200"/>
          </a:xfrm>
          <a:prstGeom prst="rect">
            <a:avLst/>
          </a:prstGeom>
          <a:solidFill>
            <a:srgbClr val="FF000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endParaRPr lang="en-US" altLang="en-US" sz="1800">
              <a:solidFill>
                <a:srgbClr val="FFFFFF"/>
              </a:solidFill>
            </a:endParaRPr>
          </a:p>
        </p:txBody>
      </p:sp>
      <p:sp>
        <p:nvSpPr>
          <p:cNvPr id="8" name="TextBox 7">
            <a:extLst>
              <a:ext uri="{FF2B5EF4-FFF2-40B4-BE49-F238E27FC236}">
                <a16:creationId xmlns:a16="http://schemas.microsoft.com/office/drawing/2014/main" xmlns="" id="{949E3377-F06A-54C4-39B9-57C67C1CD910}"/>
              </a:ext>
            </a:extLst>
          </p:cNvPr>
          <p:cNvSpPr txBox="1"/>
          <p:nvPr/>
        </p:nvSpPr>
        <p:spPr>
          <a:xfrm>
            <a:off x="9205385" y="762001"/>
            <a:ext cx="2823633" cy="538609"/>
          </a:xfrm>
          <a:prstGeom prst="rect">
            <a:avLst/>
          </a:prstGeom>
          <a:ln w="12700">
            <a:miter lim="400000"/>
          </a:ln>
        </p:spPr>
        <p:txBody>
          <a:bodyPr lIns="45719" rIns="45719">
            <a:spAutoFit/>
          </a:bodyPr>
          <a:lstStyle/>
          <a:p>
            <a:pPr algn="ctr">
              <a:defRPr sz="2900" b="1" spc="-150">
                <a:solidFill>
                  <a:srgbClr val="FFFFFF"/>
                </a:solidFill>
                <a:latin typeface="+mj-lt"/>
                <a:ea typeface="+mj-ea"/>
                <a:cs typeface="+mj-cs"/>
                <a:sym typeface="Arial"/>
              </a:defRPr>
            </a:pPr>
            <a:r>
              <a:rPr sz="2900" b="1" spc="-150">
                <a:solidFill>
                  <a:srgbClr val="FFFFFF"/>
                </a:solidFill>
                <a:latin typeface="+mj-lt"/>
                <a:ea typeface="+mj-ea"/>
                <a:cs typeface="+mj-cs"/>
                <a:sym typeface="Arial"/>
              </a:rPr>
              <a:t>BITS</a:t>
            </a:r>
            <a:r>
              <a:rPr sz="2900" spc="-150">
                <a:solidFill>
                  <a:srgbClr val="FFFFFF"/>
                </a:solidFill>
                <a:latin typeface="+mj-lt"/>
                <a:ea typeface="+mj-ea"/>
                <a:cs typeface="+mj-cs"/>
                <a:sym typeface="Arial"/>
              </a:rPr>
              <a:t> Pilani</a:t>
            </a:r>
          </a:p>
        </p:txBody>
      </p:sp>
      <p:sp>
        <p:nvSpPr>
          <p:cNvPr id="50" name="Body Level One…"/>
          <p:cNvSpPr txBox="1">
            <a:spLocks noGrp="1"/>
          </p:cNvSpPr>
          <p:nvPr>
            <p:ph type="body" sz="half" idx="1"/>
          </p:nvPr>
        </p:nvSpPr>
        <p:spPr>
          <a:xfrm>
            <a:off x="406400" y="4648200"/>
            <a:ext cx="112776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9" name="Slide Number">
            <a:extLst>
              <a:ext uri="{FF2B5EF4-FFF2-40B4-BE49-F238E27FC236}">
                <a16:creationId xmlns:a16="http://schemas.microsoft.com/office/drawing/2014/main" xmlns="" id="{33FC3EC9-D30D-6468-5D97-DEE7B8652693}"/>
              </a:ext>
            </a:extLst>
          </p:cNvPr>
          <p:cNvSpPr txBox="1">
            <a:spLocks noGrp="1"/>
          </p:cNvSpPr>
          <p:nvPr>
            <p:ph type="sldNum" sz="quarter" idx="10"/>
          </p:nvPr>
        </p:nvSpPr>
        <p:spPr/>
        <p:txBody>
          <a:bodyPr/>
          <a:lstStyle>
            <a:lvl1pPr>
              <a:defRPr/>
            </a:lvl1pPr>
          </a:lstStyle>
          <a:p>
            <a:pPr>
              <a:defRPr/>
            </a:pPr>
            <a:fld id="{7875E9BF-4AAA-4AB0-87BF-CFAA1212C088}" type="slidenum">
              <a:rPr/>
              <a:pPr>
                <a:defRPr/>
              </a:pPr>
              <a:t>‹#›</a:t>
            </a:fld>
            <a:endParaRPr/>
          </a:p>
        </p:txBody>
      </p:sp>
    </p:spTree>
    <p:extLst>
      <p:ext uri="{BB962C8B-B14F-4D97-AF65-F5344CB8AC3E}">
        <p14:creationId xmlns:p14="http://schemas.microsoft.com/office/powerpoint/2010/main" val="94087542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A3767B4-AB52-97DB-868B-0ADC105B2775}"/>
              </a:ext>
            </a:extLst>
          </p:cNvPr>
          <p:cNvSpPr txBox="1"/>
          <p:nvPr/>
        </p:nvSpPr>
        <p:spPr>
          <a:xfrm>
            <a:off x="4368800" y="6596064"/>
            <a:ext cx="7823200" cy="219075"/>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4" name="Group 11">
            <a:extLst>
              <a:ext uri="{FF2B5EF4-FFF2-40B4-BE49-F238E27FC236}">
                <a16:creationId xmlns:a16="http://schemas.microsoft.com/office/drawing/2014/main" xmlns="" id="{D53B34A8-0D61-F94D-6658-E372B624D1E3}"/>
              </a:ext>
            </a:extLst>
          </p:cNvPr>
          <p:cNvGrpSpPr>
            <a:grpSpLocks/>
          </p:cNvGrpSpPr>
          <p:nvPr/>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xmlns="" id="{083C1FF3-223D-D196-8F91-0C0F3EA0863C}"/>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6" name="Rectangle 5">
              <a:extLst>
                <a:ext uri="{FF2B5EF4-FFF2-40B4-BE49-F238E27FC236}">
                  <a16:creationId xmlns:a16="http://schemas.microsoft.com/office/drawing/2014/main" xmlns="" id="{7B744F7F-4651-793A-5732-F50EF06918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a:extLst>
                <a:ext uri="{FF2B5EF4-FFF2-40B4-BE49-F238E27FC236}">
                  <a16:creationId xmlns:a16="http://schemas.microsoft.com/office/drawing/2014/main" xmlns="" id="{3C477641-1E9D-E30D-B181-37D02FDD292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8" name="Picture 11" descr="Picture 7.png">
            <a:extLst>
              <a:ext uri="{FF2B5EF4-FFF2-40B4-BE49-F238E27FC236}">
                <a16:creationId xmlns:a16="http://schemas.microsoft.com/office/drawing/2014/main" xmlns="" id="{97259A23-A641-FB0C-BC74-37332053B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xmlns="" id="{9E0C1B94-82C2-5DD5-B490-266791DAF886}"/>
              </a:ext>
            </a:extLst>
          </p:cNvPr>
          <p:cNvGrpSpPr>
            <a:grpSpLocks/>
          </p:cNvGrpSpPr>
          <p:nvPr/>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xmlns="" id="{9F720400-26CF-D2DC-6C4C-2B45A327999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1" name="Rectangle 10">
              <a:extLst>
                <a:ext uri="{FF2B5EF4-FFF2-40B4-BE49-F238E27FC236}">
                  <a16:creationId xmlns:a16="http://schemas.microsoft.com/office/drawing/2014/main" xmlns="" id="{1EB7E4CE-2A0F-8349-D6C7-69B8AD5712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a:extLst>
                <a:ext uri="{FF2B5EF4-FFF2-40B4-BE49-F238E27FC236}">
                  <a16:creationId xmlns:a16="http://schemas.microsoft.com/office/drawing/2014/main" xmlns="" id="{7FD90075-DE4A-617E-1F44-CC1E6517620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3" name="Group 22">
            <a:extLst>
              <a:ext uri="{FF2B5EF4-FFF2-40B4-BE49-F238E27FC236}">
                <a16:creationId xmlns:a16="http://schemas.microsoft.com/office/drawing/2014/main" xmlns="" id="{C0086D47-2149-6DDE-D807-14849A95CE69}"/>
              </a:ext>
            </a:extLst>
          </p:cNvPr>
          <p:cNvGrpSpPr>
            <a:grpSpLocks/>
          </p:cNvGrpSpPr>
          <p:nvPr/>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xmlns="" id="{7316EFD5-8FC9-2939-8ADD-EF3DA674F1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5" name="Rectangle 14">
              <a:extLst>
                <a:ext uri="{FF2B5EF4-FFF2-40B4-BE49-F238E27FC236}">
                  <a16:creationId xmlns:a16="http://schemas.microsoft.com/office/drawing/2014/main" xmlns="" id="{81D64989-6811-D3DC-10E8-8D7B51CEDD0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a:extLst>
                <a:ext uri="{FF2B5EF4-FFF2-40B4-BE49-F238E27FC236}">
                  <a16:creationId xmlns:a16="http://schemas.microsoft.com/office/drawing/2014/main" xmlns="" id="{697419B5-7B46-C0F5-2683-9DB043E89DB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406400" y="1493838"/>
            <a:ext cx="11358035" cy="490696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082676"/>
          </a:xfrm>
        </p:spPr>
        <p:txBody>
          <a:bodyPr anchor="ctr">
            <a:normAutofit/>
          </a:bodyPr>
          <a:lstStyle>
            <a:lvl1pPr marL="0">
              <a:lnSpc>
                <a:spcPts val="2700"/>
              </a:lnSpc>
              <a:spcBef>
                <a:spcPts val="0"/>
              </a:spcBef>
              <a:buNone/>
              <a:defRPr sz="2700" b="1" spc="-113" baseline="0">
                <a:solidFill>
                  <a:srgbClr val="FF0000"/>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7" name="Footer Placeholder 4">
            <a:extLst>
              <a:ext uri="{FF2B5EF4-FFF2-40B4-BE49-F238E27FC236}">
                <a16:creationId xmlns:a16="http://schemas.microsoft.com/office/drawing/2014/main" xmlns="" id="{7F62397A-7720-6902-D87D-83F75699E168}"/>
              </a:ext>
            </a:extLst>
          </p:cNvPr>
          <p:cNvSpPr>
            <a:spLocks noGrp="1"/>
          </p:cNvSpPr>
          <p:nvPr>
            <p:ph type="ftr" sz="quarter" idx="11"/>
          </p:nvPr>
        </p:nvSpPr>
        <p:spPr>
          <a:xfrm>
            <a:off x="406400" y="6629400"/>
            <a:ext cx="5384800" cy="228600"/>
          </a:xfrm>
        </p:spPr>
        <p:txBody>
          <a:bodyPr/>
          <a:lstStyle>
            <a:lvl1pPr algn="l">
              <a:defRPr/>
            </a:lvl1pPr>
          </a:lstStyle>
          <a:p>
            <a:pPr>
              <a:defRPr/>
            </a:pPr>
            <a:endParaRPr lang="en-US" dirty="0"/>
          </a:p>
        </p:txBody>
      </p:sp>
      <p:sp>
        <p:nvSpPr>
          <p:cNvPr id="18" name="Slide Number Placeholder 5">
            <a:extLst>
              <a:ext uri="{FF2B5EF4-FFF2-40B4-BE49-F238E27FC236}">
                <a16:creationId xmlns:a16="http://schemas.microsoft.com/office/drawing/2014/main" xmlns="" id="{D95EBA3B-2C3A-83C0-6E1A-C21276ECBD6B}"/>
              </a:ext>
            </a:extLst>
          </p:cNvPr>
          <p:cNvSpPr>
            <a:spLocks noGrp="1"/>
          </p:cNvSpPr>
          <p:nvPr>
            <p:ph type="sldNum" sz="quarter" idx="12"/>
          </p:nvPr>
        </p:nvSpPr>
        <p:spPr>
          <a:xfrm>
            <a:off x="7442200" y="6596064"/>
            <a:ext cx="2844800" cy="261937"/>
          </a:xfrm>
        </p:spPr>
        <p:txBody>
          <a:bodyPr/>
          <a:lstStyle>
            <a:lvl1pPr>
              <a:defRPr/>
            </a:lvl1pPr>
          </a:lstStyle>
          <a:p>
            <a:pPr>
              <a:defRPr/>
            </a:pPr>
            <a:fld id="{7D73CF5B-AF6F-4DC3-9E62-6ACC0963616B}" type="slidenum">
              <a:rPr lang="en-US"/>
              <a:pPr>
                <a:defRPr/>
              </a:pPr>
              <a:t>‹#›</a:t>
            </a:fld>
            <a:endParaRPr lang="en-US"/>
          </a:p>
        </p:txBody>
      </p:sp>
    </p:spTree>
    <p:extLst>
      <p:ext uri="{BB962C8B-B14F-4D97-AF65-F5344CB8AC3E}">
        <p14:creationId xmlns:p14="http://schemas.microsoft.com/office/powerpoint/2010/main" val="289524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FD961AE-01FE-4E7F-AF74-CFEC5D90A3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F9FC92-7924-4452-BBC0-DB112ED8DA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6E19652-ECCD-48DB-BE94-1C68A87AAB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xmlns="" id="{88E03F7E-54E3-4B60-A0C0-14F04187E8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284E1B61-94FE-4BE6-A879-F9D19B3B7D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B21C89-4E4A-406B-8392-F67A056F84AA}" type="slidenum">
              <a:rPr lang="en-IN" smtClean="0"/>
              <a:t>‹#›</a:t>
            </a:fld>
            <a:endParaRPr lang="en-IN"/>
          </a:p>
        </p:txBody>
      </p:sp>
    </p:spTree>
    <p:extLst>
      <p:ext uri="{BB962C8B-B14F-4D97-AF65-F5344CB8AC3E}">
        <p14:creationId xmlns:p14="http://schemas.microsoft.com/office/powerpoint/2010/main" val="502938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2.bin"/><Relationship Id="rId3" Type="http://schemas.openxmlformats.org/officeDocument/2006/relationships/oleObject" Target="../embeddings/oleObject1.bin"/><Relationship Id="rId21" Type="http://schemas.openxmlformats.org/officeDocument/2006/relationships/oleObject" Target="../embeddings/oleObject14.bin"/><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image" Target="../media/image11.wmf"/><Relationship Id="rId2" Type="http://schemas.openxmlformats.org/officeDocument/2006/relationships/slideLayout" Target="../slideLayouts/slideLayout12.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9.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image" Target="../media/image12.wmf"/><Relationship Id="rId4" Type="http://schemas.openxmlformats.org/officeDocument/2006/relationships/image" Target="../media/image8.wmf"/><Relationship Id="rId9" Type="http://schemas.openxmlformats.org/officeDocument/2006/relationships/oleObject" Target="../embeddings/oleObject5.bin"/><Relationship Id="rId14" Type="http://schemas.openxmlformats.org/officeDocument/2006/relationships/image" Target="../media/image10.wmf"/><Relationship Id="rId22"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9.png"/><Relationship Id="rId18" Type="http://schemas.openxmlformats.org/officeDocument/2006/relationships/image" Target="../media/image44.png"/><Relationship Id="rId26" Type="http://schemas.openxmlformats.org/officeDocument/2006/relationships/image" Target="../media/image52.png"/><Relationship Id="rId3" Type="http://schemas.openxmlformats.org/officeDocument/2006/relationships/image" Target="../media/image34.png"/><Relationship Id="rId21" Type="http://schemas.openxmlformats.org/officeDocument/2006/relationships/image" Target="../media/image47.png"/><Relationship Id="rId7" Type="http://schemas.openxmlformats.org/officeDocument/2006/relationships/image" Target="../media/image26.png"/><Relationship Id="rId12" Type="http://schemas.openxmlformats.org/officeDocument/2006/relationships/image" Target="../media/image38.png"/><Relationship Id="rId17" Type="http://schemas.openxmlformats.org/officeDocument/2006/relationships/image" Target="../media/image43.png"/><Relationship Id="rId25" Type="http://schemas.openxmlformats.org/officeDocument/2006/relationships/image" Target="../media/image51.png"/><Relationship Id="rId2" Type="http://schemas.openxmlformats.org/officeDocument/2006/relationships/image" Target="../media/image16.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37.png"/><Relationship Id="rId24" Type="http://schemas.openxmlformats.org/officeDocument/2006/relationships/image" Target="../media/image50.png"/><Relationship Id="rId5" Type="http://schemas.openxmlformats.org/officeDocument/2006/relationships/image" Target="../media/image15.png"/><Relationship Id="rId15" Type="http://schemas.openxmlformats.org/officeDocument/2006/relationships/image" Target="../media/image41.png"/><Relationship Id="rId23" Type="http://schemas.openxmlformats.org/officeDocument/2006/relationships/image" Target="../media/image49.png"/><Relationship Id="rId28" Type="http://schemas.openxmlformats.org/officeDocument/2006/relationships/image" Target="../media/image24.png"/><Relationship Id="rId10" Type="http://schemas.openxmlformats.org/officeDocument/2006/relationships/image" Target="../media/image22.png"/><Relationship Id="rId19" Type="http://schemas.openxmlformats.org/officeDocument/2006/relationships/image" Target="../media/image45.png"/><Relationship Id="rId4" Type="http://schemas.openxmlformats.org/officeDocument/2006/relationships/image" Target="../media/image35.png"/><Relationship Id="rId9" Type="http://schemas.openxmlformats.org/officeDocument/2006/relationships/image" Target="../media/image36.png"/><Relationship Id="rId14" Type="http://schemas.openxmlformats.org/officeDocument/2006/relationships/image" Target="../media/image40.png"/><Relationship Id="rId22" Type="http://schemas.openxmlformats.org/officeDocument/2006/relationships/image" Target="../media/image48.png"/><Relationship Id="rId27"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66.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67.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a:extLst>
              <a:ext uri="{FF2B5EF4-FFF2-40B4-BE49-F238E27FC236}">
                <a16:creationId xmlns:a16="http://schemas.microsoft.com/office/drawing/2014/main" xmlns="" id="{4D49C55A-CCFD-1A40-BD73-4DBDC661E88F}"/>
              </a:ext>
            </a:extLst>
          </p:cNvPr>
          <p:cNvSpPr txBox="1">
            <a:spLocks noGrp="1"/>
          </p:cNvSpPr>
          <p:nvPr>
            <p:ph type="body" sz="half" idx="1"/>
          </p:nvPr>
        </p:nvSpPr>
        <p:spPr>
          <a:xfrm>
            <a:off x="2057400" y="4419600"/>
            <a:ext cx="8458200" cy="2209800"/>
          </a:xfrm>
        </p:spPr>
        <p:txBody>
          <a:bodyPr>
            <a:noAutofit/>
          </a:bodyPr>
          <a:lstStyle/>
          <a:p>
            <a:pPr>
              <a:defRPr spc="-200"/>
            </a:pPr>
            <a:r>
              <a:rPr lang="en-IN" sz="3200" spc="-200" dirty="0">
                <a:solidFill>
                  <a:srgbClr val="00000A"/>
                </a:solidFill>
                <a:latin typeface="Times New Roman" panose="02020603050405020304" pitchFamily="18" charset="0"/>
              </a:rPr>
              <a:t>SSWT ZC467</a:t>
            </a:r>
            <a:endParaRPr lang="en-IN" sz="3200" spc="-200" dirty="0">
              <a:solidFill>
                <a:srgbClr val="00000A"/>
              </a:solidFill>
              <a:latin typeface="Times New Roman" panose="02020603050405020304" pitchFamily="18" charset="0"/>
              <a:ea typeface="Ubuntu" panose="020B0504030602030204" pitchFamily="34" charset="0"/>
            </a:endParaRPr>
          </a:p>
          <a:p>
            <a:pPr>
              <a:defRPr spc="-200"/>
            </a:pPr>
            <a:r>
              <a:rPr lang="en-IN" sz="3200" spc="-200" dirty="0">
                <a:solidFill>
                  <a:srgbClr val="00000A"/>
                </a:solidFill>
                <a:latin typeface="Times New Roman" panose="02020603050405020304" pitchFamily="18" charset="0"/>
                <a:ea typeface="Ubuntu" panose="020B0504030602030204" pitchFamily="34" charset="0"/>
              </a:rPr>
              <a:t>Computer </a:t>
            </a:r>
            <a:r>
              <a:rPr lang="en-IN" sz="3200" spc="-200" dirty="0">
                <a:solidFill>
                  <a:srgbClr val="00000A"/>
                </a:solidFill>
                <a:latin typeface="Times New Roman" panose="02020603050405020304" pitchFamily="18" charset="0"/>
              </a:rPr>
              <a:t>Networks </a:t>
            </a:r>
          </a:p>
          <a:p>
            <a:pPr>
              <a:defRPr spc="-200"/>
            </a:pPr>
            <a:r>
              <a:rPr lang="en-IN" sz="3200" spc="-200" dirty="0">
                <a:solidFill>
                  <a:srgbClr val="00000A"/>
                </a:solidFill>
                <a:latin typeface="Times New Roman" panose="02020603050405020304" pitchFamily="18" charset="0"/>
              </a:rPr>
              <a:t>Contact Session – 5</a:t>
            </a:r>
          </a:p>
          <a:p>
            <a:pPr>
              <a:defRPr spc="-200"/>
            </a:pPr>
            <a:r>
              <a:rPr lang="en-IN" sz="3200" spc="-200" dirty="0" smtClean="0">
                <a:solidFill>
                  <a:srgbClr val="00000A"/>
                </a:solidFill>
                <a:latin typeface="Times New Roman" panose="02020603050405020304" pitchFamily="18" charset="0"/>
              </a:rPr>
              <a:t>				</a:t>
            </a:r>
            <a:r>
              <a:rPr lang="en-IN" sz="3200" spc="-200" smtClean="0">
                <a:solidFill>
                  <a:srgbClr val="00000A"/>
                </a:solidFill>
                <a:latin typeface="Times New Roman" panose="02020603050405020304" pitchFamily="18" charset="0"/>
              </a:rPr>
              <a:t>	Prabhu </a:t>
            </a:r>
            <a:r>
              <a:rPr lang="en-IN" sz="3200" spc="-200" dirty="0" smtClean="0">
                <a:solidFill>
                  <a:srgbClr val="00000A"/>
                </a:solidFill>
                <a:latin typeface="Times New Roman" panose="02020603050405020304" pitchFamily="18" charset="0"/>
              </a:rPr>
              <a:t>Subramanian</a:t>
            </a:r>
          </a:p>
        </p:txBody>
      </p:sp>
      <p:sp>
        <p:nvSpPr>
          <p:cNvPr id="2" name="Slide Number Placeholder 1">
            <a:extLst>
              <a:ext uri="{FF2B5EF4-FFF2-40B4-BE49-F238E27FC236}">
                <a16:creationId xmlns:a16="http://schemas.microsoft.com/office/drawing/2014/main" xmlns="" id="{54E12FE0-4143-A33B-4F9D-9C2A2F04636E}"/>
              </a:ext>
            </a:extLst>
          </p:cNvPr>
          <p:cNvSpPr>
            <a:spLocks noGrp="1"/>
          </p:cNvSpPr>
          <p:nvPr>
            <p:ph type="sldNum" sz="quarter" idx="10"/>
          </p:nvPr>
        </p:nvSpPr>
        <p:spPr/>
        <p:txBody>
          <a:bodyPr/>
          <a:lstStyle/>
          <a:p>
            <a:pPr>
              <a:defRPr/>
            </a:pPr>
            <a:fld id="{7875E9BF-4AAA-4AB0-87BF-CFAA1212C088}" type="slidenum">
              <a:rPr lang="en-IN" smtClean="0"/>
              <a:pPr>
                <a:defRPr/>
              </a:pPr>
              <a:t>1</a:t>
            </a:fld>
            <a:endParaRPr lang="en-IN"/>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a:extLst>
              <a:ext uri="{FF2B5EF4-FFF2-40B4-BE49-F238E27FC236}">
                <a16:creationId xmlns:a16="http://schemas.microsoft.com/office/drawing/2014/main" xmlns="" id="{F2263745-3CAE-516E-E0AB-1C77C3F00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4" y="2457450"/>
            <a:ext cx="5076825"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Footer Placeholder 1">
            <a:extLst>
              <a:ext uri="{FF2B5EF4-FFF2-40B4-BE49-F238E27FC236}">
                <a16:creationId xmlns:a16="http://schemas.microsoft.com/office/drawing/2014/main" xmlns="" id="{182D27BA-EC96-0441-7D50-EFBCA2280284}"/>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spcBef>
                <a:spcPct val="0"/>
              </a:spcBef>
              <a:buFont typeface="Arial" panose="020B0604020202020204" pitchFamily="34" charset="0"/>
              <a:buNone/>
            </a:pPr>
            <a:endParaRPr lang="en-US" altLang="en-US" sz="1200">
              <a:solidFill>
                <a:srgbClr val="898989"/>
              </a:solidFill>
            </a:endParaRPr>
          </a:p>
        </p:txBody>
      </p:sp>
      <p:sp>
        <p:nvSpPr>
          <p:cNvPr id="18436" name="Slide Number Placeholder 2">
            <a:extLst>
              <a:ext uri="{FF2B5EF4-FFF2-40B4-BE49-F238E27FC236}">
                <a16:creationId xmlns:a16="http://schemas.microsoft.com/office/drawing/2014/main" xmlns="" id="{E4FD0579-1766-353F-578D-035E79BF1C1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spcBef>
                <a:spcPct val="0"/>
              </a:spcBef>
              <a:buFont typeface="Arial" panose="020B0604020202020204" pitchFamily="34" charset="0"/>
              <a:buNone/>
            </a:pPr>
            <a:fld id="{055B8FDB-D63F-4C69-8E37-1D0C4F91AA89}" type="slidenum">
              <a:rPr lang="en-US" altLang="en-US" sz="1200">
                <a:solidFill>
                  <a:srgbClr val="898989"/>
                </a:solidFill>
              </a:rPr>
              <a:pPr>
                <a:spcBef>
                  <a:spcPct val="0"/>
                </a:spcBef>
                <a:buFont typeface="Arial" panose="020B0604020202020204" pitchFamily="34" charset="0"/>
                <a:buNone/>
              </a:pPr>
              <a:t>2</a:t>
            </a:fld>
            <a:endParaRPr lang="en-US" altLang="en-US" sz="1200">
              <a:solidFill>
                <a:srgbClr val="898989"/>
              </a:solidFill>
            </a:endParaRPr>
          </a:p>
        </p:txBody>
      </p:sp>
      <p:sp>
        <p:nvSpPr>
          <p:cNvPr id="18437" name="Google Shape;190;g2231df5f08c_0_0">
            <a:extLst>
              <a:ext uri="{FF2B5EF4-FFF2-40B4-BE49-F238E27FC236}">
                <a16:creationId xmlns:a16="http://schemas.microsoft.com/office/drawing/2014/main" xmlns="" id="{1724DF81-CB38-5CE6-577B-982632189434}"/>
              </a:ext>
            </a:extLst>
          </p:cNvPr>
          <p:cNvSpPr txBox="1">
            <a:spLocks noChangeArrowheads="1"/>
          </p:cNvSpPr>
          <p:nvPr/>
        </p:nvSpPr>
        <p:spPr bwMode="auto">
          <a:xfrm>
            <a:off x="1981201" y="1063625"/>
            <a:ext cx="72104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9" tIns="34275" rIns="68569" bIns="34275"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ctr" eaLnBrk="1" hangingPunct="1">
              <a:spcBef>
                <a:spcPct val="0"/>
              </a:spcBef>
              <a:buClr>
                <a:srgbClr val="000000"/>
              </a:buClr>
              <a:buSzPts val="4400"/>
              <a:buFontTx/>
              <a:buNone/>
            </a:pPr>
            <a:r>
              <a:rPr lang="en-US" altLang="en-US" sz="3300" b="1"/>
              <a:t>  IMP Note to Self</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933855" y="1591115"/>
            <a:ext cx="10282136" cy="4525962"/>
          </a:xfrm>
        </p:spPr>
        <p:txBody>
          <a:bodyPr/>
          <a:lstStyle/>
          <a:p>
            <a:r>
              <a:rPr lang="en-IN" sz="2800" dirty="0"/>
              <a:t>CH5.1 = Multiplexing, Demultiplexing</a:t>
            </a:r>
          </a:p>
          <a:p>
            <a:endParaRPr lang="en-IN" sz="2800" dirty="0"/>
          </a:p>
          <a:p>
            <a:r>
              <a:rPr lang="en-IN" sz="2800" dirty="0"/>
              <a:t>CH5.2 = Sliding Window</a:t>
            </a:r>
          </a:p>
          <a:p>
            <a:endParaRPr lang="en-IN" sz="2800" dirty="0"/>
          </a:p>
          <a:p>
            <a:r>
              <a:rPr lang="en-IN" sz="2800" dirty="0"/>
              <a:t>CH5.3 = Flow and Error control; connectionless and connection oriented</a:t>
            </a:r>
          </a:p>
          <a:p>
            <a:endParaRPr lang="en-US" altLang="en-US" dirty="0"/>
          </a:p>
        </p:txBody>
      </p:sp>
      <p:sp>
        <p:nvSpPr>
          <p:cNvPr id="4" name="Content Placeholder 3"/>
          <p:cNvSpPr>
            <a:spLocks noGrp="1"/>
          </p:cNvSpPr>
          <p:nvPr>
            <p:ph sz="quarter" idx="10"/>
          </p:nvPr>
        </p:nvSpPr>
        <p:spPr/>
        <p:txBody>
          <a:bodyPr rtlCol="0"/>
          <a:lstStyle/>
          <a:p>
            <a:pPr>
              <a:defRPr/>
            </a:pPr>
            <a:r>
              <a:rPr lang="en-US" dirty="0"/>
              <a:t>Agenda</a:t>
            </a:r>
          </a:p>
        </p:txBody>
      </p:sp>
    </p:spTree>
    <p:extLst>
      <p:ext uri="{BB962C8B-B14F-4D97-AF65-F5344CB8AC3E}">
        <p14:creationId xmlns:p14="http://schemas.microsoft.com/office/powerpoint/2010/main" val="2103075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dirty="0"/>
              <a:t>Position of transport layer</a:t>
            </a:r>
            <a:endParaRPr lang="en-IN"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77195" y="1663430"/>
            <a:ext cx="8004549" cy="4542817"/>
          </a:xfrm>
          <a:prstGeom prst="rect">
            <a:avLst/>
          </a:prstGeom>
          <a:noFill/>
        </p:spPr>
      </p:pic>
    </p:spTree>
    <p:extLst>
      <p:ext uri="{BB962C8B-B14F-4D97-AF65-F5344CB8AC3E}">
        <p14:creationId xmlns:p14="http://schemas.microsoft.com/office/powerpoint/2010/main" val="4059273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401" y="1493838"/>
            <a:ext cx="11354340" cy="4525963"/>
          </a:xfrm>
        </p:spPr>
        <p:txBody>
          <a:bodyPr/>
          <a:lstStyle/>
          <a:p>
            <a:r>
              <a:rPr lang="en-US" altLang="en-US" dirty="0"/>
              <a:t>Transport layer create packet from the message received by the application layer</a:t>
            </a:r>
          </a:p>
          <a:p>
            <a:endParaRPr lang="en-US" altLang="en-US" dirty="0"/>
          </a:p>
          <a:p>
            <a:r>
              <a:rPr lang="en-US" altLang="en-US" b="1" dirty="0"/>
              <a:t>Packetizing </a:t>
            </a:r>
            <a:r>
              <a:rPr lang="en-US" altLang="en-US" dirty="0"/>
              <a:t>- divides long message into smaller ones smaller ones are encapsulated into the data field of the TL packet and headers are added</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Packetizing</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71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b="1" dirty="0"/>
              <a:t>Connection-oriented delivery</a:t>
            </a:r>
          </a:p>
          <a:p>
            <a:endParaRPr lang="en-US" altLang="en-US" b="1" dirty="0"/>
          </a:p>
          <a:p>
            <a:pPr lvl="2"/>
            <a:r>
              <a:rPr lang="en-US" altLang="en-US" sz="2400" dirty="0"/>
              <a:t>Establishes virtual path between sender &amp; receiver</a:t>
            </a:r>
          </a:p>
          <a:p>
            <a:pPr lvl="2"/>
            <a:r>
              <a:rPr lang="en-US" altLang="en-US" sz="2400" dirty="0"/>
              <a:t>Packets may </a:t>
            </a:r>
            <a:r>
              <a:rPr lang="en-US" altLang="en-US" sz="2400"/>
              <a:t>travel in </a:t>
            </a:r>
            <a:r>
              <a:rPr lang="en-US" altLang="en-US" sz="2400" dirty="0"/>
              <a:t>of order</a:t>
            </a:r>
          </a:p>
          <a:p>
            <a:pPr lvl="2"/>
            <a:r>
              <a:rPr lang="en-US" altLang="en-US" sz="2400" dirty="0"/>
              <a:t>Transparent to communication in both direction</a:t>
            </a:r>
          </a:p>
          <a:p>
            <a:pPr lvl="4">
              <a:buFontTx/>
              <a:buNone/>
            </a:pPr>
            <a:endParaRPr lang="en-US" altLang="en-US" sz="2400" dirty="0"/>
          </a:p>
          <a:p>
            <a:r>
              <a:rPr lang="en-US" altLang="en-US" b="1" dirty="0"/>
              <a:t>Connectionless  Delivery</a:t>
            </a:r>
          </a:p>
          <a:p>
            <a:pPr lvl="2"/>
            <a:r>
              <a:rPr lang="en-US" altLang="en-US" sz="2400" dirty="0"/>
              <a:t> Treats each packet independently</a:t>
            </a:r>
          </a:p>
          <a:p>
            <a:pPr lvl="2"/>
            <a:r>
              <a:rPr lang="en-US" altLang="en-US" sz="2400" dirty="0"/>
              <a:t> No connection </a:t>
            </a:r>
          </a:p>
          <a:p>
            <a:endParaRPr lang="en-US" altLang="en-US" dirty="0"/>
          </a:p>
          <a:p>
            <a:endParaRPr lang="en-US" altLang="en-US" dirty="0"/>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Connection Control</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801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Packet carrying the request must specify to which server program the request must be delivered </a:t>
            </a:r>
          </a:p>
          <a:p>
            <a:endParaRPr lang="en-US" altLang="en-US" dirty="0"/>
          </a:p>
          <a:p>
            <a:endParaRPr lang="en-US" altLang="en-US" dirty="0"/>
          </a:p>
          <a:p>
            <a:r>
              <a:rPr lang="en-US" altLang="en-US" b="1" dirty="0">
                <a:solidFill>
                  <a:schemeClr val="accent2"/>
                </a:solidFill>
              </a:rPr>
              <a:t>PROVIDING RELIABILITY</a:t>
            </a:r>
          </a:p>
          <a:p>
            <a:endParaRPr lang="en-US" altLang="en-US" dirty="0"/>
          </a:p>
          <a:p>
            <a:r>
              <a:rPr lang="en-US" altLang="en-US" dirty="0"/>
              <a:t>Flow control</a:t>
            </a:r>
          </a:p>
          <a:p>
            <a:r>
              <a:rPr lang="en-US" altLang="en-US" dirty="0"/>
              <a:t>Error control </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ADDRESSING</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236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Types of data deliveries</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Picture 205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2800" y="1660264"/>
            <a:ext cx="10620000" cy="4193110"/>
          </a:xfrm>
          <a:noFill/>
        </p:spPr>
      </p:pic>
    </p:spTree>
    <p:extLst>
      <p:ext uri="{BB962C8B-B14F-4D97-AF65-F5344CB8AC3E}">
        <p14:creationId xmlns:p14="http://schemas.microsoft.com/office/powerpoint/2010/main" val="305814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400" y="1493838"/>
            <a:ext cx="5580332" cy="4525963"/>
          </a:xfrm>
        </p:spPr>
        <p:txBody>
          <a:bodyPr/>
          <a:lstStyle/>
          <a:p>
            <a:pPr>
              <a:buFont typeface="Arial" panose="020B0604020202020204" pitchFamily="34" charset="0"/>
              <a:buChar char="•"/>
            </a:pPr>
            <a:r>
              <a:rPr lang="en-US" altLang="en-US" sz="2000" dirty="0"/>
              <a:t>provide</a:t>
            </a:r>
            <a:r>
              <a:rPr lang="en-US" altLang="en-US" sz="2000" i="1" dirty="0">
                <a:solidFill>
                  <a:srgbClr val="FF0000"/>
                </a:solidFill>
              </a:rPr>
              <a:t> logical communication</a:t>
            </a:r>
            <a:r>
              <a:rPr lang="en-US" altLang="en-US" sz="2000" dirty="0"/>
              <a:t> between app processes running on different hosts</a:t>
            </a:r>
          </a:p>
          <a:p>
            <a:pPr marL="0" indent="0"/>
            <a:endParaRPr lang="en-US" altLang="en-US" sz="2000" dirty="0"/>
          </a:p>
          <a:p>
            <a:pPr>
              <a:buFont typeface="Arial" panose="020B0604020202020204" pitchFamily="34" charset="0"/>
              <a:buChar char="•"/>
            </a:pPr>
            <a:r>
              <a:rPr lang="en-US" altLang="en-US" sz="2000" dirty="0"/>
              <a:t>transport protocols run in end systems </a:t>
            </a:r>
          </a:p>
          <a:p>
            <a:pPr lvl="1"/>
            <a:r>
              <a:rPr lang="en-US" altLang="en-US" sz="2000" dirty="0"/>
              <a:t>send side: breaks app messages into </a:t>
            </a:r>
            <a:r>
              <a:rPr lang="en-US" altLang="en-US" sz="2000" dirty="0">
                <a:solidFill>
                  <a:srgbClr val="FF0000"/>
                </a:solidFill>
              </a:rPr>
              <a:t>segments</a:t>
            </a:r>
            <a:r>
              <a:rPr lang="en-US" altLang="en-US" sz="2000" dirty="0"/>
              <a:t>, passes to  network layer</a:t>
            </a:r>
          </a:p>
          <a:p>
            <a:pPr lvl="1"/>
            <a:r>
              <a:rPr lang="en-US" altLang="en-US" sz="2000" dirty="0" err="1"/>
              <a:t>rcv</a:t>
            </a:r>
            <a:r>
              <a:rPr lang="en-US" altLang="en-US" sz="2000" dirty="0"/>
              <a:t> side: reassembles segments into messages, passes to app layer</a:t>
            </a:r>
          </a:p>
          <a:p>
            <a:pPr marL="457200" lvl="1" indent="0">
              <a:buNone/>
            </a:pPr>
            <a:endParaRPr lang="en-US" altLang="en-US" sz="2000" dirty="0"/>
          </a:p>
          <a:p>
            <a:pPr>
              <a:buFont typeface="Arial" panose="020B0604020202020204" pitchFamily="34" charset="0"/>
              <a:buChar char="•"/>
            </a:pPr>
            <a:r>
              <a:rPr lang="en-US" altLang="en-US" sz="2000" dirty="0"/>
              <a:t>more than one transport protocol available to apps</a:t>
            </a:r>
          </a:p>
          <a:p>
            <a:pPr lvl="1"/>
            <a:r>
              <a:rPr lang="en-US" altLang="en-US" sz="2000" dirty="0"/>
              <a:t>Internet: TCP and UDP</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Transport services and protocols</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Freeform 5"/>
          <p:cNvSpPr>
            <a:spLocks/>
          </p:cNvSpPr>
          <p:nvPr/>
        </p:nvSpPr>
        <p:spPr bwMode="auto">
          <a:xfrm>
            <a:off x="8754968" y="2191820"/>
            <a:ext cx="1798638" cy="1674813"/>
          </a:xfrm>
          <a:custGeom>
            <a:avLst/>
            <a:gdLst>
              <a:gd name="T0" fmla="*/ 463191049 w 1292"/>
              <a:gd name="T1" fmla="*/ 12467014 h 1255"/>
              <a:gd name="T2" fmla="*/ 67831762 w 1292"/>
              <a:gd name="T3" fmla="*/ 279604359 h 1255"/>
              <a:gd name="T4" fmla="*/ 56203261 w 1292"/>
              <a:gd name="T5" fmla="*/ 931422895 h 1255"/>
              <a:gd name="T6" fmla="*/ 102715873 w 1292"/>
              <a:gd name="T7" fmla="*/ 1476385693 h 1255"/>
              <a:gd name="T8" fmla="*/ 474819550 w 1292"/>
              <a:gd name="T9" fmla="*/ 1551183776 h 1255"/>
              <a:gd name="T10" fmla="*/ 1253911015 w 1292"/>
              <a:gd name="T11" fmla="*/ 2010661716 h 1255"/>
              <a:gd name="T12" fmla="*/ 1928348756 w 1292"/>
              <a:gd name="T13" fmla="*/ 2147483646 h 1255"/>
              <a:gd name="T14" fmla="*/ 2147483646 w 1292"/>
              <a:gd name="T15" fmla="*/ 1818322455 h 1255"/>
              <a:gd name="T16" fmla="*/ 2147483646 w 1292"/>
              <a:gd name="T17" fmla="*/ 792510836 h 1255"/>
              <a:gd name="T18" fmla="*/ 2147483646 w 1292"/>
              <a:gd name="T19" fmla="*/ 375774657 h 1255"/>
              <a:gd name="T20" fmla="*/ 1451591355 w 1292"/>
              <a:gd name="T21" fmla="*/ 204806276 h 1255"/>
              <a:gd name="T22" fmla="*/ 463191049 w 1292"/>
              <a:gd name="T23" fmla="*/ 12467014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 name="Freeform 6"/>
          <p:cNvSpPr>
            <a:spLocks/>
          </p:cNvSpPr>
          <p:nvPr/>
        </p:nvSpPr>
        <p:spPr bwMode="auto">
          <a:xfrm>
            <a:off x="6875368" y="2048945"/>
            <a:ext cx="1866900" cy="1589088"/>
          </a:xfrm>
          <a:custGeom>
            <a:avLst/>
            <a:gdLst>
              <a:gd name="T0" fmla="*/ 1067567260 w 1340"/>
              <a:gd name="T1" fmla="*/ 74768525 h 1191"/>
              <a:gd name="T2" fmla="*/ 159164371 w 1340"/>
              <a:gd name="T3" fmla="*/ 106813132 h 1191"/>
              <a:gd name="T4" fmla="*/ 112579643 w 1340"/>
              <a:gd name="T5" fmla="*/ 715645981 h 1191"/>
              <a:gd name="T6" fmla="*/ 54349081 w 1340"/>
              <a:gd name="T7" fmla="*/ 1281754912 h 1191"/>
              <a:gd name="T8" fmla="*/ 217394932 w 1340"/>
              <a:gd name="T9" fmla="*/ 1548787074 h 1191"/>
              <a:gd name="T10" fmla="*/ 1044274200 w 1340"/>
              <a:gd name="T11" fmla="*/ 1559467720 h 1191"/>
              <a:gd name="T12" fmla="*/ 1242260338 w 1340"/>
              <a:gd name="T13" fmla="*/ 2008081539 h 1191"/>
              <a:gd name="T14" fmla="*/ 2147483646 w 1340"/>
              <a:gd name="T15" fmla="*/ 1954675640 h 1191"/>
              <a:gd name="T16" fmla="*/ 2147483646 w 1340"/>
              <a:gd name="T17" fmla="*/ 1014722750 h 1191"/>
              <a:gd name="T18" fmla="*/ 2147483646 w 1340"/>
              <a:gd name="T19" fmla="*/ 608832849 h 1191"/>
              <a:gd name="T20" fmla="*/ 1475183977 w 1340"/>
              <a:gd name="T21" fmla="*/ 512701698 h 1191"/>
              <a:gd name="T22" fmla="*/ 1067567260 w 1340"/>
              <a:gd name="T23" fmla="*/ 7476852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 name="Freeform 7"/>
          <p:cNvSpPr>
            <a:spLocks/>
          </p:cNvSpPr>
          <p:nvPr/>
        </p:nvSpPr>
        <p:spPr bwMode="auto">
          <a:xfrm>
            <a:off x="7243668" y="3499920"/>
            <a:ext cx="2974975" cy="2219325"/>
          </a:xfrm>
          <a:custGeom>
            <a:avLst/>
            <a:gdLst>
              <a:gd name="T0" fmla="*/ 52425051 w 2135"/>
              <a:gd name="T1" fmla="*/ 1162592467 h 1662"/>
              <a:gd name="T2" fmla="*/ 203872877 w 2135"/>
              <a:gd name="T3" fmla="*/ 135516364 h 1662"/>
              <a:gd name="T4" fmla="*/ 1275663706 w 2135"/>
              <a:gd name="T5" fmla="*/ 349490274 h 1662"/>
              <a:gd name="T6" fmla="*/ 2147483646 w 2135"/>
              <a:gd name="T7" fmla="*/ 178311146 h 1662"/>
              <a:gd name="T8" fmla="*/ 2147483646 w 2135"/>
              <a:gd name="T9" fmla="*/ 723945952 h 1662"/>
              <a:gd name="T10" fmla="*/ 2147483646 w 2135"/>
              <a:gd name="T11" fmla="*/ 2039885496 h 1662"/>
              <a:gd name="T12" fmla="*/ 2147483646 w 2135"/>
              <a:gd name="T13" fmla="*/ 2147483646 h 1662"/>
              <a:gd name="T14" fmla="*/ 1578560751 w 2135"/>
              <a:gd name="T15" fmla="*/ 2147483646 h 1662"/>
              <a:gd name="T16" fmla="*/ 972766661 w 2135"/>
              <a:gd name="T17" fmla="*/ 2147483646 h 1662"/>
              <a:gd name="T18" fmla="*/ 355322096 w 2135"/>
              <a:gd name="T19" fmla="*/ 1900802455 h 1662"/>
              <a:gd name="T20" fmla="*/ 52425051 w 2135"/>
              <a:gd name="T21" fmla="*/ 116259246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 name="Group 8"/>
          <p:cNvGrpSpPr>
            <a:grpSpLocks/>
          </p:cNvGrpSpPr>
          <p:nvPr/>
        </p:nvGrpSpPr>
        <p:grpSpPr bwMode="auto">
          <a:xfrm>
            <a:off x="6992843" y="2183883"/>
            <a:ext cx="733425" cy="319087"/>
            <a:chOff x="3552" y="246"/>
            <a:chExt cx="527" cy="248"/>
          </a:xfrm>
        </p:grpSpPr>
        <p:graphicFrame>
          <p:nvGraphicFramePr>
            <p:cNvPr id="8" name="Object 9"/>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026" name="Clip" r:id="rId3" imgW="1307263" imgH="1084139" progId="MS_ClipArt_Gallery.2">
                    <p:embed/>
                  </p:oleObj>
                </mc:Choice>
                <mc:Fallback>
                  <p:oleObj name="Clip" r:id="rId3" imgW="1307263" imgH="1084139" progId="MS_ClipArt_Gallery.2">
                    <p:embed/>
                    <p:pic>
                      <p:nvPicPr>
                        <p:cNvPr id="8"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0"/>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027" name="Clip" r:id="rId5" imgW="681706" imgH="480401" progId="MS_ClipArt_Gallery.2">
                    <p:embed/>
                  </p:oleObj>
                </mc:Choice>
                <mc:Fallback>
                  <p:oleObj name="Clip" r:id="rId5" imgW="681706" imgH="480401" progId="MS_ClipArt_Gallery.2">
                    <p:embed/>
                    <p:pic>
                      <p:nvPicPr>
                        <p:cNvPr id="9"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11"/>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1" name="Group 12"/>
          <p:cNvGrpSpPr>
            <a:grpSpLocks/>
          </p:cNvGrpSpPr>
          <p:nvPr/>
        </p:nvGrpSpPr>
        <p:grpSpPr bwMode="auto">
          <a:xfrm>
            <a:off x="6992843" y="2779195"/>
            <a:ext cx="733425" cy="319088"/>
            <a:chOff x="3552" y="246"/>
            <a:chExt cx="527" cy="248"/>
          </a:xfrm>
        </p:grpSpPr>
        <p:graphicFrame>
          <p:nvGraphicFramePr>
            <p:cNvPr id="12" name="Object 13"/>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028" name="Clip" r:id="rId7" imgW="1307263" imgH="1084139" progId="MS_ClipArt_Gallery.2">
                    <p:embed/>
                  </p:oleObj>
                </mc:Choice>
                <mc:Fallback>
                  <p:oleObj name="Clip" r:id="rId7" imgW="1307263" imgH="1084139" progId="MS_ClipArt_Gallery.2">
                    <p:embed/>
                    <p:pic>
                      <p:nvPicPr>
                        <p:cNvPr id="12"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4"/>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029" name="Clip" r:id="rId8" imgW="681706" imgH="480401" progId="MS_ClipArt_Gallery.2">
                    <p:embed/>
                  </p:oleObj>
                </mc:Choice>
                <mc:Fallback>
                  <p:oleObj name="Clip" r:id="rId8" imgW="681706" imgH="480401" progId="MS_ClipArt_Gallery.2">
                    <p:embed/>
                    <p:pic>
                      <p:nvPicPr>
                        <p:cNvPr id="13"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15"/>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 name="Group 16"/>
          <p:cNvGrpSpPr>
            <a:grpSpLocks/>
          </p:cNvGrpSpPr>
          <p:nvPr/>
        </p:nvGrpSpPr>
        <p:grpSpPr bwMode="auto">
          <a:xfrm>
            <a:off x="7369081" y="2566470"/>
            <a:ext cx="69850" cy="214313"/>
            <a:chOff x="3842" y="406"/>
            <a:chExt cx="51" cy="167"/>
          </a:xfrm>
        </p:grpSpPr>
        <p:sp>
          <p:nvSpPr>
            <p:cNvPr id="16" name="Oval 17"/>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7" name="Oval 18"/>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8" name="Oval 19"/>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grpSp>
        <p:nvGrpSpPr>
          <p:cNvPr id="19" name="Group 20"/>
          <p:cNvGrpSpPr>
            <a:grpSpLocks/>
          </p:cNvGrpSpPr>
          <p:nvPr/>
        </p:nvGrpSpPr>
        <p:grpSpPr bwMode="auto">
          <a:xfrm>
            <a:off x="7838981" y="3069708"/>
            <a:ext cx="209550" cy="395287"/>
            <a:chOff x="4180" y="783"/>
            <a:chExt cx="150" cy="307"/>
          </a:xfrm>
        </p:grpSpPr>
        <p:sp>
          <p:nvSpPr>
            <p:cNvPr id="20" name="AutoShape 21"/>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1" name="Rectangle 22"/>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2"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3"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4" name="Line 25"/>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 name="Line 26"/>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7" name="Rectangle 28"/>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grpSp>
        <p:nvGrpSpPr>
          <p:cNvPr id="28" name="Group 29"/>
          <p:cNvGrpSpPr>
            <a:grpSpLocks/>
          </p:cNvGrpSpPr>
          <p:nvPr/>
        </p:nvGrpSpPr>
        <p:grpSpPr bwMode="auto">
          <a:xfrm rot="-5400000">
            <a:off x="8151718" y="3147495"/>
            <a:ext cx="80963" cy="233363"/>
            <a:chOff x="3842" y="406"/>
            <a:chExt cx="51" cy="167"/>
          </a:xfrm>
        </p:grpSpPr>
        <p:sp>
          <p:nvSpPr>
            <p:cNvPr id="29" name="Oval 30"/>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0" name="Oval 31"/>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1" name="Oval 32"/>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sp>
        <p:nvSpPr>
          <p:cNvPr id="32" name="Line 33"/>
          <p:cNvSpPr>
            <a:spLocks noChangeShapeType="1"/>
          </p:cNvSpPr>
          <p:nvPr/>
        </p:nvSpPr>
        <p:spPr bwMode="auto">
          <a:xfrm>
            <a:off x="7975506" y="2977633"/>
            <a:ext cx="495300" cy="1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 name="Line 34"/>
          <p:cNvSpPr>
            <a:spLocks noChangeShapeType="1"/>
          </p:cNvSpPr>
          <p:nvPr/>
        </p:nvSpPr>
        <p:spPr bwMode="auto">
          <a:xfrm>
            <a:off x="7978681" y="2974458"/>
            <a:ext cx="1587" cy="952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 name="Line 35"/>
          <p:cNvSpPr>
            <a:spLocks noChangeShapeType="1"/>
          </p:cNvSpPr>
          <p:nvPr/>
        </p:nvSpPr>
        <p:spPr bwMode="auto">
          <a:xfrm>
            <a:off x="8473981" y="2972870"/>
            <a:ext cx="1587" cy="82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5" name="Line 36"/>
          <p:cNvSpPr>
            <a:spLocks noChangeShapeType="1"/>
          </p:cNvSpPr>
          <p:nvPr/>
        </p:nvSpPr>
        <p:spPr bwMode="auto">
          <a:xfrm>
            <a:off x="7675468" y="2437883"/>
            <a:ext cx="288925" cy="265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 name="Line 37"/>
          <p:cNvSpPr>
            <a:spLocks noChangeShapeType="1"/>
          </p:cNvSpPr>
          <p:nvPr/>
        </p:nvSpPr>
        <p:spPr bwMode="auto">
          <a:xfrm flipV="1">
            <a:off x="7688168" y="2723633"/>
            <a:ext cx="276225"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Line 38"/>
          <p:cNvSpPr>
            <a:spLocks noChangeShapeType="1"/>
          </p:cNvSpPr>
          <p:nvPr/>
        </p:nvSpPr>
        <p:spPr bwMode="auto">
          <a:xfrm flipV="1">
            <a:off x="8215218" y="2809358"/>
            <a:ext cx="1588"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38" name="Group 39"/>
          <p:cNvGrpSpPr>
            <a:grpSpLocks/>
          </p:cNvGrpSpPr>
          <p:nvPr/>
        </p:nvGrpSpPr>
        <p:grpSpPr bwMode="auto">
          <a:xfrm>
            <a:off x="8334281" y="3047483"/>
            <a:ext cx="209550" cy="395287"/>
            <a:chOff x="4180" y="783"/>
            <a:chExt cx="150" cy="307"/>
          </a:xfrm>
        </p:grpSpPr>
        <p:sp>
          <p:nvSpPr>
            <p:cNvPr id="39" name="AutoShape 4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0" name="Rectangle 4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1" name="Rectangle 4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2" name="AutoShape 4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3" name="Line 4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4" name="Line 4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 name="Rectangle 4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6" name="Rectangle 4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grpSp>
        <p:nvGrpSpPr>
          <p:cNvPr id="47" name="Group 48"/>
          <p:cNvGrpSpPr>
            <a:grpSpLocks/>
          </p:cNvGrpSpPr>
          <p:nvPr/>
        </p:nvGrpSpPr>
        <p:grpSpPr bwMode="auto">
          <a:xfrm>
            <a:off x="7377018" y="3666608"/>
            <a:ext cx="479425" cy="925512"/>
            <a:chOff x="3314" y="1248"/>
            <a:chExt cx="344" cy="694"/>
          </a:xfrm>
        </p:grpSpPr>
        <p:graphicFrame>
          <p:nvGraphicFramePr>
            <p:cNvPr id="48" name="Object 49"/>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1030" name="Clip" r:id="rId9" imgW="1307263" imgH="1084139" progId="MS_ClipArt_Gallery.2">
                    <p:embed/>
                  </p:oleObj>
                </mc:Choice>
                <mc:Fallback>
                  <p:oleObj name="Clip" r:id="rId9" imgW="1307263" imgH="1084139" progId="MS_ClipArt_Gallery.2">
                    <p:embed/>
                    <p:pic>
                      <p:nvPicPr>
                        <p:cNvPr id="48"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 name="Line 50"/>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0" name="Object 51"/>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1031" name="Clip" r:id="rId10" imgW="1307263" imgH="1084139" progId="MS_ClipArt_Gallery.2">
                    <p:embed/>
                  </p:oleObj>
                </mc:Choice>
                <mc:Fallback>
                  <p:oleObj name="Clip" r:id="rId10" imgW="1307263" imgH="1084139" progId="MS_ClipArt_Gallery.2">
                    <p:embed/>
                    <p:pic>
                      <p:nvPicPr>
                        <p:cNvPr id="5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Line 52"/>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2" name="Group 53"/>
            <p:cNvGrpSpPr>
              <a:grpSpLocks/>
            </p:cNvGrpSpPr>
            <p:nvPr/>
          </p:nvGrpSpPr>
          <p:grpSpPr bwMode="auto">
            <a:xfrm>
              <a:off x="3404" y="1504"/>
              <a:ext cx="51" cy="167"/>
              <a:chOff x="3842" y="406"/>
              <a:chExt cx="51" cy="167"/>
            </a:xfrm>
          </p:grpSpPr>
          <p:sp>
            <p:nvSpPr>
              <p:cNvPr id="54" name="Oval 54"/>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55" name="Oval 55"/>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56" name="Oval 56"/>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sp>
          <p:nvSpPr>
            <p:cNvPr id="53" name="Line 57"/>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aphicFrame>
        <p:nvGraphicFramePr>
          <p:cNvPr id="57" name="Object 58"/>
          <p:cNvGraphicFramePr>
            <a:graphicFrameLocks noChangeAspect="1"/>
          </p:cNvGraphicFramePr>
          <p:nvPr/>
        </p:nvGraphicFramePr>
        <p:xfrm>
          <a:off x="8245381" y="4676258"/>
          <a:ext cx="417512" cy="331787"/>
        </p:xfrm>
        <a:graphic>
          <a:graphicData uri="http://schemas.openxmlformats.org/presentationml/2006/ole">
            <mc:AlternateContent xmlns:mc="http://schemas.openxmlformats.org/markup-compatibility/2006">
              <mc:Choice xmlns:v="urn:schemas-microsoft-com:vml" Requires="v">
                <p:oleObj spid="_x0000_s1032" name="Clip" r:id="rId11" imgW="1307263" imgH="1084139" progId="MS_ClipArt_Gallery.2">
                  <p:embed/>
                </p:oleObj>
              </mc:Choice>
              <mc:Fallback>
                <p:oleObj name="Clip" r:id="rId11" imgW="1307263" imgH="1084139" progId="MS_ClipArt_Gallery.2">
                  <p:embed/>
                  <p:pic>
                    <p:nvPicPr>
                      <p:cNvPr id="57"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5381" y="4676258"/>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59"/>
          <p:cNvGraphicFramePr>
            <a:graphicFrameLocks noChangeAspect="1"/>
          </p:cNvGraphicFramePr>
          <p:nvPr/>
        </p:nvGraphicFramePr>
        <p:xfrm>
          <a:off x="7631018" y="4665145"/>
          <a:ext cx="415925" cy="330200"/>
        </p:xfrm>
        <a:graphic>
          <a:graphicData uri="http://schemas.openxmlformats.org/presentationml/2006/ole">
            <mc:AlternateContent xmlns:mc="http://schemas.openxmlformats.org/markup-compatibility/2006">
              <mc:Choice xmlns:v="urn:schemas-microsoft-com:vml" Requires="v">
                <p:oleObj spid="_x0000_s1033" name="Clip" r:id="rId12" imgW="1307263" imgH="1084139" progId="MS_ClipArt_Gallery.2">
                  <p:embed/>
                </p:oleObj>
              </mc:Choice>
              <mc:Fallback>
                <p:oleObj name="Clip" r:id="rId12" imgW="1307263" imgH="1084139" progId="MS_ClipArt_Gallery.2">
                  <p:embed/>
                  <p:pic>
                    <p:nvPicPr>
                      <p:cNvPr id="58"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1018" y="4665145"/>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Oval 60"/>
          <p:cNvSpPr>
            <a:spLocks noChangeArrowheads="1"/>
          </p:cNvSpPr>
          <p:nvPr/>
        </p:nvSpPr>
        <p:spPr bwMode="auto">
          <a:xfrm rot="16200000">
            <a:off x="8047737" y="4769126"/>
            <a:ext cx="63500" cy="6508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60" name="Oval 61"/>
          <p:cNvSpPr>
            <a:spLocks noChangeArrowheads="1"/>
          </p:cNvSpPr>
          <p:nvPr/>
        </p:nvSpPr>
        <p:spPr bwMode="auto">
          <a:xfrm rot="16200000">
            <a:off x="8132669" y="4766745"/>
            <a:ext cx="63500" cy="6667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61" name="Oval 62"/>
          <p:cNvSpPr>
            <a:spLocks noChangeArrowheads="1"/>
          </p:cNvSpPr>
          <p:nvPr/>
        </p:nvSpPr>
        <p:spPr bwMode="auto">
          <a:xfrm rot="16200000">
            <a:off x="8210455" y="4771508"/>
            <a:ext cx="61913" cy="6508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62" name="Line 63"/>
          <p:cNvSpPr>
            <a:spLocks noChangeShapeType="1"/>
          </p:cNvSpPr>
          <p:nvPr/>
        </p:nvSpPr>
        <p:spPr bwMode="auto">
          <a:xfrm rot="16200000">
            <a:off x="8470012" y="4651652"/>
            <a:ext cx="60325"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3" name="Line 64"/>
          <p:cNvSpPr>
            <a:spLocks noChangeShapeType="1"/>
          </p:cNvSpPr>
          <p:nvPr/>
        </p:nvSpPr>
        <p:spPr bwMode="auto">
          <a:xfrm rot="5400000" flipH="1">
            <a:off x="7843743" y="4642920"/>
            <a:ext cx="635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 name="Line 65"/>
          <p:cNvSpPr>
            <a:spLocks noChangeShapeType="1"/>
          </p:cNvSpPr>
          <p:nvPr/>
        </p:nvSpPr>
        <p:spPr bwMode="auto">
          <a:xfrm rot="16200000" flipV="1">
            <a:off x="8190612" y="4303989"/>
            <a:ext cx="0" cy="627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 name="Line 66"/>
          <p:cNvSpPr>
            <a:spLocks noChangeShapeType="1"/>
          </p:cNvSpPr>
          <p:nvPr/>
        </p:nvSpPr>
        <p:spPr bwMode="auto">
          <a:xfrm flipV="1">
            <a:off x="7856443" y="4242870"/>
            <a:ext cx="93663"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 name="Line 67"/>
          <p:cNvSpPr>
            <a:spLocks noChangeShapeType="1"/>
          </p:cNvSpPr>
          <p:nvPr/>
        </p:nvSpPr>
        <p:spPr bwMode="auto">
          <a:xfrm>
            <a:off x="8458106" y="4288908"/>
            <a:ext cx="303212" cy="3857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7" name="Line 68"/>
          <p:cNvSpPr>
            <a:spLocks noChangeShapeType="1"/>
          </p:cNvSpPr>
          <p:nvPr/>
        </p:nvSpPr>
        <p:spPr bwMode="auto">
          <a:xfrm flipH="1">
            <a:off x="9253443" y="4285733"/>
            <a:ext cx="279400" cy="392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68" name="Object 69"/>
          <p:cNvGraphicFramePr>
            <a:graphicFrameLocks noChangeAspect="1"/>
          </p:cNvGraphicFramePr>
          <p:nvPr/>
        </p:nvGraphicFramePr>
        <p:xfrm>
          <a:off x="9431243" y="3838058"/>
          <a:ext cx="203200" cy="241300"/>
        </p:xfrm>
        <a:graphic>
          <a:graphicData uri="http://schemas.openxmlformats.org/presentationml/2006/ole">
            <mc:AlternateContent xmlns:mc="http://schemas.openxmlformats.org/markup-compatibility/2006">
              <mc:Choice xmlns:v="urn:schemas-microsoft-com:vml" Requires="v">
                <p:oleObj spid="_x0000_s1034" name="Clip" r:id="rId13" imgW="982811" imgH="1208363" progId="MS_ClipArt_Gallery.2">
                  <p:embed/>
                </p:oleObj>
              </mc:Choice>
              <mc:Fallback>
                <p:oleObj name="Clip" r:id="rId13" imgW="982811" imgH="1208363" progId="MS_ClipArt_Gallery.2">
                  <p:embed/>
                  <p:pic>
                    <p:nvPicPr>
                      <p:cNvPr id="68"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31243" y="3838058"/>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 name="Object 70"/>
          <p:cNvGraphicFramePr>
            <a:graphicFrameLocks noChangeAspect="1"/>
          </p:cNvGraphicFramePr>
          <p:nvPr/>
        </p:nvGraphicFramePr>
        <p:xfrm>
          <a:off x="8094568" y="3919020"/>
          <a:ext cx="203200" cy="239713"/>
        </p:xfrm>
        <a:graphic>
          <a:graphicData uri="http://schemas.openxmlformats.org/presentationml/2006/ole">
            <mc:AlternateContent xmlns:mc="http://schemas.openxmlformats.org/markup-compatibility/2006">
              <mc:Choice xmlns:v="urn:schemas-microsoft-com:vml" Requires="v">
                <p:oleObj spid="_x0000_s1035" name="Clip" r:id="rId15" imgW="982811" imgH="1208363" progId="MS_ClipArt_Gallery.2">
                  <p:embed/>
                </p:oleObj>
              </mc:Choice>
              <mc:Fallback>
                <p:oleObj name="Clip" r:id="rId15" imgW="982811" imgH="1208363" progId="MS_ClipArt_Gallery.2">
                  <p:embed/>
                  <p:pic>
                    <p:nvPicPr>
                      <p:cNvPr id="69" name="Object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94568" y="3919020"/>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0" name="Group 72"/>
          <p:cNvGrpSpPr>
            <a:grpSpLocks/>
          </p:cNvGrpSpPr>
          <p:nvPr/>
        </p:nvGrpSpPr>
        <p:grpSpPr bwMode="auto">
          <a:xfrm>
            <a:off x="8442231" y="5115995"/>
            <a:ext cx="406400" cy="427038"/>
            <a:chOff x="2870" y="1518"/>
            <a:chExt cx="292" cy="320"/>
          </a:xfrm>
        </p:grpSpPr>
        <p:graphicFrame>
          <p:nvGraphicFramePr>
            <p:cNvPr id="71"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036" name="Clip" r:id="rId16" imgW="826829" imgH="840406" progId="MS_ClipArt_Gallery.2">
                    <p:embed/>
                  </p:oleObj>
                </mc:Choice>
                <mc:Fallback>
                  <p:oleObj name="Clip" r:id="rId16" imgW="826829" imgH="840406" progId="MS_ClipArt_Gallery.2">
                    <p:embed/>
                    <p:pic>
                      <p:nvPicPr>
                        <p:cNvPr id="71"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037" name="Clip" r:id="rId18" imgW="1268295" imgH="1199426" progId="MS_ClipArt_Gallery.2">
                    <p:embed/>
                  </p:oleObj>
                </mc:Choice>
                <mc:Fallback>
                  <p:oleObj name="Clip" r:id="rId18" imgW="1268295" imgH="1199426" progId="MS_ClipArt_Gallery.2">
                    <p:embed/>
                    <p:pic>
                      <p:nvPicPr>
                        <p:cNvPr id="72"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 name="Group 75"/>
          <p:cNvGrpSpPr>
            <a:grpSpLocks/>
          </p:cNvGrpSpPr>
          <p:nvPr/>
        </p:nvGrpSpPr>
        <p:grpSpPr bwMode="auto">
          <a:xfrm>
            <a:off x="9220106" y="5147745"/>
            <a:ext cx="406400" cy="427038"/>
            <a:chOff x="2870" y="1518"/>
            <a:chExt cx="292" cy="320"/>
          </a:xfrm>
        </p:grpSpPr>
        <p:graphicFrame>
          <p:nvGraphicFramePr>
            <p:cNvPr id="74" name="Object 7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038" name="Clip" r:id="rId20" imgW="826829" imgH="840406" progId="MS_ClipArt_Gallery.2">
                    <p:embed/>
                  </p:oleObj>
                </mc:Choice>
                <mc:Fallback>
                  <p:oleObj name="Clip" r:id="rId20" imgW="826829" imgH="840406" progId="MS_ClipArt_Gallery.2">
                    <p:embed/>
                    <p:pic>
                      <p:nvPicPr>
                        <p:cNvPr id="74"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7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039" name="Clip" r:id="rId21" imgW="1268295" imgH="1199426" progId="MS_ClipArt_Gallery.2">
                    <p:embed/>
                  </p:oleObj>
                </mc:Choice>
                <mc:Fallback>
                  <p:oleObj name="Clip" r:id="rId21" imgW="1268295" imgH="1199426" progId="MS_ClipArt_Gallery.2">
                    <p:embed/>
                    <p:pic>
                      <p:nvPicPr>
                        <p:cNvPr id="75" name="Object 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6" name="Group 78"/>
          <p:cNvGrpSpPr>
            <a:grpSpLocks/>
          </p:cNvGrpSpPr>
          <p:nvPr/>
        </p:nvGrpSpPr>
        <p:grpSpPr bwMode="auto">
          <a:xfrm>
            <a:off x="8805768" y="4863583"/>
            <a:ext cx="379413" cy="376237"/>
            <a:chOff x="4733" y="2082"/>
            <a:chExt cx="272" cy="282"/>
          </a:xfrm>
        </p:grpSpPr>
        <p:graphicFrame>
          <p:nvGraphicFramePr>
            <p:cNvPr id="77" name="Object 79"/>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1040" name="Clip" r:id="rId22" imgW="826829" imgH="840406" progId="MS_ClipArt_Gallery.2">
                    <p:embed/>
                  </p:oleObj>
                </mc:Choice>
                <mc:Fallback>
                  <p:oleObj name="Clip" r:id="rId22" imgW="826829" imgH="840406" progId="MS_ClipArt_Gallery.2">
                    <p:embed/>
                    <p:pic>
                      <p:nvPicPr>
                        <p:cNvPr id="77" name="Object 7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 name="Rectangle 80"/>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sp>
        <p:nvSpPr>
          <p:cNvPr id="79" name="Line 81"/>
          <p:cNvSpPr>
            <a:spLocks noChangeShapeType="1"/>
          </p:cNvSpPr>
          <p:nvPr/>
        </p:nvSpPr>
        <p:spPr bwMode="auto">
          <a:xfrm>
            <a:off x="9112156" y="4766745"/>
            <a:ext cx="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80" name="Group 82"/>
          <p:cNvGrpSpPr>
            <a:grpSpLocks/>
          </p:cNvGrpSpPr>
          <p:nvPr/>
        </p:nvGrpSpPr>
        <p:grpSpPr bwMode="auto">
          <a:xfrm>
            <a:off x="9832881" y="4190483"/>
            <a:ext cx="207962" cy="409575"/>
            <a:chOff x="4180" y="783"/>
            <a:chExt cx="150" cy="307"/>
          </a:xfrm>
        </p:grpSpPr>
        <p:sp>
          <p:nvSpPr>
            <p:cNvPr id="81" name="AutoShape 83"/>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82" name="Rectangle 84"/>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83" name="Rectangle 8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84" name="AutoShape 8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85" name="Line 87"/>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6" name="Line 88"/>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 name="Rectangle 8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88" name="Rectangle 90"/>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grpSp>
        <p:nvGrpSpPr>
          <p:cNvPr id="89" name="Group 91"/>
          <p:cNvGrpSpPr>
            <a:grpSpLocks/>
          </p:cNvGrpSpPr>
          <p:nvPr/>
        </p:nvGrpSpPr>
        <p:grpSpPr bwMode="auto">
          <a:xfrm>
            <a:off x="9820181" y="4634983"/>
            <a:ext cx="207962" cy="409575"/>
            <a:chOff x="4180" y="783"/>
            <a:chExt cx="150" cy="307"/>
          </a:xfrm>
        </p:grpSpPr>
        <p:sp>
          <p:nvSpPr>
            <p:cNvPr id="90" name="AutoShape 92"/>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1" name="Rectangle 93"/>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2" name="Rectangle 9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3" name="AutoShape 9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4" name="Line 96"/>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5" name="Line 97"/>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6" name="Rectangle 9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7" name="Rectangle 99"/>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sp>
        <p:nvSpPr>
          <p:cNvPr id="98" name="Line 100"/>
          <p:cNvSpPr>
            <a:spLocks noChangeShapeType="1"/>
          </p:cNvSpPr>
          <p:nvPr/>
        </p:nvSpPr>
        <p:spPr bwMode="auto">
          <a:xfrm rot="5400000" flipH="1">
            <a:off x="9446324" y="4564339"/>
            <a:ext cx="6111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9" name="Line 101"/>
          <p:cNvSpPr>
            <a:spLocks noChangeShapeType="1"/>
          </p:cNvSpPr>
          <p:nvPr/>
        </p:nvSpPr>
        <p:spPr bwMode="auto">
          <a:xfrm rot="16200000">
            <a:off x="9800337" y="4816751"/>
            <a:ext cx="0" cy="103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0" name="Line 102"/>
          <p:cNvSpPr>
            <a:spLocks noChangeShapeType="1"/>
          </p:cNvSpPr>
          <p:nvPr/>
        </p:nvSpPr>
        <p:spPr bwMode="auto">
          <a:xfrm rot="16200000">
            <a:off x="9790018" y="4347645"/>
            <a:ext cx="0" cy="88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1" name="Line 103"/>
          <p:cNvSpPr>
            <a:spLocks noChangeShapeType="1"/>
          </p:cNvSpPr>
          <p:nvPr/>
        </p:nvSpPr>
        <p:spPr bwMode="auto">
          <a:xfrm flipV="1">
            <a:off x="8469218" y="2488683"/>
            <a:ext cx="458788" cy="2079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 name="Line 104"/>
          <p:cNvSpPr>
            <a:spLocks noChangeShapeType="1"/>
          </p:cNvSpPr>
          <p:nvPr/>
        </p:nvSpPr>
        <p:spPr bwMode="auto">
          <a:xfrm>
            <a:off x="9404256" y="2472808"/>
            <a:ext cx="485775" cy="2079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3" name="Line 105"/>
          <p:cNvSpPr>
            <a:spLocks noChangeShapeType="1"/>
          </p:cNvSpPr>
          <p:nvPr/>
        </p:nvSpPr>
        <p:spPr bwMode="auto">
          <a:xfrm flipH="1">
            <a:off x="9923368" y="2809358"/>
            <a:ext cx="24130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4" name="Line 106"/>
          <p:cNvSpPr>
            <a:spLocks noChangeShapeType="1"/>
          </p:cNvSpPr>
          <p:nvPr/>
        </p:nvSpPr>
        <p:spPr bwMode="auto">
          <a:xfrm>
            <a:off x="9153431" y="258552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5" name="Line 107"/>
          <p:cNvSpPr>
            <a:spLocks noChangeShapeType="1"/>
          </p:cNvSpPr>
          <p:nvPr/>
        </p:nvSpPr>
        <p:spPr bwMode="auto">
          <a:xfrm>
            <a:off x="9178831" y="3233220"/>
            <a:ext cx="534987" cy="368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6" name="Line 108"/>
          <p:cNvSpPr>
            <a:spLocks noChangeShapeType="1"/>
          </p:cNvSpPr>
          <p:nvPr/>
        </p:nvSpPr>
        <p:spPr bwMode="auto">
          <a:xfrm flipH="1">
            <a:off x="9639206" y="3698358"/>
            <a:ext cx="266700" cy="3603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7" name="Line 109"/>
          <p:cNvSpPr>
            <a:spLocks noChangeShapeType="1"/>
          </p:cNvSpPr>
          <p:nvPr/>
        </p:nvSpPr>
        <p:spPr bwMode="auto">
          <a:xfrm flipH="1">
            <a:off x="9412193" y="2777608"/>
            <a:ext cx="560388" cy="384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8" name="Line 110"/>
          <p:cNvSpPr>
            <a:spLocks noChangeShapeType="1"/>
          </p:cNvSpPr>
          <p:nvPr/>
        </p:nvSpPr>
        <p:spPr bwMode="auto">
          <a:xfrm flipH="1">
            <a:off x="9421718" y="2217220"/>
            <a:ext cx="350838" cy="255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9" name="Line 111"/>
          <p:cNvSpPr>
            <a:spLocks noChangeShapeType="1"/>
          </p:cNvSpPr>
          <p:nvPr/>
        </p:nvSpPr>
        <p:spPr bwMode="auto">
          <a:xfrm flipH="1">
            <a:off x="10139268" y="2393433"/>
            <a:ext cx="201613" cy="1762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10" name="Group 112"/>
          <p:cNvGrpSpPr>
            <a:grpSpLocks/>
          </p:cNvGrpSpPr>
          <p:nvPr/>
        </p:nvGrpSpPr>
        <p:grpSpPr bwMode="auto">
          <a:xfrm>
            <a:off x="7950106" y="2585520"/>
            <a:ext cx="501650" cy="233363"/>
            <a:chOff x="3600" y="219"/>
            <a:chExt cx="360" cy="175"/>
          </a:xfrm>
        </p:grpSpPr>
        <p:sp>
          <p:nvSpPr>
            <p:cNvPr id="111" name="Oval 11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12" name="Line 11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 name="Line 11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4" name="Rectangle 11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15" name="Oval 11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16" name="Group 118"/>
            <p:cNvGrpSpPr>
              <a:grpSpLocks/>
            </p:cNvGrpSpPr>
            <p:nvPr/>
          </p:nvGrpSpPr>
          <p:grpSpPr bwMode="auto">
            <a:xfrm>
              <a:off x="3686" y="244"/>
              <a:ext cx="177" cy="66"/>
              <a:chOff x="2848" y="848"/>
              <a:chExt cx="140" cy="98"/>
            </a:xfrm>
          </p:grpSpPr>
          <p:sp>
            <p:nvSpPr>
              <p:cNvPr id="121" name="Line 1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 name="Line 1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3" name="Line 1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17" name="Group 122"/>
            <p:cNvGrpSpPr>
              <a:grpSpLocks/>
            </p:cNvGrpSpPr>
            <p:nvPr/>
          </p:nvGrpSpPr>
          <p:grpSpPr bwMode="auto">
            <a:xfrm flipV="1">
              <a:off x="3686" y="243"/>
              <a:ext cx="177" cy="66"/>
              <a:chOff x="2848" y="848"/>
              <a:chExt cx="140" cy="98"/>
            </a:xfrm>
          </p:grpSpPr>
          <p:sp>
            <p:nvSpPr>
              <p:cNvPr id="118" name="Line 12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9" name="Line 12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0" name="Line 12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24" name="Group 126"/>
          <p:cNvGrpSpPr>
            <a:grpSpLocks/>
          </p:cNvGrpSpPr>
          <p:nvPr/>
        </p:nvGrpSpPr>
        <p:grpSpPr bwMode="auto">
          <a:xfrm>
            <a:off x="8902606" y="2356920"/>
            <a:ext cx="501650" cy="233363"/>
            <a:chOff x="3600" y="219"/>
            <a:chExt cx="360" cy="175"/>
          </a:xfrm>
        </p:grpSpPr>
        <p:sp>
          <p:nvSpPr>
            <p:cNvPr id="125" name="Oval 12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26" name="Line 12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7" name="Line 12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8" name="Rectangle 13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29" name="Oval 13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30" name="Group 132"/>
            <p:cNvGrpSpPr>
              <a:grpSpLocks/>
            </p:cNvGrpSpPr>
            <p:nvPr/>
          </p:nvGrpSpPr>
          <p:grpSpPr bwMode="auto">
            <a:xfrm>
              <a:off x="3686" y="244"/>
              <a:ext cx="177" cy="66"/>
              <a:chOff x="2848" y="848"/>
              <a:chExt cx="140" cy="98"/>
            </a:xfrm>
          </p:grpSpPr>
          <p:sp>
            <p:nvSpPr>
              <p:cNvPr id="135" name="Line 1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 name="Line 1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7" name="Line 1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31" name="Group 136"/>
            <p:cNvGrpSpPr>
              <a:grpSpLocks/>
            </p:cNvGrpSpPr>
            <p:nvPr/>
          </p:nvGrpSpPr>
          <p:grpSpPr bwMode="auto">
            <a:xfrm flipV="1">
              <a:off x="3686" y="243"/>
              <a:ext cx="177" cy="66"/>
              <a:chOff x="2848" y="848"/>
              <a:chExt cx="140" cy="98"/>
            </a:xfrm>
          </p:grpSpPr>
          <p:sp>
            <p:nvSpPr>
              <p:cNvPr id="132" name="Line 1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3" name="Line 1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4" name="Line 1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38" name="Group 140"/>
          <p:cNvGrpSpPr>
            <a:grpSpLocks/>
          </p:cNvGrpSpPr>
          <p:nvPr/>
        </p:nvGrpSpPr>
        <p:grpSpPr bwMode="auto">
          <a:xfrm>
            <a:off x="8920068" y="3014145"/>
            <a:ext cx="501650" cy="233363"/>
            <a:chOff x="3600" y="219"/>
            <a:chExt cx="360" cy="175"/>
          </a:xfrm>
        </p:grpSpPr>
        <p:sp>
          <p:nvSpPr>
            <p:cNvPr id="139" name="Oval 14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40" name="Line 14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1" name="Line 14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 name="Rectangle 14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43" name="Oval 14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44" name="Group 146"/>
            <p:cNvGrpSpPr>
              <a:grpSpLocks/>
            </p:cNvGrpSpPr>
            <p:nvPr/>
          </p:nvGrpSpPr>
          <p:grpSpPr bwMode="auto">
            <a:xfrm>
              <a:off x="3686" y="244"/>
              <a:ext cx="177" cy="66"/>
              <a:chOff x="2848" y="848"/>
              <a:chExt cx="140" cy="98"/>
            </a:xfrm>
          </p:grpSpPr>
          <p:sp>
            <p:nvSpPr>
              <p:cNvPr id="149" name="Line 1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0" name="Line 1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 name="Line 1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5" name="Group 150"/>
            <p:cNvGrpSpPr>
              <a:grpSpLocks/>
            </p:cNvGrpSpPr>
            <p:nvPr/>
          </p:nvGrpSpPr>
          <p:grpSpPr bwMode="auto">
            <a:xfrm flipV="1">
              <a:off x="3686" y="243"/>
              <a:ext cx="177" cy="66"/>
              <a:chOff x="2848" y="848"/>
              <a:chExt cx="140" cy="98"/>
            </a:xfrm>
          </p:grpSpPr>
          <p:sp>
            <p:nvSpPr>
              <p:cNvPr id="146" name="Line 15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 name="Line 15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 name="Line 15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52" name="Group 154"/>
          <p:cNvGrpSpPr>
            <a:grpSpLocks/>
          </p:cNvGrpSpPr>
          <p:nvPr/>
        </p:nvGrpSpPr>
        <p:grpSpPr bwMode="auto">
          <a:xfrm>
            <a:off x="9890031" y="2564883"/>
            <a:ext cx="500062" cy="233362"/>
            <a:chOff x="3600" y="219"/>
            <a:chExt cx="360" cy="175"/>
          </a:xfrm>
        </p:grpSpPr>
        <p:sp>
          <p:nvSpPr>
            <p:cNvPr id="153" name="Oval 15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54" name="Line 15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5" name="Line 15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 name="Rectangle 158"/>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57" name="Oval 15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58" name="Group 160"/>
            <p:cNvGrpSpPr>
              <a:grpSpLocks/>
            </p:cNvGrpSpPr>
            <p:nvPr/>
          </p:nvGrpSpPr>
          <p:grpSpPr bwMode="auto">
            <a:xfrm>
              <a:off x="3686" y="244"/>
              <a:ext cx="177" cy="66"/>
              <a:chOff x="2848" y="848"/>
              <a:chExt cx="140" cy="98"/>
            </a:xfrm>
          </p:grpSpPr>
          <p:sp>
            <p:nvSpPr>
              <p:cNvPr id="163" name="Line 16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4" name="Line 16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5" name="Line 16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9" name="Group 164"/>
            <p:cNvGrpSpPr>
              <a:grpSpLocks/>
            </p:cNvGrpSpPr>
            <p:nvPr/>
          </p:nvGrpSpPr>
          <p:grpSpPr bwMode="auto">
            <a:xfrm flipV="1">
              <a:off x="3686" y="243"/>
              <a:ext cx="177" cy="66"/>
              <a:chOff x="2848" y="848"/>
              <a:chExt cx="140" cy="98"/>
            </a:xfrm>
          </p:grpSpPr>
          <p:sp>
            <p:nvSpPr>
              <p:cNvPr id="160" name="Line 1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1" name="Line 1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2" name="Line 1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66" name="Group 168"/>
          <p:cNvGrpSpPr>
            <a:grpSpLocks/>
          </p:cNvGrpSpPr>
          <p:nvPr/>
        </p:nvGrpSpPr>
        <p:grpSpPr bwMode="auto">
          <a:xfrm>
            <a:off x="9696356" y="3461820"/>
            <a:ext cx="501650" cy="233363"/>
            <a:chOff x="3600" y="219"/>
            <a:chExt cx="360" cy="175"/>
          </a:xfrm>
        </p:grpSpPr>
        <p:sp>
          <p:nvSpPr>
            <p:cNvPr id="167" name="Oval 16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68" name="Line 17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9" name="Line 17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0" name="Rectangle 17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71" name="Oval 17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72" name="Group 174"/>
            <p:cNvGrpSpPr>
              <a:grpSpLocks/>
            </p:cNvGrpSpPr>
            <p:nvPr/>
          </p:nvGrpSpPr>
          <p:grpSpPr bwMode="auto">
            <a:xfrm>
              <a:off x="3686" y="244"/>
              <a:ext cx="177" cy="66"/>
              <a:chOff x="2848" y="848"/>
              <a:chExt cx="140" cy="98"/>
            </a:xfrm>
          </p:grpSpPr>
          <p:sp>
            <p:nvSpPr>
              <p:cNvPr id="177" name="Line 17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8" name="Line 17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 name="Line 17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73" name="Group 178"/>
            <p:cNvGrpSpPr>
              <a:grpSpLocks/>
            </p:cNvGrpSpPr>
            <p:nvPr/>
          </p:nvGrpSpPr>
          <p:grpSpPr bwMode="auto">
            <a:xfrm flipV="1">
              <a:off x="3686" y="243"/>
              <a:ext cx="177" cy="66"/>
              <a:chOff x="2848" y="848"/>
              <a:chExt cx="140" cy="98"/>
            </a:xfrm>
          </p:grpSpPr>
          <p:sp>
            <p:nvSpPr>
              <p:cNvPr id="174" name="Line 17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5" name="Line 18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6" name="Line 18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80" name="Group 182"/>
          <p:cNvGrpSpPr>
            <a:grpSpLocks/>
          </p:cNvGrpSpPr>
          <p:nvPr/>
        </p:nvGrpSpPr>
        <p:grpSpPr bwMode="auto">
          <a:xfrm>
            <a:off x="9362981" y="4046020"/>
            <a:ext cx="501650" cy="234950"/>
            <a:chOff x="3600" y="219"/>
            <a:chExt cx="360" cy="175"/>
          </a:xfrm>
        </p:grpSpPr>
        <p:sp>
          <p:nvSpPr>
            <p:cNvPr id="181" name="Oval 18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82" name="Line 18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3" name="Line 18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4" name="Rectangle 18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85" name="Oval 18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186" name="Group 188"/>
            <p:cNvGrpSpPr>
              <a:grpSpLocks/>
            </p:cNvGrpSpPr>
            <p:nvPr/>
          </p:nvGrpSpPr>
          <p:grpSpPr bwMode="auto">
            <a:xfrm>
              <a:off x="3686" y="244"/>
              <a:ext cx="177" cy="66"/>
              <a:chOff x="2848" y="848"/>
              <a:chExt cx="140" cy="98"/>
            </a:xfrm>
          </p:grpSpPr>
          <p:sp>
            <p:nvSpPr>
              <p:cNvPr id="191" name="Line 1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2" name="Line 1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 name="Line 1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87" name="Group 192"/>
            <p:cNvGrpSpPr>
              <a:grpSpLocks/>
            </p:cNvGrpSpPr>
            <p:nvPr/>
          </p:nvGrpSpPr>
          <p:grpSpPr bwMode="auto">
            <a:xfrm flipV="1">
              <a:off x="3686" y="243"/>
              <a:ext cx="177" cy="66"/>
              <a:chOff x="2848" y="848"/>
              <a:chExt cx="140" cy="98"/>
            </a:xfrm>
          </p:grpSpPr>
          <p:sp>
            <p:nvSpPr>
              <p:cNvPr id="188" name="Line 19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 name="Line 19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0" name="Line 19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194" name="Group 196"/>
          <p:cNvGrpSpPr>
            <a:grpSpLocks/>
          </p:cNvGrpSpPr>
          <p:nvPr/>
        </p:nvGrpSpPr>
        <p:grpSpPr bwMode="auto">
          <a:xfrm>
            <a:off x="8753381" y="4534970"/>
            <a:ext cx="500062" cy="233363"/>
            <a:chOff x="3600" y="219"/>
            <a:chExt cx="360" cy="175"/>
          </a:xfrm>
        </p:grpSpPr>
        <p:sp>
          <p:nvSpPr>
            <p:cNvPr id="195" name="Oval 19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96" name="Line 19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7" name="Line 19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8" name="Rectangle 20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199" name="Oval 20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200" name="Group 202"/>
            <p:cNvGrpSpPr>
              <a:grpSpLocks/>
            </p:cNvGrpSpPr>
            <p:nvPr/>
          </p:nvGrpSpPr>
          <p:grpSpPr bwMode="auto">
            <a:xfrm>
              <a:off x="3686" y="244"/>
              <a:ext cx="177" cy="66"/>
              <a:chOff x="2848" y="848"/>
              <a:chExt cx="140" cy="98"/>
            </a:xfrm>
          </p:grpSpPr>
          <p:sp>
            <p:nvSpPr>
              <p:cNvPr id="205" name="Line 2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6" name="Line 2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7" name="Line 2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01" name="Group 206"/>
            <p:cNvGrpSpPr>
              <a:grpSpLocks/>
            </p:cNvGrpSpPr>
            <p:nvPr/>
          </p:nvGrpSpPr>
          <p:grpSpPr bwMode="auto">
            <a:xfrm flipV="1">
              <a:off x="3686" y="243"/>
              <a:ext cx="177" cy="66"/>
              <a:chOff x="2848" y="848"/>
              <a:chExt cx="140" cy="98"/>
            </a:xfrm>
          </p:grpSpPr>
          <p:sp>
            <p:nvSpPr>
              <p:cNvPr id="202" name="Line 20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3" name="Line 20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4" name="Line 20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208" name="Group 210"/>
          <p:cNvGrpSpPr>
            <a:grpSpLocks/>
          </p:cNvGrpSpPr>
          <p:nvPr/>
        </p:nvGrpSpPr>
        <p:grpSpPr bwMode="auto">
          <a:xfrm>
            <a:off x="7950106" y="4158733"/>
            <a:ext cx="501650" cy="233362"/>
            <a:chOff x="3600" y="219"/>
            <a:chExt cx="360" cy="175"/>
          </a:xfrm>
        </p:grpSpPr>
        <p:sp>
          <p:nvSpPr>
            <p:cNvPr id="209" name="Oval 21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10" name="Line 21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1" name="Line 21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 name="Rectangle 21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213" name="Oval 21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grpSp>
          <p:nvGrpSpPr>
            <p:cNvPr id="214" name="Group 216"/>
            <p:cNvGrpSpPr>
              <a:grpSpLocks/>
            </p:cNvGrpSpPr>
            <p:nvPr/>
          </p:nvGrpSpPr>
          <p:grpSpPr bwMode="auto">
            <a:xfrm>
              <a:off x="3686" y="244"/>
              <a:ext cx="177" cy="66"/>
              <a:chOff x="2848" y="848"/>
              <a:chExt cx="140" cy="98"/>
            </a:xfrm>
          </p:grpSpPr>
          <p:sp>
            <p:nvSpPr>
              <p:cNvPr id="219" name="Line 21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0" name="Line 21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1" name="Line 21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15" name="Group 220"/>
            <p:cNvGrpSpPr>
              <a:grpSpLocks/>
            </p:cNvGrpSpPr>
            <p:nvPr/>
          </p:nvGrpSpPr>
          <p:grpSpPr bwMode="auto">
            <a:xfrm flipV="1">
              <a:off x="3686" y="243"/>
              <a:ext cx="177" cy="66"/>
              <a:chOff x="2848" y="848"/>
              <a:chExt cx="140" cy="98"/>
            </a:xfrm>
          </p:grpSpPr>
          <p:sp>
            <p:nvSpPr>
              <p:cNvPr id="216" name="Line 2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7" name="Line 2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8" name="Line 2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222" name="Line 224"/>
          <p:cNvSpPr>
            <a:spLocks noChangeShapeType="1"/>
          </p:cNvSpPr>
          <p:nvPr/>
        </p:nvSpPr>
        <p:spPr bwMode="auto">
          <a:xfrm flipV="1">
            <a:off x="8205693" y="4371458"/>
            <a:ext cx="1588" cy="249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23" name="Group 254"/>
          <p:cNvGrpSpPr>
            <a:grpSpLocks/>
          </p:cNvGrpSpPr>
          <p:nvPr/>
        </p:nvGrpSpPr>
        <p:grpSpPr bwMode="auto">
          <a:xfrm>
            <a:off x="6659468" y="1706045"/>
            <a:ext cx="814388" cy="854075"/>
            <a:chOff x="4180" y="744"/>
            <a:chExt cx="513" cy="538"/>
          </a:xfrm>
        </p:grpSpPr>
        <p:sp>
          <p:nvSpPr>
            <p:cNvPr id="224" name="Rectangle 227"/>
            <p:cNvSpPr>
              <a:spLocks noChangeArrowheads="1"/>
            </p:cNvSpPr>
            <p:nvPr/>
          </p:nvSpPr>
          <p:spPr bwMode="auto">
            <a:xfrm>
              <a:off x="4242" y="747"/>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25" name="Rectangle 228"/>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26" name="Rectangle 229"/>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27" name="Text Box 230"/>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000"/>
                <a:t>application</a:t>
              </a:r>
            </a:p>
            <a:p>
              <a:pPr algn="ctr">
                <a:spcBef>
                  <a:spcPct val="0"/>
                </a:spcBef>
                <a:buClrTx/>
                <a:buSzTx/>
                <a:buFontTx/>
                <a:buNone/>
              </a:pPr>
              <a:r>
                <a:rPr lang="en-US" altLang="en-US" sz="1000">
                  <a:solidFill>
                    <a:schemeClr val="bg1"/>
                  </a:solidFill>
                </a:rPr>
                <a:t>transport</a:t>
              </a: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28" name="Line 231"/>
            <p:cNvSpPr>
              <a:spLocks noChangeShapeType="1"/>
            </p:cNvSpPr>
            <p:nvPr/>
          </p:nvSpPr>
          <p:spPr bwMode="auto">
            <a:xfrm>
              <a:off x="4221" y="978"/>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9" name="Line 232"/>
            <p:cNvSpPr>
              <a:spLocks noChangeShapeType="1"/>
            </p:cNvSpPr>
            <p:nvPr/>
          </p:nvSpPr>
          <p:spPr bwMode="auto">
            <a:xfrm>
              <a:off x="4227" y="106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0" name="Line 233"/>
            <p:cNvSpPr>
              <a:spLocks noChangeShapeType="1"/>
            </p:cNvSpPr>
            <p:nvPr/>
          </p:nvSpPr>
          <p:spPr bwMode="auto">
            <a:xfrm>
              <a:off x="4227" y="115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31" name="Group 255"/>
          <p:cNvGrpSpPr>
            <a:grpSpLocks/>
          </p:cNvGrpSpPr>
          <p:nvPr/>
        </p:nvGrpSpPr>
        <p:grpSpPr bwMode="auto">
          <a:xfrm>
            <a:off x="9783668" y="4592120"/>
            <a:ext cx="814388" cy="854075"/>
            <a:chOff x="4180" y="744"/>
            <a:chExt cx="513" cy="538"/>
          </a:xfrm>
        </p:grpSpPr>
        <p:sp>
          <p:nvSpPr>
            <p:cNvPr id="232" name="Rectangle 256"/>
            <p:cNvSpPr>
              <a:spLocks noChangeArrowheads="1"/>
            </p:cNvSpPr>
            <p:nvPr/>
          </p:nvSpPr>
          <p:spPr bwMode="auto">
            <a:xfrm>
              <a:off x="4242" y="747"/>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33" name="Rectangle 257"/>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34" name="Rectangle 258"/>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35" name="Text Box 259"/>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000"/>
                <a:t>application</a:t>
              </a:r>
            </a:p>
            <a:p>
              <a:pPr algn="ctr">
                <a:spcBef>
                  <a:spcPct val="0"/>
                </a:spcBef>
                <a:buClrTx/>
                <a:buSzTx/>
                <a:buFontTx/>
                <a:buNone/>
              </a:pPr>
              <a:r>
                <a:rPr lang="en-US" altLang="en-US" sz="1000">
                  <a:solidFill>
                    <a:schemeClr val="bg1"/>
                  </a:solidFill>
                </a:rPr>
                <a:t>transport</a:t>
              </a: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36" name="Line 260"/>
            <p:cNvSpPr>
              <a:spLocks noChangeShapeType="1"/>
            </p:cNvSpPr>
            <p:nvPr/>
          </p:nvSpPr>
          <p:spPr bwMode="auto">
            <a:xfrm>
              <a:off x="4221" y="978"/>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7" name="Line 261"/>
            <p:cNvSpPr>
              <a:spLocks noChangeShapeType="1"/>
            </p:cNvSpPr>
            <p:nvPr/>
          </p:nvSpPr>
          <p:spPr bwMode="auto">
            <a:xfrm>
              <a:off x="4227" y="106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8" name="Line 262"/>
            <p:cNvSpPr>
              <a:spLocks noChangeShapeType="1"/>
            </p:cNvSpPr>
            <p:nvPr/>
          </p:nvSpPr>
          <p:spPr bwMode="auto">
            <a:xfrm>
              <a:off x="4227" y="115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39" name="Group 263"/>
          <p:cNvGrpSpPr>
            <a:grpSpLocks/>
          </p:cNvGrpSpPr>
          <p:nvPr/>
        </p:nvGrpSpPr>
        <p:grpSpPr bwMode="auto">
          <a:xfrm>
            <a:off x="9121681" y="3711058"/>
            <a:ext cx="814387" cy="701675"/>
            <a:chOff x="2923" y="3345"/>
            <a:chExt cx="513" cy="442"/>
          </a:xfrm>
        </p:grpSpPr>
        <p:sp>
          <p:nvSpPr>
            <p:cNvPr id="240" name="Rectangle 264"/>
            <p:cNvSpPr>
              <a:spLocks noChangeArrowheads="1"/>
            </p:cNvSpPr>
            <p:nvPr/>
          </p:nvSpPr>
          <p:spPr bwMode="auto">
            <a:xfrm>
              <a:off x="2988" y="3444"/>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41" name="Rectangle 265"/>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42" name="Text Box 266"/>
            <p:cNvSpPr txBox="1">
              <a:spLocks noChangeArrowheads="1"/>
            </p:cNvSpPr>
            <p:nvPr/>
          </p:nvSpPr>
          <p:spPr bwMode="auto">
            <a:xfrm>
              <a:off x="2923" y="3345"/>
              <a:ext cx="5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43" name="Line 267"/>
            <p:cNvSpPr>
              <a:spLocks noChangeShapeType="1"/>
            </p:cNvSpPr>
            <p:nvPr/>
          </p:nvSpPr>
          <p:spPr bwMode="auto">
            <a:xfrm>
              <a:off x="2958" y="3657"/>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4" name="Line 268"/>
            <p:cNvSpPr>
              <a:spLocks noChangeShapeType="1"/>
            </p:cNvSpPr>
            <p:nvPr/>
          </p:nvSpPr>
          <p:spPr bwMode="auto">
            <a:xfrm>
              <a:off x="2964" y="3561"/>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45" name="Group 269"/>
          <p:cNvGrpSpPr>
            <a:grpSpLocks/>
          </p:cNvGrpSpPr>
          <p:nvPr/>
        </p:nvGrpSpPr>
        <p:grpSpPr bwMode="auto">
          <a:xfrm>
            <a:off x="9655081" y="3130033"/>
            <a:ext cx="814387" cy="701675"/>
            <a:chOff x="2923" y="3345"/>
            <a:chExt cx="513" cy="442"/>
          </a:xfrm>
        </p:grpSpPr>
        <p:sp>
          <p:nvSpPr>
            <p:cNvPr id="246" name="Rectangle 270"/>
            <p:cNvSpPr>
              <a:spLocks noChangeArrowheads="1"/>
            </p:cNvSpPr>
            <p:nvPr/>
          </p:nvSpPr>
          <p:spPr bwMode="auto">
            <a:xfrm>
              <a:off x="2988" y="3444"/>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47" name="Rectangle 271"/>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48" name="Text Box 272"/>
            <p:cNvSpPr txBox="1">
              <a:spLocks noChangeArrowheads="1"/>
            </p:cNvSpPr>
            <p:nvPr/>
          </p:nvSpPr>
          <p:spPr bwMode="auto">
            <a:xfrm>
              <a:off x="2923" y="3345"/>
              <a:ext cx="5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49" name="Line 273"/>
            <p:cNvSpPr>
              <a:spLocks noChangeShapeType="1"/>
            </p:cNvSpPr>
            <p:nvPr/>
          </p:nvSpPr>
          <p:spPr bwMode="auto">
            <a:xfrm>
              <a:off x="2958" y="3657"/>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0" name="Line 274"/>
            <p:cNvSpPr>
              <a:spLocks noChangeShapeType="1"/>
            </p:cNvSpPr>
            <p:nvPr/>
          </p:nvSpPr>
          <p:spPr bwMode="auto">
            <a:xfrm>
              <a:off x="2964" y="3561"/>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51" name="Group 275"/>
          <p:cNvGrpSpPr>
            <a:grpSpLocks/>
          </p:cNvGrpSpPr>
          <p:nvPr/>
        </p:nvGrpSpPr>
        <p:grpSpPr bwMode="auto">
          <a:xfrm>
            <a:off x="8769256" y="2825233"/>
            <a:ext cx="814387" cy="701675"/>
            <a:chOff x="2923" y="3345"/>
            <a:chExt cx="513" cy="442"/>
          </a:xfrm>
        </p:grpSpPr>
        <p:sp>
          <p:nvSpPr>
            <p:cNvPr id="252" name="Rectangle 276"/>
            <p:cNvSpPr>
              <a:spLocks noChangeArrowheads="1"/>
            </p:cNvSpPr>
            <p:nvPr/>
          </p:nvSpPr>
          <p:spPr bwMode="auto">
            <a:xfrm>
              <a:off x="2988" y="3444"/>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53" name="Rectangle 277"/>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54" name="Text Box 278"/>
            <p:cNvSpPr txBox="1">
              <a:spLocks noChangeArrowheads="1"/>
            </p:cNvSpPr>
            <p:nvPr/>
          </p:nvSpPr>
          <p:spPr bwMode="auto">
            <a:xfrm>
              <a:off x="2923" y="3345"/>
              <a:ext cx="5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55" name="Line 279"/>
            <p:cNvSpPr>
              <a:spLocks noChangeShapeType="1"/>
            </p:cNvSpPr>
            <p:nvPr/>
          </p:nvSpPr>
          <p:spPr bwMode="auto">
            <a:xfrm>
              <a:off x="2958" y="3657"/>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 name="Line 280"/>
            <p:cNvSpPr>
              <a:spLocks noChangeShapeType="1"/>
            </p:cNvSpPr>
            <p:nvPr/>
          </p:nvSpPr>
          <p:spPr bwMode="auto">
            <a:xfrm>
              <a:off x="2964" y="3561"/>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57" name="Group 281"/>
          <p:cNvGrpSpPr>
            <a:grpSpLocks/>
          </p:cNvGrpSpPr>
          <p:nvPr/>
        </p:nvGrpSpPr>
        <p:grpSpPr bwMode="auto">
          <a:xfrm>
            <a:off x="8702581" y="2053708"/>
            <a:ext cx="814387" cy="701675"/>
            <a:chOff x="2923" y="3345"/>
            <a:chExt cx="513" cy="442"/>
          </a:xfrm>
        </p:grpSpPr>
        <p:sp>
          <p:nvSpPr>
            <p:cNvPr id="258" name="Rectangle 282"/>
            <p:cNvSpPr>
              <a:spLocks noChangeArrowheads="1"/>
            </p:cNvSpPr>
            <p:nvPr/>
          </p:nvSpPr>
          <p:spPr bwMode="auto">
            <a:xfrm>
              <a:off x="2988" y="3444"/>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59" name="Rectangle 283"/>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60" name="Text Box 284"/>
            <p:cNvSpPr txBox="1">
              <a:spLocks noChangeArrowheads="1"/>
            </p:cNvSpPr>
            <p:nvPr/>
          </p:nvSpPr>
          <p:spPr bwMode="auto">
            <a:xfrm>
              <a:off x="2923" y="3345"/>
              <a:ext cx="5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61" name="Line 285"/>
            <p:cNvSpPr>
              <a:spLocks noChangeShapeType="1"/>
            </p:cNvSpPr>
            <p:nvPr/>
          </p:nvSpPr>
          <p:spPr bwMode="auto">
            <a:xfrm>
              <a:off x="2958" y="3657"/>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2" name="Line 286"/>
            <p:cNvSpPr>
              <a:spLocks noChangeShapeType="1"/>
            </p:cNvSpPr>
            <p:nvPr/>
          </p:nvSpPr>
          <p:spPr bwMode="auto">
            <a:xfrm>
              <a:off x="2964" y="3561"/>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63" name="Group 287"/>
          <p:cNvGrpSpPr>
            <a:grpSpLocks/>
          </p:cNvGrpSpPr>
          <p:nvPr/>
        </p:nvGrpSpPr>
        <p:grpSpPr bwMode="auto">
          <a:xfrm>
            <a:off x="7769131" y="2339458"/>
            <a:ext cx="814387" cy="701675"/>
            <a:chOff x="2923" y="3345"/>
            <a:chExt cx="513" cy="442"/>
          </a:xfrm>
        </p:grpSpPr>
        <p:sp>
          <p:nvSpPr>
            <p:cNvPr id="264" name="Rectangle 288"/>
            <p:cNvSpPr>
              <a:spLocks noChangeArrowheads="1"/>
            </p:cNvSpPr>
            <p:nvPr/>
          </p:nvSpPr>
          <p:spPr bwMode="auto">
            <a:xfrm>
              <a:off x="2988" y="3444"/>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65" name="Rectangle 289"/>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66" name="Text Box 290"/>
            <p:cNvSpPr txBox="1">
              <a:spLocks noChangeArrowheads="1"/>
            </p:cNvSpPr>
            <p:nvPr/>
          </p:nvSpPr>
          <p:spPr bwMode="auto">
            <a:xfrm>
              <a:off x="2923" y="3345"/>
              <a:ext cx="5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1000"/>
            </a:p>
            <a:p>
              <a:pPr algn="ctr">
                <a:spcBef>
                  <a:spcPct val="0"/>
                </a:spcBef>
                <a:buClrTx/>
                <a:buSzTx/>
                <a:buFontTx/>
                <a:buNone/>
              </a:pPr>
              <a:r>
                <a:rPr lang="en-US" altLang="en-US" sz="1000"/>
                <a:t>network</a:t>
              </a:r>
            </a:p>
            <a:p>
              <a:pPr algn="ctr">
                <a:spcBef>
                  <a:spcPct val="0"/>
                </a:spcBef>
                <a:buClrTx/>
                <a:buSzTx/>
                <a:buFontTx/>
                <a:buNone/>
              </a:pPr>
              <a:r>
                <a:rPr lang="en-US" altLang="en-US" sz="1000"/>
                <a:t>data link</a:t>
              </a:r>
            </a:p>
            <a:p>
              <a:pPr algn="ctr">
                <a:spcBef>
                  <a:spcPct val="0"/>
                </a:spcBef>
                <a:buClrTx/>
                <a:buSzTx/>
                <a:buFontTx/>
                <a:buNone/>
              </a:pPr>
              <a:r>
                <a:rPr lang="en-US" altLang="en-US" sz="1000"/>
                <a:t>physical</a:t>
              </a:r>
              <a:endParaRPr lang="en-US" altLang="en-US" sz="2400">
                <a:latin typeface="Times New Roman" panose="02020603050405020304" pitchFamily="18" charset="0"/>
              </a:endParaRPr>
            </a:p>
          </p:txBody>
        </p:sp>
        <p:sp>
          <p:nvSpPr>
            <p:cNvPr id="267" name="Line 291"/>
            <p:cNvSpPr>
              <a:spLocks noChangeShapeType="1"/>
            </p:cNvSpPr>
            <p:nvPr/>
          </p:nvSpPr>
          <p:spPr bwMode="auto">
            <a:xfrm>
              <a:off x="2958" y="3657"/>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8" name="Line 292"/>
            <p:cNvSpPr>
              <a:spLocks noChangeShapeType="1"/>
            </p:cNvSpPr>
            <p:nvPr/>
          </p:nvSpPr>
          <p:spPr bwMode="auto">
            <a:xfrm>
              <a:off x="2964" y="3561"/>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69" name="Group 298"/>
          <p:cNvGrpSpPr>
            <a:grpSpLocks/>
          </p:cNvGrpSpPr>
          <p:nvPr/>
        </p:nvGrpSpPr>
        <p:grpSpPr bwMode="auto">
          <a:xfrm rot="2937887">
            <a:off x="6715031" y="3158608"/>
            <a:ext cx="3781425" cy="434975"/>
            <a:chOff x="2937" y="3579"/>
            <a:chExt cx="2382" cy="274"/>
          </a:xfrm>
        </p:grpSpPr>
        <p:sp>
          <p:nvSpPr>
            <p:cNvPr id="270" name="Rectangle 295"/>
            <p:cNvSpPr>
              <a:spLocks noChangeArrowheads="1"/>
            </p:cNvSpPr>
            <p:nvPr/>
          </p:nvSpPr>
          <p:spPr bwMode="auto">
            <a:xfrm>
              <a:off x="3168" y="3630"/>
              <a:ext cx="1920" cy="17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71" name="Text Box 293"/>
            <p:cNvSpPr txBox="1">
              <a:spLocks noChangeArrowheads="1"/>
            </p:cNvSpPr>
            <p:nvPr/>
          </p:nvSpPr>
          <p:spPr bwMode="auto">
            <a:xfrm>
              <a:off x="3343" y="3617"/>
              <a:ext cx="16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solidFill>
                    <a:schemeClr val="bg1"/>
                  </a:solidFill>
                </a:rPr>
                <a:t>logical end-end transport</a:t>
              </a:r>
              <a:endParaRPr lang="en-US" altLang="en-US" sz="1600"/>
            </a:p>
          </p:txBody>
        </p:sp>
        <p:sp>
          <p:nvSpPr>
            <p:cNvPr id="272" name="Freeform 296"/>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3" name="Freeform 297"/>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3107276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16 bit numbers ( between 0 and 65,535)</a:t>
            </a:r>
          </a:p>
          <a:p>
            <a:endParaRPr lang="en-US" altLang="en-US" dirty="0"/>
          </a:p>
          <a:p>
            <a:r>
              <a:rPr lang="en-US" altLang="en-US" dirty="0"/>
              <a:t>Client Program - </a:t>
            </a:r>
            <a:r>
              <a:rPr lang="en-US" altLang="en-US" dirty="0">
                <a:solidFill>
                  <a:schemeClr val="tx2"/>
                </a:solidFill>
              </a:rPr>
              <a:t>ephemeral port</a:t>
            </a:r>
            <a:r>
              <a:rPr lang="en-US" altLang="en-US" dirty="0"/>
              <a:t> - chosen randomly - transport layer software  running on the client host</a:t>
            </a:r>
          </a:p>
          <a:p>
            <a:endParaRPr lang="en-US" altLang="en-US" dirty="0"/>
          </a:p>
          <a:p>
            <a:r>
              <a:rPr lang="en-US" altLang="en-US" dirty="0"/>
              <a:t>Server program - </a:t>
            </a:r>
            <a:r>
              <a:rPr lang="en-US" altLang="en-US" dirty="0">
                <a:solidFill>
                  <a:schemeClr val="tx2"/>
                </a:solidFill>
              </a:rPr>
              <a:t>well known port numbers</a:t>
            </a:r>
            <a:r>
              <a:rPr lang="en-US" altLang="en-US" dirty="0"/>
              <a:t>- Universal port numbers   </a:t>
            </a:r>
          </a:p>
          <a:p>
            <a:endParaRPr lang="en-US" altLang="en-US" dirty="0"/>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Port numbers for Internet model</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451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Port numbers</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1300" y="1660264"/>
            <a:ext cx="9963000" cy="4193110"/>
          </a:xfrm>
          <a:noFill/>
        </p:spPr>
      </p:pic>
    </p:spTree>
    <p:extLst>
      <p:ext uri="{BB962C8B-B14F-4D97-AF65-F5344CB8AC3E}">
        <p14:creationId xmlns:p14="http://schemas.microsoft.com/office/powerpoint/2010/main" val="33532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rPr>
              <a:t>IP addresses versus port numbers</a:t>
            </a:r>
            <a:br>
              <a:rPr lang="en-US" altLang="en-US" b="0" dirty="0">
                <a:solidFill>
                  <a:srgbClr val="FF0000"/>
                </a:solidFill>
              </a:rPr>
            </a:br>
            <a:endParaRPr lang="en-IN" b="0" dirty="0">
              <a:solidFill>
                <a:srgbClr val="FF0000"/>
              </a:solidFill>
            </a:endParaRP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61386" y="1467959"/>
            <a:ext cx="6059643" cy="4525962"/>
          </a:xfrm>
          <a:noFill/>
        </p:spPr>
      </p:pic>
    </p:spTree>
    <p:extLst>
      <p:ext uri="{BB962C8B-B14F-4D97-AF65-F5344CB8AC3E}">
        <p14:creationId xmlns:p14="http://schemas.microsoft.com/office/powerpoint/2010/main" val="2517517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Multiplexing, </a:t>
            </a:r>
            <a:r>
              <a:rPr lang="en-IN" dirty="0" err="1"/>
              <a:t>Demultiplexing</a:t>
            </a:r>
            <a:endParaRPr lang="en-IN" dirty="0"/>
          </a:p>
          <a:p>
            <a:endParaRPr lang="en-IN" dirty="0"/>
          </a:p>
          <a:p>
            <a:r>
              <a:rPr lang="en-IN" dirty="0"/>
              <a:t>Sliding Window</a:t>
            </a:r>
          </a:p>
          <a:p>
            <a:endParaRPr lang="en-IN" dirty="0"/>
          </a:p>
          <a:p>
            <a:r>
              <a:rPr lang="en-IN" dirty="0"/>
              <a:t>Flow and Error control; connectionless and connection oriented</a:t>
            </a:r>
            <a:endParaRPr lang="en-US" altLang="en-US" dirty="0"/>
          </a:p>
          <a:p>
            <a:endParaRPr lang="en-IN" dirty="0"/>
          </a:p>
        </p:txBody>
      </p:sp>
      <p:sp>
        <p:nvSpPr>
          <p:cNvPr id="3" name="Content Placeholder 2"/>
          <p:cNvSpPr>
            <a:spLocks noGrp="1"/>
          </p:cNvSpPr>
          <p:nvPr>
            <p:ph sz="quarter" idx="10"/>
          </p:nvPr>
        </p:nvSpPr>
        <p:spPr/>
        <p:txBody>
          <a:bodyPr>
            <a:normAutofit/>
          </a:bodyPr>
          <a:lstStyle/>
          <a:p>
            <a:r>
              <a:rPr lang="en-US" sz="4000" b="0" dirty="0">
                <a:solidFill>
                  <a:srgbClr val="FF0000"/>
                </a:solidFill>
                <a:latin typeface="Times New Roman" panose="02020603050405020304" pitchFamily="18" charset="0"/>
                <a:ea typeface="ＭＳ Ｐゴシック" charset="0"/>
                <a:cs typeface="Times New Roman" panose="02020603050405020304" pitchFamily="18" charset="0"/>
              </a:rPr>
              <a:t>Transport Layer</a:t>
            </a:r>
            <a:endParaRPr lang="en-IN" sz="4000"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092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400" y="1493838"/>
            <a:ext cx="4890219" cy="4525963"/>
          </a:xfrm>
        </p:spPr>
        <p:txBody>
          <a:bodyPr/>
          <a:lstStyle/>
          <a:p>
            <a:pPr>
              <a:buFont typeface="Wingdings" charset="0"/>
              <a:buChar char="v"/>
              <a:defRPr/>
            </a:pPr>
            <a:r>
              <a:rPr lang="en-US" dirty="0">
                <a:ea typeface="ＭＳ Ｐゴシック" charset="0"/>
              </a:rPr>
              <a:t>provide</a:t>
            </a:r>
            <a:r>
              <a:rPr lang="en-US" i="1" dirty="0">
                <a:solidFill>
                  <a:srgbClr val="FF0000"/>
                </a:solidFill>
                <a:ea typeface="ＭＳ Ｐゴシック" charset="0"/>
              </a:rPr>
              <a:t> </a:t>
            </a:r>
            <a:r>
              <a:rPr lang="en-US" i="1" dirty="0">
                <a:solidFill>
                  <a:srgbClr val="CC0000"/>
                </a:solidFill>
                <a:ea typeface="ＭＳ Ｐゴシック" charset="0"/>
              </a:rPr>
              <a:t>logical communication</a:t>
            </a:r>
            <a:r>
              <a:rPr lang="en-US" dirty="0">
                <a:ea typeface="ＭＳ Ｐゴシック" charset="0"/>
              </a:rPr>
              <a:t> between app processes running on different hosts</a:t>
            </a:r>
          </a:p>
          <a:p>
            <a:pPr>
              <a:buFont typeface="Wingdings" charset="0"/>
              <a:buChar char="v"/>
              <a:defRPr/>
            </a:pPr>
            <a:r>
              <a:rPr lang="en-US" dirty="0">
                <a:ea typeface="ＭＳ Ｐゴシック" charset="0"/>
              </a:rPr>
              <a:t>transport protocols run in end systems </a:t>
            </a:r>
          </a:p>
          <a:p>
            <a:pPr lvl="1">
              <a:buFont typeface="Wingdings" charset="0"/>
              <a:buChar char="§"/>
              <a:defRPr/>
            </a:pPr>
            <a:r>
              <a:rPr lang="en-US" dirty="0">
                <a:ea typeface="ＭＳ Ｐゴシック" charset="0"/>
              </a:rPr>
              <a:t>send side: breaks app messages into </a:t>
            </a:r>
            <a:r>
              <a:rPr lang="en-US" i="1" dirty="0">
                <a:solidFill>
                  <a:srgbClr val="CC0000"/>
                </a:solidFill>
                <a:ea typeface="ＭＳ Ｐゴシック" charset="0"/>
              </a:rPr>
              <a:t>segments</a:t>
            </a:r>
            <a:r>
              <a:rPr lang="en-US" dirty="0">
                <a:ea typeface="ＭＳ Ｐゴシック" charset="0"/>
              </a:rPr>
              <a:t>, passes to  network layer</a:t>
            </a:r>
          </a:p>
          <a:p>
            <a:pPr lvl="1">
              <a:buFont typeface="Wingdings" charset="0"/>
              <a:buChar char="§"/>
              <a:defRPr/>
            </a:pPr>
            <a:r>
              <a:rPr lang="en-US" dirty="0" err="1">
                <a:ea typeface="ＭＳ Ｐゴシック" charset="0"/>
              </a:rPr>
              <a:t>rcv</a:t>
            </a:r>
            <a:r>
              <a:rPr lang="en-US" dirty="0">
                <a:ea typeface="ＭＳ Ｐゴシック" charset="0"/>
              </a:rPr>
              <a:t> side: reassembles segments into messages, passes to app layer</a:t>
            </a:r>
          </a:p>
          <a:p>
            <a:pPr>
              <a:buFont typeface="Wingdings" charset="0"/>
              <a:buChar char="v"/>
              <a:defRPr/>
            </a:pPr>
            <a:r>
              <a:rPr lang="en-US" dirty="0">
                <a:solidFill>
                  <a:srgbClr val="008000"/>
                </a:solidFill>
                <a:ea typeface="ＭＳ Ｐゴシック" charset="0"/>
              </a:rPr>
              <a:t>more than one transport protocol available </a:t>
            </a:r>
            <a:r>
              <a:rPr lang="en-US" dirty="0">
                <a:ea typeface="ＭＳ Ｐゴシック" charset="0"/>
              </a:rPr>
              <a:t>to apps</a:t>
            </a:r>
          </a:p>
          <a:p>
            <a:pPr lvl="1">
              <a:buFont typeface="Wingdings" charset="0"/>
              <a:buChar char="§"/>
              <a:defRPr/>
            </a:pPr>
            <a:r>
              <a:rPr lang="en-US" dirty="0">
                <a:ea typeface="ＭＳ Ｐゴシック" charset="0"/>
              </a:rPr>
              <a:t>Internet: </a:t>
            </a:r>
            <a:r>
              <a:rPr lang="en-US" dirty="0">
                <a:solidFill>
                  <a:srgbClr val="008000"/>
                </a:solidFill>
                <a:ea typeface="ＭＳ Ｐゴシック" charset="0"/>
              </a:rPr>
              <a:t>TCP</a:t>
            </a:r>
            <a:r>
              <a:rPr lang="en-US" dirty="0">
                <a:ea typeface="ＭＳ Ｐゴシック" charset="0"/>
              </a:rPr>
              <a:t> and </a:t>
            </a:r>
            <a:r>
              <a:rPr lang="en-US" dirty="0">
                <a:solidFill>
                  <a:srgbClr val="008000"/>
                </a:solidFill>
                <a:ea typeface="ＭＳ Ｐゴシック" charset="0"/>
              </a:rPr>
              <a:t>UDP</a:t>
            </a:r>
          </a:p>
          <a:p>
            <a:endParaRPr lang="en-IN" dirty="0"/>
          </a:p>
        </p:txBody>
      </p:sp>
      <p:sp>
        <p:nvSpPr>
          <p:cNvPr id="3" name="Content Placeholder 2"/>
          <p:cNvSpPr>
            <a:spLocks noGrp="1"/>
          </p:cNvSpPr>
          <p:nvPr>
            <p:ph sz="quarter" idx="10"/>
          </p:nvPr>
        </p:nvSpPr>
        <p:spPr/>
        <p:txBody>
          <a:bodyPr>
            <a:normAutofit/>
          </a:bodyPr>
          <a:lstStyle/>
          <a:p>
            <a:r>
              <a:rPr lang="en-US" sz="4000" b="0" dirty="0">
                <a:solidFill>
                  <a:srgbClr val="FF0000"/>
                </a:solidFill>
                <a:ea typeface="ＭＳ Ｐゴシック" charset="0"/>
              </a:rPr>
              <a:t>Transport services and protocols</a:t>
            </a:r>
            <a:endParaRPr lang="en-IN" sz="4000" b="0" dirty="0">
              <a:solidFill>
                <a:srgbClr val="FF0000"/>
              </a:solidFill>
            </a:endParaRPr>
          </a:p>
        </p:txBody>
      </p:sp>
      <p:grpSp>
        <p:nvGrpSpPr>
          <p:cNvPr id="4" name="Group 894"/>
          <p:cNvGrpSpPr>
            <a:grpSpLocks/>
          </p:cNvGrpSpPr>
          <p:nvPr/>
        </p:nvGrpSpPr>
        <p:grpSpPr bwMode="auto">
          <a:xfrm>
            <a:off x="6749861" y="1601788"/>
            <a:ext cx="3540125" cy="4545012"/>
            <a:chOff x="3277" y="974"/>
            <a:chExt cx="2230" cy="2863"/>
          </a:xfrm>
        </p:grpSpPr>
        <p:sp>
          <p:nvSpPr>
            <p:cNvPr id="5" name="Freeform 895"/>
            <p:cNvSpPr>
              <a:spLocks/>
            </p:cNvSpPr>
            <p:nvPr/>
          </p:nvSpPr>
          <p:spPr bwMode="auto">
            <a:xfrm>
              <a:off x="3277" y="1079"/>
              <a:ext cx="1094" cy="675"/>
            </a:xfrm>
            <a:custGeom>
              <a:avLst/>
              <a:gdLst>
                <a:gd name="T0" fmla="*/ 948 w 1036"/>
                <a:gd name="T1" fmla="*/ 11 h 675"/>
                <a:gd name="T2" fmla="*/ 571 w 1036"/>
                <a:gd name="T3" fmla="*/ 53 h 675"/>
                <a:gd name="T4" fmla="*/ 302 w 1036"/>
                <a:gd name="T5" fmla="*/ 129 h 675"/>
                <a:gd name="T6" fmla="*/ 224 w 1036"/>
                <a:gd name="T7" fmla="*/ 229 h 675"/>
                <a:gd name="T8" fmla="*/ 31 w 1036"/>
                <a:gd name="T9" fmla="*/ 297 h 675"/>
                <a:gd name="T10" fmla="*/ 25 w 1036"/>
                <a:gd name="T11" fmla="*/ 459 h 675"/>
                <a:gd name="T12" fmla="*/ 193 w 1036"/>
                <a:gd name="T13" fmla="*/ 489 h 675"/>
                <a:gd name="T14" fmla="*/ 672 w 1036"/>
                <a:gd name="T15" fmla="*/ 489 h 675"/>
                <a:gd name="T16" fmla="*/ 874 w 1036"/>
                <a:gd name="T17" fmla="*/ 555 h 675"/>
                <a:gd name="T18" fmla="*/ 1100 w 1036"/>
                <a:gd name="T19" fmla="*/ 657 h 675"/>
                <a:gd name="T20" fmla="*/ 1274 w 1036"/>
                <a:gd name="T21" fmla="*/ 661 h 675"/>
                <a:gd name="T22" fmla="*/ 1393 w 1036"/>
                <a:gd name="T23" fmla="*/ 603 h 675"/>
                <a:gd name="T24" fmla="*/ 1453 w 1036"/>
                <a:gd name="T25" fmla="*/ 445 h 675"/>
                <a:gd name="T26" fmla="*/ 1491 w 1036"/>
                <a:gd name="T27" fmla="*/ 291 h 675"/>
                <a:gd name="T28" fmla="*/ 1495 w 1036"/>
                <a:gd name="T29" fmla="*/ 107 h 675"/>
                <a:gd name="T30" fmla="*/ 1368 w 1036"/>
                <a:gd name="T31" fmla="*/ 17 h 675"/>
                <a:gd name="T32" fmla="*/ 1135 w 1036"/>
                <a:gd name="T33" fmla="*/ 3 h 675"/>
                <a:gd name="T34" fmla="*/ 9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6" name="Group 896"/>
            <p:cNvGrpSpPr>
              <a:grpSpLocks/>
            </p:cNvGrpSpPr>
            <p:nvPr/>
          </p:nvGrpSpPr>
          <p:grpSpPr bwMode="auto">
            <a:xfrm>
              <a:off x="3383" y="1920"/>
              <a:ext cx="919" cy="588"/>
              <a:chOff x="2889" y="1631"/>
              <a:chExt cx="980" cy="743"/>
            </a:xfrm>
          </p:grpSpPr>
          <p:sp>
            <p:nvSpPr>
              <p:cNvPr id="384" name="Rectangle 897"/>
              <p:cNvSpPr>
                <a:spLocks noChangeArrowheads="1"/>
              </p:cNvSpPr>
              <p:nvPr/>
            </p:nvSpPr>
            <p:spPr bwMode="auto">
              <a:xfrm>
                <a:off x="3046" y="1841"/>
                <a:ext cx="663" cy="533"/>
              </a:xfrm>
              <a:prstGeom prst="rect">
                <a:avLst/>
              </a:prstGeom>
              <a:solidFill>
                <a:srgbClr val="DDDDDD"/>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85" name="AutoShape 898"/>
              <p:cNvSpPr>
                <a:spLocks noChangeArrowheads="1"/>
              </p:cNvSpPr>
              <p:nvPr/>
            </p:nvSpPr>
            <p:spPr bwMode="auto">
              <a:xfrm>
                <a:off x="2889" y="1631"/>
                <a:ext cx="980" cy="253"/>
              </a:xfrm>
              <a:prstGeom prst="triangle">
                <a:avLst>
                  <a:gd name="adj" fmla="val 50000"/>
                </a:avLst>
              </a:prstGeom>
              <a:solidFill>
                <a:srgbClr val="DDDDDD"/>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2400">
                  <a:solidFill>
                    <a:srgbClr val="00CCFF"/>
                  </a:solidFill>
                  <a:latin typeface="Arial" charset="0"/>
                  <a:ea typeface="ＭＳ Ｐゴシック" charset="0"/>
                </a:endParaRPr>
              </a:p>
            </p:txBody>
          </p:sp>
        </p:grpSp>
        <p:sp>
          <p:nvSpPr>
            <p:cNvPr id="7" name="Freeform 899"/>
            <p:cNvSpPr>
              <a:spLocks/>
            </p:cNvSpPr>
            <p:nvPr/>
          </p:nvSpPr>
          <p:spPr bwMode="auto">
            <a:xfrm>
              <a:off x="3379" y="2788"/>
              <a:ext cx="2032" cy="1049"/>
            </a:xfrm>
            <a:custGeom>
              <a:avLst/>
              <a:gdLst>
                <a:gd name="T0" fmla="*/ 1044 w 2032"/>
                <a:gd name="T1" fmla="*/ 26 h 1049"/>
                <a:gd name="T2" fmla="*/ 847 w 2032"/>
                <a:gd name="T3" fmla="*/ 125 h 1049"/>
                <a:gd name="T4" fmla="*/ 580 w 2032"/>
                <a:gd name="T5" fmla="*/ 68 h 1049"/>
                <a:gd name="T6" fmla="*/ 143 w 2032"/>
                <a:gd name="T7" fmla="*/ 170 h 1049"/>
                <a:gd name="T8" fmla="*/ 48 w 2032"/>
                <a:gd name="T9" fmla="*/ 374 h 1049"/>
                <a:gd name="T10" fmla="*/ 41 w 2032"/>
                <a:gd name="T11" fmla="*/ 680 h 1049"/>
                <a:gd name="T12" fmla="*/ 294 w 2032"/>
                <a:gd name="T13" fmla="*/ 744 h 1049"/>
                <a:gd name="T14" fmla="*/ 660 w 2032"/>
                <a:gd name="T15" fmla="*/ 893 h 1049"/>
                <a:gd name="T16" fmla="*/ 1088 w 2032"/>
                <a:gd name="T17" fmla="*/ 1014 h 1049"/>
                <a:gd name="T18" fmla="*/ 1525 w 2032"/>
                <a:gd name="T19" fmla="*/ 1031 h 1049"/>
                <a:gd name="T20" fmla="*/ 1831 w 2032"/>
                <a:gd name="T21" fmla="*/ 907 h 1049"/>
                <a:gd name="T22" fmla="*/ 2015 w 2032"/>
                <a:gd name="T23" fmla="*/ 714 h 1049"/>
                <a:gd name="T24" fmla="*/ 1931 w 2032"/>
                <a:gd name="T25" fmla="*/ 251 h 1049"/>
                <a:gd name="T26" fmla="*/ 1658 w 2032"/>
                <a:gd name="T27" fmla="*/ 114 h 1049"/>
                <a:gd name="T28" fmla="*/ 1355 w 2032"/>
                <a:gd name="T29" fmla="*/ 15 h 1049"/>
                <a:gd name="T30" fmla="*/ 1044 w 2032"/>
                <a:gd name="T31" fmla="*/ 2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Line 900"/>
            <p:cNvSpPr>
              <a:spLocks noChangeShapeType="1"/>
            </p:cNvSpPr>
            <p:nvPr/>
          </p:nvSpPr>
          <p:spPr bwMode="auto">
            <a:xfrm rot="-5400000">
              <a:off x="4942" y="3252"/>
              <a:ext cx="330" cy="88"/>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9" name="Line 901"/>
            <p:cNvSpPr>
              <a:spLocks noChangeShapeType="1"/>
            </p:cNvSpPr>
            <p:nvPr/>
          </p:nvSpPr>
          <p:spPr bwMode="auto">
            <a:xfrm rot="5400000" flipV="1">
              <a:off x="5034" y="3429"/>
              <a:ext cx="2" cy="54"/>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0" name="Line 902"/>
            <p:cNvSpPr>
              <a:spLocks noChangeShapeType="1"/>
            </p:cNvSpPr>
            <p:nvPr/>
          </p:nvSpPr>
          <p:spPr bwMode="auto">
            <a:xfrm rot="-5400000">
              <a:off x="5151" y="3225"/>
              <a:ext cx="0" cy="72"/>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1" name="Line 903"/>
            <p:cNvSpPr>
              <a:spLocks noChangeShapeType="1"/>
            </p:cNvSpPr>
            <p:nvPr/>
          </p:nvSpPr>
          <p:spPr bwMode="auto">
            <a:xfrm flipH="1">
              <a:off x="3827" y="2977"/>
              <a:ext cx="160" cy="29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2" name="Line 904"/>
            <p:cNvSpPr>
              <a:spLocks noChangeShapeType="1"/>
            </p:cNvSpPr>
            <p:nvPr/>
          </p:nvSpPr>
          <p:spPr bwMode="auto">
            <a:xfrm>
              <a:off x="3843" y="3009"/>
              <a:ext cx="124"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3" name="Line 905"/>
            <p:cNvSpPr>
              <a:spLocks noChangeShapeType="1"/>
            </p:cNvSpPr>
            <p:nvPr/>
          </p:nvSpPr>
          <p:spPr bwMode="auto">
            <a:xfrm>
              <a:off x="3680" y="3221"/>
              <a:ext cx="172"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4" name="Line 906"/>
            <p:cNvSpPr>
              <a:spLocks noChangeShapeType="1"/>
            </p:cNvSpPr>
            <p:nvPr/>
          </p:nvSpPr>
          <p:spPr bwMode="auto">
            <a:xfrm>
              <a:off x="3914" y="3271"/>
              <a:ext cx="309"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5" name="Line 907"/>
            <p:cNvSpPr>
              <a:spLocks noChangeShapeType="1"/>
            </p:cNvSpPr>
            <p:nvPr/>
          </p:nvSpPr>
          <p:spPr bwMode="auto">
            <a:xfrm flipH="1">
              <a:off x="4065" y="3213"/>
              <a:ext cx="34" cy="54"/>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6" name="Line 908"/>
            <p:cNvSpPr>
              <a:spLocks noChangeShapeType="1"/>
            </p:cNvSpPr>
            <p:nvPr/>
          </p:nvSpPr>
          <p:spPr bwMode="auto">
            <a:xfrm>
              <a:off x="3947" y="3269"/>
              <a:ext cx="1" cy="52"/>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7" name="Line 909"/>
            <p:cNvSpPr>
              <a:spLocks noChangeShapeType="1"/>
            </p:cNvSpPr>
            <p:nvPr/>
          </p:nvSpPr>
          <p:spPr bwMode="auto">
            <a:xfrm flipH="1" flipV="1">
              <a:off x="4197" y="3274"/>
              <a:ext cx="0" cy="48"/>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8" name="Line 910"/>
            <p:cNvSpPr>
              <a:spLocks noChangeShapeType="1"/>
            </p:cNvSpPr>
            <p:nvPr/>
          </p:nvSpPr>
          <p:spPr bwMode="auto">
            <a:xfrm>
              <a:off x="4248" y="3185"/>
              <a:ext cx="317" cy="17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19" name="Line 911"/>
            <p:cNvSpPr>
              <a:spLocks noChangeShapeType="1"/>
            </p:cNvSpPr>
            <p:nvPr/>
          </p:nvSpPr>
          <p:spPr bwMode="auto">
            <a:xfrm>
              <a:off x="3901" y="3144"/>
              <a:ext cx="51"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0" name="Line 912"/>
            <p:cNvSpPr>
              <a:spLocks noChangeShapeType="1"/>
            </p:cNvSpPr>
            <p:nvPr/>
          </p:nvSpPr>
          <p:spPr bwMode="auto">
            <a:xfrm>
              <a:off x="3809" y="2257"/>
              <a:ext cx="148"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1" name="Line 913"/>
            <p:cNvSpPr>
              <a:spLocks noChangeShapeType="1"/>
            </p:cNvSpPr>
            <p:nvPr/>
          </p:nvSpPr>
          <p:spPr bwMode="auto">
            <a:xfrm flipV="1">
              <a:off x="3711" y="2354"/>
              <a:ext cx="106" cy="2"/>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nvGrpSpPr>
            <p:cNvPr id="22" name="Group 914"/>
            <p:cNvGrpSpPr>
              <a:grpSpLocks/>
            </p:cNvGrpSpPr>
            <p:nvPr/>
          </p:nvGrpSpPr>
          <p:grpSpPr bwMode="auto">
            <a:xfrm>
              <a:off x="3535" y="2207"/>
              <a:ext cx="319" cy="222"/>
              <a:chOff x="2967" y="478"/>
              <a:chExt cx="788" cy="625"/>
            </a:xfrm>
          </p:grpSpPr>
          <p:pic>
            <p:nvPicPr>
              <p:cNvPr id="382" name="Picture 915" descr="access_point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916" descr="antenna_radiation_styliz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 name="Freeform 917"/>
            <p:cNvSpPr>
              <a:spLocks/>
            </p:cNvSpPr>
            <p:nvPr/>
          </p:nvSpPr>
          <p:spPr bwMode="auto">
            <a:xfrm>
              <a:off x="4419" y="2224"/>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 name="Freeform 918"/>
            <p:cNvSpPr>
              <a:spLocks/>
            </p:cNvSpPr>
            <p:nvPr/>
          </p:nvSpPr>
          <p:spPr bwMode="auto">
            <a:xfrm>
              <a:off x="4417" y="1263"/>
              <a:ext cx="1090" cy="709"/>
            </a:xfrm>
            <a:custGeom>
              <a:avLst/>
              <a:gdLst>
                <a:gd name="T0" fmla="*/ 5057 w 765"/>
                <a:gd name="T1" fmla="*/ 207 h 459"/>
                <a:gd name="T2" fmla="*/ 3427 w 765"/>
                <a:gd name="T3" fmla="*/ 1471 h 459"/>
                <a:gd name="T4" fmla="*/ 1146 w 765"/>
                <a:gd name="T5" fmla="*/ 2093 h 459"/>
                <a:gd name="T6" fmla="*/ 164 w 765"/>
                <a:gd name="T7" fmla="*/ 7053 h 459"/>
                <a:gd name="T8" fmla="*/ 2144 w 765"/>
                <a:gd name="T9" fmla="*/ 9319 h 459"/>
                <a:gd name="T10" fmla="*/ 4121 w 765"/>
                <a:gd name="T11" fmla="*/ 8933 h 459"/>
                <a:gd name="T12" fmla="*/ 6957 w 765"/>
                <a:gd name="T13" fmla="*/ 9319 h 459"/>
                <a:gd name="T14" fmla="*/ 8325 w 765"/>
                <a:gd name="T15" fmla="*/ 9103 h 459"/>
                <a:gd name="T16" fmla="*/ 8961 w 765"/>
                <a:gd name="T17" fmla="*/ 7810 h 459"/>
                <a:gd name="T18" fmla="*/ 8945 w 765"/>
                <a:gd name="T19" fmla="*/ 3315 h 459"/>
                <a:gd name="T20" fmla="*/ 7894 w 765"/>
                <a:gd name="T21" fmla="*/ 723 h 459"/>
                <a:gd name="T22" fmla="*/ 5057 w 765"/>
                <a:gd name="T23" fmla="*/ 20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 name="Line 919"/>
            <p:cNvSpPr>
              <a:spLocks noChangeShapeType="1"/>
            </p:cNvSpPr>
            <p:nvPr/>
          </p:nvSpPr>
          <p:spPr bwMode="auto">
            <a:xfrm>
              <a:off x="4659" y="2404"/>
              <a:ext cx="103" cy="7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6" name="Line 920"/>
            <p:cNvSpPr>
              <a:spLocks noChangeShapeType="1"/>
            </p:cNvSpPr>
            <p:nvPr/>
          </p:nvSpPr>
          <p:spPr bwMode="auto">
            <a:xfrm>
              <a:off x="4720" y="2354"/>
              <a:ext cx="176"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7" name="Line 921"/>
            <p:cNvSpPr>
              <a:spLocks noChangeShapeType="1"/>
            </p:cNvSpPr>
            <p:nvPr/>
          </p:nvSpPr>
          <p:spPr bwMode="auto">
            <a:xfrm flipV="1">
              <a:off x="4869" y="2408"/>
              <a:ext cx="85" cy="6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8" name="Line 922"/>
            <p:cNvSpPr>
              <a:spLocks noChangeShapeType="1"/>
            </p:cNvSpPr>
            <p:nvPr/>
          </p:nvSpPr>
          <p:spPr bwMode="auto">
            <a:xfrm>
              <a:off x="4235" y="1632"/>
              <a:ext cx="321" cy="2"/>
            </a:xfrm>
            <a:prstGeom prst="line">
              <a:avLst/>
            </a:prstGeom>
            <a:noFill/>
            <a:ln w="9525">
              <a:solidFill>
                <a:srgbClr val="969696"/>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9" name="Line 923"/>
            <p:cNvSpPr>
              <a:spLocks noChangeShapeType="1"/>
            </p:cNvSpPr>
            <p:nvPr/>
          </p:nvSpPr>
          <p:spPr bwMode="auto">
            <a:xfrm>
              <a:off x="4635" y="2961"/>
              <a:ext cx="246" cy="11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0" name="Line 924"/>
            <p:cNvSpPr>
              <a:spLocks noChangeShapeType="1"/>
            </p:cNvSpPr>
            <p:nvPr/>
          </p:nvSpPr>
          <p:spPr bwMode="auto">
            <a:xfrm flipV="1">
              <a:off x="4244" y="2953"/>
              <a:ext cx="203" cy="125"/>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1" name="Line 925"/>
            <p:cNvSpPr>
              <a:spLocks noChangeShapeType="1"/>
            </p:cNvSpPr>
            <p:nvPr/>
          </p:nvSpPr>
          <p:spPr bwMode="auto">
            <a:xfrm flipV="1">
              <a:off x="4271" y="3137"/>
              <a:ext cx="612"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2" name="Line 926"/>
            <p:cNvSpPr>
              <a:spLocks noChangeShapeType="1"/>
            </p:cNvSpPr>
            <p:nvPr/>
          </p:nvSpPr>
          <p:spPr bwMode="auto">
            <a:xfrm flipV="1">
              <a:off x="4773" y="1572"/>
              <a:ext cx="78" cy="55"/>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3" name="Line 927"/>
            <p:cNvSpPr>
              <a:spLocks noChangeShapeType="1"/>
            </p:cNvSpPr>
            <p:nvPr/>
          </p:nvSpPr>
          <p:spPr bwMode="auto">
            <a:xfrm>
              <a:off x="4665" y="1681"/>
              <a:ext cx="0" cy="52"/>
            </a:xfrm>
            <a:prstGeom prst="line">
              <a:avLst/>
            </a:prstGeom>
            <a:noFill/>
            <a:ln w="9525">
              <a:solidFill>
                <a:srgbClr val="969696"/>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4" name="Line 928"/>
            <p:cNvSpPr>
              <a:spLocks noChangeShapeType="1"/>
            </p:cNvSpPr>
            <p:nvPr/>
          </p:nvSpPr>
          <p:spPr bwMode="auto">
            <a:xfrm flipV="1">
              <a:off x="4773" y="1616"/>
              <a:ext cx="166" cy="182"/>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5" name="Line 929"/>
            <p:cNvSpPr>
              <a:spLocks noChangeShapeType="1"/>
            </p:cNvSpPr>
            <p:nvPr/>
          </p:nvSpPr>
          <p:spPr bwMode="auto">
            <a:xfrm>
              <a:off x="5003" y="1615"/>
              <a:ext cx="0" cy="124"/>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6" name="Line 930"/>
            <p:cNvSpPr>
              <a:spLocks noChangeShapeType="1"/>
            </p:cNvSpPr>
            <p:nvPr/>
          </p:nvSpPr>
          <p:spPr bwMode="auto">
            <a:xfrm>
              <a:off x="4785" y="1808"/>
              <a:ext cx="119"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7" name="Line 931"/>
            <p:cNvSpPr>
              <a:spLocks noChangeShapeType="1"/>
            </p:cNvSpPr>
            <p:nvPr/>
          </p:nvSpPr>
          <p:spPr bwMode="auto">
            <a:xfrm>
              <a:off x="5134" y="1802"/>
              <a:ext cx="112"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8" name="Line 932"/>
            <p:cNvSpPr>
              <a:spLocks noChangeShapeType="1"/>
            </p:cNvSpPr>
            <p:nvPr/>
          </p:nvSpPr>
          <p:spPr bwMode="auto">
            <a:xfrm flipH="1">
              <a:off x="4596" y="1850"/>
              <a:ext cx="62" cy="444"/>
            </a:xfrm>
            <a:prstGeom prst="line">
              <a:avLst/>
            </a:prstGeom>
            <a:noFill/>
            <a:ln w="9525">
              <a:solidFill>
                <a:srgbClr val="969696"/>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9" name="Line 933"/>
            <p:cNvSpPr>
              <a:spLocks noChangeShapeType="1"/>
            </p:cNvSpPr>
            <p:nvPr/>
          </p:nvSpPr>
          <p:spPr bwMode="auto">
            <a:xfrm flipH="1">
              <a:off x="4969" y="1850"/>
              <a:ext cx="70" cy="458"/>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40" name="Line 934"/>
            <p:cNvSpPr>
              <a:spLocks noChangeShapeType="1"/>
            </p:cNvSpPr>
            <p:nvPr/>
          </p:nvSpPr>
          <p:spPr bwMode="auto">
            <a:xfrm flipV="1">
              <a:off x="4581" y="2569"/>
              <a:ext cx="143" cy="275"/>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41" name="Line 935"/>
            <p:cNvSpPr>
              <a:spLocks noChangeShapeType="1"/>
            </p:cNvSpPr>
            <p:nvPr/>
          </p:nvSpPr>
          <p:spPr bwMode="auto">
            <a:xfrm>
              <a:off x="5257" y="1801"/>
              <a:ext cx="112" cy="0"/>
            </a:xfrm>
            <a:prstGeom prst="line">
              <a:avLst/>
            </a:prstGeom>
            <a:noFill/>
            <a:ln w="9525">
              <a:solidFill>
                <a:schemeClr val="bg2"/>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nvGrpSpPr>
            <p:cNvPr id="42" name="Group 936"/>
            <p:cNvGrpSpPr>
              <a:grpSpLocks/>
            </p:cNvGrpSpPr>
            <p:nvPr/>
          </p:nvGrpSpPr>
          <p:grpSpPr bwMode="auto">
            <a:xfrm>
              <a:off x="3813" y="1163"/>
              <a:ext cx="295" cy="391"/>
              <a:chOff x="1653" y="3023"/>
              <a:chExt cx="622" cy="911"/>
            </a:xfrm>
          </p:grpSpPr>
          <p:sp>
            <p:nvSpPr>
              <p:cNvPr id="365" name="Line 270"/>
              <p:cNvSpPr>
                <a:spLocks noChangeShapeType="1"/>
              </p:cNvSpPr>
              <p:nvPr/>
            </p:nvSpPr>
            <p:spPr bwMode="auto">
              <a:xfrm flipH="1">
                <a:off x="1766" y="3287"/>
                <a:ext cx="188" cy="586"/>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66" name="Line 271"/>
              <p:cNvSpPr>
                <a:spLocks noChangeShapeType="1"/>
              </p:cNvSpPr>
              <p:nvPr/>
            </p:nvSpPr>
            <p:spPr bwMode="auto">
              <a:xfrm>
                <a:off x="1954" y="3287"/>
                <a:ext cx="188" cy="58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67" name="Line 272"/>
              <p:cNvSpPr>
                <a:spLocks noChangeShapeType="1"/>
              </p:cNvSpPr>
              <p:nvPr/>
            </p:nvSpPr>
            <p:spPr bwMode="auto">
              <a:xfrm>
                <a:off x="1766"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68" name="Line 273"/>
              <p:cNvSpPr>
                <a:spLocks noChangeShapeType="1"/>
              </p:cNvSpPr>
              <p:nvPr/>
            </p:nvSpPr>
            <p:spPr bwMode="auto">
              <a:xfrm flipH="1">
                <a:off x="1954"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69" name="Line 274"/>
              <p:cNvSpPr>
                <a:spLocks noChangeShapeType="1"/>
              </p:cNvSpPr>
              <p:nvPr/>
            </p:nvSpPr>
            <p:spPr bwMode="auto">
              <a:xfrm>
                <a:off x="1954" y="3300"/>
                <a:ext cx="0" cy="63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0" name="Line 275"/>
              <p:cNvSpPr>
                <a:spLocks noChangeShapeType="1"/>
              </p:cNvSpPr>
              <p:nvPr/>
            </p:nvSpPr>
            <p:spPr bwMode="auto">
              <a:xfrm flipV="1">
                <a:off x="1766" y="3810"/>
                <a:ext cx="188" cy="6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1" name="Line 276"/>
              <p:cNvSpPr>
                <a:spLocks noChangeShapeType="1"/>
              </p:cNvSpPr>
              <p:nvPr/>
            </p:nvSpPr>
            <p:spPr bwMode="auto">
              <a:xfrm flipH="1" flipV="1">
                <a:off x="1954" y="3810"/>
                <a:ext cx="188" cy="60"/>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2" name="Line 277"/>
              <p:cNvSpPr>
                <a:spLocks noChangeShapeType="1"/>
              </p:cNvSpPr>
              <p:nvPr/>
            </p:nvSpPr>
            <p:spPr bwMode="auto">
              <a:xfrm>
                <a:off x="1846" y="3618"/>
                <a:ext cx="108"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3" name="Line 278"/>
              <p:cNvSpPr>
                <a:spLocks noChangeShapeType="1"/>
              </p:cNvSpPr>
              <p:nvPr/>
            </p:nvSpPr>
            <p:spPr bwMode="auto">
              <a:xfrm flipV="1">
                <a:off x="1954" y="3618"/>
                <a:ext cx="114"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4" name="Line 279"/>
              <p:cNvSpPr>
                <a:spLocks noChangeShapeType="1"/>
              </p:cNvSpPr>
              <p:nvPr/>
            </p:nvSpPr>
            <p:spPr bwMode="auto">
              <a:xfrm>
                <a:off x="1810" y="3704"/>
                <a:ext cx="139" cy="65"/>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5" name="Line 280"/>
              <p:cNvSpPr>
                <a:spLocks noChangeShapeType="1"/>
              </p:cNvSpPr>
              <p:nvPr/>
            </p:nvSpPr>
            <p:spPr bwMode="auto">
              <a:xfrm flipV="1">
                <a:off x="1954" y="3717"/>
                <a:ext cx="140" cy="57"/>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6" name="Line 281"/>
              <p:cNvSpPr>
                <a:spLocks noChangeShapeType="1"/>
              </p:cNvSpPr>
              <p:nvPr/>
            </p:nvSpPr>
            <p:spPr bwMode="auto">
              <a:xfrm flipV="1">
                <a:off x="1954" y="3530"/>
                <a:ext cx="72" cy="2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7" name="Line 282"/>
              <p:cNvSpPr>
                <a:spLocks noChangeShapeType="1"/>
              </p:cNvSpPr>
              <p:nvPr/>
            </p:nvSpPr>
            <p:spPr bwMode="auto">
              <a:xfrm flipV="1">
                <a:off x="1954" y="3409"/>
                <a:ext cx="45" cy="1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8" name="Line 283"/>
              <p:cNvSpPr>
                <a:spLocks noChangeShapeType="1"/>
              </p:cNvSpPr>
              <p:nvPr/>
            </p:nvSpPr>
            <p:spPr bwMode="auto">
              <a:xfrm>
                <a:off x="1873" y="3522"/>
                <a:ext cx="87" cy="32"/>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79" name="Line 284"/>
              <p:cNvSpPr>
                <a:spLocks noChangeShapeType="1"/>
              </p:cNvSpPr>
              <p:nvPr/>
            </p:nvSpPr>
            <p:spPr bwMode="auto">
              <a:xfrm>
                <a:off x="1912" y="3404"/>
                <a:ext cx="50" cy="31"/>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380" name="Oval 952"/>
              <p:cNvSpPr>
                <a:spLocks noChangeArrowheads="1"/>
              </p:cNvSpPr>
              <p:nvPr/>
            </p:nvSpPr>
            <p:spPr bwMode="auto">
              <a:xfrm>
                <a:off x="1921" y="3233"/>
                <a:ext cx="63" cy="68"/>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pic>
            <p:nvPicPr>
              <p:cNvPr id="381" name="Picture 953" descr="cell_tower_radiation_gra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53" y="3023"/>
                <a:ext cx="62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 name="Group 954"/>
            <p:cNvGrpSpPr>
              <a:grpSpLocks/>
            </p:cNvGrpSpPr>
            <p:nvPr/>
          </p:nvGrpSpPr>
          <p:grpSpPr bwMode="auto">
            <a:xfrm>
              <a:off x="3962" y="1516"/>
              <a:ext cx="286" cy="160"/>
              <a:chOff x="3843" y="1516"/>
              <a:chExt cx="286" cy="160"/>
            </a:xfrm>
          </p:grpSpPr>
          <p:sp>
            <p:nvSpPr>
              <p:cNvPr id="356" name="Line 955"/>
              <p:cNvSpPr>
                <a:spLocks noChangeShapeType="1"/>
              </p:cNvSpPr>
              <p:nvPr/>
            </p:nvSpPr>
            <p:spPr bwMode="auto">
              <a:xfrm>
                <a:off x="3843" y="1516"/>
                <a:ext cx="96" cy="60"/>
              </a:xfrm>
              <a:prstGeom prst="line">
                <a:avLst/>
              </a:prstGeom>
              <a:noFill/>
              <a:ln w="9525">
                <a:solidFill>
                  <a:srgbClr val="969696"/>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57" name="Oval 407"/>
              <p:cNvSpPr>
                <a:spLocks noChangeArrowheads="1"/>
              </p:cNvSpPr>
              <p:nvPr/>
            </p:nvSpPr>
            <p:spPr bwMode="auto">
              <a:xfrm>
                <a:off x="3884" y="1616"/>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58" name="Rectangle 410"/>
              <p:cNvSpPr>
                <a:spLocks noChangeArrowheads="1"/>
              </p:cNvSpPr>
              <p:nvPr/>
            </p:nvSpPr>
            <p:spPr bwMode="auto">
              <a:xfrm>
                <a:off x="3884" y="1610"/>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59" name="Oval 411"/>
              <p:cNvSpPr>
                <a:spLocks noChangeArrowheads="1"/>
              </p:cNvSpPr>
              <p:nvPr/>
            </p:nvSpPr>
            <p:spPr bwMode="auto">
              <a:xfrm>
                <a:off x="3883" y="1569"/>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60" name="Group 959"/>
              <p:cNvGrpSpPr>
                <a:grpSpLocks/>
              </p:cNvGrpSpPr>
              <p:nvPr/>
            </p:nvGrpSpPr>
            <p:grpSpPr bwMode="auto">
              <a:xfrm>
                <a:off x="3932" y="1587"/>
                <a:ext cx="138" cy="33"/>
                <a:chOff x="2468" y="1332"/>
                <a:chExt cx="310" cy="60"/>
              </a:xfrm>
            </p:grpSpPr>
            <p:sp>
              <p:nvSpPr>
                <p:cNvPr id="363" name="Freeform 9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64" name="Freeform 9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61" name="Line 962"/>
              <p:cNvSpPr>
                <a:spLocks noChangeShapeType="1"/>
              </p:cNvSpPr>
              <p:nvPr/>
            </p:nvSpPr>
            <p:spPr bwMode="auto">
              <a:xfrm>
                <a:off x="3884" y="1602"/>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62" name="Line 963"/>
              <p:cNvSpPr>
                <a:spLocks noChangeShapeType="1"/>
              </p:cNvSpPr>
              <p:nvPr/>
            </p:nvSpPr>
            <p:spPr bwMode="auto">
              <a:xfrm>
                <a:off x="4127" y="1604"/>
                <a:ext cx="0" cy="4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44" name="Group 964"/>
            <p:cNvGrpSpPr>
              <a:grpSpLocks/>
            </p:cNvGrpSpPr>
            <p:nvPr/>
          </p:nvGrpSpPr>
          <p:grpSpPr bwMode="auto">
            <a:xfrm>
              <a:off x="4537" y="1571"/>
              <a:ext cx="246" cy="110"/>
              <a:chOff x="4334" y="1470"/>
              <a:chExt cx="246" cy="107"/>
            </a:xfrm>
          </p:grpSpPr>
          <p:sp>
            <p:nvSpPr>
              <p:cNvPr id="348"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49"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50"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51" name="Group 968"/>
              <p:cNvGrpSpPr>
                <a:grpSpLocks/>
              </p:cNvGrpSpPr>
              <p:nvPr/>
            </p:nvGrpSpPr>
            <p:grpSpPr bwMode="auto">
              <a:xfrm>
                <a:off x="4383" y="1488"/>
                <a:ext cx="138" cy="33"/>
                <a:chOff x="2468" y="1332"/>
                <a:chExt cx="310" cy="60"/>
              </a:xfrm>
            </p:grpSpPr>
            <p:sp>
              <p:nvSpPr>
                <p:cNvPr id="354" name="Freeform 96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55" name="Freeform 97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52" name="Line 971"/>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53" name="Line 972"/>
              <p:cNvSpPr>
                <a:spLocks noChangeShapeType="1"/>
              </p:cNvSpPr>
              <p:nvPr/>
            </p:nvSpPr>
            <p:spPr bwMode="auto">
              <a:xfrm>
                <a:off x="4578" y="1505"/>
                <a:ext cx="0" cy="4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45" name="Group 973"/>
            <p:cNvGrpSpPr>
              <a:grpSpLocks/>
            </p:cNvGrpSpPr>
            <p:nvPr/>
          </p:nvGrpSpPr>
          <p:grpSpPr bwMode="auto">
            <a:xfrm>
              <a:off x="4544" y="1737"/>
              <a:ext cx="246" cy="110"/>
              <a:chOff x="4334" y="1470"/>
              <a:chExt cx="246" cy="107"/>
            </a:xfrm>
          </p:grpSpPr>
          <p:sp>
            <p:nvSpPr>
              <p:cNvPr id="34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4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4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43" name="Group 977"/>
              <p:cNvGrpSpPr>
                <a:grpSpLocks/>
              </p:cNvGrpSpPr>
              <p:nvPr/>
            </p:nvGrpSpPr>
            <p:grpSpPr bwMode="auto">
              <a:xfrm>
                <a:off x="4383" y="1488"/>
                <a:ext cx="138" cy="33"/>
                <a:chOff x="2468" y="1332"/>
                <a:chExt cx="310" cy="60"/>
              </a:xfrm>
            </p:grpSpPr>
            <p:sp>
              <p:nvSpPr>
                <p:cNvPr id="346" name="Freeform 97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47" name="Freeform 97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44" name="Line 980"/>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45" name="Line 981"/>
              <p:cNvSpPr>
                <a:spLocks noChangeShapeType="1"/>
              </p:cNvSpPr>
              <p:nvPr/>
            </p:nvSpPr>
            <p:spPr bwMode="auto">
              <a:xfrm>
                <a:off x="4578" y="1505"/>
                <a:ext cx="0" cy="4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46" name="Group 982"/>
            <p:cNvGrpSpPr>
              <a:grpSpLocks/>
            </p:cNvGrpSpPr>
            <p:nvPr/>
          </p:nvGrpSpPr>
          <p:grpSpPr bwMode="auto">
            <a:xfrm>
              <a:off x="4890" y="1738"/>
              <a:ext cx="246" cy="110"/>
              <a:chOff x="4334" y="1470"/>
              <a:chExt cx="246" cy="107"/>
            </a:xfrm>
          </p:grpSpPr>
          <p:sp>
            <p:nvSpPr>
              <p:cNvPr id="332"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33"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34"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35" name="Group 986"/>
              <p:cNvGrpSpPr>
                <a:grpSpLocks/>
              </p:cNvGrpSpPr>
              <p:nvPr/>
            </p:nvGrpSpPr>
            <p:grpSpPr bwMode="auto">
              <a:xfrm>
                <a:off x="4383" y="1488"/>
                <a:ext cx="138" cy="33"/>
                <a:chOff x="2468" y="1332"/>
                <a:chExt cx="310" cy="60"/>
              </a:xfrm>
            </p:grpSpPr>
            <p:sp>
              <p:nvSpPr>
                <p:cNvPr id="338" name="Freeform 98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39" name="Freeform 98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36" name="Line 989"/>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37" name="Line 990"/>
              <p:cNvSpPr>
                <a:spLocks noChangeShapeType="1"/>
              </p:cNvSpPr>
              <p:nvPr/>
            </p:nvSpPr>
            <p:spPr bwMode="auto">
              <a:xfrm>
                <a:off x="4578" y="1505"/>
                <a:ext cx="0" cy="4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47" name="Group 991"/>
            <p:cNvGrpSpPr>
              <a:grpSpLocks/>
            </p:cNvGrpSpPr>
            <p:nvPr/>
          </p:nvGrpSpPr>
          <p:grpSpPr bwMode="auto">
            <a:xfrm>
              <a:off x="4844" y="1508"/>
              <a:ext cx="246" cy="110"/>
              <a:chOff x="4334" y="1470"/>
              <a:chExt cx="246" cy="107"/>
            </a:xfrm>
          </p:grpSpPr>
          <p:sp>
            <p:nvSpPr>
              <p:cNvPr id="32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2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2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27" name="Group 995"/>
              <p:cNvGrpSpPr>
                <a:grpSpLocks/>
              </p:cNvGrpSpPr>
              <p:nvPr/>
            </p:nvGrpSpPr>
            <p:grpSpPr bwMode="auto">
              <a:xfrm>
                <a:off x="4383" y="1488"/>
                <a:ext cx="138" cy="33"/>
                <a:chOff x="2468" y="1332"/>
                <a:chExt cx="310" cy="60"/>
              </a:xfrm>
            </p:grpSpPr>
            <p:sp>
              <p:nvSpPr>
                <p:cNvPr id="330" name="Freeform 99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31" name="Freeform 99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28" name="Line 998"/>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29" name="Line 999"/>
              <p:cNvSpPr>
                <a:spLocks noChangeShapeType="1"/>
              </p:cNvSpPr>
              <p:nvPr/>
            </p:nvSpPr>
            <p:spPr bwMode="auto">
              <a:xfrm>
                <a:off x="4578" y="1505"/>
                <a:ext cx="0" cy="46"/>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48" name="Group 1000"/>
            <p:cNvGrpSpPr>
              <a:grpSpLocks/>
            </p:cNvGrpSpPr>
            <p:nvPr/>
          </p:nvGrpSpPr>
          <p:grpSpPr bwMode="auto">
            <a:xfrm>
              <a:off x="4874" y="2296"/>
              <a:ext cx="310" cy="130"/>
              <a:chOff x="4334" y="1470"/>
              <a:chExt cx="246" cy="107"/>
            </a:xfrm>
          </p:grpSpPr>
          <p:sp>
            <p:nvSpPr>
              <p:cNvPr id="316"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17"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18"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19" name="Group 1004"/>
              <p:cNvGrpSpPr>
                <a:grpSpLocks/>
              </p:cNvGrpSpPr>
              <p:nvPr/>
            </p:nvGrpSpPr>
            <p:grpSpPr bwMode="auto">
              <a:xfrm>
                <a:off x="4383" y="1488"/>
                <a:ext cx="138" cy="33"/>
                <a:chOff x="2468" y="1332"/>
                <a:chExt cx="310" cy="60"/>
              </a:xfrm>
            </p:grpSpPr>
            <p:sp>
              <p:nvSpPr>
                <p:cNvPr id="322" name="Freeform 100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23" name="Freeform 100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20" name="Line 1007"/>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21" name="Line 1008"/>
              <p:cNvSpPr>
                <a:spLocks noChangeShapeType="1"/>
              </p:cNvSpPr>
              <p:nvPr/>
            </p:nvSpPr>
            <p:spPr bwMode="auto">
              <a:xfrm>
                <a:off x="4578" y="1505"/>
                <a:ext cx="0" cy="44"/>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sp>
          <p:nvSpPr>
            <p:cNvPr id="49" name="Line 1009"/>
            <p:cNvSpPr>
              <a:spLocks noChangeShapeType="1"/>
            </p:cNvSpPr>
            <p:nvPr/>
          </p:nvSpPr>
          <p:spPr bwMode="auto">
            <a:xfrm>
              <a:off x="4049" y="2358"/>
              <a:ext cx="428" cy="0"/>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nvGrpSpPr>
            <p:cNvPr id="50" name="Group 1010"/>
            <p:cNvGrpSpPr>
              <a:grpSpLocks/>
            </p:cNvGrpSpPr>
            <p:nvPr/>
          </p:nvGrpSpPr>
          <p:grpSpPr bwMode="auto">
            <a:xfrm>
              <a:off x="4464" y="2288"/>
              <a:ext cx="310" cy="130"/>
              <a:chOff x="4334" y="1470"/>
              <a:chExt cx="246" cy="107"/>
            </a:xfrm>
          </p:grpSpPr>
          <p:sp>
            <p:nvSpPr>
              <p:cNvPr id="308"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09"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10"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11" name="Group 1014"/>
              <p:cNvGrpSpPr>
                <a:grpSpLocks/>
              </p:cNvGrpSpPr>
              <p:nvPr/>
            </p:nvGrpSpPr>
            <p:grpSpPr bwMode="auto">
              <a:xfrm>
                <a:off x="4383" y="1488"/>
                <a:ext cx="138" cy="33"/>
                <a:chOff x="2468" y="1332"/>
                <a:chExt cx="310" cy="60"/>
              </a:xfrm>
            </p:grpSpPr>
            <p:sp>
              <p:nvSpPr>
                <p:cNvPr id="314" name="Freeform 101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5" name="Freeform 101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12" name="Line 1017"/>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13" name="Line 1018"/>
              <p:cNvSpPr>
                <a:spLocks noChangeShapeType="1"/>
              </p:cNvSpPr>
              <p:nvPr/>
            </p:nvSpPr>
            <p:spPr bwMode="auto">
              <a:xfrm>
                <a:off x="4578" y="1505"/>
                <a:ext cx="0" cy="44"/>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1" name="Group 1019"/>
            <p:cNvGrpSpPr>
              <a:grpSpLocks/>
            </p:cNvGrpSpPr>
            <p:nvPr/>
          </p:nvGrpSpPr>
          <p:grpSpPr bwMode="auto">
            <a:xfrm>
              <a:off x="4660" y="2464"/>
              <a:ext cx="310" cy="130"/>
              <a:chOff x="4334" y="1470"/>
              <a:chExt cx="246" cy="107"/>
            </a:xfrm>
          </p:grpSpPr>
          <p:sp>
            <p:nvSpPr>
              <p:cNvPr id="30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30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30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303" name="Group 1023"/>
              <p:cNvGrpSpPr>
                <a:grpSpLocks/>
              </p:cNvGrpSpPr>
              <p:nvPr/>
            </p:nvGrpSpPr>
            <p:grpSpPr bwMode="auto">
              <a:xfrm>
                <a:off x="4383" y="1488"/>
                <a:ext cx="138" cy="33"/>
                <a:chOff x="2468" y="1332"/>
                <a:chExt cx="310" cy="60"/>
              </a:xfrm>
            </p:grpSpPr>
            <p:sp>
              <p:nvSpPr>
                <p:cNvPr id="306" name="Freeform 102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 name="Freeform 102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04" name="Line 1026"/>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305" name="Line 1027"/>
              <p:cNvSpPr>
                <a:spLocks noChangeShapeType="1"/>
              </p:cNvSpPr>
              <p:nvPr/>
            </p:nvSpPr>
            <p:spPr bwMode="auto">
              <a:xfrm>
                <a:off x="4578" y="1505"/>
                <a:ext cx="0" cy="44"/>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2" name="Group 1028"/>
            <p:cNvGrpSpPr>
              <a:grpSpLocks/>
            </p:cNvGrpSpPr>
            <p:nvPr/>
          </p:nvGrpSpPr>
          <p:grpSpPr bwMode="auto">
            <a:xfrm>
              <a:off x="4782" y="3028"/>
              <a:ext cx="392" cy="154"/>
              <a:chOff x="4334" y="1470"/>
              <a:chExt cx="246" cy="107"/>
            </a:xfrm>
          </p:grpSpPr>
          <p:sp>
            <p:nvSpPr>
              <p:cNvPr id="292"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293"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294"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295" name="Group 1032"/>
              <p:cNvGrpSpPr>
                <a:grpSpLocks/>
              </p:cNvGrpSpPr>
              <p:nvPr/>
            </p:nvGrpSpPr>
            <p:grpSpPr bwMode="auto">
              <a:xfrm>
                <a:off x="4383" y="1488"/>
                <a:ext cx="138" cy="33"/>
                <a:chOff x="2468" y="1332"/>
                <a:chExt cx="310" cy="60"/>
              </a:xfrm>
            </p:grpSpPr>
            <p:sp>
              <p:nvSpPr>
                <p:cNvPr id="298" name="Freeform 10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9" name="Freeform 10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96" name="Line 1035"/>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97" name="Line 1036"/>
              <p:cNvSpPr>
                <a:spLocks noChangeShapeType="1"/>
              </p:cNvSpPr>
              <p:nvPr/>
            </p:nvSpPr>
            <p:spPr bwMode="auto">
              <a:xfrm>
                <a:off x="4578" y="1505"/>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3" name="Group 1037"/>
            <p:cNvGrpSpPr>
              <a:grpSpLocks/>
            </p:cNvGrpSpPr>
            <p:nvPr/>
          </p:nvGrpSpPr>
          <p:grpSpPr bwMode="auto">
            <a:xfrm>
              <a:off x="4388" y="2840"/>
              <a:ext cx="392" cy="154"/>
              <a:chOff x="4334" y="1470"/>
              <a:chExt cx="246" cy="107"/>
            </a:xfrm>
          </p:grpSpPr>
          <p:sp>
            <p:nvSpPr>
              <p:cNvPr id="28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28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28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287" name="Group 1041"/>
              <p:cNvGrpSpPr>
                <a:grpSpLocks/>
              </p:cNvGrpSpPr>
              <p:nvPr/>
            </p:nvGrpSpPr>
            <p:grpSpPr bwMode="auto">
              <a:xfrm>
                <a:off x="4383" y="1488"/>
                <a:ext cx="138" cy="33"/>
                <a:chOff x="2468" y="1332"/>
                <a:chExt cx="310" cy="60"/>
              </a:xfrm>
            </p:grpSpPr>
            <p:sp>
              <p:nvSpPr>
                <p:cNvPr id="290" name="Freeform 104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1" name="Freeform 104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88" name="Line 1044"/>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89" name="Line 1045"/>
              <p:cNvSpPr>
                <a:spLocks noChangeShapeType="1"/>
              </p:cNvSpPr>
              <p:nvPr/>
            </p:nvSpPr>
            <p:spPr bwMode="auto">
              <a:xfrm>
                <a:off x="4578" y="1505"/>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4" name="Group 1046"/>
            <p:cNvGrpSpPr>
              <a:grpSpLocks/>
            </p:cNvGrpSpPr>
            <p:nvPr/>
          </p:nvGrpSpPr>
          <p:grpSpPr bwMode="auto">
            <a:xfrm>
              <a:off x="3932" y="3056"/>
              <a:ext cx="392" cy="154"/>
              <a:chOff x="4334" y="1470"/>
              <a:chExt cx="246" cy="107"/>
            </a:xfrm>
          </p:grpSpPr>
          <p:sp>
            <p:nvSpPr>
              <p:cNvPr id="276"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277"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278"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279" name="Group 1050"/>
              <p:cNvGrpSpPr>
                <a:grpSpLocks/>
              </p:cNvGrpSpPr>
              <p:nvPr/>
            </p:nvGrpSpPr>
            <p:grpSpPr bwMode="auto">
              <a:xfrm>
                <a:off x="4383" y="1488"/>
                <a:ext cx="138" cy="33"/>
                <a:chOff x="2468" y="1332"/>
                <a:chExt cx="310" cy="60"/>
              </a:xfrm>
            </p:grpSpPr>
            <p:sp>
              <p:nvSpPr>
                <p:cNvPr id="282" name="Freeform 105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3" name="Freeform 105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80" name="Line 1053"/>
              <p:cNvSpPr>
                <a:spLocks noChangeShapeType="1"/>
              </p:cNvSpPr>
              <p:nvPr/>
            </p:nvSpPr>
            <p:spPr bwMode="auto">
              <a:xfrm>
                <a:off x="4335" y="1503"/>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81" name="Line 1054"/>
              <p:cNvSpPr>
                <a:spLocks noChangeShapeType="1"/>
              </p:cNvSpPr>
              <p:nvPr/>
            </p:nvSpPr>
            <p:spPr bwMode="auto">
              <a:xfrm>
                <a:off x="4578" y="1505"/>
                <a:ext cx="0" cy="47"/>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5" name="Group 1055"/>
            <p:cNvGrpSpPr>
              <a:grpSpLocks/>
            </p:cNvGrpSpPr>
            <p:nvPr/>
          </p:nvGrpSpPr>
          <p:grpSpPr bwMode="auto">
            <a:xfrm>
              <a:off x="3812" y="2296"/>
              <a:ext cx="246" cy="108"/>
              <a:chOff x="4334" y="1470"/>
              <a:chExt cx="246" cy="107"/>
            </a:xfrm>
          </p:grpSpPr>
          <p:sp>
            <p:nvSpPr>
              <p:cNvPr id="268"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sp>
            <p:nvSpPr>
              <p:cNvPr id="269"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endParaRPr lang="en-US" altLang="en-US" sz="2400">
                  <a:latin typeface="Times New Roman" panose="02020603050405020304" pitchFamily="18" charset="0"/>
                  <a:cs typeface="Arial" panose="020B0604020202020204" pitchFamily="34" charset="0"/>
                </a:endParaRPr>
              </a:p>
            </p:txBody>
          </p:sp>
          <p:sp>
            <p:nvSpPr>
              <p:cNvPr id="270"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1600">
                    <a:solidFill>
                      <a:schemeClr val="tx1"/>
                    </a:solidFill>
                    <a:latin typeface="Tahoma" panose="020B0604030504040204" pitchFamily="34" charset="0"/>
                    <a:ea typeface="MS PGothic" panose="020B0600070205080204" pitchFamily="34" charset="-128"/>
                  </a:defRPr>
                </a:lvl1pPr>
                <a:lvl2pPr marL="742950" indent="-285750">
                  <a:defRPr sz="1600">
                    <a:solidFill>
                      <a:schemeClr val="tx1"/>
                    </a:solidFill>
                    <a:latin typeface="Tahoma" panose="020B0604030504040204" pitchFamily="34" charset="0"/>
                    <a:ea typeface="MS PGothic" panose="020B0600070205080204" pitchFamily="34" charset="-128"/>
                  </a:defRPr>
                </a:lvl2pPr>
                <a:lvl3pPr marL="1143000" indent="-228600">
                  <a:defRPr sz="1600">
                    <a:solidFill>
                      <a:schemeClr val="tx1"/>
                    </a:solidFill>
                    <a:latin typeface="Tahoma" panose="020B0604030504040204" pitchFamily="34" charset="0"/>
                    <a:ea typeface="MS PGothic" panose="020B0600070205080204" pitchFamily="34" charset="-128"/>
                  </a:defRPr>
                </a:lvl3pPr>
                <a:lvl4pPr marL="1600200" indent="-228600">
                  <a:defRPr sz="1600">
                    <a:solidFill>
                      <a:schemeClr val="tx1"/>
                    </a:solidFill>
                    <a:latin typeface="Tahoma" panose="020B0604030504040204" pitchFamily="34" charset="0"/>
                    <a:ea typeface="MS PGothic" panose="020B0600070205080204" pitchFamily="34" charset="-128"/>
                  </a:defRPr>
                </a:lvl4pPr>
                <a:lvl5pPr marL="2057400" indent="-228600">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algn="l"/>
                <a:endParaRPr lang="en-US" altLang="en-US" sz="2400">
                  <a:latin typeface="Times New Roman" panose="02020603050405020304" pitchFamily="18" charset="0"/>
                  <a:cs typeface="Arial" panose="020B0604020202020204" pitchFamily="34" charset="0"/>
                </a:endParaRPr>
              </a:p>
            </p:txBody>
          </p:sp>
          <p:grpSp>
            <p:nvGrpSpPr>
              <p:cNvPr id="271" name="Group 1059"/>
              <p:cNvGrpSpPr>
                <a:grpSpLocks/>
              </p:cNvGrpSpPr>
              <p:nvPr/>
            </p:nvGrpSpPr>
            <p:grpSpPr bwMode="auto">
              <a:xfrm>
                <a:off x="4383" y="1488"/>
                <a:ext cx="138" cy="33"/>
                <a:chOff x="2468" y="1332"/>
                <a:chExt cx="310" cy="60"/>
              </a:xfrm>
            </p:grpSpPr>
            <p:sp>
              <p:nvSpPr>
                <p:cNvPr id="274" name="Freeform 10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75" name="Freeform 10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72" name="Line 1062"/>
              <p:cNvSpPr>
                <a:spLocks noChangeShapeType="1"/>
              </p:cNvSpPr>
              <p:nvPr/>
            </p:nvSpPr>
            <p:spPr bwMode="auto">
              <a:xfrm>
                <a:off x="4335" y="1503"/>
                <a:ext cx="0" cy="52"/>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sp>
            <p:nvSpPr>
              <p:cNvPr id="273" name="Line 1063"/>
              <p:cNvSpPr>
                <a:spLocks noChangeShapeType="1"/>
              </p:cNvSpPr>
              <p:nvPr/>
            </p:nvSpPr>
            <p:spPr bwMode="auto">
              <a:xfrm>
                <a:off x="4578" y="1505"/>
                <a:ext cx="0" cy="51"/>
              </a:xfrm>
              <a:prstGeom prst="line">
                <a:avLst/>
              </a:prstGeom>
              <a:noFill/>
              <a:ln w="9525">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ahoma" charset="0"/>
                  <a:ea typeface="ＭＳ Ｐゴシック" charset="0"/>
                </a:endParaRPr>
              </a:p>
            </p:txBody>
          </p:sp>
        </p:grpSp>
        <p:grpSp>
          <p:nvGrpSpPr>
            <p:cNvPr id="56" name="Group 1064"/>
            <p:cNvGrpSpPr>
              <a:grpSpLocks/>
            </p:cNvGrpSpPr>
            <p:nvPr/>
          </p:nvGrpSpPr>
          <p:grpSpPr bwMode="auto">
            <a:xfrm>
              <a:off x="4511" y="3153"/>
              <a:ext cx="281" cy="266"/>
              <a:chOff x="5072" y="3611"/>
              <a:chExt cx="459" cy="380"/>
            </a:xfrm>
          </p:grpSpPr>
          <p:grpSp>
            <p:nvGrpSpPr>
              <p:cNvPr id="254" name="Group 1065"/>
              <p:cNvGrpSpPr>
                <a:grpSpLocks/>
              </p:cNvGrpSpPr>
              <p:nvPr/>
            </p:nvGrpSpPr>
            <p:grpSpPr bwMode="auto">
              <a:xfrm>
                <a:off x="5144" y="3611"/>
                <a:ext cx="387" cy="99"/>
                <a:chOff x="5030" y="2639"/>
                <a:chExt cx="387" cy="99"/>
              </a:xfrm>
            </p:grpSpPr>
            <p:sp>
              <p:nvSpPr>
                <p:cNvPr id="256" name="Freeform 1066"/>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57" name="Freeform 1067"/>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58" name="Freeform 1068"/>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59" name="Freeform 1069"/>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60" name="Freeform 1070"/>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61" name="Freeform 1071"/>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62" name="Freeform 1072"/>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en-IN"/>
                </a:p>
              </p:txBody>
            </p:sp>
            <p:sp>
              <p:nvSpPr>
                <p:cNvPr id="263" name="Freeform 1073"/>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en-IN"/>
                </a:p>
              </p:txBody>
            </p:sp>
            <p:sp>
              <p:nvSpPr>
                <p:cNvPr id="264" name="Freeform 1074"/>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en-IN"/>
                </a:p>
              </p:txBody>
            </p:sp>
            <p:sp>
              <p:nvSpPr>
                <p:cNvPr id="265" name="Freeform 1075"/>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en-IN"/>
                </a:p>
              </p:txBody>
            </p:sp>
            <p:sp>
              <p:nvSpPr>
                <p:cNvPr id="266" name="Freeform 1076"/>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en-IN"/>
                </a:p>
              </p:txBody>
            </p:sp>
            <p:sp>
              <p:nvSpPr>
                <p:cNvPr id="267" name="Freeform 1077"/>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en-IN"/>
                </a:p>
              </p:txBody>
            </p:sp>
          </p:grpSp>
          <p:pic>
            <p:nvPicPr>
              <p:cNvPr id="255" name="Picture 1078" descr="access_point_stylized_gray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7" name="Group 1079"/>
            <p:cNvGrpSpPr>
              <a:grpSpLocks/>
            </p:cNvGrpSpPr>
            <p:nvPr/>
          </p:nvGrpSpPr>
          <p:grpSpPr bwMode="auto">
            <a:xfrm>
              <a:off x="3552" y="2211"/>
              <a:ext cx="251" cy="226"/>
              <a:chOff x="5072" y="3611"/>
              <a:chExt cx="459" cy="380"/>
            </a:xfrm>
          </p:grpSpPr>
          <p:grpSp>
            <p:nvGrpSpPr>
              <p:cNvPr id="240" name="Group 1080"/>
              <p:cNvGrpSpPr>
                <a:grpSpLocks/>
              </p:cNvGrpSpPr>
              <p:nvPr/>
            </p:nvGrpSpPr>
            <p:grpSpPr bwMode="auto">
              <a:xfrm>
                <a:off x="5144" y="3611"/>
                <a:ext cx="387" cy="99"/>
                <a:chOff x="5030" y="2639"/>
                <a:chExt cx="387" cy="99"/>
              </a:xfrm>
            </p:grpSpPr>
            <p:sp>
              <p:nvSpPr>
                <p:cNvPr id="242" name="Freeform 1081"/>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3" name="Freeform 1082"/>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4" name="Freeform 1083"/>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5" name="Freeform 1084"/>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6" name="Freeform 1085"/>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7" name="Freeform 1086"/>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48" name="Freeform 1087"/>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en-IN"/>
                </a:p>
              </p:txBody>
            </p:sp>
            <p:sp>
              <p:nvSpPr>
                <p:cNvPr id="249" name="Freeform 1088"/>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en-IN"/>
                </a:p>
              </p:txBody>
            </p:sp>
            <p:sp>
              <p:nvSpPr>
                <p:cNvPr id="250" name="Freeform 1089"/>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en-IN"/>
                </a:p>
              </p:txBody>
            </p:sp>
            <p:sp>
              <p:nvSpPr>
                <p:cNvPr id="251" name="Freeform 1090"/>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en-IN"/>
                </a:p>
              </p:txBody>
            </p:sp>
            <p:sp>
              <p:nvSpPr>
                <p:cNvPr id="252" name="Freeform 1091"/>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en-IN"/>
                </a:p>
              </p:txBody>
            </p:sp>
            <p:sp>
              <p:nvSpPr>
                <p:cNvPr id="253" name="Freeform 1092"/>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en-IN"/>
                </a:p>
              </p:txBody>
            </p:sp>
          </p:grpSp>
          <p:pic>
            <p:nvPicPr>
              <p:cNvPr id="241" name="Picture 1093" descr="access_point_stylized_gray_smal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8" name="Line 1094"/>
            <p:cNvSpPr>
              <a:spLocks noChangeShapeType="1"/>
            </p:cNvSpPr>
            <p:nvPr/>
          </p:nvSpPr>
          <p:spPr bwMode="auto">
            <a:xfrm rot="5400000" flipV="1">
              <a:off x="5034" y="3427"/>
              <a:ext cx="2" cy="54"/>
            </a:xfrm>
            <a:prstGeom prst="line">
              <a:avLst/>
            </a:prstGeom>
            <a:noFill/>
            <a:ln w="127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59" name="Group 1095"/>
            <p:cNvGrpSpPr>
              <a:grpSpLocks/>
            </p:cNvGrpSpPr>
            <p:nvPr/>
          </p:nvGrpSpPr>
          <p:grpSpPr bwMode="auto">
            <a:xfrm flipH="1">
              <a:off x="3638" y="2856"/>
              <a:ext cx="261" cy="235"/>
              <a:chOff x="2839" y="3501"/>
              <a:chExt cx="755" cy="803"/>
            </a:xfrm>
          </p:grpSpPr>
          <p:pic>
            <p:nvPicPr>
              <p:cNvPr id="238" name="Picture 1096"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109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60" name="Group 1098"/>
            <p:cNvGrpSpPr>
              <a:grpSpLocks/>
            </p:cNvGrpSpPr>
            <p:nvPr/>
          </p:nvGrpSpPr>
          <p:grpSpPr bwMode="auto">
            <a:xfrm flipH="1">
              <a:off x="3438" y="3121"/>
              <a:ext cx="304" cy="256"/>
              <a:chOff x="2839" y="3501"/>
              <a:chExt cx="755" cy="803"/>
            </a:xfrm>
          </p:grpSpPr>
          <p:pic>
            <p:nvPicPr>
              <p:cNvPr id="236" name="Picture 1099" descr="desktop_computer_stylized_medium"/>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 name="Freeform 1100"/>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61" name="Group 1101"/>
            <p:cNvGrpSpPr>
              <a:grpSpLocks/>
            </p:cNvGrpSpPr>
            <p:nvPr/>
          </p:nvGrpSpPr>
          <p:grpSpPr bwMode="auto">
            <a:xfrm flipH="1">
              <a:off x="3739" y="3311"/>
              <a:ext cx="269" cy="220"/>
              <a:chOff x="2839" y="3501"/>
              <a:chExt cx="755" cy="803"/>
            </a:xfrm>
          </p:grpSpPr>
          <p:pic>
            <p:nvPicPr>
              <p:cNvPr id="234" name="Picture 1102" descr="desktop_computer_stylized_medium"/>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 name="Freeform 1103"/>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62" name="Group 1104"/>
            <p:cNvGrpSpPr>
              <a:grpSpLocks/>
            </p:cNvGrpSpPr>
            <p:nvPr/>
          </p:nvGrpSpPr>
          <p:grpSpPr bwMode="auto">
            <a:xfrm>
              <a:off x="4126" y="3300"/>
              <a:ext cx="269" cy="221"/>
              <a:chOff x="2839" y="3501"/>
              <a:chExt cx="755" cy="803"/>
            </a:xfrm>
          </p:grpSpPr>
          <p:pic>
            <p:nvPicPr>
              <p:cNvPr id="232" name="Picture 1105" descr="desktop_computer_stylized_mediu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1106"/>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pic>
          <p:nvPicPr>
            <p:cNvPr id="63" name="Picture 1107" descr="car_icon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 y="1084"/>
              <a:ext cx="5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1108"/>
            <p:cNvGrpSpPr>
              <a:grpSpLocks/>
            </p:cNvGrpSpPr>
            <p:nvPr/>
          </p:nvGrpSpPr>
          <p:grpSpPr bwMode="auto">
            <a:xfrm>
              <a:off x="3536" y="974"/>
              <a:ext cx="262" cy="243"/>
              <a:chOff x="2751" y="1851"/>
              <a:chExt cx="462" cy="478"/>
            </a:xfrm>
          </p:grpSpPr>
          <p:pic>
            <p:nvPicPr>
              <p:cNvPr id="230" name="Picture 1109" descr="iphone_stylized_small"/>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 name="Picture 1110"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5" name="Group 1111"/>
            <p:cNvGrpSpPr>
              <a:grpSpLocks/>
            </p:cNvGrpSpPr>
            <p:nvPr/>
          </p:nvGrpSpPr>
          <p:grpSpPr bwMode="auto">
            <a:xfrm>
              <a:off x="5191" y="3151"/>
              <a:ext cx="143" cy="303"/>
              <a:chOff x="4140" y="429"/>
              <a:chExt cx="1425" cy="2396"/>
            </a:xfrm>
          </p:grpSpPr>
          <p:sp>
            <p:nvSpPr>
              <p:cNvPr id="198" name="Freeform 1112"/>
              <p:cNvSpPr>
                <a:spLocks/>
              </p:cNvSpPr>
              <p:nvPr/>
            </p:nvSpPr>
            <p:spPr bwMode="auto">
              <a:xfrm>
                <a:off x="5268" y="433"/>
                <a:ext cx="283" cy="2286"/>
              </a:xfrm>
              <a:custGeom>
                <a:avLst/>
                <a:gdLst>
                  <a:gd name="T0" fmla="*/ 14 w 354"/>
                  <a:gd name="T1" fmla="*/ 0 h 2742"/>
                  <a:gd name="T2" fmla="*/ 74 w 354"/>
                  <a:gd name="T3" fmla="*/ 95 h 2742"/>
                  <a:gd name="T4" fmla="*/ 73 w 354"/>
                  <a:gd name="T5" fmla="*/ 734 h 2742"/>
                  <a:gd name="T6" fmla="*/ 0 w 354"/>
                  <a:gd name="T7" fmla="*/ 768 h 2742"/>
                  <a:gd name="T8" fmla="*/ 14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 name="Rectangle 1113"/>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00" name="Freeform 1114"/>
              <p:cNvSpPr>
                <a:spLocks/>
              </p:cNvSpPr>
              <p:nvPr/>
            </p:nvSpPr>
            <p:spPr bwMode="auto">
              <a:xfrm>
                <a:off x="5321" y="570"/>
                <a:ext cx="169" cy="2115"/>
              </a:xfrm>
              <a:custGeom>
                <a:avLst/>
                <a:gdLst>
                  <a:gd name="T0" fmla="*/ 2 w 211"/>
                  <a:gd name="T1" fmla="*/ 0 h 2537"/>
                  <a:gd name="T2" fmla="*/ 45 w 211"/>
                  <a:gd name="T3" fmla="*/ 61 h 2537"/>
                  <a:gd name="T4" fmla="*/ 2 w 211"/>
                  <a:gd name="T5" fmla="*/ 69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 name="Freeform 1115"/>
              <p:cNvSpPr>
                <a:spLocks/>
              </p:cNvSpPr>
              <p:nvPr/>
            </p:nvSpPr>
            <p:spPr bwMode="auto">
              <a:xfrm>
                <a:off x="5284" y="1640"/>
                <a:ext cx="263" cy="189"/>
              </a:xfrm>
              <a:custGeom>
                <a:avLst/>
                <a:gdLst>
                  <a:gd name="T0" fmla="*/ 2 w 328"/>
                  <a:gd name="T1" fmla="*/ 0 h 226"/>
                  <a:gd name="T2" fmla="*/ 70 w 328"/>
                  <a:gd name="T3" fmla="*/ 36 h 226"/>
                  <a:gd name="T4" fmla="*/ 70 w 328"/>
                  <a:gd name="T5" fmla="*/ 64 h 226"/>
                  <a:gd name="T6" fmla="*/ 0 w 328"/>
                  <a:gd name="T7" fmla="*/ 28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2" name="Rectangle 1116"/>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03" name="Group 1117"/>
              <p:cNvGrpSpPr>
                <a:grpSpLocks/>
              </p:cNvGrpSpPr>
              <p:nvPr/>
            </p:nvGrpSpPr>
            <p:grpSpPr bwMode="auto">
              <a:xfrm>
                <a:off x="4749" y="668"/>
                <a:ext cx="581" cy="145"/>
                <a:chOff x="614" y="2568"/>
                <a:chExt cx="725" cy="139"/>
              </a:xfrm>
            </p:grpSpPr>
            <p:sp>
              <p:nvSpPr>
                <p:cNvPr id="228" name="AutoShape 1118"/>
                <p:cNvSpPr>
                  <a:spLocks noChangeArrowheads="1"/>
                </p:cNvSpPr>
                <p:nvPr/>
              </p:nvSpPr>
              <p:spPr bwMode="auto">
                <a:xfrm>
                  <a:off x="613" y="2566"/>
                  <a:ext cx="721"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9" name="AutoShape 1119"/>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04" name="Rectangle 1120"/>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05" name="Group 1121"/>
              <p:cNvGrpSpPr>
                <a:grpSpLocks/>
              </p:cNvGrpSpPr>
              <p:nvPr/>
            </p:nvGrpSpPr>
            <p:grpSpPr bwMode="auto">
              <a:xfrm>
                <a:off x="4747" y="994"/>
                <a:ext cx="581" cy="134"/>
                <a:chOff x="614" y="2568"/>
                <a:chExt cx="725" cy="139"/>
              </a:xfrm>
            </p:grpSpPr>
            <p:sp>
              <p:nvSpPr>
                <p:cNvPr id="226" name="AutoShape 1122"/>
                <p:cNvSpPr>
                  <a:spLocks noChangeArrowheads="1"/>
                </p:cNvSpPr>
                <p:nvPr/>
              </p:nvSpPr>
              <p:spPr bwMode="auto">
                <a:xfrm>
                  <a:off x="615" y="2564"/>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7" name="AutoShape 1123"/>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06" name="Rectangle 1124"/>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07" name="Rectangle 1125"/>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208" name="Group 1126"/>
              <p:cNvGrpSpPr>
                <a:grpSpLocks/>
              </p:cNvGrpSpPr>
              <p:nvPr/>
            </p:nvGrpSpPr>
            <p:grpSpPr bwMode="auto">
              <a:xfrm>
                <a:off x="4735" y="1627"/>
                <a:ext cx="582" cy="151"/>
                <a:chOff x="614" y="2568"/>
                <a:chExt cx="725" cy="139"/>
              </a:xfrm>
            </p:grpSpPr>
            <p:sp>
              <p:nvSpPr>
                <p:cNvPr id="224" name="AutoShape 1127"/>
                <p:cNvSpPr>
                  <a:spLocks noChangeArrowheads="1"/>
                </p:cNvSpPr>
                <p:nvPr/>
              </p:nvSpPr>
              <p:spPr bwMode="auto">
                <a:xfrm>
                  <a:off x="618" y="2586"/>
                  <a:ext cx="720" cy="12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5" name="AutoShape 1128"/>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09" name="Freeform 1129"/>
              <p:cNvSpPr>
                <a:spLocks/>
              </p:cNvSpPr>
              <p:nvPr/>
            </p:nvSpPr>
            <p:spPr bwMode="auto">
              <a:xfrm>
                <a:off x="5288" y="1354"/>
                <a:ext cx="263" cy="188"/>
              </a:xfrm>
              <a:custGeom>
                <a:avLst/>
                <a:gdLst>
                  <a:gd name="T0" fmla="*/ 2 w 328"/>
                  <a:gd name="T1" fmla="*/ 0 h 226"/>
                  <a:gd name="T2" fmla="*/ 70 w 328"/>
                  <a:gd name="T3" fmla="*/ 35 h 226"/>
                  <a:gd name="T4" fmla="*/ 70 w 328"/>
                  <a:gd name="T5" fmla="*/ 62 h 226"/>
                  <a:gd name="T6" fmla="*/ 0 w 328"/>
                  <a:gd name="T7" fmla="*/ 2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10" name="Group 1130"/>
              <p:cNvGrpSpPr>
                <a:grpSpLocks/>
              </p:cNvGrpSpPr>
              <p:nvPr/>
            </p:nvGrpSpPr>
            <p:grpSpPr bwMode="auto">
              <a:xfrm>
                <a:off x="4739" y="1327"/>
                <a:ext cx="582" cy="139"/>
                <a:chOff x="614" y="2568"/>
                <a:chExt cx="725" cy="139"/>
              </a:xfrm>
            </p:grpSpPr>
            <p:sp>
              <p:nvSpPr>
                <p:cNvPr id="222" name="AutoShape 1131"/>
                <p:cNvSpPr>
                  <a:spLocks noChangeArrowheads="1"/>
                </p:cNvSpPr>
                <p:nvPr/>
              </p:nvSpPr>
              <p:spPr bwMode="auto">
                <a:xfrm>
                  <a:off x="613" y="2571"/>
                  <a:ext cx="732"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3" name="AutoShape 1132"/>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211" name="Rectangle 1133"/>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2" name="Freeform 1134"/>
              <p:cNvSpPr>
                <a:spLocks/>
              </p:cNvSpPr>
              <p:nvPr/>
            </p:nvSpPr>
            <p:spPr bwMode="auto">
              <a:xfrm>
                <a:off x="5312" y="1007"/>
                <a:ext cx="237" cy="213"/>
              </a:xfrm>
              <a:custGeom>
                <a:avLst/>
                <a:gdLst>
                  <a:gd name="T0" fmla="*/ 2 w 296"/>
                  <a:gd name="T1" fmla="*/ 0 h 256"/>
                  <a:gd name="T2" fmla="*/ 62 w 296"/>
                  <a:gd name="T3" fmla="*/ 39 h 256"/>
                  <a:gd name="T4" fmla="*/ 62 w 296"/>
                  <a:gd name="T5" fmla="*/ 71 h 256"/>
                  <a:gd name="T6" fmla="*/ 0 w 296"/>
                  <a:gd name="T7" fmla="*/ 2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3" name="Freeform 1135"/>
              <p:cNvSpPr>
                <a:spLocks/>
              </p:cNvSpPr>
              <p:nvPr/>
            </p:nvSpPr>
            <p:spPr bwMode="auto">
              <a:xfrm>
                <a:off x="5315" y="680"/>
                <a:ext cx="244" cy="240"/>
              </a:xfrm>
              <a:custGeom>
                <a:avLst/>
                <a:gdLst>
                  <a:gd name="T0" fmla="*/ 0 w 304"/>
                  <a:gd name="T1" fmla="*/ 0 h 288"/>
                  <a:gd name="T2" fmla="*/ 65 w 304"/>
                  <a:gd name="T3" fmla="*/ 46 h 288"/>
                  <a:gd name="T4" fmla="*/ 61 w 304"/>
                  <a:gd name="T5" fmla="*/ 81 h 288"/>
                  <a:gd name="T6" fmla="*/ 2 w 304"/>
                  <a:gd name="T7" fmla="*/ 35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 name="Oval 1136"/>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5" name="Freeform 1137"/>
              <p:cNvSpPr>
                <a:spLocks/>
              </p:cNvSpPr>
              <p:nvPr/>
            </p:nvSpPr>
            <p:spPr bwMode="auto">
              <a:xfrm>
                <a:off x="5302" y="2614"/>
                <a:ext cx="245" cy="200"/>
              </a:xfrm>
              <a:custGeom>
                <a:avLst/>
                <a:gdLst>
                  <a:gd name="T0" fmla="*/ 0 w 306"/>
                  <a:gd name="T1" fmla="*/ 30 h 240"/>
                  <a:gd name="T2" fmla="*/ 2 w 306"/>
                  <a:gd name="T3" fmla="*/ 68 h 240"/>
                  <a:gd name="T4" fmla="*/ 65 w 306"/>
                  <a:gd name="T5" fmla="*/ 31 h 240"/>
                  <a:gd name="T6" fmla="*/ 62 w 306"/>
                  <a:gd name="T7" fmla="*/ 0 h 240"/>
                  <a:gd name="T8" fmla="*/ 0 w 306"/>
                  <a:gd name="T9" fmla="*/ 3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 name="AutoShape 1138"/>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7" name="AutoShape 1139"/>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8" name="Oval 1140"/>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19" name="Oval 1141"/>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220" name="Oval 1142"/>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221" name="Rectangle 1143"/>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66" name="Group 1144"/>
            <p:cNvGrpSpPr>
              <a:grpSpLocks/>
            </p:cNvGrpSpPr>
            <p:nvPr/>
          </p:nvGrpSpPr>
          <p:grpSpPr bwMode="auto">
            <a:xfrm>
              <a:off x="4992" y="3341"/>
              <a:ext cx="143" cy="303"/>
              <a:chOff x="4140" y="429"/>
              <a:chExt cx="1425" cy="2396"/>
            </a:xfrm>
          </p:grpSpPr>
          <p:sp>
            <p:nvSpPr>
              <p:cNvPr id="166" name="Freeform 1145"/>
              <p:cNvSpPr>
                <a:spLocks/>
              </p:cNvSpPr>
              <p:nvPr/>
            </p:nvSpPr>
            <p:spPr bwMode="auto">
              <a:xfrm>
                <a:off x="5268" y="433"/>
                <a:ext cx="283" cy="2286"/>
              </a:xfrm>
              <a:custGeom>
                <a:avLst/>
                <a:gdLst>
                  <a:gd name="T0" fmla="*/ 14 w 354"/>
                  <a:gd name="T1" fmla="*/ 0 h 2742"/>
                  <a:gd name="T2" fmla="*/ 74 w 354"/>
                  <a:gd name="T3" fmla="*/ 95 h 2742"/>
                  <a:gd name="T4" fmla="*/ 73 w 354"/>
                  <a:gd name="T5" fmla="*/ 734 h 2742"/>
                  <a:gd name="T6" fmla="*/ 0 w 354"/>
                  <a:gd name="T7" fmla="*/ 768 h 2742"/>
                  <a:gd name="T8" fmla="*/ 14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7" name="Rectangle 1146"/>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68" name="Freeform 1147"/>
              <p:cNvSpPr>
                <a:spLocks/>
              </p:cNvSpPr>
              <p:nvPr/>
            </p:nvSpPr>
            <p:spPr bwMode="auto">
              <a:xfrm>
                <a:off x="5321" y="570"/>
                <a:ext cx="169" cy="2115"/>
              </a:xfrm>
              <a:custGeom>
                <a:avLst/>
                <a:gdLst>
                  <a:gd name="T0" fmla="*/ 2 w 211"/>
                  <a:gd name="T1" fmla="*/ 0 h 2537"/>
                  <a:gd name="T2" fmla="*/ 45 w 211"/>
                  <a:gd name="T3" fmla="*/ 61 h 2537"/>
                  <a:gd name="T4" fmla="*/ 2 w 211"/>
                  <a:gd name="T5" fmla="*/ 69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9" name="Freeform 1148"/>
              <p:cNvSpPr>
                <a:spLocks/>
              </p:cNvSpPr>
              <p:nvPr/>
            </p:nvSpPr>
            <p:spPr bwMode="auto">
              <a:xfrm>
                <a:off x="5284" y="1640"/>
                <a:ext cx="263" cy="189"/>
              </a:xfrm>
              <a:custGeom>
                <a:avLst/>
                <a:gdLst>
                  <a:gd name="T0" fmla="*/ 2 w 328"/>
                  <a:gd name="T1" fmla="*/ 0 h 226"/>
                  <a:gd name="T2" fmla="*/ 70 w 328"/>
                  <a:gd name="T3" fmla="*/ 36 h 226"/>
                  <a:gd name="T4" fmla="*/ 70 w 328"/>
                  <a:gd name="T5" fmla="*/ 64 h 226"/>
                  <a:gd name="T6" fmla="*/ 0 w 328"/>
                  <a:gd name="T7" fmla="*/ 28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0" name="Rectangle 1149"/>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71" name="Group 1150"/>
              <p:cNvGrpSpPr>
                <a:grpSpLocks/>
              </p:cNvGrpSpPr>
              <p:nvPr/>
            </p:nvGrpSpPr>
            <p:grpSpPr bwMode="auto">
              <a:xfrm>
                <a:off x="4749" y="668"/>
                <a:ext cx="581" cy="145"/>
                <a:chOff x="614" y="2568"/>
                <a:chExt cx="725" cy="139"/>
              </a:xfrm>
            </p:grpSpPr>
            <p:sp>
              <p:nvSpPr>
                <p:cNvPr id="196" name="AutoShape 1151"/>
                <p:cNvSpPr>
                  <a:spLocks noChangeArrowheads="1"/>
                </p:cNvSpPr>
                <p:nvPr/>
              </p:nvSpPr>
              <p:spPr bwMode="auto">
                <a:xfrm>
                  <a:off x="613" y="2566"/>
                  <a:ext cx="721"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7" name="AutoShape 1152"/>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72" name="Rectangle 1153"/>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73" name="Group 1154"/>
              <p:cNvGrpSpPr>
                <a:grpSpLocks/>
              </p:cNvGrpSpPr>
              <p:nvPr/>
            </p:nvGrpSpPr>
            <p:grpSpPr bwMode="auto">
              <a:xfrm>
                <a:off x="4747" y="994"/>
                <a:ext cx="581" cy="134"/>
                <a:chOff x="614" y="2568"/>
                <a:chExt cx="725" cy="139"/>
              </a:xfrm>
            </p:grpSpPr>
            <p:sp>
              <p:nvSpPr>
                <p:cNvPr id="194" name="AutoShape 1155"/>
                <p:cNvSpPr>
                  <a:spLocks noChangeArrowheads="1"/>
                </p:cNvSpPr>
                <p:nvPr/>
              </p:nvSpPr>
              <p:spPr bwMode="auto">
                <a:xfrm>
                  <a:off x="615" y="2564"/>
                  <a:ext cx="721" cy="139"/>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5" name="AutoShape 1156"/>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74" name="Rectangle 1157"/>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75" name="Rectangle 1158"/>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nvGrpSpPr>
              <p:cNvPr id="176" name="Group 1159"/>
              <p:cNvGrpSpPr>
                <a:grpSpLocks/>
              </p:cNvGrpSpPr>
              <p:nvPr/>
            </p:nvGrpSpPr>
            <p:grpSpPr bwMode="auto">
              <a:xfrm>
                <a:off x="4735" y="1627"/>
                <a:ext cx="582" cy="151"/>
                <a:chOff x="614" y="2568"/>
                <a:chExt cx="725" cy="139"/>
              </a:xfrm>
            </p:grpSpPr>
            <p:sp>
              <p:nvSpPr>
                <p:cNvPr id="192" name="AutoShape 1160"/>
                <p:cNvSpPr>
                  <a:spLocks noChangeArrowheads="1"/>
                </p:cNvSpPr>
                <p:nvPr/>
              </p:nvSpPr>
              <p:spPr bwMode="auto">
                <a:xfrm>
                  <a:off x="618" y="2586"/>
                  <a:ext cx="720" cy="12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3" name="AutoShape 1161"/>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77" name="Freeform 1162"/>
              <p:cNvSpPr>
                <a:spLocks/>
              </p:cNvSpPr>
              <p:nvPr/>
            </p:nvSpPr>
            <p:spPr bwMode="auto">
              <a:xfrm>
                <a:off x="5288" y="1354"/>
                <a:ext cx="263" cy="188"/>
              </a:xfrm>
              <a:custGeom>
                <a:avLst/>
                <a:gdLst>
                  <a:gd name="T0" fmla="*/ 2 w 328"/>
                  <a:gd name="T1" fmla="*/ 0 h 226"/>
                  <a:gd name="T2" fmla="*/ 70 w 328"/>
                  <a:gd name="T3" fmla="*/ 35 h 226"/>
                  <a:gd name="T4" fmla="*/ 70 w 328"/>
                  <a:gd name="T5" fmla="*/ 62 h 226"/>
                  <a:gd name="T6" fmla="*/ 0 w 328"/>
                  <a:gd name="T7" fmla="*/ 27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78" name="Group 1163"/>
              <p:cNvGrpSpPr>
                <a:grpSpLocks/>
              </p:cNvGrpSpPr>
              <p:nvPr/>
            </p:nvGrpSpPr>
            <p:grpSpPr bwMode="auto">
              <a:xfrm>
                <a:off x="4739" y="1327"/>
                <a:ext cx="582" cy="139"/>
                <a:chOff x="614" y="2568"/>
                <a:chExt cx="725" cy="139"/>
              </a:xfrm>
            </p:grpSpPr>
            <p:sp>
              <p:nvSpPr>
                <p:cNvPr id="190" name="AutoShape 1164"/>
                <p:cNvSpPr>
                  <a:spLocks noChangeArrowheads="1"/>
                </p:cNvSpPr>
                <p:nvPr/>
              </p:nvSpPr>
              <p:spPr bwMode="auto">
                <a:xfrm>
                  <a:off x="613" y="2571"/>
                  <a:ext cx="732"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91" name="AutoShape 1165"/>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179" name="Rectangle 1166"/>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0" name="Freeform 1167"/>
              <p:cNvSpPr>
                <a:spLocks/>
              </p:cNvSpPr>
              <p:nvPr/>
            </p:nvSpPr>
            <p:spPr bwMode="auto">
              <a:xfrm>
                <a:off x="5312" y="1007"/>
                <a:ext cx="237" cy="213"/>
              </a:xfrm>
              <a:custGeom>
                <a:avLst/>
                <a:gdLst>
                  <a:gd name="T0" fmla="*/ 2 w 296"/>
                  <a:gd name="T1" fmla="*/ 0 h 256"/>
                  <a:gd name="T2" fmla="*/ 62 w 296"/>
                  <a:gd name="T3" fmla="*/ 39 h 256"/>
                  <a:gd name="T4" fmla="*/ 62 w 296"/>
                  <a:gd name="T5" fmla="*/ 71 h 256"/>
                  <a:gd name="T6" fmla="*/ 0 w 296"/>
                  <a:gd name="T7" fmla="*/ 27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1" name="Freeform 1168"/>
              <p:cNvSpPr>
                <a:spLocks/>
              </p:cNvSpPr>
              <p:nvPr/>
            </p:nvSpPr>
            <p:spPr bwMode="auto">
              <a:xfrm>
                <a:off x="5315" y="680"/>
                <a:ext cx="244" cy="240"/>
              </a:xfrm>
              <a:custGeom>
                <a:avLst/>
                <a:gdLst>
                  <a:gd name="T0" fmla="*/ 0 w 304"/>
                  <a:gd name="T1" fmla="*/ 0 h 288"/>
                  <a:gd name="T2" fmla="*/ 65 w 304"/>
                  <a:gd name="T3" fmla="*/ 46 h 288"/>
                  <a:gd name="T4" fmla="*/ 61 w 304"/>
                  <a:gd name="T5" fmla="*/ 81 h 288"/>
                  <a:gd name="T6" fmla="*/ 2 w 304"/>
                  <a:gd name="T7" fmla="*/ 35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2" name="Oval 1169"/>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3" name="Freeform 1170"/>
              <p:cNvSpPr>
                <a:spLocks/>
              </p:cNvSpPr>
              <p:nvPr/>
            </p:nvSpPr>
            <p:spPr bwMode="auto">
              <a:xfrm>
                <a:off x="5302" y="2614"/>
                <a:ext cx="245" cy="200"/>
              </a:xfrm>
              <a:custGeom>
                <a:avLst/>
                <a:gdLst>
                  <a:gd name="T0" fmla="*/ 0 w 306"/>
                  <a:gd name="T1" fmla="*/ 30 h 240"/>
                  <a:gd name="T2" fmla="*/ 2 w 306"/>
                  <a:gd name="T3" fmla="*/ 68 h 240"/>
                  <a:gd name="T4" fmla="*/ 65 w 306"/>
                  <a:gd name="T5" fmla="*/ 31 h 240"/>
                  <a:gd name="T6" fmla="*/ 62 w 306"/>
                  <a:gd name="T7" fmla="*/ 0 h 240"/>
                  <a:gd name="T8" fmla="*/ 0 w 306"/>
                  <a:gd name="T9" fmla="*/ 3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4" name="AutoShape 1171"/>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5" name="AutoShape 1172"/>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6" name="Oval 1173"/>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7" name="Oval 1174"/>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sz="1800">
                  <a:solidFill>
                    <a:srgbClr val="FF0000"/>
                  </a:solidFill>
                  <a:latin typeface="Arial" charset="0"/>
                  <a:ea typeface="ＭＳ Ｐゴシック" charset="0"/>
                  <a:cs typeface="Arial" charset="0"/>
                </a:endParaRPr>
              </a:p>
            </p:txBody>
          </p:sp>
          <p:sp>
            <p:nvSpPr>
              <p:cNvPr id="188" name="Oval 1175"/>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189" name="Rectangle 1176"/>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grpSp>
          <p:nvGrpSpPr>
            <p:cNvPr id="67" name="Group 1177"/>
            <p:cNvGrpSpPr>
              <a:grpSpLocks/>
            </p:cNvGrpSpPr>
            <p:nvPr/>
          </p:nvGrpSpPr>
          <p:grpSpPr bwMode="auto">
            <a:xfrm>
              <a:off x="3340" y="1287"/>
              <a:ext cx="337" cy="257"/>
              <a:chOff x="877" y="1008"/>
              <a:chExt cx="2747" cy="2591"/>
            </a:xfrm>
          </p:grpSpPr>
          <p:pic>
            <p:nvPicPr>
              <p:cNvPr id="143" name="Picture 1178" descr="antenna_stylize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 name="Picture 1179"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 name="Freeform 1180"/>
              <p:cNvSpPr>
                <a:spLocks/>
              </p:cNvSpPr>
              <p:nvPr/>
            </p:nvSpPr>
            <p:spPr bwMode="auto">
              <a:xfrm>
                <a:off x="1753" y="1603"/>
                <a:ext cx="1807" cy="1322"/>
              </a:xfrm>
              <a:custGeom>
                <a:avLst/>
                <a:gdLst>
                  <a:gd name="T0" fmla="*/ 16 w 2982"/>
                  <a:gd name="T1" fmla="*/ 0 h 2442"/>
                  <a:gd name="T2" fmla="*/ 0 w 2982"/>
                  <a:gd name="T3" fmla="*/ 24 h 2442"/>
                  <a:gd name="T4" fmla="*/ 72 w 2982"/>
                  <a:gd name="T5" fmla="*/ 34 h 2442"/>
                  <a:gd name="T6" fmla="*/ 90 w 2982"/>
                  <a:gd name="T7" fmla="*/ 4 h 2442"/>
                  <a:gd name="T8" fmla="*/ 16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46" name="Picture 1181" descr="screen"/>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Freeform 1182"/>
              <p:cNvSpPr>
                <a:spLocks/>
              </p:cNvSpPr>
              <p:nvPr/>
            </p:nvSpPr>
            <p:spPr bwMode="auto">
              <a:xfrm>
                <a:off x="2082" y="1564"/>
                <a:ext cx="1531" cy="246"/>
              </a:xfrm>
              <a:custGeom>
                <a:avLst/>
                <a:gdLst>
                  <a:gd name="T0" fmla="*/ 1 w 2528"/>
                  <a:gd name="T1" fmla="*/ 0 h 455"/>
                  <a:gd name="T2" fmla="*/ 76 w 2528"/>
                  <a:gd name="T3" fmla="*/ 5 h 455"/>
                  <a:gd name="T4" fmla="*/ 74 w 2528"/>
                  <a:gd name="T5" fmla="*/ 6 h 455"/>
                  <a:gd name="T6" fmla="*/ 0 w 2528"/>
                  <a:gd name="T7" fmla="*/ 1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8" name="Freeform 1183"/>
              <p:cNvSpPr>
                <a:spLocks/>
              </p:cNvSpPr>
              <p:nvPr/>
            </p:nvSpPr>
            <p:spPr bwMode="auto">
              <a:xfrm>
                <a:off x="1737" y="1562"/>
                <a:ext cx="425" cy="1024"/>
              </a:xfrm>
              <a:custGeom>
                <a:avLst/>
                <a:gdLst>
                  <a:gd name="T0" fmla="*/ 17 w 702"/>
                  <a:gd name="T1" fmla="*/ 0 h 1893"/>
                  <a:gd name="T2" fmla="*/ 0 w 702"/>
                  <a:gd name="T3" fmla="*/ 25 h 1893"/>
                  <a:gd name="T4" fmla="*/ 3 w 702"/>
                  <a:gd name="T5" fmla="*/ 26 h 1893"/>
                  <a:gd name="T6" fmla="*/ 21 w 702"/>
                  <a:gd name="T7" fmla="*/ 1 h 1893"/>
                  <a:gd name="T8" fmla="*/ 1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 name="Freeform 1184"/>
              <p:cNvSpPr>
                <a:spLocks/>
              </p:cNvSpPr>
              <p:nvPr/>
            </p:nvSpPr>
            <p:spPr bwMode="auto">
              <a:xfrm>
                <a:off x="3144" y="1745"/>
                <a:ext cx="458" cy="1182"/>
              </a:xfrm>
              <a:custGeom>
                <a:avLst/>
                <a:gdLst>
                  <a:gd name="T0" fmla="*/ 23 w 756"/>
                  <a:gd name="T1" fmla="*/ 0 h 2184"/>
                  <a:gd name="T2" fmla="*/ 4 w 756"/>
                  <a:gd name="T3" fmla="*/ 30 h 2184"/>
                  <a:gd name="T4" fmla="*/ 0 w 756"/>
                  <a:gd name="T5" fmla="*/ 29 h 2184"/>
                  <a:gd name="T6" fmla="*/ 18 w 756"/>
                  <a:gd name="T7" fmla="*/ 1 h 2184"/>
                  <a:gd name="T8" fmla="*/ 23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0" name="Freeform 1185"/>
              <p:cNvSpPr>
                <a:spLocks/>
              </p:cNvSpPr>
              <p:nvPr/>
            </p:nvSpPr>
            <p:spPr bwMode="auto">
              <a:xfrm>
                <a:off x="1732" y="2534"/>
                <a:ext cx="1680" cy="399"/>
              </a:xfrm>
              <a:custGeom>
                <a:avLst/>
                <a:gdLst>
                  <a:gd name="T0" fmla="*/ 1 w 2773"/>
                  <a:gd name="T1" fmla="*/ 0 h 738"/>
                  <a:gd name="T2" fmla="*/ 0 w 2773"/>
                  <a:gd name="T3" fmla="*/ 2 h 738"/>
                  <a:gd name="T4" fmla="*/ 73 w 2773"/>
                  <a:gd name="T5" fmla="*/ 10 h 738"/>
                  <a:gd name="T6" fmla="*/ 71 w 2773"/>
                  <a:gd name="T7" fmla="*/ 8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1" name="Freeform 1186"/>
              <p:cNvSpPr>
                <a:spLocks/>
              </p:cNvSpPr>
              <p:nvPr/>
            </p:nvSpPr>
            <p:spPr bwMode="auto">
              <a:xfrm>
                <a:off x="3195" y="1755"/>
                <a:ext cx="429" cy="1187"/>
              </a:xfrm>
              <a:custGeom>
                <a:avLst/>
                <a:gdLst>
                  <a:gd name="T0" fmla="*/ 39 w 637"/>
                  <a:gd name="T1" fmla="*/ 0 h 1659"/>
                  <a:gd name="T2" fmla="*/ 40 w 637"/>
                  <a:gd name="T3" fmla="*/ 0 h 1659"/>
                  <a:gd name="T4" fmla="*/ 4 w 637"/>
                  <a:gd name="T5" fmla="*/ 160 h 1659"/>
                  <a:gd name="T6" fmla="*/ 0 w 637"/>
                  <a:gd name="T7" fmla="*/ 157 h 1659"/>
                  <a:gd name="T8" fmla="*/ 39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2" name="Freeform 1187"/>
              <p:cNvSpPr>
                <a:spLocks/>
              </p:cNvSpPr>
              <p:nvPr/>
            </p:nvSpPr>
            <p:spPr bwMode="auto">
              <a:xfrm>
                <a:off x="1734" y="2587"/>
                <a:ext cx="1494" cy="394"/>
              </a:xfrm>
              <a:custGeom>
                <a:avLst/>
                <a:gdLst>
                  <a:gd name="T0" fmla="*/ 0 w 2216"/>
                  <a:gd name="T1" fmla="*/ 0 h 550"/>
                  <a:gd name="T2" fmla="*/ 1 w 2216"/>
                  <a:gd name="T3" fmla="*/ 6 h 550"/>
                  <a:gd name="T4" fmla="*/ 137 w 2216"/>
                  <a:gd name="T5" fmla="*/ 54 h 550"/>
                  <a:gd name="T6" fmla="*/ 140 w 2216"/>
                  <a:gd name="T7" fmla="*/ 48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53" name="Group 1188"/>
              <p:cNvGrpSpPr>
                <a:grpSpLocks/>
              </p:cNvGrpSpPr>
              <p:nvPr/>
            </p:nvGrpSpPr>
            <p:grpSpPr bwMode="auto">
              <a:xfrm>
                <a:off x="1709" y="3008"/>
                <a:ext cx="507" cy="234"/>
                <a:chOff x="1740" y="2642"/>
                <a:chExt cx="752" cy="327"/>
              </a:xfrm>
            </p:grpSpPr>
            <p:sp>
              <p:nvSpPr>
                <p:cNvPr id="160" name="Freeform 1189"/>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1" name="Freeform 1190"/>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2" name="Freeform 1191"/>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3" name="Freeform 1192"/>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4" name="Freeform 1193"/>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65" name="Freeform 1194"/>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54" name="Freeform 1195"/>
              <p:cNvSpPr>
                <a:spLocks/>
              </p:cNvSpPr>
              <p:nvPr/>
            </p:nvSpPr>
            <p:spPr bwMode="auto">
              <a:xfrm>
                <a:off x="2577" y="3043"/>
                <a:ext cx="614" cy="514"/>
              </a:xfrm>
              <a:custGeom>
                <a:avLst/>
                <a:gdLst>
                  <a:gd name="T0" fmla="*/ 1 w 990"/>
                  <a:gd name="T1" fmla="*/ 36 h 792"/>
                  <a:gd name="T2" fmla="*/ 35 w 990"/>
                  <a:gd name="T3" fmla="*/ 0 h 792"/>
                  <a:gd name="T4" fmla="*/ 35 w 990"/>
                  <a:gd name="T5" fmla="*/ 3 h 792"/>
                  <a:gd name="T6" fmla="*/ 0 w 990"/>
                  <a:gd name="T7" fmla="*/ 39 h 792"/>
                  <a:gd name="T8" fmla="*/ 1 w 990"/>
                  <a:gd name="T9" fmla="*/ 36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5" name="Freeform 1196"/>
              <p:cNvSpPr>
                <a:spLocks/>
              </p:cNvSpPr>
              <p:nvPr/>
            </p:nvSpPr>
            <p:spPr bwMode="auto">
              <a:xfrm>
                <a:off x="1010" y="3084"/>
                <a:ext cx="1571" cy="469"/>
              </a:xfrm>
              <a:custGeom>
                <a:avLst/>
                <a:gdLst>
                  <a:gd name="T0" fmla="*/ 1 w 2532"/>
                  <a:gd name="T1" fmla="*/ 0 h 723"/>
                  <a:gd name="T2" fmla="*/ 1 w 2532"/>
                  <a:gd name="T3" fmla="*/ 0 h 723"/>
                  <a:gd name="T4" fmla="*/ 90 w 2532"/>
                  <a:gd name="T5" fmla="*/ 33 h 723"/>
                  <a:gd name="T6" fmla="*/ 90 w 2532"/>
                  <a:gd name="T7" fmla="*/ 3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6" name="Freeform 1197"/>
              <p:cNvSpPr>
                <a:spLocks/>
              </p:cNvSpPr>
              <p:nvPr/>
            </p:nvSpPr>
            <p:spPr bwMode="auto">
              <a:xfrm>
                <a:off x="1011" y="2998"/>
                <a:ext cx="17" cy="95"/>
              </a:xfrm>
              <a:custGeom>
                <a:avLst/>
                <a:gdLst>
                  <a:gd name="T0" fmla="*/ 1 w 26"/>
                  <a:gd name="T1" fmla="*/ 1 h 147"/>
                  <a:gd name="T2" fmla="*/ 1 w 26"/>
                  <a:gd name="T3" fmla="*/ 6 h 147"/>
                  <a:gd name="T4" fmla="*/ 0 w 26"/>
                  <a:gd name="T5" fmla="*/ 6 h 147"/>
                  <a:gd name="T6" fmla="*/ 1 w 26"/>
                  <a:gd name="T7" fmla="*/ 0 h 147"/>
                  <a:gd name="T8" fmla="*/ 1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7" name="Freeform 1198"/>
              <p:cNvSpPr>
                <a:spLocks/>
              </p:cNvSpPr>
              <p:nvPr/>
            </p:nvSpPr>
            <p:spPr bwMode="auto">
              <a:xfrm>
                <a:off x="1012" y="2611"/>
                <a:ext cx="730" cy="393"/>
              </a:xfrm>
              <a:custGeom>
                <a:avLst/>
                <a:gdLst>
                  <a:gd name="T0" fmla="*/ 42 w 1176"/>
                  <a:gd name="T1" fmla="*/ 0 h 606"/>
                  <a:gd name="T2" fmla="*/ 0 w 1176"/>
                  <a:gd name="T3" fmla="*/ 29 h 606"/>
                  <a:gd name="T4" fmla="*/ 1 w 1176"/>
                  <a:gd name="T5" fmla="*/ 29 h 606"/>
                  <a:gd name="T6" fmla="*/ 42 w 1176"/>
                  <a:gd name="T7" fmla="*/ 1 h 606"/>
                  <a:gd name="T8" fmla="*/ 42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8" name="Freeform 1199"/>
              <p:cNvSpPr>
                <a:spLocks/>
              </p:cNvSpPr>
              <p:nvPr/>
            </p:nvSpPr>
            <p:spPr bwMode="auto">
              <a:xfrm>
                <a:off x="1061" y="3018"/>
                <a:ext cx="1490" cy="451"/>
              </a:xfrm>
              <a:custGeom>
                <a:avLst/>
                <a:gdLst>
                  <a:gd name="T0" fmla="*/ 1 w 2532"/>
                  <a:gd name="T1" fmla="*/ 0 h 723"/>
                  <a:gd name="T2" fmla="*/ 1 w 2532"/>
                  <a:gd name="T3" fmla="*/ 0 h 723"/>
                  <a:gd name="T4" fmla="*/ 62 w 2532"/>
                  <a:gd name="T5" fmla="*/ 25 h 723"/>
                  <a:gd name="T6" fmla="*/ 62 w 2532"/>
                  <a:gd name="T7" fmla="*/ 2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9" name="Freeform 1200"/>
              <p:cNvSpPr>
                <a:spLocks/>
              </p:cNvSpPr>
              <p:nvPr/>
            </p:nvSpPr>
            <p:spPr bwMode="auto">
              <a:xfrm flipV="1">
                <a:off x="2549" y="2986"/>
                <a:ext cx="608" cy="467"/>
              </a:xfrm>
              <a:custGeom>
                <a:avLst/>
                <a:gdLst>
                  <a:gd name="T0" fmla="*/ 0 w 2532"/>
                  <a:gd name="T1" fmla="*/ 0 h 723"/>
                  <a:gd name="T2" fmla="*/ 0 w 2532"/>
                  <a:gd name="T3" fmla="*/ 0 h 723"/>
                  <a:gd name="T4" fmla="*/ 0 w 2532"/>
                  <a:gd name="T5" fmla="*/ 32 h 723"/>
                  <a:gd name="T6" fmla="*/ 0 w 2532"/>
                  <a:gd name="T7" fmla="*/ 3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8" name="Group 1201"/>
            <p:cNvGrpSpPr>
              <a:grpSpLocks/>
            </p:cNvGrpSpPr>
            <p:nvPr/>
          </p:nvGrpSpPr>
          <p:grpSpPr bwMode="auto">
            <a:xfrm>
              <a:off x="4329" y="3456"/>
              <a:ext cx="299" cy="257"/>
              <a:chOff x="877" y="1008"/>
              <a:chExt cx="2747" cy="2591"/>
            </a:xfrm>
          </p:grpSpPr>
          <p:pic>
            <p:nvPicPr>
              <p:cNvPr id="120" name="Picture 1202"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203" descr="laptop_keyboar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1204"/>
              <p:cNvSpPr>
                <a:spLocks/>
              </p:cNvSpPr>
              <p:nvPr/>
            </p:nvSpPr>
            <p:spPr bwMode="auto">
              <a:xfrm>
                <a:off x="1753" y="1603"/>
                <a:ext cx="1807" cy="1322"/>
              </a:xfrm>
              <a:custGeom>
                <a:avLst/>
                <a:gdLst>
                  <a:gd name="T0" fmla="*/ 16 w 2982"/>
                  <a:gd name="T1" fmla="*/ 0 h 2442"/>
                  <a:gd name="T2" fmla="*/ 0 w 2982"/>
                  <a:gd name="T3" fmla="*/ 24 h 2442"/>
                  <a:gd name="T4" fmla="*/ 72 w 2982"/>
                  <a:gd name="T5" fmla="*/ 34 h 2442"/>
                  <a:gd name="T6" fmla="*/ 90 w 2982"/>
                  <a:gd name="T7" fmla="*/ 4 h 2442"/>
                  <a:gd name="T8" fmla="*/ 16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23" name="Picture 1205" descr="screen"/>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Freeform 1206"/>
              <p:cNvSpPr>
                <a:spLocks/>
              </p:cNvSpPr>
              <p:nvPr/>
            </p:nvSpPr>
            <p:spPr bwMode="auto">
              <a:xfrm>
                <a:off x="2082" y="1564"/>
                <a:ext cx="1531" cy="246"/>
              </a:xfrm>
              <a:custGeom>
                <a:avLst/>
                <a:gdLst>
                  <a:gd name="T0" fmla="*/ 1 w 2528"/>
                  <a:gd name="T1" fmla="*/ 0 h 455"/>
                  <a:gd name="T2" fmla="*/ 76 w 2528"/>
                  <a:gd name="T3" fmla="*/ 5 h 455"/>
                  <a:gd name="T4" fmla="*/ 74 w 2528"/>
                  <a:gd name="T5" fmla="*/ 6 h 455"/>
                  <a:gd name="T6" fmla="*/ 0 w 2528"/>
                  <a:gd name="T7" fmla="*/ 1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5" name="Freeform 1207"/>
              <p:cNvSpPr>
                <a:spLocks/>
              </p:cNvSpPr>
              <p:nvPr/>
            </p:nvSpPr>
            <p:spPr bwMode="auto">
              <a:xfrm>
                <a:off x="1737" y="1562"/>
                <a:ext cx="425" cy="1024"/>
              </a:xfrm>
              <a:custGeom>
                <a:avLst/>
                <a:gdLst>
                  <a:gd name="T0" fmla="*/ 17 w 702"/>
                  <a:gd name="T1" fmla="*/ 0 h 1893"/>
                  <a:gd name="T2" fmla="*/ 0 w 702"/>
                  <a:gd name="T3" fmla="*/ 25 h 1893"/>
                  <a:gd name="T4" fmla="*/ 3 w 702"/>
                  <a:gd name="T5" fmla="*/ 26 h 1893"/>
                  <a:gd name="T6" fmla="*/ 21 w 702"/>
                  <a:gd name="T7" fmla="*/ 1 h 1893"/>
                  <a:gd name="T8" fmla="*/ 1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6" name="Freeform 1208"/>
              <p:cNvSpPr>
                <a:spLocks/>
              </p:cNvSpPr>
              <p:nvPr/>
            </p:nvSpPr>
            <p:spPr bwMode="auto">
              <a:xfrm>
                <a:off x="3144" y="1745"/>
                <a:ext cx="458" cy="1182"/>
              </a:xfrm>
              <a:custGeom>
                <a:avLst/>
                <a:gdLst>
                  <a:gd name="T0" fmla="*/ 23 w 756"/>
                  <a:gd name="T1" fmla="*/ 0 h 2184"/>
                  <a:gd name="T2" fmla="*/ 4 w 756"/>
                  <a:gd name="T3" fmla="*/ 30 h 2184"/>
                  <a:gd name="T4" fmla="*/ 0 w 756"/>
                  <a:gd name="T5" fmla="*/ 29 h 2184"/>
                  <a:gd name="T6" fmla="*/ 18 w 756"/>
                  <a:gd name="T7" fmla="*/ 1 h 2184"/>
                  <a:gd name="T8" fmla="*/ 23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7" name="Freeform 1209"/>
              <p:cNvSpPr>
                <a:spLocks/>
              </p:cNvSpPr>
              <p:nvPr/>
            </p:nvSpPr>
            <p:spPr bwMode="auto">
              <a:xfrm>
                <a:off x="1732" y="2534"/>
                <a:ext cx="1680" cy="399"/>
              </a:xfrm>
              <a:custGeom>
                <a:avLst/>
                <a:gdLst>
                  <a:gd name="T0" fmla="*/ 1 w 2773"/>
                  <a:gd name="T1" fmla="*/ 0 h 738"/>
                  <a:gd name="T2" fmla="*/ 0 w 2773"/>
                  <a:gd name="T3" fmla="*/ 2 h 738"/>
                  <a:gd name="T4" fmla="*/ 73 w 2773"/>
                  <a:gd name="T5" fmla="*/ 10 h 738"/>
                  <a:gd name="T6" fmla="*/ 71 w 2773"/>
                  <a:gd name="T7" fmla="*/ 8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8" name="Freeform 1210"/>
              <p:cNvSpPr>
                <a:spLocks/>
              </p:cNvSpPr>
              <p:nvPr/>
            </p:nvSpPr>
            <p:spPr bwMode="auto">
              <a:xfrm>
                <a:off x="3195" y="1755"/>
                <a:ext cx="429" cy="1187"/>
              </a:xfrm>
              <a:custGeom>
                <a:avLst/>
                <a:gdLst>
                  <a:gd name="T0" fmla="*/ 39 w 637"/>
                  <a:gd name="T1" fmla="*/ 0 h 1659"/>
                  <a:gd name="T2" fmla="*/ 40 w 637"/>
                  <a:gd name="T3" fmla="*/ 0 h 1659"/>
                  <a:gd name="T4" fmla="*/ 4 w 637"/>
                  <a:gd name="T5" fmla="*/ 160 h 1659"/>
                  <a:gd name="T6" fmla="*/ 0 w 637"/>
                  <a:gd name="T7" fmla="*/ 157 h 1659"/>
                  <a:gd name="T8" fmla="*/ 39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9" name="Freeform 1211"/>
              <p:cNvSpPr>
                <a:spLocks/>
              </p:cNvSpPr>
              <p:nvPr/>
            </p:nvSpPr>
            <p:spPr bwMode="auto">
              <a:xfrm>
                <a:off x="1734" y="2587"/>
                <a:ext cx="1494" cy="394"/>
              </a:xfrm>
              <a:custGeom>
                <a:avLst/>
                <a:gdLst>
                  <a:gd name="T0" fmla="*/ 0 w 2216"/>
                  <a:gd name="T1" fmla="*/ 0 h 550"/>
                  <a:gd name="T2" fmla="*/ 1 w 2216"/>
                  <a:gd name="T3" fmla="*/ 6 h 550"/>
                  <a:gd name="T4" fmla="*/ 137 w 2216"/>
                  <a:gd name="T5" fmla="*/ 54 h 550"/>
                  <a:gd name="T6" fmla="*/ 140 w 2216"/>
                  <a:gd name="T7" fmla="*/ 48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30" name="Group 1212"/>
              <p:cNvGrpSpPr>
                <a:grpSpLocks/>
              </p:cNvGrpSpPr>
              <p:nvPr/>
            </p:nvGrpSpPr>
            <p:grpSpPr bwMode="auto">
              <a:xfrm>
                <a:off x="1709" y="3008"/>
                <a:ext cx="507" cy="234"/>
                <a:chOff x="1740" y="2642"/>
                <a:chExt cx="752" cy="327"/>
              </a:xfrm>
            </p:grpSpPr>
            <p:sp>
              <p:nvSpPr>
                <p:cNvPr id="137" name="Freeform 1213"/>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8" name="Freeform 1214"/>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9" name="Freeform 1215"/>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0" name="Freeform 1216"/>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1" name="Freeform 1217"/>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2" name="Freeform 1218"/>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31" name="Freeform 1219"/>
              <p:cNvSpPr>
                <a:spLocks/>
              </p:cNvSpPr>
              <p:nvPr/>
            </p:nvSpPr>
            <p:spPr bwMode="auto">
              <a:xfrm>
                <a:off x="2577" y="3043"/>
                <a:ext cx="614" cy="514"/>
              </a:xfrm>
              <a:custGeom>
                <a:avLst/>
                <a:gdLst>
                  <a:gd name="T0" fmla="*/ 1 w 990"/>
                  <a:gd name="T1" fmla="*/ 36 h 792"/>
                  <a:gd name="T2" fmla="*/ 35 w 990"/>
                  <a:gd name="T3" fmla="*/ 0 h 792"/>
                  <a:gd name="T4" fmla="*/ 35 w 990"/>
                  <a:gd name="T5" fmla="*/ 3 h 792"/>
                  <a:gd name="T6" fmla="*/ 0 w 990"/>
                  <a:gd name="T7" fmla="*/ 39 h 792"/>
                  <a:gd name="T8" fmla="*/ 1 w 990"/>
                  <a:gd name="T9" fmla="*/ 36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2" name="Freeform 1220"/>
              <p:cNvSpPr>
                <a:spLocks/>
              </p:cNvSpPr>
              <p:nvPr/>
            </p:nvSpPr>
            <p:spPr bwMode="auto">
              <a:xfrm>
                <a:off x="1010" y="3084"/>
                <a:ext cx="1571" cy="469"/>
              </a:xfrm>
              <a:custGeom>
                <a:avLst/>
                <a:gdLst>
                  <a:gd name="T0" fmla="*/ 1 w 2532"/>
                  <a:gd name="T1" fmla="*/ 0 h 723"/>
                  <a:gd name="T2" fmla="*/ 1 w 2532"/>
                  <a:gd name="T3" fmla="*/ 0 h 723"/>
                  <a:gd name="T4" fmla="*/ 90 w 2532"/>
                  <a:gd name="T5" fmla="*/ 33 h 723"/>
                  <a:gd name="T6" fmla="*/ 90 w 2532"/>
                  <a:gd name="T7" fmla="*/ 3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3" name="Freeform 1221"/>
              <p:cNvSpPr>
                <a:spLocks/>
              </p:cNvSpPr>
              <p:nvPr/>
            </p:nvSpPr>
            <p:spPr bwMode="auto">
              <a:xfrm>
                <a:off x="1011" y="2998"/>
                <a:ext cx="17" cy="95"/>
              </a:xfrm>
              <a:custGeom>
                <a:avLst/>
                <a:gdLst>
                  <a:gd name="T0" fmla="*/ 1 w 26"/>
                  <a:gd name="T1" fmla="*/ 1 h 147"/>
                  <a:gd name="T2" fmla="*/ 1 w 26"/>
                  <a:gd name="T3" fmla="*/ 6 h 147"/>
                  <a:gd name="T4" fmla="*/ 0 w 26"/>
                  <a:gd name="T5" fmla="*/ 6 h 147"/>
                  <a:gd name="T6" fmla="*/ 1 w 26"/>
                  <a:gd name="T7" fmla="*/ 0 h 147"/>
                  <a:gd name="T8" fmla="*/ 1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4" name="Freeform 1222"/>
              <p:cNvSpPr>
                <a:spLocks/>
              </p:cNvSpPr>
              <p:nvPr/>
            </p:nvSpPr>
            <p:spPr bwMode="auto">
              <a:xfrm>
                <a:off x="1012" y="2611"/>
                <a:ext cx="730" cy="393"/>
              </a:xfrm>
              <a:custGeom>
                <a:avLst/>
                <a:gdLst>
                  <a:gd name="T0" fmla="*/ 42 w 1176"/>
                  <a:gd name="T1" fmla="*/ 0 h 606"/>
                  <a:gd name="T2" fmla="*/ 0 w 1176"/>
                  <a:gd name="T3" fmla="*/ 29 h 606"/>
                  <a:gd name="T4" fmla="*/ 1 w 1176"/>
                  <a:gd name="T5" fmla="*/ 29 h 606"/>
                  <a:gd name="T6" fmla="*/ 42 w 1176"/>
                  <a:gd name="T7" fmla="*/ 1 h 606"/>
                  <a:gd name="T8" fmla="*/ 42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5" name="Freeform 1223"/>
              <p:cNvSpPr>
                <a:spLocks/>
              </p:cNvSpPr>
              <p:nvPr/>
            </p:nvSpPr>
            <p:spPr bwMode="auto">
              <a:xfrm>
                <a:off x="1061" y="3018"/>
                <a:ext cx="1490" cy="451"/>
              </a:xfrm>
              <a:custGeom>
                <a:avLst/>
                <a:gdLst>
                  <a:gd name="T0" fmla="*/ 1 w 2532"/>
                  <a:gd name="T1" fmla="*/ 0 h 723"/>
                  <a:gd name="T2" fmla="*/ 1 w 2532"/>
                  <a:gd name="T3" fmla="*/ 0 h 723"/>
                  <a:gd name="T4" fmla="*/ 62 w 2532"/>
                  <a:gd name="T5" fmla="*/ 25 h 723"/>
                  <a:gd name="T6" fmla="*/ 62 w 2532"/>
                  <a:gd name="T7" fmla="*/ 2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6" name="Freeform 1224"/>
              <p:cNvSpPr>
                <a:spLocks/>
              </p:cNvSpPr>
              <p:nvPr/>
            </p:nvSpPr>
            <p:spPr bwMode="auto">
              <a:xfrm flipV="1">
                <a:off x="2549" y="2986"/>
                <a:ext cx="608" cy="467"/>
              </a:xfrm>
              <a:custGeom>
                <a:avLst/>
                <a:gdLst>
                  <a:gd name="T0" fmla="*/ 0 w 2532"/>
                  <a:gd name="T1" fmla="*/ 0 h 723"/>
                  <a:gd name="T2" fmla="*/ 0 w 2532"/>
                  <a:gd name="T3" fmla="*/ 0 h 723"/>
                  <a:gd name="T4" fmla="*/ 0 w 2532"/>
                  <a:gd name="T5" fmla="*/ 32 h 723"/>
                  <a:gd name="T6" fmla="*/ 0 w 2532"/>
                  <a:gd name="T7" fmla="*/ 3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69" name="Group 1225"/>
            <p:cNvGrpSpPr>
              <a:grpSpLocks/>
            </p:cNvGrpSpPr>
            <p:nvPr/>
          </p:nvGrpSpPr>
          <p:grpSpPr bwMode="auto">
            <a:xfrm>
              <a:off x="3503" y="1916"/>
              <a:ext cx="280" cy="257"/>
              <a:chOff x="877" y="1008"/>
              <a:chExt cx="2747" cy="2591"/>
            </a:xfrm>
          </p:grpSpPr>
          <p:pic>
            <p:nvPicPr>
              <p:cNvPr id="97" name="Picture 1226" descr="antenna_stylized"/>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Picture 1227" descr="laptop_keyboard"/>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Freeform 1228"/>
              <p:cNvSpPr>
                <a:spLocks/>
              </p:cNvSpPr>
              <p:nvPr/>
            </p:nvSpPr>
            <p:spPr bwMode="auto">
              <a:xfrm>
                <a:off x="1753" y="1603"/>
                <a:ext cx="1807" cy="1322"/>
              </a:xfrm>
              <a:custGeom>
                <a:avLst/>
                <a:gdLst>
                  <a:gd name="T0" fmla="*/ 16 w 2982"/>
                  <a:gd name="T1" fmla="*/ 0 h 2442"/>
                  <a:gd name="T2" fmla="*/ 0 w 2982"/>
                  <a:gd name="T3" fmla="*/ 24 h 2442"/>
                  <a:gd name="T4" fmla="*/ 72 w 2982"/>
                  <a:gd name="T5" fmla="*/ 34 h 2442"/>
                  <a:gd name="T6" fmla="*/ 90 w 2982"/>
                  <a:gd name="T7" fmla="*/ 4 h 2442"/>
                  <a:gd name="T8" fmla="*/ 16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00" name="Picture 1229" descr="screen"/>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Freeform 1230"/>
              <p:cNvSpPr>
                <a:spLocks/>
              </p:cNvSpPr>
              <p:nvPr/>
            </p:nvSpPr>
            <p:spPr bwMode="auto">
              <a:xfrm>
                <a:off x="2082" y="1564"/>
                <a:ext cx="1531" cy="246"/>
              </a:xfrm>
              <a:custGeom>
                <a:avLst/>
                <a:gdLst>
                  <a:gd name="T0" fmla="*/ 1 w 2528"/>
                  <a:gd name="T1" fmla="*/ 0 h 455"/>
                  <a:gd name="T2" fmla="*/ 76 w 2528"/>
                  <a:gd name="T3" fmla="*/ 5 h 455"/>
                  <a:gd name="T4" fmla="*/ 74 w 2528"/>
                  <a:gd name="T5" fmla="*/ 6 h 455"/>
                  <a:gd name="T6" fmla="*/ 0 w 2528"/>
                  <a:gd name="T7" fmla="*/ 1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2" name="Freeform 1231"/>
              <p:cNvSpPr>
                <a:spLocks/>
              </p:cNvSpPr>
              <p:nvPr/>
            </p:nvSpPr>
            <p:spPr bwMode="auto">
              <a:xfrm>
                <a:off x="1737" y="1562"/>
                <a:ext cx="425" cy="1024"/>
              </a:xfrm>
              <a:custGeom>
                <a:avLst/>
                <a:gdLst>
                  <a:gd name="T0" fmla="*/ 17 w 702"/>
                  <a:gd name="T1" fmla="*/ 0 h 1893"/>
                  <a:gd name="T2" fmla="*/ 0 w 702"/>
                  <a:gd name="T3" fmla="*/ 25 h 1893"/>
                  <a:gd name="T4" fmla="*/ 3 w 702"/>
                  <a:gd name="T5" fmla="*/ 26 h 1893"/>
                  <a:gd name="T6" fmla="*/ 21 w 702"/>
                  <a:gd name="T7" fmla="*/ 1 h 1893"/>
                  <a:gd name="T8" fmla="*/ 1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3" name="Freeform 1232"/>
              <p:cNvSpPr>
                <a:spLocks/>
              </p:cNvSpPr>
              <p:nvPr/>
            </p:nvSpPr>
            <p:spPr bwMode="auto">
              <a:xfrm>
                <a:off x="3144" y="1745"/>
                <a:ext cx="458" cy="1182"/>
              </a:xfrm>
              <a:custGeom>
                <a:avLst/>
                <a:gdLst>
                  <a:gd name="T0" fmla="*/ 23 w 756"/>
                  <a:gd name="T1" fmla="*/ 0 h 2184"/>
                  <a:gd name="T2" fmla="*/ 4 w 756"/>
                  <a:gd name="T3" fmla="*/ 30 h 2184"/>
                  <a:gd name="T4" fmla="*/ 0 w 756"/>
                  <a:gd name="T5" fmla="*/ 29 h 2184"/>
                  <a:gd name="T6" fmla="*/ 18 w 756"/>
                  <a:gd name="T7" fmla="*/ 1 h 2184"/>
                  <a:gd name="T8" fmla="*/ 23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4" name="Freeform 1233"/>
              <p:cNvSpPr>
                <a:spLocks/>
              </p:cNvSpPr>
              <p:nvPr/>
            </p:nvSpPr>
            <p:spPr bwMode="auto">
              <a:xfrm>
                <a:off x="1732" y="2534"/>
                <a:ext cx="1680" cy="399"/>
              </a:xfrm>
              <a:custGeom>
                <a:avLst/>
                <a:gdLst>
                  <a:gd name="T0" fmla="*/ 1 w 2773"/>
                  <a:gd name="T1" fmla="*/ 0 h 738"/>
                  <a:gd name="T2" fmla="*/ 0 w 2773"/>
                  <a:gd name="T3" fmla="*/ 2 h 738"/>
                  <a:gd name="T4" fmla="*/ 73 w 2773"/>
                  <a:gd name="T5" fmla="*/ 10 h 738"/>
                  <a:gd name="T6" fmla="*/ 71 w 2773"/>
                  <a:gd name="T7" fmla="*/ 8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5" name="Freeform 1234"/>
              <p:cNvSpPr>
                <a:spLocks/>
              </p:cNvSpPr>
              <p:nvPr/>
            </p:nvSpPr>
            <p:spPr bwMode="auto">
              <a:xfrm>
                <a:off x="3195" y="1755"/>
                <a:ext cx="429" cy="1187"/>
              </a:xfrm>
              <a:custGeom>
                <a:avLst/>
                <a:gdLst>
                  <a:gd name="T0" fmla="*/ 39 w 637"/>
                  <a:gd name="T1" fmla="*/ 0 h 1659"/>
                  <a:gd name="T2" fmla="*/ 40 w 637"/>
                  <a:gd name="T3" fmla="*/ 0 h 1659"/>
                  <a:gd name="T4" fmla="*/ 4 w 637"/>
                  <a:gd name="T5" fmla="*/ 160 h 1659"/>
                  <a:gd name="T6" fmla="*/ 0 w 637"/>
                  <a:gd name="T7" fmla="*/ 157 h 1659"/>
                  <a:gd name="T8" fmla="*/ 39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6" name="Freeform 1235"/>
              <p:cNvSpPr>
                <a:spLocks/>
              </p:cNvSpPr>
              <p:nvPr/>
            </p:nvSpPr>
            <p:spPr bwMode="auto">
              <a:xfrm>
                <a:off x="1734" y="2587"/>
                <a:ext cx="1494" cy="394"/>
              </a:xfrm>
              <a:custGeom>
                <a:avLst/>
                <a:gdLst>
                  <a:gd name="T0" fmla="*/ 0 w 2216"/>
                  <a:gd name="T1" fmla="*/ 0 h 550"/>
                  <a:gd name="T2" fmla="*/ 1 w 2216"/>
                  <a:gd name="T3" fmla="*/ 6 h 550"/>
                  <a:gd name="T4" fmla="*/ 137 w 2216"/>
                  <a:gd name="T5" fmla="*/ 54 h 550"/>
                  <a:gd name="T6" fmla="*/ 140 w 2216"/>
                  <a:gd name="T7" fmla="*/ 48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07" name="Group 1236"/>
              <p:cNvGrpSpPr>
                <a:grpSpLocks/>
              </p:cNvGrpSpPr>
              <p:nvPr/>
            </p:nvGrpSpPr>
            <p:grpSpPr bwMode="auto">
              <a:xfrm>
                <a:off x="1709" y="3008"/>
                <a:ext cx="507" cy="234"/>
                <a:chOff x="1740" y="2642"/>
                <a:chExt cx="752" cy="327"/>
              </a:xfrm>
            </p:grpSpPr>
            <p:sp>
              <p:nvSpPr>
                <p:cNvPr id="114" name="Freeform 1237"/>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5" name="Freeform 1238"/>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6" name="Freeform 1239"/>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7" name="Freeform 1240"/>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8" name="Freeform 1241"/>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9" name="Freeform 1242"/>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08" name="Freeform 1243"/>
              <p:cNvSpPr>
                <a:spLocks/>
              </p:cNvSpPr>
              <p:nvPr/>
            </p:nvSpPr>
            <p:spPr bwMode="auto">
              <a:xfrm>
                <a:off x="2577" y="3043"/>
                <a:ext cx="614" cy="514"/>
              </a:xfrm>
              <a:custGeom>
                <a:avLst/>
                <a:gdLst>
                  <a:gd name="T0" fmla="*/ 1 w 990"/>
                  <a:gd name="T1" fmla="*/ 36 h 792"/>
                  <a:gd name="T2" fmla="*/ 35 w 990"/>
                  <a:gd name="T3" fmla="*/ 0 h 792"/>
                  <a:gd name="T4" fmla="*/ 35 w 990"/>
                  <a:gd name="T5" fmla="*/ 3 h 792"/>
                  <a:gd name="T6" fmla="*/ 0 w 990"/>
                  <a:gd name="T7" fmla="*/ 39 h 792"/>
                  <a:gd name="T8" fmla="*/ 1 w 990"/>
                  <a:gd name="T9" fmla="*/ 36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9" name="Freeform 1244"/>
              <p:cNvSpPr>
                <a:spLocks/>
              </p:cNvSpPr>
              <p:nvPr/>
            </p:nvSpPr>
            <p:spPr bwMode="auto">
              <a:xfrm>
                <a:off x="1010" y="3084"/>
                <a:ext cx="1571" cy="469"/>
              </a:xfrm>
              <a:custGeom>
                <a:avLst/>
                <a:gdLst>
                  <a:gd name="T0" fmla="*/ 1 w 2532"/>
                  <a:gd name="T1" fmla="*/ 0 h 723"/>
                  <a:gd name="T2" fmla="*/ 1 w 2532"/>
                  <a:gd name="T3" fmla="*/ 0 h 723"/>
                  <a:gd name="T4" fmla="*/ 90 w 2532"/>
                  <a:gd name="T5" fmla="*/ 33 h 723"/>
                  <a:gd name="T6" fmla="*/ 90 w 2532"/>
                  <a:gd name="T7" fmla="*/ 3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0" name="Freeform 1245"/>
              <p:cNvSpPr>
                <a:spLocks/>
              </p:cNvSpPr>
              <p:nvPr/>
            </p:nvSpPr>
            <p:spPr bwMode="auto">
              <a:xfrm>
                <a:off x="1011" y="2998"/>
                <a:ext cx="17" cy="95"/>
              </a:xfrm>
              <a:custGeom>
                <a:avLst/>
                <a:gdLst>
                  <a:gd name="T0" fmla="*/ 1 w 26"/>
                  <a:gd name="T1" fmla="*/ 1 h 147"/>
                  <a:gd name="T2" fmla="*/ 1 w 26"/>
                  <a:gd name="T3" fmla="*/ 6 h 147"/>
                  <a:gd name="T4" fmla="*/ 0 w 26"/>
                  <a:gd name="T5" fmla="*/ 6 h 147"/>
                  <a:gd name="T6" fmla="*/ 1 w 26"/>
                  <a:gd name="T7" fmla="*/ 0 h 147"/>
                  <a:gd name="T8" fmla="*/ 1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1" name="Freeform 1246"/>
              <p:cNvSpPr>
                <a:spLocks/>
              </p:cNvSpPr>
              <p:nvPr/>
            </p:nvSpPr>
            <p:spPr bwMode="auto">
              <a:xfrm>
                <a:off x="1012" y="2611"/>
                <a:ext cx="730" cy="393"/>
              </a:xfrm>
              <a:custGeom>
                <a:avLst/>
                <a:gdLst>
                  <a:gd name="T0" fmla="*/ 42 w 1176"/>
                  <a:gd name="T1" fmla="*/ 0 h 606"/>
                  <a:gd name="T2" fmla="*/ 0 w 1176"/>
                  <a:gd name="T3" fmla="*/ 29 h 606"/>
                  <a:gd name="T4" fmla="*/ 1 w 1176"/>
                  <a:gd name="T5" fmla="*/ 29 h 606"/>
                  <a:gd name="T6" fmla="*/ 42 w 1176"/>
                  <a:gd name="T7" fmla="*/ 1 h 606"/>
                  <a:gd name="T8" fmla="*/ 42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 name="Freeform 1247"/>
              <p:cNvSpPr>
                <a:spLocks/>
              </p:cNvSpPr>
              <p:nvPr/>
            </p:nvSpPr>
            <p:spPr bwMode="auto">
              <a:xfrm>
                <a:off x="1061" y="3018"/>
                <a:ext cx="1490" cy="451"/>
              </a:xfrm>
              <a:custGeom>
                <a:avLst/>
                <a:gdLst>
                  <a:gd name="T0" fmla="*/ 1 w 2532"/>
                  <a:gd name="T1" fmla="*/ 0 h 723"/>
                  <a:gd name="T2" fmla="*/ 1 w 2532"/>
                  <a:gd name="T3" fmla="*/ 0 h 723"/>
                  <a:gd name="T4" fmla="*/ 62 w 2532"/>
                  <a:gd name="T5" fmla="*/ 25 h 723"/>
                  <a:gd name="T6" fmla="*/ 62 w 2532"/>
                  <a:gd name="T7" fmla="*/ 2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 name="Freeform 1248"/>
              <p:cNvSpPr>
                <a:spLocks/>
              </p:cNvSpPr>
              <p:nvPr/>
            </p:nvSpPr>
            <p:spPr bwMode="auto">
              <a:xfrm flipV="1">
                <a:off x="2549" y="2986"/>
                <a:ext cx="608" cy="467"/>
              </a:xfrm>
              <a:custGeom>
                <a:avLst/>
                <a:gdLst>
                  <a:gd name="T0" fmla="*/ 0 w 2532"/>
                  <a:gd name="T1" fmla="*/ 0 h 723"/>
                  <a:gd name="T2" fmla="*/ 0 w 2532"/>
                  <a:gd name="T3" fmla="*/ 0 h 723"/>
                  <a:gd name="T4" fmla="*/ 0 w 2532"/>
                  <a:gd name="T5" fmla="*/ 32 h 723"/>
                  <a:gd name="T6" fmla="*/ 0 w 2532"/>
                  <a:gd name="T7" fmla="*/ 3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0" name="Group 1249"/>
            <p:cNvGrpSpPr>
              <a:grpSpLocks/>
            </p:cNvGrpSpPr>
            <p:nvPr/>
          </p:nvGrpSpPr>
          <p:grpSpPr bwMode="auto">
            <a:xfrm flipH="1">
              <a:off x="3742" y="2030"/>
              <a:ext cx="261" cy="235"/>
              <a:chOff x="2839" y="3501"/>
              <a:chExt cx="755" cy="803"/>
            </a:xfrm>
          </p:grpSpPr>
          <p:pic>
            <p:nvPicPr>
              <p:cNvPr id="95" name="Picture 1250"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Freeform 125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71" name="Group 1252"/>
            <p:cNvGrpSpPr>
              <a:grpSpLocks/>
            </p:cNvGrpSpPr>
            <p:nvPr/>
          </p:nvGrpSpPr>
          <p:grpSpPr bwMode="auto">
            <a:xfrm>
              <a:off x="4603" y="3416"/>
              <a:ext cx="299" cy="257"/>
              <a:chOff x="877" y="1008"/>
              <a:chExt cx="2747" cy="2591"/>
            </a:xfrm>
          </p:grpSpPr>
          <p:pic>
            <p:nvPicPr>
              <p:cNvPr id="72" name="Picture 1253" descr="antenna_stylize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Picture 1254" descr="laptop_keyboar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255"/>
              <p:cNvSpPr>
                <a:spLocks/>
              </p:cNvSpPr>
              <p:nvPr/>
            </p:nvSpPr>
            <p:spPr bwMode="auto">
              <a:xfrm>
                <a:off x="1753" y="1603"/>
                <a:ext cx="1807" cy="1322"/>
              </a:xfrm>
              <a:custGeom>
                <a:avLst/>
                <a:gdLst>
                  <a:gd name="T0" fmla="*/ 16 w 2982"/>
                  <a:gd name="T1" fmla="*/ 0 h 2442"/>
                  <a:gd name="T2" fmla="*/ 0 w 2982"/>
                  <a:gd name="T3" fmla="*/ 24 h 2442"/>
                  <a:gd name="T4" fmla="*/ 72 w 2982"/>
                  <a:gd name="T5" fmla="*/ 34 h 2442"/>
                  <a:gd name="T6" fmla="*/ 90 w 2982"/>
                  <a:gd name="T7" fmla="*/ 4 h 2442"/>
                  <a:gd name="T8" fmla="*/ 16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75" name="Picture 1256" descr="screen"/>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Freeform 1257"/>
              <p:cNvSpPr>
                <a:spLocks/>
              </p:cNvSpPr>
              <p:nvPr/>
            </p:nvSpPr>
            <p:spPr bwMode="auto">
              <a:xfrm>
                <a:off x="2082" y="1564"/>
                <a:ext cx="1531" cy="246"/>
              </a:xfrm>
              <a:custGeom>
                <a:avLst/>
                <a:gdLst>
                  <a:gd name="T0" fmla="*/ 1 w 2528"/>
                  <a:gd name="T1" fmla="*/ 0 h 455"/>
                  <a:gd name="T2" fmla="*/ 76 w 2528"/>
                  <a:gd name="T3" fmla="*/ 5 h 455"/>
                  <a:gd name="T4" fmla="*/ 74 w 2528"/>
                  <a:gd name="T5" fmla="*/ 6 h 455"/>
                  <a:gd name="T6" fmla="*/ 0 w 2528"/>
                  <a:gd name="T7" fmla="*/ 1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 name="Freeform 1258"/>
              <p:cNvSpPr>
                <a:spLocks/>
              </p:cNvSpPr>
              <p:nvPr/>
            </p:nvSpPr>
            <p:spPr bwMode="auto">
              <a:xfrm>
                <a:off x="1737" y="1562"/>
                <a:ext cx="425" cy="1024"/>
              </a:xfrm>
              <a:custGeom>
                <a:avLst/>
                <a:gdLst>
                  <a:gd name="T0" fmla="*/ 17 w 702"/>
                  <a:gd name="T1" fmla="*/ 0 h 1893"/>
                  <a:gd name="T2" fmla="*/ 0 w 702"/>
                  <a:gd name="T3" fmla="*/ 25 h 1893"/>
                  <a:gd name="T4" fmla="*/ 3 w 702"/>
                  <a:gd name="T5" fmla="*/ 26 h 1893"/>
                  <a:gd name="T6" fmla="*/ 21 w 702"/>
                  <a:gd name="T7" fmla="*/ 1 h 1893"/>
                  <a:gd name="T8" fmla="*/ 1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 name="Freeform 1259"/>
              <p:cNvSpPr>
                <a:spLocks/>
              </p:cNvSpPr>
              <p:nvPr/>
            </p:nvSpPr>
            <p:spPr bwMode="auto">
              <a:xfrm>
                <a:off x="3144" y="1745"/>
                <a:ext cx="458" cy="1182"/>
              </a:xfrm>
              <a:custGeom>
                <a:avLst/>
                <a:gdLst>
                  <a:gd name="T0" fmla="*/ 23 w 756"/>
                  <a:gd name="T1" fmla="*/ 0 h 2184"/>
                  <a:gd name="T2" fmla="*/ 4 w 756"/>
                  <a:gd name="T3" fmla="*/ 30 h 2184"/>
                  <a:gd name="T4" fmla="*/ 0 w 756"/>
                  <a:gd name="T5" fmla="*/ 29 h 2184"/>
                  <a:gd name="T6" fmla="*/ 18 w 756"/>
                  <a:gd name="T7" fmla="*/ 1 h 2184"/>
                  <a:gd name="T8" fmla="*/ 23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9" name="Freeform 1260"/>
              <p:cNvSpPr>
                <a:spLocks/>
              </p:cNvSpPr>
              <p:nvPr/>
            </p:nvSpPr>
            <p:spPr bwMode="auto">
              <a:xfrm>
                <a:off x="1732" y="2534"/>
                <a:ext cx="1680" cy="399"/>
              </a:xfrm>
              <a:custGeom>
                <a:avLst/>
                <a:gdLst>
                  <a:gd name="T0" fmla="*/ 1 w 2773"/>
                  <a:gd name="T1" fmla="*/ 0 h 738"/>
                  <a:gd name="T2" fmla="*/ 0 w 2773"/>
                  <a:gd name="T3" fmla="*/ 2 h 738"/>
                  <a:gd name="T4" fmla="*/ 73 w 2773"/>
                  <a:gd name="T5" fmla="*/ 10 h 738"/>
                  <a:gd name="T6" fmla="*/ 71 w 2773"/>
                  <a:gd name="T7" fmla="*/ 8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0" name="Freeform 1261"/>
              <p:cNvSpPr>
                <a:spLocks/>
              </p:cNvSpPr>
              <p:nvPr/>
            </p:nvSpPr>
            <p:spPr bwMode="auto">
              <a:xfrm>
                <a:off x="3195" y="1755"/>
                <a:ext cx="429" cy="1187"/>
              </a:xfrm>
              <a:custGeom>
                <a:avLst/>
                <a:gdLst>
                  <a:gd name="T0" fmla="*/ 39 w 637"/>
                  <a:gd name="T1" fmla="*/ 0 h 1659"/>
                  <a:gd name="T2" fmla="*/ 40 w 637"/>
                  <a:gd name="T3" fmla="*/ 0 h 1659"/>
                  <a:gd name="T4" fmla="*/ 4 w 637"/>
                  <a:gd name="T5" fmla="*/ 160 h 1659"/>
                  <a:gd name="T6" fmla="*/ 0 w 637"/>
                  <a:gd name="T7" fmla="*/ 157 h 1659"/>
                  <a:gd name="T8" fmla="*/ 39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 name="Freeform 1262"/>
              <p:cNvSpPr>
                <a:spLocks/>
              </p:cNvSpPr>
              <p:nvPr/>
            </p:nvSpPr>
            <p:spPr bwMode="auto">
              <a:xfrm>
                <a:off x="1734" y="2587"/>
                <a:ext cx="1494" cy="394"/>
              </a:xfrm>
              <a:custGeom>
                <a:avLst/>
                <a:gdLst>
                  <a:gd name="T0" fmla="*/ 0 w 2216"/>
                  <a:gd name="T1" fmla="*/ 0 h 550"/>
                  <a:gd name="T2" fmla="*/ 1 w 2216"/>
                  <a:gd name="T3" fmla="*/ 6 h 550"/>
                  <a:gd name="T4" fmla="*/ 137 w 2216"/>
                  <a:gd name="T5" fmla="*/ 54 h 550"/>
                  <a:gd name="T6" fmla="*/ 140 w 2216"/>
                  <a:gd name="T7" fmla="*/ 48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82" name="Group 1263"/>
              <p:cNvGrpSpPr>
                <a:grpSpLocks/>
              </p:cNvGrpSpPr>
              <p:nvPr/>
            </p:nvGrpSpPr>
            <p:grpSpPr bwMode="auto">
              <a:xfrm>
                <a:off x="1709" y="3008"/>
                <a:ext cx="507" cy="234"/>
                <a:chOff x="1740" y="2642"/>
                <a:chExt cx="752" cy="327"/>
              </a:xfrm>
            </p:grpSpPr>
            <p:sp>
              <p:nvSpPr>
                <p:cNvPr id="89" name="Freeform 126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0" name="Freeform 126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 name="Freeform 126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2" name="Freeform 126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3" name="Freeform 126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 name="Freeform 126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83" name="Freeform 1270"/>
              <p:cNvSpPr>
                <a:spLocks/>
              </p:cNvSpPr>
              <p:nvPr/>
            </p:nvSpPr>
            <p:spPr bwMode="auto">
              <a:xfrm>
                <a:off x="2577" y="3043"/>
                <a:ext cx="614" cy="514"/>
              </a:xfrm>
              <a:custGeom>
                <a:avLst/>
                <a:gdLst>
                  <a:gd name="T0" fmla="*/ 1 w 990"/>
                  <a:gd name="T1" fmla="*/ 36 h 792"/>
                  <a:gd name="T2" fmla="*/ 35 w 990"/>
                  <a:gd name="T3" fmla="*/ 0 h 792"/>
                  <a:gd name="T4" fmla="*/ 35 w 990"/>
                  <a:gd name="T5" fmla="*/ 3 h 792"/>
                  <a:gd name="T6" fmla="*/ 0 w 990"/>
                  <a:gd name="T7" fmla="*/ 39 h 792"/>
                  <a:gd name="T8" fmla="*/ 1 w 990"/>
                  <a:gd name="T9" fmla="*/ 36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4" name="Freeform 1271"/>
              <p:cNvSpPr>
                <a:spLocks/>
              </p:cNvSpPr>
              <p:nvPr/>
            </p:nvSpPr>
            <p:spPr bwMode="auto">
              <a:xfrm>
                <a:off x="1010" y="3084"/>
                <a:ext cx="1571" cy="469"/>
              </a:xfrm>
              <a:custGeom>
                <a:avLst/>
                <a:gdLst>
                  <a:gd name="T0" fmla="*/ 1 w 2532"/>
                  <a:gd name="T1" fmla="*/ 0 h 723"/>
                  <a:gd name="T2" fmla="*/ 1 w 2532"/>
                  <a:gd name="T3" fmla="*/ 0 h 723"/>
                  <a:gd name="T4" fmla="*/ 90 w 2532"/>
                  <a:gd name="T5" fmla="*/ 33 h 723"/>
                  <a:gd name="T6" fmla="*/ 90 w 2532"/>
                  <a:gd name="T7" fmla="*/ 3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 name="Freeform 1272"/>
              <p:cNvSpPr>
                <a:spLocks/>
              </p:cNvSpPr>
              <p:nvPr/>
            </p:nvSpPr>
            <p:spPr bwMode="auto">
              <a:xfrm>
                <a:off x="1011" y="2998"/>
                <a:ext cx="17" cy="95"/>
              </a:xfrm>
              <a:custGeom>
                <a:avLst/>
                <a:gdLst>
                  <a:gd name="T0" fmla="*/ 1 w 26"/>
                  <a:gd name="T1" fmla="*/ 1 h 147"/>
                  <a:gd name="T2" fmla="*/ 1 w 26"/>
                  <a:gd name="T3" fmla="*/ 6 h 147"/>
                  <a:gd name="T4" fmla="*/ 0 w 26"/>
                  <a:gd name="T5" fmla="*/ 6 h 147"/>
                  <a:gd name="T6" fmla="*/ 1 w 26"/>
                  <a:gd name="T7" fmla="*/ 0 h 147"/>
                  <a:gd name="T8" fmla="*/ 1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6" name="Freeform 1273"/>
              <p:cNvSpPr>
                <a:spLocks/>
              </p:cNvSpPr>
              <p:nvPr/>
            </p:nvSpPr>
            <p:spPr bwMode="auto">
              <a:xfrm>
                <a:off x="1012" y="2611"/>
                <a:ext cx="730" cy="393"/>
              </a:xfrm>
              <a:custGeom>
                <a:avLst/>
                <a:gdLst>
                  <a:gd name="T0" fmla="*/ 42 w 1176"/>
                  <a:gd name="T1" fmla="*/ 0 h 606"/>
                  <a:gd name="T2" fmla="*/ 0 w 1176"/>
                  <a:gd name="T3" fmla="*/ 29 h 606"/>
                  <a:gd name="T4" fmla="*/ 1 w 1176"/>
                  <a:gd name="T5" fmla="*/ 29 h 606"/>
                  <a:gd name="T6" fmla="*/ 42 w 1176"/>
                  <a:gd name="T7" fmla="*/ 1 h 606"/>
                  <a:gd name="T8" fmla="*/ 42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 name="Freeform 1274"/>
              <p:cNvSpPr>
                <a:spLocks/>
              </p:cNvSpPr>
              <p:nvPr/>
            </p:nvSpPr>
            <p:spPr bwMode="auto">
              <a:xfrm>
                <a:off x="1061" y="3018"/>
                <a:ext cx="1490" cy="451"/>
              </a:xfrm>
              <a:custGeom>
                <a:avLst/>
                <a:gdLst>
                  <a:gd name="T0" fmla="*/ 1 w 2532"/>
                  <a:gd name="T1" fmla="*/ 0 h 723"/>
                  <a:gd name="T2" fmla="*/ 1 w 2532"/>
                  <a:gd name="T3" fmla="*/ 0 h 723"/>
                  <a:gd name="T4" fmla="*/ 62 w 2532"/>
                  <a:gd name="T5" fmla="*/ 25 h 723"/>
                  <a:gd name="T6" fmla="*/ 62 w 2532"/>
                  <a:gd name="T7" fmla="*/ 2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 name="Freeform 1275"/>
              <p:cNvSpPr>
                <a:spLocks/>
              </p:cNvSpPr>
              <p:nvPr/>
            </p:nvSpPr>
            <p:spPr bwMode="auto">
              <a:xfrm flipV="1">
                <a:off x="2549" y="2986"/>
                <a:ext cx="608" cy="467"/>
              </a:xfrm>
              <a:custGeom>
                <a:avLst/>
                <a:gdLst>
                  <a:gd name="T0" fmla="*/ 0 w 2532"/>
                  <a:gd name="T1" fmla="*/ 0 h 723"/>
                  <a:gd name="T2" fmla="*/ 0 w 2532"/>
                  <a:gd name="T3" fmla="*/ 0 h 723"/>
                  <a:gd name="T4" fmla="*/ 0 w 2532"/>
                  <a:gd name="T5" fmla="*/ 32 h 723"/>
                  <a:gd name="T6" fmla="*/ 0 w 2532"/>
                  <a:gd name="T7" fmla="*/ 3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86" name="Group 669"/>
          <p:cNvGrpSpPr>
            <a:grpSpLocks/>
          </p:cNvGrpSpPr>
          <p:nvPr/>
        </p:nvGrpSpPr>
        <p:grpSpPr bwMode="auto">
          <a:xfrm>
            <a:off x="9504174" y="4454525"/>
            <a:ext cx="1057275" cy="957263"/>
            <a:chOff x="-153" y="1680"/>
            <a:chExt cx="666" cy="603"/>
          </a:xfrm>
        </p:grpSpPr>
        <p:grpSp>
          <p:nvGrpSpPr>
            <p:cNvPr id="387" name="Group 670"/>
            <p:cNvGrpSpPr>
              <a:grpSpLocks/>
            </p:cNvGrpSpPr>
            <p:nvPr/>
          </p:nvGrpSpPr>
          <p:grpSpPr bwMode="auto">
            <a:xfrm>
              <a:off x="0" y="1680"/>
              <a:ext cx="513" cy="538"/>
              <a:chOff x="4180" y="744"/>
              <a:chExt cx="513" cy="538"/>
            </a:xfrm>
          </p:grpSpPr>
          <p:sp>
            <p:nvSpPr>
              <p:cNvPr id="389" name="Rectangle 671"/>
              <p:cNvSpPr>
                <a:spLocks noChangeArrowheads="1"/>
              </p:cNvSpPr>
              <p:nvPr/>
            </p:nvSpPr>
            <p:spPr bwMode="auto">
              <a:xfrm>
                <a:off x="4242" y="747"/>
                <a:ext cx="426" cy="489"/>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0" name="Rectangle 672"/>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1" name="Rectangle 673"/>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2" name="Text Box 674"/>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00"/>
                  <a:t>application</a:t>
                </a:r>
              </a:p>
              <a:p>
                <a:pPr>
                  <a:defRPr/>
                </a:pPr>
                <a:r>
                  <a:rPr lang="en-US" sz="1000">
                    <a:solidFill>
                      <a:schemeClr val="bg1"/>
                    </a:solidFill>
                  </a:rPr>
                  <a:t>transport</a:t>
                </a:r>
                <a:endParaRPr lang="en-US" sz="1000"/>
              </a:p>
              <a:p>
                <a:pPr>
                  <a:defRPr/>
                </a:pPr>
                <a:r>
                  <a:rPr lang="en-US" sz="1000"/>
                  <a:t>network</a:t>
                </a:r>
              </a:p>
              <a:p>
                <a:pPr>
                  <a:defRPr/>
                </a:pPr>
                <a:r>
                  <a:rPr lang="en-US" sz="1000"/>
                  <a:t>data link</a:t>
                </a:r>
              </a:p>
              <a:p>
                <a:pPr>
                  <a:defRPr/>
                </a:pPr>
                <a:r>
                  <a:rPr lang="en-US" sz="1000"/>
                  <a:t>physical</a:t>
                </a:r>
                <a:endParaRPr lang="en-US" sz="2400"/>
              </a:p>
            </p:txBody>
          </p:sp>
          <p:sp>
            <p:nvSpPr>
              <p:cNvPr id="393" name="Line 675"/>
              <p:cNvSpPr>
                <a:spLocks noChangeShapeType="1"/>
              </p:cNvSpPr>
              <p:nvPr/>
            </p:nvSpPr>
            <p:spPr bwMode="auto">
              <a:xfrm>
                <a:off x="4221" y="978"/>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4" name="Line 676"/>
              <p:cNvSpPr>
                <a:spLocks noChangeShapeType="1"/>
              </p:cNvSpPr>
              <p:nvPr/>
            </p:nvSpPr>
            <p:spPr bwMode="auto">
              <a:xfrm>
                <a:off x="4227" y="1065"/>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5" name="Line 677"/>
              <p:cNvSpPr>
                <a:spLocks noChangeShapeType="1"/>
              </p:cNvSpPr>
              <p:nvPr/>
            </p:nvSpPr>
            <p:spPr bwMode="auto">
              <a:xfrm>
                <a:off x="4227" y="1152"/>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388" name="Freeform 678"/>
            <p:cNvSpPr>
              <a:spLocks/>
            </p:cNvSpPr>
            <p:nvPr/>
          </p:nvSpPr>
          <p:spPr bwMode="auto">
            <a:xfrm>
              <a:off x="-153" y="1689"/>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96" name="Group 298"/>
          <p:cNvGrpSpPr>
            <a:grpSpLocks/>
          </p:cNvGrpSpPr>
          <p:nvPr/>
        </p:nvGrpSpPr>
        <p:grpSpPr bwMode="auto">
          <a:xfrm rot="2937887">
            <a:off x="7037199" y="3022600"/>
            <a:ext cx="3781425" cy="434975"/>
            <a:chOff x="2937" y="3579"/>
            <a:chExt cx="2382" cy="274"/>
          </a:xfrm>
        </p:grpSpPr>
        <p:sp>
          <p:nvSpPr>
            <p:cNvPr id="397" name="Rectangle 295"/>
            <p:cNvSpPr>
              <a:spLocks noChangeArrowheads="1"/>
            </p:cNvSpPr>
            <p:nvPr/>
          </p:nvSpPr>
          <p:spPr bwMode="auto">
            <a:xfrm>
              <a:off x="3165" y="3631"/>
              <a:ext cx="1920" cy="174"/>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398" name="Text Box 293"/>
            <p:cNvSpPr txBox="1">
              <a:spLocks noChangeArrowheads="1"/>
            </p:cNvSpPr>
            <p:nvPr/>
          </p:nvSpPr>
          <p:spPr bwMode="auto">
            <a:xfrm>
              <a:off x="3384" y="3612"/>
              <a:ext cx="1529" cy="2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a:solidFill>
                    <a:schemeClr val="bg1"/>
                  </a:solidFill>
                </a:rPr>
                <a:t>logical end-end transport</a:t>
              </a:r>
              <a:endParaRPr lang="en-US"/>
            </a:p>
          </p:txBody>
        </p:sp>
        <p:sp>
          <p:nvSpPr>
            <p:cNvPr id="399" name="Freeform 296"/>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00" name="Freeform 297"/>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ffectLst/>
            <a:extLst>
              <a:ext uri="{91240B29-F687-4F45-9708-019B960494DF}">
                <a14:hiddenLine xmlns:a14="http://schemas.microsoft.com/office/drawing/2010/main" w="9525" cap="flat" cmpd="sng">
                  <a:solidFill>
                    <a:srgbClr val="FF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401" name="Group 865"/>
          <p:cNvGrpSpPr>
            <a:grpSpLocks/>
          </p:cNvGrpSpPr>
          <p:nvPr/>
        </p:nvGrpSpPr>
        <p:grpSpPr bwMode="auto">
          <a:xfrm>
            <a:off x="7110224" y="1296988"/>
            <a:ext cx="1057275" cy="957262"/>
            <a:chOff x="-153" y="1680"/>
            <a:chExt cx="666" cy="603"/>
          </a:xfrm>
        </p:grpSpPr>
        <p:grpSp>
          <p:nvGrpSpPr>
            <p:cNvPr id="402" name="Group 866"/>
            <p:cNvGrpSpPr>
              <a:grpSpLocks/>
            </p:cNvGrpSpPr>
            <p:nvPr/>
          </p:nvGrpSpPr>
          <p:grpSpPr bwMode="auto">
            <a:xfrm>
              <a:off x="0" y="1680"/>
              <a:ext cx="513" cy="538"/>
              <a:chOff x="4180" y="744"/>
              <a:chExt cx="513" cy="538"/>
            </a:xfrm>
          </p:grpSpPr>
          <p:sp>
            <p:nvSpPr>
              <p:cNvPr id="404" name="Rectangle 867"/>
              <p:cNvSpPr>
                <a:spLocks noChangeArrowheads="1"/>
              </p:cNvSpPr>
              <p:nvPr/>
            </p:nvSpPr>
            <p:spPr bwMode="auto">
              <a:xfrm>
                <a:off x="4242" y="747"/>
                <a:ext cx="426" cy="489"/>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05" name="Rectangle 868"/>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06" name="Rectangle 869"/>
              <p:cNvSpPr>
                <a:spLocks noChangeArrowheads="1"/>
              </p:cNvSpPr>
              <p:nvPr/>
            </p:nvSpPr>
            <p:spPr bwMode="auto">
              <a:xfrm>
                <a:off x="4224" y="873"/>
                <a:ext cx="426" cy="108"/>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07" name="Text Box 870"/>
              <p:cNvSpPr txBox="1">
                <a:spLocks noChangeArrowheads="1"/>
              </p:cNvSpPr>
              <p:nvPr/>
            </p:nvSpPr>
            <p:spPr bwMode="auto">
              <a:xfrm>
                <a:off x="4180" y="744"/>
                <a:ext cx="513" cy="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defRPr/>
                </a:pPr>
                <a:r>
                  <a:rPr lang="en-US" sz="1000"/>
                  <a:t>application</a:t>
                </a:r>
              </a:p>
              <a:p>
                <a:pPr>
                  <a:defRPr/>
                </a:pPr>
                <a:r>
                  <a:rPr lang="en-US" sz="1000">
                    <a:solidFill>
                      <a:schemeClr val="bg1"/>
                    </a:solidFill>
                  </a:rPr>
                  <a:t>transport</a:t>
                </a:r>
                <a:endParaRPr lang="en-US" sz="1000"/>
              </a:p>
              <a:p>
                <a:pPr>
                  <a:defRPr/>
                </a:pPr>
                <a:r>
                  <a:rPr lang="en-US" sz="1000"/>
                  <a:t>network</a:t>
                </a:r>
              </a:p>
              <a:p>
                <a:pPr>
                  <a:defRPr/>
                </a:pPr>
                <a:r>
                  <a:rPr lang="en-US" sz="1000"/>
                  <a:t>data link</a:t>
                </a:r>
              </a:p>
              <a:p>
                <a:pPr>
                  <a:defRPr/>
                </a:pPr>
                <a:r>
                  <a:rPr lang="en-US" sz="1000"/>
                  <a:t>physical</a:t>
                </a:r>
                <a:endParaRPr lang="en-US" sz="2400"/>
              </a:p>
            </p:txBody>
          </p:sp>
          <p:sp>
            <p:nvSpPr>
              <p:cNvPr id="408" name="Line 871"/>
              <p:cNvSpPr>
                <a:spLocks noChangeShapeType="1"/>
              </p:cNvSpPr>
              <p:nvPr/>
            </p:nvSpPr>
            <p:spPr bwMode="auto">
              <a:xfrm>
                <a:off x="4221" y="978"/>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09" name="Line 872"/>
              <p:cNvSpPr>
                <a:spLocks noChangeShapeType="1"/>
              </p:cNvSpPr>
              <p:nvPr/>
            </p:nvSpPr>
            <p:spPr bwMode="auto">
              <a:xfrm>
                <a:off x="4227" y="1065"/>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sp>
            <p:nvSpPr>
              <p:cNvPr id="410" name="Line 873"/>
              <p:cNvSpPr>
                <a:spLocks noChangeShapeType="1"/>
              </p:cNvSpPr>
              <p:nvPr/>
            </p:nvSpPr>
            <p:spPr bwMode="auto">
              <a:xfrm>
                <a:off x="4227" y="1152"/>
                <a:ext cx="435" cy="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ahoma" charset="0"/>
                  <a:ea typeface="ＭＳ Ｐゴシック" charset="0"/>
                </a:endParaRPr>
              </a:p>
            </p:txBody>
          </p:sp>
        </p:grpSp>
        <p:sp>
          <p:nvSpPr>
            <p:cNvPr id="403" name="Freeform 874"/>
            <p:cNvSpPr>
              <a:spLocks/>
            </p:cNvSpPr>
            <p:nvPr/>
          </p:nvSpPr>
          <p:spPr bwMode="auto">
            <a:xfrm>
              <a:off x="-153" y="1689"/>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cap="flat" cmpd="sng">
              <a:solidFill>
                <a:srgbClr val="FF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Tree>
    <p:extLst>
      <p:ext uri="{BB962C8B-B14F-4D97-AF65-F5344CB8AC3E}">
        <p14:creationId xmlns:p14="http://schemas.microsoft.com/office/powerpoint/2010/main" val="184323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wipe(left)">
                                      <p:cBhvr>
                                        <p:cTn id="7" dur="500"/>
                                        <p:tgtEl>
                                          <p:spTgt spid="386"/>
                                        </p:tgtEl>
                                      </p:cBhvr>
                                    </p:animEffect>
                                  </p:childTnLst>
                                </p:cTn>
                              </p:par>
                            </p:childTnLst>
                          </p:cTn>
                        </p:par>
                        <p:par>
                          <p:cTn id="8" fill="hold">
                            <p:stCondLst>
                              <p:cond delay="500"/>
                            </p:stCondLst>
                            <p:childTnLst>
                              <p:par>
                                <p:cTn id="9" presetID="9" presetClass="entr" presetSubtype="0" fill="hold" nodeType="afterEffect">
                                  <p:stCondLst>
                                    <p:cond delay="1000"/>
                                  </p:stCondLst>
                                  <p:childTnLst>
                                    <p:set>
                                      <p:cBhvr>
                                        <p:cTn id="10" dur="1" fill="hold">
                                          <p:stCondLst>
                                            <p:cond delay="0"/>
                                          </p:stCondLst>
                                        </p:cTn>
                                        <p:tgtEl>
                                          <p:spTgt spid="396"/>
                                        </p:tgtEl>
                                        <p:attrNameLst>
                                          <p:attrName>style.visibility</p:attrName>
                                        </p:attrNameLst>
                                      </p:cBhvr>
                                      <p:to>
                                        <p:strVal val="visible"/>
                                      </p:to>
                                    </p:set>
                                    <p:animEffect transition="in" filter="dissolve">
                                      <p:cBhvr>
                                        <p:cTn id="11" dur="500"/>
                                        <p:tgtEl>
                                          <p:spTgt spid="396"/>
                                        </p:tgtEl>
                                      </p:cBhvr>
                                    </p:animEffect>
                                  </p:childTnLst>
                                </p:cTn>
                              </p:par>
                              <p:par>
                                <p:cTn id="12" presetID="22" presetClass="entr" presetSubtype="8" fill="hold" nodeType="withEffect">
                                  <p:stCondLst>
                                    <p:cond delay="0"/>
                                  </p:stCondLst>
                                  <p:childTnLst>
                                    <p:set>
                                      <p:cBhvr>
                                        <p:cTn id="13" dur="1" fill="hold">
                                          <p:stCondLst>
                                            <p:cond delay="0"/>
                                          </p:stCondLst>
                                        </p:cTn>
                                        <p:tgtEl>
                                          <p:spTgt spid="401"/>
                                        </p:tgtEl>
                                        <p:attrNameLst>
                                          <p:attrName>style.visibility</p:attrName>
                                        </p:attrNameLst>
                                      </p:cBhvr>
                                      <p:to>
                                        <p:strVal val="visible"/>
                                      </p:to>
                                    </p:set>
                                    <p:animEffect transition="in" filter="wipe(left)">
                                      <p:cBhvr>
                                        <p:cTn id="14" dur="500"/>
                                        <p:tgtEl>
                                          <p:spTgt spid="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1136AD2C-0389-C00F-2E4F-295DEC61E6A3}"/>
              </a:ext>
            </a:extLst>
          </p:cNvPr>
          <p:cNvSpPr txBox="1">
            <a:spLocks/>
          </p:cNvSpPr>
          <p:nvPr/>
        </p:nvSpPr>
        <p:spPr>
          <a:xfrm>
            <a:off x="255571" y="239086"/>
            <a:ext cx="10515600" cy="89462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spc="-150" dirty="0">
                <a:solidFill>
                  <a:srgbClr val="FF0000"/>
                </a:solidFill>
                <a:latin typeface="Arial" pitchFamily="34" charset="0"/>
                <a:ea typeface="ＭＳ Ｐゴシック" charset="0"/>
                <a:cs typeface="Arial" pitchFamily="34" charset="0"/>
              </a:rPr>
              <a:t>Two principal Internet transport protocols</a:t>
            </a:r>
          </a:p>
        </p:txBody>
      </p:sp>
      <p:sp>
        <p:nvSpPr>
          <p:cNvPr id="5" name="Freeform 9">
            <a:extLst>
              <a:ext uri="{FF2B5EF4-FFF2-40B4-BE49-F238E27FC236}">
                <a16:creationId xmlns:a16="http://schemas.microsoft.com/office/drawing/2014/main" xmlns="" id="{16E9FF52-E76F-E979-1AC0-C374A5ACCBF2}"/>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Freeform 417">
            <a:extLst>
              <a:ext uri="{FF2B5EF4-FFF2-40B4-BE49-F238E27FC236}">
                <a16:creationId xmlns:a16="http://schemas.microsoft.com/office/drawing/2014/main" xmlns="" id="{587B65A5-A039-446C-E0C8-5EA1245111DA}"/>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418">
            <a:extLst>
              <a:ext uri="{FF2B5EF4-FFF2-40B4-BE49-F238E27FC236}">
                <a16:creationId xmlns:a16="http://schemas.microsoft.com/office/drawing/2014/main" xmlns="" id="{DC07D755-4FF3-0DD6-609E-C50A5DF4D5B9}"/>
              </a:ext>
            </a:extLst>
          </p:cNvPr>
          <p:cNvGrpSpPr>
            <a:grpSpLocks/>
          </p:cNvGrpSpPr>
          <p:nvPr/>
        </p:nvGrpSpPr>
        <p:grpSpPr bwMode="auto">
          <a:xfrm>
            <a:off x="7205350" y="3289251"/>
            <a:ext cx="1458912" cy="933450"/>
            <a:chOff x="2889" y="1631"/>
            <a:chExt cx="980" cy="743"/>
          </a:xfrm>
        </p:grpSpPr>
        <p:sp>
          <p:nvSpPr>
            <p:cNvPr id="8" name="Rectangle 419">
              <a:extLst>
                <a:ext uri="{FF2B5EF4-FFF2-40B4-BE49-F238E27FC236}">
                  <a16:creationId xmlns:a16="http://schemas.microsoft.com/office/drawing/2014/main" xmlns="" id="{049AD0F4-13F1-4B2A-D025-CAE269160EAF}"/>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 name="AutoShape 420">
              <a:extLst>
                <a:ext uri="{FF2B5EF4-FFF2-40B4-BE49-F238E27FC236}">
                  <a16:creationId xmlns:a16="http://schemas.microsoft.com/office/drawing/2014/main" xmlns="" id="{9770D571-75F8-1899-6BFC-167114FA5046}"/>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0" name="Freeform 427">
            <a:extLst>
              <a:ext uri="{FF2B5EF4-FFF2-40B4-BE49-F238E27FC236}">
                <a16:creationId xmlns:a16="http://schemas.microsoft.com/office/drawing/2014/main" xmlns="" id="{7FA65C8C-F0C6-F0E1-E96E-BA9B6CCDA3F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Box 580">
            <a:extLst>
              <a:ext uri="{FF2B5EF4-FFF2-40B4-BE49-F238E27FC236}">
                <a16:creationId xmlns:a16="http://schemas.microsoft.com/office/drawing/2014/main" xmlns="" id="{C4344035-C0BA-2191-CCE2-A1628BF33AAB}"/>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2" name="Text Box 580">
            <a:extLst>
              <a:ext uri="{FF2B5EF4-FFF2-40B4-BE49-F238E27FC236}">
                <a16:creationId xmlns:a16="http://schemas.microsoft.com/office/drawing/2014/main" xmlns="" id="{1DEA1752-D380-22AB-9B05-19C588469585}"/>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3" name="Text Box 580">
            <a:extLst>
              <a:ext uri="{FF2B5EF4-FFF2-40B4-BE49-F238E27FC236}">
                <a16:creationId xmlns:a16="http://schemas.microsoft.com/office/drawing/2014/main" xmlns="" id="{ED88A40C-3970-5B90-2831-6092B124F87C}"/>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14" name="Freeform 19">
            <a:extLst>
              <a:ext uri="{FF2B5EF4-FFF2-40B4-BE49-F238E27FC236}">
                <a16:creationId xmlns:a16="http://schemas.microsoft.com/office/drawing/2014/main" xmlns="" id="{69A24DEB-3059-1351-A965-E22A336E1909}"/>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xmlns="" id="{023312D1-B8A8-4A80-47C0-375D16F42369}"/>
              </a:ext>
            </a:extLst>
          </p:cNvPr>
          <p:cNvGrpSpPr/>
          <p:nvPr/>
        </p:nvGrpSpPr>
        <p:grpSpPr>
          <a:xfrm>
            <a:off x="10837700" y="3928050"/>
            <a:ext cx="687393" cy="721548"/>
            <a:chOff x="5203089" y="1751190"/>
            <a:chExt cx="858331" cy="662414"/>
          </a:xfrm>
        </p:grpSpPr>
        <p:sp>
          <p:nvSpPr>
            <p:cNvPr id="16" name="Freeform 21">
              <a:extLst>
                <a:ext uri="{FF2B5EF4-FFF2-40B4-BE49-F238E27FC236}">
                  <a16:creationId xmlns:a16="http://schemas.microsoft.com/office/drawing/2014/main" xmlns="" id="{F63E5BF1-B862-B831-7090-86037BCBBF29}"/>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22">
              <a:extLst>
                <a:ext uri="{FF2B5EF4-FFF2-40B4-BE49-F238E27FC236}">
                  <a16:creationId xmlns:a16="http://schemas.microsoft.com/office/drawing/2014/main" xmlns="" id="{EC4F5429-E690-225E-4E4C-C0FE294DCD1F}"/>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xmlns="" id="{3C258DDF-C0A4-2EAA-EB5F-880485E4A1FE}"/>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94A3194C-E09C-BD1B-FFF4-A91CF56CEAB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38150B6B-A722-450D-974E-617DD19C317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xmlns="" id="{B8D287C5-D5F7-6987-43A5-D16413FFDCD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xmlns="" id="{D8E4E5DF-48C7-1161-10D1-FF790141AFF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63FF5B05-1732-940C-9229-D3A4AFCCBBF0}"/>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xmlns="" id="{B07AA815-CBB8-816A-CC72-7CC7BCD546BE}"/>
              </a:ext>
            </a:extLst>
          </p:cNvPr>
          <p:cNvGrpSpPr/>
          <p:nvPr/>
        </p:nvGrpSpPr>
        <p:grpSpPr>
          <a:xfrm>
            <a:off x="10771171" y="3194171"/>
            <a:ext cx="594613" cy="648336"/>
            <a:chOff x="5203089" y="1751190"/>
            <a:chExt cx="858331" cy="662414"/>
          </a:xfrm>
        </p:grpSpPr>
        <p:sp>
          <p:nvSpPr>
            <p:cNvPr id="25" name="Freeform 30">
              <a:extLst>
                <a:ext uri="{FF2B5EF4-FFF2-40B4-BE49-F238E27FC236}">
                  <a16:creationId xmlns:a16="http://schemas.microsoft.com/office/drawing/2014/main" xmlns="" id="{061C9528-8E56-B7BA-5F4A-E2D361B3BB8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31">
              <a:extLst>
                <a:ext uri="{FF2B5EF4-FFF2-40B4-BE49-F238E27FC236}">
                  <a16:creationId xmlns:a16="http://schemas.microsoft.com/office/drawing/2014/main" xmlns="" id="{4EA1A289-3C67-EC00-0427-D81E3E4D37DD}"/>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Connector 26">
              <a:extLst>
                <a:ext uri="{FF2B5EF4-FFF2-40B4-BE49-F238E27FC236}">
                  <a16:creationId xmlns:a16="http://schemas.microsoft.com/office/drawing/2014/main" xmlns="" id="{1F293327-B538-4F4C-C827-5629A33FEB1C}"/>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A219074E-E5BE-F3F5-A517-642FEC16920D}"/>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xmlns="" id="{5D4BE336-39F0-D3CB-9FFD-F59241B41CF0}"/>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xmlns="" id="{06779BDE-4AF9-7917-6214-2BF306F294DD}"/>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xmlns="" id="{32D640C8-8EA7-B132-8A86-3D0523105F32}"/>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xmlns="" id="{48EA4FEE-3E63-5CCB-2BCF-0F36A288C4E9}"/>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3" name="Freeform 38">
            <a:extLst>
              <a:ext uri="{FF2B5EF4-FFF2-40B4-BE49-F238E27FC236}">
                <a16:creationId xmlns:a16="http://schemas.microsoft.com/office/drawing/2014/main" xmlns="" id="{F82B4E7E-3B79-6495-9886-A0AE52595ABF}"/>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xmlns="" id="{F3242C9F-20E3-8DF4-9F68-2DA604302080}"/>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35" name="Rectangle 34">
            <a:extLst>
              <a:ext uri="{FF2B5EF4-FFF2-40B4-BE49-F238E27FC236}">
                <a16:creationId xmlns:a16="http://schemas.microsoft.com/office/drawing/2014/main" xmlns="" id="{B9F83214-A4F0-6F99-F3BA-AA92A0E51D53}"/>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xmlns="" id="{3C03211E-D745-E7E4-5F33-1D6A5654F9D2}"/>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37" name="TextBox 36">
            <a:extLst>
              <a:ext uri="{FF2B5EF4-FFF2-40B4-BE49-F238E27FC236}">
                <a16:creationId xmlns:a16="http://schemas.microsoft.com/office/drawing/2014/main" xmlns="" id="{E697257C-F5FC-5100-2805-B6350AF5A358}"/>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38" name="TextBox 37">
            <a:extLst>
              <a:ext uri="{FF2B5EF4-FFF2-40B4-BE49-F238E27FC236}">
                <a16:creationId xmlns:a16="http://schemas.microsoft.com/office/drawing/2014/main" xmlns="" id="{6B121071-B748-F016-9E16-D326D71CFBA4}"/>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9" name="Straight Connector 38">
            <a:extLst>
              <a:ext uri="{FF2B5EF4-FFF2-40B4-BE49-F238E27FC236}">
                <a16:creationId xmlns:a16="http://schemas.microsoft.com/office/drawing/2014/main" xmlns="" id="{FFD63E03-5403-3D41-0886-53032324BD63}"/>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CD3508D9-8320-C9E0-BF85-C34FE5B415A3}"/>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2D739AEB-22DB-8576-7129-4E34CFE72B50}"/>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35100D82-B3F7-9A59-B51E-5983B06A0D5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7215016B-22E4-096F-360E-9A9B2A3644C8}"/>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xmlns="" id="{19B431C0-9BCA-C73F-16B4-F18A9D16B40D}"/>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063488F8-4D61-002F-28F9-6DC0691EC559}"/>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AB57842E-E6CA-898B-B9FF-5D1733CB50E7}"/>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F9A44361-5321-C2B7-CC4C-7EA5356E30AA}"/>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D65B19E6-F0E7-7CE0-CB78-6636B8BA31C4}"/>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59546757-42E2-D2CB-57BA-5167CF1FD806}"/>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xmlns="" id="{18117111-6BE2-C35B-E5DE-3BB9C50FF731}"/>
              </a:ext>
            </a:extLst>
          </p:cNvPr>
          <p:cNvGrpSpPr/>
          <p:nvPr/>
        </p:nvGrpSpPr>
        <p:grpSpPr>
          <a:xfrm>
            <a:off x="7562238" y="2127325"/>
            <a:ext cx="3578867" cy="3640283"/>
            <a:chOff x="7562238" y="2127325"/>
            <a:chExt cx="3578867" cy="3640283"/>
          </a:xfrm>
        </p:grpSpPr>
        <p:grpSp>
          <p:nvGrpSpPr>
            <p:cNvPr id="51" name="Group 50">
              <a:extLst>
                <a:ext uri="{FF2B5EF4-FFF2-40B4-BE49-F238E27FC236}">
                  <a16:creationId xmlns:a16="http://schemas.microsoft.com/office/drawing/2014/main" xmlns="" id="{06A08BB5-179F-CA14-C014-E46B3088C5C8}"/>
                </a:ext>
              </a:extLst>
            </p:cNvPr>
            <p:cNvGrpSpPr/>
            <p:nvPr/>
          </p:nvGrpSpPr>
          <p:grpSpPr>
            <a:xfrm>
              <a:off x="7857253" y="2127325"/>
              <a:ext cx="3283852" cy="3640283"/>
              <a:chOff x="7881336" y="2104198"/>
              <a:chExt cx="3283852" cy="3640283"/>
            </a:xfrm>
          </p:grpSpPr>
          <p:sp>
            <p:nvSpPr>
              <p:cNvPr id="56" name="Line 428">
                <a:extLst>
                  <a:ext uri="{FF2B5EF4-FFF2-40B4-BE49-F238E27FC236}">
                    <a16:creationId xmlns:a16="http://schemas.microsoft.com/office/drawing/2014/main" xmlns="" id="{AC66BF42-17C0-EF54-224C-6C7A6D45EFEB}"/>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Line 430">
                <a:extLst>
                  <a:ext uri="{FF2B5EF4-FFF2-40B4-BE49-F238E27FC236}">
                    <a16:creationId xmlns:a16="http://schemas.microsoft.com/office/drawing/2014/main" xmlns="" id="{3D227A64-1B72-632B-3667-A8B27F048962}"/>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Line 431">
                <a:extLst>
                  <a:ext uri="{FF2B5EF4-FFF2-40B4-BE49-F238E27FC236}">
                    <a16:creationId xmlns:a16="http://schemas.microsoft.com/office/drawing/2014/main" xmlns="" id="{E112F35F-7F7F-1DC9-0412-00343DD7E5AB}"/>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Line 432">
                <a:extLst>
                  <a:ext uri="{FF2B5EF4-FFF2-40B4-BE49-F238E27FC236}">
                    <a16:creationId xmlns:a16="http://schemas.microsoft.com/office/drawing/2014/main" xmlns="" id="{D9F7405C-9929-DC1D-5D35-1C478C300644}"/>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Line 433">
                <a:extLst>
                  <a:ext uri="{FF2B5EF4-FFF2-40B4-BE49-F238E27FC236}">
                    <a16:creationId xmlns:a16="http://schemas.microsoft.com/office/drawing/2014/main" xmlns="" id="{E8A83124-D86B-08D0-65FB-72FC29FD8E0E}"/>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Line 435">
                <a:extLst>
                  <a:ext uri="{FF2B5EF4-FFF2-40B4-BE49-F238E27FC236}">
                    <a16:creationId xmlns:a16="http://schemas.microsoft.com/office/drawing/2014/main" xmlns="" id="{24802F7D-70BD-A4AF-0242-52742C712F67}"/>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Line 436">
                <a:extLst>
                  <a:ext uri="{FF2B5EF4-FFF2-40B4-BE49-F238E27FC236}">
                    <a16:creationId xmlns:a16="http://schemas.microsoft.com/office/drawing/2014/main" xmlns="" id="{8EA14DB3-B75D-F08A-3E35-C2B2A89656A9}"/>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9">
                <a:extLst>
                  <a:ext uri="{FF2B5EF4-FFF2-40B4-BE49-F238E27FC236}">
                    <a16:creationId xmlns:a16="http://schemas.microsoft.com/office/drawing/2014/main" xmlns="" id="{60CC1CFE-40DB-AAC2-7557-6D8C005057D9}"/>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40">
                <a:extLst>
                  <a:ext uri="{FF2B5EF4-FFF2-40B4-BE49-F238E27FC236}">
                    <a16:creationId xmlns:a16="http://schemas.microsoft.com/office/drawing/2014/main" xmlns="" id="{87A76EA8-BE11-7F7D-B67E-A6D492314C5A}"/>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41">
                <a:extLst>
                  <a:ext uri="{FF2B5EF4-FFF2-40B4-BE49-F238E27FC236}">
                    <a16:creationId xmlns:a16="http://schemas.microsoft.com/office/drawing/2014/main" xmlns="" id="{DD93FE92-1A2F-57A0-A2C4-6A353FBFB53A}"/>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43">
                <a:extLst>
                  <a:ext uri="{FF2B5EF4-FFF2-40B4-BE49-F238E27FC236}">
                    <a16:creationId xmlns:a16="http://schemas.microsoft.com/office/drawing/2014/main" xmlns="" id="{C811FFD6-7844-8C8E-C0BB-94FEE9DC8C04}"/>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49">
                <a:extLst>
                  <a:ext uri="{FF2B5EF4-FFF2-40B4-BE49-F238E27FC236}">
                    <a16:creationId xmlns:a16="http://schemas.microsoft.com/office/drawing/2014/main" xmlns="" id="{4BBFE1EF-818B-1472-789E-11B56125AEC5}"/>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Line 428">
                <a:extLst>
                  <a:ext uri="{FF2B5EF4-FFF2-40B4-BE49-F238E27FC236}">
                    <a16:creationId xmlns:a16="http://schemas.microsoft.com/office/drawing/2014/main" xmlns="" id="{62CB3AD1-9C85-CD89-82E7-745796ECB9FB}"/>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40">
                <a:extLst>
                  <a:ext uri="{FF2B5EF4-FFF2-40B4-BE49-F238E27FC236}">
                    <a16:creationId xmlns:a16="http://schemas.microsoft.com/office/drawing/2014/main" xmlns="" id="{849B9A11-8C44-2019-D955-8DD58D44A1F5}"/>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0" name="Straight Connector 69">
                <a:extLst>
                  <a:ext uri="{FF2B5EF4-FFF2-40B4-BE49-F238E27FC236}">
                    <a16:creationId xmlns:a16="http://schemas.microsoft.com/office/drawing/2014/main" xmlns="" id="{91AEAFA7-4FA7-B3B2-9AA1-37479BB3897F}"/>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xmlns="" id="{F21F3BB0-E774-B743-2CB8-FE4D314B35EB}"/>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xmlns="" id="{FB1B9551-3722-C1DF-2372-CEFF1E9F68A6}"/>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xmlns="" id="{0438C8D5-ABE1-CA70-6250-21610C9670A1}"/>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xmlns="" id="{799CAE58-B97C-24CD-8904-FD86D99E50D2}"/>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xmlns="" id="{669A1560-2432-FB9F-D40E-13411AE7E4E6}"/>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xmlns="" id="{E7CE7F8B-1001-0DAE-18DE-F5205BC270CA}"/>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xmlns="" id="{B1C32743-2A8D-BFBD-5218-9182E1F215D2}"/>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8" name="Line 541">
                <a:extLst>
                  <a:ext uri="{FF2B5EF4-FFF2-40B4-BE49-F238E27FC236}">
                    <a16:creationId xmlns:a16="http://schemas.microsoft.com/office/drawing/2014/main" xmlns="" id="{2518E55A-F041-4D74-D5DA-4E6193C3C125}"/>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Line 424">
                <a:extLst>
                  <a:ext uri="{FF2B5EF4-FFF2-40B4-BE49-F238E27FC236}">
                    <a16:creationId xmlns:a16="http://schemas.microsoft.com/office/drawing/2014/main" xmlns="" id="{7DA11FCE-1141-7F25-F8D8-4D24DD0C2162}"/>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2" name="Picture 778" descr="antenna_radiation_stylized">
              <a:extLst>
                <a:ext uri="{FF2B5EF4-FFF2-40B4-BE49-F238E27FC236}">
                  <a16:creationId xmlns:a16="http://schemas.microsoft.com/office/drawing/2014/main" xmlns="" id="{F5BBADF3-9DBF-A0E0-F608-B45C791BBF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781" descr="antenna_radiation_stylized">
              <a:extLst>
                <a:ext uri="{FF2B5EF4-FFF2-40B4-BE49-F238E27FC236}">
                  <a16:creationId xmlns:a16="http://schemas.microsoft.com/office/drawing/2014/main" xmlns="" id="{4FAB4BCB-1679-CC50-12C7-6CF7059435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799" descr="cell_tower_radiation copy">
              <a:extLst>
                <a:ext uri="{FF2B5EF4-FFF2-40B4-BE49-F238E27FC236}">
                  <a16:creationId xmlns:a16="http://schemas.microsoft.com/office/drawing/2014/main" xmlns="" id="{75A48B45-8996-8D0C-51D5-C7A439C122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Oval 800">
              <a:extLst>
                <a:ext uri="{FF2B5EF4-FFF2-40B4-BE49-F238E27FC236}">
                  <a16:creationId xmlns:a16="http://schemas.microsoft.com/office/drawing/2014/main" xmlns="" id="{738F2369-B577-A4D1-E374-42E8BC0318C6}"/>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0" name="Line 426">
            <a:extLst>
              <a:ext uri="{FF2B5EF4-FFF2-40B4-BE49-F238E27FC236}">
                <a16:creationId xmlns:a16="http://schemas.microsoft.com/office/drawing/2014/main" xmlns="" id="{ABA35D97-F69D-1A82-BB61-D8ACA3B09833}"/>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1" name="Group 783">
            <a:extLst>
              <a:ext uri="{FF2B5EF4-FFF2-40B4-BE49-F238E27FC236}">
                <a16:creationId xmlns:a16="http://schemas.microsoft.com/office/drawing/2014/main" xmlns="" id="{112EF109-4AF4-1180-D722-5C676EB0535E}"/>
              </a:ext>
            </a:extLst>
          </p:cNvPr>
          <p:cNvGrpSpPr>
            <a:grpSpLocks/>
          </p:cNvGrpSpPr>
          <p:nvPr/>
        </p:nvGrpSpPr>
        <p:grpSpPr bwMode="auto">
          <a:xfrm>
            <a:off x="8050698" y="2309376"/>
            <a:ext cx="298450" cy="464008"/>
            <a:chOff x="3130" y="3288"/>
            <a:chExt cx="410" cy="742"/>
          </a:xfrm>
        </p:grpSpPr>
        <p:sp>
          <p:nvSpPr>
            <p:cNvPr id="82" name="Line 270">
              <a:extLst>
                <a:ext uri="{FF2B5EF4-FFF2-40B4-BE49-F238E27FC236}">
                  <a16:creationId xmlns:a16="http://schemas.microsoft.com/office/drawing/2014/main" xmlns="" id="{94679357-3240-4627-1913-1FB201DD4603}"/>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Line 271">
              <a:extLst>
                <a:ext uri="{FF2B5EF4-FFF2-40B4-BE49-F238E27FC236}">
                  <a16:creationId xmlns:a16="http://schemas.microsoft.com/office/drawing/2014/main" xmlns="" id="{3CEFC269-9CFB-9FD1-911B-9915E02F047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Line 272">
              <a:extLst>
                <a:ext uri="{FF2B5EF4-FFF2-40B4-BE49-F238E27FC236}">
                  <a16:creationId xmlns:a16="http://schemas.microsoft.com/office/drawing/2014/main" xmlns="" id="{243150EE-222F-997A-83E2-8384496D3D53}"/>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273">
              <a:extLst>
                <a:ext uri="{FF2B5EF4-FFF2-40B4-BE49-F238E27FC236}">
                  <a16:creationId xmlns:a16="http://schemas.microsoft.com/office/drawing/2014/main" xmlns="" id="{99E02FC2-92CB-B265-6E4B-ECAC1577D1A2}"/>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Line 274">
              <a:extLst>
                <a:ext uri="{FF2B5EF4-FFF2-40B4-BE49-F238E27FC236}">
                  <a16:creationId xmlns:a16="http://schemas.microsoft.com/office/drawing/2014/main" xmlns="" id="{CEB5C340-2C2B-BDA9-B57F-D71C8BBEDBAB}"/>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Line 275">
              <a:extLst>
                <a:ext uri="{FF2B5EF4-FFF2-40B4-BE49-F238E27FC236}">
                  <a16:creationId xmlns:a16="http://schemas.microsoft.com/office/drawing/2014/main" xmlns="" id="{849637C8-C6F1-9923-CD8B-19AA654C693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Line 276">
              <a:extLst>
                <a:ext uri="{FF2B5EF4-FFF2-40B4-BE49-F238E27FC236}">
                  <a16:creationId xmlns:a16="http://schemas.microsoft.com/office/drawing/2014/main" xmlns="" id="{AABFDC44-6A7B-9E4B-F024-C12A746D14A4}"/>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7">
              <a:extLst>
                <a:ext uri="{FF2B5EF4-FFF2-40B4-BE49-F238E27FC236}">
                  <a16:creationId xmlns:a16="http://schemas.microsoft.com/office/drawing/2014/main" xmlns="" id="{6C26F77E-674D-91A8-5799-89FCE2254530}"/>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8">
              <a:extLst>
                <a:ext uri="{FF2B5EF4-FFF2-40B4-BE49-F238E27FC236}">
                  <a16:creationId xmlns:a16="http://schemas.microsoft.com/office/drawing/2014/main" xmlns="" id="{F7FDBC00-48A5-A42E-3AF5-BC813C5C20A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9">
              <a:extLst>
                <a:ext uri="{FF2B5EF4-FFF2-40B4-BE49-F238E27FC236}">
                  <a16:creationId xmlns:a16="http://schemas.microsoft.com/office/drawing/2014/main" xmlns="" id="{23C91D55-41C3-4F25-F0AB-D5FD8FE0ED42}"/>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80">
              <a:extLst>
                <a:ext uri="{FF2B5EF4-FFF2-40B4-BE49-F238E27FC236}">
                  <a16:creationId xmlns:a16="http://schemas.microsoft.com/office/drawing/2014/main" xmlns="" id="{26A09476-CA59-2084-A01D-35A5B11C5671}"/>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81">
              <a:extLst>
                <a:ext uri="{FF2B5EF4-FFF2-40B4-BE49-F238E27FC236}">
                  <a16:creationId xmlns:a16="http://schemas.microsoft.com/office/drawing/2014/main" xmlns="" id="{F1652487-356C-D457-56EC-458E860F2047}"/>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82">
              <a:extLst>
                <a:ext uri="{FF2B5EF4-FFF2-40B4-BE49-F238E27FC236}">
                  <a16:creationId xmlns:a16="http://schemas.microsoft.com/office/drawing/2014/main" xmlns="" id="{626983F0-91C5-348F-65E0-345F54C09F4A}"/>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83">
              <a:extLst>
                <a:ext uri="{FF2B5EF4-FFF2-40B4-BE49-F238E27FC236}">
                  <a16:creationId xmlns:a16="http://schemas.microsoft.com/office/drawing/2014/main" xmlns="" id="{49287837-A3EE-ABA9-4B42-CADCB3F6CA38}"/>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84">
              <a:extLst>
                <a:ext uri="{FF2B5EF4-FFF2-40B4-BE49-F238E27FC236}">
                  <a16:creationId xmlns:a16="http://schemas.microsoft.com/office/drawing/2014/main" xmlns="" id="{0FDEB029-A9D3-BEF9-B821-D38AD8816F19}"/>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97" name="Picture 777" descr="access_point_stylized_small">
            <a:extLst>
              <a:ext uri="{FF2B5EF4-FFF2-40B4-BE49-F238E27FC236}">
                <a16:creationId xmlns:a16="http://schemas.microsoft.com/office/drawing/2014/main" xmlns="" id="{DF6D997A-5795-0E77-835E-8DA37DA70E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Picture 780" descr="access_point_stylized_small">
            <a:extLst>
              <a:ext uri="{FF2B5EF4-FFF2-40B4-BE49-F238E27FC236}">
                <a16:creationId xmlns:a16="http://schemas.microsoft.com/office/drawing/2014/main" xmlns="" id="{934F6BD8-78BC-B7E3-60CD-F620F41AB3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9" name="Group 98">
            <a:extLst>
              <a:ext uri="{FF2B5EF4-FFF2-40B4-BE49-F238E27FC236}">
                <a16:creationId xmlns:a16="http://schemas.microsoft.com/office/drawing/2014/main" xmlns="" id="{7A5A8C77-6571-937D-775F-7BAA265AC7D6}"/>
              </a:ext>
            </a:extLst>
          </p:cNvPr>
          <p:cNvGrpSpPr/>
          <p:nvPr/>
        </p:nvGrpSpPr>
        <p:grpSpPr>
          <a:xfrm>
            <a:off x="9783558" y="4989983"/>
            <a:ext cx="393760" cy="218578"/>
            <a:chOff x="7493876" y="2774731"/>
            <a:chExt cx="1481958" cy="894622"/>
          </a:xfrm>
        </p:grpSpPr>
        <p:sp>
          <p:nvSpPr>
            <p:cNvPr id="100" name="Freeform 105">
              <a:extLst>
                <a:ext uri="{FF2B5EF4-FFF2-40B4-BE49-F238E27FC236}">
                  <a16:creationId xmlns:a16="http://schemas.microsoft.com/office/drawing/2014/main" xmlns="" id="{5B6E8493-CE7D-A962-C69F-90EBAAEB2E7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1" name="Oval 100">
              <a:extLst>
                <a:ext uri="{FF2B5EF4-FFF2-40B4-BE49-F238E27FC236}">
                  <a16:creationId xmlns:a16="http://schemas.microsoft.com/office/drawing/2014/main" xmlns="" id="{A54871FE-7FF9-1C12-05C9-4FF342E6540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2" name="Group 101">
              <a:extLst>
                <a:ext uri="{FF2B5EF4-FFF2-40B4-BE49-F238E27FC236}">
                  <a16:creationId xmlns:a16="http://schemas.microsoft.com/office/drawing/2014/main" xmlns="" id="{401F25A9-59C1-4688-8232-6D959FEAA735}"/>
                </a:ext>
              </a:extLst>
            </p:cNvPr>
            <p:cNvGrpSpPr/>
            <p:nvPr/>
          </p:nvGrpSpPr>
          <p:grpSpPr>
            <a:xfrm>
              <a:off x="7713663" y="2848339"/>
              <a:ext cx="1042107" cy="425543"/>
              <a:chOff x="7786941" y="2884917"/>
              <a:chExt cx="897649" cy="353919"/>
            </a:xfrm>
          </p:grpSpPr>
          <p:sp>
            <p:nvSpPr>
              <p:cNvPr id="103" name="Freeform 108">
                <a:extLst>
                  <a:ext uri="{FF2B5EF4-FFF2-40B4-BE49-F238E27FC236}">
                    <a16:creationId xmlns:a16="http://schemas.microsoft.com/office/drawing/2014/main" xmlns="" id="{5CE58544-370C-A72F-96A6-71AB6FBAE99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Freeform 109">
                <a:extLst>
                  <a:ext uri="{FF2B5EF4-FFF2-40B4-BE49-F238E27FC236}">
                    <a16:creationId xmlns:a16="http://schemas.microsoft.com/office/drawing/2014/main" xmlns="" id="{623182FA-5080-20C3-9824-613A0EB12A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Freeform 110">
                <a:extLst>
                  <a:ext uri="{FF2B5EF4-FFF2-40B4-BE49-F238E27FC236}">
                    <a16:creationId xmlns:a16="http://schemas.microsoft.com/office/drawing/2014/main" xmlns="" id="{E1CC111F-637A-145C-1737-65181542A01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Freeform 111">
                <a:extLst>
                  <a:ext uri="{FF2B5EF4-FFF2-40B4-BE49-F238E27FC236}">
                    <a16:creationId xmlns:a16="http://schemas.microsoft.com/office/drawing/2014/main" xmlns="" id="{418BB995-4E80-9E8F-7FA6-973C3312FD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07" name="Group 106">
            <a:extLst>
              <a:ext uri="{FF2B5EF4-FFF2-40B4-BE49-F238E27FC236}">
                <a16:creationId xmlns:a16="http://schemas.microsoft.com/office/drawing/2014/main" xmlns="" id="{4C3A0F96-13CA-96A5-2421-B6537EEB7D01}"/>
              </a:ext>
            </a:extLst>
          </p:cNvPr>
          <p:cNvGrpSpPr/>
          <p:nvPr/>
        </p:nvGrpSpPr>
        <p:grpSpPr>
          <a:xfrm>
            <a:off x="9849365" y="5339037"/>
            <a:ext cx="309740" cy="190838"/>
            <a:chOff x="3668110" y="2448910"/>
            <a:chExt cx="3794234" cy="2165130"/>
          </a:xfrm>
        </p:grpSpPr>
        <p:sp>
          <p:nvSpPr>
            <p:cNvPr id="108" name="Rectangle 107">
              <a:extLst>
                <a:ext uri="{FF2B5EF4-FFF2-40B4-BE49-F238E27FC236}">
                  <a16:creationId xmlns:a16="http://schemas.microsoft.com/office/drawing/2014/main" xmlns="" id="{08C3FD58-129D-D30E-1E05-B25737DFDAC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Freeform 114">
              <a:extLst>
                <a:ext uri="{FF2B5EF4-FFF2-40B4-BE49-F238E27FC236}">
                  <a16:creationId xmlns:a16="http://schemas.microsoft.com/office/drawing/2014/main" xmlns="" id="{B48A8828-5665-602F-DAB4-D43AF8AB8E6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0" name="Group 109">
              <a:extLst>
                <a:ext uri="{FF2B5EF4-FFF2-40B4-BE49-F238E27FC236}">
                  <a16:creationId xmlns:a16="http://schemas.microsoft.com/office/drawing/2014/main" xmlns="" id="{F043417A-4C70-F415-420B-7A4FC764E962}"/>
                </a:ext>
              </a:extLst>
            </p:cNvPr>
            <p:cNvGrpSpPr/>
            <p:nvPr/>
          </p:nvGrpSpPr>
          <p:grpSpPr>
            <a:xfrm>
              <a:off x="3941378" y="2603243"/>
              <a:ext cx="3202061" cy="1066110"/>
              <a:chOff x="7939341" y="3037317"/>
              <a:chExt cx="897649" cy="353919"/>
            </a:xfrm>
          </p:grpSpPr>
          <p:sp>
            <p:nvSpPr>
              <p:cNvPr id="111" name="Freeform 116">
                <a:extLst>
                  <a:ext uri="{FF2B5EF4-FFF2-40B4-BE49-F238E27FC236}">
                    <a16:creationId xmlns:a16="http://schemas.microsoft.com/office/drawing/2014/main" xmlns="" id="{2D217B18-6B21-02C1-6D4D-348F24923142}"/>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7">
                <a:extLst>
                  <a:ext uri="{FF2B5EF4-FFF2-40B4-BE49-F238E27FC236}">
                    <a16:creationId xmlns:a16="http://schemas.microsoft.com/office/drawing/2014/main" xmlns="" id="{08BA39C7-8985-710C-3B65-322E22C434D6}"/>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Freeform 118">
                <a:extLst>
                  <a:ext uri="{FF2B5EF4-FFF2-40B4-BE49-F238E27FC236}">
                    <a16:creationId xmlns:a16="http://schemas.microsoft.com/office/drawing/2014/main" xmlns="" id="{E5EC1C26-5377-2BA7-2D14-7E21A8816F7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 name="Freeform 119">
                <a:extLst>
                  <a:ext uri="{FF2B5EF4-FFF2-40B4-BE49-F238E27FC236}">
                    <a16:creationId xmlns:a16="http://schemas.microsoft.com/office/drawing/2014/main" xmlns="" id="{401049C5-8005-14C0-F0AB-9EC1C6D6F8A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5" name="Group 114">
            <a:extLst>
              <a:ext uri="{FF2B5EF4-FFF2-40B4-BE49-F238E27FC236}">
                <a16:creationId xmlns:a16="http://schemas.microsoft.com/office/drawing/2014/main" xmlns="" id="{56F7B188-E203-4C2D-5F97-AF38F9C570B0}"/>
              </a:ext>
            </a:extLst>
          </p:cNvPr>
          <p:cNvGrpSpPr/>
          <p:nvPr/>
        </p:nvGrpSpPr>
        <p:grpSpPr>
          <a:xfrm>
            <a:off x="8676619" y="4967420"/>
            <a:ext cx="393760" cy="218578"/>
            <a:chOff x="7493876" y="2774731"/>
            <a:chExt cx="1481958" cy="894622"/>
          </a:xfrm>
        </p:grpSpPr>
        <p:sp>
          <p:nvSpPr>
            <p:cNvPr id="116" name="Freeform 121">
              <a:extLst>
                <a:ext uri="{FF2B5EF4-FFF2-40B4-BE49-F238E27FC236}">
                  <a16:creationId xmlns:a16="http://schemas.microsoft.com/office/drawing/2014/main" xmlns="" id="{48E36700-82CF-C132-0AD3-9BB4BBAE86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17" name="Oval 116">
              <a:extLst>
                <a:ext uri="{FF2B5EF4-FFF2-40B4-BE49-F238E27FC236}">
                  <a16:creationId xmlns:a16="http://schemas.microsoft.com/office/drawing/2014/main" xmlns="" id="{44499693-451E-85FB-4114-F2D40C7218E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18" name="Group 117">
              <a:extLst>
                <a:ext uri="{FF2B5EF4-FFF2-40B4-BE49-F238E27FC236}">
                  <a16:creationId xmlns:a16="http://schemas.microsoft.com/office/drawing/2014/main" xmlns="" id="{F9D6DC35-CDB2-9B17-F3C6-51D59ECC0DBD}"/>
                </a:ext>
              </a:extLst>
            </p:cNvPr>
            <p:cNvGrpSpPr/>
            <p:nvPr/>
          </p:nvGrpSpPr>
          <p:grpSpPr>
            <a:xfrm>
              <a:off x="7713663" y="2848339"/>
              <a:ext cx="1042107" cy="425543"/>
              <a:chOff x="7786941" y="2884917"/>
              <a:chExt cx="897649" cy="353919"/>
            </a:xfrm>
          </p:grpSpPr>
          <p:sp>
            <p:nvSpPr>
              <p:cNvPr id="119" name="Freeform 124">
                <a:extLst>
                  <a:ext uri="{FF2B5EF4-FFF2-40B4-BE49-F238E27FC236}">
                    <a16:creationId xmlns:a16="http://schemas.microsoft.com/office/drawing/2014/main" xmlns="" id="{DB15E2B0-7005-27B2-FCA4-FE212FFDDFF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25">
                <a:extLst>
                  <a:ext uri="{FF2B5EF4-FFF2-40B4-BE49-F238E27FC236}">
                    <a16:creationId xmlns:a16="http://schemas.microsoft.com/office/drawing/2014/main" xmlns="" id="{E0D811D7-1813-F124-44C3-54592C38BF7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Freeform 126">
                <a:extLst>
                  <a:ext uri="{FF2B5EF4-FFF2-40B4-BE49-F238E27FC236}">
                    <a16:creationId xmlns:a16="http://schemas.microsoft.com/office/drawing/2014/main" xmlns="" id="{66943D62-B6E3-361C-24D8-6EBA627B8D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Freeform 127">
                <a:extLst>
                  <a:ext uri="{FF2B5EF4-FFF2-40B4-BE49-F238E27FC236}">
                    <a16:creationId xmlns:a16="http://schemas.microsoft.com/office/drawing/2014/main" xmlns="" id="{E279F0E2-930F-A7D6-A48D-DD54605730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3" name="Group 122">
            <a:extLst>
              <a:ext uri="{FF2B5EF4-FFF2-40B4-BE49-F238E27FC236}">
                <a16:creationId xmlns:a16="http://schemas.microsoft.com/office/drawing/2014/main" xmlns="" id="{F9BCE4E2-6C5B-BF67-1B5E-141E837946B5}"/>
              </a:ext>
            </a:extLst>
          </p:cNvPr>
          <p:cNvGrpSpPr/>
          <p:nvPr/>
        </p:nvGrpSpPr>
        <p:grpSpPr>
          <a:xfrm>
            <a:off x="8311520" y="5194433"/>
            <a:ext cx="309740" cy="190838"/>
            <a:chOff x="3668110" y="2448910"/>
            <a:chExt cx="3794234" cy="2165130"/>
          </a:xfrm>
        </p:grpSpPr>
        <p:sp>
          <p:nvSpPr>
            <p:cNvPr id="124" name="Rectangle 123">
              <a:extLst>
                <a:ext uri="{FF2B5EF4-FFF2-40B4-BE49-F238E27FC236}">
                  <a16:creationId xmlns:a16="http://schemas.microsoft.com/office/drawing/2014/main" xmlns="" id="{9B8E4374-A98B-7758-FADE-23E67FC4D761}"/>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Freeform 130">
              <a:extLst>
                <a:ext uri="{FF2B5EF4-FFF2-40B4-BE49-F238E27FC236}">
                  <a16:creationId xmlns:a16="http://schemas.microsoft.com/office/drawing/2014/main" xmlns="" id="{FA5B766C-9D90-B879-35EC-F9E8380A801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6" name="Group 125">
              <a:extLst>
                <a:ext uri="{FF2B5EF4-FFF2-40B4-BE49-F238E27FC236}">
                  <a16:creationId xmlns:a16="http://schemas.microsoft.com/office/drawing/2014/main" xmlns="" id="{64CD4CC3-CD28-318E-56D9-708F66AAD395}"/>
                </a:ext>
              </a:extLst>
            </p:cNvPr>
            <p:cNvGrpSpPr/>
            <p:nvPr/>
          </p:nvGrpSpPr>
          <p:grpSpPr>
            <a:xfrm>
              <a:off x="3941378" y="2603243"/>
              <a:ext cx="3202061" cy="1066110"/>
              <a:chOff x="7939341" y="3037317"/>
              <a:chExt cx="897649" cy="353919"/>
            </a:xfrm>
          </p:grpSpPr>
          <p:sp>
            <p:nvSpPr>
              <p:cNvPr id="127" name="Freeform 132">
                <a:extLst>
                  <a:ext uri="{FF2B5EF4-FFF2-40B4-BE49-F238E27FC236}">
                    <a16:creationId xmlns:a16="http://schemas.microsoft.com/office/drawing/2014/main" xmlns="" id="{161E6534-E29A-E231-6B54-17CE862A27E2}"/>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33">
                <a:extLst>
                  <a:ext uri="{FF2B5EF4-FFF2-40B4-BE49-F238E27FC236}">
                    <a16:creationId xmlns:a16="http://schemas.microsoft.com/office/drawing/2014/main" xmlns="" id="{FB2A3127-C972-EA44-BCAE-4E6ADA20311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34">
                <a:extLst>
                  <a:ext uri="{FF2B5EF4-FFF2-40B4-BE49-F238E27FC236}">
                    <a16:creationId xmlns:a16="http://schemas.microsoft.com/office/drawing/2014/main" xmlns="" id="{95AD9003-1EDA-F257-0C6D-C71CD7DE911D}"/>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Freeform 135">
                <a:extLst>
                  <a:ext uri="{FF2B5EF4-FFF2-40B4-BE49-F238E27FC236}">
                    <a16:creationId xmlns:a16="http://schemas.microsoft.com/office/drawing/2014/main" xmlns="" id="{698DDA3C-539E-9B1B-B69B-9C559141993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1" name="Group 130">
            <a:extLst>
              <a:ext uri="{FF2B5EF4-FFF2-40B4-BE49-F238E27FC236}">
                <a16:creationId xmlns:a16="http://schemas.microsoft.com/office/drawing/2014/main" xmlns="" id="{534CC1BB-9712-1247-D95F-E555912A852A}"/>
              </a:ext>
            </a:extLst>
          </p:cNvPr>
          <p:cNvGrpSpPr/>
          <p:nvPr/>
        </p:nvGrpSpPr>
        <p:grpSpPr>
          <a:xfrm>
            <a:off x="8439827" y="2812309"/>
            <a:ext cx="353678" cy="168275"/>
            <a:chOff x="7493876" y="2774731"/>
            <a:chExt cx="1481958" cy="894622"/>
          </a:xfrm>
        </p:grpSpPr>
        <p:sp>
          <p:nvSpPr>
            <p:cNvPr id="132" name="Freeform 137">
              <a:extLst>
                <a:ext uri="{FF2B5EF4-FFF2-40B4-BE49-F238E27FC236}">
                  <a16:creationId xmlns:a16="http://schemas.microsoft.com/office/drawing/2014/main" xmlns="" id="{83185A97-9CD2-1222-A190-D9DB53BB297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3" name="Oval 132">
              <a:extLst>
                <a:ext uri="{FF2B5EF4-FFF2-40B4-BE49-F238E27FC236}">
                  <a16:creationId xmlns:a16="http://schemas.microsoft.com/office/drawing/2014/main" xmlns="" id="{47D254D6-9B77-4F44-9499-993A482A005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34" name="Group 133">
              <a:extLst>
                <a:ext uri="{FF2B5EF4-FFF2-40B4-BE49-F238E27FC236}">
                  <a16:creationId xmlns:a16="http://schemas.microsoft.com/office/drawing/2014/main" xmlns="" id="{244019E2-EFA4-92F0-E805-D9578F72B108}"/>
                </a:ext>
              </a:extLst>
            </p:cNvPr>
            <p:cNvGrpSpPr/>
            <p:nvPr/>
          </p:nvGrpSpPr>
          <p:grpSpPr>
            <a:xfrm>
              <a:off x="7713663" y="2848339"/>
              <a:ext cx="1042107" cy="425543"/>
              <a:chOff x="7786941" y="2884917"/>
              <a:chExt cx="897649" cy="353919"/>
            </a:xfrm>
          </p:grpSpPr>
          <p:sp>
            <p:nvSpPr>
              <p:cNvPr id="135" name="Freeform 140">
                <a:extLst>
                  <a:ext uri="{FF2B5EF4-FFF2-40B4-BE49-F238E27FC236}">
                    <a16:creationId xmlns:a16="http://schemas.microsoft.com/office/drawing/2014/main" xmlns="" id="{7CE00F6F-9783-1F85-C062-2D5F88555F7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41">
                <a:extLst>
                  <a:ext uri="{FF2B5EF4-FFF2-40B4-BE49-F238E27FC236}">
                    <a16:creationId xmlns:a16="http://schemas.microsoft.com/office/drawing/2014/main" xmlns="" id="{2FBB44C5-2D0D-6A34-8FD2-FB07D69B3A9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142">
                <a:extLst>
                  <a:ext uri="{FF2B5EF4-FFF2-40B4-BE49-F238E27FC236}">
                    <a16:creationId xmlns:a16="http://schemas.microsoft.com/office/drawing/2014/main" xmlns="" id="{3AACAAD8-666B-02F9-D9CF-1E9AF2834D1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Freeform 143">
                <a:extLst>
                  <a:ext uri="{FF2B5EF4-FFF2-40B4-BE49-F238E27FC236}">
                    <a16:creationId xmlns:a16="http://schemas.microsoft.com/office/drawing/2014/main" xmlns="" id="{704D8CF9-ACED-824B-2AC5-58142F6B8E2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9" name="Group 138">
            <a:extLst>
              <a:ext uri="{FF2B5EF4-FFF2-40B4-BE49-F238E27FC236}">
                <a16:creationId xmlns:a16="http://schemas.microsoft.com/office/drawing/2014/main" xmlns="" id="{8C8512E7-6158-0B39-8ACF-F3EF1E0A619B}"/>
              </a:ext>
            </a:extLst>
          </p:cNvPr>
          <p:cNvGrpSpPr/>
          <p:nvPr/>
        </p:nvGrpSpPr>
        <p:grpSpPr>
          <a:xfrm>
            <a:off x="8050070" y="3965994"/>
            <a:ext cx="354986" cy="175668"/>
            <a:chOff x="7493876" y="2774731"/>
            <a:chExt cx="1481958" cy="894622"/>
          </a:xfrm>
        </p:grpSpPr>
        <p:sp>
          <p:nvSpPr>
            <p:cNvPr id="140" name="Freeform 145">
              <a:extLst>
                <a:ext uri="{FF2B5EF4-FFF2-40B4-BE49-F238E27FC236}">
                  <a16:creationId xmlns:a16="http://schemas.microsoft.com/office/drawing/2014/main" xmlns="" id="{3698D7A4-FB34-4B84-556D-5FBA9B688D3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1" name="Oval 140">
              <a:extLst>
                <a:ext uri="{FF2B5EF4-FFF2-40B4-BE49-F238E27FC236}">
                  <a16:creationId xmlns:a16="http://schemas.microsoft.com/office/drawing/2014/main" xmlns="" id="{346A8DD1-BBA5-0C61-4508-36D200AC5AE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2" name="Group 141">
              <a:extLst>
                <a:ext uri="{FF2B5EF4-FFF2-40B4-BE49-F238E27FC236}">
                  <a16:creationId xmlns:a16="http://schemas.microsoft.com/office/drawing/2014/main" xmlns="" id="{4D23DDEB-F28F-A4FA-3DC0-582F6E547E4E}"/>
                </a:ext>
              </a:extLst>
            </p:cNvPr>
            <p:cNvGrpSpPr/>
            <p:nvPr/>
          </p:nvGrpSpPr>
          <p:grpSpPr>
            <a:xfrm>
              <a:off x="7713663" y="2848339"/>
              <a:ext cx="1042107" cy="425543"/>
              <a:chOff x="7786941" y="2884917"/>
              <a:chExt cx="897649" cy="353919"/>
            </a:xfrm>
          </p:grpSpPr>
          <p:sp>
            <p:nvSpPr>
              <p:cNvPr id="143" name="Freeform 148">
                <a:extLst>
                  <a:ext uri="{FF2B5EF4-FFF2-40B4-BE49-F238E27FC236}">
                    <a16:creationId xmlns:a16="http://schemas.microsoft.com/office/drawing/2014/main" xmlns="" id="{401EA39C-54F7-7435-EA9A-110B37BEC7C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9">
                <a:extLst>
                  <a:ext uri="{FF2B5EF4-FFF2-40B4-BE49-F238E27FC236}">
                    <a16:creationId xmlns:a16="http://schemas.microsoft.com/office/drawing/2014/main" xmlns="" id="{C92A42B4-B116-125C-E833-5919EA48350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Freeform 150">
                <a:extLst>
                  <a:ext uri="{FF2B5EF4-FFF2-40B4-BE49-F238E27FC236}">
                    <a16:creationId xmlns:a16="http://schemas.microsoft.com/office/drawing/2014/main" xmlns="" id="{80D38411-4AD4-FCCF-03AA-7D6DA86AB0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51">
                <a:extLst>
                  <a:ext uri="{FF2B5EF4-FFF2-40B4-BE49-F238E27FC236}">
                    <a16:creationId xmlns:a16="http://schemas.microsoft.com/office/drawing/2014/main" xmlns="" id="{85B75993-3BD4-0940-8D3F-AF6B2082913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7" name="Group 146">
            <a:extLst>
              <a:ext uri="{FF2B5EF4-FFF2-40B4-BE49-F238E27FC236}">
                <a16:creationId xmlns:a16="http://schemas.microsoft.com/office/drawing/2014/main" xmlns="" id="{7DC3FE22-F415-8622-8370-00C494717F1B}"/>
              </a:ext>
            </a:extLst>
          </p:cNvPr>
          <p:cNvGrpSpPr/>
          <p:nvPr/>
        </p:nvGrpSpPr>
        <p:grpSpPr>
          <a:xfrm>
            <a:off x="10884085" y="3601365"/>
            <a:ext cx="170989" cy="97052"/>
            <a:chOff x="7493876" y="2774731"/>
            <a:chExt cx="1481958" cy="894622"/>
          </a:xfrm>
        </p:grpSpPr>
        <p:sp>
          <p:nvSpPr>
            <p:cNvPr id="148" name="Freeform 153">
              <a:extLst>
                <a:ext uri="{FF2B5EF4-FFF2-40B4-BE49-F238E27FC236}">
                  <a16:creationId xmlns:a16="http://schemas.microsoft.com/office/drawing/2014/main" xmlns="" id="{2F385BEE-6673-063F-09D6-B884C29A54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9" name="Oval 148">
              <a:extLst>
                <a:ext uri="{FF2B5EF4-FFF2-40B4-BE49-F238E27FC236}">
                  <a16:creationId xmlns:a16="http://schemas.microsoft.com/office/drawing/2014/main" xmlns="" id="{7AD1CB86-F277-2680-5FF7-0760966DF2E4}"/>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0" name="Group 149">
              <a:extLst>
                <a:ext uri="{FF2B5EF4-FFF2-40B4-BE49-F238E27FC236}">
                  <a16:creationId xmlns:a16="http://schemas.microsoft.com/office/drawing/2014/main" xmlns="" id="{066B0B90-225C-1B97-8A81-0EBCDC329A1A}"/>
                </a:ext>
              </a:extLst>
            </p:cNvPr>
            <p:cNvGrpSpPr/>
            <p:nvPr/>
          </p:nvGrpSpPr>
          <p:grpSpPr>
            <a:xfrm>
              <a:off x="7713663" y="2848339"/>
              <a:ext cx="1042107" cy="425543"/>
              <a:chOff x="7786941" y="2884917"/>
              <a:chExt cx="897649" cy="353919"/>
            </a:xfrm>
          </p:grpSpPr>
          <p:sp>
            <p:nvSpPr>
              <p:cNvPr id="151" name="Freeform 156">
                <a:extLst>
                  <a:ext uri="{FF2B5EF4-FFF2-40B4-BE49-F238E27FC236}">
                    <a16:creationId xmlns:a16="http://schemas.microsoft.com/office/drawing/2014/main" xmlns="" id="{66E44AE2-25B5-3BE0-7B96-EEC05AAB3D3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7">
                <a:extLst>
                  <a:ext uri="{FF2B5EF4-FFF2-40B4-BE49-F238E27FC236}">
                    <a16:creationId xmlns:a16="http://schemas.microsoft.com/office/drawing/2014/main" xmlns="" id="{B97272B6-DFB8-85A8-F437-AB4728145D1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Freeform 158">
                <a:extLst>
                  <a:ext uri="{FF2B5EF4-FFF2-40B4-BE49-F238E27FC236}">
                    <a16:creationId xmlns:a16="http://schemas.microsoft.com/office/drawing/2014/main" xmlns="" id="{C7487573-9E9D-CB4E-48D1-6153E8C151D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Freeform 159">
                <a:extLst>
                  <a:ext uri="{FF2B5EF4-FFF2-40B4-BE49-F238E27FC236}">
                    <a16:creationId xmlns:a16="http://schemas.microsoft.com/office/drawing/2014/main" xmlns="" id="{190F6530-07C8-C793-4A02-1C0B940E59D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5" name="Group 154">
            <a:extLst>
              <a:ext uri="{FF2B5EF4-FFF2-40B4-BE49-F238E27FC236}">
                <a16:creationId xmlns:a16="http://schemas.microsoft.com/office/drawing/2014/main" xmlns="" id="{7240E096-9CD7-4FAE-250D-2F90A938227F}"/>
              </a:ext>
            </a:extLst>
          </p:cNvPr>
          <p:cNvGrpSpPr/>
          <p:nvPr/>
        </p:nvGrpSpPr>
        <p:grpSpPr>
          <a:xfrm>
            <a:off x="10410609" y="3496138"/>
            <a:ext cx="353678" cy="198344"/>
            <a:chOff x="7493876" y="2774731"/>
            <a:chExt cx="1481958" cy="894622"/>
          </a:xfrm>
        </p:grpSpPr>
        <p:sp>
          <p:nvSpPr>
            <p:cNvPr id="156" name="Freeform 161">
              <a:extLst>
                <a:ext uri="{FF2B5EF4-FFF2-40B4-BE49-F238E27FC236}">
                  <a16:creationId xmlns:a16="http://schemas.microsoft.com/office/drawing/2014/main" xmlns="" id="{D6C329EF-633E-C259-3052-9EF1FE56BA4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7" name="Oval 156">
              <a:extLst>
                <a:ext uri="{FF2B5EF4-FFF2-40B4-BE49-F238E27FC236}">
                  <a16:creationId xmlns:a16="http://schemas.microsoft.com/office/drawing/2014/main" xmlns="" id="{F7C229E5-B19F-5979-3A53-9323B924D6A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8" name="Group 157">
              <a:extLst>
                <a:ext uri="{FF2B5EF4-FFF2-40B4-BE49-F238E27FC236}">
                  <a16:creationId xmlns:a16="http://schemas.microsoft.com/office/drawing/2014/main" xmlns="" id="{41D60711-00A2-C69C-7511-68AAEC9B7A7A}"/>
                </a:ext>
              </a:extLst>
            </p:cNvPr>
            <p:cNvGrpSpPr/>
            <p:nvPr/>
          </p:nvGrpSpPr>
          <p:grpSpPr>
            <a:xfrm>
              <a:off x="7713663" y="2848339"/>
              <a:ext cx="1042107" cy="425543"/>
              <a:chOff x="7786941" y="2884917"/>
              <a:chExt cx="897649" cy="353919"/>
            </a:xfrm>
          </p:grpSpPr>
          <p:sp>
            <p:nvSpPr>
              <p:cNvPr id="159" name="Freeform 164">
                <a:extLst>
                  <a:ext uri="{FF2B5EF4-FFF2-40B4-BE49-F238E27FC236}">
                    <a16:creationId xmlns:a16="http://schemas.microsoft.com/office/drawing/2014/main" xmlns="" id="{3991F278-5904-8EB4-EF8B-F732B8BFB5F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65">
                <a:extLst>
                  <a:ext uri="{FF2B5EF4-FFF2-40B4-BE49-F238E27FC236}">
                    <a16:creationId xmlns:a16="http://schemas.microsoft.com/office/drawing/2014/main" xmlns="" id="{4617A814-87AB-3BCC-CFA4-B7A7B42E4BD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6">
                <a:extLst>
                  <a:ext uri="{FF2B5EF4-FFF2-40B4-BE49-F238E27FC236}">
                    <a16:creationId xmlns:a16="http://schemas.microsoft.com/office/drawing/2014/main" xmlns="" id="{86F5E38A-856F-590C-052E-0EA14FDD16E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7">
                <a:extLst>
                  <a:ext uri="{FF2B5EF4-FFF2-40B4-BE49-F238E27FC236}">
                    <a16:creationId xmlns:a16="http://schemas.microsoft.com/office/drawing/2014/main" xmlns="" id="{434ABD14-24A8-41B2-1ACE-D16165F15D2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3" name="Group 162">
            <a:extLst>
              <a:ext uri="{FF2B5EF4-FFF2-40B4-BE49-F238E27FC236}">
                <a16:creationId xmlns:a16="http://schemas.microsoft.com/office/drawing/2014/main" xmlns="" id="{F30DA83F-7D51-D68D-0A09-BBCB36B6B65D}"/>
              </a:ext>
            </a:extLst>
          </p:cNvPr>
          <p:cNvGrpSpPr/>
          <p:nvPr/>
        </p:nvGrpSpPr>
        <p:grpSpPr>
          <a:xfrm>
            <a:off x="9948724" y="2202292"/>
            <a:ext cx="353678" cy="198344"/>
            <a:chOff x="7493876" y="2774731"/>
            <a:chExt cx="1481958" cy="894622"/>
          </a:xfrm>
        </p:grpSpPr>
        <p:sp>
          <p:nvSpPr>
            <p:cNvPr id="164" name="Freeform 169">
              <a:extLst>
                <a:ext uri="{FF2B5EF4-FFF2-40B4-BE49-F238E27FC236}">
                  <a16:creationId xmlns:a16="http://schemas.microsoft.com/office/drawing/2014/main" xmlns="" id="{4ED9E3FD-4D33-01C6-F552-9F17FBF63ED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5" name="Oval 164">
              <a:extLst>
                <a:ext uri="{FF2B5EF4-FFF2-40B4-BE49-F238E27FC236}">
                  <a16:creationId xmlns:a16="http://schemas.microsoft.com/office/drawing/2014/main" xmlns="" id="{BBC2019B-793C-D9DE-972D-0EC86EB2F7E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6" name="Group 165">
              <a:extLst>
                <a:ext uri="{FF2B5EF4-FFF2-40B4-BE49-F238E27FC236}">
                  <a16:creationId xmlns:a16="http://schemas.microsoft.com/office/drawing/2014/main" xmlns="" id="{9FBC34DC-EDE4-251D-AD4C-C3A3717B5CFB}"/>
                </a:ext>
              </a:extLst>
            </p:cNvPr>
            <p:cNvGrpSpPr/>
            <p:nvPr/>
          </p:nvGrpSpPr>
          <p:grpSpPr>
            <a:xfrm>
              <a:off x="7713663" y="2848339"/>
              <a:ext cx="1042107" cy="425543"/>
              <a:chOff x="7786941" y="2884917"/>
              <a:chExt cx="897649" cy="353919"/>
            </a:xfrm>
          </p:grpSpPr>
          <p:sp>
            <p:nvSpPr>
              <p:cNvPr id="167" name="Freeform 172">
                <a:extLst>
                  <a:ext uri="{FF2B5EF4-FFF2-40B4-BE49-F238E27FC236}">
                    <a16:creationId xmlns:a16="http://schemas.microsoft.com/office/drawing/2014/main" xmlns="" id="{13E09AF2-7EF1-653D-9671-ACB16557436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73">
                <a:extLst>
                  <a:ext uri="{FF2B5EF4-FFF2-40B4-BE49-F238E27FC236}">
                    <a16:creationId xmlns:a16="http://schemas.microsoft.com/office/drawing/2014/main" xmlns="" id="{B64A5E56-FBA9-687E-1546-83D9C4B46F0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174">
                <a:extLst>
                  <a:ext uri="{FF2B5EF4-FFF2-40B4-BE49-F238E27FC236}">
                    <a16:creationId xmlns:a16="http://schemas.microsoft.com/office/drawing/2014/main" xmlns="" id="{9D955560-2F86-16BD-3D6F-E1934A5BD42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Freeform 175">
                <a:extLst>
                  <a:ext uri="{FF2B5EF4-FFF2-40B4-BE49-F238E27FC236}">
                    <a16:creationId xmlns:a16="http://schemas.microsoft.com/office/drawing/2014/main" xmlns="" id="{BA639297-71A9-F806-06D9-CDBEEA4D3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1" name="Group 170">
            <a:extLst>
              <a:ext uri="{FF2B5EF4-FFF2-40B4-BE49-F238E27FC236}">
                <a16:creationId xmlns:a16="http://schemas.microsoft.com/office/drawing/2014/main" xmlns="" id="{26B6768D-F8EC-24B8-538B-710A008698A1}"/>
              </a:ext>
            </a:extLst>
          </p:cNvPr>
          <p:cNvGrpSpPr/>
          <p:nvPr/>
        </p:nvGrpSpPr>
        <p:grpSpPr>
          <a:xfrm>
            <a:off x="10527214" y="2613367"/>
            <a:ext cx="353678" cy="198344"/>
            <a:chOff x="7493876" y="2774731"/>
            <a:chExt cx="1481958" cy="894622"/>
          </a:xfrm>
        </p:grpSpPr>
        <p:sp>
          <p:nvSpPr>
            <p:cNvPr id="172" name="Freeform 177">
              <a:extLst>
                <a:ext uri="{FF2B5EF4-FFF2-40B4-BE49-F238E27FC236}">
                  <a16:creationId xmlns:a16="http://schemas.microsoft.com/office/drawing/2014/main" xmlns="" id="{71633EA2-9284-3EC8-28E0-C26407D46E5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3" name="Oval 172">
              <a:extLst>
                <a:ext uri="{FF2B5EF4-FFF2-40B4-BE49-F238E27FC236}">
                  <a16:creationId xmlns:a16="http://schemas.microsoft.com/office/drawing/2014/main" xmlns="" id="{59606316-9134-8535-81B1-BEC09C97EC4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4" name="Group 173">
              <a:extLst>
                <a:ext uri="{FF2B5EF4-FFF2-40B4-BE49-F238E27FC236}">
                  <a16:creationId xmlns:a16="http://schemas.microsoft.com/office/drawing/2014/main" xmlns="" id="{FADFBD80-1BC3-C960-4E07-52A337D15F52}"/>
                </a:ext>
              </a:extLst>
            </p:cNvPr>
            <p:cNvGrpSpPr/>
            <p:nvPr/>
          </p:nvGrpSpPr>
          <p:grpSpPr>
            <a:xfrm>
              <a:off x="7713663" y="2848339"/>
              <a:ext cx="1042107" cy="425543"/>
              <a:chOff x="7786941" y="2884917"/>
              <a:chExt cx="897649" cy="353919"/>
            </a:xfrm>
          </p:grpSpPr>
          <p:sp>
            <p:nvSpPr>
              <p:cNvPr id="175" name="Freeform 180">
                <a:extLst>
                  <a:ext uri="{FF2B5EF4-FFF2-40B4-BE49-F238E27FC236}">
                    <a16:creationId xmlns:a16="http://schemas.microsoft.com/office/drawing/2014/main" xmlns="" id="{333D9116-22DD-DA85-F28A-F427E993FB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81">
                <a:extLst>
                  <a:ext uri="{FF2B5EF4-FFF2-40B4-BE49-F238E27FC236}">
                    <a16:creationId xmlns:a16="http://schemas.microsoft.com/office/drawing/2014/main" xmlns="" id="{46889960-A7BF-4DE3-17CD-F239B2D838E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Freeform 182">
                <a:extLst>
                  <a:ext uri="{FF2B5EF4-FFF2-40B4-BE49-F238E27FC236}">
                    <a16:creationId xmlns:a16="http://schemas.microsoft.com/office/drawing/2014/main" xmlns="" id="{E476A927-382C-F84A-6A1C-B3BD420F2ED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Freeform 183">
                <a:extLst>
                  <a:ext uri="{FF2B5EF4-FFF2-40B4-BE49-F238E27FC236}">
                    <a16:creationId xmlns:a16="http://schemas.microsoft.com/office/drawing/2014/main" xmlns="" id="{5A0E532F-AB97-6EFC-2B5D-A4DA4B1CE54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9" name="Group 178">
            <a:extLst>
              <a:ext uri="{FF2B5EF4-FFF2-40B4-BE49-F238E27FC236}">
                <a16:creationId xmlns:a16="http://schemas.microsoft.com/office/drawing/2014/main" xmlns="" id="{D89124E6-52E8-39BD-AD9A-C76EB3B3204F}"/>
              </a:ext>
            </a:extLst>
          </p:cNvPr>
          <p:cNvGrpSpPr/>
          <p:nvPr/>
        </p:nvGrpSpPr>
        <p:grpSpPr>
          <a:xfrm>
            <a:off x="10643825" y="2107963"/>
            <a:ext cx="353678" cy="198344"/>
            <a:chOff x="7493876" y="2774731"/>
            <a:chExt cx="1481958" cy="894622"/>
          </a:xfrm>
        </p:grpSpPr>
        <p:sp>
          <p:nvSpPr>
            <p:cNvPr id="180" name="Freeform 185">
              <a:extLst>
                <a:ext uri="{FF2B5EF4-FFF2-40B4-BE49-F238E27FC236}">
                  <a16:creationId xmlns:a16="http://schemas.microsoft.com/office/drawing/2014/main" xmlns="" id="{FC68F37A-8B84-4DB1-780D-DAB0B4B9C1B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1" name="Oval 180">
              <a:extLst>
                <a:ext uri="{FF2B5EF4-FFF2-40B4-BE49-F238E27FC236}">
                  <a16:creationId xmlns:a16="http://schemas.microsoft.com/office/drawing/2014/main" xmlns="" id="{79AB90BF-7485-45E6-A697-8A94DC5E1CE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2" name="Group 181">
              <a:extLst>
                <a:ext uri="{FF2B5EF4-FFF2-40B4-BE49-F238E27FC236}">
                  <a16:creationId xmlns:a16="http://schemas.microsoft.com/office/drawing/2014/main" xmlns="" id="{EB4103D1-CA3E-D07A-C8EC-C6F50054B8B9}"/>
                </a:ext>
              </a:extLst>
            </p:cNvPr>
            <p:cNvGrpSpPr/>
            <p:nvPr/>
          </p:nvGrpSpPr>
          <p:grpSpPr>
            <a:xfrm>
              <a:off x="7713663" y="2848339"/>
              <a:ext cx="1042107" cy="425543"/>
              <a:chOff x="7786941" y="2884917"/>
              <a:chExt cx="897649" cy="353919"/>
            </a:xfrm>
          </p:grpSpPr>
          <p:sp>
            <p:nvSpPr>
              <p:cNvPr id="183" name="Freeform 188">
                <a:extLst>
                  <a:ext uri="{FF2B5EF4-FFF2-40B4-BE49-F238E27FC236}">
                    <a16:creationId xmlns:a16="http://schemas.microsoft.com/office/drawing/2014/main" xmlns="" id="{0E75387E-7F79-62D6-5985-B1A40CC09BD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9">
                <a:extLst>
                  <a:ext uri="{FF2B5EF4-FFF2-40B4-BE49-F238E27FC236}">
                    <a16:creationId xmlns:a16="http://schemas.microsoft.com/office/drawing/2014/main" xmlns="" id="{17F611A6-FA56-DA4E-DFC5-8BFB4B42DAC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Freeform 190">
                <a:extLst>
                  <a:ext uri="{FF2B5EF4-FFF2-40B4-BE49-F238E27FC236}">
                    <a16:creationId xmlns:a16="http://schemas.microsoft.com/office/drawing/2014/main" xmlns="" id="{B30998B7-2EEF-E607-9EE4-833EA1C17E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 name="Freeform 191">
                <a:extLst>
                  <a:ext uri="{FF2B5EF4-FFF2-40B4-BE49-F238E27FC236}">
                    <a16:creationId xmlns:a16="http://schemas.microsoft.com/office/drawing/2014/main" xmlns="" id="{D84193BB-1AB2-37DE-74BD-69E7456E031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7" name="Group 186">
            <a:extLst>
              <a:ext uri="{FF2B5EF4-FFF2-40B4-BE49-F238E27FC236}">
                <a16:creationId xmlns:a16="http://schemas.microsoft.com/office/drawing/2014/main" xmlns="" id="{9944C368-F2D0-B927-691B-0EE09E6C5521}"/>
              </a:ext>
            </a:extLst>
          </p:cNvPr>
          <p:cNvGrpSpPr/>
          <p:nvPr/>
        </p:nvGrpSpPr>
        <p:grpSpPr>
          <a:xfrm>
            <a:off x="9098788" y="3956624"/>
            <a:ext cx="367224" cy="240304"/>
            <a:chOff x="7493876" y="2774731"/>
            <a:chExt cx="1481958" cy="894622"/>
          </a:xfrm>
        </p:grpSpPr>
        <p:sp>
          <p:nvSpPr>
            <p:cNvPr id="188" name="Freeform 193">
              <a:extLst>
                <a:ext uri="{FF2B5EF4-FFF2-40B4-BE49-F238E27FC236}">
                  <a16:creationId xmlns:a16="http://schemas.microsoft.com/office/drawing/2014/main" xmlns="" id="{3F29A1E5-976D-56A6-7C3F-333848E163E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9" name="Oval 188">
              <a:extLst>
                <a:ext uri="{FF2B5EF4-FFF2-40B4-BE49-F238E27FC236}">
                  <a16:creationId xmlns:a16="http://schemas.microsoft.com/office/drawing/2014/main" xmlns="" id="{FB9CE786-402A-9461-321D-1D515B280E3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0" name="Group 189">
              <a:extLst>
                <a:ext uri="{FF2B5EF4-FFF2-40B4-BE49-F238E27FC236}">
                  <a16:creationId xmlns:a16="http://schemas.microsoft.com/office/drawing/2014/main" xmlns="" id="{02D84060-B228-6A14-DA41-FB2F070A9B32}"/>
                </a:ext>
              </a:extLst>
            </p:cNvPr>
            <p:cNvGrpSpPr/>
            <p:nvPr/>
          </p:nvGrpSpPr>
          <p:grpSpPr>
            <a:xfrm>
              <a:off x="7713663" y="2848339"/>
              <a:ext cx="1042107" cy="425543"/>
              <a:chOff x="7786941" y="2884917"/>
              <a:chExt cx="897649" cy="353919"/>
            </a:xfrm>
          </p:grpSpPr>
          <p:sp>
            <p:nvSpPr>
              <p:cNvPr id="191" name="Freeform 196">
                <a:extLst>
                  <a:ext uri="{FF2B5EF4-FFF2-40B4-BE49-F238E27FC236}">
                    <a16:creationId xmlns:a16="http://schemas.microsoft.com/office/drawing/2014/main" xmlns="" id="{A3050AFB-7818-3FB3-FC16-48EE4634BD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7">
                <a:extLst>
                  <a:ext uri="{FF2B5EF4-FFF2-40B4-BE49-F238E27FC236}">
                    <a16:creationId xmlns:a16="http://schemas.microsoft.com/office/drawing/2014/main" xmlns="" id="{F1ADF8CA-B4D6-8FCF-A6FF-6F95E4F9677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Freeform 198">
                <a:extLst>
                  <a:ext uri="{FF2B5EF4-FFF2-40B4-BE49-F238E27FC236}">
                    <a16:creationId xmlns:a16="http://schemas.microsoft.com/office/drawing/2014/main" xmlns="" id="{9DBD90BD-08F2-4C50-6C14-32826E365B5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Freeform 199">
                <a:extLst>
                  <a:ext uri="{FF2B5EF4-FFF2-40B4-BE49-F238E27FC236}">
                    <a16:creationId xmlns:a16="http://schemas.microsoft.com/office/drawing/2014/main" xmlns="" id="{887846D7-F059-5E7D-332D-DE1E8D68368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 name="Group 194">
            <a:extLst>
              <a:ext uri="{FF2B5EF4-FFF2-40B4-BE49-F238E27FC236}">
                <a16:creationId xmlns:a16="http://schemas.microsoft.com/office/drawing/2014/main" xmlns="" id="{291C5DDB-9876-6393-E521-4624E47FE2BA}"/>
              </a:ext>
            </a:extLst>
          </p:cNvPr>
          <p:cNvGrpSpPr/>
          <p:nvPr/>
        </p:nvGrpSpPr>
        <p:grpSpPr>
          <a:xfrm>
            <a:off x="9980126" y="2661565"/>
            <a:ext cx="353678" cy="198344"/>
            <a:chOff x="7493876" y="2774731"/>
            <a:chExt cx="1481958" cy="894622"/>
          </a:xfrm>
        </p:grpSpPr>
        <p:sp>
          <p:nvSpPr>
            <p:cNvPr id="196" name="Freeform 201">
              <a:extLst>
                <a:ext uri="{FF2B5EF4-FFF2-40B4-BE49-F238E27FC236}">
                  <a16:creationId xmlns:a16="http://schemas.microsoft.com/office/drawing/2014/main" xmlns="" id="{E61CBCB0-538C-0E58-C629-2638E961590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7" name="Oval 196">
              <a:extLst>
                <a:ext uri="{FF2B5EF4-FFF2-40B4-BE49-F238E27FC236}">
                  <a16:creationId xmlns:a16="http://schemas.microsoft.com/office/drawing/2014/main" xmlns="" id="{4E6F9AF5-0F15-D538-9F57-6CC0F400FC5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8" name="Group 197">
              <a:extLst>
                <a:ext uri="{FF2B5EF4-FFF2-40B4-BE49-F238E27FC236}">
                  <a16:creationId xmlns:a16="http://schemas.microsoft.com/office/drawing/2014/main" xmlns="" id="{B11C6D32-9199-C72B-50CF-21544837BAA8}"/>
                </a:ext>
              </a:extLst>
            </p:cNvPr>
            <p:cNvGrpSpPr/>
            <p:nvPr/>
          </p:nvGrpSpPr>
          <p:grpSpPr>
            <a:xfrm>
              <a:off x="7713663" y="2848339"/>
              <a:ext cx="1042107" cy="425543"/>
              <a:chOff x="7786941" y="2884917"/>
              <a:chExt cx="897649" cy="353919"/>
            </a:xfrm>
          </p:grpSpPr>
          <p:sp>
            <p:nvSpPr>
              <p:cNvPr id="199" name="Freeform 204">
                <a:extLst>
                  <a:ext uri="{FF2B5EF4-FFF2-40B4-BE49-F238E27FC236}">
                    <a16:creationId xmlns:a16="http://schemas.microsoft.com/office/drawing/2014/main" xmlns="" id="{BC2F1C6D-27BD-02B6-245E-7C36CF1FF5F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205">
                <a:extLst>
                  <a:ext uri="{FF2B5EF4-FFF2-40B4-BE49-F238E27FC236}">
                    <a16:creationId xmlns:a16="http://schemas.microsoft.com/office/drawing/2014/main" xmlns="" id="{9FF6B3F8-CAB5-25C8-9A88-276FEC82369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Freeform 206">
                <a:extLst>
                  <a:ext uri="{FF2B5EF4-FFF2-40B4-BE49-F238E27FC236}">
                    <a16:creationId xmlns:a16="http://schemas.microsoft.com/office/drawing/2014/main" xmlns="" id="{D308756D-E35C-1875-0731-10D71B96C01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Freeform 207">
                <a:extLst>
                  <a:ext uri="{FF2B5EF4-FFF2-40B4-BE49-F238E27FC236}">
                    <a16:creationId xmlns:a16="http://schemas.microsoft.com/office/drawing/2014/main" xmlns="" id="{23D4191A-84DD-2275-E8C1-74D87497A39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3" name="Group 202">
            <a:extLst>
              <a:ext uri="{FF2B5EF4-FFF2-40B4-BE49-F238E27FC236}">
                <a16:creationId xmlns:a16="http://schemas.microsoft.com/office/drawing/2014/main" xmlns="" id="{E18F723C-0984-63E7-5EC4-504174D981CE}"/>
              </a:ext>
            </a:extLst>
          </p:cNvPr>
          <p:cNvGrpSpPr/>
          <p:nvPr/>
        </p:nvGrpSpPr>
        <p:grpSpPr>
          <a:xfrm>
            <a:off x="9497138" y="3394032"/>
            <a:ext cx="367224" cy="240304"/>
            <a:chOff x="7493876" y="2774731"/>
            <a:chExt cx="1481958" cy="894622"/>
          </a:xfrm>
        </p:grpSpPr>
        <p:sp>
          <p:nvSpPr>
            <p:cNvPr id="204" name="Freeform 209">
              <a:extLst>
                <a:ext uri="{FF2B5EF4-FFF2-40B4-BE49-F238E27FC236}">
                  <a16:creationId xmlns:a16="http://schemas.microsoft.com/office/drawing/2014/main" xmlns="" id="{2FCE64DC-49D7-92B9-0DB2-43509DD0188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5" name="Oval 204">
              <a:extLst>
                <a:ext uri="{FF2B5EF4-FFF2-40B4-BE49-F238E27FC236}">
                  <a16:creationId xmlns:a16="http://schemas.microsoft.com/office/drawing/2014/main" xmlns="" id="{F508DE96-FF7B-48E2-8C09-D1481B2FEED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6" name="Group 205">
              <a:extLst>
                <a:ext uri="{FF2B5EF4-FFF2-40B4-BE49-F238E27FC236}">
                  <a16:creationId xmlns:a16="http://schemas.microsoft.com/office/drawing/2014/main" xmlns="" id="{7DC19EA7-7066-5EA4-0D18-5419DEF12CDD}"/>
                </a:ext>
              </a:extLst>
            </p:cNvPr>
            <p:cNvGrpSpPr/>
            <p:nvPr/>
          </p:nvGrpSpPr>
          <p:grpSpPr>
            <a:xfrm>
              <a:off x="7713663" y="2848339"/>
              <a:ext cx="1042107" cy="425543"/>
              <a:chOff x="7786941" y="2884917"/>
              <a:chExt cx="897649" cy="353919"/>
            </a:xfrm>
          </p:grpSpPr>
          <p:sp>
            <p:nvSpPr>
              <p:cNvPr id="207" name="Freeform 212">
                <a:extLst>
                  <a:ext uri="{FF2B5EF4-FFF2-40B4-BE49-F238E27FC236}">
                    <a16:creationId xmlns:a16="http://schemas.microsoft.com/office/drawing/2014/main" xmlns="" id="{D8B79459-FBB5-691E-E043-77B26AEBDF6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13">
                <a:extLst>
                  <a:ext uri="{FF2B5EF4-FFF2-40B4-BE49-F238E27FC236}">
                    <a16:creationId xmlns:a16="http://schemas.microsoft.com/office/drawing/2014/main" xmlns="" id="{4ED0A2C0-15F3-6A92-C5F3-D1162BDF2A5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Freeform 214">
                <a:extLst>
                  <a:ext uri="{FF2B5EF4-FFF2-40B4-BE49-F238E27FC236}">
                    <a16:creationId xmlns:a16="http://schemas.microsoft.com/office/drawing/2014/main" xmlns="" id="{CD67A2C7-B9F6-581F-C333-03C38F05869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Freeform 215">
                <a:extLst>
                  <a:ext uri="{FF2B5EF4-FFF2-40B4-BE49-F238E27FC236}">
                    <a16:creationId xmlns:a16="http://schemas.microsoft.com/office/drawing/2014/main" xmlns="" id="{C1B5D544-4A22-B57B-EEB2-20A49DA51CE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1" name="Group 210">
            <a:extLst>
              <a:ext uri="{FF2B5EF4-FFF2-40B4-BE49-F238E27FC236}">
                <a16:creationId xmlns:a16="http://schemas.microsoft.com/office/drawing/2014/main" xmlns="" id="{FD7AE685-0563-1826-458E-E8EE6553A292}"/>
              </a:ext>
            </a:extLst>
          </p:cNvPr>
          <p:cNvGrpSpPr/>
          <p:nvPr/>
        </p:nvGrpSpPr>
        <p:grpSpPr>
          <a:xfrm>
            <a:off x="9601554" y="3999763"/>
            <a:ext cx="367224" cy="240304"/>
            <a:chOff x="7493876" y="2774731"/>
            <a:chExt cx="1481958" cy="894622"/>
          </a:xfrm>
        </p:grpSpPr>
        <p:sp>
          <p:nvSpPr>
            <p:cNvPr id="212" name="Freeform 217">
              <a:extLst>
                <a:ext uri="{FF2B5EF4-FFF2-40B4-BE49-F238E27FC236}">
                  <a16:creationId xmlns:a16="http://schemas.microsoft.com/office/drawing/2014/main" xmlns="" id="{9A0F7799-A37F-ADF0-8B61-BADF91A263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3" name="Oval 212">
              <a:extLst>
                <a:ext uri="{FF2B5EF4-FFF2-40B4-BE49-F238E27FC236}">
                  <a16:creationId xmlns:a16="http://schemas.microsoft.com/office/drawing/2014/main" xmlns="" id="{5D9D53C9-9836-96C1-E11F-292A9C15DB0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4" name="Group 213">
              <a:extLst>
                <a:ext uri="{FF2B5EF4-FFF2-40B4-BE49-F238E27FC236}">
                  <a16:creationId xmlns:a16="http://schemas.microsoft.com/office/drawing/2014/main" xmlns="" id="{CE3DA559-008A-3D73-C4B5-267FF8861EAE}"/>
                </a:ext>
              </a:extLst>
            </p:cNvPr>
            <p:cNvGrpSpPr/>
            <p:nvPr/>
          </p:nvGrpSpPr>
          <p:grpSpPr>
            <a:xfrm>
              <a:off x="7713663" y="2848339"/>
              <a:ext cx="1042107" cy="425543"/>
              <a:chOff x="7786941" y="2884917"/>
              <a:chExt cx="897649" cy="353919"/>
            </a:xfrm>
          </p:grpSpPr>
          <p:sp>
            <p:nvSpPr>
              <p:cNvPr id="215" name="Freeform 220">
                <a:extLst>
                  <a:ext uri="{FF2B5EF4-FFF2-40B4-BE49-F238E27FC236}">
                    <a16:creationId xmlns:a16="http://schemas.microsoft.com/office/drawing/2014/main" xmlns="" id="{5ACFBF28-E6B4-3C30-AB61-F6BD529B014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21">
                <a:extLst>
                  <a:ext uri="{FF2B5EF4-FFF2-40B4-BE49-F238E27FC236}">
                    <a16:creationId xmlns:a16="http://schemas.microsoft.com/office/drawing/2014/main" xmlns="" id="{C49076FF-2AD5-091B-C405-19F15EB6F71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7" name="Freeform 222">
                <a:extLst>
                  <a:ext uri="{FF2B5EF4-FFF2-40B4-BE49-F238E27FC236}">
                    <a16:creationId xmlns:a16="http://schemas.microsoft.com/office/drawing/2014/main" xmlns="" id="{B83284AF-C759-FAAF-2382-2D3AAB6C43B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8" name="Freeform 223">
                <a:extLst>
                  <a:ext uri="{FF2B5EF4-FFF2-40B4-BE49-F238E27FC236}">
                    <a16:creationId xmlns:a16="http://schemas.microsoft.com/office/drawing/2014/main" xmlns="" id="{771097FF-135A-04AD-6178-F75DB16AB35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9" name="Group 218">
            <a:extLst>
              <a:ext uri="{FF2B5EF4-FFF2-40B4-BE49-F238E27FC236}">
                <a16:creationId xmlns:a16="http://schemas.microsoft.com/office/drawing/2014/main" xmlns="" id="{7F4DF1B7-39EB-D916-7E50-FAB737B9B3A5}"/>
              </a:ext>
            </a:extLst>
          </p:cNvPr>
          <p:cNvGrpSpPr/>
          <p:nvPr/>
        </p:nvGrpSpPr>
        <p:grpSpPr>
          <a:xfrm>
            <a:off x="10375259" y="3992325"/>
            <a:ext cx="353678" cy="198344"/>
            <a:chOff x="7493876" y="2774731"/>
            <a:chExt cx="1481958" cy="894622"/>
          </a:xfrm>
        </p:grpSpPr>
        <p:sp>
          <p:nvSpPr>
            <p:cNvPr id="220" name="Freeform 225">
              <a:extLst>
                <a:ext uri="{FF2B5EF4-FFF2-40B4-BE49-F238E27FC236}">
                  <a16:creationId xmlns:a16="http://schemas.microsoft.com/office/drawing/2014/main" xmlns="" id="{4298F5E8-7581-75C7-2E9D-06E29E0B50F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1" name="Oval 220">
              <a:extLst>
                <a:ext uri="{FF2B5EF4-FFF2-40B4-BE49-F238E27FC236}">
                  <a16:creationId xmlns:a16="http://schemas.microsoft.com/office/drawing/2014/main" xmlns="" id="{B6E1457C-A840-AFA3-4870-B59F88BBF32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2" name="Group 221">
              <a:extLst>
                <a:ext uri="{FF2B5EF4-FFF2-40B4-BE49-F238E27FC236}">
                  <a16:creationId xmlns:a16="http://schemas.microsoft.com/office/drawing/2014/main" xmlns="" id="{D8255ED1-19EE-9074-5242-D87E7065BDF4}"/>
                </a:ext>
              </a:extLst>
            </p:cNvPr>
            <p:cNvGrpSpPr/>
            <p:nvPr/>
          </p:nvGrpSpPr>
          <p:grpSpPr>
            <a:xfrm>
              <a:off x="7713663" y="2848339"/>
              <a:ext cx="1042107" cy="425543"/>
              <a:chOff x="7786941" y="2884917"/>
              <a:chExt cx="897649" cy="353919"/>
            </a:xfrm>
          </p:grpSpPr>
          <p:sp>
            <p:nvSpPr>
              <p:cNvPr id="223" name="Freeform 228">
                <a:extLst>
                  <a:ext uri="{FF2B5EF4-FFF2-40B4-BE49-F238E27FC236}">
                    <a16:creationId xmlns:a16="http://schemas.microsoft.com/office/drawing/2014/main" xmlns="" id="{215A6D98-BEF1-3224-A0BB-84EF9B8EB4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9">
                <a:extLst>
                  <a:ext uri="{FF2B5EF4-FFF2-40B4-BE49-F238E27FC236}">
                    <a16:creationId xmlns:a16="http://schemas.microsoft.com/office/drawing/2014/main" xmlns="" id="{EF2D6050-FD64-EAE2-9152-9E928A0850F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Freeform 230">
                <a:extLst>
                  <a:ext uri="{FF2B5EF4-FFF2-40B4-BE49-F238E27FC236}">
                    <a16:creationId xmlns:a16="http://schemas.microsoft.com/office/drawing/2014/main" xmlns="" id="{BF686CA0-E783-FF04-3218-9E534EA835C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6" name="Freeform 231">
                <a:extLst>
                  <a:ext uri="{FF2B5EF4-FFF2-40B4-BE49-F238E27FC236}">
                    <a16:creationId xmlns:a16="http://schemas.microsoft.com/office/drawing/2014/main" xmlns="" id="{09D9DBF2-666B-0B8E-2BE5-2BE207C7426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7" name="Group 226">
            <a:extLst>
              <a:ext uri="{FF2B5EF4-FFF2-40B4-BE49-F238E27FC236}">
                <a16:creationId xmlns:a16="http://schemas.microsoft.com/office/drawing/2014/main" xmlns="" id="{63719675-FD3C-A99B-6D56-D04EED67ACAC}"/>
              </a:ext>
            </a:extLst>
          </p:cNvPr>
          <p:cNvGrpSpPr/>
          <p:nvPr/>
        </p:nvGrpSpPr>
        <p:grpSpPr>
          <a:xfrm>
            <a:off x="9247893" y="4775686"/>
            <a:ext cx="393760" cy="218578"/>
            <a:chOff x="7493876" y="2774731"/>
            <a:chExt cx="1481958" cy="894622"/>
          </a:xfrm>
        </p:grpSpPr>
        <p:sp>
          <p:nvSpPr>
            <p:cNvPr id="228" name="Freeform 233">
              <a:extLst>
                <a:ext uri="{FF2B5EF4-FFF2-40B4-BE49-F238E27FC236}">
                  <a16:creationId xmlns:a16="http://schemas.microsoft.com/office/drawing/2014/main" xmlns="" id="{8514A2CC-B2B3-12E4-AA5D-E3244A0DB12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9" name="Oval 228">
              <a:extLst>
                <a:ext uri="{FF2B5EF4-FFF2-40B4-BE49-F238E27FC236}">
                  <a16:creationId xmlns:a16="http://schemas.microsoft.com/office/drawing/2014/main" xmlns="" id="{BBD13882-7596-2B5B-4FC5-74C7E9A489D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0" name="Group 229">
              <a:extLst>
                <a:ext uri="{FF2B5EF4-FFF2-40B4-BE49-F238E27FC236}">
                  <a16:creationId xmlns:a16="http://schemas.microsoft.com/office/drawing/2014/main" xmlns="" id="{F4963D7E-858A-32E2-5F92-C172D4A0C031}"/>
                </a:ext>
              </a:extLst>
            </p:cNvPr>
            <p:cNvGrpSpPr/>
            <p:nvPr/>
          </p:nvGrpSpPr>
          <p:grpSpPr>
            <a:xfrm>
              <a:off x="7713663" y="2848339"/>
              <a:ext cx="1042107" cy="425543"/>
              <a:chOff x="7786941" y="2884917"/>
              <a:chExt cx="897649" cy="353919"/>
            </a:xfrm>
          </p:grpSpPr>
          <p:sp>
            <p:nvSpPr>
              <p:cNvPr id="231" name="Freeform 236">
                <a:extLst>
                  <a:ext uri="{FF2B5EF4-FFF2-40B4-BE49-F238E27FC236}">
                    <a16:creationId xmlns:a16="http://schemas.microsoft.com/office/drawing/2014/main" xmlns="" id="{CB3E33DD-AE03-5657-3F99-6586A73CC4C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7">
                <a:extLst>
                  <a:ext uri="{FF2B5EF4-FFF2-40B4-BE49-F238E27FC236}">
                    <a16:creationId xmlns:a16="http://schemas.microsoft.com/office/drawing/2014/main" xmlns="" id="{F677112D-19C5-7FE3-441B-2DA4A3345B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Freeform 238">
                <a:extLst>
                  <a:ext uri="{FF2B5EF4-FFF2-40B4-BE49-F238E27FC236}">
                    <a16:creationId xmlns:a16="http://schemas.microsoft.com/office/drawing/2014/main" xmlns="" id="{2BD24F1D-35F2-17A8-74B3-09747A517D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 name="Freeform 239">
                <a:extLst>
                  <a:ext uri="{FF2B5EF4-FFF2-40B4-BE49-F238E27FC236}">
                    <a16:creationId xmlns:a16="http://schemas.microsoft.com/office/drawing/2014/main" xmlns="" id="{ABE86A13-8842-44BD-523D-C36D13E1598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5" name="Group 234">
            <a:extLst>
              <a:ext uri="{FF2B5EF4-FFF2-40B4-BE49-F238E27FC236}">
                <a16:creationId xmlns:a16="http://schemas.microsoft.com/office/drawing/2014/main" xmlns="" id="{248D2879-8659-B7AF-E380-FC3C8DF6100C}"/>
              </a:ext>
            </a:extLst>
          </p:cNvPr>
          <p:cNvGrpSpPr/>
          <p:nvPr/>
        </p:nvGrpSpPr>
        <p:grpSpPr>
          <a:xfrm>
            <a:off x="10925982" y="4369125"/>
            <a:ext cx="228295" cy="120400"/>
            <a:chOff x="7493876" y="2774731"/>
            <a:chExt cx="1481958" cy="894622"/>
          </a:xfrm>
        </p:grpSpPr>
        <p:sp>
          <p:nvSpPr>
            <p:cNvPr id="236" name="Freeform 241">
              <a:extLst>
                <a:ext uri="{FF2B5EF4-FFF2-40B4-BE49-F238E27FC236}">
                  <a16:creationId xmlns:a16="http://schemas.microsoft.com/office/drawing/2014/main" xmlns="" id="{0A50EF9F-219A-AF69-52FA-E6D60B244DA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7" name="Oval 236">
              <a:extLst>
                <a:ext uri="{FF2B5EF4-FFF2-40B4-BE49-F238E27FC236}">
                  <a16:creationId xmlns:a16="http://schemas.microsoft.com/office/drawing/2014/main" xmlns="" id="{ABD3912C-CCEF-C6CF-FAA0-0F0F8D2C9C4F}"/>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8" name="Group 237">
              <a:extLst>
                <a:ext uri="{FF2B5EF4-FFF2-40B4-BE49-F238E27FC236}">
                  <a16:creationId xmlns:a16="http://schemas.microsoft.com/office/drawing/2014/main" xmlns="" id="{9A89E50B-C62C-18C4-4F2D-9924679A438B}"/>
                </a:ext>
              </a:extLst>
            </p:cNvPr>
            <p:cNvGrpSpPr/>
            <p:nvPr/>
          </p:nvGrpSpPr>
          <p:grpSpPr>
            <a:xfrm>
              <a:off x="7713663" y="2848339"/>
              <a:ext cx="1042107" cy="425543"/>
              <a:chOff x="7786941" y="2884917"/>
              <a:chExt cx="897649" cy="353919"/>
            </a:xfrm>
          </p:grpSpPr>
          <p:sp>
            <p:nvSpPr>
              <p:cNvPr id="239" name="Freeform 244">
                <a:extLst>
                  <a:ext uri="{FF2B5EF4-FFF2-40B4-BE49-F238E27FC236}">
                    <a16:creationId xmlns:a16="http://schemas.microsoft.com/office/drawing/2014/main" xmlns="" id="{34C81507-28E8-F18E-B6E2-0205E822D80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45">
                <a:extLst>
                  <a:ext uri="{FF2B5EF4-FFF2-40B4-BE49-F238E27FC236}">
                    <a16:creationId xmlns:a16="http://schemas.microsoft.com/office/drawing/2014/main" xmlns="" id="{4DE716E2-0948-962C-A50E-C5038ABE25B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1" name="Freeform 246">
                <a:extLst>
                  <a:ext uri="{FF2B5EF4-FFF2-40B4-BE49-F238E27FC236}">
                    <a16:creationId xmlns:a16="http://schemas.microsoft.com/office/drawing/2014/main" xmlns="" id="{B5DAA628-B631-AE62-5FD9-893FA07CAE2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2" name="Freeform 247">
                <a:extLst>
                  <a:ext uri="{FF2B5EF4-FFF2-40B4-BE49-F238E27FC236}">
                    <a16:creationId xmlns:a16="http://schemas.microsoft.com/office/drawing/2014/main" xmlns="" id="{2237EC56-35FD-CB15-A398-044374D203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3" name="Group 242">
            <a:extLst>
              <a:ext uri="{FF2B5EF4-FFF2-40B4-BE49-F238E27FC236}">
                <a16:creationId xmlns:a16="http://schemas.microsoft.com/office/drawing/2014/main" xmlns="" id="{D84AC227-DA5D-F3FE-A800-F1F2B919DAAA}"/>
              </a:ext>
            </a:extLst>
          </p:cNvPr>
          <p:cNvGrpSpPr/>
          <p:nvPr/>
        </p:nvGrpSpPr>
        <p:grpSpPr>
          <a:xfrm>
            <a:off x="7439074" y="2356613"/>
            <a:ext cx="534987" cy="407988"/>
            <a:chOff x="7432700" y="2327293"/>
            <a:chExt cx="534987" cy="407988"/>
          </a:xfrm>
        </p:grpSpPr>
        <p:pic>
          <p:nvPicPr>
            <p:cNvPr id="244" name="Picture 1017" descr="antenna_stylized">
              <a:extLst>
                <a:ext uri="{FF2B5EF4-FFF2-40B4-BE49-F238E27FC236}">
                  <a16:creationId xmlns:a16="http://schemas.microsoft.com/office/drawing/2014/main" xmlns="" id="{B00A008D-CC3F-CCFE-AFD2-08A8EAAFB4E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 name="Picture 1018" descr="laptop_keyboard">
              <a:extLst>
                <a:ext uri="{FF2B5EF4-FFF2-40B4-BE49-F238E27FC236}">
                  <a16:creationId xmlns:a16="http://schemas.microsoft.com/office/drawing/2014/main" xmlns="" id="{04F08057-46BA-828B-55D3-FAA00B5B71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 name="Freeform 1019">
              <a:extLst>
                <a:ext uri="{FF2B5EF4-FFF2-40B4-BE49-F238E27FC236}">
                  <a16:creationId xmlns:a16="http://schemas.microsoft.com/office/drawing/2014/main" xmlns="" id="{6D9C371A-9B75-1DB3-A33B-A580D73A9CA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7" name="Picture 1020" descr="screen">
              <a:extLst>
                <a:ext uri="{FF2B5EF4-FFF2-40B4-BE49-F238E27FC236}">
                  <a16:creationId xmlns:a16="http://schemas.microsoft.com/office/drawing/2014/main" xmlns="" id="{CF6BF075-ECD0-6511-70C8-EF68AA91106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 name="Freeform 1021">
              <a:extLst>
                <a:ext uri="{FF2B5EF4-FFF2-40B4-BE49-F238E27FC236}">
                  <a16:creationId xmlns:a16="http://schemas.microsoft.com/office/drawing/2014/main" xmlns="" id="{2EC0D4E4-462D-0B9C-99BB-E72E32308ADB}"/>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Freeform 1022">
              <a:extLst>
                <a:ext uri="{FF2B5EF4-FFF2-40B4-BE49-F238E27FC236}">
                  <a16:creationId xmlns:a16="http://schemas.microsoft.com/office/drawing/2014/main" xmlns="" id="{DBFCF670-6D7A-93B1-C915-F9036C7AFE85}"/>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Freeform 1023">
              <a:extLst>
                <a:ext uri="{FF2B5EF4-FFF2-40B4-BE49-F238E27FC236}">
                  <a16:creationId xmlns:a16="http://schemas.microsoft.com/office/drawing/2014/main" xmlns="" id="{60E874E9-EDCB-CFC5-204D-49C4D099080C}"/>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024">
              <a:extLst>
                <a:ext uri="{FF2B5EF4-FFF2-40B4-BE49-F238E27FC236}">
                  <a16:creationId xmlns:a16="http://schemas.microsoft.com/office/drawing/2014/main" xmlns="" id="{7C2505E4-686E-7256-0F12-32DDBD0AB9F4}"/>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025">
              <a:extLst>
                <a:ext uri="{FF2B5EF4-FFF2-40B4-BE49-F238E27FC236}">
                  <a16:creationId xmlns:a16="http://schemas.microsoft.com/office/drawing/2014/main" xmlns="" id="{729B0974-2CDC-B2B9-42D6-6AB2D65CF2BC}"/>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026">
              <a:extLst>
                <a:ext uri="{FF2B5EF4-FFF2-40B4-BE49-F238E27FC236}">
                  <a16:creationId xmlns:a16="http://schemas.microsoft.com/office/drawing/2014/main" xmlns="" id="{8F076A02-5EE3-9840-5539-EF3BC7F3E93A}"/>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54" name="Group 1027">
              <a:extLst>
                <a:ext uri="{FF2B5EF4-FFF2-40B4-BE49-F238E27FC236}">
                  <a16:creationId xmlns:a16="http://schemas.microsoft.com/office/drawing/2014/main" xmlns="" id="{BCE3831C-4ACF-DBBE-238C-B0E9527585C0}"/>
                </a:ext>
              </a:extLst>
            </p:cNvPr>
            <p:cNvGrpSpPr>
              <a:grpSpLocks/>
            </p:cNvGrpSpPr>
            <p:nvPr/>
          </p:nvGrpSpPr>
          <p:grpSpPr bwMode="auto">
            <a:xfrm>
              <a:off x="7594735" y="2642220"/>
              <a:ext cx="98740" cy="36846"/>
              <a:chOff x="1740" y="2642"/>
              <a:chExt cx="752" cy="327"/>
            </a:xfrm>
          </p:grpSpPr>
          <p:sp>
            <p:nvSpPr>
              <p:cNvPr id="261" name="Freeform 1028">
                <a:extLst>
                  <a:ext uri="{FF2B5EF4-FFF2-40B4-BE49-F238E27FC236}">
                    <a16:creationId xmlns:a16="http://schemas.microsoft.com/office/drawing/2014/main" xmlns="" id="{EAE99D08-9F7E-9158-1CF6-2870A0FE31A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29">
                <a:extLst>
                  <a:ext uri="{FF2B5EF4-FFF2-40B4-BE49-F238E27FC236}">
                    <a16:creationId xmlns:a16="http://schemas.microsoft.com/office/drawing/2014/main" xmlns="" id="{DE9FF865-6B7D-7998-F8EB-1B072F01CDE2}"/>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0">
                <a:extLst>
                  <a:ext uri="{FF2B5EF4-FFF2-40B4-BE49-F238E27FC236}">
                    <a16:creationId xmlns:a16="http://schemas.microsoft.com/office/drawing/2014/main" xmlns="" id="{C4A39924-D7BF-F7CA-7391-C07F8A4BA07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1">
                <a:extLst>
                  <a:ext uri="{FF2B5EF4-FFF2-40B4-BE49-F238E27FC236}">
                    <a16:creationId xmlns:a16="http://schemas.microsoft.com/office/drawing/2014/main" xmlns="" id="{683F91E7-4594-0B8D-30E9-7FFF4DB863A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2">
                <a:extLst>
                  <a:ext uri="{FF2B5EF4-FFF2-40B4-BE49-F238E27FC236}">
                    <a16:creationId xmlns:a16="http://schemas.microsoft.com/office/drawing/2014/main" xmlns="" id="{AF221239-47BD-44C2-205D-3DBB2826EF4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3">
                <a:extLst>
                  <a:ext uri="{FF2B5EF4-FFF2-40B4-BE49-F238E27FC236}">
                    <a16:creationId xmlns:a16="http://schemas.microsoft.com/office/drawing/2014/main" xmlns="" id="{86C93DA8-1A7B-8974-E8A0-D14C43837CC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5" name="Freeform 1034">
              <a:extLst>
                <a:ext uri="{FF2B5EF4-FFF2-40B4-BE49-F238E27FC236}">
                  <a16:creationId xmlns:a16="http://schemas.microsoft.com/office/drawing/2014/main" xmlns="" id="{8C716F6A-F9F7-7F57-DE40-1AD81381D08E}"/>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35">
              <a:extLst>
                <a:ext uri="{FF2B5EF4-FFF2-40B4-BE49-F238E27FC236}">
                  <a16:creationId xmlns:a16="http://schemas.microsoft.com/office/drawing/2014/main" xmlns="" id="{37888826-B50B-F66A-63B0-F6BE049574CC}"/>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36">
              <a:extLst>
                <a:ext uri="{FF2B5EF4-FFF2-40B4-BE49-F238E27FC236}">
                  <a16:creationId xmlns:a16="http://schemas.microsoft.com/office/drawing/2014/main" xmlns="" id="{FB77E103-6937-1926-D3FA-4B14118B348F}"/>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37">
              <a:extLst>
                <a:ext uri="{FF2B5EF4-FFF2-40B4-BE49-F238E27FC236}">
                  <a16:creationId xmlns:a16="http://schemas.microsoft.com/office/drawing/2014/main" xmlns="" id="{9D8FA594-C209-EC90-F432-BE4D84152B81}"/>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38">
              <a:extLst>
                <a:ext uri="{FF2B5EF4-FFF2-40B4-BE49-F238E27FC236}">
                  <a16:creationId xmlns:a16="http://schemas.microsoft.com/office/drawing/2014/main" xmlns="" id="{4F8986C7-795B-E5C6-0F85-559B4B30BDF5}"/>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039">
              <a:extLst>
                <a:ext uri="{FF2B5EF4-FFF2-40B4-BE49-F238E27FC236}">
                  <a16:creationId xmlns:a16="http://schemas.microsoft.com/office/drawing/2014/main" xmlns="" id="{8B615F75-73D9-108A-5CA9-7C05176C005B}"/>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67" name="Group 266">
            <a:extLst>
              <a:ext uri="{FF2B5EF4-FFF2-40B4-BE49-F238E27FC236}">
                <a16:creationId xmlns:a16="http://schemas.microsoft.com/office/drawing/2014/main" xmlns="" id="{D044E2EB-5614-3839-8A5E-30D502BD6C9B}"/>
              </a:ext>
            </a:extLst>
          </p:cNvPr>
          <p:cNvGrpSpPr/>
          <p:nvPr/>
        </p:nvGrpSpPr>
        <p:grpSpPr>
          <a:xfrm>
            <a:off x="8637781" y="2319727"/>
            <a:ext cx="530702" cy="478009"/>
            <a:chOff x="8631407" y="2290407"/>
            <a:chExt cx="530702" cy="478009"/>
          </a:xfrm>
        </p:grpSpPr>
        <p:pic>
          <p:nvPicPr>
            <p:cNvPr id="268" name="Picture 568" descr="light2.png">
              <a:extLst>
                <a:ext uri="{FF2B5EF4-FFF2-40B4-BE49-F238E27FC236}">
                  <a16:creationId xmlns:a16="http://schemas.microsoft.com/office/drawing/2014/main" xmlns="" id="{D68F4BE1-F01D-DF89-42B1-33BB98F533B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 name="Picture 1017" descr="antenna_stylized">
              <a:extLst>
                <a:ext uri="{FF2B5EF4-FFF2-40B4-BE49-F238E27FC236}">
                  <a16:creationId xmlns:a16="http://schemas.microsoft.com/office/drawing/2014/main" xmlns="" id="{96C3F61E-A3EC-E682-B9AE-C35E6414D5D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0" name="Group 269">
            <a:extLst>
              <a:ext uri="{FF2B5EF4-FFF2-40B4-BE49-F238E27FC236}">
                <a16:creationId xmlns:a16="http://schemas.microsoft.com/office/drawing/2014/main" xmlns="" id="{0E9328DE-5122-9CEE-D134-30489B18A793}"/>
              </a:ext>
            </a:extLst>
          </p:cNvPr>
          <p:cNvGrpSpPr/>
          <p:nvPr/>
        </p:nvGrpSpPr>
        <p:grpSpPr>
          <a:xfrm>
            <a:off x="8499539" y="2059124"/>
            <a:ext cx="849312" cy="226109"/>
            <a:chOff x="8493165" y="2029804"/>
            <a:chExt cx="849312" cy="226109"/>
          </a:xfrm>
        </p:grpSpPr>
        <p:pic>
          <p:nvPicPr>
            <p:cNvPr id="271" name="Picture 603" descr="car_icon_small">
              <a:extLst>
                <a:ext uri="{FF2B5EF4-FFF2-40B4-BE49-F238E27FC236}">
                  <a16:creationId xmlns:a16="http://schemas.microsoft.com/office/drawing/2014/main" xmlns="" id="{062B3351-482C-A298-B973-2876531CED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2" name="Picture 1017" descr="antenna_stylized">
              <a:extLst>
                <a:ext uri="{FF2B5EF4-FFF2-40B4-BE49-F238E27FC236}">
                  <a16:creationId xmlns:a16="http://schemas.microsoft.com/office/drawing/2014/main" xmlns="" id="{01EE1EA5-87F3-1BD8-E2FF-61AAC1DFC0A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3" name="Group 272">
            <a:extLst>
              <a:ext uri="{FF2B5EF4-FFF2-40B4-BE49-F238E27FC236}">
                <a16:creationId xmlns:a16="http://schemas.microsoft.com/office/drawing/2014/main" xmlns="" id="{F4613845-1E91-363D-F8BE-CE94C8C2CF4E}"/>
              </a:ext>
            </a:extLst>
          </p:cNvPr>
          <p:cNvGrpSpPr/>
          <p:nvPr/>
        </p:nvGrpSpPr>
        <p:grpSpPr>
          <a:xfrm>
            <a:off x="7493518" y="3325424"/>
            <a:ext cx="857739" cy="583764"/>
            <a:chOff x="7487144" y="3296104"/>
            <a:chExt cx="857739" cy="583764"/>
          </a:xfrm>
        </p:grpSpPr>
        <p:grpSp>
          <p:nvGrpSpPr>
            <p:cNvPr id="274" name="Group 273">
              <a:extLst>
                <a:ext uri="{FF2B5EF4-FFF2-40B4-BE49-F238E27FC236}">
                  <a16:creationId xmlns:a16="http://schemas.microsoft.com/office/drawing/2014/main" xmlns="" id="{671FA679-3C13-E314-5E70-782F29DC387C}"/>
                </a:ext>
              </a:extLst>
            </p:cNvPr>
            <p:cNvGrpSpPr/>
            <p:nvPr/>
          </p:nvGrpSpPr>
          <p:grpSpPr>
            <a:xfrm>
              <a:off x="7487144" y="3389820"/>
              <a:ext cx="350807" cy="305517"/>
              <a:chOff x="7487144" y="3389820"/>
              <a:chExt cx="350807" cy="305517"/>
            </a:xfrm>
          </p:grpSpPr>
          <p:pic>
            <p:nvPicPr>
              <p:cNvPr id="281" name="Picture 1115" descr="antenna_stylized">
                <a:extLst>
                  <a:ext uri="{FF2B5EF4-FFF2-40B4-BE49-F238E27FC236}">
                    <a16:creationId xmlns:a16="http://schemas.microsoft.com/office/drawing/2014/main" xmlns="" id="{F0541461-9F9C-279A-5EAD-AD34A7437C0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 name="Picture 1116" descr="laptop_keyboard">
                <a:extLst>
                  <a:ext uri="{FF2B5EF4-FFF2-40B4-BE49-F238E27FC236}">
                    <a16:creationId xmlns:a16="http://schemas.microsoft.com/office/drawing/2014/main" xmlns="" id="{44BFF819-DF2A-95F5-7325-E840B4DFA69A}"/>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Freeform 1117">
                <a:extLst>
                  <a:ext uri="{FF2B5EF4-FFF2-40B4-BE49-F238E27FC236}">
                    <a16:creationId xmlns:a16="http://schemas.microsoft.com/office/drawing/2014/main" xmlns="" id="{CEA7DF96-C0CF-3831-B268-CE05992E21C9}"/>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4" name="Picture 1118" descr="screen">
                <a:extLst>
                  <a:ext uri="{FF2B5EF4-FFF2-40B4-BE49-F238E27FC236}">
                    <a16:creationId xmlns:a16="http://schemas.microsoft.com/office/drawing/2014/main" xmlns="" id="{F6D7C0C0-9C06-FA37-F3D1-8EB646270C2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 name="Freeform 1119">
                <a:extLst>
                  <a:ext uri="{FF2B5EF4-FFF2-40B4-BE49-F238E27FC236}">
                    <a16:creationId xmlns:a16="http://schemas.microsoft.com/office/drawing/2014/main" xmlns="" id="{5EF36FC7-98CD-D205-A84A-1A3ADD9E10D3}"/>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120">
                <a:extLst>
                  <a:ext uri="{FF2B5EF4-FFF2-40B4-BE49-F238E27FC236}">
                    <a16:creationId xmlns:a16="http://schemas.microsoft.com/office/drawing/2014/main" xmlns="" id="{F2CC9A8F-5629-443C-CC33-D6ED204588FC}"/>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Freeform 1121">
                <a:extLst>
                  <a:ext uri="{FF2B5EF4-FFF2-40B4-BE49-F238E27FC236}">
                    <a16:creationId xmlns:a16="http://schemas.microsoft.com/office/drawing/2014/main" xmlns="" id="{36CCEB2B-58B4-F71A-B63A-D0D30C209903}"/>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122">
                <a:extLst>
                  <a:ext uri="{FF2B5EF4-FFF2-40B4-BE49-F238E27FC236}">
                    <a16:creationId xmlns:a16="http://schemas.microsoft.com/office/drawing/2014/main" xmlns="" id="{D4944DC6-A489-B4D7-09F3-5C4FE7182AC8}"/>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9" name="Freeform 1123">
                <a:extLst>
                  <a:ext uri="{FF2B5EF4-FFF2-40B4-BE49-F238E27FC236}">
                    <a16:creationId xmlns:a16="http://schemas.microsoft.com/office/drawing/2014/main" xmlns="" id="{5C3A8186-E935-F68B-501B-C7044E60EB1C}"/>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0" name="Freeform 1124">
                <a:extLst>
                  <a:ext uri="{FF2B5EF4-FFF2-40B4-BE49-F238E27FC236}">
                    <a16:creationId xmlns:a16="http://schemas.microsoft.com/office/drawing/2014/main" xmlns="" id="{1EDC1828-D1F6-8F8D-E33E-844B2ACA4B61}"/>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1" name="Group 1125">
                <a:extLst>
                  <a:ext uri="{FF2B5EF4-FFF2-40B4-BE49-F238E27FC236}">
                    <a16:creationId xmlns:a16="http://schemas.microsoft.com/office/drawing/2014/main" xmlns="" id="{D6F13830-9D5F-398C-BC58-F0EC7128C344}"/>
                  </a:ext>
                </a:extLst>
              </p:cNvPr>
              <p:cNvGrpSpPr>
                <a:grpSpLocks/>
              </p:cNvGrpSpPr>
              <p:nvPr/>
            </p:nvGrpSpPr>
            <p:grpSpPr bwMode="auto">
              <a:xfrm>
                <a:off x="7593395" y="3625649"/>
                <a:ext cx="64747" cy="27592"/>
                <a:chOff x="1740" y="2642"/>
                <a:chExt cx="752" cy="327"/>
              </a:xfrm>
            </p:grpSpPr>
            <p:sp>
              <p:nvSpPr>
                <p:cNvPr id="298" name="Freeform 1126">
                  <a:extLst>
                    <a:ext uri="{FF2B5EF4-FFF2-40B4-BE49-F238E27FC236}">
                      <a16:creationId xmlns:a16="http://schemas.microsoft.com/office/drawing/2014/main" xmlns="" id="{86F64E49-1439-A219-5126-C58AB8E4AA6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27">
                  <a:extLst>
                    <a:ext uri="{FF2B5EF4-FFF2-40B4-BE49-F238E27FC236}">
                      <a16:creationId xmlns:a16="http://schemas.microsoft.com/office/drawing/2014/main" xmlns="" id="{8F4F7FC2-5841-4789-53B7-EECBFB9FDA1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28">
                  <a:extLst>
                    <a:ext uri="{FF2B5EF4-FFF2-40B4-BE49-F238E27FC236}">
                      <a16:creationId xmlns:a16="http://schemas.microsoft.com/office/drawing/2014/main" xmlns="" id="{5949D1DE-79B4-E0F6-906F-A541CA48027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29">
                  <a:extLst>
                    <a:ext uri="{FF2B5EF4-FFF2-40B4-BE49-F238E27FC236}">
                      <a16:creationId xmlns:a16="http://schemas.microsoft.com/office/drawing/2014/main" xmlns="" id="{17EACAB8-7C88-C781-0CEB-2418BC1242F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0">
                  <a:extLst>
                    <a:ext uri="{FF2B5EF4-FFF2-40B4-BE49-F238E27FC236}">
                      <a16:creationId xmlns:a16="http://schemas.microsoft.com/office/drawing/2014/main" xmlns="" id="{BC148729-E59E-9EF3-E6D9-40F8BB4EA504}"/>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1">
                  <a:extLst>
                    <a:ext uri="{FF2B5EF4-FFF2-40B4-BE49-F238E27FC236}">
                      <a16:creationId xmlns:a16="http://schemas.microsoft.com/office/drawing/2014/main" xmlns="" id="{1A657B87-A6CB-6E79-4471-03D2DEE1A02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2" name="Freeform 1132">
                <a:extLst>
                  <a:ext uri="{FF2B5EF4-FFF2-40B4-BE49-F238E27FC236}">
                    <a16:creationId xmlns:a16="http://schemas.microsoft.com/office/drawing/2014/main" xmlns="" id="{C1D9B5B9-35E0-FCDB-D591-092B16E370CB}"/>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33">
                <a:extLst>
                  <a:ext uri="{FF2B5EF4-FFF2-40B4-BE49-F238E27FC236}">
                    <a16:creationId xmlns:a16="http://schemas.microsoft.com/office/drawing/2014/main" xmlns="" id="{7ED20100-0D0F-FFF0-3DD2-7E429AFC5691}"/>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34">
                <a:extLst>
                  <a:ext uri="{FF2B5EF4-FFF2-40B4-BE49-F238E27FC236}">
                    <a16:creationId xmlns:a16="http://schemas.microsoft.com/office/drawing/2014/main" xmlns="" id="{6D51CC85-16DE-1E15-5BBC-2DC094332F50}"/>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35">
                <a:extLst>
                  <a:ext uri="{FF2B5EF4-FFF2-40B4-BE49-F238E27FC236}">
                    <a16:creationId xmlns:a16="http://schemas.microsoft.com/office/drawing/2014/main" xmlns="" id="{17F87A73-5C1C-545D-2CBA-E22A42EAD459}"/>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36">
                <a:extLst>
                  <a:ext uri="{FF2B5EF4-FFF2-40B4-BE49-F238E27FC236}">
                    <a16:creationId xmlns:a16="http://schemas.microsoft.com/office/drawing/2014/main" xmlns="" id="{BC3CCF91-0891-BD74-E0F1-5AB929A2C695}"/>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7" name="Freeform 1137">
                <a:extLst>
                  <a:ext uri="{FF2B5EF4-FFF2-40B4-BE49-F238E27FC236}">
                    <a16:creationId xmlns:a16="http://schemas.microsoft.com/office/drawing/2014/main" xmlns="" id="{C2351825-FEDF-6B90-9A4B-DC3E40F7BFEA}"/>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5" name="Group 1139">
              <a:extLst>
                <a:ext uri="{FF2B5EF4-FFF2-40B4-BE49-F238E27FC236}">
                  <a16:creationId xmlns:a16="http://schemas.microsoft.com/office/drawing/2014/main" xmlns="" id="{0CDEE994-5870-D415-F880-CCB0D5E81BD1}"/>
                </a:ext>
              </a:extLst>
            </p:cNvPr>
            <p:cNvGrpSpPr>
              <a:grpSpLocks/>
            </p:cNvGrpSpPr>
            <p:nvPr/>
          </p:nvGrpSpPr>
          <p:grpSpPr bwMode="auto">
            <a:xfrm flipH="1">
              <a:off x="7985622" y="3537823"/>
              <a:ext cx="359261" cy="342045"/>
              <a:chOff x="2839" y="3501"/>
              <a:chExt cx="755" cy="803"/>
            </a:xfrm>
          </p:grpSpPr>
          <p:pic>
            <p:nvPicPr>
              <p:cNvPr id="279" name="Picture 1140" descr="desktop_computer_stylized_medium">
                <a:extLst>
                  <a:ext uri="{FF2B5EF4-FFF2-40B4-BE49-F238E27FC236}">
                    <a16:creationId xmlns:a16="http://schemas.microsoft.com/office/drawing/2014/main" xmlns="" id="{AC22B5DC-79F9-8C1B-219F-94DE4427C80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Freeform 1141">
                <a:extLst>
                  <a:ext uri="{FF2B5EF4-FFF2-40B4-BE49-F238E27FC236}">
                    <a16:creationId xmlns:a16="http://schemas.microsoft.com/office/drawing/2014/main" xmlns="" id="{AE65A9AE-EE86-72CD-7CC4-9CD3C9107B8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6" name="Group 275">
              <a:extLst>
                <a:ext uri="{FF2B5EF4-FFF2-40B4-BE49-F238E27FC236}">
                  <a16:creationId xmlns:a16="http://schemas.microsoft.com/office/drawing/2014/main" xmlns="" id="{852E26A7-50C6-0076-1EBB-3F00ECFFB9EB}"/>
                </a:ext>
              </a:extLst>
            </p:cNvPr>
            <p:cNvGrpSpPr/>
            <p:nvPr/>
          </p:nvGrpSpPr>
          <p:grpSpPr>
            <a:xfrm>
              <a:off x="7797061" y="3296104"/>
              <a:ext cx="347997" cy="396620"/>
              <a:chOff x="7797061" y="3296104"/>
              <a:chExt cx="347997" cy="396620"/>
            </a:xfrm>
          </p:grpSpPr>
          <p:pic>
            <p:nvPicPr>
              <p:cNvPr id="277" name="Picture 571" descr="fridge2.png">
                <a:extLst>
                  <a:ext uri="{FF2B5EF4-FFF2-40B4-BE49-F238E27FC236}">
                    <a16:creationId xmlns:a16="http://schemas.microsoft.com/office/drawing/2014/main" xmlns="" id="{79B7176E-EFBB-3C5A-0753-5812D6A3326F}"/>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115" descr="antenna_stylized">
                <a:extLst>
                  <a:ext uri="{FF2B5EF4-FFF2-40B4-BE49-F238E27FC236}">
                    <a16:creationId xmlns:a16="http://schemas.microsoft.com/office/drawing/2014/main" xmlns="" id="{D7F27874-9884-7B05-BE2C-F48F928EC7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04" name="Group 303">
            <a:extLst>
              <a:ext uri="{FF2B5EF4-FFF2-40B4-BE49-F238E27FC236}">
                <a16:creationId xmlns:a16="http://schemas.microsoft.com/office/drawing/2014/main" xmlns="" id="{6968ADD4-B0EF-D77D-6496-724C34036707}"/>
              </a:ext>
            </a:extLst>
          </p:cNvPr>
          <p:cNvGrpSpPr/>
          <p:nvPr/>
        </p:nvGrpSpPr>
        <p:grpSpPr>
          <a:xfrm>
            <a:off x="11064947" y="3428485"/>
            <a:ext cx="518448" cy="1212242"/>
            <a:chOff x="11058573" y="3399165"/>
            <a:chExt cx="518448" cy="1212242"/>
          </a:xfrm>
        </p:grpSpPr>
        <p:grpSp>
          <p:nvGrpSpPr>
            <p:cNvPr id="305" name="Group 304">
              <a:extLst>
                <a:ext uri="{FF2B5EF4-FFF2-40B4-BE49-F238E27FC236}">
                  <a16:creationId xmlns:a16="http://schemas.microsoft.com/office/drawing/2014/main" xmlns="" id="{9978837E-4009-2BA7-A94D-D70F0D46ECA2}"/>
                </a:ext>
              </a:extLst>
            </p:cNvPr>
            <p:cNvGrpSpPr/>
            <p:nvPr/>
          </p:nvGrpSpPr>
          <p:grpSpPr>
            <a:xfrm>
              <a:off x="11087182" y="4159591"/>
              <a:ext cx="489839" cy="451816"/>
              <a:chOff x="5103720" y="2693365"/>
              <a:chExt cx="611650" cy="414788"/>
            </a:xfrm>
          </p:grpSpPr>
          <p:cxnSp>
            <p:nvCxnSpPr>
              <p:cNvPr id="312" name="Straight Connector 311">
                <a:extLst>
                  <a:ext uri="{FF2B5EF4-FFF2-40B4-BE49-F238E27FC236}">
                    <a16:creationId xmlns:a16="http://schemas.microsoft.com/office/drawing/2014/main" xmlns="" id="{19B3F41C-7D41-E7D6-1C33-A93161EAFCF0}"/>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3" name="Group 312">
                <a:extLst>
                  <a:ext uri="{FF2B5EF4-FFF2-40B4-BE49-F238E27FC236}">
                    <a16:creationId xmlns:a16="http://schemas.microsoft.com/office/drawing/2014/main" xmlns="" id="{02BA753A-D8B4-5117-E493-3E7670FE5238}"/>
                  </a:ext>
                </a:extLst>
              </p:cNvPr>
              <p:cNvGrpSpPr/>
              <p:nvPr/>
            </p:nvGrpSpPr>
            <p:grpSpPr>
              <a:xfrm>
                <a:off x="5275406" y="2693365"/>
                <a:ext cx="439964" cy="414788"/>
                <a:chOff x="5275406" y="2711455"/>
                <a:chExt cx="452949" cy="405518"/>
              </a:xfrm>
            </p:grpSpPr>
            <p:pic>
              <p:nvPicPr>
                <p:cNvPr id="314" name="Picture 313" descr="server_rack.png">
                  <a:extLst>
                    <a:ext uri="{FF2B5EF4-FFF2-40B4-BE49-F238E27FC236}">
                      <a16:creationId xmlns:a16="http://schemas.microsoft.com/office/drawing/2014/main" xmlns="" id="{77A04D1F-9CF8-EFC6-148B-90BC62C7430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5" name="Picture 314" descr="server_rack.png">
                  <a:extLst>
                    <a:ext uri="{FF2B5EF4-FFF2-40B4-BE49-F238E27FC236}">
                      <a16:creationId xmlns:a16="http://schemas.microsoft.com/office/drawing/2014/main" xmlns="" id="{A1EB180C-0A37-65F5-0624-9A60D477995B}"/>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6" name="Picture 315" descr="server_rack.png">
                  <a:extLst>
                    <a:ext uri="{FF2B5EF4-FFF2-40B4-BE49-F238E27FC236}">
                      <a16:creationId xmlns:a16="http://schemas.microsoft.com/office/drawing/2014/main" xmlns="" id="{5FE82EBB-A09D-C79F-872C-210850C081F2}"/>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06" name="Group 305">
              <a:extLst>
                <a:ext uri="{FF2B5EF4-FFF2-40B4-BE49-F238E27FC236}">
                  <a16:creationId xmlns:a16="http://schemas.microsoft.com/office/drawing/2014/main" xmlns="" id="{BC12D5AC-BF5B-B460-2207-6B233F4D5E53}"/>
                </a:ext>
              </a:extLst>
            </p:cNvPr>
            <p:cNvGrpSpPr/>
            <p:nvPr/>
          </p:nvGrpSpPr>
          <p:grpSpPr>
            <a:xfrm>
              <a:off x="11058573" y="3399165"/>
              <a:ext cx="423724" cy="405973"/>
              <a:chOff x="5103720" y="2693365"/>
              <a:chExt cx="611650" cy="414788"/>
            </a:xfrm>
          </p:grpSpPr>
          <p:cxnSp>
            <p:nvCxnSpPr>
              <p:cNvPr id="307" name="Straight Connector 306">
                <a:extLst>
                  <a:ext uri="{FF2B5EF4-FFF2-40B4-BE49-F238E27FC236}">
                    <a16:creationId xmlns:a16="http://schemas.microsoft.com/office/drawing/2014/main" xmlns="" id="{D121BCE0-BB31-0AEA-A712-2F7845CEF164}"/>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08" name="Group 307">
                <a:extLst>
                  <a:ext uri="{FF2B5EF4-FFF2-40B4-BE49-F238E27FC236}">
                    <a16:creationId xmlns:a16="http://schemas.microsoft.com/office/drawing/2014/main" xmlns="" id="{2486F574-7FE0-9D8E-94B0-E84ECC3637FA}"/>
                  </a:ext>
                </a:extLst>
              </p:cNvPr>
              <p:cNvGrpSpPr/>
              <p:nvPr/>
            </p:nvGrpSpPr>
            <p:grpSpPr>
              <a:xfrm>
                <a:off x="5275406" y="2693365"/>
                <a:ext cx="439964" cy="414788"/>
                <a:chOff x="5275406" y="2711455"/>
                <a:chExt cx="452949" cy="405518"/>
              </a:xfrm>
            </p:grpSpPr>
            <p:pic>
              <p:nvPicPr>
                <p:cNvPr id="309" name="Picture 308" descr="server_rack.png">
                  <a:extLst>
                    <a:ext uri="{FF2B5EF4-FFF2-40B4-BE49-F238E27FC236}">
                      <a16:creationId xmlns:a16="http://schemas.microsoft.com/office/drawing/2014/main" xmlns="" id="{26E58488-FADB-29F5-5B76-3B2A1733850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0" name="Picture 309" descr="server_rack.png">
                  <a:extLst>
                    <a:ext uri="{FF2B5EF4-FFF2-40B4-BE49-F238E27FC236}">
                      <a16:creationId xmlns:a16="http://schemas.microsoft.com/office/drawing/2014/main" xmlns="" id="{0390BB33-7297-6A64-F2B5-11F337E7729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1" name="Picture 310" descr="server_rack.png">
                  <a:extLst>
                    <a:ext uri="{FF2B5EF4-FFF2-40B4-BE49-F238E27FC236}">
                      <a16:creationId xmlns:a16="http://schemas.microsoft.com/office/drawing/2014/main" xmlns="" id="{E2D4FA3A-29C6-3F9C-B5ED-F30080667ECE}"/>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17" name="Group 590">
            <a:extLst>
              <a:ext uri="{FF2B5EF4-FFF2-40B4-BE49-F238E27FC236}">
                <a16:creationId xmlns:a16="http://schemas.microsoft.com/office/drawing/2014/main" xmlns="" id="{3A773665-0EFA-FDD7-3706-24BE59F00325}"/>
              </a:ext>
            </a:extLst>
          </p:cNvPr>
          <p:cNvGrpSpPr>
            <a:grpSpLocks/>
          </p:cNvGrpSpPr>
          <p:nvPr/>
        </p:nvGrpSpPr>
        <p:grpSpPr bwMode="auto">
          <a:xfrm flipH="1">
            <a:off x="7980855" y="4900161"/>
            <a:ext cx="345630" cy="320302"/>
            <a:chOff x="2839" y="3501"/>
            <a:chExt cx="755" cy="803"/>
          </a:xfrm>
        </p:grpSpPr>
        <p:pic>
          <p:nvPicPr>
            <p:cNvPr id="318" name="Picture 591" descr="desktop_computer_stylized_medium">
              <a:extLst>
                <a:ext uri="{FF2B5EF4-FFF2-40B4-BE49-F238E27FC236}">
                  <a16:creationId xmlns:a16="http://schemas.microsoft.com/office/drawing/2014/main" xmlns="" id="{DC966D34-40CD-8BBF-E8BD-2FFD6E5A4542}"/>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 name="Freeform 592">
              <a:extLst>
                <a:ext uri="{FF2B5EF4-FFF2-40B4-BE49-F238E27FC236}">
                  <a16:creationId xmlns:a16="http://schemas.microsoft.com/office/drawing/2014/main" xmlns="" id="{8B8AEB4F-B390-BE00-58B7-F1A9F67062A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20" name="Group 1064">
            <a:extLst>
              <a:ext uri="{FF2B5EF4-FFF2-40B4-BE49-F238E27FC236}">
                <a16:creationId xmlns:a16="http://schemas.microsoft.com/office/drawing/2014/main" xmlns="" id="{BA32259B-C13F-0633-C7BF-628183597492}"/>
              </a:ext>
            </a:extLst>
          </p:cNvPr>
          <p:cNvGrpSpPr>
            <a:grpSpLocks/>
          </p:cNvGrpSpPr>
          <p:nvPr/>
        </p:nvGrpSpPr>
        <p:grpSpPr bwMode="auto">
          <a:xfrm>
            <a:off x="9201681" y="5852809"/>
            <a:ext cx="310186" cy="307808"/>
            <a:chOff x="877" y="1008"/>
            <a:chExt cx="2747" cy="2591"/>
          </a:xfrm>
        </p:grpSpPr>
        <p:pic>
          <p:nvPicPr>
            <p:cNvPr id="321" name="Picture 1065" descr="antenna_stylized">
              <a:extLst>
                <a:ext uri="{FF2B5EF4-FFF2-40B4-BE49-F238E27FC236}">
                  <a16:creationId xmlns:a16="http://schemas.microsoft.com/office/drawing/2014/main" xmlns="" id="{9C811E29-E727-4377-BC5A-B18C177BDDC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2" name="Picture 1066" descr="laptop_keyboard">
              <a:extLst>
                <a:ext uri="{FF2B5EF4-FFF2-40B4-BE49-F238E27FC236}">
                  <a16:creationId xmlns:a16="http://schemas.microsoft.com/office/drawing/2014/main" xmlns="" id="{EECABC45-200F-1789-0565-9098E87FF4A0}"/>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 name="Freeform 1067">
              <a:extLst>
                <a:ext uri="{FF2B5EF4-FFF2-40B4-BE49-F238E27FC236}">
                  <a16:creationId xmlns:a16="http://schemas.microsoft.com/office/drawing/2014/main" xmlns="" id="{52D018B8-C5C0-36C2-EA48-56646EA1C1C1}"/>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4" name="Picture 1068" descr="screen">
              <a:extLst>
                <a:ext uri="{FF2B5EF4-FFF2-40B4-BE49-F238E27FC236}">
                  <a16:creationId xmlns:a16="http://schemas.microsoft.com/office/drawing/2014/main" xmlns="" id="{1AAEAA52-FC47-353C-1AE0-3FD167FD717D}"/>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5" name="Freeform 1069">
              <a:extLst>
                <a:ext uri="{FF2B5EF4-FFF2-40B4-BE49-F238E27FC236}">
                  <a16:creationId xmlns:a16="http://schemas.microsoft.com/office/drawing/2014/main" xmlns="" id="{6F684762-E09F-2EDF-AAFE-7DB7ABF0B130}"/>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6" name="Freeform 1070">
              <a:extLst>
                <a:ext uri="{FF2B5EF4-FFF2-40B4-BE49-F238E27FC236}">
                  <a16:creationId xmlns:a16="http://schemas.microsoft.com/office/drawing/2014/main" xmlns="" id="{FEB70FE0-8662-85F5-3028-81482A92AC63}"/>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1071">
              <a:extLst>
                <a:ext uri="{FF2B5EF4-FFF2-40B4-BE49-F238E27FC236}">
                  <a16:creationId xmlns:a16="http://schemas.microsoft.com/office/drawing/2014/main" xmlns="" id="{9AF9B95F-2F45-80E3-7500-DB26BA71D29C}"/>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Freeform 1072">
              <a:extLst>
                <a:ext uri="{FF2B5EF4-FFF2-40B4-BE49-F238E27FC236}">
                  <a16:creationId xmlns:a16="http://schemas.microsoft.com/office/drawing/2014/main" xmlns="" id="{72E74B5B-71E5-6F22-12B2-2BE71205252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9" name="Freeform 1073">
              <a:extLst>
                <a:ext uri="{FF2B5EF4-FFF2-40B4-BE49-F238E27FC236}">
                  <a16:creationId xmlns:a16="http://schemas.microsoft.com/office/drawing/2014/main" xmlns="" id="{AF01F1A9-018A-C5F4-7D66-46DC2630F256}"/>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0" name="Freeform 1074">
              <a:extLst>
                <a:ext uri="{FF2B5EF4-FFF2-40B4-BE49-F238E27FC236}">
                  <a16:creationId xmlns:a16="http://schemas.microsoft.com/office/drawing/2014/main" xmlns="" id="{DAAADDDD-C6F1-3601-0CA1-757CC1B5502E}"/>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1" name="Group 1075">
              <a:extLst>
                <a:ext uri="{FF2B5EF4-FFF2-40B4-BE49-F238E27FC236}">
                  <a16:creationId xmlns:a16="http://schemas.microsoft.com/office/drawing/2014/main" xmlns="" id="{A3434472-099D-7919-C1CC-D2C804A53ABC}"/>
                </a:ext>
              </a:extLst>
            </p:cNvPr>
            <p:cNvGrpSpPr>
              <a:grpSpLocks/>
            </p:cNvGrpSpPr>
            <p:nvPr/>
          </p:nvGrpSpPr>
          <p:grpSpPr bwMode="auto">
            <a:xfrm>
              <a:off x="1709" y="3008"/>
              <a:ext cx="507" cy="234"/>
              <a:chOff x="1740" y="2642"/>
              <a:chExt cx="752" cy="327"/>
            </a:xfrm>
          </p:grpSpPr>
          <p:sp>
            <p:nvSpPr>
              <p:cNvPr id="338" name="Freeform 1076">
                <a:extLst>
                  <a:ext uri="{FF2B5EF4-FFF2-40B4-BE49-F238E27FC236}">
                    <a16:creationId xmlns:a16="http://schemas.microsoft.com/office/drawing/2014/main" xmlns="" id="{A4B8D5A9-E893-B1B0-0FDB-352E1AC8212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1077">
                <a:extLst>
                  <a:ext uri="{FF2B5EF4-FFF2-40B4-BE49-F238E27FC236}">
                    <a16:creationId xmlns:a16="http://schemas.microsoft.com/office/drawing/2014/main" xmlns="" id="{2CBE5894-6875-37B6-E124-34457D67B9B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Freeform 1078">
                <a:extLst>
                  <a:ext uri="{FF2B5EF4-FFF2-40B4-BE49-F238E27FC236}">
                    <a16:creationId xmlns:a16="http://schemas.microsoft.com/office/drawing/2014/main" xmlns="" id="{42E9F5E7-4C2C-7638-591B-1F7B9449AEE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1" name="Freeform 1079">
                <a:extLst>
                  <a:ext uri="{FF2B5EF4-FFF2-40B4-BE49-F238E27FC236}">
                    <a16:creationId xmlns:a16="http://schemas.microsoft.com/office/drawing/2014/main" xmlns="" id="{E90CC293-2A91-DE30-873F-D8A3D61F6EB6}"/>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Freeform 1080">
                <a:extLst>
                  <a:ext uri="{FF2B5EF4-FFF2-40B4-BE49-F238E27FC236}">
                    <a16:creationId xmlns:a16="http://schemas.microsoft.com/office/drawing/2014/main" xmlns="" id="{C9F37782-8FEB-1D03-26A1-38766D565AE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3" name="Freeform 1081">
                <a:extLst>
                  <a:ext uri="{FF2B5EF4-FFF2-40B4-BE49-F238E27FC236}">
                    <a16:creationId xmlns:a16="http://schemas.microsoft.com/office/drawing/2014/main" xmlns="" id="{A53E46BB-B236-34FD-F835-6DDBB401D34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32" name="Freeform 1082">
              <a:extLst>
                <a:ext uri="{FF2B5EF4-FFF2-40B4-BE49-F238E27FC236}">
                  <a16:creationId xmlns:a16="http://schemas.microsoft.com/office/drawing/2014/main" xmlns="" id="{6CC46CF3-29C1-05BF-8ECE-AE835C74CC39}"/>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3" name="Freeform 1083">
              <a:extLst>
                <a:ext uri="{FF2B5EF4-FFF2-40B4-BE49-F238E27FC236}">
                  <a16:creationId xmlns:a16="http://schemas.microsoft.com/office/drawing/2014/main" xmlns="" id="{A0271153-22E6-9E15-8F88-735AEF1F81C7}"/>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4" name="Freeform 1084">
              <a:extLst>
                <a:ext uri="{FF2B5EF4-FFF2-40B4-BE49-F238E27FC236}">
                  <a16:creationId xmlns:a16="http://schemas.microsoft.com/office/drawing/2014/main" xmlns="" id="{F24CCF92-E0B1-35D8-DFBA-AF5ED9EF3B17}"/>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5" name="Freeform 1085">
              <a:extLst>
                <a:ext uri="{FF2B5EF4-FFF2-40B4-BE49-F238E27FC236}">
                  <a16:creationId xmlns:a16="http://schemas.microsoft.com/office/drawing/2014/main" xmlns="" id="{9A231D10-3057-5151-40D8-6D8F43F8885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6" name="Freeform 1086">
              <a:extLst>
                <a:ext uri="{FF2B5EF4-FFF2-40B4-BE49-F238E27FC236}">
                  <a16:creationId xmlns:a16="http://schemas.microsoft.com/office/drawing/2014/main" xmlns="" id="{9A6EA8C2-EF0A-3CE8-859D-22D01BFEA7C8}"/>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 name="Freeform 1087">
              <a:extLst>
                <a:ext uri="{FF2B5EF4-FFF2-40B4-BE49-F238E27FC236}">
                  <a16:creationId xmlns:a16="http://schemas.microsoft.com/office/drawing/2014/main" xmlns="" id="{1B75A86E-5FD3-2C4A-5CA5-21FDCC0A765B}"/>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44" name="Group 590">
            <a:extLst>
              <a:ext uri="{FF2B5EF4-FFF2-40B4-BE49-F238E27FC236}">
                <a16:creationId xmlns:a16="http://schemas.microsoft.com/office/drawing/2014/main" xmlns="" id="{155BED6C-D63F-9B6D-6897-DFC15A26A6AA}"/>
              </a:ext>
            </a:extLst>
          </p:cNvPr>
          <p:cNvGrpSpPr>
            <a:grpSpLocks/>
          </p:cNvGrpSpPr>
          <p:nvPr/>
        </p:nvGrpSpPr>
        <p:grpSpPr bwMode="auto">
          <a:xfrm flipH="1">
            <a:off x="8153909" y="5504657"/>
            <a:ext cx="345630" cy="320302"/>
            <a:chOff x="2839" y="3501"/>
            <a:chExt cx="755" cy="803"/>
          </a:xfrm>
        </p:grpSpPr>
        <p:pic>
          <p:nvPicPr>
            <p:cNvPr id="345" name="Picture 591" descr="desktop_computer_stylized_medium">
              <a:extLst>
                <a:ext uri="{FF2B5EF4-FFF2-40B4-BE49-F238E27FC236}">
                  <a16:creationId xmlns:a16="http://schemas.microsoft.com/office/drawing/2014/main" xmlns="" id="{9CBACC1B-306C-9D00-A85F-F72D693C95C3}"/>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 name="Freeform 592">
              <a:extLst>
                <a:ext uri="{FF2B5EF4-FFF2-40B4-BE49-F238E27FC236}">
                  <a16:creationId xmlns:a16="http://schemas.microsoft.com/office/drawing/2014/main" xmlns="" id="{CC651A48-793D-9A6A-C73F-C35A67BD08F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47" name="Group 590">
            <a:extLst>
              <a:ext uri="{FF2B5EF4-FFF2-40B4-BE49-F238E27FC236}">
                <a16:creationId xmlns:a16="http://schemas.microsoft.com/office/drawing/2014/main" xmlns="" id="{EDCA29D2-5F61-86CE-CE10-21AFC05E2638}"/>
              </a:ext>
            </a:extLst>
          </p:cNvPr>
          <p:cNvGrpSpPr>
            <a:grpSpLocks/>
          </p:cNvGrpSpPr>
          <p:nvPr/>
        </p:nvGrpSpPr>
        <p:grpSpPr bwMode="auto">
          <a:xfrm flipH="1">
            <a:off x="8552134" y="5526130"/>
            <a:ext cx="345630" cy="320302"/>
            <a:chOff x="2839" y="3501"/>
            <a:chExt cx="755" cy="803"/>
          </a:xfrm>
        </p:grpSpPr>
        <p:pic>
          <p:nvPicPr>
            <p:cNvPr id="348" name="Picture 591" descr="desktop_computer_stylized_medium">
              <a:extLst>
                <a:ext uri="{FF2B5EF4-FFF2-40B4-BE49-F238E27FC236}">
                  <a16:creationId xmlns:a16="http://schemas.microsoft.com/office/drawing/2014/main" xmlns="" id="{F336152E-4CC9-BE6A-1BF4-7192DCC484E0}"/>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 name="Freeform 592">
              <a:extLst>
                <a:ext uri="{FF2B5EF4-FFF2-40B4-BE49-F238E27FC236}">
                  <a16:creationId xmlns:a16="http://schemas.microsoft.com/office/drawing/2014/main" xmlns="" id="{C1E846AF-44CD-077E-8943-9B275E00712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0" name="Group 1064">
            <a:extLst>
              <a:ext uri="{FF2B5EF4-FFF2-40B4-BE49-F238E27FC236}">
                <a16:creationId xmlns:a16="http://schemas.microsoft.com/office/drawing/2014/main" xmlns="" id="{9E22BF22-AFE2-03AC-0E08-EAA357279C6C}"/>
              </a:ext>
            </a:extLst>
          </p:cNvPr>
          <p:cNvGrpSpPr>
            <a:grpSpLocks/>
          </p:cNvGrpSpPr>
          <p:nvPr/>
        </p:nvGrpSpPr>
        <p:grpSpPr bwMode="auto">
          <a:xfrm>
            <a:off x="9534746" y="5795138"/>
            <a:ext cx="319264" cy="253379"/>
            <a:chOff x="877" y="1008"/>
            <a:chExt cx="2747" cy="2591"/>
          </a:xfrm>
        </p:grpSpPr>
        <p:pic>
          <p:nvPicPr>
            <p:cNvPr id="351" name="Picture 1065" descr="antenna_stylized">
              <a:extLst>
                <a:ext uri="{FF2B5EF4-FFF2-40B4-BE49-F238E27FC236}">
                  <a16:creationId xmlns:a16="http://schemas.microsoft.com/office/drawing/2014/main" xmlns="" id="{E82E7E66-04E7-1684-B5F3-92576BDEDC22}"/>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2" name="Picture 1066" descr="laptop_keyboard">
              <a:extLst>
                <a:ext uri="{FF2B5EF4-FFF2-40B4-BE49-F238E27FC236}">
                  <a16:creationId xmlns:a16="http://schemas.microsoft.com/office/drawing/2014/main" xmlns="" id="{5CF296B8-4FB0-CA60-BDE7-2F61A1E0BD0B}"/>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 name="Freeform 1067">
              <a:extLst>
                <a:ext uri="{FF2B5EF4-FFF2-40B4-BE49-F238E27FC236}">
                  <a16:creationId xmlns:a16="http://schemas.microsoft.com/office/drawing/2014/main" xmlns="" id="{D71BC86A-8F29-2922-5E8C-56FAFD6E2708}"/>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54" name="Picture 1068" descr="screen">
              <a:extLst>
                <a:ext uri="{FF2B5EF4-FFF2-40B4-BE49-F238E27FC236}">
                  <a16:creationId xmlns:a16="http://schemas.microsoft.com/office/drawing/2014/main" xmlns="" id="{0EEB88F8-AB71-D896-01F1-2B29A1FBA5CB}"/>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5" name="Freeform 1069">
              <a:extLst>
                <a:ext uri="{FF2B5EF4-FFF2-40B4-BE49-F238E27FC236}">
                  <a16:creationId xmlns:a16="http://schemas.microsoft.com/office/drawing/2014/main" xmlns="" id="{91C766DF-18D4-802D-3BA2-BAABF020D902}"/>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6" name="Freeform 1070">
              <a:extLst>
                <a:ext uri="{FF2B5EF4-FFF2-40B4-BE49-F238E27FC236}">
                  <a16:creationId xmlns:a16="http://schemas.microsoft.com/office/drawing/2014/main" xmlns="" id="{3E7161FC-D0D7-7FFD-0996-9637F8090E86}"/>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7" name="Freeform 1071">
              <a:extLst>
                <a:ext uri="{FF2B5EF4-FFF2-40B4-BE49-F238E27FC236}">
                  <a16:creationId xmlns:a16="http://schemas.microsoft.com/office/drawing/2014/main" xmlns="" id="{0E8CF11A-EB26-17B7-642B-B07A8300DA9E}"/>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 name="Freeform 1072">
              <a:extLst>
                <a:ext uri="{FF2B5EF4-FFF2-40B4-BE49-F238E27FC236}">
                  <a16:creationId xmlns:a16="http://schemas.microsoft.com/office/drawing/2014/main" xmlns="" id="{2E78BD4C-67D9-ADED-0204-97C0DFA2C947}"/>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9" name="Freeform 1073">
              <a:extLst>
                <a:ext uri="{FF2B5EF4-FFF2-40B4-BE49-F238E27FC236}">
                  <a16:creationId xmlns:a16="http://schemas.microsoft.com/office/drawing/2014/main" xmlns="" id="{3CC4EFFF-DE3B-BAB8-4437-394D920CAE6A}"/>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0" name="Freeform 1074">
              <a:extLst>
                <a:ext uri="{FF2B5EF4-FFF2-40B4-BE49-F238E27FC236}">
                  <a16:creationId xmlns:a16="http://schemas.microsoft.com/office/drawing/2014/main" xmlns="" id="{ABF1770B-E813-637B-5C42-13AD8F1019D2}"/>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61" name="Group 1075">
              <a:extLst>
                <a:ext uri="{FF2B5EF4-FFF2-40B4-BE49-F238E27FC236}">
                  <a16:creationId xmlns:a16="http://schemas.microsoft.com/office/drawing/2014/main" xmlns="" id="{430311D2-2F76-F537-A0FA-DEB6FE12C632}"/>
                </a:ext>
              </a:extLst>
            </p:cNvPr>
            <p:cNvGrpSpPr>
              <a:grpSpLocks/>
            </p:cNvGrpSpPr>
            <p:nvPr/>
          </p:nvGrpSpPr>
          <p:grpSpPr bwMode="auto">
            <a:xfrm>
              <a:off x="1709" y="3008"/>
              <a:ext cx="507" cy="234"/>
              <a:chOff x="1740" y="2642"/>
              <a:chExt cx="752" cy="327"/>
            </a:xfrm>
          </p:grpSpPr>
          <p:sp>
            <p:nvSpPr>
              <p:cNvPr id="368" name="Freeform 1076">
                <a:extLst>
                  <a:ext uri="{FF2B5EF4-FFF2-40B4-BE49-F238E27FC236}">
                    <a16:creationId xmlns:a16="http://schemas.microsoft.com/office/drawing/2014/main" xmlns="" id="{32EA2FA5-DFFF-92D7-A99A-354DCA74C68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7">
                <a:extLst>
                  <a:ext uri="{FF2B5EF4-FFF2-40B4-BE49-F238E27FC236}">
                    <a16:creationId xmlns:a16="http://schemas.microsoft.com/office/drawing/2014/main" xmlns="" id="{BC6EA7CB-3861-B4B5-1A56-BDCEE54C07E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0" name="Freeform 1078">
                <a:extLst>
                  <a:ext uri="{FF2B5EF4-FFF2-40B4-BE49-F238E27FC236}">
                    <a16:creationId xmlns:a16="http://schemas.microsoft.com/office/drawing/2014/main" xmlns="" id="{281967E4-A119-1E83-CB9E-DE77504B321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1" name="Freeform 1079">
                <a:extLst>
                  <a:ext uri="{FF2B5EF4-FFF2-40B4-BE49-F238E27FC236}">
                    <a16:creationId xmlns:a16="http://schemas.microsoft.com/office/drawing/2014/main" xmlns="" id="{7484F80B-E9E3-8A01-91F5-BE15F055CB0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0">
                <a:extLst>
                  <a:ext uri="{FF2B5EF4-FFF2-40B4-BE49-F238E27FC236}">
                    <a16:creationId xmlns:a16="http://schemas.microsoft.com/office/drawing/2014/main" xmlns="" id="{02E4F5DA-0DCA-822C-7B3F-52FE64616F83}"/>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1">
                <a:extLst>
                  <a:ext uri="{FF2B5EF4-FFF2-40B4-BE49-F238E27FC236}">
                    <a16:creationId xmlns:a16="http://schemas.microsoft.com/office/drawing/2014/main" xmlns="" id="{39080197-E95B-A2D7-D497-220C9FF0E0A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62" name="Freeform 1082">
              <a:extLst>
                <a:ext uri="{FF2B5EF4-FFF2-40B4-BE49-F238E27FC236}">
                  <a16:creationId xmlns:a16="http://schemas.microsoft.com/office/drawing/2014/main" xmlns="" id="{1284952A-2B12-2299-3840-E9C20F3DEF78}"/>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3" name="Freeform 1083">
              <a:extLst>
                <a:ext uri="{FF2B5EF4-FFF2-40B4-BE49-F238E27FC236}">
                  <a16:creationId xmlns:a16="http://schemas.microsoft.com/office/drawing/2014/main" xmlns="" id="{75384529-B49D-2BDE-98F1-5E860DD0B0D5}"/>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4" name="Freeform 1084">
              <a:extLst>
                <a:ext uri="{FF2B5EF4-FFF2-40B4-BE49-F238E27FC236}">
                  <a16:creationId xmlns:a16="http://schemas.microsoft.com/office/drawing/2014/main" xmlns="" id="{053C5871-FF25-9C05-BD79-95FEE9BE9CB7}"/>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85">
              <a:extLst>
                <a:ext uri="{FF2B5EF4-FFF2-40B4-BE49-F238E27FC236}">
                  <a16:creationId xmlns:a16="http://schemas.microsoft.com/office/drawing/2014/main" xmlns="" id="{7F9E9809-61D7-BC03-1F9A-0633E4430AFE}"/>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86">
              <a:extLst>
                <a:ext uri="{FF2B5EF4-FFF2-40B4-BE49-F238E27FC236}">
                  <a16:creationId xmlns:a16="http://schemas.microsoft.com/office/drawing/2014/main" xmlns="" id="{0AD8FC4A-117D-83A4-4548-E8A171EFCB0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87">
              <a:extLst>
                <a:ext uri="{FF2B5EF4-FFF2-40B4-BE49-F238E27FC236}">
                  <a16:creationId xmlns:a16="http://schemas.microsoft.com/office/drawing/2014/main" xmlns="" id="{67B4EAB1-5A34-9588-907E-6D62ADF7AA75}"/>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4" name="Freeform 984">
            <a:extLst>
              <a:ext uri="{FF2B5EF4-FFF2-40B4-BE49-F238E27FC236}">
                <a16:creationId xmlns:a16="http://schemas.microsoft.com/office/drawing/2014/main" xmlns="" id="{13526E6A-9DF1-F0E4-597A-A40055542F1D}"/>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986">
            <a:extLst>
              <a:ext uri="{FF2B5EF4-FFF2-40B4-BE49-F238E27FC236}">
                <a16:creationId xmlns:a16="http://schemas.microsoft.com/office/drawing/2014/main" xmlns="" id="{608357A7-7D11-D73C-7C17-42ABC255B80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987">
            <a:extLst>
              <a:ext uri="{FF2B5EF4-FFF2-40B4-BE49-F238E27FC236}">
                <a16:creationId xmlns:a16="http://schemas.microsoft.com/office/drawing/2014/main" xmlns="" id="{C7D660D0-574B-18E8-8F3E-311D90E8EF95}"/>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7" name="Rectangle 988">
            <a:extLst>
              <a:ext uri="{FF2B5EF4-FFF2-40B4-BE49-F238E27FC236}">
                <a16:creationId xmlns:a16="http://schemas.microsoft.com/office/drawing/2014/main" xmlns="" id="{F84DE457-0AC6-5BC0-774D-49A35FD70967}"/>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78" name="Group 989">
            <a:extLst>
              <a:ext uri="{FF2B5EF4-FFF2-40B4-BE49-F238E27FC236}">
                <a16:creationId xmlns:a16="http://schemas.microsoft.com/office/drawing/2014/main" xmlns="" id="{C6C4DD85-E23A-57C8-C9BB-F5208FE82807}"/>
              </a:ext>
            </a:extLst>
          </p:cNvPr>
          <p:cNvGrpSpPr>
            <a:grpSpLocks/>
          </p:cNvGrpSpPr>
          <p:nvPr/>
        </p:nvGrpSpPr>
        <p:grpSpPr bwMode="auto">
          <a:xfrm>
            <a:off x="10091149" y="5671195"/>
            <a:ext cx="69903" cy="21117"/>
            <a:chOff x="614" y="2568"/>
            <a:chExt cx="725" cy="139"/>
          </a:xfrm>
        </p:grpSpPr>
        <p:sp>
          <p:nvSpPr>
            <p:cNvPr id="379" name="AutoShape 990">
              <a:extLst>
                <a:ext uri="{FF2B5EF4-FFF2-40B4-BE49-F238E27FC236}">
                  <a16:creationId xmlns:a16="http://schemas.microsoft.com/office/drawing/2014/main" xmlns="" id="{6919D2FD-325A-82E6-8506-45B49A90ED97}"/>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0" name="AutoShape 991">
              <a:extLst>
                <a:ext uri="{FF2B5EF4-FFF2-40B4-BE49-F238E27FC236}">
                  <a16:creationId xmlns:a16="http://schemas.microsoft.com/office/drawing/2014/main" xmlns="" id="{05A827D2-B4C9-6B88-612C-3F088EB453BA}"/>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81" name="Rectangle 992">
            <a:extLst>
              <a:ext uri="{FF2B5EF4-FFF2-40B4-BE49-F238E27FC236}">
                <a16:creationId xmlns:a16="http://schemas.microsoft.com/office/drawing/2014/main" xmlns="" id="{EA0D1399-B79F-F4E9-B791-B28DBA4A6CA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82" name="Group 993">
            <a:extLst>
              <a:ext uri="{FF2B5EF4-FFF2-40B4-BE49-F238E27FC236}">
                <a16:creationId xmlns:a16="http://schemas.microsoft.com/office/drawing/2014/main" xmlns="" id="{2F773963-1DEE-37D0-BA47-EB454CD9AA6E}"/>
              </a:ext>
            </a:extLst>
          </p:cNvPr>
          <p:cNvGrpSpPr>
            <a:grpSpLocks/>
          </p:cNvGrpSpPr>
          <p:nvPr/>
        </p:nvGrpSpPr>
        <p:grpSpPr bwMode="auto">
          <a:xfrm>
            <a:off x="10090909" y="5718672"/>
            <a:ext cx="69903" cy="19515"/>
            <a:chOff x="614" y="2568"/>
            <a:chExt cx="725" cy="139"/>
          </a:xfrm>
        </p:grpSpPr>
        <p:sp>
          <p:nvSpPr>
            <p:cNvPr id="383" name="AutoShape 994">
              <a:extLst>
                <a:ext uri="{FF2B5EF4-FFF2-40B4-BE49-F238E27FC236}">
                  <a16:creationId xmlns:a16="http://schemas.microsoft.com/office/drawing/2014/main" xmlns="" id="{060E4A6B-806D-81B0-DD79-AF2B3F3BF7E4}"/>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4" name="AutoShape 995">
              <a:extLst>
                <a:ext uri="{FF2B5EF4-FFF2-40B4-BE49-F238E27FC236}">
                  <a16:creationId xmlns:a16="http://schemas.microsoft.com/office/drawing/2014/main" xmlns="" id="{5C8E77A2-E2B7-E807-9D67-30B7DA3DF42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85" name="Rectangle 996">
            <a:extLst>
              <a:ext uri="{FF2B5EF4-FFF2-40B4-BE49-F238E27FC236}">
                <a16:creationId xmlns:a16="http://schemas.microsoft.com/office/drawing/2014/main" xmlns="" id="{F04E4C36-1A9D-C9CF-E5C8-E0091BCB7211}"/>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6" name="Rectangle 997">
            <a:extLst>
              <a:ext uri="{FF2B5EF4-FFF2-40B4-BE49-F238E27FC236}">
                <a16:creationId xmlns:a16="http://schemas.microsoft.com/office/drawing/2014/main" xmlns="" id="{AB98A733-1C04-EBE8-9A48-9A0DAFCCE650}"/>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87" name="Group 998">
            <a:extLst>
              <a:ext uri="{FF2B5EF4-FFF2-40B4-BE49-F238E27FC236}">
                <a16:creationId xmlns:a16="http://schemas.microsoft.com/office/drawing/2014/main" xmlns="" id="{6132C16F-4C81-3A96-A7C3-55F9FC0B795F}"/>
              </a:ext>
            </a:extLst>
          </p:cNvPr>
          <p:cNvGrpSpPr>
            <a:grpSpLocks/>
          </p:cNvGrpSpPr>
          <p:nvPr/>
        </p:nvGrpSpPr>
        <p:grpSpPr bwMode="auto">
          <a:xfrm>
            <a:off x="10089465" y="5810860"/>
            <a:ext cx="70024" cy="21991"/>
            <a:chOff x="614" y="2568"/>
            <a:chExt cx="725" cy="139"/>
          </a:xfrm>
        </p:grpSpPr>
        <p:sp>
          <p:nvSpPr>
            <p:cNvPr id="388" name="AutoShape 999">
              <a:extLst>
                <a:ext uri="{FF2B5EF4-FFF2-40B4-BE49-F238E27FC236}">
                  <a16:creationId xmlns:a16="http://schemas.microsoft.com/office/drawing/2014/main" xmlns="" id="{4D5D37CD-7920-AB85-D49E-E10C25D41F9F}"/>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89" name="AutoShape 1000">
              <a:extLst>
                <a:ext uri="{FF2B5EF4-FFF2-40B4-BE49-F238E27FC236}">
                  <a16:creationId xmlns:a16="http://schemas.microsoft.com/office/drawing/2014/main" xmlns="" id="{275A969C-022B-F32C-6BD6-C657F62507A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0" name="Freeform 1001">
            <a:extLst>
              <a:ext uri="{FF2B5EF4-FFF2-40B4-BE49-F238E27FC236}">
                <a16:creationId xmlns:a16="http://schemas.microsoft.com/office/drawing/2014/main" xmlns="" id="{4CE5AEE8-728A-CD5F-B198-56AB27D59661}"/>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91" name="Group 1002">
            <a:extLst>
              <a:ext uri="{FF2B5EF4-FFF2-40B4-BE49-F238E27FC236}">
                <a16:creationId xmlns:a16="http://schemas.microsoft.com/office/drawing/2014/main" xmlns="" id="{D62790D9-CBA9-B060-4165-4A495E697F8E}"/>
              </a:ext>
            </a:extLst>
          </p:cNvPr>
          <p:cNvGrpSpPr>
            <a:grpSpLocks/>
          </p:cNvGrpSpPr>
          <p:nvPr/>
        </p:nvGrpSpPr>
        <p:grpSpPr bwMode="auto">
          <a:xfrm>
            <a:off x="10089946" y="5767169"/>
            <a:ext cx="70024" cy="20243"/>
            <a:chOff x="614" y="2568"/>
            <a:chExt cx="725" cy="139"/>
          </a:xfrm>
        </p:grpSpPr>
        <p:sp>
          <p:nvSpPr>
            <p:cNvPr id="392" name="AutoShape 1003">
              <a:extLst>
                <a:ext uri="{FF2B5EF4-FFF2-40B4-BE49-F238E27FC236}">
                  <a16:creationId xmlns:a16="http://schemas.microsoft.com/office/drawing/2014/main" xmlns="" id="{3D2725ED-33AF-1FA7-CB98-AEFFC08D8465}"/>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3" name="AutoShape 1004">
              <a:extLst>
                <a:ext uri="{FF2B5EF4-FFF2-40B4-BE49-F238E27FC236}">
                  <a16:creationId xmlns:a16="http://schemas.microsoft.com/office/drawing/2014/main" xmlns="" id="{483D91AE-1E70-A333-5A7E-814235C7008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94" name="Rectangle 1005">
            <a:extLst>
              <a:ext uri="{FF2B5EF4-FFF2-40B4-BE49-F238E27FC236}">
                <a16:creationId xmlns:a16="http://schemas.microsoft.com/office/drawing/2014/main" xmlns="" id="{7EFCAE6C-42C8-0FC2-EFEF-EEE267E380C8}"/>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5" name="Freeform 1006">
            <a:extLst>
              <a:ext uri="{FF2B5EF4-FFF2-40B4-BE49-F238E27FC236}">
                <a16:creationId xmlns:a16="http://schemas.microsoft.com/office/drawing/2014/main" xmlns="" id="{2F5115F9-5713-426E-ABE1-4EA003A73FB4}"/>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07">
            <a:extLst>
              <a:ext uri="{FF2B5EF4-FFF2-40B4-BE49-F238E27FC236}">
                <a16:creationId xmlns:a16="http://schemas.microsoft.com/office/drawing/2014/main" xmlns="" id="{22582054-941D-B650-A423-8B25D9FD0CFA}"/>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Oval 1008">
            <a:extLst>
              <a:ext uri="{FF2B5EF4-FFF2-40B4-BE49-F238E27FC236}">
                <a16:creationId xmlns:a16="http://schemas.microsoft.com/office/drawing/2014/main" xmlns="" id="{6AB75555-DE95-6D93-CF1D-8844416E0E8A}"/>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8" name="Freeform 1009">
            <a:extLst>
              <a:ext uri="{FF2B5EF4-FFF2-40B4-BE49-F238E27FC236}">
                <a16:creationId xmlns:a16="http://schemas.microsoft.com/office/drawing/2014/main" xmlns="" id="{055AF396-11AF-0A71-9F1F-AF9AE1468F2F}"/>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AutoShape 1010">
            <a:extLst>
              <a:ext uri="{FF2B5EF4-FFF2-40B4-BE49-F238E27FC236}">
                <a16:creationId xmlns:a16="http://schemas.microsoft.com/office/drawing/2014/main" xmlns="" id="{67F65CB6-F96B-749D-95DE-C79253CBC69B}"/>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0" name="AutoShape 1011">
            <a:extLst>
              <a:ext uri="{FF2B5EF4-FFF2-40B4-BE49-F238E27FC236}">
                <a16:creationId xmlns:a16="http://schemas.microsoft.com/office/drawing/2014/main" xmlns="" id="{96B090D5-B9A4-E746-A56B-A74D7C5B6C00}"/>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1" name="Oval 1012">
            <a:extLst>
              <a:ext uri="{FF2B5EF4-FFF2-40B4-BE49-F238E27FC236}">
                <a16:creationId xmlns:a16="http://schemas.microsoft.com/office/drawing/2014/main" xmlns="" id="{93DE96EB-F703-2D6B-B2A9-E5219314B4C2}"/>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2" name="Oval 1013">
            <a:extLst>
              <a:ext uri="{FF2B5EF4-FFF2-40B4-BE49-F238E27FC236}">
                <a16:creationId xmlns:a16="http://schemas.microsoft.com/office/drawing/2014/main" xmlns="" id="{885BE80E-1E2A-5F63-11CC-DF9084B283C9}"/>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3" name="Oval 1014">
            <a:extLst>
              <a:ext uri="{FF2B5EF4-FFF2-40B4-BE49-F238E27FC236}">
                <a16:creationId xmlns:a16="http://schemas.microsoft.com/office/drawing/2014/main" xmlns="" id="{7C5EEB0F-AB5A-5413-1DE5-73D5598DDDBD}"/>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04" name="Rectangle 1015">
            <a:extLst>
              <a:ext uri="{FF2B5EF4-FFF2-40B4-BE49-F238E27FC236}">
                <a16:creationId xmlns:a16="http://schemas.microsoft.com/office/drawing/2014/main" xmlns="" id="{98AA5637-C5C8-C780-9B4C-B1DAC3D7F092}"/>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05" name="Group 590">
            <a:extLst>
              <a:ext uri="{FF2B5EF4-FFF2-40B4-BE49-F238E27FC236}">
                <a16:creationId xmlns:a16="http://schemas.microsoft.com/office/drawing/2014/main" xmlns="" id="{176B4F1B-F832-EF81-EC8B-C294589EE2A7}"/>
              </a:ext>
            </a:extLst>
          </p:cNvPr>
          <p:cNvGrpSpPr>
            <a:grpSpLocks/>
          </p:cNvGrpSpPr>
          <p:nvPr/>
        </p:nvGrpSpPr>
        <p:grpSpPr bwMode="auto">
          <a:xfrm flipH="1">
            <a:off x="7773981" y="5281060"/>
            <a:ext cx="345630" cy="320302"/>
            <a:chOff x="2839" y="3501"/>
            <a:chExt cx="755" cy="803"/>
          </a:xfrm>
        </p:grpSpPr>
        <p:pic>
          <p:nvPicPr>
            <p:cNvPr id="406" name="Picture 591" descr="desktop_computer_stylized_medium">
              <a:extLst>
                <a:ext uri="{FF2B5EF4-FFF2-40B4-BE49-F238E27FC236}">
                  <a16:creationId xmlns:a16="http://schemas.microsoft.com/office/drawing/2014/main" xmlns="" id="{A47857E6-4B2D-CA12-8ABD-25EFE18FFC7F}"/>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 name="Freeform 592">
              <a:extLst>
                <a:ext uri="{FF2B5EF4-FFF2-40B4-BE49-F238E27FC236}">
                  <a16:creationId xmlns:a16="http://schemas.microsoft.com/office/drawing/2014/main" xmlns="" id="{84F03824-2207-94CE-37EB-66638299E9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8" name="Rectangle 407">
            <a:extLst>
              <a:ext uri="{FF2B5EF4-FFF2-40B4-BE49-F238E27FC236}">
                <a16:creationId xmlns:a16="http://schemas.microsoft.com/office/drawing/2014/main" xmlns="" id="{37B28669-8071-2B4D-0558-805A10FE16C1}"/>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09" name="Group 652">
            <a:extLst>
              <a:ext uri="{FF2B5EF4-FFF2-40B4-BE49-F238E27FC236}">
                <a16:creationId xmlns:a16="http://schemas.microsoft.com/office/drawing/2014/main" xmlns="" id="{8DC6DC4F-26B0-C20D-1C95-F8824685692E}"/>
              </a:ext>
            </a:extLst>
          </p:cNvPr>
          <p:cNvGrpSpPr>
            <a:grpSpLocks/>
          </p:cNvGrpSpPr>
          <p:nvPr/>
        </p:nvGrpSpPr>
        <p:grpSpPr bwMode="auto">
          <a:xfrm>
            <a:off x="7750224" y="1859725"/>
            <a:ext cx="415925" cy="385763"/>
            <a:chOff x="2751" y="1851"/>
            <a:chExt cx="462" cy="478"/>
          </a:xfrm>
        </p:grpSpPr>
        <p:pic>
          <p:nvPicPr>
            <p:cNvPr id="410" name="Picture 653" descr="iphone_stylized_small">
              <a:extLst>
                <a:ext uri="{FF2B5EF4-FFF2-40B4-BE49-F238E27FC236}">
                  <a16:creationId xmlns:a16="http://schemas.microsoft.com/office/drawing/2014/main" xmlns="" id="{3D0A8DB0-8786-77C8-D6DA-23F9EC31FB71}"/>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 name="Picture 654" descr="antenna_radiation_stylized">
              <a:extLst>
                <a:ext uri="{FF2B5EF4-FFF2-40B4-BE49-F238E27FC236}">
                  <a16:creationId xmlns:a16="http://schemas.microsoft.com/office/drawing/2014/main" xmlns="" id="{DF8647AC-A89C-E76A-4777-42AB5DC3BB22}"/>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2" name="Oval 411">
            <a:extLst>
              <a:ext uri="{FF2B5EF4-FFF2-40B4-BE49-F238E27FC236}">
                <a16:creationId xmlns:a16="http://schemas.microsoft.com/office/drawing/2014/main" xmlns="" id="{B2CAB53E-817A-1158-3B72-6045DF2743A4}"/>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3" name="Oval 412">
            <a:extLst>
              <a:ext uri="{FF2B5EF4-FFF2-40B4-BE49-F238E27FC236}">
                <a16:creationId xmlns:a16="http://schemas.microsoft.com/office/drawing/2014/main" xmlns="" id="{3CA94C6E-90DF-0850-49D7-671ACAEC0613}"/>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4" name="Freeform 917">
            <a:extLst>
              <a:ext uri="{FF2B5EF4-FFF2-40B4-BE49-F238E27FC236}">
                <a16:creationId xmlns:a16="http://schemas.microsoft.com/office/drawing/2014/main" xmlns="" id="{EA36BEE9-C226-E93E-6C3A-B613B20F59A3}"/>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15" name="Group 414">
            <a:extLst>
              <a:ext uri="{FF2B5EF4-FFF2-40B4-BE49-F238E27FC236}">
                <a16:creationId xmlns:a16="http://schemas.microsoft.com/office/drawing/2014/main" xmlns="" id="{FEDC85F8-043B-A23C-F58B-A5F5CA464842}"/>
              </a:ext>
            </a:extLst>
          </p:cNvPr>
          <p:cNvGrpSpPr/>
          <p:nvPr/>
        </p:nvGrpSpPr>
        <p:grpSpPr>
          <a:xfrm>
            <a:off x="10288915" y="4742972"/>
            <a:ext cx="880622" cy="861812"/>
            <a:chOff x="10288915" y="4742972"/>
            <a:chExt cx="880622" cy="861812"/>
          </a:xfrm>
        </p:grpSpPr>
        <p:grpSp>
          <p:nvGrpSpPr>
            <p:cNvPr id="416" name="Group 950">
              <a:extLst>
                <a:ext uri="{FF2B5EF4-FFF2-40B4-BE49-F238E27FC236}">
                  <a16:creationId xmlns:a16="http://schemas.microsoft.com/office/drawing/2014/main" xmlns="" id="{3A5831B1-A742-88C9-BE26-300B50866AEA}"/>
                </a:ext>
              </a:extLst>
            </p:cNvPr>
            <p:cNvGrpSpPr>
              <a:grpSpLocks/>
            </p:cNvGrpSpPr>
            <p:nvPr/>
          </p:nvGrpSpPr>
          <p:grpSpPr bwMode="auto">
            <a:xfrm>
              <a:off x="10288915" y="5273951"/>
              <a:ext cx="177192" cy="330833"/>
              <a:chOff x="4140" y="429"/>
              <a:chExt cx="1425" cy="2396"/>
            </a:xfrm>
          </p:grpSpPr>
          <p:sp>
            <p:nvSpPr>
              <p:cNvPr id="424" name="Freeform 951">
                <a:extLst>
                  <a:ext uri="{FF2B5EF4-FFF2-40B4-BE49-F238E27FC236}">
                    <a16:creationId xmlns:a16="http://schemas.microsoft.com/office/drawing/2014/main" xmlns="" id="{E441D03D-BA3D-D46F-B4EB-2D7F377A7CD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5" name="Rectangle 952">
                <a:extLst>
                  <a:ext uri="{FF2B5EF4-FFF2-40B4-BE49-F238E27FC236}">
                    <a16:creationId xmlns:a16="http://schemas.microsoft.com/office/drawing/2014/main" xmlns="" id="{10E09E4C-C305-9602-4E32-AF0A7B5ACC2B}"/>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6" name="Freeform 953">
                <a:extLst>
                  <a:ext uri="{FF2B5EF4-FFF2-40B4-BE49-F238E27FC236}">
                    <a16:creationId xmlns:a16="http://schemas.microsoft.com/office/drawing/2014/main" xmlns="" id="{66E43067-9B6D-6678-A52B-29D414BCA62A}"/>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7" name="Freeform 954">
                <a:extLst>
                  <a:ext uri="{FF2B5EF4-FFF2-40B4-BE49-F238E27FC236}">
                    <a16:creationId xmlns:a16="http://schemas.microsoft.com/office/drawing/2014/main" xmlns="" id="{B9EB4149-FEEB-EE56-841C-49335072CA4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8" name="Rectangle 955">
                <a:extLst>
                  <a:ext uri="{FF2B5EF4-FFF2-40B4-BE49-F238E27FC236}">
                    <a16:creationId xmlns:a16="http://schemas.microsoft.com/office/drawing/2014/main" xmlns="" id="{48755502-468F-8066-0AF4-7E12D55C1764}"/>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9" name="Group 956">
                <a:extLst>
                  <a:ext uri="{FF2B5EF4-FFF2-40B4-BE49-F238E27FC236}">
                    <a16:creationId xmlns:a16="http://schemas.microsoft.com/office/drawing/2014/main" xmlns="" id="{2F085064-30A5-59CE-9977-83114191BDF4}"/>
                  </a:ext>
                </a:extLst>
              </p:cNvPr>
              <p:cNvGrpSpPr>
                <a:grpSpLocks/>
              </p:cNvGrpSpPr>
              <p:nvPr/>
            </p:nvGrpSpPr>
            <p:grpSpPr bwMode="auto">
              <a:xfrm>
                <a:off x="4749" y="668"/>
                <a:ext cx="581" cy="145"/>
                <a:chOff x="614" y="2568"/>
                <a:chExt cx="725" cy="139"/>
              </a:xfrm>
            </p:grpSpPr>
            <p:sp>
              <p:nvSpPr>
                <p:cNvPr id="454" name="AutoShape 957">
                  <a:extLst>
                    <a:ext uri="{FF2B5EF4-FFF2-40B4-BE49-F238E27FC236}">
                      <a16:creationId xmlns:a16="http://schemas.microsoft.com/office/drawing/2014/main" xmlns="" id="{7D6EAAEA-44B1-85B1-A373-2EB923E2889D}"/>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55" name="AutoShape 958">
                  <a:extLst>
                    <a:ext uri="{FF2B5EF4-FFF2-40B4-BE49-F238E27FC236}">
                      <a16:creationId xmlns:a16="http://schemas.microsoft.com/office/drawing/2014/main" xmlns="" id="{4A7BDEF5-8886-E8B9-F551-13AB4F8CBED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0" name="Rectangle 959">
                <a:extLst>
                  <a:ext uri="{FF2B5EF4-FFF2-40B4-BE49-F238E27FC236}">
                    <a16:creationId xmlns:a16="http://schemas.microsoft.com/office/drawing/2014/main" xmlns="" id="{0C0EB94F-11FB-429D-0133-8A163B8E415E}"/>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31" name="Group 960">
                <a:extLst>
                  <a:ext uri="{FF2B5EF4-FFF2-40B4-BE49-F238E27FC236}">
                    <a16:creationId xmlns:a16="http://schemas.microsoft.com/office/drawing/2014/main" xmlns="" id="{B237DB8D-704E-80CE-F33F-ED44DFCC475E}"/>
                  </a:ext>
                </a:extLst>
              </p:cNvPr>
              <p:cNvGrpSpPr>
                <a:grpSpLocks/>
              </p:cNvGrpSpPr>
              <p:nvPr/>
            </p:nvGrpSpPr>
            <p:grpSpPr bwMode="auto">
              <a:xfrm>
                <a:off x="4747" y="994"/>
                <a:ext cx="581" cy="134"/>
                <a:chOff x="614" y="2568"/>
                <a:chExt cx="725" cy="139"/>
              </a:xfrm>
            </p:grpSpPr>
            <p:sp>
              <p:nvSpPr>
                <p:cNvPr id="452" name="AutoShape 961">
                  <a:extLst>
                    <a:ext uri="{FF2B5EF4-FFF2-40B4-BE49-F238E27FC236}">
                      <a16:creationId xmlns:a16="http://schemas.microsoft.com/office/drawing/2014/main" xmlns="" id="{0452D98D-4E8C-ED8F-06FE-7339EB921FD5}"/>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53" name="AutoShape 962">
                  <a:extLst>
                    <a:ext uri="{FF2B5EF4-FFF2-40B4-BE49-F238E27FC236}">
                      <a16:creationId xmlns:a16="http://schemas.microsoft.com/office/drawing/2014/main" xmlns="" id="{008F25A2-97B0-E6DD-85DB-EC9EC5B7BDF2}"/>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2" name="Rectangle 963">
                <a:extLst>
                  <a:ext uri="{FF2B5EF4-FFF2-40B4-BE49-F238E27FC236}">
                    <a16:creationId xmlns:a16="http://schemas.microsoft.com/office/drawing/2014/main" xmlns="" id="{8D5C78B3-D5EA-3605-CC5C-DE15FEB4865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3" name="Rectangle 964">
                <a:extLst>
                  <a:ext uri="{FF2B5EF4-FFF2-40B4-BE49-F238E27FC236}">
                    <a16:creationId xmlns:a16="http://schemas.microsoft.com/office/drawing/2014/main" xmlns="" id="{376FE158-5C88-62C6-58CB-C1230A87B795}"/>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34" name="Group 965">
                <a:extLst>
                  <a:ext uri="{FF2B5EF4-FFF2-40B4-BE49-F238E27FC236}">
                    <a16:creationId xmlns:a16="http://schemas.microsoft.com/office/drawing/2014/main" xmlns="" id="{1747DE3A-8824-7B20-B773-94FAAC693F3F}"/>
                  </a:ext>
                </a:extLst>
              </p:cNvPr>
              <p:cNvGrpSpPr>
                <a:grpSpLocks/>
              </p:cNvGrpSpPr>
              <p:nvPr/>
            </p:nvGrpSpPr>
            <p:grpSpPr bwMode="auto">
              <a:xfrm>
                <a:off x="4735" y="1627"/>
                <a:ext cx="582" cy="151"/>
                <a:chOff x="614" y="2568"/>
                <a:chExt cx="725" cy="139"/>
              </a:xfrm>
            </p:grpSpPr>
            <p:sp>
              <p:nvSpPr>
                <p:cNvPr id="450" name="AutoShape 966">
                  <a:extLst>
                    <a:ext uri="{FF2B5EF4-FFF2-40B4-BE49-F238E27FC236}">
                      <a16:creationId xmlns:a16="http://schemas.microsoft.com/office/drawing/2014/main" xmlns="" id="{274390DB-0B75-936C-5AB8-DE9E092C7695}"/>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51" name="AutoShape 967">
                  <a:extLst>
                    <a:ext uri="{FF2B5EF4-FFF2-40B4-BE49-F238E27FC236}">
                      <a16:creationId xmlns:a16="http://schemas.microsoft.com/office/drawing/2014/main" xmlns="" id="{B4E43030-4FC8-CD6B-A274-9EF99DEA603A}"/>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5" name="Freeform 968">
                <a:extLst>
                  <a:ext uri="{FF2B5EF4-FFF2-40B4-BE49-F238E27FC236}">
                    <a16:creationId xmlns:a16="http://schemas.microsoft.com/office/drawing/2014/main" xmlns="" id="{2C0D7AFC-3C2E-5D94-9AC8-01C90928DBF1}"/>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6" name="Group 969">
                <a:extLst>
                  <a:ext uri="{FF2B5EF4-FFF2-40B4-BE49-F238E27FC236}">
                    <a16:creationId xmlns:a16="http://schemas.microsoft.com/office/drawing/2014/main" xmlns="" id="{22190D3A-6F5E-DF86-E28F-9444BBD7A28D}"/>
                  </a:ext>
                </a:extLst>
              </p:cNvPr>
              <p:cNvGrpSpPr>
                <a:grpSpLocks/>
              </p:cNvGrpSpPr>
              <p:nvPr/>
            </p:nvGrpSpPr>
            <p:grpSpPr bwMode="auto">
              <a:xfrm>
                <a:off x="4739" y="1327"/>
                <a:ext cx="582" cy="139"/>
                <a:chOff x="614" y="2568"/>
                <a:chExt cx="725" cy="139"/>
              </a:xfrm>
            </p:grpSpPr>
            <p:sp>
              <p:nvSpPr>
                <p:cNvPr id="448" name="AutoShape 970">
                  <a:extLst>
                    <a:ext uri="{FF2B5EF4-FFF2-40B4-BE49-F238E27FC236}">
                      <a16:creationId xmlns:a16="http://schemas.microsoft.com/office/drawing/2014/main" xmlns="" id="{B77EB6E7-56CC-3994-FB52-882D2B63208E}"/>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9" name="AutoShape 971">
                  <a:extLst>
                    <a:ext uri="{FF2B5EF4-FFF2-40B4-BE49-F238E27FC236}">
                      <a16:creationId xmlns:a16="http://schemas.microsoft.com/office/drawing/2014/main" xmlns="" id="{90ACCA4B-3D14-0345-282D-E32E59929EE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7" name="Rectangle 972">
                <a:extLst>
                  <a:ext uri="{FF2B5EF4-FFF2-40B4-BE49-F238E27FC236}">
                    <a16:creationId xmlns:a16="http://schemas.microsoft.com/office/drawing/2014/main" xmlns="" id="{6B3716E3-C83B-FF57-44B2-B0AAB02378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8" name="Freeform 973">
                <a:extLst>
                  <a:ext uri="{FF2B5EF4-FFF2-40B4-BE49-F238E27FC236}">
                    <a16:creationId xmlns:a16="http://schemas.microsoft.com/office/drawing/2014/main" xmlns="" id="{B09BB4B7-AA76-C1DC-DFA1-CC805A7FF8C0}"/>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9" name="Freeform 974">
                <a:extLst>
                  <a:ext uri="{FF2B5EF4-FFF2-40B4-BE49-F238E27FC236}">
                    <a16:creationId xmlns:a16="http://schemas.microsoft.com/office/drawing/2014/main" xmlns="" id="{8890CB7D-7D78-27BD-CF4B-AEFC9893C803}"/>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0" name="Oval 975">
                <a:extLst>
                  <a:ext uri="{FF2B5EF4-FFF2-40B4-BE49-F238E27FC236}">
                    <a16:creationId xmlns:a16="http://schemas.microsoft.com/office/drawing/2014/main" xmlns="" id="{C2D26FE0-58B0-0FD1-A2A7-AEFC88028AD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Freeform 976">
                <a:extLst>
                  <a:ext uri="{FF2B5EF4-FFF2-40B4-BE49-F238E27FC236}">
                    <a16:creationId xmlns:a16="http://schemas.microsoft.com/office/drawing/2014/main" xmlns="" id="{E26F9EF5-329F-C00F-E671-7299A5E57DF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2" name="AutoShape 977">
                <a:extLst>
                  <a:ext uri="{FF2B5EF4-FFF2-40B4-BE49-F238E27FC236}">
                    <a16:creationId xmlns:a16="http://schemas.microsoft.com/office/drawing/2014/main" xmlns="" id="{741720AB-35BD-9002-CFE9-5A0A34FBAEE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AutoShape 978">
                <a:extLst>
                  <a:ext uri="{FF2B5EF4-FFF2-40B4-BE49-F238E27FC236}">
                    <a16:creationId xmlns:a16="http://schemas.microsoft.com/office/drawing/2014/main" xmlns="" id="{9E73F2FA-CF47-FA23-BC7B-8D9BC35B4F53}"/>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4" name="Oval 979">
                <a:extLst>
                  <a:ext uri="{FF2B5EF4-FFF2-40B4-BE49-F238E27FC236}">
                    <a16:creationId xmlns:a16="http://schemas.microsoft.com/office/drawing/2014/main" xmlns="" id="{50C5E116-A93D-3291-CA7B-572BF86D2521}"/>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5" name="Oval 980">
                <a:extLst>
                  <a:ext uri="{FF2B5EF4-FFF2-40B4-BE49-F238E27FC236}">
                    <a16:creationId xmlns:a16="http://schemas.microsoft.com/office/drawing/2014/main" xmlns="" id="{415099B3-914A-31F2-DADF-6CC3F146FCB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6" name="Oval 981">
                <a:extLst>
                  <a:ext uri="{FF2B5EF4-FFF2-40B4-BE49-F238E27FC236}">
                    <a16:creationId xmlns:a16="http://schemas.microsoft.com/office/drawing/2014/main" xmlns="" id="{9FBDD9CD-CA7A-2046-D8D5-0FA2A2A530CA}"/>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7" name="Rectangle 982">
                <a:extLst>
                  <a:ext uri="{FF2B5EF4-FFF2-40B4-BE49-F238E27FC236}">
                    <a16:creationId xmlns:a16="http://schemas.microsoft.com/office/drawing/2014/main" xmlns="" id="{82561005-3159-E7A6-2C01-D6F13D1A529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17" name="Rectangle 227">
              <a:extLst>
                <a:ext uri="{FF2B5EF4-FFF2-40B4-BE49-F238E27FC236}">
                  <a16:creationId xmlns:a16="http://schemas.microsoft.com/office/drawing/2014/main" xmlns="" id="{480FA251-25B2-4130-1967-0C9D83FB1417}"/>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8" name="Rectangle 228">
              <a:extLst>
                <a:ext uri="{FF2B5EF4-FFF2-40B4-BE49-F238E27FC236}">
                  <a16:creationId xmlns:a16="http://schemas.microsoft.com/office/drawing/2014/main" xmlns="" id="{067099B7-47D8-2B67-FACD-AEC7DB38E524}"/>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9" name="Rectangle 229">
              <a:extLst>
                <a:ext uri="{FF2B5EF4-FFF2-40B4-BE49-F238E27FC236}">
                  <a16:creationId xmlns:a16="http://schemas.microsoft.com/office/drawing/2014/main" xmlns="" id="{0E22F214-CED1-DA56-96D5-79439F76C9A1}"/>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0" name="Text Box 230">
              <a:extLst>
                <a:ext uri="{FF2B5EF4-FFF2-40B4-BE49-F238E27FC236}">
                  <a16:creationId xmlns:a16="http://schemas.microsoft.com/office/drawing/2014/main" xmlns="" id="{7784B695-8EDA-D0F0-5915-96A36AAFC380}"/>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1" name="Line 231">
              <a:extLst>
                <a:ext uri="{FF2B5EF4-FFF2-40B4-BE49-F238E27FC236}">
                  <a16:creationId xmlns:a16="http://schemas.microsoft.com/office/drawing/2014/main" xmlns="" id="{D40D5EF4-7017-3066-5256-508C9E05BEF6}"/>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2" name="Line 232">
              <a:extLst>
                <a:ext uri="{FF2B5EF4-FFF2-40B4-BE49-F238E27FC236}">
                  <a16:creationId xmlns:a16="http://schemas.microsoft.com/office/drawing/2014/main" xmlns="" id="{4D95FC00-AB87-327E-D40B-9C2D83977D95}"/>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3" name="Line 233">
              <a:extLst>
                <a:ext uri="{FF2B5EF4-FFF2-40B4-BE49-F238E27FC236}">
                  <a16:creationId xmlns:a16="http://schemas.microsoft.com/office/drawing/2014/main" xmlns="" id="{7003913F-08AA-84A9-CD7A-02B102BE5BF4}"/>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56" name="Freeform 917">
            <a:extLst>
              <a:ext uri="{FF2B5EF4-FFF2-40B4-BE49-F238E27FC236}">
                <a16:creationId xmlns:a16="http://schemas.microsoft.com/office/drawing/2014/main" xmlns="" id="{3B336E1F-E20F-6762-D643-8B6F4CF9F0C3}"/>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57" name="Group 950">
            <a:extLst>
              <a:ext uri="{FF2B5EF4-FFF2-40B4-BE49-F238E27FC236}">
                <a16:creationId xmlns:a16="http://schemas.microsoft.com/office/drawing/2014/main" xmlns="" id="{160E53AD-30AE-DFAA-F704-6E40DD380ABC}"/>
              </a:ext>
            </a:extLst>
          </p:cNvPr>
          <p:cNvGrpSpPr>
            <a:grpSpLocks/>
          </p:cNvGrpSpPr>
          <p:nvPr/>
        </p:nvGrpSpPr>
        <p:grpSpPr bwMode="auto">
          <a:xfrm>
            <a:off x="10002508" y="5616400"/>
            <a:ext cx="214974" cy="403920"/>
            <a:chOff x="4140" y="429"/>
            <a:chExt cx="1425" cy="2396"/>
          </a:xfrm>
        </p:grpSpPr>
        <p:sp>
          <p:nvSpPr>
            <p:cNvPr id="458" name="Freeform 951">
              <a:extLst>
                <a:ext uri="{FF2B5EF4-FFF2-40B4-BE49-F238E27FC236}">
                  <a16:creationId xmlns:a16="http://schemas.microsoft.com/office/drawing/2014/main" xmlns="" id="{BD741A47-1B51-41B9-D196-95978729B90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Rectangle 952">
              <a:extLst>
                <a:ext uri="{FF2B5EF4-FFF2-40B4-BE49-F238E27FC236}">
                  <a16:creationId xmlns:a16="http://schemas.microsoft.com/office/drawing/2014/main" xmlns="" id="{52EF1A47-B06E-4475-DC33-40854F2FCF34}"/>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60" name="Freeform 953">
              <a:extLst>
                <a:ext uri="{FF2B5EF4-FFF2-40B4-BE49-F238E27FC236}">
                  <a16:creationId xmlns:a16="http://schemas.microsoft.com/office/drawing/2014/main" xmlns="" id="{86210D40-0589-A4A2-9351-D0B1A1FC4644}"/>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954">
              <a:extLst>
                <a:ext uri="{FF2B5EF4-FFF2-40B4-BE49-F238E27FC236}">
                  <a16:creationId xmlns:a16="http://schemas.microsoft.com/office/drawing/2014/main" xmlns="" id="{027ED200-49E5-30ED-2D42-F8D87F742427}"/>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Rectangle 955">
              <a:extLst>
                <a:ext uri="{FF2B5EF4-FFF2-40B4-BE49-F238E27FC236}">
                  <a16:creationId xmlns:a16="http://schemas.microsoft.com/office/drawing/2014/main" xmlns="" id="{959265AB-8CDD-BD45-0F2E-53751778A08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63" name="Group 956">
              <a:extLst>
                <a:ext uri="{FF2B5EF4-FFF2-40B4-BE49-F238E27FC236}">
                  <a16:creationId xmlns:a16="http://schemas.microsoft.com/office/drawing/2014/main" xmlns="" id="{32ED676F-4D50-D33E-60B7-4481FDB3B81F}"/>
                </a:ext>
              </a:extLst>
            </p:cNvPr>
            <p:cNvGrpSpPr>
              <a:grpSpLocks/>
            </p:cNvGrpSpPr>
            <p:nvPr/>
          </p:nvGrpSpPr>
          <p:grpSpPr bwMode="auto">
            <a:xfrm>
              <a:off x="4749" y="668"/>
              <a:ext cx="581" cy="145"/>
              <a:chOff x="614" y="2568"/>
              <a:chExt cx="725" cy="139"/>
            </a:xfrm>
          </p:grpSpPr>
          <p:sp>
            <p:nvSpPr>
              <p:cNvPr id="488" name="AutoShape 957">
                <a:extLst>
                  <a:ext uri="{FF2B5EF4-FFF2-40B4-BE49-F238E27FC236}">
                    <a16:creationId xmlns:a16="http://schemas.microsoft.com/office/drawing/2014/main" xmlns="" id="{245DA45D-4981-F61F-30B3-C8A84CD93502}"/>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9" name="AutoShape 958">
                <a:extLst>
                  <a:ext uri="{FF2B5EF4-FFF2-40B4-BE49-F238E27FC236}">
                    <a16:creationId xmlns:a16="http://schemas.microsoft.com/office/drawing/2014/main" xmlns="" id="{641942E1-DE82-A8DC-E1BA-871FA46E6AE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4" name="Rectangle 959">
              <a:extLst>
                <a:ext uri="{FF2B5EF4-FFF2-40B4-BE49-F238E27FC236}">
                  <a16:creationId xmlns:a16="http://schemas.microsoft.com/office/drawing/2014/main" xmlns="" id="{A4E546BC-C81F-B8AC-B726-BEC3FE94F18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65" name="Group 960">
              <a:extLst>
                <a:ext uri="{FF2B5EF4-FFF2-40B4-BE49-F238E27FC236}">
                  <a16:creationId xmlns:a16="http://schemas.microsoft.com/office/drawing/2014/main" xmlns="" id="{CC68AAB4-E14A-E62F-0B4E-1A19219FC322}"/>
                </a:ext>
              </a:extLst>
            </p:cNvPr>
            <p:cNvGrpSpPr>
              <a:grpSpLocks/>
            </p:cNvGrpSpPr>
            <p:nvPr/>
          </p:nvGrpSpPr>
          <p:grpSpPr bwMode="auto">
            <a:xfrm>
              <a:off x="4747" y="994"/>
              <a:ext cx="581" cy="134"/>
              <a:chOff x="614" y="2568"/>
              <a:chExt cx="725" cy="139"/>
            </a:xfrm>
          </p:grpSpPr>
          <p:sp>
            <p:nvSpPr>
              <p:cNvPr id="486" name="AutoShape 961">
                <a:extLst>
                  <a:ext uri="{FF2B5EF4-FFF2-40B4-BE49-F238E27FC236}">
                    <a16:creationId xmlns:a16="http://schemas.microsoft.com/office/drawing/2014/main" xmlns="" id="{ABAFE32A-039B-DF8C-FE4D-0D19CD63447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AutoShape 962">
                <a:extLst>
                  <a:ext uri="{FF2B5EF4-FFF2-40B4-BE49-F238E27FC236}">
                    <a16:creationId xmlns:a16="http://schemas.microsoft.com/office/drawing/2014/main" xmlns="" id="{10482D65-D61A-F003-B7C1-DEAEE9AC74D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6" name="Rectangle 963">
              <a:extLst>
                <a:ext uri="{FF2B5EF4-FFF2-40B4-BE49-F238E27FC236}">
                  <a16:creationId xmlns:a16="http://schemas.microsoft.com/office/drawing/2014/main" xmlns="" id="{E212633D-F408-87FB-CB58-5F7E32BF4F90}"/>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67" name="Rectangle 964">
              <a:extLst>
                <a:ext uri="{FF2B5EF4-FFF2-40B4-BE49-F238E27FC236}">
                  <a16:creationId xmlns:a16="http://schemas.microsoft.com/office/drawing/2014/main" xmlns="" id="{AB69226C-D81B-48C8-73ED-6E275A352D87}"/>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68" name="Group 965">
              <a:extLst>
                <a:ext uri="{FF2B5EF4-FFF2-40B4-BE49-F238E27FC236}">
                  <a16:creationId xmlns:a16="http://schemas.microsoft.com/office/drawing/2014/main" xmlns="" id="{54E18A01-C2DF-BD27-9A00-788A7558087E}"/>
                </a:ext>
              </a:extLst>
            </p:cNvPr>
            <p:cNvGrpSpPr>
              <a:grpSpLocks/>
            </p:cNvGrpSpPr>
            <p:nvPr/>
          </p:nvGrpSpPr>
          <p:grpSpPr bwMode="auto">
            <a:xfrm>
              <a:off x="4735" y="1627"/>
              <a:ext cx="582" cy="151"/>
              <a:chOff x="614" y="2568"/>
              <a:chExt cx="725" cy="139"/>
            </a:xfrm>
          </p:grpSpPr>
          <p:sp>
            <p:nvSpPr>
              <p:cNvPr id="484" name="AutoShape 966">
                <a:extLst>
                  <a:ext uri="{FF2B5EF4-FFF2-40B4-BE49-F238E27FC236}">
                    <a16:creationId xmlns:a16="http://schemas.microsoft.com/office/drawing/2014/main" xmlns="" id="{04A398BC-B5AF-AED0-3EE8-9F7B10D41E4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5" name="AutoShape 967">
                <a:extLst>
                  <a:ext uri="{FF2B5EF4-FFF2-40B4-BE49-F238E27FC236}">
                    <a16:creationId xmlns:a16="http://schemas.microsoft.com/office/drawing/2014/main" xmlns="" id="{1B9ED1B2-81A5-15B7-26EF-33D764348D89}"/>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9" name="Freeform 968">
              <a:extLst>
                <a:ext uri="{FF2B5EF4-FFF2-40B4-BE49-F238E27FC236}">
                  <a16:creationId xmlns:a16="http://schemas.microsoft.com/office/drawing/2014/main" xmlns="" id="{9F187B97-84CF-CDD0-DD0F-EE85EF48B57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70" name="Group 969">
              <a:extLst>
                <a:ext uri="{FF2B5EF4-FFF2-40B4-BE49-F238E27FC236}">
                  <a16:creationId xmlns:a16="http://schemas.microsoft.com/office/drawing/2014/main" xmlns="" id="{2C8A7282-2E5D-EFB6-2E6E-CEFE6BC9FF15}"/>
                </a:ext>
              </a:extLst>
            </p:cNvPr>
            <p:cNvGrpSpPr>
              <a:grpSpLocks/>
            </p:cNvGrpSpPr>
            <p:nvPr/>
          </p:nvGrpSpPr>
          <p:grpSpPr bwMode="auto">
            <a:xfrm>
              <a:off x="4739" y="1327"/>
              <a:ext cx="582" cy="139"/>
              <a:chOff x="614" y="2568"/>
              <a:chExt cx="725" cy="139"/>
            </a:xfrm>
          </p:grpSpPr>
          <p:sp>
            <p:nvSpPr>
              <p:cNvPr id="482" name="AutoShape 970">
                <a:extLst>
                  <a:ext uri="{FF2B5EF4-FFF2-40B4-BE49-F238E27FC236}">
                    <a16:creationId xmlns:a16="http://schemas.microsoft.com/office/drawing/2014/main" xmlns="" id="{ADF98EF5-8D07-14B0-6469-E9B0D6127B48}"/>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3" name="AutoShape 971">
                <a:extLst>
                  <a:ext uri="{FF2B5EF4-FFF2-40B4-BE49-F238E27FC236}">
                    <a16:creationId xmlns:a16="http://schemas.microsoft.com/office/drawing/2014/main" xmlns="" id="{A791C095-A41B-7C37-F379-015C76048AA7}"/>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71" name="Rectangle 972">
              <a:extLst>
                <a:ext uri="{FF2B5EF4-FFF2-40B4-BE49-F238E27FC236}">
                  <a16:creationId xmlns:a16="http://schemas.microsoft.com/office/drawing/2014/main" xmlns="" id="{AE724473-745D-89B6-E538-1338C91EBD93}"/>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72" name="Freeform 973">
              <a:extLst>
                <a:ext uri="{FF2B5EF4-FFF2-40B4-BE49-F238E27FC236}">
                  <a16:creationId xmlns:a16="http://schemas.microsoft.com/office/drawing/2014/main" xmlns="" id="{7930EF11-4F1D-B17A-4AD1-DE53D76806B3}"/>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974">
              <a:extLst>
                <a:ext uri="{FF2B5EF4-FFF2-40B4-BE49-F238E27FC236}">
                  <a16:creationId xmlns:a16="http://schemas.microsoft.com/office/drawing/2014/main" xmlns="" id="{853EE24B-75AB-93DC-523D-B4A26498895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Oval 975">
              <a:extLst>
                <a:ext uri="{FF2B5EF4-FFF2-40B4-BE49-F238E27FC236}">
                  <a16:creationId xmlns:a16="http://schemas.microsoft.com/office/drawing/2014/main" xmlns="" id="{8CEBD761-BA81-27C3-1A55-FFB73B5B0B1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75" name="Freeform 976">
              <a:extLst>
                <a:ext uri="{FF2B5EF4-FFF2-40B4-BE49-F238E27FC236}">
                  <a16:creationId xmlns:a16="http://schemas.microsoft.com/office/drawing/2014/main" xmlns="" id="{FFBB772D-D42E-75BF-A5A9-BFF93CF1E7D5}"/>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AutoShape 977">
              <a:extLst>
                <a:ext uri="{FF2B5EF4-FFF2-40B4-BE49-F238E27FC236}">
                  <a16:creationId xmlns:a16="http://schemas.microsoft.com/office/drawing/2014/main" xmlns="" id="{A406B2B7-C00D-AFDA-256C-70D769AE8928}"/>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77" name="AutoShape 978">
              <a:extLst>
                <a:ext uri="{FF2B5EF4-FFF2-40B4-BE49-F238E27FC236}">
                  <a16:creationId xmlns:a16="http://schemas.microsoft.com/office/drawing/2014/main" xmlns="" id="{DF1D00DD-62D3-E684-98D5-FE0AAA050861}"/>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78" name="Oval 979">
              <a:extLst>
                <a:ext uri="{FF2B5EF4-FFF2-40B4-BE49-F238E27FC236}">
                  <a16:creationId xmlns:a16="http://schemas.microsoft.com/office/drawing/2014/main" xmlns="" id="{DDD66246-FDAD-AB5E-59ED-8AB51ACBA649}"/>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79" name="Oval 980">
              <a:extLst>
                <a:ext uri="{FF2B5EF4-FFF2-40B4-BE49-F238E27FC236}">
                  <a16:creationId xmlns:a16="http://schemas.microsoft.com/office/drawing/2014/main" xmlns="" id="{0309DF61-AC11-3D30-9871-E232B77C58D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0" name="Oval 981">
              <a:extLst>
                <a:ext uri="{FF2B5EF4-FFF2-40B4-BE49-F238E27FC236}">
                  <a16:creationId xmlns:a16="http://schemas.microsoft.com/office/drawing/2014/main" xmlns="" id="{0C1DD278-9C5B-96EF-7682-1FE995BCA45F}"/>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1" name="Rectangle 982">
              <a:extLst>
                <a:ext uri="{FF2B5EF4-FFF2-40B4-BE49-F238E27FC236}">
                  <a16:creationId xmlns:a16="http://schemas.microsoft.com/office/drawing/2014/main" xmlns="" id="{73656F50-7B89-8D7B-5C51-84FF0D7796BD}"/>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90" name="Group 489">
            <a:extLst>
              <a:ext uri="{FF2B5EF4-FFF2-40B4-BE49-F238E27FC236}">
                <a16:creationId xmlns:a16="http://schemas.microsoft.com/office/drawing/2014/main" xmlns="" id="{9A39CB72-C271-8A05-A8B4-2F71BE2CC02A}"/>
              </a:ext>
            </a:extLst>
          </p:cNvPr>
          <p:cNvGrpSpPr/>
          <p:nvPr/>
        </p:nvGrpSpPr>
        <p:grpSpPr>
          <a:xfrm>
            <a:off x="8252702" y="1137866"/>
            <a:ext cx="814388" cy="854075"/>
            <a:chOff x="9791027" y="656358"/>
            <a:chExt cx="814388" cy="854075"/>
          </a:xfrm>
        </p:grpSpPr>
        <p:sp>
          <p:nvSpPr>
            <p:cNvPr id="491" name="Rectangle 227">
              <a:extLst>
                <a:ext uri="{FF2B5EF4-FFF2-40B4-BE49-F238E27FC236}">
                  <a16:creationId xmlns:a16="http://schemas.microsoft.com/office/drawing/2014/main" xmlns="" id="{5C93B4B8-B298-1459-3BBE-C901D8CDD6BE}"/>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92" name="Rectangle 228">
              <a:extLst>
                <a:ext uri="{FF2B5EF4-FFF2-40B4-BE49-F238E27FC236}">
                  <a16:creationId xmlns:a16="http://schemas.microsoft.com/office/drawing/2014/main" xmlns="" id="{EC33E60E-5645-F433-9CF7-410239340093}"/>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93" name="Rectangle 229">
              <a:extLst>
                <a:ext uri="{FF2B5EF4-FFF2-40B4-BE49-F238E27FC236}">
                  <a16:creationId xmlns:a16="http://schemas.microsoft.com/office/drawing/2014/main" xmlns="" id="{50A1C4F1-94D7-065F-93D7-A9DD45E840BF}"/>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94" name="Text Box 230">
              <a:extLst>
                <a:ext uri="{FF2B5EF4-FFF2-40B4-BE49-F238E27FC236}">
                  <a16:creationId xmlns:a16="http://schemas.microsoft.com/office/drawing/2014/main" xmlns="" id="{ACE9A644-1481-2181-388B-BCD996D0E29E}"/>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95" name="Line 231">
              <a:extLst>
                <a:ext uri="{FF2B5EF4-FFF2-40B4-BE49-F238E27FC236}">
                  <a16:creationId xmlns:a16="http://schemas.microsoft.com/office/drawing/2014/main" xmlns="" id="{52CE7138-2047-C904-507B-753DC386EE0B}"/>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6" name="Line 232">
              <a:extLst>
                <a:ext uri="{FF2B5EF4-FFF2-40B4-BE49-F238E27FC236}">
                  <a16:creationId xmlns:a16="http://schemas.microsoft.com/office/drawing/2014/main" xmlns="" id="{088FA505-8446-4FF6-E416-A028A35DD85B}"/>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7" name="Line 233">
              <a:extLst>
                <a:ext uri="{FF2B5EF4-FFF2-40B4-BE49-F238E27FC236}">
                  <a16:creationId xmlns:a16="http://schemas.microsoft.com/office/drawing/2014/main" xmlns="" id="{DF648D8D-D4C4-F934-9EEC-0ABD0487F9E3}"/>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8" name="Up-Down Arrow 557">
            <a:extLst>
              <a:ext uri="{FF2B5EF4-FFF2-40B4-BE49-F238E27FC236}">
                <a16:creationId xmlns:a16="http://schemas.microsoft.com/office/drawing/2014/main" xmlns="" id="{830896E9-54E5-2AFF-C2E0-65AC680D6A3C}"/>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9" name="TextBox 498">
            <a:extLst>
              <a:ext uri="{FF2B5EF4-FFF2-40B4-BE49-F238E27FC236}">
                <a16:creationId xmlns:a16="http://schemas.microsoft.com/office/drawing/2014/main" xmlns="" id="{7A2A39D4-0861-3ED7-0020-50F35ECF492B}"/>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sp>
        <p:nvSpPr>
          <p:cNvPr id="500" name="Rectangle 3">
            <a:extLst>
              <a:ext uri="{FF2B5EF4-FFF2-40B4-BE49-F238E27FC236}">
                <a16:creationId xmlns:a16="http://schemas.microsoft.com/office/drawing/2014/main" xmlns="" id="{EEB62044-6F92-908D-4524-D29F766521B2}"/>
              </a:ext>
            </a:extLst>
          </p:cNvPr>
          <p:cNvSpPr txBox="1">
            <a:spLocks noChangeArrowheads="1"/>
          </p:cNvSpPr>
          <p:nvPr/>
        </p:nvSpPr>
        <p:spPr>
          <a:xfrm>
            <a:off x="736738" y="1365914"/>
            <a:ext cx="6288757" cy="5114925"/>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TCP: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Transmission Control Protocol</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reliable, in-order delivery</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congestion control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flow control</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connection setup</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UDP: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User Datagram Protocol</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unreliable, unordered delivery</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no-frills extension of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best-effort” IP</a:t>
            </a: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services not available: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delay guarantees</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bandwidth guarantees</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338619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0">
                                            <p:txEl>
                                              <p:pRg st="0" end="0"/>
                                            </p:txEl>
                                          </p:spTgt>
                                        </p:tgtEl>
                                        <p:attrNameLst>
                                          <p:attrName>style.visibility</p:attrName>
                                        </p:attrNameLst>
                                      </p:cBhvr>
                                      <p:to>
                                        <p:strVal val="visible"/>
                                      </p:to>
                                    </p:set>
                                    <p:animEffect transition="in" filter="dissolve">
                                      <p:cBhvr>
                                        <p:cTn id="7" dur="500"/>
                                        <p:tgtEl>
                                          <p:spTgt spid="500">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0">
                                            <p:txEl>
                                              <p:pRg st="1" end="1"/>
                                            </p:txEl>
                                          </p:spTgt>
                                        </p:tgtEl>
                                        <p:attrNameLst>
                                          <p:attrName>style.visibility</p:attrName>
                                        </p:attrNameLst>
                                      </p:cBhvr>
                                      <p:to>
                                        <p:strVal val="visible"/>
                                      </p:to>
                                    </p:set>
                                    <p:animEffect transition="in" filter="dissolve">
                                      <p:cBhvr>
                                        <p:cTn id="10" dur="500"/>
                                        <p:tgtEl>
                                          <p:spTgt spid="500">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00">
                                            <p:txEl>
                                              <p:pRg st="2" end="2"/>
                                            </p:txEl>
                                          </p:spTgt>
                                        </p:tgtEl>
                                        <p:attrNameLst>
                                          <p:attrName>style.visibility</p:attrName>
                                        </p:attrNameLst>
                                      </p:cBhvr>
                                      <p:to>
                                        <p:strVal val="visible"/>
                                      </p:to>
                                    </p:set>
                                    <p:animEffect transition="in" filter="dissolve">
                                      <p:cBhvr>
                                        <p:cTn id="13" dur="500"/>
                                        <p:tgtEl>
                                          <p:spTgt spid="500">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00">
                                            <p:txEl>
                                              <p:pRg st="3" end="3"/>
                                            </p:txEl>
                                          </p:spTgt>
                                        </p:tgtEl>
                                        <p:attrNameLst>
                                          <p:attrName>style.visibility</p:attrName>
                                        </p:attrNameLst>
                                      </p:cBhvr>
                                      <p:to>
                                        <p:strVal val="visible"/>
                                      </p:to>
                                    </p:set>
                                    <p:animEffect transition="in" filter="dissolve">
                                      <p:cBhvr>
                                        <p:cTn id="16" dur="500"/>
                                        <p:tgtEl>
                                          <p:spTgt spid="500">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00">
                                            <p:txEl>
                                              <p:pRg st="4" end="4"/>
                                            </p:txEl>
                                          </p:spTgt>
                                        </p:tgtEl>
                                        <p:attrNameLst>
                                          <p:attrName>style.visibility</p:attrName>
                                        </p:attrNameLst>
                                      </p:cBhvr>
                                      <p:to>
                                        <p:strVal val="visible"/>
                                      </p:to>
                                    </p:set>
                                    <p:animEffect transition="in" filter="dissolve">
                                      <p:cBhvr>
                                        <p:cTn id="19" dur="500"/>
                                        <p:tgtEl>
                                          <p:spTgt spid="500">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00">
                                            <p:txEl>
                                              <p:pRg st="5" end="5"/>
                                            </p:txEl>
                                          </p:spTgt>
                                        </p:tgtEl>
                                        <p:attrNameLst>
                                          <p:attrName>style.visibility</p:attrName>
                                        </p:attrNameLst>
                                      </p:cBhvr>
                                      <p:to>
                                        <p:strVal val="visible"/>
                                      </p:to>
                                    </p:set>
                                    <p:animEffect transition="in" filter="dissolve">
                                      <p:cBhvr>
                                        <p:cTn id="24" dur="500"/>
                                        <p:tgtEl>
                                          <p:spTgt spid="50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00">
                                            <p:txEl>
                                              <p:pRg st="6" end="6"/>
                                            </p:txEl>
                                          </p:spTgt>
                                        </p:tgtEl>
                                        <p:attrNameLst>
                                          <p:attrName>style.visibility</p:attrName>
                                        </p:attrNameLst>
                                      </p:cBhvr>
                                      <p:to>
                                        <p:strVal val="visible"/>
                                      </p:to>
                                    </p:set>
                                    <p:animEffect transition="in" filter="dissolve">
                                      <p:cBhvr>
                                        <p:cTn id="27" dur="500"/>
                                        <p:tgtEl>
                                          <p:spTgt spid="50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00">
                                            <p:txEl>
                                              <p:pRg st="7" end="7"/>
                                            </p:txEl>
                                          </p:spTgt>
                                        </p:tgtEl>
                                        <p:attrNameLst>
                                          <p:attrName>style.visibility</p:attrName>
                                        </p:attrNameLst>
                                      </p:cBhvr>
                                      <p:to>
                                        <p:strVal val="visible"/>
                                      </p:to>
                                    </p:set>
                                    <p:animEffect transition="in" filter="dissolve">
                                      <p:cBhvr>
                                        <p:cTn id="30" dur="500"/>
                                        <p:tgtEl>
                                          <p:spTgt spid="50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0">
                                            <p:txEl>
                                              <p:pRg st="8" end="8"/>
                                            </p:txEl>
                                          </p:spTgt>
                                        </p:tgtEl>
                                        <p:attrNameLst>
                                          <p:attrName>style.visibility</p:attrName>
                                        </p:attrNameLst>
                                      </p:cBhvr>
                                      <p:to>
                                        <p:strVal val="visible"/>
                                      </p:to>
                                    </p:set>
                                    <p:animEffect transition="in" filter="dissolve">
                                      <p:cBhvr>
                                        <p:cTn id="35" dur="500"/>
                                        <p:tgtEl>
                                          <p:spTgt spid="500">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00">
                                            <p:txEl>
                                              <p:pRg st="9" end="9"/>
                                            </p:txEl>
                                          </p:spTgt>
                                        </p:tgtEl>
                                        <p:attrNameLst>
                                          <p:attrName>style.visibility</p:attrName>
                                        </p:attrNameLst>
                                      </p:cBhvr>
                                      <p:to>
                                        <p:strVal val="visible"/>
                                      </p:to>
                                    </p:set>
                                    <p:animEffect transition="in" filter="dissolve">
                                      <p:cBhvr>
                                        <p:cTn id="38" dur="500"/>
                                        <p:tgtEl>
                                          <p:spTgt spid="500">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00">
                                            <p:txEl>
                                              <p:pRg st="10" end="10"/>
                                            </p:txEl>
                                          </p:spTgt>
                                        </p:tgtEl>
                                        <p:attrNameLst>
                                          <p:attrName>style.visibility</p:attrName>
                                        </p:attrNameLst>
                                      </p:cBhvr>
                                      <p:to>
                                        <p:strVal val="visible"/>
                                      </p:to>
                                    </p:set>
                                    <p:animEffect transition="in" filter="dissolve">
                                      <p:cBhvr>
                                        <p:cTn id="41" dur="500"/>
                                        <p:tgtEl>
                                          <p:spTgt spid="50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xmlns=""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xmlns=""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xmlns=""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xmlns=""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xmlns=""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xmlns=""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xmlns=""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xmlns=""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xmlns=""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xmlns=""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xmlns=""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xmlns=""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xmlns=""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xmlns=""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xmlns=""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xmlns=""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xmlns=""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xmlns=""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xmlns=""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xmlns=""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xmlns=""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xmlns=""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xmlns=""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xmlns=""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xmlns=""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xmlns=""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xmlns=""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xmlns=""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xmlns=""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xmlns=""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xmlns=""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xmlns=""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xmlns=""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xmlns=""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xmlns=""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xmlns=""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xmlns=""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Sender: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xmlns="" id="{6480FBEB-6DAE-6343-96A8-03D66CDE01DB}"/>
              </a:ext>
            </a:extLst>
          </p:cNvPr>
          <p:cNvSpPr/>
          <p:nvPr/>
        </p:nvSpPr>
        <p:spPr>
          <a:xfrm>
            <a:off x="8071146" y="2078287"/>
            <a:ext cx="2415414"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xmlns=""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a16="http://schemas.microsoft.com/office/drawing/2014/main" xmlns=""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xmlns=""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91" name="TextBox 90">
            <a:extLst>
              <a:ext uri="{FF2B5EF4-FFF2-40B4-BE49-F238E27FC236}">
                <a16:creationId xmlns:a16="http://schemas.microsoft.com/office/drawing/2014/main" xmlns="" id="{44FC0E6A-CBE5-AC4B-BF65-426B6D4CBC72}"/>
              </a:ext>
            </a:extLst>
          </p:cNvPr>
          <p:cNvSpPr txBox="1"/>
          <p:nvPr/>
        </p:nvSpPr>
        <p:spPr>
          <a:xfrm>
            <a:off x="4391544" y="2325099"/>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xmlns="" id="{D9421943-E484-5046-BEAC-6D59475EF6C3}"/>
              </a:ext>
            </a:extLst>
          </p:cNvPr>
          <p:cNvSpPr txBox="1"/>
          <p:nvPr/>
        </p:nvSpPr>
        <p:spPr>
          <a:xfrm>
            <a:off x="4388186" y="2990916"/>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segment header fields values</a:t>
            </a:r>
          </a:p>
        </p:txBody>
      </p:sp>
      <p:sp>
        <p:nvSpPr>
          <p:cNvPr id="95" name="TextBox 94">
            <a:extLst>
              <a:ext uri="{FF2B5EF4-FFF2-40B4-BE49-F238E27FC236}">
                <a16:creationId xmlns:a16="http://schemas.microsoft.com/office/drawing/2014/main" xmlns=""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segment</a:t>
            </a:r>
          </a:p>
        </p:txBody>
      </p:sp>
      <p:sp>
        <p:nvSpPr>
          <p:cNvPr id="97" name="TextBox 96">
            <a:extLst>
              <a:ext uri="{FF2B5EF4-FFF2-40B4-BE49-F238E27FC236}">
                <a16:creationId xmlns:a16="http://schemas.microsoft.com/office/drawing/2014/main" xmlns=""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131" name="Text Box 26">
            <a:extLst>
              <a:ext uri="{FF2B5EF4-FFF2-40B4-BE49-F238E27FC236}">
                <a16:creationId xmlns:a16="http://schemas.microsoft.com/office/drawing/2014/main" xmlns=""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xmlns="" id="{EB709716-FAB0-AB45-BCAE-75F8CF2AEC09}"/>
              </a:ext>
            </a:extLst>
          </p:cNvPr>
          <p:cNvSpPr/>
          <p:nvPr/>
        </p:nvSpPr>
        <p:spPr>
          <a:xfrm>
            <a:off x="270781" y="1644192"/>
            <a:ext cx="3715697" cy="40520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a16="http://schemas.microsoft.com/office/drawing/2014/main" xmlns=""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a16="http://schemas.microsoft.com/office/drawing/2014/main" xmlns=""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xmlns=""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5" name="Group 4">
            <a:extLst>
              <a:ext uri="{FF2B5EF4-FFF2-40B4-BE49-F238E27FC236}">
                <a16:creationId xmlns:a16="http://schemas.microsoft.com/office/drawing/2014/main" xmlns="" id="{E73E5E98-A439-0647-8DF1-844937CD72A0}"/>
              </a:ext>
            </a:extLst>
          </p:cNvPr>
          <p:cNvGrpSpPr/>
          <p:nvPr/>
        </p:nvGrpSpPr>
        <p:grpSpPr>
          <a:xfrm>
            <a:off x="8549491" y="2999047"/>
            <a:ext cx="1818022" cy="369332"/>
            <a:chOff x="7863122" y="5632673"/>
            <a:chExt cx="1818022" cy="369332"/>
          </a:xfrm>
        </p:grpSpPr>
        <p:grpSp>
          <p:nvGrpSpPr>
            <p:cNvPr id="99" name="Group 98">
              <a:extLst>
                <a:ext uri="{FF2B5EF4-FFF2-40B4-BE49-F238E27FC236}">
                  <a16:creationId xmlns:a16="http://schemas.microsoft.com/office/drawing/2014/main" xmlns=""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xmlns=""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xmlns=""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a16="http://schemas.microsoft.com/office/drawing/2014/main" xmlns=""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xmlns=""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xmlns=""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4" name="Footer Placeholder 3">
            <a:extLst>
              <a:ext uri="{FF2B5EF4-FFF2-40B4-BE49-F238E27FC236}">
                <a16:creationId xmlns:a16="http://schemas.microsoft.com/office/drawing/2014/main" xmlns="" id="{9D70C65D-71CF-E922-69A9-0F18EA73DE2C}"/>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8383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dissolv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dissolve">
                                      <p:cBhvr>
                                        <p:cTn id="12" dur="500"/>
                                        <p:tgtEl>
                                          <p:spTgt spid="88"/>
                                        </p:tgtEl>
                                      </p:cBhvr>
                                    </p:animEffect>
                                  </p:childTnLst>
                                </p:cTn>
                              </p:par>
                              <p:par>
                                <p:cTn id="13" presetID="0" presetClass="path" presetSubtype="0" accel="50000" decel="50000" fill="hold" nodeType="withEffect">
                                  <p:stCondLst>
                                    <p:cond delay="0"/>
                                  </p:stCondLst>
                                  <p:childTnLst>
                                    <p:animMotion origin="layout" path="M -6.25E-7 -1.48148E-6 L 0.00065 0.10139 " pathEditMode="relative" rAng="0" ptsTypes="AA">
                                      <p:cBhvr>
                                        <p:cTn id="14" dur="2000" fill="hold"/>
                                        <p:tgtEl>
                                          <p:spTgt spid="88"/>
                                        </p:tgtEl>
                                        <p:attrNameLst>
                                          <p:attrName>ppt_x</p:attrName>
                                          <p:attrName>ppt_y</p:attrName>
                                        </p:attrNameLst>
                                      </p:cBhvr>
                                      <p:rCtr x="26" y="5069"/>
                                    </p:animMotion>
                                  </p:childTnLst>
                                </p:cTn>
                              </p:par>
                              <p:par>
                                <p:cTn id="15" presetID="9"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dissolv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dissolve">
                                      <p:cBhvr>
                                        <p:cTn id="22" dur="500"/>
                                        <p:tgtEl>
                                          <p:spTgt spid="10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dissolv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06"/>
                                        </p:tgtEl>
                                      </p:cBhvr>
                                    </p:animEffect>
                                    <p:set>
                                      <p:cBhvr>
                                        <p:cTn id="30" dur="1" fill="hold">
                                          <p:stCondLst>
                                            <p:cond delay="499"/>
                                          </p:stCondLst>
                                        </p:cTn>
                                        <p:tgtEl>
                                          <p:spTgt spid="106"/>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dissolve">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1.25E-6 -3.7037E-7 L 0.00052 0.09306 " pathEditMode="relative" rAng="0" ptsTypes="AA">
                                      <p:cBhvr>
                                        <p:cTn id="44" dur="2000" fill="hold"/>
                                        <p:tgtEl>
                                          <p:spTgt spid="5"/>
                                        </p:tgtEl>
                                        <p:attrNameLst>
                                          <p:attrName>ppt_x</p:attrName>
                                          <p:attrName>ppt_y</p:attrName>
                                        </p:attrNameLst>
                                      </p:cBhvr>
                                      <p:rCtr x="26" y="4653"/>
                                    </p:animMotion>
                                  </p:childTnLst>
                                </p:cTn>
                              </p:par>
                              <p:par>
                                <p:cTn id="45" presetID="9"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dissolve">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00052 0.09306 C -0.00013 0.14931 -0.00091 0.20347 -0.00169 0.26181 L -0.11432 0.32593 L -0.43333 0.31991 C -0.47513 0.3044 -0.51719 0.27778 -0.55846 0.26366 " pathEditMode="relative" rAng="0" ptsTypes="AAAAA">
                                      <p:cBhvr>
                                        <p:cTn id="51" dur="2000" fill="hold"/>
                                        <p:tgtEl>
                                          <p:spTgt spid="5"/>
                                        </p:tgtEl>
                                        <p:attrNameLst>
                                          <p:attrName>ppt_x</p:attrName>
                                          <p:attrName>ppt_y</p:attrName>
                                        </p:attrNameLst>
                                      </p:cBhvr>
                                      <p:rCtr x="-27943" y="1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1" grpId="0"/>
      <p:bldP spid="94" grpId="0"/>
      <p:bldP spid="95" grpId="0"/>
      <p:bldP spid="97"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xmlns=""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xmlns=""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xmlns=""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xmlns=""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xmlns=""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xmlns=""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xmlns=""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xmlns=""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xmlns=""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xmlns=""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xmlns=""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xmlns=""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xmlns=""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xmlns=""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xmlns=""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xmlns=""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xmlns=""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xmlns=""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xmlns=""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xmlns=""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xmlns=""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xmlns=""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xmlns=""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xmlns=""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xmlns=""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xmlns=""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xmlns=""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xmlns=""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xmlns=""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xmlns=""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xmlns=""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xmlns=""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xmlns=""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xmlns=""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xmlns=""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xmlns=""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02" name="Rectangle 101">
            <a:extLst>
              <a:ext uri="{FF2B5EF4-FFF2-40B4-BE49-F238E27FC236}">
                <a16:creationId xmlns:a16="http://schemas.microsoft.com/office/drawing/2014/main" xmlns="" id="{6480FBEB-6DAE-6343-96A8-03D66CDE01DB}"/>
              </a:ext>
            </a:extLst>
          </p:cNvPr>
          <p:cNvSpPr/>
          <p:nvPr/>
        </p:nvSpPr>
        <p:spPr>
          <a:xfrm>
            <a:off x="8043548" y="2078287"/>
            <a:ext cx="2443011"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1" name="Text Box 26">
            <a:extLst>
              <a:ext uri="{FF2B5EF4-FFF2-40B4-BE49-F238E27FC236}">
                <a16:creationId xmlns:a16="http://schemas.microsoft.com/office/drawing/2014/main" xmlns=""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xmlns="" id="{EB709716-FAB0-AB45-BCAE-75F8CF2AEC09}"/>
              </a:ext>
            </a:extLst>
          </p:cNvPr>
          <p:cNvSpPr/>
          <p:nvPr/>
        </p:nvSpPr>
        <p:spPr>
          <a:xfrm>
            <a:off x="425009" y="1191386"/>
            <a:ext cx="3666301" cy="445990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4" name="Group 149">
            <a:extLst>
              <a:ext uri="{FF2B5EF4-FFF2-40B4-BE49-F238E27FC236}">
                <a16:creationId xmlns:a16="http://schemas.microsoft.com/office/drawing/2014/main" xmlns="" id="{63E54651-4A95-3749-9095-CA7015203D88}"/>
              </a:ext>
            </a:extLst>
          </p:cNvPr>
          <p:cNvGrpSpPr>
            <a:grpSpLocks/>
          </p:cNvGrpSpPr>
          <p:nvPr/>
        </p:nvGrpSpPr>
        <p:grpSpPr bwMode="auto">
          <a:xfrm>
            <a:off x="2462207" y="2756023"/>
            <a:ext cx="412750" cy="158750"/>
            <a:chOff x="1287" y="2524"/>
            <a:chExt cx="260" cy="100"/>
          </a:xfrm>
        </p:grpSpPr>
        <p:sp>
          <p:nvSpPr>
            <p:cNvPr id="185" name="Rectangle 73">
              <a:extLst>
                <a:ext uri="{FF2B5EF4-FFF2-40B4-BE49-F238E27FC236}">
                  <a16:creationId xmlns:a16="http://schemas.microsoft.com/office/drawing/2014/main" xmlns="" id="{280DAB38-0E9E-F34F-8F9A-9367D3F327F8}"/>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Rectangle 74">
              <a:extLst>
                <a:ext uri="{FF2B5EF4-FFF2-40B4-BE49-F238E27FC236}">
                  <a16:creationId xmlns:a16="http://schemas.microsoft.com/office/drawing/2014/main" xmlns="" id="{B4B3D106-96DD-1043-A6B0-160355FE6132}"/>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Rectangle 75">
              <a:extLst>
                <a:ext uri="{FF2B5EF4-FFF2-40B4-BE49-F238E27FC236}">
                  <a16:creationId xmlns:a16="http://schemas.microsoft.com/office/drawing/2014/main" xmlns="" id="{C5BB7FFA-9E81-524A-AFF4-0278B5CB8669}"/>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8" name="Rectangle 129">
              <a:extLst>
                <a:ext uri="{FF2B5EF4-FFF2-40B4-BE49-F238E27FC236}">
                  <a16:creationId xmlns:a16="http://schemas.microsoft.com/office/drawing/2014/main" xmlns="" id="{25DAD60B-59D9-D343-8677-62E63FE488CE}"/>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TextBox 188">
            <a:extLst>
              <a:ext uri="{FF2B5EF4-FFF2-40B4-BE49-F238E27FC236}">
                <a16:creationId xmlns:a16="http://schemas.microsoft.com/office/drawing/2014/main" xmlns="" id="{5F1D59D2-8EB3-004A-9300-4BC4758C645B}"/>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Receiver: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0" name="Group 189">
            <a:extLst>
              <a:ext uri="{FF2B5EF4-FFF2-40B4-BE49-F238E27FC236}">
                <a16:creationId xmlns:a16="http://schemas.microsoft.com/office/drawing/2014/main" xmlns="" id="{0695A34D-8B86-1543-9A29-0310FB2B9383}"/>
              </a:ext>
            </a:extLst>
          </p:cNvPr>
          <p:cNvGrpSpPr/>
          <p:nvPr/>
        </p:nvGrpSpPr>
        <p:grpSpPr>
          <a:xfrm>
            <a:off x="2355694" y="3088859"/>
            <a:ext cx="1259074" cy="369332"/>
            <a:chOff x="8934916" y="2775692"/>
            <a:chExt cx="1259074" cy="369332"/>
          </a:xfrm>
        </p:grpSpPr>
        <p:sp>
          <p:nvSpPr>
            <p:cNvPr id="191" name="Rectangle 190">
              <a:extLst>
                <a:ext uri="{FF2B5EF4-FFF2-40B4-BE49-F238E27FC236}">
                  <a16:creationId xmlns:a16="http://schemas.microsoft.com/office/drawing/2014/main" xmlns="" id="{91656D58-2006-444D-9DF3-929C2C3A9462}"/>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2" name="TextBox 191">
              <a:extLst>
                <a:ext uri="{FF2B5EF4-FFF2-40B4-BE49-F238E27FC236}">
                  <a16:creationId xmlns:a16="http://schemas.microsoft.com/office/drawing/2014/main" xmlns="" id="{EEC242EC-76E3-8842-966A-909D1964B0B8}"/>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193" name="TextBox 192">
            <a:extLst>
              <a:ext uri="{FF2B5EF4-FFF2-40B4-BE49-F238E27FC236}">
                <a16:creationId xmlns:a16="http://schemas.microsoft.com/office/drawing/2014/main" xmlns="" id="{146FAE95-BF64-744E-B6D7-85AE3120C980}"/>
              </a:ext>
            </a:extLst>
          </p:cNvPr>
          <p:cNvSpPr txBox="1"/>
          <p:nvPr/>
        </p:nvSpPr>
        <p:spPr>
          <a:xfrm>
            <a:off x="4391041" y="312590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194" name="TextBox 193">
            <a:extLst>
              <a:ext uri="{FF2B5EF4-FFF2-40B4-BE49-F238E27FC236}">
                <a16:creationId xmlns:a16="http://schemas.microsoft.com/office/drawing/2014/main" xmlns="" id="{1845376D-0F8D-7E40-9089-6FAE4370FEA0}"/>
              </a:ext>
            </a:extLst>
          </p:cNvPr>
          <p:cNvSpPr txBox="1"/>
          <p:nvPr/>
        </p:nvSpPr>
        <p:spPr>
          <a:xfrm>
            <a:off x="4389103" y="2734423"/>
            <a:ext cx="3825456" cy="409023"/>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header values</a:t>
            </a:r>
          </a:p>
        </p:txBody>
      </p:sp>
      <p:sp>
        <p:nvSpPr>
          <p:cNvPr id="195" name="TextBox 194">
            <a:extLst>
              <a:ext uri="{FF2B5EF4-FFF2-40B4-BE49-F238E27FC236}">
                <a16:creationId xmlns:a16="http://schemas.microsoft.com/office/drawing/2014/main" xmlns="" id="{9BFC24B6-C127-6F4C-BCDC-A8E792032914}"/>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196" name="Group 195">
            <a:extLst>
              <a:ext uri="{FF2B5EF4-FFF2-40B4-BE49-F238E27FC236}">
                <a16:creationId xmlns:a16="http://schemas.microsoft.com/office/drawing/2014/main" xmlns="" id="{48B83E4F-9A85-E449-9928-9D59A14EC074}"/>
              </a:ext>
            </a:extLst>
          </p:cNvPr>
          <p:cNvGrpSpPr/>
          <p:nvPr/>
        </p:nvGrpSpPr>
        <p:grpSpPr>
          <a:xfrm>
            <a:off x="1745737" y="4814948"/>
            <a:ext cx="1818022" cy="369332"/>
            <a:chOff x="7863122" y="5632673"/>
            <a:chExt cx="1818022" cy="369332"/>
          </a:xfrm>
        </p:grpSpPr>
        <p:grpSp>
          <p:nvGrpSpPr>
            <p:cNvPr id="197" name="Group 196">
              <a:extLst>
                <a:ext uri="{FF2B5EF4-FFF2-40B4-BE49-F238E27FC236}">
                  <a16:creationId xmlns:a16="http://schemas.microsoft.com/office/drawing/2014/main" xmlns="" id="{FD92661A-D54F-D249-95ED-0FF27E685E68}"/>
                </a:ext>
              </a:extLst>
            </p:cNvPr>
            <p:cNvGrpSpPr/>
            <p:nvPr/>
          </p:nvGrpSpPr>
          <p:grpSpPr>
            <a:xfrm>
              <a:off x="7863122" y="5638955"/>
              <a:ext cx="1259074" cy="338554"/>
              <a:chOff x="8964789" y="2648929"/>
              <a:chExt cx="1259074" cy="338554"/>
            </a:xfrm>
          </p:grpSpPr>
          <p:sp>
            <p:nvSpPr>
              <p:cNvPr id="201" name="Rectangle 200">
                <a:extLst>
                  <a:ext uri="{FF2B5EF4-FFF2-40B4-BE49-F238E27FC236}">
                    <a16:creationId xmlns:a16="http://schemas.microsoft.com/office/drawing/2014/main" xmlns="" id="{9FB9B2F8-7A2C-4D4A-9815-0AC06BE1D516}"/>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2" name="TextBox 201">
                <a:extLst>
                  <a:ext uri="{FF2B5EF4-FFF2-40B4-BE49-F238E27FC236}">
                    <a16:creationId xmlns:a16="http://schemas.microsoft.com/office/drawing/2014/main" xmlns="" id="{1C19CB13-59AD-3E40-AC4C-CF25CFC27E46}"/>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98" name="Group 197">
              <a:extLst>
                <a:ext uri="{FF2B5EF4-FFF2-40B4-BE49-F238E27FC236}">
                  <a16:creationId xmlns:a16="http://schemas.microsoft.com/office/drawing/2014/main" xmlns="" id="{69964EF5-DAF4-5A49-B8EB-E8A5D01CEAE7}"/>
                </a:ext>
              </a:extLst>
            </p:cNvPr>
            <p:cNvGrpSpPr/>
            <p:nvPr/>
          </p:nvGrpSpPr>
          <p:grpSpPr>
            <a:xfrm>
              <a:off x="8422070" y="5632673"/>
              <a:ext cx="1259074" cy="369332"/>
              <a:chOff x="8934916" y="2778923"/>
              <a:chExt cx="1259074" cy="369332"/>
            </a:xfrm>
          </p:grpSpPr>
          <p:sp>
            <p:nvSpPr>
              <p:cNvPr id="199" name="Rectangle 198">
                <a:extLst>
                  <a:ext uri="{FF2B5EF4-FFF2-40B4-BE49-F238E27FC236}">
                    <a16:creationId xmlns:a16="http://schemas.microsoft.com/office/drawing/2014/main" xmlns="" id="{1663F7BA-0DF3-D94B-9C74-3E86A6732DD0}"/>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0" name="TextBox 199">
                <a:extLst>
                  <a:ext uri="{FF2B5EF4-FFF2-40B4-BE49-F238E27FC236}">
                    <a16:creationId xmlns:a16="http://schemas.microsoft.com/office/drawing/2014/main" xmlns="" id="{9FB939F0-C8E1-9645-8997-AFBC0BF0005F}"/>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203" name="TextBox 202">
            <a:extLst>
              <a:ext uri="{FF2B5EF4-FFF2-40B4-BE49-F238E27FC236}">
                <a16:creationId xmlns:a16="http://schemas.microsoft.com/office/drawing/2014/main" xmlns="" id="{192B5ECF-BCF6-FB4F-96CB-B48F1BD83E0B}"/>
              </a:ext>
            </a:extLst>
          </p:cNvPr>
          <p:cNvSpPr txBox="1"/>
          <p:nvPr/>
        </p:nvSpPr>
        <p:spPr>
          <a:xfrm>
            <a:off x="4395862" y="380972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204" name="Oval 203">
            <a:extLst>
              <a:ext uri="{FF2B5EF4-FFF2-40B4-BE49-F238E27FC236}">
                <a16:creationId xmlns:a16="http://schemas.microsoft.com/office/drawing/2014/main" xmlns="" id="{6282913C-E44E-4C40-ADB1-A9BB2BFBFFD7}"/>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Footer Placeholder 1">
            <a:extLst>
              <a:ext uri="{FF2B5EF4-FFF2-40B4-BE49-F238E27FC236}">
                <a16:creationId xmlns:a16="http://schemas.microsoft.com/office/drawing/2014/main" xmlns="" id="{D761D932-1B36-2F9F-FA6C-AF25E55B434A}"/>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37050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96296E-6 L 0.00039 -0.24931 " pathEditMode="relative" rAng="0" ptsTypes="AA">
                                      <p:cBhvr>
                                        <p:cTn id="6" dur="2000" fill="hold"/>
                                        <p:tgtEl>
                                          <p:spTgt spid="196"/>
                                        </p:tgtEl>
                                        <p:attrNameLst>
                                          <p:attrName>ppt_x</p:attrName>
                                          <p:attrName>ppt_y</p:attrName>
                                        </p:attrNameLst>
                                      </p:cBhvr>
                                      <p:rCtr x="443" y="-12870"/>
                                    </p:animMotion>
                                  </p:childTnLst>
                                </p:cTn>
                              </p:par>
                              <p:par>
                                <p:cTn id="7" presetID="9"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animEffect transition="in" filter="dissolve">
                                      <p:cBhvr>
                                        <p:cTn id="9" dur="500"/>
                                        <p:tgtEl>
                                          <p:spTgt spid="19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dissolve">
                                      <p:cBhvr>
                                        <p:cTn id="14" dur="500"/>
                                        <p:tgtEl>
                                          <p:spTgt spid="20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dissolv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96"/>
                                        </p:tgtEl>
                                      </p:cBhvr>
                                    </p:animEffect>
                                    <p:set>
                                      <p:cBhvr>
                                        <p:cTn id="22" dur="1" fill="hold">
                                          <p:stCondLst>
                                            <p:cond delay="499"/>
                                          </p:stCondLst>
                                        </p:cTn>
                                        <p:tgtEl>
                                          <p:spTgt spid="196"/>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204"/>
                                        </p:tgtEl>
                                      </p:cBhvr>
                                    </p:animEffect>
                                    <p:set>
                                      <p:cBhvr>
                                        <p:cTn id="25" dur="1" fill="hold">
                                          <p:stCondLst>
                                            <p:cond delay="499"/>
                                          </p:stCondLst>
                                        </p:cTn>
                                        <p:tgtEl>
                                          <p:spTgt spid="204"/>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190"/>
                                        </p:tgtEl>
                                        <p:attrNameLst>
                                          <p:attrName>style.visibility</p:attrName>
                                        </p:attrNameLst>
                                      </p:cBhvr>
                                      <p:to>
                                        <p:strVal val="visible"/>
                                      </p:to>
                                    </p:set>
                                    <p:animEffect transition="in" filter="dissolve">
                                      <p:cBhvr>
                                        <p:cTn id="28" dur="500"/>
                                        <p:tgtEl>
                                          <p:spTgt spid="19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3"/>
                                        </p:tgtEl>
                                        <p:attrNameLst>
                                          <p:attrName>style.visibility</p:attrName>
                                        </p:attrNameLst>
                                      </p:cBhvr>
                                      <p:to>
                                        <p:strVal val="visible"/>
                                      </p:to>
                                    </p:set>
                                    <p:animEffect transition="in" filter="dissolve">
                                      <p:cBhvr>
                                        <p:cTn id="31" dur="500"/>
                                        <p:tgtEl>
                                          <p:spTgt spid="19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1.66667E-6 -4.81481E-6 L 0.00013 -0.10763 " pathEditMode="relative" rAng="0" ptsTypes="AA">
                                      <p:cBhvr>
                                        <p:cTn id="35" dur="2000" fill="hold"/>
                                        <p:tgtEl>
                                          <p:spTgt spid="190"/>
                                        </p:tgtEl>
                                        <p:attrNameLst>
                                          <p:attrName>ppt_x</p:attrName>
                                          <p:attrName>ppt_y</p:attrName>
                                        </p:attrNameLst>
                                      </p:cBhvr>
                                      <p:rCtr x="0" y="-5394"/>
                                    </p:animMotion>
                                  </p:childTnLst>
                                </p:cTn>
                              </p:par>
                              <p:par>
                                <p:cTn id="36" presetID="9" presetClass="entr" presetSubtype="0" fill="hold" grpId="0" nodeType="withEffect">
                                  <p:stCondLst>
                                    <p:cond delay="0"/>
                                  </p:stCondLst>
                                  <p:childTnLst>
                                    <p:set>
                                      <p:cBhvr>
                                        <p:cTn id="37" dur="1" fill="hold">
                                          <p:stCondLst>
                                            <p:cond delay="0"/>
                                          </p:stCondLst>
                                        </p:cTn>
                                        <p:tgtEl>
                                          <p:spTgt spid="203"/>
                                        </p:tgtEl>
                                        <p:attrNameLst>
                                          <p:attrName>style.visibility</p:attrName>
                                        </p:attrNameLst>
                                      </p:cBhvr>
                                      <p:to>
                                        <p:strVal val="visible"/>
                                      </p:to>
                                    </p:set>
                                    <p:animEffect transition="in" filter="dissolve">
                                      <p:cBhvr>
                                        <p:cTn id="38"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p:bldP spid="195" grpId="0"/>
      <p:bldP spid="203" grpId="0"/>
      <p:bldP spid="204" grpId="0" animBg="1"/>
      <p:bldP spid="204" grpId="1"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Multiplexing/</a:t>
            </a:r>
            <a:r>
              <a:rPr lang="en-US" altLang="en-US" b="0" dirty="0" err="1">
                <a:solidFill>
                  <a:srgbClr val="FF0000"/>
                </a:solidFill>
                <a:latin typeface="Times New Roman" panose="02020603050405020304" pitchFamily="18" charset="0"/>
                <a:cs typeface="Times New Roman" panose="02020603050405020304" pitchFamily="18" charset="0"/>
              </a:rPr>
              <a:t>Demultiplexing</a:t>
            </a:r>
            <a:endParaRPr lang="en-IN" b="0" dirty="0">
              <a:solidFill>
                <a:srgbClr val="FF0000"/>
              </a:solidFill>
              <a:latin typeface="Times New Roman" panose="02020603050405020304" pitchFamily="18" charset="0"/>
              <a:cs typeface="Times New Roman" panose="02020603050405020304" pitchFamily="18" charset="0"/>
            </a:endParaRPr>
          </a:p>
        </p:txBody>
      </p:sp>
      <p:grpSp>
        <p:nvGrpSpPr>
          <p:cNvPr id="4" name="Group 1032"/>
          <p:cNvGrpSpPr>
            <a:grpSpLocks/>
          </p:cNvGrpSpPr>
          <p:nvPr/>
        </p:nvGrpSpPr>
        <p:grpSpPr bwMode="auto">
          <a:xfrm>
            <a:off x="859047" y="1656258"/>
            <a:ext cx="1600200" cy="1676400"/>
            <a:chOff x="528" y="912"/>
            <a:chExt cx="1008" cy="1056"/>
          </a:xfrm>
        </p:grpSpPr>
        <p:sp>
          <p:nvSpPr>
            <p:cNvPr id="5" name="Rectangle 1028"/>
            <p:cNvSpPr>
              <a:spLocks noChangeArrowheads="1"/>
            </p:cNvSpPr>
            <p:nvPr/>
          </p:nvSpPr>
          <p:spPr bwMode="auto">
            <a:xfrm>
              <a:off x="528" y="912"/>
              <a:ext cx="1008" cy="10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6" name="Line 1029"/>
            <p:cNvSpPr>
              <a:spLocks noChangeShapeType="1"/>
            </p:cNvSpPr>
            <p:nvPr/>
          </p:nvSpPr>
          <p:spPr bwMode="auto">
            <a:xfrm>
              <a:off x="528" y="1440"/>
              <a:ext cx="10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7" name="Text Box 1030"/>
            <p:cNvSpPr txBox="1">
              <a:spLocks noChangeArrowheads="1"/>
            </p:cNvSpPr>
            <p:nvPr/>
          </p:nvSpPr>
          <p:spPr bwMode="auto">
            <a:xfrm>
              <a:off x="672" y="1008"/>
              <a:ext cx="71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dirty="0"/>
                <a:t>Transport</a:t>
              </a:r>
            </a:p>
            <a:p>
              <a:pPr algn="ctr">
                <a:spcBef>
                  <a:spcPct val="0"/>
                </a:spcBef>
                <a:buClrTx/>
                <a:buSzTx/>
                <a:buFontTx/>
                <a:buNone/>
              </a:pPr>
              <a:r>
                <a:rPr lang="en-US" altLang="en-US" sz="1600" dirty="0"/>
                <a:t>Layer</a:t>
              </a:r>
            </a:p>
          </p:txBody>
        </p:sp>
        <p:sp>
          <p:nvSpPr>
            <p:cNvPr id="8" name="Text Box 1031"/>
            <p:cNvSpPr txBox="1">
              <a:spLocks noChangeArrowheads="1"/>
            </p:cNvSpPr>
            <p:nvPr/>
          </p:nvSpPr>
          <p:spPr bwMode="auto">
            <a:xfrm>
              <a:off x="762" y="1536"/>
              <a:ext cx="634"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Network</a:t>
              </a:r>
            </a:p>
            <a:p>
              <a:pPr algn="ctr">
                <a:spcBef>
                  <a:spcPct val="0"/>
                </a:spcBef>
                <a:buClrTx/>
                <a:buSzTx/>
                <a:buFontTx/>
                <a:buNone/>
              </a:pPr>
              <a:r>
                <a:rPr lang="en-US" altLang="en-US" sz="1600"/>
                <a:t>Layer</a:t>
              </a:r>
            </a:p>
          </p:txBody>
        </p:sp>
      </p:grpSp>
      <p:grpSp>
        <p:nvGrpSpPr>
          <p:cNvPr id="9" name="Group 1033"/>
          <p:cNvGrpSpPr>
            <a:grpSpLocks/>
          </p:cNvGrpSpPr>
          <p:nvPr/>
        </p:nvGrpSpPr>
        <p:grpSpPr bwMode="auto">
          <a:xfrm>
            <a:off x="5486400" y="1732458"/>
            <a:ext cx="1600200" cy="1676400"/>
            <a:chOff x="528" y="912"/>
            <a:chExt cx="1008" cy="1056"/>
          </a:xfrm>
        </p:grpSpPr>
        <p:sp>
          <p:nvSpPr>
            <p:cNvPr id="10" name="Rectangle 1034"/>
            <p:cNvSpPr>
              <a:spLocks noChangeArrowheads="1"/>
            </p:cNvSpPr>
            <p:nvPr/>
          </p:nvSpPr>
          <p:spPr bwMode="auto">
            <a:xfrm>
              <a:off x="528" y="912"/>
              <a:ext cx="1008" cy="10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1" name="Line 1035"/>
            <p:cNvSpPr>
              <a:spLocks noChangeShapeType="1"/>
            </p:cNvSpPr>
            <p:nvPr/>
          </p:nvSpPr>
          <p:spPr bwMode="auto">
            <a:xfrm>
              <a:off x="528" y="1440"/>
              <a:ext cx="10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2" name="Text Box 1036"/>
            <p:cNvSpPr txBox="1">
              <a:spLocks noChangeArrowheads="1"/>
            </p:cNvSpPr>
            <p:nvPr/>
          </p:nvSpPr>
          <p:spPr bwMode="auto">
            <a:xfrm>
              <a:off x="672" y="1008"/>
              <a:ext cx="71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Transport</a:t>
              </a:r>
            </a:p>
            <a:p>
              <a:pPr algn="ctr">
                <a:spcBef>
                  <a:spcPct val="0"/>
                </a:spcBef>
                <a:buClrTx/>
                <a:buSzTx/>
                <a:buFontTx/>
                <a:buNone/>
              </a:pPr>
              <a:r>
                <a:rPr lang="en-US" altLang="en-US" sz="1600"/>
                <a:t>Layer</a:t>
              </a:r>
            </a:p>
          </p:txBody>
        </p:sp>
        <p:sp>
          <p:nvSpPr>
            <p:cNvPr id="13" name="Text Box 1037"/>
            <p:cNvSpPr txBox="1">
              <a:spLocks noChangeArrowheads="1"/>
            </p:cNvSpPr>
            <p:nvPr/>
          </p:nvSpPr>
          <p:spPr bwMode="auto">
            <a:xfrm>
              <a:off x="762" y="1536"/>
              <a:ext cx="634"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Network</a:t>
              </a:r>
            </a:p>
            <a:p>
              <a:pPr algn="ctr">
                <a:spcBef>
                  <a:spcPct val="0"/>
                </a:spcBef>
                <a:buClrTx/>
                <a:buSzTx/>
                <a:buFontTx/>
                <a:buNone/>
              </a:pPr>
              <a:r>
                <a:rPr lang="en-US" altLang="en-US" sz="1600"/>
                <a:t>Layer</a:t>
              </a:r>
            </a:p>
          </p:txBody>
        </p:sp>
      </p:grpSp>
      <p:sp>
        <p:nvSpPr>
          <p:cNvPr id="14" name="Line 1039"/>
          <p:cNvSpPr>
            <a:spLocks noChangeShapeType="1"/>
          </p:cNvSpPr>
          <p:nvPr/>
        </p:nvSpPr>
        <p:spPr bwMode="auto">
          <a:xfrm>
            <a:off x="2438400" y="2951658"/>
            <a:ext cx="3048000" cy="0"/>
          </a:xfrm>
          <a:prstGeom prst="line">
            <a:avLst/>
          </a:prstGeom>
          <a:noFill/>
          <a:ln w="2857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5" name="Line 1040"/>
          <p:cNvSpPr>
            <a:spLocks noChangeShapeType="1"/>
          </p:cNvSpPr>
          <p:nvPr/>
        </p:nvSpPr>
        <p:spPr bwMode="auto">
          <a:xfrm>
            <a:off x="2438400" y="1808658"/>
            <a:ext cx="30480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6" name="Line 1041"/>
          <p:cNvSpPr>
            <a:spLocks noChangeShapeType="1"/>
          </p:cNvSpPr>
          <p:nvPr/>
        </p:nvSpPr>
        <p:spPr bwMode="auto">
          <a:xfrm>
            <a:off x="2438400" y="2113458"/>
            <a:ext cx="30480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 name="Line 1042"/>
          <p:cNvSpPr>
            <a:spLocks noChangeShapeType="1"/>
          </p:cNvSpPr>
          <p:nvPr/>
        </p:nvSpPr>
        <p:spPr bwMode="auto">
          <a:xfrm>
            <a:off x="2438400" y="2418258"/>
            <a:ext cx="30480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 name="Text Box 1043"/>
          <p:cNvSpPr txBox="1">
            <a:spLocks noChangeArrowheads="1"/>
          </p:cNvSpPr>
          <p:nvPr/>
        </p:nvSpPr>
        <p:spPr bwMode="auto">
          <a:xfrm>
            <a:off x="3421063" y="1580058"/>
            <a:ext cx="722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HTTP</a:t>
            </a:r>
          </a:p>
        </p:txBody>
      </p:sp>
      <p:sp>
        <p:nvSpPr>
          <p:cNvPr id="19" name="Text Box 1044"/>
          <p:cNvSpPr txBox="1">
            <a:spLocks noChangeArrowheads="1"/>
          </p:cNvSpPr>
          <p:nvPr/>
        </p:nvSpPr>
        <p:spPr bwMode="auto">
          <a:xfrm>
            <a:off x="3505200" y="1884858"/>
            <a:ext cx="552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FTP</a:t>
            </a:r>
          </a:p>
        </p:txBody>
      </p:sp>
      <p:sp>
        <p:nvSpPr>
          <p:cNvPr id="20" name="Text Box 1045"/>
          <p:cNvSpPr txBox="1">
            <a:spLocks noChangeArrowheads="1"/>
          </p:cNvSpPr>
          <p:nvPr/>
        </p:nvSpPr>
        <p:spPr bwMode="auto">
          <a:xfrm>
            <a:off x="3381375" y="2189658"/>
            <a:ext cx="8016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Telnet</a:t>
            </a:r>
          </a:p>
        </p:txBody>
      </p:sp>
      <p:sp>
        <p:nvSpPr>
          <p:cNvPr id="21" name="Rectangle 20"/>
          <p:cNvSpPr/>
          <p:nvPr/>
        </p:nvSpPr>
        <p:spPr>
          <a:xfrm>
            <a:off x="914400" y="3561257"/>
            <a:ext cx="6096000" cy="2751522"/>
          </a:xfrm>
          <a:prstGeom prst="rect">
            <a:avLst/>
          </a:prstGeom>
        </p:spPr>
        <p:txBody>
          <a:bodyPr>
            <a:spAutoFit/>
          </a:bodyPr>
          <a:lstStyle/>
          <a:p>
            <a:pPr>
              <a:lnSpc>
                <a:spcPct val="90000"/>
              </a:lnSpc>
            </a:pPr>
            <a:r>
              <a:rPr lang="en-US" altLang="en-US" sz="2400" dirty="0"/>
              <a:t>Use same communication channel between hosts for several logical communication processes</a:t>
            </a:r>
          </a:p>
          <a:p>
            <a:pPr>
              <a:lnSpc>
                <a:spcPct val="90000"/>
              </a:lnSpc>
            </a:pPr>
            <a:r>
              <a:rPr lang="en-US" altLang="en-US" sz="2400" dirty="0"/>
              <a:t>How does Mux/</a:t>
            </a:r>
            <a:r>
              <a:rPr lang="en-US" altLang="en-US" sz="2400" dirty="0" err="1"/>
              <a:t>DeMux</a:t>
            </a:r>
            <a:r>
              <a:rPr lang="en-US" altLang="en-US" sz="2400" dirty="0"/>
              <a:t> work?</a:t>
            </a:r>
          </a:p>
          <a:p>
            <a:pPr lvl="1">
              <a:lnSpc>
                <a:spcPct val="90000"/>
              </a:lnSpc>
            </a:pPr>
            <a:r>
              <a:rPr lang="en-US" altLang="en-US" sz="2400" dirty="0"/>
              <a:t>Sockets: doors between process &amp; host</a:t>
            </a:r>
          </a:p>
          <a:p>
            <a:pPr lvl="1">
              <a:lnSpc>
                <a:spcPct val="90000"/>
              </a:lnSpc>
            </a:pPr>
            <a:r>
              <a:rPr lang="en-US" altLang="en-US" sz="2400" dirty="0"/>
              <a:t>UDP socket: (</a:t>
            </a:r>
            <a:r>
              <a:rPr lang="en-US" altLang="en-US" sz="2400" dirty="0" err="1"/>
              <a:t>dest</a:t>
            </a:r>
            <a:r>
              <a:rPr lang="en-US" altLang="en-US" sz="2400" dirty="0"/>
              <a:t>. IP, </a:t>
            </a:r>
            <a:r>
              <a:rPr lang="en-US" altLang="en-US" sz="2400" dirty="0" err="1"/>
              <a:t>dest</a:t>
            </a:r>
            <a:r>
              <a:rPr lang="en-US" altLang="en-US" sz="2400" dirty="0"/>
              <a:t>. Port)</a:t>
            </a:r>
          </a:p>
          <a:p>
            <a:pPr lvl="1">
              <a:lnSpc>
                <a:spcPct val="90000"/>
              </a:lnSpc>
            </a:pPr>
            <a:r>
              <a:rPr lang="en-US" altLang="en-US" sz="2400" dirty="0"/>
              <a:t>TCP socket: (</a:t>
            </a:r>
            <a:r>
              <a:rPr lang="en-US" altLang="en-US" sz="2400" dirty="0" err="1"/>
              <a:t>src</a:t>
            </a:r>
            <a:r>
              <a:rPr lang="en-US" altLang="en-US" sz="2400" dirty="0"/>
              <a:t>. IP, </a:t>
            </a:r>
            <a:r>
              <a:rPr lang="en-US" altLang="en-US" sz="2400" dirty="0" err="1"/>
              <a:t>src</a:t>
            </a:r>
            <a:r>
              <a:rPr lang="en-US" altLang="en-US" sz="2400" dirty="0"/>
              <a:t>. port, </a:t>
            </a:r>
            <a:r>
              <a:rPr lang="en-US" altLang="en-US" sz="2400" dirty="0" err="1"/>
              <a:t>dest</a:t>
            </a:r>
            <a:r>
              <a:rPr lang="en-US" altLang="en-US" sz="2400" dirty="0"/>
              <a:t>. IP, </a:t>
            </a:r>
            <a:r>
              <a:rPr lang="en-US" altLang="en-US" sz="2400" dirty="0" err="1"/>
              <a:t>dest</a:t>
            </a:r>
            <a:r>
              <a:rPr lang="en-US" altLang="en-US" sz="2400" dirty="0"/>
              <a:t>. Port)</a:t>
            </a:r>
          </a:p>
        </p:txBody>
      </p:sp>
    </p:spTree>
    <p:extLst>
      <p:ext uri="{BB962C8B-B14F-4D97-AF65-F5344CB8AC3E}">
        <p14:creationId xmlns:p14="http://schemas.microsoft.com/office/powerpoint/2010/main" val="4092857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xmlns=""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xmlns=""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xmlns=""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xmlns=""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xmlns=""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xmlns=""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xmlns=""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xmlns=""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xmlns="" id="{4FFEBBBB-2623-A645-BE22-49AB28379D36}"/>
              </a:ext>
            </a:extLst>
          </p:cNvPr>
          <p:cNvSpPr/>
          <p:nvPr/>
        </p:nvSpPr>
        <p:spPr>
          <a:xfrm>
            <a:off x="5864224" y="2340021"/>
            <a:ext cx="1063879"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xmlns=""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xmlns=""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xmlns="" id="{E3FB1031-3908-E042-BEBD-0943202310C6}"/>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xmlns="" id="{54CEDD4F-E58F-76FF-F5E5-127121CF4F0D}"/>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140532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xmlns=""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xmlns=""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xmlns=""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xmlns=""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xmlns=""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xmlns=""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xmlns=""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xmlns=""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xmlns="" id="{55BCE33F-AF9C-9244-A84E-ABFE39D35FDD}"/>
              </a:ext>
            </a:extLst>
          </p:cNvPr>
          <p:cNvGrpSpPr/>
          <p:nvPr/>
        </p:nvGrpSpPr>
        <p:grpSpPr>
          <a:xfrm>
            <a:off x="5528837" y="2685375"/>
            <a:ext cx="1404036" cy="384588"/>
            <a:chOff x="8597346" y="692270"/>
            <a:chExt cx="1404036" cy="384588"/>
          </a:xfrm>
        </p:grpSpPr>
        <p:sp>
          <p:nvSpPr>
            <p:cNvPr id="90" name="Rectangle 89">
              <a:extLst>
                <a:ext uri="{FF2B5EF4-FFF2-40B4-BE49-F238E27FC236}">
                  <a16:creationId xmlns:a16="http://schemas.microsoft.com/office/drawing/2014/main" xmlns="" id="{3181679B-461D-F54E-B35C-1F26F43C0389}"/>
                </a:ext>
              </a:extLst>
            </p:cNvPr>
            <p:cNvSpPr/>
            <p:nvPr/>
          </p:nvSpPr>
          <p:spPr>
            <a:xfrm>
              <a:off x="8597936" y="756182"/>
              <a:ext cx="1403446"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xtBox 90">
              <a:extLst>
                <a:ext uri="{FF2B5EF4-FFF2-40B4-BE49-F238E27FC236}">
                  <a16:creationId xmlns:a16="http://schemas.microsoft.com/office/drawing/2014/main" xmlns="" id="{3C8C24D3-DD36-2249-9CAB-AD499E2FCA24}"/>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2" name="TextBox 91">
              <a:extLst>
                <a:ext uri="{FF2B5EF4-FFF2-40B4-BE49-F238E27FC236}">
                  <a16:creationId xmlns:a16="http://schemas.microsoft.com/office/drawing/2014/main" xmlns="" id="{A5E8010F-AACF-1444-9E25-B05D5044AA5A}"/>
                </a:ext>
              </a:extLst>
            </p:cNvPr>
            <p:cNvSpPr txBox="1"/>
            <p:nvPr/>
          </p:nvSpPr>
          <p:spPr>
            <a:xfrm>
              <a:off x="8597346" y="692270"/>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sp>
        <p:nvSpPr>
          <p:cNvPr id="98" name="Rectangle 97">
            <a:extLst>
              <a:ext uri="{FF2B5EF4-FFF2-40B4-BE49-F238E27FC236}">
                <a16:creationId xmlns:a16="http://schemas.microsoft.com/office/drawing/2014/main" xmlns="" id="{4FFEBBBB-2623-A645-BE22-49AB28379D36}"/>
              </a:ext>
            </a:extLst>
          </p:cNvPr>
          <p:cNvSpPr/>
          <p:nvPr/>
        </p:nvSpPr>
        <p:spPr>
          <a:xfrm>
            <a:off x="5864224" y="2340021"/>
            <a:ext cx="1063879"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xmlns=""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xmlns=""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xmlns="" id="{7E44E6E3-ED5F-EA46-A3F3-2FC71EED50CF}"/>
              </a:ext>
            </a:extLst>
          </p:cNvPr>
          <p:cNvSpPr/>
          <p:nvPr/>
        </p:nvSpPr>
        <p:spPr>
          <a:xfrm>
            <a:off x="5864224" y="2291365"/>
            <a:ext cx="1063879" cy="30054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Content Placeholder 2">
            <a:extLst>
              <a:ext uri="{FF2B5EF4-FFF2-40B4-BE49-F238E27FC236}">
                <a16:creationId xmlns:a16="http://schemas.microsoft.com/office/drawing/2014/main" xmlns="" id="{918F5944-CBB7-6BD4-9991-4884B3C8637C}"/>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xmlns="" id="{674DCC5F-0874-1873-7C33-E4697DC4109E}"/>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356625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xmlns=""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xmlns=""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xmlns=""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xmlns=""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xmlns=""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xmlns=""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xmlns=""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xmlns=""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xmlns="" id="{55BCE33F-AF9C-9244-A84E-ABFE39D35FDD}"/>
              </a:ext>
            </a:extLst>
          </p:cNvPr>
          <p:cNvGrpSpPr/>
          <p:nvPr/>
        </p:nvGrpSpPr>
        <p:grpSpPr>
          <a:xfrm>
            <a:off x="5525255" y="2683797"/>
            <a:ext cx="1407618" cy="386166"/>
            <a:chOff x="8593764" y="690692"/>
            <a:chExt cx="1407618" cy="386166"/>
          </a:xfrm>
        </p:grpSpPr>
        <p:sp>
          <p:nvSpPr>
            <p:cNvPr id="90" name="Rectangle 89">
              <a:extLst>
                <a:ext uri="{FF2B5EF4-FFF2-40B4-BE49-F238E27FC236}">
                  <a16:creationId xmlns:a16="http://schemas.microsoft.com/office/drawing/2014/main" xmlns="" id="{3181679B-461D-F54E-B35C-1F26F43C0389}"/>
                </a:ext>
              </a:extLst>
            </p:cNvPr>
            <p:cNvSpPr/>
            <p:nvPr/>
          </p:nvSpPr>
          <p:spPr>
            <a:xfrm>
              <a:off x="8597936" y="756182"/>
              <a:ext cx="1403446"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xtBox 90">
              <a:extLst>
                <a:ext uri="{FF2B5EF4-FFF2-40B4-BE49-F238E27FC236}">
                  <a16:creationId xmlns:a16="http://schemas.microsoft.com/office/drawing/2014/main" xmlns="" id="{3C8C24D3-DD36-2249-9CAB-AD499E2FCA24}"/>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2" name="TextBox 91">
              <a:extLst>
                <a:ext uri="{FF2B5EF4-FFF2-40B4-BE49-F238E27FC236}">
                  <a16:creationId xmlns:a16="http://schemas.microsoft.com/office/drawing/2014/main" xmlns="" id="{A5E8010F-AACF-1444-9E25-B05D5044AA5A}"/>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93" name="Group 92">
            <a:extLst>
              <a:ext uri="{FF2B5EF4-FFF2-40B4-BE49-F238E27FC236}">
                <a16:creationId xmlns:a16="http://schemas.microsoft.com/office/drawing/2014/main" xmlns="" id="{7B18E3F3-40BD-0C49-8324-41152F4086DF}"/>
              </a:ext>
            </a:extLst>
          </p:cNvPr>
          <p:cNvGrpSpPr/>
          <p:nvPr/>
        </p:nvGrpSpPr>
        <p:grpSpPr>
          <a:xfrm>
            <a:off x="5272320" y="3145339"/>
            <a:ext cx="1651423" cy="389371"/>
            <a:chOff x="8349959" y="687487"/>
            <a:chExt cx="1651423" cy="389371"/>
          </a:xfrm>
        </p:grpSpPr>
        <p:sp>
          <p:nvSpPr>
            <p:cNvPr id="94" name="Rectangle 93">
              <a:extLst>
                <a:ext uri="{FF2B5EF4-FFF2-40B4-BE49-F238E27FC236}">
                  <a16:creationId xmlns:a16="http://schemas.microsoft.com/office/drawing/2014/main" xmlns="" id="{40BFCB17-7AF9-A04A-B142-3A8A74A0F13F}"/>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TextBox 94">
              <a:extLst>
                <a:ext uri="{FF2B5EF4-FFF2-40B4-BE49-F238E27FC236}">
                  <a16:creationId xmlns:a16="http://schemas.microsoft.com/office/drawing/2014/main" xmlns="" id="{77480891-1114-0843-9D86-8F8D5F0BD098}"/>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6" name="TextBox 95">
              <a:extLst>
                <a:ext uri="{FF2B5EF4-FFF2-40B4-BE49-F238E27FC236}">
                  <a16:creationId xmlns:a16="http://schemas.microsoft.com/office/drawing/2014/main" xmlns="" id="{C180BA86-1AC2-8249-A8BF-24B0BD4B001D}"/>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97" name="TextBox 96">
              <a:extLst>
                <a:ext uri="{FF2B5EF4-FFF2-40B4-BE49-F238E27FC236}">
                  <a16:creationId xmlns:a16="http://schemas.microsoft.com/office/drawing/2014/main" xmlns="" id="{35880B3B-4ADE-F941-961B-5B939CD2E4D3}"/>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n</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sp>
        <p:nvSpPr>
          <p:cNvPr id="98" name="Rectangle 97">
            <a:extLst>
              <a:ext uri="{FF2B5EF4-FFF2-40B4-BE49-F238E27FC236}">
                <a16:creationId xmlns:a16="http://schemas.microsoft.com/office/drawing/2014/main" xmlns="" id="{4FFEBBBB-2623-A645-BE22-49AB28379D36}"/>
              </a:ext>
            </a:extLst>
          </p:cNvPr>
          <p:cNvSpPr/>
          <p:nvPr/>
        </p:nvSpPr>
        <p:spPr>
          <a:xfrm>
            <a:off x="5864224" y="2340021"/>
            <a:ext cx="1063879"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xmlns=""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xmlns=""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xmlns="" id="{7E44E6E3-ED5F-EA46-A3F3-2FC71EED50CF}"/>
              </a:ext>
            </a:extLst>
          </p:cNvPr>
          <p:cNvSpPr/>
          <p:nvPr/>
        </p:nvSpPr>
        <p:spPr>
          <a:xfrm>
            <a:off x="5864224" y="2291365"/>
            <a:ext cx="1063879" cy="30054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xmlns="" id="{33F974F9-F1CB-EB4F-9996-B0CAF21D948C}"/>
              </a:ext>
            </a:extLst>
          </p:cNvPr>
          <p:cNvSpPr/>
          <p:nvPr/>
        </p:nvSpPr>
        <p:spPr>
          <a:xfrm>
            <a:off x="5474955" y="2744519"/>
            <a:ext cx="1478052" cy="28426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Content Placeholder 2">
            <a:extLst>
              <a:ext uri="{FF2B5EF4-FFF2-40B4-BE49-F238E27FC236}">
                <a16:creationId xmlns:a16="http://schemas.microsoft.com/office/drawing/2014/main" xmlns="" id="{EB17C3E6-A978-339E-88AB-07317DE94B8D}"/>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xmlns="" id="{E4610960-3637-8181-AD4F-5D4D1A04F20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64357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xmlns=""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xmlns=""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xmlns=""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xmlns=""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xmlns=""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xmlns=""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xmlns=""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xmlns=""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93" name="Group 92">
            <a:extLst>
              <a:ext uri="{FF2B5EF4-FFF2-40B4-BE49-F238E27FC236}">
                <a16:creationId xmlns:a16="http://schemas.microsoft.com/office/drawing/2014/main" xmlns="" id="{7B18E3F3-40BD-0C49-8324-41152F4086DF}"/>
              </a:ext>
            </a:extLst>
          </p:cNvPr>
          <p:cNvGrpSpPr/>
          <p:nvPr/>
        </p:nvGrpSpPr>
        <p:grpSpPr>
          <a:xfrm>
            <a:off x="4107096" y="5561831"/>
            <a:ext cx="1651423" cy="389371"/>
            <a:chOff x="8349959" y="687487"/>
            <a:chExt cx="1651423" cy="389371"/>
          </a:xfrm>
        </p:grpSpPr>
        <p:sp>
          <p:nvSpPr>
            <p:cNvPr id="94" name="Rectangle 93">
              <a:extLst>
                <a:ext uri="{FF2B5EF4-FFF2-40B4-BE49-F238E27FC236}">
                  <a16:creationId xmlns:a16="http://schemas.microsoft.com/office/drawing/2014/main" xmlns="" id="{40BFCB17-7AF9-A04A-B142-3A8A74A0F13F}"/>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TextBox 94">
              <a:extLst>
                <a:ext uri="{FF2B5EF4-FFF2-40B4-BE49-F238E27FC236}">
                  <a16:creationId xmlns:a16="http://schemas.microsoft.com/office/drawing/2014/main" xmlns="" id="{77480891-1114-0843-9D86-8F8D5F0BD098}"/>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6" name="TextBox 95">
              <a:extLst>
                <a:ext uri="{FF2B5EF4-FFF2-40B4-BE49-F238E27FC236}">
                  <a16:creationId xmlns:a16="http://schemas.microsoft.com/office/drawing/2014/main" xmlns="" id="{C180BA86-1AC2-8249-A8BF-24B0BD4B001D}"/>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97" name="TextBox 96">
              <a:extLst>
                <a:ext uri="{FF2B5EF4-FFF2-40B4-BE49-F238E27FC236}">
                  <a16:creationId xmlns:a16="http://schemas.microsoft.com/office/drawing/2014/main" xmlns="" id="{35880B3B-4ADE-F941-961B-5B939CD2E4D3}"/>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n</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cxnSp>
        <p:nvCxnSpPr>
          <p:cNvPr id="104" name="Straight Connector 103">
            <a:extLst>
              <a:ext uri="{FF2B5EF4-FFF2-40B4-BE49-F238E27FC236}">
                <a16:creationId xmlns:a16="http://schemas.microsoft.com/office/drawing/2014/main" xmlns=""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xmlns="" id="{1B834CFE-E231-7940-A2C6-E5A762AAF408}"/>
              </a:ext>
            </a:extLst>
          </p:cNvPr>
          <p:cNvCxnSpPr/>
          <p:nvPr/>
        </p:nvCxnSpPr>
        <p:spPr>
          <a:xfrm flipH="1">
            <a:off x="3701909" y="5774614"/>
            <a:ext cx="30026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xmlns="" id="{CD095B70-25AC-BC09-D0A6-8C5044EC72A9}"/>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64E974AD-D820-CC7C-6114-2819FEAFC0FB}"/>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09338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right)">
                                      <p:cBhvr>
                                        <p:cTn id="7" dur="500"/>
                                        <p:tgtEl>
                                          <p:spTgt spid="9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xmlns="" id="{51A92539-D075-5644-9056-10960E5147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xmlns=""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xmlns="" id="{E576EC8B-3CC8-044B-BD3B-8A4342C698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xmlns="" id="{44A9474D-942F-134E-B292-6ADA467533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xmlns="" id="{DC4B02DA-C340-9945-87C2-952E1901FB43}"/>
                </a:ext>
              </a:extLst>
            </p:cNvPr>
            <p:cNvSpPr txBox="1"/>
            <p:nvPr/>
          </p:nvSpPr>
          <p:spPr>
            <a:xfrm>
              <a:off x="3822815" y="3627317"/>
              <a:ext cx="721857" cy="3445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r>
                <a:rPr kumimoji="0" lang="en-US" sz="2800" b="0" i="0" u="none" strike="noStrike" kern="1200" cap="none" spc="0" normalizeH="0" baseline="-25000" noProof="0" dirty="0">
                  <a:ln>
                    <a:noFill/>
                  </a:ln>
                  <a:solidFill>
                    <a:prstClr val="black"/>
                  </a:solidFill>
                  <a:effectLst/>
                  <a:uLnTx/>
                  <a:uFillTx/>
                  <a:latin typeface="Calibri"/>
                  <a:ea typeface="+mn-ea"/>
                  <a:cs typeface="+mn-cs"/>
                </a:rPr>
                <a:t>1</a:t>
              </a:r>
            </a:p>
          </p:txBody>
        </p:sp>
        <p:pic>
          <p:nvPicPr>
            <p:cNvPr id="1034" name="Picture 10" descr="Image result for netflix logo png">
              <a:extLst>
                <a:ext uri="{FF2B5EF4-FFF2-40B4-BE49-F238E27FC236}">
                  <a16:creationId xmlns:a16="http://schemas.microsoft.com/office/drawing/2014/main" xmlns="" id="{9F652FAF-7820-6141-9F34-FDF8AEACBE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xmlns="" id="{B0EE723F-4512-B04F-A1A8-CFC321B8BC75}"/>
                </a:ext>
              </a:extLst>
            </p:cNvPr>
            <p:cNvSpPr txBox="1"/>
            <p:nvPr/>
          </p:nvSpPr>
          <p:spPr>
            <a:xfrm>
              <a:off x="8196770" y="3636485"/>
              <a:ext cx="721857" cy="3445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r>
                <a:rPr kumimoji="0" lang="en-US" sz="2800" b="0" i="0" u="none" strike="noStrike" kern="1200" cap="none" spc="0" normalizeH="0" baseline="-25000" noProof="0" dirty="0">
                  <a:ln>
                    <a:noFill/>
                  </a:ln>
                  <a:solidFill>
                    <a:prstClr val="black"/>
                  </a:solidFill>
                  <a:effectLst/>
                  <a:uLnTx/>
                  <a:uFillTx/>
                  <a:latin typeface="Calibri"/>
                  <a:ea typeface="+mn-ea"/>
                  <a:cs typeface="+mn-cs"/>
                </a:rPr>
                <a:t>2</a:t>
              </a:r>
            </a:p>
          </p:txBody>
        </p:sp>
      </p:grpSp>
      <p:sp>
        <p:nvSpPr>
          <p:cNvPr id="271" name="Freeform 296">
            <a:extLst>
              <a:ext uri="{FF2B5EF4-FFF2-40B4-BE49-F238E27FC236}">
                <a16:creationId xmlns:a16="http://schemas.microsoft.com/office/drawing/2014/main" xmlns=""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cxnSp>
        <p:nvCxnSpPr>
          <p:cNvPr id="104" name="Straight Connector 103">
            <a:extLst>
              <a:ext uri="{FF2B5EF4-FFF2-40B4-BE49-F238E27FC236}">
                <a16:creationId xmlns:a16="http://schemas.microsoft.com/office/drawing/2014/main" xmlns="" id="{8F458F2E-0B98-1741-9C0D-ECC805BD8799}"/>
              </a:ext>
            </a:extLst>
          </p:cNvPr>
          <p:cNvCxnSpPr>
            <a:cxnSpLocks/>
          </p:cNvCxnSpPr>
          <p:nvPr/>
        </p:nvCxnSpPr>
        <p:spPr>
          <a:xfrm>
            <a:off x="9704593" y="3018504"/>
            <a:ext cx="0" cy="232960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xmlns="" id="{143591F4-8564-6A44-BC41-A0C901C7BC9C}"/>
              </a:ext>
            </a:extLst>
          </p:cNvPr>
          <p:cNvCxnSpPr>
            <a:cxnSpLocks/>
          </p:cNvCxnSpPr>
          <p:nvPr/>
        </p:nvCxnSpPr>
        <p:spPr>
          <a:xfrm>
            <a:off x="6146230" y="5329338"/>
            <a:ext cx="3558363"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7" name="Oval 128">
            <a:extLst>
              <a:ext uri="{FF2B5EF4-FFF2-40B4-BE49-F238E27FC236}">
                <a16:creationId xmlns:a16="http://schemas.microsoft.com/office/drawing/2014/main" xmlns="" id="{C9683072-CF4E-DB4A-85E4-079345D6F273}"/>
              </a:ext>
            </a:extLst>
          </p:cNvPr>
          <p:cNvSpPr>
            <a:spLocks noChangeArrowheads="1"/>
          </p:cNvSpPr>
          <p:nvPr/>
        </p:nvSpPr>
        <p:spPr bwMode="auto">
          <a:xfrm>
            <a:off x="4977190" y="1924156"/>
            <a:ext cx="1049472" cy="530701"/>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P-client</a:t>
            </a:r>
            <a:r>
              <a:rPr kumimoji="0" lang="en-US" sz="1600" b="0" i="0" u="none" strike="noStrike" kern="0" cap="none" spc="0" normalizeH="0" baseline="-25000" noProof="0" dirty="0">
                <a:ln>
                  <a:noFill/>
                </a:ln>
                <a:solidFill>
                  <a:srgbClr val="000000"/>
                </a:solidFill>
                <a:effectLst/>
                <a:uLnTx/>
                <a:uFillTx/>
                <a:latin typeface="Arial" charset="0"/>
                <a:ea typeface="ＭＳ Ｐゴシック" charset="0"/>
                <a:cs typeface="+mn-cs"/>
              </a:rPr>
              <a:t>1</a:t>
            </a:r>
          </a:p>
        </p:txBody>
      </p:sp>
      <p:sp>
        <p:nvSpPr>
          <p:cNvPr id="108" name="Oval 128">
            <a:extLst>
              <a:ext uri="{FF2B5EF4-FFF2-40B4-BE49-F238E27FC236}">
                <a16:creationId xmlns:a16="http://schemas.microsoft.com/office/drawing/2014/main" xmlns="" id="{12C63F66-A046-B04C-ABF5-DE764DC4A1CB}"/>
              </a:ext>
            </a:extLst>
          </p:cNvPr>
          <p:cNvSpPr>
            <a:spLocks noChangeArrowheads="1"/>
          </p:cNvSpPr>
          <p:nvPr/>
        </p:nvSpPr>
        <p:spPr bwMode="auto">
          <a:xfrm>
            <a:off x="6094177" y="1951196"/>
            <a:ext cx="1049472" cy="530701"/>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P-client</a:t>
            </a:r>
            <a:r>
              <a:rPr kumimoji="0" lang="en-US" sz="1600" b="0" i="0" u="none" strike="noStrike" kern="0" cap="none" spc="0" normalizeH="0" baseline="-25000" noProof="0" dirty="0">
                <a:ln>
                  <a:noFill/>
                </a:ln>
                <a:solidFill>
                  <a:srgbClr val="000000"/>
                </a:solidFill>
                <a:effectLst/>
                <a:uLnTx/>
                <a:uFillTx/>
                <a:latin typeface="Arial" charset="0"/>
                <a:ea typeface="ＭＳ Ｐゴシック" charset="0"/>
                <a:cs typeface="+mn-cs"/>
              </a:rPr>
              <a:t>2</a:t>
            </a:r>
          </a:p>
        </p:txBody>
      </p:sp>
      <p:sp>
        <p:nvSpPr>
          <p:cNvPr id="4" name="Freeform 3">
            <a:extLst>
              <a:ext uri="{FF2B5EF4-FFF2-40B4-BE49-F238E27FC236}">
                <a16:creationId xmlns:a16="http://schemas.microsoft.com/office/drawing/2014/main" xmlns="" id="{C06AE4EB-B6F7-D647-8126-954E43EA0CD4}"/>
              </a:ext>
            </a:extLst>
          </p:cNvPr>
          <p:cNvSpPr/>
          <p:nvPr/>
        </p:nvSpPr>
        <p:spPr>
          <a:xfrm>
            <a:off x="6149438" y="2346690"/>
            <a:ext cx="163654" cy="3001414"/>
          </a:xfrm>
          <a:custGeom>
            <a:avLst/>
            <a:gdLst>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4" fmla="*/ 237994 w 237994"/>
              <a:gd name="connsiteY4" fmla="*/ 0 h 3006247"/>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0" fmla="*/ 0 w 125260"/>
              <a:gd name="connsiteY0" fmla="*/ 3006247 h 3006247"/>
              <a:gd name="connsiteX1" fmla="*/ 0 w 125260"/>
              <a:gd name="connsiteY1" fmla="*/ 125260 h 3006247"/>
              <a:gd name="connsiteX2" fmla="*/ 125260 w 125260"/>
              <a:gd name="connsiteY2" fmla="*/ 0 h 3006247"/>
            </a:gdLst>
            <a:ahLst/>
            <a:cxnLst>
              <a:cxn ang="0">
                <a:pos x="connsiteX0" y="connsiteY0"/>
              </a:cxn>
              <a:cxn ang="0">
                <a:pos x="connsiteX1" y="connsiteY1"/>
              </a:cxn>
              <a:cxn ang="0">
                <a:pos x="connsiteX2" y="connsiteY2"/>
              </a:cxn>
            </a:cxnLst>
            <a:rect l="l" t="t" r="r" b="b"/>
            <a:pathLst>
              <a:path w="125260" h="3006247">
                <a:moveTo>
                  <a:pt x="0" y="3006247"/>
                </a:moveTo>
                <a:lnTo>
                  <a:pt x="0" y="125260"/>
                </a:lnTo>
                <a:lnTo>
                  <a:pt x="125260" y="0"/>
                </a:lnTo>
              </a:path>
            </a:pathLst>
          </a:custGeom>
          <a:noFill/>
          <a:ln w="34925">
            <a:solidFill>
              <a:srgbClr val="0070C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 name="Freeform 108">
            <a:extLst>
              <a:ext uri="{FF2B5EF4-FFF2-40B4-BE49-F238E27FC236}">
                <a16:creationId xmlns:a16="http://schemas.microsoft.com/office/drawing/2014/main" xmlns="" id="{26C1DF51-2C5A-3042-AF2B-8FAC17544498}"/>
              </a:ext>
            </a:extLst>
          </p:cNvPr>
          <p:cNvSpPr/>
          <p:nvPr/>
        </p:nvSpPr>
        <p:spPr>
          <a:xfrm flipH="1">
            <a:off x="5797083" y="2342230"/>
            <a:ext cx="163654" cy="3099711"/>
          </a:xfrm>
          <a:custGeom>
            <a:avLst/>
            <a:gdLst>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4" fmla="*/ 237994 w 237994"/>
              <a:gd name="connsiteY4" fmla="*/ 0 h 3006247"/>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0" fmla="*/ 0 w 125260"/>
              <a:gd name="connsiteY0" fmla="*/ 3006247 h 3006247"/>
              <a:gd name="connsiteX1" fmla="*/ 0 w 125260"/>
              <a:gd name="connsiteY1" fmla="*/ 125260 h 3006247"/>
              <a:gd name="connsiteX2" fmla="*/ 125260 w 125260"/>
              <a:gd name="connsiteY2" fmla="*/ 0 h 3006247"/>
            </a:gdLst>
            <a:ahLst/>
            <a:cxnLst>
              <a:cxn ang="0">
                <a:pos x="connsiteX0" y="connsiteY0"/>
              </a:cxn>
              <a:cxn ang="0">
                <a:pos x="connsiteX1" y="connsiteY1"/>
              </a:cxn>
              <a:cxn ang="0">
                <a:pos x="connsiteX2" y="connsiteY2"/>
              </a:cxn>
            </a:cxnLst>
            <a:rect l="l" t="t" r="r" b="b"/>
            <a:pathLst>
              <a:path w="125260" h="3006247">
                <a:moveTo>
                  <a:pt x="0" y="3006247"/>
                </a:moveTo>
                <a:lnTo>
                  <a:pt x="0" y="125260"/>
                </a:lnTo>
                <a:lnTo>
                  <a:pt x="125260" y="0"/>
                </a:lnTo>
              </a:path>
            </a:pathLst>
          </a:custGeom>
          <a:noFill/>
          <a:ln w="38100">
            <a:solidFill>
              <a:srgbClr val="0070C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2" name="Straight Connector 111">
            <a:extLst>
              <a:ext uri="{FF2B5EF4-FFF2-40B4-BE49-F238E27FC236}">
                <a16:creationId xmlns:a16="http://schemas.microsoft.com/office/drawing/2014/main" xmlns="" id="{DF7169CD-8DF9-644A-84B2-14B8ED6F997C}"/>
              </a:ext>
            </a:extLst>
          </p:cNvPr>
          <p:cNvCxnSpPr>
            <a:cxnSpLocks/>
          </p:cNvCxnSpPr>
          <p:nvPr/>
        </p:nvCxnSpPr>
        <p:spPr>
          <a:xfrm>
            <a:off x="3218929" y="3094306"/>
            <a:ext cx="0" cy="232960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xmlns="" id="{31322F59-E51A-0245-A327-5845569D47A8}"/>
              </a:ext>
            </a:extLst>
          </p:cNvPr>
          <p:cNvCxnSpPr>
            <a:cxnSpLocks/>
          </p:cNvCxnSpPr>
          <p:nvPr/>
        </p:nvCxnSpPr>
        <p:spPr>
          <a:xfrm>
            <a:off x="3189176" y="5423906"/>
            <a:ext cx="2771561" cy="0"/>
          </a:xfrm>
          <a:prstGeom prst="line">
            <a:avLst/>
          </a:prstGeom>
          <a:ln w="44450"/>
        </p:spPr>
        <p:style>
          <a:lnRef idx="1">
            <a:schemeClr val="accent1"/>
          </a:lnRef>
          <a:fillRef idx="0">
            <a:schemeClr val="accent1"/>
          </a:fillRef>
          <a:effectRef idx="0">
            <a:schemeClr val="accent1"/>
          </a:effectRef>
          <a:fontRef idx="minor">
            <a:schemeClr val="tx1"/>
          </a:fontRef>
        </p:style>
      </p:cxnSp>
      <p:pic>
        <p:nvPicPr>
          <p:cNvPr id="115" name="Picture 8" descr="Image result for blue question mark icon">
            <a:extLst>
              <a:ext uri="{FF2B5EF4-FFF2-40B4-BE49-F238E27FC236}">
                <a16:creationId xmlns:a16="http://schemas.microsoft.com/office/drawing/2014/main" xmlns="" id="{9970C4B0-3E2B-3247-8288-8E86060683C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85255" y="752589"/>
            <a:ext cx="1624375" cy="1624375"/>
          </a:xfrm>
          <a:prstGeom prst="rect">
            <a:avLst/>
          </a:prstGeom>
          <a:noFill/>
          <a:extLst>
            <a:ext uri="{909E8E84-426E-40dd-AFC4-6F175D3DCCD1}">
              <a14:hiddenFill xmlns=""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xmlns="" id="{036C8C51-477F-76E6-895C-0C5D26476325}"/>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xmlns="" id="{76C0F13E-F9E1-FD58-0FC4-521AD298A8CA}"/>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5676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2" name="Freeform 157">
            <a:extLst>
              <a:ext uri="{FF2B5EF4-FFF2-40B4-BE49-F238E27FC236}">
                <a16:creationId xmlns:a16="http://schemas.microsoft.com/office/drawing/2014/main" xmlns=""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37">
            <a:extLst>
              <a:ext uri="{FF2B5EF4-FFF2-40B4-BE49-F238E27FC236}">
                <a16:creationId xmlns:a16="http://schemas.microsoft.com/office/drawing/2014/main" xmlns="" id="{4EEECEF7-BD4D-FD41-9A84-F2FC20AA2A09}"/>
              </a:ext>
            </a:extLst>
          </p:cNvPr>
          <p:cNvSpPr txBox="1">
            <a:spLocks noChangeArrowheads="1"/>
          </p:cNvSpPr>
          <p:nvPr/>
        </p:nvSpPr>
        <p:spPr bwMode="auto">
          <a:xfrm>
            <a:off x="10348768" y="4498257"/>
            <a:ext cx="8953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charset="0"/>
                <a:ea typeface="ＭＳ Ｐゴシック" charset="0"/>
                <a:cs typeface="+mn-cs"/>
              </a:rPr>
              <a:t>process</a:t>
            </a:r>
          </a:p>
        </p:txBody>
      </p:sp>
      <p:sp>
        <p:nvSpPr>
          <p:cNvPr id="134" name="Text Box 38">
            <a:extLst>
              <a:ext uri="{FF2B5EF4-FFF2-40B4-BE49-F238E27FC236}">
                <a16:creationId xmlns:a16="http://schemas.microsoft.com/office/drawing/2014/main" xmlns="" id="{FC061EBE-026B-F943-BBD5-748F965BF879}"/>
              </a:ext>
            </a:extLst>
          </p:cNvPr>
          <p:cNvSpPr txBox="1">
            <a:spLocks noChangeArrowheads="1"/>
          </p:cNvSpPr>
          <p:nvPr/>
        </p:nvSpPr>
        <p:spPr bwMode="auto">
          <a:xfrm>
            <a:off x="10323368" y="4096619"/>
            <a:ext cx="7556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socket</a:t>
            </a:r>
          </a:p>
        </p:txBody>
      </p:sp>
      <p:grpSp>
        <p:nvGrpSpPr>
          <p:cNvPr id="5" name="Group 4">
            <a:extLst>
              <a:ext uri="{FF2B5EF4-FFF2-40B4-BE49-F238E27FC236}">
                <a16:creationId xmlns:a16="http://schemas.microsoft.com/office/drawing/2014/main" xmlns="" id="{D5AFC3DE-B7EF-9945-9B42-A8FE2028B2CF}"/>
              </a:ext>
            </a:extLst>
          </p:cNvPr>
          <p:cNvGrpSpPr/>
          <p:nvPr/>
        </p:nvGrpSpPr>
        <p:grpSpPr>
          <a:xfrm>
            <a:off x="7016607" y="1655043"/>
            <a:ext cx="4836313" cy="1639889"/>
            <a:chOff x="7016607" y="1655043"/>
            <a:chExt cx="4836313" cy="1639889"/>
          </a:xfrm>
        </p:grpSpPr>
        <p:sp>
          <p:nvSpPr>
            <p:cNvPr id="4" name="Rectangle 3">
              <a:extLst>
                <a:ext uri="{FF2B5EF4-FFF2-40B4-BE49-F238E27FC236}">
                  <a16:creationId xmlns:a16="http://schemas.microsoft.com/office/drawing/2014/main" xmlns="" id="{25BAE722-1B29-F74D-B90E-AAE0C7FE9C2E}"/>
                </a:ext>
              </a:extLst>
            </p:cNvPr>
            <p:cNvSpPr/>
            <p:nvPr/>
          </p:nvSpPr>
          <p:spPr>
            <a:xfrm>
              <a:off x="7016607" y="1945555"/>
              <a:ext cx="4508220" cy="125169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5" name="Group 177">
              <a:extLst>
                <a:ext uri="{FF2B5EF4-FFF2-40B4-BE49-F238E27FC236}">
                  <a16:creationId xmlns:a16="http://schemas.microsoft.com/office/drawing/2014/main" xmlns="" id="{0626849A-4E21-EE42-AD9A-55F4D52F11FC}"/>
                </a:ext>
              </a:extLst>
            </p:cNvPr>
            <p:cNvGrpSpPr>
              <a:grpSpLocks/>
            </p:cNvGrpSpPr>
            <p:nvPr/>
          </p:nvGrpSpPr>
          <p:grpSpPr bwMode="auto">
            <a:xfrm>
              <a:off x="7172970" y="1655043"/>
              <a:ext cx="4679950" cy="1639889"/>
              <a:chOff x="2899" y="903"/>
              <a:chExt cx="2948" cy="1033"/>
            </a:xfrm>
          </p:grpSpPr>
          <p:sp>
            <p:nvSpPr>
              <p:cNvPr id="136" name="Rectangle 41">
                <a:extLst>
                  <a:ext uri="{FF2B5EF4-FFF2-40B4-BE49-F238E27FC236}">
                    <a16:creationId xmlns:a16="http://schemas.microsoft.com/office/drawing/2014/main" xmlns="" id="{1C592E58-CF36-1C40-A0FA-08F6B84985C4}"/>
                  </a:ext>
                </a:extLst>
              </p:cNvPr>
              <p:cNvSpPr>
                <a:spLocks noChangeArrowheads="1"/>
              </p:cNvSpPr>
              <p:nvPr/>
            </p:nvSpPr>
            <p:spPr bwMode="auto">
              <a:xfrm>
                <a:off x="2955" y="1148"/>
                <a:ext cx="2892" cy="788"/>
              </a:xfrm>
              <a:prstGeom prst="rect">
                <a:avLst/>
              </a:prstGeom>
              <a:noFill/>
              <a:ln w="19050">
                <a:no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use header info to deliver</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received segments to correct </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socket</a:t>
                </a:r>
              </a:p>
            </p:txBody>
          </p:sp>
          <p:grpSp>
            <p:nvGrpSpPr>
              <p:cNvPr id="137" name="Group 42">
                <a:extLst>
                  <a:ext uri="{FF2B5EF4-FFF2-40B4-BE49-F238E27FC236}">
                    <a16:creationId xmlns:a16="http://schemas.microsoft.com/office/drawing/2014/main" xmlns="" id="{4D9CEE39-3F97-1346-9C27-5F6F930F2A8E}"/>
                  </a:ext>
                </a:extLst>
              </p:cNvPr>
              <p:cNvGrpSpPr>
                <a:grpSpLocks/>
              </p:cNvGrpSpPr>
              <p:nvPr/>
            </p:nvGrpSpPr>
            <p:grpSpPr bwMode="auto">
              <a:xfrm>
                <a:off x="2899" y="903"/>
                <a:ext cx="2553" cy="348"/>
                <a:chOff x="905" y="3594"/>
                <a:chExt cx="2049" cy="348"/>
              </a:xfrm>
            </p:grpSpPr>
            <p:sp>
              <p:nvSpPr>
                <p:cNvPr id="138" name="Rectangle 43">
                  <a:extLst>
                    <a:ext uri="{FF2B5EF4-FFF2-40B4-BE49-F238E27FC236}">
                      <a16:creationId xmlns:a16="http://schemas.microsoft.com/office/drawing/2014/main" xmlns="" id="{8DE7A6B0-1014-184E-9108-23C65807C202}"/>
                    </a:ext>
                  </a:extLst>
                </p:cNvPr>
                <p:cNvSpPr>
                  <a:spLocks noChangeArrowheads="1"/>
                </p:cNvSpPr>
                <p:nvPr/>
              </p:nvSpPr>
              <p:spPr bwMode="auto">
                <a:xfrm>
                  <a:off x="1422" y="3732"/>
                  <a:ext cx="1002" cy="21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9" name="Text Box 44">
                  <a:extLst>
                    <a:ext uri="{FF2B5EF4-FFF2-40B4-BE49-F238E27FC236}">
                      <a16:creationId xmlns:a16="http://schemas.microsoft.com/office/drawing/2014/main" xmlns="" id="{88457A8D-2DB2-C848-9B52-93F5252D0E1B}"/>
                    </a:ext>
                  </a:extLst>
                </p:cNvPr>
                <p:cNvSpPr txBox="1">
                  <a:spLocks noChangeArrowheads="1"/>
                </p:cNvSpPr>
                <p:nvPr/>
              </p:nvSpPr>
              <p:spPr bwMode="auto">
                <a:xfrm>
                  <a:off x="905" y="3594"/>
                  <a:ext cx="2049" cy="33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demultiplexing at receiver:</a:t>
                  </a:r>
                </a:p>
              </p:txBody>
            </p:sp>
          </p:grpSp>
        </p:grpSp>
      </p:grpSp>
      <p:grpSp>
        <p:nvGrpSpPr>
          <p:cNvPr id="140" name="Group 57">
            <a:extLst>
              <a:ext uri="{FF2B5EF4-FFF2-40B4-BE49-F238E27FC236}">
                <a16:creationId xmlns:a16="http://schemas.microsoft.com/office/drawing/2014/main" xmlns="" id="{AE84E6CF-C8B6-044E-92D9-9754C3253112}"/>
              </a:ext>
            </a:extLst>
          </p:cNvPr>
          <p:cNvGrpSpPr>
            <a:grpSpLocks/>
          </p:cNvGrpSpPr>
          <p:nvPr/>
        </p:nvGrpSpPr>
        <p:grpSpPr bwMode="auto">
          <a:xfrm>
            <a:off x="9823306" y="4171232"/>
            <a:ext cx="533400" cy="206375"/>
            <a:chOff x="344" y="1846"/>
            <a:chExt cx="336" cy="130"/>
          </a:xfrm>
        </p:grpSpPr>
        <p:sp>
          <p:nvSpPr>
            <p:cNvPr id="141" name="Rectangle 35">
              <a:extLst>
                <a:ext uri="{FF2B5EF4-FFF2-40B4-BE49-F238E27FC236}">
                  <a16:creationId xmlns:a16="http://schemas.microsoft.com/office/drawing/2014/main" xmlns=""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Rectangle 54">
              <a:extLst>
                <a:ext uri="{FF2B5EF4-FFF2-40B4-BE49-F238E27FC236}">
                  <a16:creationId xmlns:a16="http://schemas.microsoft.com/office/drawing/2014/main" xmlns=""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Rectangle 55">
              <a:extLst>
                <a:ext uri="{FF2B5EF4-FFF2-40B4-BE49-F238E27FC236}">
                  <a16:creationId xmlns:a16="http://schemas.microsoft.com/office/drawing/2014/main" xmlns=""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Rectangle 56">
              <a:extLst>
                <a:ext uri="{FF2B5EF4-FFF2-40B4-BE49-F238E27FC236}">
                  <a16:creationId xmlns:a16="http://schemas.microsoft.com/office/drawing/2014/main" xmlns=""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45" name="Rectangle 23">
            <a:extLst>
              <a:ext uri="{FF2B5EF4-FFF2-40B4-BE49-F238E27FC236}">
                <a16:creationId xmlns:a16="http://schemas.microsoft.com/office/drawing/2014/main" xmlns=""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xmlns=""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xmlns=""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xmlns="" id="{BE3B5056-5F96-5946-AEC3-17140DB163F4}"/>
              </a:ext>
            </a:extLst>
          </p:cNvPr>
          <p:cNvSpPr txBox="1">
            <a:spLocks noChangeArrowheads="1"/>
          </p:cNvSpPr>
          <p:nvPr/>
        </p:nvSpPr>
        <p:spPr bwMode="auto">
          <a:xfrm>
            <a:off x="5698981" y="44299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xmlns=""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0" name="Text Box 26">
            <a:extLst>
              <a:ext uri="{FF2B5EF4-FFF2-40B4-BE49-F238E27FC236}">
                <a16:creationId xmlns:a16="http://schemas.microsoft.com/office/drawing/2014/main" xmlns="" id="{975D136A-FEFB-9E40-BA33-B33E91228F15}"/>
              </a:ext>
            </a:extLst>
          </p:cNvPr>
          <p:cNvSpPr txBox="1">
            <a:spLocks noChangeArrowheads="1"/>
          </p:cNvSpPr>
          <p:nvPr/>
        </p:nvSpPr>
        <p:spPr bwMode="auto">
          <a:xfrm>
            <a:off x="5695806" y="36441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51" name="Text Box 26">
            <a:extLst>
              <a:ext uri="{FF2B5EF4-FFF2-40B4-BE49-F238E27FC236}">
                <a16:creationId xmlns:a16="http://schemas.microsoft.com/office/drawing/2014/main" xmlns="" id="{50D62C6A-4C80-854F-A4B8-723E99A5A7F0}"/>
              </a:ext>
            </a:extLst>
          </p:cNvPr>
          <p:cNvSpPr txBox="1">
            <a:spLocks noChangeArrowheads="1"/>
          </p:cNvSpPr>
          <p:nvPr/>
        </p:nvSpPr>
        <p:spPr bwMode="auto">
          <a:xfrm>
            <a:off x="5692631" y="53348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xmlns="" id="{A79D3A45-C33B-7046-9088-A02FAACCA14B}"/>
              </a:ext>
            </a:extLst>
          </p:cNvPr>
          <p:cNvSpPr txBox="1">
            <a:spLocks noChangeArrowheads="1"/>
          </p:cNvSpPr>
          <p:nvPr/>
        </p:nvSpPr>
        <p:spPr bwMode="auto">
          <a:xfrm>
            <a:off x="5692631" y="50491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xmlns="" id="{F3520259-D4C5-3340-8000-3B8C746A7797}"/>
              </a:ext>
            </a:extLst>
          </p:cNvPr>
          <p:cNvSpPr txBox="1">
            <a:spLocks noChangeArrowheads="1"/>
          </p:cNvSpPr>
          <p:nvPr/>
        </p:nvSpPr>
        <p:spPr bwMode="auto">
          <a:xfrm>
            <a:off x="5692631" y="47506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4" name="Oval 120">
            <a:extLst>
              <a:ext uri="{FF2B5EF4-FFF2-40B4-BE49-F238E27FC236}">
                <a16:creationId xmlns:a16="http://schemas.microsoft.com/office/drawing/2014/main" xmlns="" id="{A77294DB-DD97-F741-82FD-F8B94839A458}"/>
              </a:ext>
            </a:extLst>
          </p:cNvPr>
          <p:cNvSpPr>
            <a:spLocks noChangeArrowheads="1"/>
          </p:cNvSpPr>
          <p:nvPr/>
        </p:nvSpPr>
        <p:spPr bwMode="auto">
          <a:xfrm>
            <a:off x="639271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P2</a:t>
            </a:r>
          </a:p>
        </p:txBody>
      </p:sp>
      <p:sp>
        <p:nvSpPr>
          <p:cNvPr id="155" name="Line 27">
            <a:extLst>
              <a:ext uri="{FF2B5EF4-FFF2-40B4-BE49-F238E27FC236}">
                <a16:creationId xmlns:a16="http://schemas.microsoft.com/office/drawing/2014/main" xmlns=""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xmlns=""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Oval 128">
            <a:extLst>
              <a:ext uri="{FF2B5EF4-FFF2-40B4-BE49-F238E27FC236}">
                <a16:creationId xmlns:a16="http://schemas.microsoft.com/office/drawing/2014/main" xmlns="" id="{AAD00A20-9526-2F4E-9C87-C3B249C8E909}"/>
              </a:ext>
            </a:extLst>
          </p:cNvPr>
          <p:cNvSpPr>
            <a:spLocks noChangeArrowheads="1"/>
          </p:cNvSpPr>
          <p:nvPr/>
        </p:nvSpPr>
        <p:spPr bwMode="auto">
          <a:xfrm>
            <a:off x="568786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P1</a:t>
            </a:r>
          </a:p>
        </p:txBody>
      </p:sp>
      <p:grpSp>
        <p:nvGrpSpPr>
          <p:cNvPr id="158" name="Group 134">
            <a:extLst>
              <a:ext uri="{FF2B5EF4-FFF2-40B4-BE49-F238E27FC236}">
                <a16:creationId xmlns:a16="http://schemas.microsoft.com/office/drawing/2014/main" xmlns="" id="{015BC705-D8E3-EA41-A198-6A8DDB031BE2}"/>
              </a:ext>
            </a:extLst>
          </p:cNvPr>
          <p:cNvGrpSpPr>
            <a:grpSpLocks/>
          </p:cNvGrpSpPr>
          <p:nvPr/>
        </p:nvGrpSpPr>
        <p:grpSpPr bwMode="auto">
          <a:xfrm>
            <a:off x="6468918" y="4377607"/>
            <a:ext cx="412750" cy="158750"/>
            <a:chOff x="1383" y="2620"/>
            <a:chExt cx="260" cy="100"/>
          </a:xfrm>
        </p:grpSpPr>
        <p:sp>
          <p:nvSpPr>
            <p:cNvPr id="159" name="Rectangle 130">
              <a:extLst>
                <a:ext uri="{FF2B5EF4-FFF2-40B4-BE49-F238E27FC236}">
                  <a16:creationId xmlns:a16="http://schemas.microsoft.com/office/drawing/2014/main" xmlns=""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Rectangle 131">
              <a:extLst>
                <a:ext uri="{FF2B5EF4-FFF2-40B4-BE49-F238E27FC236}">
                  <a16:creationId xmlns:a16="http://schemas.microsoft.com/office/drawing/2014/main" xmlns=""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1" name="Rectangle 132">
              <a:extLst>
                <a:ext uri="{FF2B5EF4-FFF2-40B4-BE49-F238E27FC236}">
                  <a16:creationId xmlns:a16="http://schemas.microsoft.com/office/drawing/2014/main" xmlns=""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2" name="Rectangle 133">
              <a:extLst>
                <a:ext uri="{FF2B5EF4-FFF2-40B4-BE49-F238E27FC236}">
                  <a16:creationId xmlns:a16="http://schemas.microsoft.com/office/drawing/2014/main" xmlns=""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3" name="Group 135">
            <a:extLst>
              <a:ext uri="{FF2B5EF4-FFF2-40B4-BE49-F238E27FC236}">
                <a16:creationId xmlns:a16="http://schemas.microsoft.com/office/drawing/2014/main" xmlns="" id="{E0C06B10-B8DE-5649-9DA7-1C38410338CA}"/>
              </a:ext>
            </a:extLst>
          </p:cNvPr>
          <p:cNvGrpSpPr>
            <a:grpSpLocks/>
          </p:cNvGrpSpPr>
          <p:nvPr/>
        </p:nvGrpSpPr>
        <p:grpSpPr bwMode="auto">
          <a:xfrm>
            <a:off x="5767243" y="4369669"/>
            <a:ext cx="412750" cy="158750"/>
            <a:chOff x="1383" y="2620"/>
            <a:chExt cx="260" cy="100"/>
          </a:xfrm>
        </p:grpSpPr>
        <p:sp>
          <p:nvSpPr>
            <p:cNvPr id="164" name="Rectangle 136">
              <a:extLst>
                <a:ext uri="{FF2B5EF4-FFF2-40B4-BE49-F238E27FC236}">
                  <a16:creationId xmlns:a16="http://schemas.microsoft.com/office/drawing/2014/main" xmlns=""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5" name="Rectangle 137">
              <a:extLst>
                <a:ext uri="{FF2B5EF4-FFF2-40B4-BE49-F238E27FC236}">
                  <a16:creationId xmlns:a16="http://schemas.microsoft.com/office/drawing/2014/main" xmlns=""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6" name="Rectangle 138">
              <a:extLst>
                <a:ext uri="{FF2B5EF4-FFF2-40B4-BE49-F238E27FC236}">
                  <a16:creationId xmlns:a16="http://schemas.microsoft.com/office/drawing/2014/main" xmlns=""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7" name="Rectangle 139">
              <a:extLst>
                <a:ext uri="{FF2B5EF4-FFF2-40B4-BE49-F238E27FC236}">
                  <a16:creationId xmlns:a16="http://schemas.microsoft.com/office/drawing/2014/main" xmlns=""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0" name="Rectangle 23">
            <a:extLst>
              <a:ext uri="{FF2B5EF4-FFF2-40B4-BE49-F238E27FC236}">
                <a16:creationId xmlns:a16="http://schemas.microsoft.com/office/drawing/2014/main" xmlns=""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xmlns=""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xmlns=""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xmlns="" id="{1058B2AB-1EA8-1A46-9E03-D8FFDD9E541B}"/>
              </a:ext>
            </a:extLst>
          </p:cNvPr>
          <p:cNvSpPr txBox="1">
            <a:spLocks noChangeArrowheads="1"/>
          </p:cNvSpPr>
          <p:nvPr/>
        </p:nvSpPr>
        <p:spPr bwMode="auto">
          <a:xfrm>
            <a:off x="7846868" y="479035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xmlns=""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xmlns=""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xmlns=""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xmlns="" id="{DC53D19A-63B2-7141-9008-9BC3F678052E}"/>
              </a:ext>
            </a:extLst>
          </p:cNvPr>
          <p:cNvSpPr txBox="1">
            <a:spLocks noChangeArrowheads="1"/>
          </p:cNvSpPr>
          <p:nvPr/>
        </p:nvSpPr>
        <p:spPr bwMode="auto">
          <a:xfrm>
            <a:off x="7881793" y="40378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xmlns="" id="{668FFB30-2FA6-AE41-99EF-4D74E37F3EF5}"/>
              </a:ext>
            </a:extLst>
          </p:cNvPr>
          <p:cNvSpPr txBox="1">
            <a:spLocks noChangeArrowheads="1"/>
          </p:cNvSpPr>
          <p:nvPr/>
        </p:nvSpPr>
        <p:spPr bwMode="auto">
          <a:xfrm>
            <a:off x="7837343" y="569523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xmlns="" id="{9646084A-4EA0-5345-8A3E-91D3475359E6}"/>
              </a:ext>
            </a:extLst>
          </p:cNvPr>
          <p:cNvSpPr txBox="1">
            <a:spLocks noChangeArrowheads="1"/>
          </p:cNvSpPr>
          <p:nvPr/>
        </p:nvSpPr>
        <p:spPr bwMode="auto">
          <a:xfrm>
            <a:off x="7856393" y="54094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xmlns="" id="{9FDE009F-BD4C-6B4C-A66D-690533C0F57F}"/>
              </a:ext>
            </a:extLst>
          </p:cNvPr>
          <p:cNvSpPr txBox="1">
            <a:spLocks noChangeArrowheads="1"/>
          </p:cNvSpPr>
          <p:nvPr/>
        </p:nvSpPr>
        <p:spPr bwMode="auto">
          <a:xfrm>
            <a:off x="7846868" y="511420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1" name="Oval 101">
            <a:extLst>
              <a:ext uri="{FF2B5EF4-FFF2-40B4-BE49-F238E27FC236}">
                <a16:creationId xmlns:a16="http://schemas.microsoft.com/office/drawing/2014/main" xmlns="" id="{092F802C-72A1-EE41-9CEB-72883AD3F29F}"/>
              </a:ext>
            </a:extLst>
          </p:cNvPr>
          <p:cNvSpPr>
            <a:spLocks noChangeArrowheads="1"/>
          </p:cNvSpPr>
          <p:nvPr/>
        </p:nvSpPr>
        <p:spPr bwMode="auto">
          <a:xfrm>
            <a:off x="8216756" y="4379194"/>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P4</a:t>
            </a:r>
          </a:p>
        </p:txBody>
      </p:sp>
      <p:sp>
        <p:nvSpPr>
          <p:cNvPr id="182" name="Freeform 103">
            <a:extLst>
              <a:ext uri="{FF2B5EF4-FFF2-40B4-BE49-F238E27FC236}">
                <a16:creationId xmlns:a16="http://schemas.microsoft.com/office/drawing/2014/main" xmlns=""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xmlns=""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xmlns=""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xmlns=""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xmlns=""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xmlns="" id="{20A57016-2D36-9945-9BC2-7F8B323410D1}"/>
              </a:ext>
            </a:extLst>
          </p:cNvPr>
          <p:cNvSpPr txBox="1">
            <a:spLocks noChangeArrowheads="1"/>
          </p:cNvSpPr>
          <p:nvPr/>
        </p:nvSpPr>
        <p:spPr bwMode="auto">
          <a:xfrm>
            <a:off x="3501881" y="47982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xmlns=""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xmlns=""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xmlns=""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xmlns="" id="{A1B9282E-64F8-1442-8F95-7A9813CE8F60}"/>
              </a:ext>
            </a:extLst>
          </p:cNvPr>
          <p:cNvSpPr txBox="1">
            <a:spLocks noChangeArrowheads="1"/>
          </p:cNvSpPr>
          <p:nvPr/>
        </p:nvSpPr>
        <p:spPr bwMode="auto">
          <a:xfrm>
            <a:off x="3536806" y="40458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xmlns="" id="{83782313-46E0-BE46-BEED-BDC4F6A04AD7}"/>
              </a:ext>
            </a:extLst>
          </p:cNvPr>
          <p:cNvSpPr txBox="1">
            <a:spLocks noChangeArrowheads="1"/>
          </p:cNvSpPr>
          <p:nvPr/>
        </p:nvSpPr>
        <p:spPr bwMode="auto">
          <a:xfrm>
            <a:off x="3492356" y="57031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xmlns="" id="{E3A71501-A89A-D249-84FB-20D98047A254}"/>
              </a:ext>
            </a:extLst>
          </p:cNvPr>
          <p:cNvSpPr txBox="1">
            <a:spLocks noChangeArrowheads="1"/>
          </p:cNvSpPr>
          <p:nvPr/>
        </p:nvSpPr>
        <p:spPr bwMode="auto">
          <a:xfrm>
            <a:off x="3511406" y="54174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xmlns="" id="{6C7F0039-C145-9D4F-92E4-1AF9B0406DA4}"/>
              </a:ext>
            </a:extLst>
          </p:cNvPr>
          <p:cNvSpPr txBox="1">
            <a:spLocks noChangeArrowheads="1"/>
          </p:cNvSpPr>
          <p:nvPr/>
        </p:nvSpPr>
        <p:spPr bwMode="auto">
          <a:xfrm>
            <a:off x="3501881" y="512214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95" name="Oval 23">
            <a:extLst>
              <a:ext uri="{FF2B5EF4-FFF2-40B4-BE49-F238E27FC236}">
                <a16:creationId xmlns:a16="http://schemas.microsoft.com/office/drawing/2014/main" xmlns="" id="{34D7692A-81D8-4D48-8FE7-F92A1F47470B}"/>
              </a:ext>
            </a:extLst>
          </p:cNvPr>
          <p:cNvSpPr>
            <a:spLocks noChangeArrowheads="1"/>
          </p:cNvSpPr>
          <p:nvPr/>
        </p:nvSpPr>
        <p:spPr bwMode="auto">
          <a:xfrm>
            <a:off x="3871768" y="43871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P3</a:t>
            </a:r>
          </a:p>
        </p:txBody>
      </p:sp>
      <p:grpSp>
        <p:nvGrpSpPr>
          <p:cNvPr id="196" name="Group 149">
            <a:extLst>
              <a:ext uri="{FF2B5EF4-FFF2-40B4-BE49-F238E27FC236}">
                <a16:creationId xmlns:a16="http://schemas.microsoft.com/office/drawing/2014/main" xmlns="" id="{21881EDC-E749-4F46-8C1C-B44DD21BA9AD}"/>
              </a:ext>
            </a:extLst>
          </p:cNvPr>
          <p:cNvGrpSpPr>
            <a:grpSpLocks/>
          </p:cNvGrpSpPr>
          <p:nvPr/>
        </p:nvGrpSpPr>
        <p:grpSpPr bwMode="auto">
          <a:xfrm>
            <a:off x="3962256" y="4725269"/>
            <a:ext cx="412750" cy="158750"/>
            <a:chOff x="1287" y="2524"/>
            <a:chExt cx="260" cy="100"/>
          </a:xfrm>
        </p:grpSpPr>
        <p:sp>
          <p:nvSpPr>
            <p:cNvPr id="197" name="Rectangle 73">
              <a:extLst>
                <a:ext uri="{FF2B5EF4-FFF2-40B4-BE49-F238E27FC236}">
                  <a16:creationId xmlns:a16="http://schemas.microsoft.com/office/drawing/2014/main" xmlns=""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Rectangle 74">
              <a:extLst>
                <a:ext uri="{FF2B5EF4-FFF2-40B4-BE49-F238E27FC236}">
                  <a16:creationId xmlns:a16="http://schemas.microsoft.com/office/drawing/2014/main" xmlns=""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5">
              <a:extLst>
                <a:ext uri="{FF2B5EF4-FFF2-40B4-BE49-F238E27FC236}">
                  <a16:creationId xmlns:a16="http://schemas.microsoft.com/office/drawing/2014/main" xmlns=""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129">
              <a:extLst>
                <a:ext uri="{FF2B5EF4-FFF2-40B4-BE49-F238E27FC236}">
                  <a16:creationId xmlns:a16="http://schemas.microsoft.com/office/drawing/2014/main" xmlns=""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01" name="Group 150">
            <a:extLst>
              <a:ext uri="{FF2B5EF4-FFF2-40B4-BE49-F238E27FC236}">
                <a16:creationId xmlns:a16="http://schemas.microsoft.com/office/drawing/2014/main" xmlns="" id="{C5660C67-80CE-084B-8B8D-F5CCCDA73638}"/>
              </a:ext>
            </a:extLst>
          </p:cNvPr>
          <p:cNvGrpSpPr>
            <a:grpSpLocks/>
          </p:cNvGrpSpPr>
          <p:nvPr/>
        </p:nvGrpSpPr>
        <p:grpSpPr bwMode="auto">
          <a:xfrm>
            <a:off x="8302481" y="4723682"/>
            <a:ext cx="412750" cy="158750"/>
            <a:chOff x="1287" y="2524"/>
            <a:chExt cx="260" cy="100"/>
          </a:xfrm>
        </p:grpSpPr>
        <p:sp>
          <p:nvSpPr>
            <p:cNvPr id="202" name="Rectangle 151">
              <a:extLst>
                <a:ext uri="{FF2B5EF4-FFF2-40B4-BE49-F238E27FC236}">
                  <a16:creationId xmlns:a16="http://schemas.microsoft.com/office/drawing/2014/main" xmlns=""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3" name="Rectangle 152">
              <a:extLst>
                <a:ext uri="{FF2B5EF4-FFF2-40B4-BE49-F238E27FC236}">
                  <a16:creationId xmlns:a16="http://schemas.microsoft.com/office/drawing/2014/main" xmlns=""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53">
              <a:extLst>
                <a:ext uri="{FF2B5EF4-FFF2-40B4-BE49-F238E27FC236}">
                  <a16:creationId xmlns:a16="http://schemas.microsoft.com/office/drawing/2014/main" xmlns=""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Rectangle 154">
              <a:extLst>
                <a:ext uri="{FF2B5EF4-FFF2-40B4-BE49-F238E27FC236}">
                  <a16:creationId xmlns:a16="http://schemas.microsoft.com/office/drawing/2014/main" xmlns=""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6" name="Freeform 146">
            <a:extLst>
              <a:ext uri="{FF2B5EF4-FFF2-40B4-BE49-F238E27FC236}">
                <a16:creationId xmlns:a16="http://schemas.microsoft.com/office/drawing/2014/main" xmlns="" id="{8EB20ED3-9276-204C-BA00-A485E0531DD2}"/>
              </a:ext>
            </a:extLst>
          </p:cNvPr>
          <p:cNvSpPr>
            <a:spLocks/>
          </p:cNvSpPr>
          <p:nvPr/>
        </p:nvSpPr>
        <p:spPr bwMode="auto">
          <a:xfrm>
            <a:off x="6349856" y="4425232"/>
            <a:ext cx="2173287" cy="1989137"/>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7" name="Freeform 147">
            <a:extLst>
              <a:ext uri="{FF2B5EF4-FFF2-40B4-BE49-F238E27FC236}">
                <a16:creationId xmlns:a16="http://schemas.microsoft.com/office/drawing/2014/main" xmlns="" id="{911482D4-C931-F64A-A760-F208DA9E7FB6}"/>
              </a:ext>
            </a:extLst>
          </p:cNvPr>
          <p:cNvSpPr>
            <a:spLocks/>
          </p:cNvSpPr>
          <p:nvPr/>
        </p:nvSpPr>
        <p:spPr bwMode="auto">
          <a:xfrm>
            <a:off x="6468918" y="4456982"/>
            <a:ext cx="1984375" cy="1876425"/>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8" name="Oval 36">
            <a:extLst>
              <a:ext uri="{FF2B5EF4-FFF2-40B4-BE49-F238E27FC236}">
                <a16:creationId xmlns:a16="http://schemas.microsoft.com/office/drawing/2014/main" xmlns="" id="{6C459D77-5631-504A-9CB0-A48BD9C61B3E}"/>
              </a:ext>
            </a:extLst>
          </p:cNvPr>
          <p:cNvSpPr>
            <a:spLocks noChangeArrowheads="1"/>
          </p:cNvSpPr>
          <p:nvPr/>
        </p:nvSpPr>
        <p:spPr bwMode="auto">
          <a:xfrm>
            <a:off x="9809018" y="453635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omic Sans MS" charset="0"/>
              <a:ea typeface="ＭＳ Ｐゴシック" charset="0"/>
              <a:cs typeface="+mn-cs"/>
            </a:endParaRPr>
          </a:p>
        </p:txBody>
      </p:sp>
      <p:grpSp>
        <p:nvGrpSpPr>
          <p:cNvPr id="8" name="Group 7"/>
          <p:cNvGrpSpPr/>
          <p:nvPr/>
        </p:nvGrpSpPr>
        <p:grpSpPr>
          <a:xfrm>
            <a:off x="6060931" y="4663331"/>
            <a:ext cx="555332" cy="71510"/>
            <a:chOff x="1420065" y="5012608"/>
            <a:chExt cx="555332" cy="71510"/>
          </a:xfrm>
        </p:grpSpPr>
        <p:sp>
          <p:nvSpPr>
            <p:cNvPr id="210" name="Oval 166">
              <a:extLst>
                <a:ext uri="{FF2B5EF4-FFF2-40B4-BE49-F238E27FC236}">
                  <a16:creationId xmlns:a16="http://schemas.microsoft.com/office/drawing/2014/main" xmlns=""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1" name="Oval 167">
              <a:extLst>
                <a:ext uri="{FF2B5EF4-FFF2-40B4-BE49-F238E27FC236}">
                  <a16:creationId xmlns:a16="http://schemas.microsoft.com/office/drawing/2014/main" xmlns=""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2" name="Freeform 168">
            <a:extLst>
              <a:ext uri="{FF2B5EF4-FFF2-40B4-BE49-F238E27FC236}">
                <a16:creationId xmlns:a16="http://schemas.microsoft.com/office/drawing/2014/main" xmlns="" id="{202E5E96-F7A0-1448-90F0-6A79F4073978}"/>
              </a:ext>
            </a:extLst>
          </p:cNvPr>
          <p:cNvSpPr>
            <a:spLocks/>
          </p:cNvSpPr>
          <p:nvPr/>
        </p:nvSpPr>
        <p:spPr bwMode="auto">
          <a:xfrm>
            <a:off x="5311630" y="3275882"/>
            <a:ext cx="688975" cy="1435100"/>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13" name="Group 172">
            <a:extLst>
              <a:ext uri="{FF2B5EF4-FFF2-40B4-BE49-F238E27FC236}">
                <a16:creationId xmlns:a16="http://schemas.microsoft.com/office/drawing/2014/main" xmlns="" id="{A2D29F5F-484F-7547-9B9A-8974E37BD10F}"/>
              </a:ext>
            </a:extLst>
          </p:cNvPr>
          <p:cNvGrpSpPr>
            <a:grpSpLocks/>
          </p:cNvGrpSpPr>
          <p:nvPr/>
        </p:nvGrpSpPr>
        <p:grpSpPr bwMode="auto">
          <a:xfrm>
            <a:off x="6211743" y="3239369"/>
            <a:ext cx="1047750" cy="1441450"/>
            <a:chOff x="2432" y="1758"/>
            <a:chExt cx="660" cy="908"/>
          </a:xfrm>
        </p:grpSpPr>
        <p:sp>
          <p:nvSpPr>
            <p:cNvPr id="214" name="Oval 170">
              <a:extLst>
                <a:ext uri="{FF2B5EF4-FFF2-40B4-BE49-F238E27FC236}">
                  <a16:creationId xmlns:a16="http://schemas.microsoft.com/office/drawing/2014/main" xmlns="" id="{E03C7F13-7247-C24D-85C2-723A1405F160}"/>
                </a:ext>
              </a:extLst>
            </p:cNvPr>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5" name="Freeform 171">
              <a:extLst>
                <a:ext uri="{FF2B5EF4-FFF2-40B4-BE49-F238E27FC236}">
                  <a16:creationId xmlns:a16="http://schemas.microsoft.com/office/drawing/2014/main" xmlns="" id="{9BC6BA8A-16A3-F446-97F4-76774828464D}"/>
                </a:ext>
              </a:extLst>
            </p:cNvPr>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6" name="Group 179">
            <a:extLst>
              <a:ext uri="{FF2B5EF4-FFF2-40B4-BE49-F238E27FC236}">
                <a16:creationId xmlns:a16="http://schemas.microsoft.com/office/drawing/2014/main" xmlns=""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xmlns=""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xmlns=""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xmlns=""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xmlns=""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xmlns=""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xmlns=""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xmlns=""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xmlns=""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xmlns=""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xmlns=""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xmlns=""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xmlns=""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xmlns=""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xmlns=""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xmlns=""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xmlns=""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xmlns=""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xmlns=""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xmlns=""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xmlns=""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xmlns=""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xmlns=""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xmlns=""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xmlns=""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xmlns=""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xmlns=""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xmlns=""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xmlns=""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xmlns=""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xmlns=""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xmlns=""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xmlns=""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xmlns=""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xmlns=""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xmlns=""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xmlns=""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xmlns=""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xmlns=""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55" name="Group 176">
            <a:extLst>
              <a:ext uri="{FF2B5EF4-FFF2-40B4-BE49-F238E27FC236}">
                <a16:creationId xmlns:a16="http://schemas.microsoft.com/office/drawing/2014/main" xmlns="" id="{A688A9DA-2CE4-9245-B0CF-12C3AB6DA03D}"/>
              </a:ext>
            </a:extLst>
          </p:cNvPr>
          <p:cNvGrpSpPr>
            <a:grpSpLocks/>
          </p:cNvGrpSpPr>
          <p:nvPr/>
        </p:nvGrpSpPr>
        <p:grpSpPr bwMode="auto">
          <a:xfrm>
            <a:off x="1183088" y="1563001"/>
            <a:ext cx="4826032" cy="1719654"/>
            <a:chOff x="5" y="727"/>
            <a:chExt cx="2460" cy="1047"/>
          </a:xfrm>
        </p:grpSpPr>
        <p:sp>
          <p:nvSpPr>
            <p:cNvPr id="256" name="Text Box 45">
              <a:extLst>
                <a:ext uri="{FF2B5EF4-FFF2-40B4-BE49-F238E27FC236}">
                  <a16:creationId xmlns:a16="http://schemas.microsoft.com/office/drawing/2014/main" xmlns="" id="{08227C49-D6DA-834A-88D1-4F61E7C3A2C1}"/>
                </a:ext>
              </a:extLst>
            </p:cNvPr>
            <p:cNvSpPr txBox="1">
              <a:spLocks noChangeArrowheads="1"/>
            </p:cNvSpPr>
            <p:nvPr/>
          </p:nvSpPr>
          <p:spPr bwMode="auto">
            <a:xfrm>
              <a:off x="133" y="1101"/>
              <a:ext cx="2332" cy="62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handle data from multiple</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 add transport header (later used for demultiplexing)</a:t>
              </a:r>
            </a:p>
          </p:txBody>
        </p:sp>
        <p:sp>
          <p:nvSpPr>
            <p:cNvPr id="257" name="Rectangle 46">
              <a:extLst>
                <a:ext uri="{FF2B5EF4-FFF2-40B4-BE49-F238E27FC236}">
                  <a16:creationId xmlns:a16="http://schemas.microsoft.com/office/drawing/2014/main" xmlns="" id="{3B2C1C25-63A3-9D42-A34A-56DE5B3AC226}"/>
                </a:ext>
              </a:extLst>
            </p:cNvPr>
            <p:cNvSpPr>
              <a:spLocks noChangeArrowheads="1"/>
            </p:cNvSpPr>
            <p:nvPr/>
          </p:nvSpPr>
          <p:spPr bwMode="auto">
            <a:xfrm>
              <a:off x="5" y="901"/>
              <a:ext cx="2298" cy="873"/>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258" name="Group 47">
              <a:extLst>
                <a:ext uri="{FF2B5EF4-FFF2-40B4-BE49-F238E27FC236}">
                  <a16:creationId xmlns:a16="http://schemas.microsoft.com/office/drawing/2014/main" xmlns="" id="{9141C6D7-5B52-C14E-B286-0BE1FAEACCB8}"/>
                </a:ext>
              </a:extLst>
            </p:cNvPr>
            <p:cNvGrpSpPr>
              <a:grpSpLocks/>
            </p:cNvGrpSpPr>
            <p:nvPr/>
          </p:nvGrpSpPr>
          <p:grpSpPr bwMode="auto">
            <a:xfrm>
              <a:off x="91" y="727"/>
              <a:ext cx="1854" cy="375"/>
              <a:chOff x="869" y="3567"/>
              <a:chExt cx="1780" cy="375"/>
            </a:xfrm>
          </p:grpSpPr>
          <p:sp>
            <p:nvSpPr>
              <p:cNvPr id="259" name="Rectangle 48">
                <a:extLst>
                  <a:ext uri="{FF2B5EF4-FFF2-40B4-BE49-F238E27FC236}">
                    <a16:creationId xmlns:a16="http://schemas.microsoft.com/office/drawing/2014/main" xmlns="" id="{9B8AF1CA-3C6F-F243-9464-0DF4CA71C4FF}"/>
                  </a:ext>
                </a:extLst>
              </p:cNvPr>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260" name="Text Box 49">
                <a:extLst>
                  <a:ext uri="{FF2B5EF4-FFF2-40B4-BE49-F238E27FC236}">
                    <a16:creationId xmlns:a16="http://schemas.microsoft.com/office/drawing/2014/main" xmlns="" id="{70A5AF43-DDA0-2A40-9B92-B39F358268CD}"/>
                  </a:ext>
                </a:extLst>
              </p:cNvPr>
              <p:cNvSpPr txBox="1">
                <a:spLocks noChangeArrowheads="1"/>
              </p:cNvSpPr>
              <p:nvPr/>
            </p:nvSpPr>
            <p:spPr bwMode="auto">
              <a:xfrm>
                <a:off x="869" y="3567"/>
                <a:ext cx="1780" cy="33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multiplexing at sender:</a:t>
                </a:r>
              </a:p>
            </p:txBody>
          </p:sp>
        </p:grpSp>
      </p:grpSp>
      <p:sp>
        <p:nvSpPr>
          <p:cNvPr id="169" name="Freeform 142">
            <a:extLst>
              <a:ext uri="{FF2B5EF4-FFF2-40B4-BE49-F238E27FC236}">
                <a16:creationId xmlns:a16="http://schemas.microsoft.com/office/drawing/2014/main" xmlns="" id="{9633E13F-8D02-CA4B-A3EB-E64D4EB42802}"/>
              </a:ext>
            </a:extLst>
          </p:cNvPr>
          <p:cNvSpPr>
            <a:spLocks/>
          </p:cNvSpPr>
          <p:nvPr/>
        </p:nvSpPr>
        <p:spPr bwMode="auto">
          <a:xfrm>
            <a:off x="4198793" y="4458569"/>
            <a:ext cx="1962150" cy="1897063"/>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Freeform 141">
            <a:extLst>
              <a:ext uri="{FF2B5EF4-FFF2-40B4-BE49-F238E27FC236}">
                <a16:creationId xmlns:a16="http://schemas.microsoft.com/office/drawing/2014/main" xmlns="" id="{68E70704-F4BA-164C-AD06-3859E25D67E2}"/>
              </a:ext>
            </a:extLst>
          </p:cNvPr>
          <p:cNvSpPr>
            <a:spLocks/>
          </p:cNvSpPr>
          <p:nvPr/>
        </p:nvSpPr>
        <p:spPr bwMode="auto">
          <a:xfrm>
            <a:off x="4135293" y="4433169"/>
            <a:ext cx="2160588" cy="1989138"/>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4450940" y="4321755"/>
            <a:ext cx="3748969" cy="11488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0" name="Content Placeholder 2">
            <a:extLst>
              <a:ext uri="{FF2B5EF4-FFF2-40B4-BE49-F238E27FC236}">
                <a16:creationId xmlns:a16="http://schemas.microsoft.com/office/drawing/2014/main" xmlns="" id="{3FFDB27F-AC14-A989-40E6-4BAB40B7076D}"/>
              </a:ext>
            </a:extLst>
          </p:cNvPr>
          <p:cNvSpPr txBox="1">
            <a:spLocks/>
          </p:cNvSpPr>
          <p:nvPr/>
        </p:nvSpPr>
        <p:spPr>
          <a:xfrm>
            <a:off x="406400" y="152400"/>
            <a:ext cx="8432800" cy="105529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sz="3600" spc="-150" dirty="0">
                <a:solidFill>
                  <a:srgbClr val="FF0000"/>
                </a:solidFill>
                <a:latin typeface="Times New Roman" panose="02020603050405020304" pitchFamily="18" charset="0"/>
                <a:cs typeface="Times New Roman" panose="02020603050405020304" pitchFamily="18" charset="0"/>
              </a:rPr>
              <a:t>Multiplexing / Demultiplexing</a:t>
            </a:r>
            <a:endParaRPr lang="en-IN" sz="3600" spc="-150" dirty="0">
              <a:solidFill>
                <a:srgbClr val="FF0000"/>
              </a:solidFill>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xmlns="" id="{4C1805B2-1BE2-D25B-689D-B78C775221C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9724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dissolve">
                                      <p:cBhvr>
                                        <p:cTn id="15" dur="500"/>
                                        <p:tgtEl>
                                          <p:spTgt spid="2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12"/>
                                        </p:tgtEl>
                                        <p:attrNameLst>
                                          <p:attrName>style.visibility</p:attrName>
                                        </p:attrNameLst>
                                      </p:cBhvr>
                                      <p:to>
                                        <p:strVal val="visible"/>
                                      </p:to>
                                    </p:set>
                                    <p:animEffect transition="in" filter="dissolve">
                                      <p:cBhvr>
                                        <p:cTn id="18" dur="500"/>
                                        <p:tgtEl>
                                          <p:spTgt spid="212"/>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3"/>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8"/>
                                        </p:tgtEl>
                                        <p:attrNameLst>
                                          <p:attrName>style.visibility</p:attrName>
                                        </p:attrNameLst>
                                      </p:cBhvr>
                                      <p:to>
                                        <p:strVal val="visible"/>
                                      </p:to>
                                    </p:set>
                                    <p:animEffect transition="in" filter="dissolve">
                                      <p:cBhvr>
                                        <p:cTn id="31" dur="500"/>
                                        <p:tgtEl>
                                          <p:spTgt spid="16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dissolve">
                                      <p:cBhvr>
                                        <p:cTn id="34" dur="500"/>
                                        <p:tgtEl>
                                          <p:spTgt spid="206"/>
                                        </p:tgtEl>
                                      </p:cBhvr>
                                    </p:animEffect>
                                  </p:childTnLst>
                                </p:cTn>
                              </p:par>
                              <p:par>
                                <p:cTn id="35" presetID="9" presetClass="exit" presetSubtype="0" fill="hold" grpId="0" nodeType="withEffect">
                                  <p:stCondLst>
                                    <p:cond delay="0"/>
                                  </p:stCondLst>
                                  <p:childTnLst>
                                    <p:animEffect transition="out" filter="dissolve">
                                      <p:cBhvr>
                                        <p:cTn id="36" dur="500"/>
                                        <p:tgtEl>
                                          <p:spTgt spid="169"/>
                                        </p:tgtEl>
                                      </p:cBhvr>
                                    </p:animEffect>
                                    <p:set>
                                      <p:cBhvr>
                                        <p:cTn id="37" dur="1" fill="hold">
                                          <p:stCondLst>
                                            <p:cond delay="499"/>
                                          </p:stCondLst>
                                        </p:cTn>
                                        <p:tgtEl>
                                          <p:spTgt spid="169"/>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212"/>
                                        </p:tgtEl>
                                      </p:cBhvr>
                                    </p:animEffect>
                                    <p:set>
                                      <p:cBhvr>
                                        <p:cTn id="43" dur="1" fill="hold">
                                          <p:stCondLst>
                                            <p:cond delay="499"/>
                                          </p:stCondLst>
                                        </p:cTn>
                                        <p:tgtEl>
                                          <p:spTgt spid="212"/>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255"/>
                                        </p:tgtEl>
                                      </p:cBhvr>
                                    </p:animEffect>
                                    <p:set>
                                      <p:cBhvr>
                                        <p:cTn id="46" dur="1" fill="hold">
                                          <p:stCondLst>
                                            <p:cond delay="499"/>
                                          </p:stCondLst>
                                        </p:cTn>
                                        <p:tgtEl>
                                          <p:spTgt spid="255"/>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07"/>
                                        </p:tgtEl>
                                      </p:cBhvr>
                                    </p:animEffect>
                                    <p:set>
                                      <p:cBhvr>
                                        <p:cTn id="49"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2" grpId="0" animBg="1"/>
      <p:bldP spid="212" grpId="1" animBg="1"/>
      <p:bldP spid="169" grpId="0" animBg="1"/>
      <p:bldP spid="16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3600" spc="-150" dirty="0">
                <a:solidFill>
                  <a:srgbClr val="FF0000"/>
                </a:solidFill>
                <a:latin typeface="Times New Roman" panose="02020603050405020304" pitchFamily="18" charset="0"/>
                <a:ea typeface="+mn-ea"/>
                <a:cs typeface="Times New Roman" panose="02020603050405020304" pitchFamily="18" charset="0"/>
              </a:rPr>
              <a:t>How demultiplexing works</a:t>
            </a:r>
          </a:p>
        </p:txBody>
      </p:sp>
      <p:sp>
        <p:nvSpPr>
          <p:cNvPr id="277" name="Rectangle 23">
            <a:extLst>
              <a:ext uri="{FF2B5EF4-FFF2-40B4-BE49-F238E27FC236}">
                <a16:creationId xmlns:a16="http://schemas.microsoft.com/office/drawing/2014/main" xmlns="" id="{0F916DA5-15D2-0A42-8C9B-01DCE4B192B4}"/>
              </a:ext>
            </a:extLst>
          </p:cNvPr>
          <p:cNvSpPr txBox="1">
            <a:spLocks noChangeArrowheads="1"/>
          </p:cNvSpPr>
          <p:nvPr/>
        </p:nvSpPr>
        <p:spPr bwMode="auto">
          <a:xfrm>
            <a:off x="812799" y="1565761"/>
            <a:ext cx="5703304" cy="2790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receives IP datagrams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has source IP address, destination IP address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carries one transport-layer segment</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segment has source, destination port number </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uses </a:t>
            </a:r>
            <a:r>
              <a:rPr kumimoji="0" lang="en-US" sz="32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IP addresses &amp; port numbers</a:t>
            </a: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to direct segment to appropriate socket</a:t>
            </a:r>
          </a:p>
        </p:txBody>
      </p:sp>
      <p:grpSp>
        <p:nvGrpSpPr>
          <p:cNvPr id="5" name="Group 4"/>
          <p:cNvGrpSpPr/>
          <p:nvPr/>
        </p:nvGrpSpPr>
        <p:grpSpPr>
          <a:xfrm>
            <a:off x="7543216" y="1704452"/>
            <a:ext cx="3414712" cy="4121150"/>
            <a:chOff x="7543216" y="1704452"/>
            <a:chExt cx="3414712" cy="4121150"/>
          </a:xfrm>
        </p:grpSpPr>
        <p:sp>
          <p:nvSpPr>
            <p:cNvPr id="275" name="Rectangle 75">
              <a:extLst>
                <a:ext uri="{FF2B5EF4-FFF2-40B4-BE49-F238E27FC236}">
                  <a16:creationId xmlns:a16="http://schemas.microsoft.com/office/drawing/2014/main" xmlns="" id="{FCCA66F1-5923-DC45-83A7-1942BA80E808}"/>
                </a:ext>
              </a:extLst>
            </p:cNvPr>
            <p:cNvSpPr>
              <a:spLocks noChangeArrowheads="1"/>
            </p:cNvSpPr>
            <p:nvPr/>
          </p:nvSpPr>
          <p:spPr bwMode="auto">
            <a:xfrm>
              <a:off x="7633703" y="2048939"/>
              <a:ext cx="3324225" cy="3200400"/>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65">
              <a:extLst>
                <a:ext uri="{FF2B5EF4-FFF2-40B4-BE49-F238E27FC236}">
                  <a16:creationId xmlns:a16="http://schemas.microsoft.com/office/drawing/2014/main" xmlns="" id="{325B2818-1D14-0544-87D5-B34939698E97}"/>
                </a:ext>
              </a:extLst>
            </p:cNvPr>
            <p:cNvSpPr>
              <a:spLocks noChangeArrowheads="1"/>
            </p:cNvSpPr>
            <p:nvPr/>
          </p:nvSpPr>
          <p:spPr bwMode="auto">
            <a:xfrm>
              <a:off x="7557503" y="2144189"/>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Text Box 63">
              <a:extLst>
                <a:ext uri="{FF2B5EF4-FFF2-40B4-BE49-F238E27FC236}">
                  <a16:creationId xmlns:a16="http://schemas.microsoft.com/office/drawing/2014/main" xmlns="" id="{0308811F-F83C-684C-9A70-7056E7030121}"/>
                </a:ext>
              </a:extLst>
            </p:cNvPr>
            <p:cNvSpPr txBox="1">
              <a:spLocks noChangeArrowheads="1"/>
            </p:cNvSpPr>
            <p:nvPr/>
          </p:nvSpPr>
          <p:spPr bwMode="auto">
            <a:xfrm>
              <a:off x="7597191" y="2156889"/>
              <a:ext cx="1563687"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79" name="Text Box 64">
              <a:extLst>
                <a:ext uri="{FF2B5EF4-FFF2-40B4-BE49-F238E27FC236}">
                  <a16:creationId xmlns:a16="http://schemas.microsoft.com/office/drawing/2014/main" xmlns="" id="{DFDB1254-258A-D74F-9312-2F08048EE0A6}"/>
                </a:ext>
              </a:extLst>
            </p:cNvPr>
            <p:cNvSpPr txBox="1">
              <a:spLocks noChangeArrowheads="1"/>
            </p:cNvSpPr>
            <p:nvPr/>
          </p:nvSpPr>
          <p:spPr bwMode="auto">
            <a:xfrm>
              <a:off x="9383128" y="2156889"/>
              <a:ext cx="1328738"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dest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80" name="Line 66">
              <a:extLst>
                <a:ext uri="{FF2B5EF4-FFF2-40B4-BE49-F238E27FC236}">
                  <a16:creationId xmlns:a16="http://schemas.microsoft.com/office/drawing/2014/main" xmlns="" id="{7758F487-6FB2-F34B-84F0-976833827475}"/>
                </a:ext>
              </a:extLst>
            </p:cNvPr>
            <p:cNvSpPr>
              <a:spLocks noChangeShapeType="1"/>
            </p:cNvSpPr>
            <p:nvPr/>
          </p:nvSpPr>
          <p:spPr bwMode="auto">
            <a:xfrm flipV="1">
              <a:off x="7547978" y="2544239"/>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Line 68">
              <a:extLst>
                <a:ext uri="{FF2B5EF4-FFF2-40B4-BE49-F238E27FC236}">
                  <a16:creationId xmlns:a16="http://schemas.microsoft.com/office/drawing/2014/main" xmlns="" id="{A9895192-7D02-2F4C-B006-EAE3FEF5F7A4}"/>
                </a:ext>
              </a:extLst>
            </p:cNvPr>
            <p:cNvSpPr>
              <a:spLocks noChangeShapeType="1"/>
            </p:cNvSpPr>
            <p:nvPr/>
          </p:nvSpPr>
          <p:spPr bwMode="auto">
            <a:xfrm flipV="1">
              <a:off x="7557503" y="3534839"/>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Line 69">
              <a:extLst>
                <a:ext uri="{FF2B5EF4-FFF2-40B4-BE49-F238E27FC236}">
                  <a16:creationId xmlns:a16="http://schemas.microsoft.com/office/drawing/2014/main" xmlns="" id="{7ABA37B1-9C1B-8F43-9F10-44126FAB2D3C}"/>
                </a:ext>
              </a:extLst>
            </p:cNvPr>
            <p:cNvSpPr>
              <a:spLocks noChangeShapeType="1"/>
            </p:cNvSpPr>
            <p:nvPr/>
          </p:nvSpPr>
          <p:spPr bwMode="auto">
            <a:xfrm flipV="1">
              <a:off x="9195803" y="2144189"/>
              <a:ext cx="0" cy="39528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Text Box 70">
              <a:extLst>
                <a:ext uri="{FF2B5EF4-FFF2-40B4-BE49-F238E27FC236}">
                  <a16:creationId xmlns:a16="http://schemas.microsoft.com/office/drawing/2014/main" xmlns="" id="{B3C9350B-DCA6-5E4A-91AA-5C2AD14EC263}"/>
                </a:ext>
              </a:extLst>
            </p:cNvPr>
            <p:cNvSpPr txBox="1">
              <a:spLocks noChangeArrowheads="1"/>
            </p:cNvSpPr>
            <p:nvPr/>
          </p:nvSpPr>
          <p:spPr bwMode="auto">
            <a:xfrm>
              <a:off x="8740191" y="1704452"/>
              <a:ext cx="86360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32 bits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Line 71">
              <a:extLst>
                <a:ext uri="{FF2B5EF4-FFF2-40B4-BE49-F238E27FC236}">
                  <a16:creationId xmlns:a16="http://schemas.microsoft.com/office/drawing/2014/main" xmlns="" id="{D16D54C4-5717-9E46-AA93-1E6BB3430444}"/>
                </a:ext>
              </a:extLst>
            </p:cNvPr>
            <p:cNvSpPr>
              <a:spLocks noChangeShapeType="1"/>
            </p:cNvSpPr>
            <p:nvPr/>
          </p:nvSpPr>
          <p:spPr bwMode="auto">
            <a:xfrm>
              <a:off x="9653003" y="1910827"/>
              <a:ext cx="1200150"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72">
              <a:extLst>
                <a:ext uri="{FF2B5EF4-FFF2-40B4-BE49-F238E27FC236}">
                  <a16:creationId xmlns:a16="http://schemas.microsoft.com/office/drawing/2014/main" xmlns="" id="{332269D9-54A4-6446-BBAD-BD3F06A73E96}"/>
                </a:ext>
              </a:extLst>
            </p:cNvPr>
            <p:cNvSpPr>
              <a:spLocks noChangeShapeType="1"/>
            </p:cNvSpPr>
            <p:nvPr/>
          </p:nvSpPr>
          <p:spPr bwMode="auto">
            <a:xfrm rot="10800000">
              <a:off x="7543216" y="1920352"/>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6" name="Text Box 73">
              <a:extLst>
                <a:ext uri="{FF2B5EF4-FFF2-40B4-BE49-F238E27FC236}">
                  <a16:creationId xmlns:a16="http://schemas.microsoft.com/office/drawing/2014/main" xmlns="" id="{8F7D97AE-E89E-684A-9571-5959DA8E3347}"/>
                </a:ext>
              </a:extLst>
            </p:cNvPr>
            <p:cNvSpPr txBox="1">
              <a:spLocks noChangeArrowheads="1"/>
            </p:cNvSpPr>
            <p:nvPr/>
          </p:nvSpPr>
          <p:spPr bwMode="auto">
            <a:xfrm>
              <a:off x="8451266" y="3865039"/>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Text Box 74">
              <a:extLst>
                <a:ext uri="{FF2B5EF4-FFF2-40B4-BE49-F238E27FC236}">
                  <a16:creationId xmlns:a16="http://schemas.microsoft.com/office/drawing/2014/main" xmlns="" id="{A5362E3E-8643-6A43-A4FE-BD56FF4F0BD3}"/>
                </a:ext>
              </a:extLst>
            </p:cNvPr>
            <p:cNvSpPr txBox="1">
              <a:spLocks noChangeArrowheads="1"/>
            </p:cNvSpPr>
            <p:nvPr/>
          </p:nvSpPr>
          <p:spPr bwMode="auto">
            <a:xfrm>
              <a:off x="8067091" y="2898252"/>
              <a:ext cx="2290762"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other header fields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8" name="Text Box 76">
              <a:extLst>
                <a:ext uri="{FF2B5EF4-FFF2-40B4-BE49-F238E27FC236}">
                  <a16:creationId xmlns:a16="http://schemas.microsoft.com/office/drawing/2014/main" xmlns="" id="{2FE71CF3-191A-C44F-839C-1CF4D7DFFAA5}"/>
                </a:ext>
              </a:extLst>
            </p:cNvPr>
            <p:cNvSpPr txBox="1">
              <a:spLocks noChangeArrowheads="1"/>
            </p:cNvSpPr>
            <p:nvPr/>
          </p:nvSpPr>
          <p:spPr bwMode="auto">
            <a:xfrm>
              <a:off x="7770228" y="5428727"/>
              <a:ext cx="30607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TCP/UDP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 name="Oval 3"/>
          <p:cNvSpPr/>
          <p:nvPr/>
        </p:nvSpPr>
        <p:spPr>
          <a:xfrm>
            <a:off x="7299923" y="1976355"/>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nvSpPr>
        <p:spPr>
          <a:xfrm>
            <a:off x="9014727" y="1985006"/>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Footer Placeholder 2">
            <a:extLst>
              <a:ext uri="{FF2B5EF4-FFF2-40B4-BE49-F238E27FC236}">
                <a16:creationId xmlns:a16="http://schemas.microsoft.com/office/drawing/2014/main" xmlns="" id="{6F5B8D0A-8732-38E1-3E55-17354C51C08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85054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UDP socket identified by  two-tuple:</a:t>
            </a:r>
          </a:p>
          <a:p>
            <a:pPr lvl="1"/>
            <a:r>
              <a:rPr lang="en-US" altLang="en-US" dirty="0">
                <a:solidFill>
                  <a:srgbClr val="FF0000"/>
                </a:solidFill>
              </a:rPr>
              <a:t>(</a:t>
            </a:r>
            <a:r>
              <a:rPr lang="en-US" altLang="en-US" sz="1800" dirty="0" err="1">
                <a:solidFill>
                  <a:srgbClr val="FF0000"/>
                </a:solidFill>
              </a:rPr>
              <a:t>dest</a:t>
            </a:r>
            <a:r>
              <a:rPr lang="en-US" altLang="en-US" sz="1800" dirty="0">
                <a:solidFill>
                  <a:srgbClr val="FF0000"/>
                </a:solidFill>
              </a:rPr>
              <a:t> IP address, </a:t>
            </a:r>
            <a:r>
              <a:rPr lang="en-US" altLang="en-US" sz="1800" dirty="0" err="1">
                <a:solidFill>
                  <a:srgbClr val="FF0000"/>
                </a:solidFill>
              </a:rPr>
              <a:t>dest</a:t>
            </a:r>
            <a:r>
              <a:rPr lang="en-US" altLang="en-US" sz="1800" dirty="0">
                <a:solidFill>
                  <a:srgbClr val="FF0000"/>
                </a:solidFill>
              </a:rPr>
              <a:t> port number)</a:t>
            </a:r>
          </a:p>
          <a:p>
            <a:r>
              <a:rPr lang="en-US" altLang="en-US" dirty="0"/>
              <a:t>When host receives UDP segment:</a:t>
            </a:r>
          </a:p>
          <a:p>
            <a:pPr lvl="1"/>
            <a:r>
              <a:rPr lang="en-US" altLang="en-US" sz="2000" dirty="0"/>
              <a:t>checks destination port number in segment</a:t>
            </a:r>
          </a:p>
          <a:p>
            <a:pPr lvl="1"/>
            <a:r>
              <a:rPr lang="en-US" altLang="en-US" sz="2000" dirty="0"/>
              <a:t>directs UDP segment to socket with that port number</a:t>
            </a:r>
          </a:p>
          <a:p>
            <a:r>
              <a:rPr lang="en-US" altLang="en-US" dirty="0"/>
              <a:t>IP datagrams with different source IP addresses and/or source port numbers directed to same socket</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Connectionless </a:t>
            </a:r>
            <a:r>
              <a:rPr lang="en-US" altLang="en-US" b="0" dirty="0" err="1">
                <a:solidFill>
                  <a:srgbClr val="FF0000"/>
                </a:solidFill>
                <a:latin typeface="Times New Roman" panose="02020603050405020304" pitchFamily="18" charset="0"/>
                <a:cs typeface="Times New Roman" panose="02020603050405020304" pitchFamily="18" charset="0"/>
              </a:rPr>
              <a:t>demux</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42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6400" y="1493838"/>
            <a:ext cx="4959230" cy="4525963"/>
          </a:xfrm>
        </p:spPr>
        <p:txBody>
          <a:bodyPr/>
          <a:lstStyle/>
          <a:p>
            <a:r>
              <a:rPr lang="en-US" altLang="en-US" dirty="0"/>
              <a:t>TCP socket identified by 4-tuple: </a:t>
            </a:r>
          </a:p>
          <a:p>
            <a:pPr lvl="1"/>
            <a:r>
              <a:rPr lang="en-US" altLang="en-US" sz="2000" dirty="0">
                <a:solidFill>
                  <a:srgbClr val="FF0000"/>
                </a:solidFill>
              </a:rPr>
              <a:t>source IP address</a:t>
            </a:r>
          </a:p>
          <a:p>
            <a:pPr lvl="1"/>
            <a:r>
              <a:rPr lang="en-US" altLang="en-US" sz="2000" dirty="0">
                <a:solidFill>
                  <a:srgbClr val="FF0000"/>
                </a:solidFill>
              </a:rPr>
              <a:t>source port number</a:t>
            </a:r>
          </a:p>
          <a:p>
            <a:pPr lvl="1"/>
            <a:r>
              <a:rPr lang="en-US" altLang="en-US" sz="2000" dirty="0" err="1">
                <a:solidFill>
                  <a:srgbClr val="FF0000"/>
                </a:solidFill>
              </a:rPr>
              <a:t>dest</a:t>
            </a:r>
            <a:r>
              <a:rPr lang="en-US" altLang="en-US" sz="2000" dirty="0">
                <a:solidFill>
                  <a:srgbClr val="FF0000"/>
                </a:solidFill>
              </a:rPr>
              <a:t> IP address</a:t>
            </a:r>
          </a:p>
          <a:p>
            <a:pPr lvl="1"/>
            <a:r>
              <a:rPr lang="en-US" altLang="en-US" sz="2000" dirty="0" err="1">
                <a:solidFill>
                  <a:srgbClr val="FF0000"/>
                </a:solidFill>
              </a:rPr>
              <a:t>dest</a:t>
            </a:r>
            <a:r>
              <a:rPr lang="en-US" altLang="en-US" sz="2000" dirty="0">
                <a:solidFill>
                  <a:srgbClr val="FF0000"/>
                </a:solidFill>
              </a:rPr>
              <a:t> port number</a:t>
            </a:r>
          </a:p>
          <a:p>
            <a:r>
              <a:rPr lang="en-US" altLang="en-US" dirty="0" err="1"/>
              <a:t>recv</a:t>
            </a:r>
            <a:r>
              <a:rPr lang="en-US" altLang="en-US" dirty="0"/>
              <a:t> host uses all four values to direct segment to appropriate socket</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Connection-oriented </a:t>
            </a:r>
            <a:r>
              <a:rPr lang="en-US" altLang="en-US" b="0" dirty="0" err="1">
                <a:solidFill>
                  <a:srgbClr val="FF0000"/>
                </a:solidFill>
                <a:latin typeface="Times New Roman" panose="02020603050405020304" pitchFamily="18" charset="0"/>
                <a:cs typeface="Times New Roman" panose="02020603050405020304" pitchFamily="18" charset="0"/>
              </a:rPr>
              <a:t>demux</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5365630" y="1690800"/>
            <a:ext cx="6096000" cy="2492990"/>
          </a:xfrm>
          <a:prstGeom prst="rect">
            <a:avLst/>
          </a:prstGeom>
        </p:spPr>
        <p:txBody>
          <a:bodyPr>
            <a:spAutoFit/>
          </a:bodyPr>
          <a:lstStyle/>
          <a:p>
            <a:r>
              <a:rPr lang="en-US" altLang="en-US" sz="2400" dirty="0"/>
              <a:t>Server host may support many simultaneous TCP sockets:</a:t>
            </a:r>
          </a:p>
          <a:p>
            <a:pPr lvl="1"/>
            <a:r>
              <a:rPr lang="en-US" altLang="en-US" sz="2000" dirty="0"/>
              <a:t>each socket identified by its own 4-tuple</a:t>
            </a:r>
          </a:p>
          <a:p>
            <a:r>
              <a:rPr lang="en-US" altLang="en-US" sz="2400" dirty="0"/>
              <a:t>Web servers have different sockets for each connecting client</a:t>
            </a:r>
          </a:p>
          <a:p>
            <a:pPr lvl="1"/>
            <a:r>
              <a:rPr lang="en-US" altLang="en-US" sz="2000" dirty="0"/>
              <a:t>non-persistent HTTP will have different socket for each request</a:t>
            </a:r>
          </a:p>
        </p:txBody>
      </p:sp>
    </p:spTree>
    <p:extLst>
      <p:ext uri="{BB962C8B-B14F-4D97-AF65-F5344CB8AC3E}">
        <p14:creationId xmlns:p14="http://schemas.microsoft.com/office/powerpoint/2010/main" val="2181771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Principles of Reliable Data Transfer</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406400" y="1477263"/>
            <a:ext cx="6096000" cy="590931"/>
          </a:xfrm>
          <a:prstGeom prst="rect">
            <a:avLst/>
          </a:prstGeom>
        </p:spPr>
        <p:txBody>
          <a:bodyPr>
            <a:spAutoFit/>
          </a:bodyPr>
          <a:lstStyle/>
          <a:p>
            <a:pPr>
              <a:lnSpc>
                <a:spcPct val="90000"/>
              </a:lnSpc>
            </a:pPr>
            <a:r>
              <a:rPr lang="en-US" altLang="en-US" dirty="0"/>
              <a:t>important in application, transport, and link layers</a:t>
            </a:r>
          </a:p>
          <a:p>
            <a:pPr>
              <a:lnSpc>
                <a:spcPct val="90000"/>
              </a:lnSpc>
            </a:pPr>
            <a:endParaRPr lang="en-US" altLang="en-US" dirty="0"/>
          </a:p>
        </p:txBody>
      </p:sp>
      <p:grpSp>
        <p:nvGrpSpPr>
          <p:cNvPr id="6" name="Group 5"/>
          <p:cNvGrpSpPr>
            <a:grpSpLocks/>
          </p:cNvGrpSpPr>
          <p:nvPr/>
        </p:nvGrpSpPr>
        <p:grpSpPr bwMode="auto">
          <a:xfrm>
            <a:off x="2605172" y="2209800"/>
            <a:ext cx="2717800" cy="1447800"/>
            <a:chOff x="288" y="1392"/>
            <a:chExt cx="1712" cy="912"/>
          </a:xfrm>
        </p:grpSpPr>
        <p:sp>
          <p:nvSpPr>
            <p:cNvPr id="7" name="Line 6"/>
            <p:cNvSpPr>
              <a:spLocks noChangeShapeType="1"/>
            </p:cNvSpPr>
            <p:nvPr/>
          </p:nvSpPr>
          <p:spPr bwMode="auto">
            <a:xfrm>
              <a:off x="1728" y="1728"/>
              <a:ext cx="0" cy="432"/>
            </a:xfrm>
            <a:prstGeom prst="line">
              <a:avLst/>
            </a:prstGeom>
            <a:noFill/>
            <a:ln w="190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8" name="Group 7"/>
            <p:cNvGrpSpPr>
              <a:grpSpLocks/>
            </p:cNvGrpSpPr>
            <p:nvPr/>
          </p:nvGrpSpPr>
          <p:grpSpPr bwMode="auto">
            <a:xfrm>
              <a:off x="288" y="1392"/>
              <a:ext cx="624" cy="336"/>
              <a:chOff x="480" y="1632"/>
              <a:chExt cx="624" cy="336"/>
            </a:xfrm>
          </p:grpSpPr>
          <p:sp>
            <p:nvSpPr>
              <p:cNvPr id="17" name="Oval 8"/>
              <p:cNvSpPr>
                <a:spLocks noChangeArrowheads="1"/>
              </p:cNvSpPr>
              <p:nvPr/>
            </p:nvSpPr>
            <p:spPr bwMode="auto">
              <a:xfrm>
                <a:off x="480" y="1632"/>
                <a:ext cx="624"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8" name="Text Box 9"/>
              <p:cNvSpPr txBox="1">
                <a:spLocks noChangeArrowheads="1"/>
              </p:cNvSpPr>
              <p:nvPr/>
            </p:nvSpPr>
            <p:spPr bwMode="auto">
              <a:xfrm>
                <a:off x="538" y="1641"/>
                <a:ext cx="56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Sending </a:t>
                </a:r>
              </a:p>
              <a:p>
                <a:pPr algn="ctr">
                  <a:spcBef>
                    <a:spcPct val="0"/>
                  </a:spcBef>
                  <a:buClrTx/>
                  <a:buSzTx/>
                  <a:buFontTx/>
                  <a:buNone/>
                </a:pPr>
                <a:r>
                  <a:rPr lang="en-US" altLang="en-US" sz="1400"/>
                  <a:t>Process</a:t>
                </a:r>
              </a:p>
            </p:txBody>
          </p:sp>
        </p:grpSp>
        <p:sp>
          <p:nvSpPr>
            <p:cNvPr id="9" name="Rectangle 10"/>
            <p:cNvSpPr>
              <a:spLocks noChangeArrowheads="1"/>
            </p:cNvSpPr>
            <p:nvPr/>
          </p:nvSpPr>
          <p:spPr bwMode="auto">
            <a:xfrm>
              <a:off x="672" y="2064"/>
              <a:ext cx="91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0" name="Line 11"/>
            <p:cNvSpPr>
              <a:spLocks noChangeShapeType="1"/>
            </p:cNvSpPr>
            <p:nvPr/>
          </p:nvSpPr>
          <p:spPr bwMode="auto">
            <a:xfrm>
              <a:off x="528" y="1728"/>
              <a:ext cx="0" cy="432"/>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11" name="Group 12"/>
            <p:cNvGrpSpPr>
              <a:grpSpLocks/>
            </p:cNvGrpSpPr>
            <p:nvPr/>
          </p:nvGrpSpPr>
          <p:grpSpPr bwMode="auto">
            <a:xfrm>
              <a:off x="1344" y="1392"/>
              <a:ext cx="656" cy="336"/>
              <a:chOff x="1430" y="1623"/>
              <a:chExt cx="656" cy="336"/>
            </a:xfrm>
          </p:grpSpPr>
          <p:sp>
            <p:nvSpPr>
              <p:cNvPr id="15" name="Oval 13"/>
              <p:cNvSpPr>
                <a:spLocks noChangeArrowheads="1"/>
              </p:cNvSpPr>
              <p:nvPr/>
            </p:nvSpPr>
            <p:spPr bwMode="auto">
              <a:xfrm>
                <a:off x="1430" y="1623"/>
                <a:ext cx="624"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6" name="Text Box 14"/>
              <p:cNvSpPr txBox="1">
                <a:spLocks noChangeArrowheads="1"/>
              </p:cNvSpPr>
              <p:nvPr/>
            </p:nvSpPr>
            <p:spPr bwMode="auto">
              <a:xfrm>
                <a:off x="1453" y="1632"/>
                <a:ext cx="63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Receiving </a:t>
                </a:r>
              </a:p>
              <a:p>
                <a:pPr algn="ctr">
                  <a:spcBef>
                    <a:spcPct val="0"/>
                  </a:spcBef>
                  <a:buClrTx/>
                  <a:buSzTx/>
                  <a:buFontTx/>
                  <a:buNone/>
                </a:pPr>
                <a:r>
                  <a:rPr lang="en-US" altLang="en-US" sz="1400"/>
                  <a:t>Process</a:t>
                </a:r>
              </a:p>
            </p:txBody>
          </p:sp>
        </p:grpSp>
        <p:sp>
          <p:nvSpPr>
            <p:cNvPr id="12" name="Line 15"/>
            <p:cNvSpPr>
              <a:spLocks noChangeShapeType="1"/>
            </p:cNvSpPr>
            <p:nvPr/>
          </p:nvSpPr>
          <p:spPr bwMode="auto">
            <a:xfrm>
              <a:off x="528" y="2160"/>
              <a:ext cx="144"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3" name="Line 16"/>
            <p:cNvSpPr>
              <a:spLocks noChangeShapeType="1"/>
            </p:cNvSpPr>
            <p:nvPr/>
          </p:nvSpPr>
          <p:spPr bwMode="auto">
            <a:xfrm flipH="1">
              <a:off x="1584" y="2160"/>
              <a:ext cx="144"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4" name="Text Box 17"/>
            <p:cNvSpPr txBox="1">
              <a:spLocks noChangeArrowheads="1"/>
            </p:cNvSpPr>
            <p:nvPr/>
          </p:nvSpPr>
          <p:spPr bwMode="auto">
            <a:xfrm>
              <a:off x="624" y="2112"/>
              <a:ext cx="9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t>Reliable Channel</a:t>
              </a:r>
            </a:p>
          </p:txBody>
        </p:sp>
      </p:grpSp>
      <p:sp>
        <p:nvSpPr>
          <p:cNvPr id="19" name="Line 18"/>
          <p:cNvSpPr>
            <a:spLocks noChangeShapeType="1"/>
          </p:cNvSpPr>
          <p:nvPr/>
        </p:nvSpPr>
        <p:spPr bwMode="auto">
          <a:xfrm>
            <a:off x="2605172" y="2971800"/>
            <a:ext cx="73914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0" name="Line 19"/>
          <p:cNvSpPr>
            <a:spLocks noChangeShapeType="1"/>
          </p:cNvSpPr>
          <p:nvPr/>
        </p:nvSpPr>
        <p:spPr bwMode="auto">
          <a:xfrm>
            <a:off x="2605172" y="3962400"/>
            <a:ext cx="73914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1" name="Line 20"/>
          <p:cNvSpPr>
            <a:spLocks noChangeShapeType="1"/>
          </p:cNvSpPr>
          <p:nvPr/>
        </p:nvSpPr>
        <p:spPr bwMode="auto">
          <a:xfrm>
            <a:off x="2605172" y="4876800"/>
            <a:ext cx="73914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22" name="Group 21"/>
          <p:cNvGrpSpPr>
            <a:grpSpLocks/>
          </p:cNvGrpSpPr>
          <p:nvPr/>
        </p:nvGrpSpPr>
        <p:grpSpPr bwMode="auto">
          <a:xfrm>
            <a:off x="6643772" y="2133600"/>
            <a:ext cx="3441700" cy="2590800"/>
            <a:chOff x="2400" y="1344"/>
            <a:chExt cx="2168" cy="1632"/>
          </a:xfrm>
        </p:grpSpPr>
        <p:sp>
          <p:nvSpPr>
            <p:cNvPr id="23" name="Line 22"/>
            <p:cNvSpPr>
              <a:spLocks noChangeShapeType="1"/>
            </p:cNvSpPr>
            <p:nvPr/>
          </p:nvSpPr>
          <p:spPr bwMode="auto">
            <a:xfrm>
              <a:off x="4128" y="1680"/>
              <a:ext cx="0" cy="432"/>
            </a:xfrm>
            <a:prstGeom prst="line">
              <a:avLst/>
            </a:prstGeom>
            <a:noFill/>
            <a:ln w="190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24" name="Group 23"/>
            <p:cNvGrpSpPr>
              <a:grpSpLocks/>
            </p:cNvGrpSpPr>
            <p:nvPr/>
          </p:nvGrpSpPr>
          <p:grpSpPr bwMode="auto">
            <a:xfrm>
              <a:off x="2544" y="1344"/>
              <a:ext cx="624" cy="336"/>
              <a:chOff x="480" y="1632"/>
              <a:chExt cx="624" cy="336"/>
            </a:xfrm>
          </p:grpSpPr>
          <p:sp>
            <p:nvSpPr>
              <p:cNvPr id="39" name="Oval 24"/>
              <p:cNvSpPr>
                <a:spLocks noChangeArrowheads="1"/>
              </p:cNvSpPr>
              <p:nvPr/>
            </p:nvSpPr>
            <p:spPr bwMode="auto">
              <a:xfrm>
                <a:off x="480" y="1632"/>
                <a:ext cx="624"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0" name="Text Box 25"/>
              <p:cNvSpPr txBox="1">
                <a:spLocks noChangeArrowheads="1"/>
              </p:cNvSpPr>
              <p:nvPr/>
            </p:nvSpPr>
            <p:spPr bwMode="auto">
              <a:xfrm>
                <a:off x="538" y="1641"/>
                <a:ext cx="562"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Sending </a:t>
                </a:r>
              </a:p>
              <a:p>
                <a:pPr algn="ctr">
                  <a:spcBef>
                    <a:spcPct val="0"/>
                  </a:spcBef>
                  <a:buClrTx/>
                  <a:buSzTx/>
                  <a:buFontTx/>
                  <a:buNone/>
                </a:pPr>
                <a:r>
                  <a:rPr lang="en-US" altLang="en-US" sz="1400"/>
                  <a:t>Process</a:t>
                </a:r>
              </a:p>
            </p:txBody>
          </p:sp>
        </p:grpSp>
        <p:sp>
          <p:nvSpPr>
            <p:cNvPr id="25" name="Rectangle 26"/>
            <p:cNvSpPr>
              <a:spLocks noChangeArrowheads="1"/>
            </p:cNvSpPr>
            <p:nvPr/>
          </p:nvSpPr>
          <p:spPr bwMode="auto">
            <a:xfrm>
              <a:off x="3072" y="2592"/>
              <a:ext cx="912" cy="24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6" name="Line 27"/>
            <p:cNvSpPr>
              <a:spLocks noChangeShapeType="1"/>
            </p:cNvSpPr>
            <p:nvPr/>
          </p:nvSpPr>
          <p:spPr bwMode="auto">
            <a:xfrm>
              <a:off x="2832" y="1680"/>
              <a:ext cx="0" cy="432"/>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27" name="Group 28"/>
            <p:cNvGrpSpPr>
              <a:grpSpLocks/>
            </p:cNvGrpSpPr>
            <p:nvPr/>
          </p:nvGrpSpPr>
          <p:grpSpPr bwMode="auto">
            <a:xfrm>
              <a:off x="3744" y="1344"/>
              <a:ext cx="656" cy="336"/>
              <a:chOff x="1430" y="1623"/>
              <a:chExt cx="656" cy="336"/>
            </a:xfrm>
          </p:grpSpPr>
          <p:sp>
            <p:nvSpPr>
              <p:cNvPr id="37" name="Oval 29"/>
              <p:cNvSpPr>
                <a:spLocks noChangeArrowheads="1"/>
              </p:cNvSpPr>
              <p:nvPr/>
            </p:nvSpPr>
            <p:spPr bwMode="auto">
              <a:xfrm>
                <a:off x="1430" y="1623"/>
                <a:ext cx="624" cy="33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8" name="Text Box 30"/>
              <p:cNvSpPr txBox="1">
                <a:spLocks noChangeArrowheads="1"/>
              </p:cNvSpPr>
              <p:nvPr/>
            </p:nvSpPr>
            <p:spPr bwMode="auto">
              <a:xfrm>
                <a:off x="1453" y="1632"/>
                <a:ext cx="63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Receiving </a:t>
                </a:r>
              </a:p>
              <a:p>
                <a:pPr algn="ctr">
                  <a:spcBef>
                    <a:spcPct val="0"/>
                  </a:spcBef>
                  <a:buClrTx/>
                  <a:buSzTx/>
                  <a:buFontTx/>
                  <a:buNone/>
                </a:pPr>
                <a:r>
                  <a:rPr lang="en-US" altLang="en-US" sz="1400"/>
                  <a:t>Process</a:t>
                </a:r>
              </a:p>
            </p:txBody>
          </p:sp>
        </p:grpSp>
        <p:sp>
          <p:nvSpPr>
            <p:cNvPr id="28" name="Text Box 31"/>
            <p:cNvSpPr txBox="1">
              <a:spLocks noChangeArrowheads="1"/>
            </p:cNvSpPr>
            <p:nvPr/>
          </p:nvSpPr>
          <p:spPr bwMode="auto">
            <a:xfrm>
              <a:off x="2976" y="2784"/>
              <a:ext cx="11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b="1"/>
                <a:t>Unreliable Channel</a:t>
              </a:r>
            </a:p>
          </p:txBody>
        </p:sp>
        <p:sp>
          <p:nvSpPr>
            <p:cNvPr id="29" name="Rectangle 32"/>
            <p:cNvSpPr>
              <a:spLocks noChangeArrowheads="1"/>
            </p:cNvSpPr>
            <p:nvPr/>
          </p:nvSpPr>
          <p:spPr bwMode="auto">
            <a:xfrm>
              <a:off x="2400" y="2112"/>
              <a:ext cx="912"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0" name="Text Box 33"/>
            <p:cNvSpPr txBox="1">
              <a:spLocks noChangeArrowheads="1"/>
            </p:cNvSpPr>
            <p:nvPr/>
          </p:nvSpPr>
          <p:spPr bwMode="auto">
            <a:xfrm>
              <a:off x="2400" y="2064"/>
              <a:ext cx="881"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RDT </a:t>
              </a:r>
              <a:r>
                <a:rPr lang="en-US" altLang="en-US" sz="1400"/>
                <a:t>protocol</a:t>
              </a:r>
            </a:p>
            <a:p>
              <a:pPr algn="ctr">
                <a:spcBef>
                  <a:spcPct val="0"/>
                </a:spcBef>
                <a:buClrTx/>
                <a:buSzTx/>
                <a:buFontTx/>
                <a:buNone/>
              </a:pPr>
              <a:r>
                <a:rPr lang="en-US" altLang="en-US" sz="1600"/>
                <a:t>(</a:t>
              </a:r>
              <a:r>
                <a:rPr lang="en-US" altLang="en-US" sz="1400"/>
                <a:t>sending</a:t>
              </a:r>
              <a:r>
                <a:rPr lang="en-US" altLang="en-US" sz="1600"/>
                <a:t> side)</a:t>
              </a:r>
            </a:p>
          </p:txBody>
        </p:sp>
        <p:sp>
          <p:nvSpPr>
            <p:cNvPr id="31" name="Rectangle 34"/>
            <p:cNvSpPr>
              <a:spLocks noChangeArrowheads="1"/>
            </p:cNvSpPr>
            <p:nvPr/>
          </p:nvSpPr>
          <p:spPr bwMode="auto">
            <a:xfrm>
              <a:off x="3648" y="2112"/>
              <a:ext cx="912"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2" name="Text Box 35"/>
            <p:cNvSpPr txBox="1">
              <a:spLocks noChangeArrowheads="1"/>
            </p:cNvSpPr>
            <p:nvPr/>
          </p:nvSpPr>
          <p:spPr bwMode="auto">
            <a:xfrm>
              <a:off x="3609" y="2064"/>
              <a:ext cx="959"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RDT </a:t>
              </a:r>
              <a:r>
                <a:rPr lang="en-US" altLang="en-US" sz="1400"/>
                <a:t>protocol</a:t>
              </a:r>
            </a:p>
            <a:p>
              <a:pPr algn="ctr">
                <a:spcBef>
                  <a:spcPct val="0"/>
                </a:spcBef>
                <a:buClrTx/>
                <a:buSzTx/>
                <a:buFontTx/>
                <a:buNone/>
              </a:pPr>
              <a:r>
                <a:rPr lang="en-US" altLang="en-US" sz="1600"/>
                <a:t>(</a:t>
              </a:r>
              <a:r>
                <a:rPr lang="en-US" altLang="en-US" sz="1400"/>
                <a:t>receiving</a:t>
              </a:r>
              <a:r>
                <a:rPr lang="en-US" altLang="en-US" sz="1600"/>
                <a:t> side)</a:t>
              </a:r>
            </a:p>
          </p:txBody>
        </p:sp>
        <p:sp>
          <p:nvSpPr>
            <p:cNvPr id="33" name="Line 36"/>
            <p:cNvSpPr>
              <a:spLocks noChangeShapeType="1"/>
            </p:cNvSpPr>
            <p:nvPr/>
          </p:nvSpPr>
          <p:spPr bwMode="auto">
            <a:xfrm>
              <a:off x="2832" y="2400"/>
              <a:ext cx="0" cy="336"/>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4" name="Line 37"/>
            <p:cNvSpPr>
              <a:spLocks noChangeShapeType="1"/>
            </p:cNvSpPr>
            <p:nvPr/>
          </p:nvSpPr>
          <p:spPr bwMode="auto">
            <a:xfrm>
              <a:off x="2832" y="2736"/>
              <a:ext cx="24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5" name="Line 38"/>
            <p:cNvSpPr>
              <a:spLocks noChangeShapeType="1"/>
            </p:cNvSpPr>
            <p:nvPr/>
          </p:nvSpPr>
          <p:spPr bwMode="auto">
            <a:xfrm>
              <a:off x="4272" y="2400"/>
              <a:ext cx="0" cy="336"/>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6" name="Line 39"/>
            <p:cNvSpPr>
              <a:spLocks noChangeShapeType="1"/>
            </p:cNvSpPr>
            <p:nvPr/>
          </p:nvSpPr>
          <p:spPr bwMode="auto">
            <a:xfrm flipH="1">
              <a:off x="3984" y="2736"/>
              <a:ext cx="28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41" name="Text Box 40"/>
          <p:cNvSpPr txBox="1">
            <a:spLocks noChangeArrowheads="1"/>
          </p:cNvSpPr>
          <p:nvPr/>
        </p:nvSpPr>
        <p:spPr bwMode="auto">
          <a:xfrm>
            <a:off x="5092785" y="2514600"/>
            <a:ext cx="18843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t>Application Layer</a:t>
            </a:r>
          </a:p>
        </p:txBody>
      </p:sp>
      <p:sp>
        <p:nvSpPr>
          <p:cNvPr id="42" name="Text Box 41"/>
          <p:cNvSpPr txBox="1">
            <a:spLocks noChangeArrowheads="1"/>
          </p:cNvSpPr>
          <p:nvPr/>
        </p:nvSpPr>
        <p:spPr bwMode="auto">
          <a:xfrm>
            <a:off x="5157872" y="4191000"/>
            <a:ext cx="1652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t>Network Layer</a:t>
            </a:r>
          </a:p>
        </p:txBody>
      </p:sp>
      <p:sp>
        <p:nvSpPr>
          <p:cNvPr id="43" name="Text Box 42"/>
          <p:cNvSpPr txBox="1">
            <a:spLocks noChangeArrowheads="1"/>
          </p:cNvSpPr>
          <p:nvPr/>
        </p:nvSpPr>
        <p:spPr bwMode="auto">
          <a:xfrm>
            <a:off x="5091197" y="3048000"/>
            <a:ext cx="1789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b="1"/>
              <a:t>Transport Layer</a:t>
            </a:r>
          </a:p>
        </p:txBody>
      </p:sp>
      <p:sp>
        <p:nvSpPr>
          <p:cNvPr id="44" name="Rectangle 43"/>
          <p:cNvSpPr/>
          <p:nvPr/>
        </p:nvSpPr>
        <p:spPr>
          <a:xfrm>
            <a:off x="1233572" y="5225321"/>
            <a:ext cx="6096000" cy="646331"/>
          </a:xfrm>
          <a:prstGeom prst="rect">
            <a:avLst/>
          </a:prstGeom>
        </p:spPr>
        <p:txBody>
          <a:bodyPr>
            <a:spAutoFit/>
          </a:bodyPr>
          <a:lstStyle/>
          <a:p>
            <a:r>
              <a:rPr lang="en-US" altLang="en-US" dirty="0"/>
              <a:t>characteristics of unreliable channel will determine complexity of reliable data transfer protocol (</a:t>
            </a:r>
            <a:r>
              <a:rPr lang="en-US" altLang="en-US" dirty="0" err="1"/>
              <a:t>rdt</a:t>
            </a:r>
            <a:r>
              <a:rPr lang="en-US" altLang="en-US" dirty="0"/>
              <a:t>)</a:t>
            </a:r>
            <a:endParaRPr lang="en-US" altLang="en-US" sz="2000" dirty="0"/>
          </a:p>
        </p:txBody>
      </p:sp>
    </p:spTree>
    <p:extLst>
      <p:ext uri="{BB962C8B-B14F-4D97-AF65-F5344CB8AC3E}">
        <p14:creationId xmlns:p14="http://schemas.microsoft.com/office/powerpoint/2010/main" val="155522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checkerboard(across)">
                                      <p:cBhvr>
                                        <p:cTn id="11" dur="500"/>
                                        <p:tgtEl>
                                          <p:spTgt spid="41"/>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checkerboard(across)">
                                      <p:cBhvr>
                                        <p:cTn id="15" dur="500"/>
                                        <p:tgtEl>
                                          <p:spTgt spid="43"/>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checkerboard(across)">
                                      <p:cBhvr>
                                        <p:cTn id="19" dur="500"/>
                                        <p:tgtEl>
                                          <p:spTgt spid="42"/>
                                        </p:tgtEl>
                                      </p:cBhvr>
                                    </p:animEffect>
                                  </p:childTnLst>
                                </p:cTn>
                              </p:par>
                            </p:childTnLst>
                          </p:cTn>
                        </p:par>
                        <p:par>
                          <p:cTn id="20" fill="hold">
                            <p:stCondLst>
                              <p:cond delay="2000"/>
                            </p:stCondLst>
                            <p:childTnLst>
                              <p:par>
                                <p:cTn id="21" presetID="5" presetClass="entr" presetSubtype="10"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checkerboard(across)">
                                      <p:cBhvr>
                                        <p:cTn id="23" dur="500"/>
                                        <p:tgtEl>
                                          <p:spTgt spid="21"/>
                                        </p:tgtEl>
                                      </p:cBhvr>
                                    </p:animEffect>
                                  </p:childTnLst>
                                </p:cTn>
                              </p:par>
                            </p:childTnLst>
                          </p:cTn>
                        </p:par>
                        <p:par>
                          <p:cTn id="24" fill="hold">
                            <p:stCondLst>
                              <p:cond delay="2500"/>
                            </p:stCondLst>
                            <p:childTnLst>
                              <p:par>
                                <p:cTn id="25" presetID="5" presetClass="entr" presetSubtype="1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checkerboard(across)">
                                      <p:cBhvr>
                                        <p:cTn id="27" dur="500"/>
                                        <p:tgtEl>
                                          <p:spTgt spid="20"/>
                                        </p:tgtEl>
                                      </p:cBhvr>
                                    </p:animEffect>
                                  </p:childTnLst>
                                </p:cTn>
                              </p:par>
                            </p:childTnLst>
                          </p:cTn>
                        </p:par>
                        <p:par>
                          <p:cTn id="28" fill="hold">
                            <p:stCondLst>
                              <p:cond delay="3000"/>
                            </p:stCondLst>
                            <p:childTnLst>
                              <p:par>
                                <p:cTn id="29" presetID="5" presetClass="entr" presetSubtype="1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checkerboard(across)">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fill="hold"/>
                                        <p:tgtEl>
                                          <p:spTgt spid="22"/>
                                        </p:tgtEl>
                                        <p:attrNameLst>
                                          <p:attrName>ppt_x</p:attrName>
                                        </p:attrNameLst>
                                      </p:cBhvr>
                                      <p:tavLst>
                                        <p:tav tm="0">
                                          <p:val>
                                            <p:strVal val="#ppt_x"/>
                                          </p:val>
                                        </p:tav>
                                        <p:tav tm="100000">
                                          <p:val>
                                            <p:strVal val="#ppt_x"/>
                                          </p:val>
                                        </p:tav>
                                      </p:tavLst>
                                    </p:anim>
                                    <p:anim calcmode="lin" valueType="num">
                                      <p:cBhvr additive="base">
                                        <p:cTn id="3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utoUpdateAnimBg="0"/>
      <p:bldP spid="42" grpId="0" autoUpdateAnimBg="0"/>
      <p:bldP spid="4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a16="http://schemas.microsoft.com/office/drawing/2014/main" xmlns=""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xmlns=""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xmlns=""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xmlns=""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xmlns=""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xmlns=""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xmlns=""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xmlns=""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xmlns=""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xmlns="" id="{C9BAD8A3-73FD-504F-969F-7C35A5C98C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xmlns=""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xmlns=""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xmlns=""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xmlns=""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xmlns=""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xmlns=""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xmlns=""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xmlns=""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xmlns=""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xmlns=""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xmlns=""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xmlns=""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xmlns=""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xmlns=""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xmlns=""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xmlns=""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xmlns=""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xmlns=""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xmlns=""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xmlns=""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xmlns=""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xmlns=""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xmlns=""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xmlns=""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xmlns=""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xmlns=""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xmlns=""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xmlns=""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xmlns=""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xmlns=""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xmlns=""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xmlns=""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xmlns=""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xmlns=""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xmlns=""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xmlns=""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xmlns=""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xmlns=""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xmlns=""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xmlns=""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xmlns=""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xmlns=""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xmlns=""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xmlns=""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xmlns=""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xmlns=""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xmlns=""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xmlns=""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xmlns=""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xmlns=""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xmlns=""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xmlns=""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xmlns=""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3" name="Footer Placeholder 2">
            <a:extLst>
              <a:ext uri="{FF2B5EF4-FFF2-40B4-BE49-F238E27FC236}">
                <a16:creationId xmlns:a16="http://schemas.microsoft.com/office/drawing/2014/main" xmlns="" id="{6BB9552A-EF22-0C14-10C0-EA607490C01E}"/>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177238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xmlns=""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xmlns=""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xmlns=""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xmlns=""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xmlns=""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xmlns=""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xmlns=""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xmlns=""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xmlns=""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xmlns=""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xmlns=""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xmlns=""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xmlns=""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xmlns=""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xmlns=""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xmlns=""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xmlns=""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xmlns=""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xmlns=""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xmlns=""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xmlns=""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xmlns=""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xmlns=""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xmlns=""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xmlns=""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xmlns=""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xmlns=""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xmlns=""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xmlns=""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xmlns=""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xmlns=""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xmlns=""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xmlns=""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xmlns=""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xmlns=""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xmlns=""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xmlns=""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xmlns=""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xmlns=""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xmlns=""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xmlns=""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xmlns=""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xmlns=""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xmlns=""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xmlns=""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xmlns=""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xmlns=""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xmlns=""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xmlns=""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xmlns=""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xmlns=""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xmlns=""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xmlns=""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xmlns=""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xmlns=""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xmlns=""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xmlns=""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xmlns=""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xmlns=""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xmlns=""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xmlns=""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xmlns=""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xmlns=""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xmlns=""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xmlns=""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xmlns=""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xmlns=""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xmlns=""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xmlns=""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xmlns=""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xmlns=""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xmlns=""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xmlns=""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xmlns=""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xmlns=""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xmlns=""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xmlns=""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xmlns=""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xmlns=""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xmlns=""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xmlns=""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xmlns=""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xmlns=""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xmlns="" id="{C9BAD8A3-73FD-504F-969F-7C35A5C98C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xmlns=""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xmlns=""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xmlns=""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xmlns=""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xmlns=""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xmlns=""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xmlns=""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xmlns=""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xmlns=""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xmlns=""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xmlns=""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xmlns=""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xmlns=""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xmlns=""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xmlns=""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xmlns=""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xmlns=""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xmlns=""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xmlns=""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xmlns=""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xmlns=""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xmlns=""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xmlns=""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xmlns=""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xmlns=""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xmlns=""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xmlns=""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xmlns=""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xmlns=""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xmlns=""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xmlns=""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xmlns=""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xmlns=""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xmlns=""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xmlns=""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xmlns=""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xmlns=""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xmlns=""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xmlns=""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xmlns=""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xmlns=""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xmlns=""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xmlns=""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xmlns=""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xmlns=""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xmlns=""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xmlns=""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xmlns=""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xmlns=""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xmlns=""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xmlns=""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xmlns=""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xmlns=""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a16="http://schemas.microsoft.com/office/drawing/2014/main" xmlns=""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xmlns=""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xmlns=""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xmlns=""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xmlns="" id="{D17626F9-A8B7-4417-3E45-3B0455EA0FC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xmlns=""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xmlns=""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xmlns=""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xmlns=""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xmlns=""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xmlns=""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xmlns=""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xmlns=""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xmlns=""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xmlns=""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xmlns=""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xmlns=""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xmlns=""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xmlns=""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xmlns=""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xmlns=""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xmlns=""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xmlns=""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xmlns=""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xmlns=""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xmlns=""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xmlns=""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xmlns=""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xmlns=""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xmlns=""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xmlns=""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xmlns=""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xmlns=""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xmlns=""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xmlns=""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xmlns=""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xmlns=""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xmlns=""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xmlns=""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xmlns=""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xmlns=""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xmlns=""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xmlns=""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xmlns=""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xmlns=""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xmlns=""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xmlns=""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xmlns=""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xmlns=""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xmlns=""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xmlns=""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xmlns=""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xmlns=""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xmlns=""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xmlns=""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xmlns=""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xmlns=""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xmlns=""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xmlns=""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xmlns=""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xmlns=""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xmlns=""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xmlns=""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xmlns=""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xmlns=""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xmlns=""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xmlns=""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xmlns=""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xmlns=""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xmlns=""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xmlns=""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xmlns=""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xmlns=""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xmlns=""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xmlns=""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xmlns=""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xmlns=""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xmlns=""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xmlns=""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xmlns=""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a16="http://schemas.microsoft.com/office/drawing/2014/main" xmlns=""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xmlns=""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xmlns=""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xmlns=""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a16="http://schemas.microsoft.com/office/drawing/2014/main" xmlns=""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xmlns="" id="{FB75169E-9A0B-F934-E2AD-C50B5F82AA8E}"/>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xmlns=""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xmlns=""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xmlns=""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xmlns=""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xmlns=""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xmlns=""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xmlns=""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xmlns=""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xmlns=""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xmlns=""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xmlns=""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xmlns=""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xmlns=""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xmlns=""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xmlns=""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xmlns=""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xmlns=""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xmlns=""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xmlns=""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xmlns=""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xmlns=""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xmlns=""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xmlns=""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xmlns=""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xmlns=""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xmlns=""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xmlns=""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xmlns=""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xmlns=""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xmlns=""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xmlns=""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xmlns=""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xmlns=""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xmlns=""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xmlns=""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xmlns=""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xmlns=""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xmlns=""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xmlns=""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xmlns=""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xmlns=""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xmlns=""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xmlns=""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xmlns=""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xmlns=""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xmlns=""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xmlns=""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xmlns=""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xmlns=""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xmlns=""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xmlns=""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xmlns=""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xmlns=""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xmlns=""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xmlns=""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xmlns=""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xmlns=""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xmlns=""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xmlns=""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xmlns=""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xmlns=""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xmlns=""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xmlns=""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xmlns=""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xmlns=""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xmlns=""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xmlns=""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xmlns=""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xmlns=""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xmlns=""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xmlns=""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xmlns=""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xmlns=""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xmlns=""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xmlns=""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a16="http://schemas.microsoft.com/office/drawing/2014/main" xmlns=""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a16="http://schemas.microsoft.com/office/drawing/2014/main" xmlns=""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xmlns=""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xmlns=""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xmlns=""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shower curtain&#10;&#10;Description automatically generated">
            <a:extLst>
              <a:ext uri="{FF2B5EF4-FFF2-40B4-BE49-F238E27FC236}">
                <a16:creationId xmlns:a16="http://schemas.microsoft.com/office/drawing/2014/main" xmlns="" id="{916F2FD5-AF05-E24C-BB57-482FB6C40C8C}"/>
              </a:ext>
            </a:extLst>
          </p:cNvPr>
          <p:cNvPicPr>
            <a:picLocks noChangeAspect="1"/>
          </p:cNvPicPr>
          <p:nvPr/>
        </p:nvPicPr>
        <p:blipFill>
          <a:blip r:embed="rId4"/>
          <a:stretch>
            <a:fillRect/>
          </a:stretch>
        </p:blipFill>
        <p:spPr>
          <a:xfrm>
            <a:off x="8292476" y="1291955"/>
            <a:ext cx="1976012" cy="4393769"/>
          </a:xfrm>
          <a:prstGeom prst="rect">
            <a:avLst/>
          </a:prstGeom>
        </p:spPr>
      </p:pic>
      <p:pic>
        <p:nvPicPr>
          <p:cNvPr id="92" name="Picture 91" descr="A shower curtain&#10;&#10;Description automatically generated">
            <a:extLst>
              <a:ext uri="{FF2B5EF4-FFF2-40B4-BE49-F238E27FC236}">
                <a16:creationId xmlns:a16="http://schemas.microsoft.com/office/drawing/2014/main" xmlns="" id="{60AABE17-DADA-B14B-B0C4-01EC1B9C6813}"/>
              </a:ext>
            </a:extLst>
          </p:cNvPr>
          <p:cNvPicPr>
            <a:picLocks noChangeAspect="1"/>
          </p:cNvPicPr>
          <p:nvPr/>
        </p:nvPicPr>
        <p:blipFill>
          <a:blip r:embed="rId4"/>
          <a:stretch>
            <a:fillRect/>
          </a:stretch>
        </p:blipFill>
        <p:spPr>
          <a:xfrm>
            <a:off x="8219289" y="1165171"/>
            <a:ext cx="3972711" cy="4579749"/>
          </a:xfrm>
          <a:prstGeom prst="rect">
            <a:avLst/>
          </a:prstGeom>
        </p:spPr>
      </p:pic>
      <p:sp>
        <p:nvSpPr>
          <p:cNvPr id="3" name="Footer Placeholder 2">
            <a:extLst>
              <a:ext uri="{FF2B5EF4-FFF2-40B4-BE49-F238E27FC236}">
                <a16:creationId xmlns:a16="http://schemas.microsoft.com/office/drawing/2014/main" xmlns="" id="{5FB9C10F-E314-D0D5-F710-8D5DE0CA927B}"/>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protocol (</a:t>
            </a:r>
            <a:r>
              <a:rPr lang="en-US" sz="4400" dirty="0" err="1"/>
              <a:t>rdt</a:t>
            </a:r>
            <a:r>
              <a:rPr lang="en-US" sz="4400" dirty="0"/>
              <a:t>): interfaces</a:t>
            </a:r>
          </a:p>
        </p:txBody>
      </p:sp>
      <p:grpSp>
        <p:nvGrpSpPr>
          <p:cNvPr id="15" name="Group 14">
            <a:extLst>
              <a:ext uri="{FF2B5EF4-FFF2-40B4-BE49-F238E27FC236}">
                <a16:creationId xmlns:a16="http://schemas.microsoft.com/office/drawing/2014/main" xmlns=""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a16="http://schemas.microsoft.com/office/drawing/2014/main" xmlns=""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a16="http://schemas.microsoft.com/office/drawing/2014/main" xmlns=""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xmlns=""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xmlns=""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a16="http://schemas.microsoft.com/office/drawing/2014/main" xmlns=""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xmlns=""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xmlns=""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xmlns="" id="{272E925C-57A6-144C-A625-180C395BBE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xmlns=""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xmlns=""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a16="http://schemas.microsoft.com/office/drawing/2014/main" xmlns=""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xmlns=""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xmlns=""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a16="http://schemas.microsoft.com/office/drawing/2014/main" xmlns=""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xmlns=""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xmlns=""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xmlns=""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xmlns=""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xmlns=""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xmlns=""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xmlns=""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xmlns=""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xmlns=""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xmlns=""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xmlns=""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xmlns=""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xmlns=""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xmlns=""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xmlns=""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xmlns=""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xmlns=""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xmlns=""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xmlns=""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xmlns=""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xmlns=""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xmlns=""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xmlns=""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xmlns=""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xmlns=""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xmlns=""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xmlns=""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xmlns=""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xmlns=""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xmlns=""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xmlns=""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xmlns=""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xmlns=""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xmlns=""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xmlns=""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xmlns=""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a16="http://schemas.microsoft.com/office/drawing/2014/main" xmlns=""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xmlns=""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xmlns=""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xmlns=""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xmlns=""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xmlns=""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xmlns=""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xmlns=""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xmlns=""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xmlns=""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xmlns=""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a16="http://schemas.microsoft.com/office/drawing/2014/main" xmlns=""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a16="http://schemas.microsoft.com/office/drawing/2014/main" xmlns=""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xmlns=""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xmlns=""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xmlns=""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xmlns=""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xmlns=""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xmlns=""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0" name="TextBox 159">
              <a:extLst>
                <a:ext uri="{FF2B5EF4-FFF2-40B4-BE49-F238E27FC236}">
                  <a16:creationId xmlns:a16="http://schemas.microsoft.com/office/drawing/2014/main" xmlns=""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udt_send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1" name="TextBox 160">
              <a:extLst>
                <a:ext uri="{FF2B5EF4-FFF2-40B4-BE49-F238E27FC236}">
                  <a16:creationId xmlns:a16="http://schemas.microsoft.com/office/drawing/2014/main" xmlns=""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rdt_rcv</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2" name="TextBox 161">
              <a:extLst>
                <a:ext uri="{FF2B5EF4-FFF2-40B4-BE49-F238E27FC236}">
                  <a16:creationId xmlns:a16="http://schemas.microsoft.com/office/drawing/2014/main" xmlns=""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deliver_data</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grpSp>
          <p:nvGrpSpPr>
            <p:cNvPr id="14" name="Group 13">
              <a:extLst>
                <a:ext uri="{FF2B5EF4-FFF2-40B4-BE49-F238E27FC236}">
                  <a16:creationId xmlns:a16="http://schemas.microsoft.com/office/drawing/2014/main" xmlns=""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a16="http://schemas.microsoft.com/office/drawing/2014/main" xmlns=""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a16="http://schemas.microsoft.com/office/drawing/2014/main" xmlns=""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xmlns=""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a16="http://schemas.microsoft.com/office/drawing/2014/main" xmlns=""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a16="http://schemas.microsoft.com/office/drawing/2014/main" xmlns=""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a16="http://schemas.microsoft.com/office/drawing/2014/main" xmlns=""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a16="http://schemas.microsoft.com/office/drawing/2014/main" xmlns=""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a16="http://schemas.microsoft.com/office/drawing/2014/main" xmlns=""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a16="http://schemas.microsoft.com/office/drawing/2014/main" xmlns=""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a16="http://schemas.microsoft.com/office/drawing/2014/main" xmlns=""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a16="http://schemas.microsoft.com/office/drawing/2014/main" xmlns=""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a16="http://schemas.microsoft.com/office/drawing/2014/main" xmlns=""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xmlns=""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a16="http://schemas.microsoft.com/office/drawing/2014/main" xmlns=""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a16="http://schemas.microsoft.com/office/drawing/2014/main" xmlns=""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a16="http://schemas.microsoft.com/office/drawing/2014/main" xmlns=""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xmlns=""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a16="http://schemas.microsoft.com/office/drawing/2014/main" xmlns=""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a16="http://schemas.microsoft.com/office/drawing/2014/main" xmlns=""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a16="http://schemas.microsoft.com/office/drawing/2014/main" xmlns=""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udt_send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endPar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a16="http://schemas.microsoft.com/office/drawing/2014/main" xmlns=""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xmlns=""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a16="http://schemas.microsoft.com/office/drawing/2014/main" xmlns=""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a16="http://schemas.microsoft.com/office/drawing/2014/main" xmlns=""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a16="http://schemas.microsoft.com/office/drawing/2014/main" xmlns=""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rdt_rcv</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a16="http://schemas.microsoft.com/office/drawing/2014/main" xmlns=""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xmlns=""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a16="http://schemas.microsoft.com/office/drawing/2014/main" xmlns=""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a16="http://schemas.microsoft.com/office/drawing/2014/main" xmlns=""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a16="http://schemas.microsoft.com/office/drawing/2014/main" xmlns=""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deliver_data</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a16="http://schemas.microsoft.com/office/drawing/2014/main" xmlns=""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xmlns=""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a16="http://schemas.microsoft.com/office/drawing/2014/main" xmlns=""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a16="http://schemas.microsoft.com/office/drawing/2014/main" xmlns=""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a16="http://schemas.microsoft.com/office/drawing/2014/main" xmlns=""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a16="http://schemas.microsoft.com/office/drawing/2014/main" xmlns=""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xmlns=""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xmlns=""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a16="http://schemas.microsoft.com/office/drawing/2014/main" xmlns=""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a16="http://schemas.microsoft.com/office/drawing/2014/main" xmlns=""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xmlns=""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xmlns=""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a16="http://schemas.microsoft.com/office/drawing/2014/main" xmlns=""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a16="http://schemas.microsoft.com/office/drawing/2014/main" xmlns=""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xmlns=""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xmlns=""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xmlns=""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a16="http://schemas.microsoft.com/office/drawing/2014/main" xmlns=""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xmlns="" id="{E29A5C07-736D-D79D-CBAD-1C390AA4DE7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getting started</a:t>
            </a:r>
          </a:p>
        </p:txBody>
      </p:sp>
      <p:sp>
        <p:nvSpPr>
          <p:cNvPr id="193" name="Rectangle 3">
            <a:extLst>
              <a:ext uri="{FF2B5EF4-FFF2-40B4-BE49-F238E27FC236}">
                <a16:creationId xmlns:a16="http://schemas.microsoft.com/office/drawing/2014/main" xmlns=""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b="0" i="0" u="none" strike="noStrike" kern="0" cap="none" spc="0" normalizeH="0" baseline="0" noProof="0" dirty="0" err="1">
                <a:ln>
                  <a:noFill/>
                </a:ln>
                <a:solidFill>
                  <a:prstClr val="black"/>
                </a:solidFill>
                <a:effectLst/>
                <a:uLnTx/>
                <a:uFillTx/>
                <a:latin typeface="Courier" pitchFamily="2" charset="0"/>
                <a:ea typeface="ＭＳ Ｐゴシック" panose="020B0600070205080204" pitchFamily="34" charset="-128"/>
              </a:rPr>
              <a:t>rdt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a16="http://schemas.microsoft.com/office/drawing/2014/main" xmlns=""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a16="http://schemas.microsoft.com/office/drawing/2014/main" xmlns=""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a16="http://schemas.microsoft.com/office/drawing/2014/main" xmlns=""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a16="http://schemas.microsoft.com/office/drawing/2014/main" xmlns=""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a16="http://schemas.microsoft.com/office/drawing/2014/main" xmlns=""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a16="http://schemas.microsoft.com/office/drawing/2014/main" xmlns=""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a16="http://schemas.microsoft.com/office/drawing/2014/main" xmlns=""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a16="http://schemas.microsoft.com/office/drawing/2014/main" xmlns=""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a16="http://schemas.microsoft.com/office/drawing/2014/main" xmlns=""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a16="http://schemas.microsoft.com/office/drawing/2014/main" xmlns=""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a16="http://schemas.microsoft.com/office/drawing/2014/main" xmlns=""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a16="http://schemas.microsoft.com/office/drawing/2014/main" xmlns=""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a16="http://schemas.microsoft.com/office/drawing/2014/main" xmlns=""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a16="http://schemas.microsoft.com/office/drawing/2014/main" xmlns=""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a16="http://schemas.microsoft.com/office/drawing/2014/main" xmlns=""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a16="http://schemas.microsoft.com/office/drawing/2014/main" xmlns=""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a16="http://schemas.microsoft.com/office/drawing/2014/main" xmlns=""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a16="http://schemas.microsoft.com/office/drawing/2014/main" xmlns=""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  to specify sender, receiver</a:t>
            </a:r>
          </a:p>
        </p:txBody>
      </p:sp>
      <p:sp>
        <p:nvSpPr>
          <p:cNvPr id="3" name="Footer Placeholder 2">
            <a:extLst>
              <a:ext uri="{FF2B5EF4-FFF2-40B4-BE49-F238E27FC236}">
                <a16:creationId xmlns:a16="http://schemas.microsoft.com/office/drawing/2014/main" xmlns="" id="{DB72513A-00B1-911E-23EC-7C44AAAA8CC7}"/>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6" name="Picture 26" descr="underline_base">
            <a:extLst>
              <a:ext uri="{FF2B5EF4-FFF2-40B4-BE49-F238E27FC236}">
                <a16:creationId xmlns:a16="http://schemas.microsoft.com/office/drawing/2014/main" xmlns="" id="{3B77BB9E-F269-469D-A73D-4BBCC4F4465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51" y="831850"/>
            <a:ext cx="7313613" cy="13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2">
            <a:extLst>
              <a:ext uri="{FF2B5EF4-FFF2-40B4-BE49-F238E27FC236}">
                <a16:creationId xmlns:a16="http://schemas.microsoft.com/office/drawing/2014/main" xmlns="" id="{991EBEA3-2D62-47D4-9392-CF9F587C16E6}"/>
              </a:ext>
            </a:extLst>
          </p:cNvPr>
          <p:cNvSpPr>
            <a:spLocks noGrp="1" noChangeArrowheads="1"/>
          </p:cNvSpPr>
          <p:nvPr>
            <p:ph type="title"/>
          </p:nvPr>
        </p:nvSpPr>
        <p:spPr>
          <a:xfrm>
            <a:off x="1935163" y="193675"/>
            <a:ext cx="7772400" cy="889000"/>
          </a:xfrm>
        </p:spPr>
        <p:txBody>
          <a:bodyPr/>
          <a:lstStyle/>
          <a:p>
            <a:pPr>
              <a:defRPr/>
            </a:pPr>
            <a:r>
              <a:rPr lang="en-US" sz="3600">
                <a:ea typeface="ＭＳ Ｐゴシック" charset="0"/>
              </a:rPr>
              <a:t>Reliable data transfer: getting started</a:t>
            </a:r>
            <a:endParaRPr lang="en-US">
              <a:ea typeface="ＭＳ Ｐゴシック" charset="0"/>
              <a:cs typeface="+mj-cs"/>
            </a:endParaRPr>
          </a:p>
        </p:txBody>
      </p:sp>
      <p:pic>
        <p:nvPicPr>
          <p:cNvPr id="28678" name="Picture 3" descr="rdt_part2">
            <a:extLst>
              <a:ext uri="{FF2B5EF4-FFF2-40B4-BE49-F238E27FC236}">
                <a16:creationId xmlns:a16="http://schemas.microsoft.com/office/drawing/2014/main" xmlns="" id="{153D9AE3-4E58-4791-A579-16510D0C4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6100" y="2652713"/>
            <a:ext cx="5969000"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Text Box 4">
            <a:extLst>
              <a:ext uri="{FF2B5EF4-FFF2-40B4-BE49-F238E27FC236}">
                <a16:creationId xmlns:a16="http://schemas.microsoft.com/office/drawing/2014/main" xmlns="" id="{41B041C0-109B-4F2E-AD25-AA4CEEC17921}"/>
              </a:ext>
            </a:extLst>
          </p:cNvPr>
          <p:cNvSpPr txBox="1">
            <a:spLocks noChangeArrowheads="1"/>
          </p:cNvSpPr>
          <p:nvPr/>
        </p:nvSpPr>
        <p:spPr bwMode="auto">
          <a:xfrm>
            <a:off x="2538098" y="3106739"/>
            <a:ext cx="8531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2400">
                <a:solidFill>
                  <a:srgbClr val="000099"/>
                </a:solidFill>
                <a:latin typeface="Arial" panose="020B0604020202020204" pitchFamily="34" charset="0"/>
              </a:rPr>
              <a:t>send</a:t>
            </a:r>
          </a:p>
          <a:p>
            <a:pPr algn="ctr">
              <a:lnSpc>
                <a:spcPct val="100000"/>
              </a:lnSpc>
              <a:spcBef>
                <a:spcPct val="0"/>
              </a:spcBef>
              <a:buClrTx/>
              <a:buSzTx/>
              <a:buFontTx/>
              <a:buNone/>
            </a:pPr>
            <a:r>
              <a:rPr lang="en-US" altLang="en-US" sz="2400">
                <a:solidFill>
                  <a:srgbClr val="000099"/>
                </a:solidFill>
                <a:latin typeface="Arial" panose="020B0604020202020204" pitchFamily="34" charset="0"/>
              </a:rPr>
              <a:t>side</a:t>
            </a:r>
          </a:p>
        </p:txBody>
      </p:sp>
      <p:sp>
        <p:nvSpPr>
          <p:cNvPr id="28680" name="Text Box 5">
            <a:extLst>
              <a:ext uri="{FF2B5EF4-FFF2-40B4-BE49-F238E27FC236}">
                <a16:creationId xmlns:a16="http://schemas.microsoft.com/office/drawing/2014/main" xmlns="" id="{8AB5BD73-1847-4207-9B71-84EA3D5F2493}"/>
              </a:ext>
            </a:extLst>
          </p:cNvPr>
          <p:cNvSpPr txBox="1">
            <a:spLocks noChangeArrowheads="1"/>
          </p:cNvSpPr>
          <p:nvPr/>
        </p:nvSpPr>
        <p:spPr bwMode="auto">
          <a:xfrm>
            <a:off x="8711899" y="3116264"/>
            <a:ext cx="11785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2400">
                <a:solidFill>
                  <a:srgbClr val="000099"/>
                </a:solidFill>
                <a:latin typeface="Arial" panose="020B0604020202020204" pitchFamily="34" charset="0"/>
              </a:rPr>
              <a:t>receive</a:t>
            </a:r>
          </a:p>
          <a:p>
            <a:pPr algn="ctr">
              <a:lnSpc>
                <a:spcPct val="100000"/>
              </a:lnSpc>
              <a:spcBef>
                <a:spcPct val="0"/>
              </a:spcBef>
              <a:buClrTx/>
              <a:buSzTx/>
              <a:buFontTx/>
              <a:buNone/>
            </a:pPr>
            <a:r>
              <a:rPr lang="en-US" altLang="en-US" sz="2400">
                <a:solidFill>
                  <a:srgbClr val="000099"/>
                </a:solidFill>
                <a:latin typeface="Arial" panose="020B0604020202020204" pitchFamily="34" charset="0"/>
              </a:rPr>
              <a:t>side</a:t>
            </a:r>
          </a:p>
        </p:txBody>
      </p:sp>
      <p:grpSp>
        <p:nvGrpSpPr>
          <p:cNvPr id="283654" name="Group 6">
            <a:extLst>
              <a:ext uri="{FF2B5EF4-FFF2-40B4-BE49-F238E27FC236}">
                <a16:creationId xmlns:a16="http://schemas.microsoft.com/office/drawing/2014/main" xmlns="" id="{F56D499A-A5BC-464D-8206-5D50A641D127}"/>
              </a:ext>
            </a:extLst>
          </p:cNvPr>
          <p:cNvGrpSpPr>
            <a:grpSpLocks/>
          </p:cNvGrpSpPr>
          <p:nvPr/>
        </p:nvGrpSpPr>
        <p:grpSpPr bwMode="auto">
          <a:xfrm>
            <a:off x="1751014" y="1460500"/>
            <a:ext cx="3965575" cy="1416050"/>
            <a:chOff x="143" y="920"/>
            <a:chExt cx="2498" cy="892"/>
          </a:xfrm>
        </p:grpSpPr>
        <p:sp>
          <p:nvSpPr>
            <p:cNvPr id="28697" name="Text Box 7">
              <a:extLst>
                <a:ext uri="{FF2B5EF4-FFF2-40B4-BE49-F238E27FC236}">
                  <a16:creationId xmlns:a16="http://schemas.microsoft.com/office/drawing/2014/main" xmlns="" id="{33D6B840-5E78-4C37-9D5A-71557C607AE4}"/>
                </a:ext>
              </a:extLst>
            </p:cNvPr>
            <p:cNvSpPr txBox="1">
              <a:spLocks noChangeArrowheads="1"/>
            </p:cNvSpPr>
            <p:nvPr/>
          </p:nvSpPr>
          <p:spPr bwMode="auto">
            <a:xfrm>
              <a:off x="143" y="920"/>
              <a:ext cx="2498"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1800" b="1">
                  <a:solidFill>
                    <a:srgbClr val="FF0000"/>
                  </a:solidFill>
                  <a:latin typeface="Courier New" panose="02070309020205020404" pitchFamily="49" charset="0"/>
                </a:rPr>
                <a:t>rdt_send():</a:t>
              </a:r>
              <a:r>
                <a:rPr lang="en-US" altLang="en-US" sz="1800">
                  <a:latin typeface="Times New Roman" panose="02020603050405020304" pitchFamily="18" charset="0"/>
                </a:rPr>
                <a:t> </a:t>
              </a:r>
              <a:r>
                <a:rPr lang="en-US" altLang="en-US" sz="1800">
                  <a:latin typeface="Tahoma" panose="020B0604030504040204" pitchFamily="34" charset="0"/>
                </a:rPr>
                <a:t>called from above, (e.g., by app.). Passed data to </a:t>
              </a:r>
            </a:p>
            <a:p>
              <a:pPr algn="ctr">
                <a:lnSpc>
                  <a:spcPct val="100000"/>
                </a:lnSpc>
                <a:spcBef>
                  <a:spcPct val="0"/>
                </a:spcBef>
                <a:buClrTx/>
                <a:buSzTx/>
                <a:buFontTx/>
                <a:buNone/>
              </a:pPr>
              <a:r>
                <a:rPr lang="en-US" altLang="en-US" sz="1800">
                  <a:latin typeface="Tahoma" panose="020B0604030504040204" pitchFamily="34" charset="0"/>
                </a:rPr>
                <a:t>deliver to receiver upper layer</a:t>
              </a:r>
              <a:endParaRPr lang="en-US" altLang="en-US" sz="2400">
                <a:latin typeface="Tahoma" panose="020B0604030504040204" pitchFamily="34" charset="0"/>
              </a:endParaRPr>
            </a:p>
          </p:txBody>
        </p:sp>
        <p:grpSp>
          <p:nvGrpSpPr>
            <p:cNvPr id="28698" name="Group 8">
              <a:extLst>
                <a:ext uri="{FF2B5EF4-FFF2-40B4-BE49-F238E27FC236}">
                  <a16:creationId xmlns:a16="http://schemas.microsoft.com/office/drawing/2014/main" xmlns="" id="{4BCC7C82-2131-4D09-B462-321E94752273}"/>
                </a:ext>
              </a:extLst>
            </p:cNvPr>
            <p:cNvGrpSpPr>
              <a:grpSpLocks/>
            </p:cNvGrpSpPr>
            <p:nvPr/>
          </p:nvGrpSpPr>
          <p:grpSpPr bwMode="auto">
            <a:xfrm>
              <a:off x="240" y="930"/>
              <a:ext cx="2370" cy="882"/>
              <a:chOff x="240" y="942"/>
              <a:chExt cx="2370" cy="882"/>
            </a:xfrm>
          </p:grpSpPr>
          <p:sp>
            <p:nvSpPr>
              <p:cNvPr id="28699" name="Line 9">
                <a:extLst>
                  <a:ext uri="{FF2B5EF4-FFF2-40B4-BE49-F238E27FC236}">
                    <a16:creationId xmlns:a16="http://schemas.microsoft.com/office/drawing/2014/main" xmlns="" id="{0E9E2663-5700-442D-B41A-BF96556FE905}"/>
                  </a:ext>
                </a:extLst>
              </p:cNvPr>
              <p:cNvSpPr>
                <a:spLocks noChangeShapeType="1"/>
              </p:cNvSpPr>
              <p:nvPr/>
            </p:nvSpPr>
            <p:spPr bwMode="auto">
              <a:xfrm>
                <a:off x="942" y="1500"/>
                <a:ext cx="174" cy="32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28700" name="Rectangle 10">
                <a:extLst>
                  <a:ext uri="{FF2B5EF4-FFF2-40B4-BE49-F238E27FC236}">
                    <a16:creationId xmlns:a16="http://schemas.microsoft.com/office/drawing/2014/main" xmlns="" id="{212076F2-4156-4CAF-A7B0-EAFFCA98F191}"/>
                  </a:ext>
                </a:extLst>
              </p:cNvPr>
              <p:cNvSpPr>
                <a:spLocks noChangeArrowheads="1"/>
              </p:cNvSpPr>
              <p:nvPr/>
            </p:nvSpPr>
            <p:spPr bwMode="auto">
              <a:xfrm>
                <a:off x="240" y="942"/>
                <a:ext cx="2370" cy="55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en-US" altLang="en-US" sz="1600">
                  <a:latin typeface="Tahoma" panose="020B0604030504040204" pitchFamily="34" charset="0"/>
                </a:endParaRPr>
              </a:p>
            </p:txBody>
          </p:sp>
        </p:grpSp>
      </p:grpSp>
      <p:grpSp>
        <p:nvGrpSpPr>
          <p:cNvPr id="283659" name="Group 11">
            <a:extLst>
              <a:ext uri="{FF2B5EF4-FFF2-40B4-BE49-F238E27FC236}">
                <a16:creationId xmlns:a16="http://schemas.microsoft.com/office/drawing/2014/main" xmlns="" id="{759011F3-CA8C-46F4-AFA9-CF26C75064A3}"/>
              </a:ext>
            </a:extLst>
          </p:cNvPr>
          <p:cNvGrpSpPr>
            <a:grpSpLocks/>
          </p:cNvGrpSpPr>
          <p:nvPr/>
        </p:nvGrpSpPr>
        <p:grpSpPr bwMode="auto">
          <a:xfrm>
            <a:off x="1800226" y="4381500"/>
            <a:ext cx="3762375" cy="1862138"/>
            <a:chOff x="174" y="2760"/>
            <a:chExt cx="2370" cy="1173"/>
          </a:xfrm>
        </p:grpSpPr>
        <p:sp>
          <p:nvSpPr>
            <p:cNvPr id="28693" name="Text Box 12">
              <a:extLst>
                <a:ext uri="{FF2B5EF4-FFF2-40B4-BE49-F238E27FC236}">
                  <a16:creationId xmlns:a16="http://schemas.microsoft.com/office/drawing/2014/main" xmlns="" id="{1982A209-6E42-41B4-94F4-63DCE271C8EC}"/>
                </a:ext>
              </a:extLst>
            </p:cNvPr>
            <p:cNvSpPr txBox="1">
              <a:spLocks noChangeArrowheads="1"/>
            </p:cNvSpPr>
            <p:nvPr/>
          </p:nvSpPr>
          <p:spPr bwMode="auto">
            <a:xfrm>
              <a:off x="233" y="3356"/>
              <a:ext cx="214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1800" b="1">
                  <a:solidFill>
                    <a:srgbClr val="FF0000"/>
                  </a:solidFill>
                  <a:latin typeface="Courier New" panose="02070309020205020404" pitchFamily="49" charset="0"/>
                </a:rPr>
                <a:t>udt_send():</a:t>
              </a:r>
              <a:r>
                <a:rPr lang="en-US" altLang="en-US" sz="1800">
                  <a:latin typeface="Times New Roman" panose="02020603050405020304" pitchFamily="18" charset="0"/>
                </a:rPr>
                <a:t> </a:t>
              </a:r>
              <a:r>
                <a:rPr lang="en-US" altLang="en-US" sz="1800">
                  <a:latin typeface="Tahoma" panose="020B0604030504040204" pitchFamily="34" charset="0"/>
                </a:rPr>
                <a:t>called by rdt,</a:t>
              </a:r>
            </a:p>
            <a:p>
              <a:pPr algn="ctr">
                <a:lnSpc>
                  <a:spcPct val="100000"/>
                </a:lnSpc>
                <a:spcBef>
                  <a:spcPct val="0"/>
                </a:spcBef>
                <a:buClrTx/>
                <a:buSzTx/>
                <a:buFontTx/>
                <a:buNone/>
              </a:pPr>
              <a:r>
                <a:rPr lang="en-US" altLang="en-US" sz="1800">
                  <a:latin typeface="Tahoma" panose="020B0604030504040204" pitchFamily="34" charset="0"/>
                </a:rPr>
                <a:t>to transfer packet over </a:t>
              </a:r>
            </a:p>
            <a:p>
              <a:pPr algn="ctr">
                <a:lnSpc>
                  <a:spcPct val="100000"/>
                </a:lnSpc>
                <a:spcBef>
                  <a:spcPct val="0"/>
                </a:spcBef>
                <a:buClrTx/>
                <a:buSzTx/>
                <a:buFontTx/>
                <a:buNone/>
              </a:pPr>
              <a:r>
                <a:rPr lang="en-US" altLang="en-US" sz="1800">
                  <a:latin typeface="Tahoma" panose="020B0604030504040204" pitchFamily="34" charset="0"/>
                </a:rPr>
                <a:t>unreliable channel to receiver</a:t>
              </a:r>
              <a:endParaRPr lang="en-US" altLang="en-US" sz="2400">
                <a:latin typeface="Tahoma" panose="020B0604030504040204" pitchFamily="34" charset="0"/>
              </a:endParaRPr>
            </a:p>
          </p:txBody>
        </p:sp>
        <p:grpSp>
          <p:nvGrpSpPr>
            <p:cNvPr id="28694" name="Group 13">
              <a:extLst>
                <a:ext uri="{FF2B5EF4-FFF2-40B4-BE49-F238E27FC236}">
                  <a16:creationId xmlns:a16="http://schemas.microsoft.com/office/drawing/2014/main" xmlns="" id="{E9B5E297-82A6-4D39-8BA6-A5936E1DF5AC}"/>
                </a:ext>
              </a:extLst>
            </p:cNvPr>
            <p:cNvGrpSpPr>
              <a:grpSpLocks/>
            </p:cNvGrpSpPr>
            <p:nvPr/>
          </p:nvGrpSpPr>
          <p:grpSpPr bwMode="auto">
            <a:xfrm>
              <a:off x="174" y="2760"/>
              <a:ext cx="2370" cy="1170"/>
              <a:chOff x="174" y="2760"/>
              <a:chExt cx="2370" cy="1170"/>
            </a:xfrm>
          </p:grpSpPr>
          <p:sp>
            <p:nvSpPr>
              <p:cNvPr id="28695" name="Line 14">
                <a:extLst>
                  <a:ext uri="{FF2B5EF4-FFF2-40B4-BE49-F238E27FC236}">
                    <a16:creationId xmlns:a16="http://schemas.microsoft.com/office/drawing/2014/main" xmlns="" id="{1D84325D-33DA-489D-BD76-00551E90A356}"/>
                  </a:ext>
                </a:extLst>
              </p:cNvPr>
              <p:cNvSpPr>
                <a:spLocks noChangeShapeType="1"/>
              </p:cNvSpPr>
              <p:nvPr/>
            </p:nvSpPr>
            <p:spPr bwMode="auto">
              <a:xfrm flipV="1">
                <a:off x="882" y="2760"/>
                <a:ext cx="228" cy="60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28696" name="Rectangle 15">
                <a:extLst>
                  <a:ext uri="{FF2B5EF4-FFF2-40B4-BE49-F238E27FC236}">
                    <a16:creationId xmlns:a16="http://schemas.microsoft.com/office/drawing/2014/main" xmlns="" id="{847FE37D-7638-462A-AE38-A619AE9DCB7E}"/>
                  </a:ext>
                </a:extLst>
              </p:cNvPr>
              <p:cNvSpPr>
                <a:spLocks noChangeArrowheads="1"/>
              </p:cNvSpPr>
              <p:nvPr/>
            </p:nvSpPr>
            <p:spPr bwMode="auto">
              <a:xfrm>
                <a:off x="174" y="3372"/>
                <a:ext cx="2370" cy="55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en-US" altLang="en-US" sz="1600">
                  <a:latin typeface="Tahoma" panose="020B0604030504040204" pitchFamily="34" charset="0"/>
                </a:endParaRPr>
              </a:p>
            </p:txBody>
          </p:sp>
        </p:grpSp>
      </p:grpSp>
      <p:grpSp>
        <p:nvGrpSpPr>
          <p:cNvPr id="283664" name="Group 16">
            <a:extLst>
              <a:ext uri="{FF2B5EF4-FFF2-40B4-BE49-F238E27FC236}">
                <a16:creationId xmlns:a16="http://schemas.microsoft.com/office/drawing/2014/main" xmlns="" id="{81A5F012-3364-4EDC-A20A-A8124F879945}"/>
              </a:ext>
            </a:extLst>
          </p:cNvPr>
          <p:cNvGrpSpPr>
            <a:grpSpLocks/>
          </p:cNvGrpSpPr>
          <p:nvPr/>
        </p:nvGrpSpPr>
        <p:grpSpPr bwMode="auto">
          <a:xfrm>
            <a:off x="6446839" y="4362451"/>
            <a:ext cx="3965575" cy="1647825"/>
            <a:chOff x="3101" y="2748"/>
            <a:chExt cx="2498" cy="1038"/>
          </a:xfrm>
        </p:grpSpPr>
        <p:sp>
          <p:nvSpPr>
            <p:cNvPr id="28689" name="Text Box 17">
              <a:extLst>
                <a:ext uri="{FF2B5EF4-FFF2-40B4-BE49-F238E27FC236}">
                  <a16:creationId xmlns:a16="http://schemas.microsoft.com/office/drawing/2014/main" xmlns="" id="{57F337A3-3E0C-4922-9C18-ADEED1C4A49C}"/>
                </a:ext>
              </a:extLst>
            </p:cNvPr>
            <p:cNvSpPr txBox="1">
              <a:spLocks noChangeArrowheads="1"/>
            </p:cNvSpPr>
            <p:nvPr/>
          </p:nvSpPr>
          <p:spPr bwMode="auto">
            <a:xfrm>
              <a:off x="3101" y="3368"/>
              <a:ext cx="249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1800" b="1">
                  <a:solidFill>
                    <a:srgbClr val="FF0000"/>
                  </a:solidFill>
                  <a:latin typeface="Courier New" panose="02070309020205020404" pitchFamily="49" charset="0"/>
                </a:rPr>
                <a:t>rdt_rcv():</a:t>
              </a:r>
              <a:r>
                <a:rPr lang="en-US" altLang="en-US" sz="1800">
                  <a:latin typeface="Times New Roman" panose="02020603050405020304" pitchFamily="18" charset="0"/>
                </a:rPr>
                <a:t> </a:t>
              </a:r>
              <a:r>
                <a:rPr lang="en-US" altLang="en-US" sz="1800">
                  <a:latin typeface="Tahoma" panose="020B0604030504040204" pitchFamily="34" charset="0"/>
                </a:rPr>
                <a:t>called when packet arrives on rcv-side of channel</a:t>
              </a:r>
              <a:endParaRPr lang="en-US" altLang="en-US" sz="2400">
                <a:latin typeface="Tahoma" panose="020B0604030504040204" pitchFamily="34" charset="0"/>
              </a:endParaRPr>
            </a:p>
          </p:txBody>
        </p:sp>
        <p:grpSp>
          <p:nvGrpSpPr>
            <p:cNvPr id="28690" name="Group 18">
              <a:extLst>
                <a:ext uri="{FF2B5EF4-FFF2-40B4-BE49-F238E27FC236}">
                  <a16:creationId xmlns:a16="http://schemas.microsoft.com/office/drawing/2014/main" xmlns="" id="{9413DA75-6E2B-47B7-9BCA-4BEA6745D03D}"/>
                </a:ext>
              </a:extLst>
            </p:cNvPr>
            <p:cNvGrpSpPr>
              <a:grpSpLocks/>
            </p:cNvGrpSpPr>
            <p:nvPr/>
          </p:nvGrpSpPr>
          <p:grpSpPr bwMode="auto">
            <a:xfrm>
              <a:off x="3162" y="2748"/>
              <a:ext cx="2370" cy="1038"/>
              <a:chOff x="3162" y="2748"/>
              <a:chExt cx="2370" cy="1038"/>
            </a:xfrm>
          </p:grpSpPr>
          <p:sp>
            <p:nvSpPr>
              <p:cNvPr id="28691" name="Line 19">
                <a:extLst>
                  <a:ext uri="{FF2B5EF4-FFF2-40B4-BE49-F238E27FC236}">
                    <a16:creationId xmlns:a16="http://schemas.microsoft.com/office/drawing/2014/main" xmlns="" id="{B50F09DA-C7C4-4A52-8322-69C7F71FC992}"/>
                  </a:ext>
                </a:extLst>
              </p:cNvPr>
              <p:cNvSpPr>
                <a:spLocks noChangeShapeType="1"/>
              </p:cNvSpPr>
              <p:nvPr/>
            </p:nvSpPr>
            <p:spPr bwMode="auto">
              <a:xfrm flipH="1" flipV="1">
                <a:off x="4596" y="2748"/>
                <a:ext cx="300" cy="63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28692" name="Rectangle 20">
                <a:extLst>
                  <a:ext uri="{FF2B5EF4-FFF2-40B4-BE49-F238E27FC236}">
                    <a16:creationId xmlns:a16="http://schemas.microsoft.com/office/drawing/2014/main" xmlns="" id="{96721E2F-68F6-478C-9514-FF118B5793A3}"/>
                  </a:ext>
                </a:extLst>
              </p:cNvPr>
              <p:cNvSpPr>
                <a:spLocks noChangeArrowheads="1"/>
              </p:cNvSpPr>
              <p:nvPr/>
            </p:nvSpPr>
            <p:spPr bwMode="auto">
              <a:xfrm>
                <a:off x="3162" y="3390"/>
                <a:ext cx="2370" cy="39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en-US" altLang="en-US" sz="1600">
                  <a:latin typeface="Tahoma" panose="020B0604030504040204" pitchFamily="34" charset="0"/>
                </a:endParaRPr>
              </a:p>
            </p:txBody>
          </p:sp>
        </p:grpSp>
      </p:grpSp>
      <p:grpSp>
        <p:nvGrpSpPr>
          <p:cNvPr id="283669" name="Group 21">
            <a:extLst>
              <a:ext uri="{FF2B5EF4-FFF2-40B4-BE49-F238E27FC236}">
                <a16:creationId xmlns:a16="http://schemas.microsoft.com/office/drawing/2014/main" xmlns="" id="{2084C97E-F0B5-4018-BAA9-1AE3F0E485D3}"/>
              </a:ext>
            </a:extLst>
          </p:cNvPr>
          <p:cNvGrpSpPr>
            <a:grpSpLocks/>
          </p:cNvGrpSpPr>
          <p:nvPr/>
        </p:nvGrpSpPr>
        <p:grpSpPr bwMode="auto">
          <a:xfrm>
            <a:off x="6505576" y="1470026"/>
            <a:ext cx="3762375" cy="1349375"/>
            <a:chOff x="3138" y="926"/>
            <a:chExt cx="2370" cy="850"/>
          </a:xfrm>
        </p:grpSpPr>
        <p:sp>
          <p:nvSpPr>
            <p:cNvPr id="28685" name="Text Box 22">
              <a:extLst>
                <a:ext uri="{FF2B5EF4-FFF2-40B4-BE49-F238E27FC236}">
                  <a16:creationId xmlns:a16="http://schemas.microsoft.com/office/drawing/2014/main" xmlns="" id="{084ABB72-E9D5-4D1F-B7C2-28372BD93BBE}"/>
                </a:ext>
              </a:extLst>
            </p:cNvPr>
            <p:cNvSpPr txBox="1">
              <a:spLocks noChangeArrowheads="1"/>
            </p:cNvSpPr>
            <p:nvPr/>
          </p:nvSpPr>
          <p:spPr bwMode="auto">
            <a:xfrm>
              <a:off x="3215" y="926"/>
              <a:ext cx="207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en-US" sz="1800" b="1">
                  <a:solidFill>
                    <a:srgbClr val="FF0000"/>
                  </a:solidFill>
                  <a:latin typeface="Courier New" panose="02070309020205020404" pitchFamily="49" charset="0"/>
                </a:rPr>
                <a:t>deliver_data():</a:t>
              </a:r>
              <a:r>
                <a:rPr lang="en-US" altLang="en-US" sz="1800">
                  <a:latin typeface="Times New Roman" panose="02020603050405020304" pitchFamily="18" charset="0"/>
                </a:rPr>
                <a:t> </a:t>
              </a:r>
              <a:r>
                <a:rPr lang="en-US" altLang="en-US" sz="1800">
                  <a:latin typeface="Tahoma" panose="020B0604030504040204" pitchFamily="34" charset="0"/>
                </a:rPr>
                <a:t>called by </a:t>
              </a:r>
              <a:r>
                <a:rPr lang="en-US" altLang="en-US" sz="1800" b="1">
                  <a:latin typeface="Tahoma" panose="020B0604030504040204" pitchFamily="34" charset="0"/>
                </a:rPr>
                <a:t>rdt</a:t>
              </a:r>
              <a:r>
                <a:rPr lang="en-US" altLang="en-US" sz="1800">
                  <a:latin typeface="Tahoma" panose="020B0604030504040204" pitchFamily="34" charset="0"/>
                </a:rPr>
                <a:t> to deliver data to upper</a:t>
              </a:r>
              <a:endParaRPr lang="en-US" altLang="en-US" sz="2400">
                <a:latin typeface="Tahoma" panose="020B0604030504040204" pitchFamily="34" charset="0"/>
              </a:endParaRPr>
            </a:p>
          </p:txBody>
        </p:sp>
        <p:grpSp>
          <p:nvGrpSpPr>
            <p:cNvPr id="28686" name="Group 23">
              <a:extLst>
                <a:ext uri="{FF2B5EF4-FFF2-40B4-BE49-F238E27FC236}">
                  <a16:creationId xmlns:a16="http://schemas.microsoft.com/office/drawing/2014/main" xmlns="" id="{6BB372AA-2E66-4F7D-8D10-C7EC79ADDF37}"/>
                </a:ext>
              </a:extLst>
            </p:cNvPr>
            <p:cNvGrpSpPr>
              <a:grpSpLocks/>
            </p:cNvGrpSpPr>
            <p:nvPr/>
          </p:nvGrpSpPr>
          <p:grpSpPr bwMode="auto">
            <a:xfrm>
              <a:off x="3138" y="942"/>
              <a:ext cx="2370" cy="834"/>
              <a:chOff x="3138" y="942"/>
              <a:chExt cx="2370" cy="834"/>
            </a:xfrm>
          </p:grpSpPr>
          <p:sp>
            <p:nvSpPr>
              <p:cNvPr id="28687" name="Line 24">
                <a:extLst>
                  <a:ext uri="{FF2B5EF4-FFF2-40B4-BE49-F238E27FC236}">
                    <a16:creationId xmlns:a16="http://schemas.microsoft.com/office/drawing/2014/main" xmlns="" id="{BEDB85A4-C9FB-4529-AAC3-5C19F3A150C7}"/>
                  </a:ext>
                </a:extLst>
              </p:cNvPr>
              <p:cNvSpPr>
                <a:spLocks noChangeShapeType="1"/>
              </p:cNvSpPr>
              <p:nvPr/>
            </p:nvSpPr>
            <p:spPr bwMode="auto">
              <a:xfrm flipH="1">
                <a:off x="4560" y="1344"/>
                <a:ext cx="150" cy="43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28688" name="Rectangle 25">
                <a:extLst>
                  <a:ext uri="{FF2B5EF4-FFF2-40B4-BE49-F238E27FC236}">
                    <a16:creationId xmlns:a16="http://schemas.microsoft.com/office/drawing/2014/main" xmlns="" id="{A7E3E60B-556B-4E5E-B8C2-2B8E547FC744}"/>
                  </a:ext>
                </a:extLst>
              </p:cNvPr>
              <p:cNvSpPr>
                <a:spLocks noChangeArrowheads="1"/>
              </p:cNvSpPr>
              <p:nvPr/>
            </p:nvSpPr>
            <p:spPr bwMode="auto">
              <a:xfrm>
                <a:off x="3138" y="942"/>
                <a:ext cx="2370" cy="39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en-US" altLang="en-US" sz="1600">
                  <a:latin typeface="Tahoma" panose="020B0604030504040204" pitchFamily="34" charset="0"/>
                </a:endParaRPr>
              </a:p>
            </p:txBody>
          </p:sp>
        </p:grpSp>
      </p:grpSp>
      <p:sp>
        <p:nvSpPr>
          <p:cNvPr id="2" name="Footer Placeholder 1">
            <a:extLst>
              <a:ext uri="{FF2B5EF4-FFF2-40B4-BE49-F238E27FC236}">
                <a16:creationId xmlns:a16="http://schemas.microsoft.com/office/drawing/2014/main" xmlns="" id="{6A4C3FDF-CAD8-CF6A-93DE-9C9FFBBEBFE2}"/>
              </a:ext>
            </a:extLst>
          </p:cNvPr>
          <p:cNvSpPr>
            <a:spLocks noGrp="1"/>
          </p:cNvSpPr>
          <p:nvPr>
            <p:ph type="ftr" sz="quarter" idx="11"/>
          </p:nvPr>
        </p:nvSpPr>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3654"/>
                                        </p:tgtEl>
                                        <p:attrNameLst>
                                          <p:attrName>style.visibility</p:attrName>
                                        </p:attrNameLst>
                                      </p:cBhvr>
                                      <p:to>
                                        <p:strVal val="visible"/>
                                      </p:to>
                                    </p:set>
                                    <p:anim calcmode="lin" valueType="num">
                                      <p:cBhvr additive="base">
                                        <p:cTn id="7" dur="500" fill="hold"/>
                                        <p:tgtEl>
                                          <p:spTgt spid="283654"/>
                                        </p:tgtEl>
                                        <p:attrNameLst>
                                          <p:attrName>ppt_x</p:attrName>
                                        </p:attrNameLst>
                                      </p:cBhvr>
                                      <p:tavLst>
                                        <p:tav tm="0">
                                          <p:val>
                                            <p:strVal val="0-#ppt_w/2"/>
                                          </p:val>
                                        </p:tav>
                                        <p:tav tm="100000">
                                          <p:val>
                                            <p:strVal val="#ppt_x"/>
                                          </p:val>
                                        </p:tav>
                                      </p:tavLst>
                                    </p:anim>
                                    <p:anim calcmode="lin" valueType="num">
                                      <p:cBhvr additive="base">
                                        <p:cTn id="8" dur="500" fill="hold"/>
                                        <p:tgtEl>
                                          <p:spTgt spid="2836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3659"/>
                                        </p:tgtEl>
                                        <p:attrNameLst>
                                          <p:attrName>style.visibility</p:attrName>
                                        </p:attrNameLst>
                                      </p:cBhvr>
                                      <p:to>
                                        <p:strVal val="visible"/>
                                      </p:to>
                                    </p:set>
                                    <p:anim calcmode="lin" valueType="num">
                                      <p:cBhvr additive="base">
                                        <p:cTn id="13" dur="500" fill="hold"/>
                                        <p:tgtEl>
                                          <p:spTgt spid="283659"/>
                                        </p:tgtEl>
                                        <p:attrNameLst>
                                          <p:attrName>ppt_x</p:attrName>
                                        </p:attrNameLst>
                                      </p:cBhvr>
                                      <p:tavLst>
                                        <p:tav tm="0">
                                          <p:val>
                                            <p:strVal val="0-#ppt_w/2"/>
                                          </p:val>
                                        </p:tav>
                                        <p:tav tm="100000">
                                          <p:val>
                                            <p:strVal val="#ppt_x"/>
                                          </p:val>
                                        </p:tav>
                                      </p:tavLst>
                                    </p:anim>
                                    <p:anim calcmode="lin" valueType="num">
                                      <p:cBhvr additive="base">
                                        <p:cTn id="14" dur="500" fill="hold"/>
                                        <p:tgtEl>
                                          <p:spTgt spid="2836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83664"/>
                                        </p:tgtEl>
                                        <p:attrNameLst>
                                          <p:attrName>style.visibility</p:attrName>
                                        </p:attrNameLst>
                                      </p:cBhvr>
                                      <p:to>
                                        <p:strVal val="visible"/>
                                      </p:to>
                                    </p:set>
                                    <p:anim calcmode="lin" valueType="num">
                                      <p:cBhvr additive="base">
                                        <p:cTn id="19" dur="500" fill="hold"/>
                                        <p:tgtEl>
                                          <p:spTgt spid="283664"/>
                                        </p:tgtEl>
                                        <p:attrNameLst>
                                          <p:attrName>ppt_x</p:attrName>
                                        </p:attrNameLst>
                                      </p:cBhvr>
                                      <p:tavLst>
                                        <p:tav tm="0">
                                          <p:val>
                                            <p:strVal val="1+#ppt_w/2"/>
                                          </p:val>
                                        </p:tav>
                                        <p:tav tm="100000">
                                          <p:val>
                                            <p:strVal val="#ppt_x"/>
                                          </p:val>
                                        </p:tav>
                                      </p:tavLst>
                                    </p:anim>
                                    <p:anim calcmode="lin" valueType="num">
                                      <p:cBhvr additive="base">
                                        <p:cTn id="20" dur="500" fill="hold"/>
                                        <p:tgtEl>
                                          <p:spTgt spid="28366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283669"/>
                                        </p:tgtEl>
                                        <p:attrNameLst>
                                          <p:attrName>style.visibility</p:attrName>
                                        </p:attrNameLst>
                                      </p:cBhvr>
                                      <p:to>
                                        <p:strVal val="visible"/>
                                      </p:to>
                                    </p:set>
                                    <p:anim calcmode="lin" valueType="num">
                                      <p:cBhvr additive="base">
                                        <p:cTn id="25" dur="500" fill="hold"/>
                                        <p:tgtEl>
                                          <p:spTgt spid="283669"/>
                                        </p:tgtEl>
                                        <p:attrNameLst>
                                          <p:attrName>ppt_x</p:attrName>
                                        </p:attrNameLst>
                                      </p:cBhvr>
                                      <p:tavLst>
                                        <p:tav tm="0">
                                          <p:val>
                                            <p:strVal val="1+#ppt_w/2"/>
                                          </p:val>
                                        </p:tav>
                                        <p:tav tm="100000">
                                          <p:val>
                                            <p:strVal val="#ppt_x"/>
                                          </p:val>
                                        </p:tav>
                                      </p:tavLst>
                                    </p:anim>
                                    <p:anim calcmode="lin" valueType="num">
                                      <p:cBhvr additive="base">
                                        <p:cTn id="26" dur="500" fill="hold"/>
                                        <p:tgtEl>
                                          <p:spTgt spid="2836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solidFill>
                  <a:srgbClr val="FF0000"/>
                </a:solidFill>
              </a:rPr>
              <a:t>We’ll:</a:t>
            </a:r>
            <a:endParaRPr lang="en-US" altLang="en-US" dirty="0"/>
          </a:p>
          <a:p>
            <a:r>
              <a:rPr lang="en-US" altLang="en-US" dirty="0"/>
              <a:t>incrementally develop sender, receiver sides of reliable data transfer protocol (</a:t>
            </a:r>
            <a:r>
              <a:rPr lang="en-US" altLang="en-US" dirty="0" err="1"/>
              <a:t>rdt</a:t>
            </a:r>
            <a:r>
              <a:rPr lang="en-US" altLang="en-US" dirty="0"/>
              <a:t>)</a:t>
            </a:r>
          </a:p>
          <a:p>
            <a:r>
              <a:rPr lang="en-US" altLang="en-US" dirty="0"/>
              <a:t>consider only unidirectional data transfer</a:t>
            </a:r>
          </a:p>
          <a:p>
            <a:pPr lvl="1"/>
            <a:r>
              <a:rPr lang="en-US" altLang="en-US" sz="2000" dirty="0"/>
              <a:t>but control info will flow on both directions!</a:t>
            </a:r>
          </a:p>
          <a:p>
            <a:r>
              <a:rPr lang="en-US" altLang="en-US" dirty="0"/>
              <a:t>use finite state machines (FSM)  to specify sender, receiver</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Reliable Data Transfer: FSMs</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376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rdt3.0 sender</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a:spLocks noChangeArrowheads="1"/>
          </p:cNvSpPr>
          <p:nvPr/>
        </p:nvSpPr>
        <p:spPr bwMode="auto">
          <a:xfrm>
            <a:off x="4641187" y="1712096"/>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sndpkt = make_pkt(0, data, checksum)</a:t>
            </a:r>
          </a:p>
          <a:p>
            <a:pPr>
              <a:spcBef>
                <a:spcPct val="0"/>
              </a:spcBef>
              <a:buClrTx/>
              <a:buSzTx/>
              <a:buFontTx/>
              <a:buNone/>
            </a:pPr>
            <a:r>
              <a:rPr lang="en-US" altLang="en-US" sz="1400">
                <a:latin typeface="Arial" panose="020B0604020202020204" pitchFamily="34" charset="0"/>
              </a:rPr>
              <a:t>udt_send(sndpkt)</a:t>
            </a:r>
          </a:p>
          <a:p>
            <a:pPr>
              <a:spcBef>
                <a:spcPct val="0"/>
              </a:spcBef>
              <a:buClrTx/>
              <a:buSzTx/>
              <a:buFontTx/>
              <a:buNone/>
            </a:pPr>
            <a:r>
              <a:rPr lang="en-US" altLang="en-US" sz="1400">
                <a:latin typeface="Arial" panose="020B0604020202020204" pitchFamily="34" charset="0"/>
              </a:rPr>
              <a:t>start_timer</a:t>
            </a:r>
            <a:endParaRPr lang="en-US" altLang="en-US" sz="1400">
              <a:latin typeface="Times New Roman" panose="02020603050405020304" pitchFamily="18" charset="0"/>
            </a:endParaRPr>
          </a:p>
        </p:txBody>
      </p:sp>
      <p:sp>
        <p:nvSpPr>
          <p:cNvPr id="5" name="Line 5"/>
          <p:cNvSpPr>
            <a:spLocks noChangeShapeType="1"/>
          </p:cNvSpPr>
          <p:nvPr/>
        </p:nvSpPr>
        <p:spPr bwMode="auto">
          <a:xfrm>
            <a:off x="4784062" y="175654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 name="Line 6"/>
          <p:cNvSpPr>
            <a:spLocks noChangeShapeType="1"/>
          </p:cNvSpPr>
          <p:nvPr/>
        </p:nvSpPr>
        <p:spPr bwMode="auto">
          <a:xfrm>
            <a:off x="4371312" y="1872434"/>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nvGrpSpPr>
          <p:cNvPr id="7" name="Group 7"/>
          <p:cNvGrpSpPr>
            <a:grpSpLocks/>
          </p:cNvGrpSpPr>
          <p:nvPr/>
        </p:nvGrpSpPr>
        <p:grpSpPr bwMode="auto">
          <a:xfrm>
            <a:off x="6982750" y="2418534"/>
            <a:ext cx="889000" cy="865187"/>
            <a:chOff x="445" y="1273"/>
            <a:chExt cx="560" cy="545"/>
          </a:xfrm>
        </p:grpSpPr>
        <p:sp>
          <p:nvSpPr>
            <p:cNvPr id="8" name="Oval 8"/>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9" name="Text Box 9"/>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latin typeface="Arial" panose="020B0604020202020204" pitchFamily="34" charset="0"/>
                </a:rPr>
                <a:t>Wait for ACK0</a:t>
              </a:r>
              <a:endParaRPr lang="en-US" altLang="en-US" sz="1400">
                <a:latin typeface="Times New Roman" panose="02020603050405020304" pitchFamily="18" charset="0"/>
              </a:endParaRPr>
            </a:p>
          </p:txBody>
        </p:sp>
      </p:grpSp>
      <p:sp>
        <p:nvSpPr>
          <p:cNvPr id="10" name="Freeform 10"/>
          <p:cNvSpPr>
            <a:spLocks/>
          </p:cNvSpPr>
          <p:nvPr/>
        </p:nvSpPr>
        <p:spPr bwMode="auto">
          <a:xfrm flipV="1">
            <a:off x="5006312" y="2399484"/>
            <a:ext cx="2090738" cy="163512"/>
          </a:xfrm>
          <a:custGeom>
            <a:avLst/>
            <a:gdLst>
              <a:gd name="T0" fmla="*/ 0 w 2835"/>
              <a:gd name="T1" fmla="*/ 0 h 525"/>
              <a:gd name="T2" fmla="*/ 1541864333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 name="Freeform 11"/>
          <p:cNvSpPr>
            <a:spLocks/>
          </p:cNvSpPr>
          <p:nvPr/>
        </p:nvSpPr>
        <p:spPr bwMode="auto">
          <a:xfrm>
            <a:off x="7690775" y="2002609"/>
            <a:ext cx="871537" cy="666750"/>
          </a:xfrm>
          <a:custGeom>
            <a:avLst/>
            <a:gdLst>
              <a:gd name="T0" fmla="*/ 0 w 549"/>
              <a:gd name="T1" fmla="*/ 771167813 h 420"/>
              <a:gd name="T2" fmla="*/ 219252674 w 549"/>
              <a:gd name="T3" fmla="*/ 1058465625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2" name="Text Box 12"/>
          <p:cNvSpPr txBox="1">
            <a:spLocks noChangeArrowheads="1"/>
          </p:cNvSpPr>
          <p:nvPr/>
        </p:nvSpPr>
        <p:spPr bwMode="auto">
          <a:xfrm>
            <a:off x="8103525" y="1524771"/>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 &amp;&amp;  </a:t>
            </a:r>
          </a:p>
          <a:p>
            <a:pPr>
              <a:spcBef>
                <a:spcPct val="0"/>
              </a:spcBef>
              <a:buClrTx/>
              <a:buSzTx/>
              <a:buFontTx/>
              <a:buNone/>
            </a:pPr>
            <a:r>
              <a:rPr lang="en-US" altLang="en-US" sz="1400">
                <a:latin typeface="Arial" panose="020B0604020202020204" pitchFamily="34" charset="0"/>
              </a:rPr>
              <a:t>( corrupt(rcvpkt) ||</a:t>
            </a:r>
          </a:p>
          <a:p>
            <a:pPr>
              <a:spcBef>
                <a:spcPct val="0"/>
              </a:spcBef>
              <a:buClrTx/>
              <a:buSzTx/>
              <a:buFontTx/>
              <a:buNone/>
            </a:pPr>
            <a:r>
              <a:rPr lang="en-US" altLang="en-US" sz="1400">
                <a:latin typeface="Arial" panose="020B0604020202020204" pitchFamily="34" charset="0"/>
              </a:rPr>
              <a:t>isACK(rcvpkt,1) )</a:t>
            </a:r>
            <a:endParaRPr lang="en-US" altLang="en-US" sz="1400">
              <a:latin typeface="Times New Roman" panose="02020603050405020304" pitchFamily="18" charset="0"/>
            </a:endParaRPr>
          </a:p>
        </p:txBody>
      </p:sp>
      <p:sp>
        <p:nvSpPr>
          <p:cNvPr id="13" name="Line 13"/>
          <p:cNvSpPr>
            <a:spLocks noChangeShapeType="1"/>
          </p:cNvSpPr>
          <p:nvPr/>
        </p:nvSpPr>
        <p:spPr bwMode="auto">
          <a:xfrm>
            <a:off x="8313075" y="2226446"/>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4" name="Group 14"/>
          <p:cNvGrpSpPr>
            <a:grpSpLocks/>
          </p:cNvGrpSpPr>
          <p:nvPr/>
        </p:nvGrpSpPr>
        <p:grpSpPr bwMode="auto">
          <a:xfrm>
            <a:off x="7074825" y="4333059"/>
            <a:ext cx="1189037" cy="850900"/>
            <a:chOff x="4090" y="3230"/>
            <a:chExt cx="749" cy="536"/>
          </a:xfrm>
        </p:grpSpPr>
        <p:sp>
          <p:nvSpPr>
            <p:cNvPr id="15" name="Oval 15"/>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6" name="Text Box 16"/>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latin typeface="Arial" panose="020B0604020202020204" pitchFamily="34" charset="0"/>
                </a:rPr>
                <a:t>Wait for </a:t>
              </a:r>
            </a:p>
            <a:p>
              <a:pPr algn="ctr">
                <a:spcBef>
                  <a:spcPct val="0"/>
                </a:spcBef>
                <a:buClrTx/>
                <a:buSzTx/>
                <a:buFontTx/>
                <a:buNone/>
              </a:pPr>
              <a:r>
                <a:rPr lang="en-US" altLang="en-US" sz="1400">
                  <a:latin typeface="Arial" panose="020B0604020202020204" pitchFamily="34" charset="0"/>
                </a:rPr>
                <a:t>call 1 from above</a:t>
              </a:r>
              <a:endParaRPr lang="en-US" altLang="en-US" sz="1400">
                <a:latin typeface="Times New Roman" panose="02020603050405020304" pitchFamily="18" charset="0"/>
              </a:endParaRPr>
            </a:p>
          </p:txBody>
        </p:sp>
      </p:grpSp>
      <p:sp>
        <p:nvSpPr>
          <p:cNvPr id="17" name="Freeform 17"/>
          <p:cNvSpPr>
            <a:spLocks/>
          </p:cNvSpPr>
          <p:nvPr/>
        </p:nvSpPr>
        <p:spPr bwMode="auto">
          <a:xfrm rot="16200000" flipV="1">
            <a:off x="3762506" y="3730602"/>
            <a:ext cx="1254125" cy="150813"/>
          </a:xfrm>
          <a:custGeom>
            <a:avLst/>
            <a:gdLst>
              <a:gd name="T0" fmla="*/ 0 w 2835"/>
              <a:gd name="T1" fmla="*/ 0 h 525"/>
              <a:gd name="T2" fmla="*/ 554789953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8" name="Freeform 18"/>
          <p:cNvSpPr>
            <a:spLocks/>
          </p:cNvSpPr>
          <p:nvPr/>
        </p:nvSpPr>
        <p:spPr bwMode="auto">
          <a:xfrm>
            <a:off x="4992025" y="5066484"/>
            <a:ext cx="2312987" cy="274637"/>
          </a:xfrm>
          <a:custGeom>
            <a:avLst/>
            <a:gdLst>
              <a:gd name="T0" fmla="*/ 0 w 2835"/>
              <a:gd name="T1" fmla="*/ 0 h 525"/>
              <a:gd name="T2" fmla="*/ 1887093073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9" name="Freeform 19"/>
          <p:cNvSpPr>
            <a:spLocks/>
          </p:cNvSpPr>
          <p:nvPr/>
        </p:nvSpPr>
        <p:spPr bwMode="auto">
          <a:xfrm rot="5400000" flipH="1" flipV="1">
            <a:off x="7232781" y="3655990"/>
            <a:ext cx="1184275" cy="166687"/>
          </a:xfrm>
          <a:custGeom>
            <a:avLst/>
            <a:gdLst>
              <a:gd name="T0" fmla="*/ 0 w 2835"/>
              <a:gd name="T1" fmla="*/ 0 h 525"/>
              <a:gd name="T2" fmla="*/ 494711561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0" name="Text Box 20"/>
          <p:cNvSpPr txBox="1">
            <a:spLocks noChangeArrowheads="1"/>
          </p:cNvSpPr>
          <p:nvPr/>
        </p:nvSpPr>
        <p:spPr bwMode="auto">
          <a:xfrm>
            <a:off x="4938050" y="5552259"/>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sndpkt = make_pkt(1, data, checksum)</a:t>
            </a:r>
          </a:p>
          <a:p>
            <a:pPr>
              <a:spcBef>
                <a:spcPct val="0"/>
              </a:spcBef>
              <a:buClrTx/>
              <a:buSzTx/>
              <a:buFontTx/>
              <a:buNone/>
            </a:pPr>
            <a:r>
              <a:rPr lang="en-US" altLang="en-US" sz="1400">
                <a:latin typeface="Arial" panose="020B0604020202020204" pitchFamily="34" charset="0"/>
              </a:rPr>
              <a:t>udt_send(sndpkt)</a:t>
            </a:r>
          </a:p>
          <a:p>
            <a:pPr>
              <a:spcBef>
                <a:spcPct val="0"/>
              </a:spcBef>
              <a:buClrTx/>
              <a:buSzTx/>
              <a:buFontTx/>
              <a:buNone/>
            </a:pPr>
            <a:r>
              <a:rPr lang="en-US" altLang="en-US" sz="1400">
                <a:latin typeface="Arial" panose="020B0604020202020204" pitchFamily="34" charset="0"/>
              </a:rPr>
              <a:t>start_timer</a:t>
            </a:r>
            <a:endParaRPr lang="en-US" altLang="en-US" sz="1400">
              <a:latin typeface="Times New Roman" panose="02020603050405020304" pitchFamily="18" charset="0"/>
            </a:endParaRPr>
          </a:p>
        </p:txBody>
      </p:sp>
      <p:sp>
        <p:nvSpPr>
          <p:cNvPr id="21" name="Text Box 21"/>
          <p:cNvSpPr txBox="1">
            <a:spLocks noChangeArrowheads="1"/>
          </p:cNvSpPr>
          <p:nvPr/>
        </p:nvSpPr>
        <p:spPr bwMode="auto">
          <a:xfrm>
            <a:off x="4938050" y="5269684"/>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rdt_send(data)</a:t>
            </a:r>
            <a:endParaRPr lang="en-US" altLang="en-US" sz="1400">
              <a:latin typeface="Times New Roman" panose="02020603050405020304" pitchFamily="18" charset="0"/>
            </a:endParaRPr>
          </a:p>
        </p:txBody>
      </p:sp>
      <p:sp>
        <p:nvSpPr>
          <p:cNvPr id="22" name="Line 22"/>
          <p:cNvSpPr>
            <a:spLocks noChangeShapeType="1"/>
          </p:cNvSpPr>
          <p:nvPr/>
        </p:nvSpPr>
        <p:spPr bwMode="auto">
          <a:xfrm>
            <a:off x="5057112" y="5580834"/>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3" name="Text Box 23"/>
          <p:cNvSpPr txBox="1">
            <a:spLocks noChangeArrowheads="1"/>
          </p:cNvSpPr>
          <p:nvPr/>
        </p:nvSpPr>
        <p:spPr bwMode="auto">
          <a:xfrm>
            <a:off x="7901912" y="3434534"/>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   </a:t>
            </a:r>
          </a:p>
          <a:p>
            <a:pPr>
              <a:spcBef>
                <a:spcPct val="0"/>
              </a:spcBef>
              <a:buClrTx/>
              <a:buSzTx/>
              <a:buFontTx/>
              <a:buNone/>
            </a:pPr>
            <a:r>
              <a:rPr lang="en-US" altLang="en-US" sz="1400">
                <a:latin typeface="Arial" panose="020B0604020202020204" pitchFamily="34" charset="0"/>
              </a:rPr>
              <a:t>&amp;&amp; notcorrupt(rcvpkt) </a:t>
            </a:r>
          </a:p>
          <a:p>
            <a:pPr>
              <a:spcBef>
                <a:spcPct val="0"/>
              </a:spcBef>
              <a:buClrTx/>
              <a:buSzTx/>
              <a:buFontTx/>
              <a:buNone/>
            </a:pPr>
            <a:r>
              <a:rPr lang="en-US" altLang="en-US" sz="1400">
                <a:latin typeface="Arial" panose="020B0604020202020204" pitchFamily="34" charset="0"/>
              </a:rPr>
              <a:t>&amp;&amp; isACK(rcvpkt,0)</a:t>
            </a:r>
            <a:r>
              <a:rPr lang="en-US" altLang="en-US" sz="1000">
                <a:latin typeface="Arial" panose="020B0604020202020204" pitchFamily="34" charset="0"/>
              </a:rPr>
              <a:t> </a:t>
            </a:r>
            <a:endParaRPr lang="en-US" altLang="en-US" sz="2400">
              <a:latin typeface="Times New Roman" panose="02020603050405020304" pitchFamily="18" charset="0"/>
            </a:endParaRPr>
          </a:p>
        </p:txBody>
      </p:sp>
      <p:sp>
        <p:nvSpPr>
          <p:cNvPr id="24" name="Line 24"/>
          <p:cNvSpPr>
            <a:spLocks noChangeShapeType="1"/>
          </p:cNvSpPr>
          <p:nvPr/>
        </p:nvSpPr>
        <p:spPr bwMode="auto">
          <a:xfrm>
            <a:off x="8017800" y="4145734"/>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Text Box 25"/>
          <p:cNvSpPr txBox="1">
            <a:spLocks noChangeArrowheads="1"/>
          </p:cNvSpPr>
          <p:nvPr/>
        </p:nvSpPr>
        <p:spPr bwMode="auto">
          <a:xfrm>
            <a:off x="2912400" y="5390334"/>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 &amp;&amp;  </a:t>
            </a:r>
          </a:p>
          <a:p>
            <a:pPr>
              <a:spcBef>
                <a:spcPct val="0"/>
              </a:spcBef>
              <a:buClrTx/>
              <a:buSzTx/>
              <a:buFontTx/>
              <a:buNone/>
            </a:pPr>
            <a:r>
              <a:rPr lang="en-US" altLang="en-US" sz="1400">
                <a:latin typeface="Arial" panose="020B0604020202020204" pitchFamily="34" charset="0"/>
              </a:rPr>
              <a:t>( corrupt(rcvpkt) ||</a:t>
            </a:r>
          </a:p>
          <a:p>
            <a:pPr>
              <a:spcBef>
                <a:spcPct val="0"/>
              </a:spcBef>
              <a:buClrTx/>
              <a:buSzTx/>
              <a:buFontTx/>
              <a:buNone/>
            </a:pPr>
            <a:r>
              <a:rPr lang="en-US" altLang="en-US" sz="1400">
                <a:latin typeface="Arial" panose="020B0604020202020204" pitchFamily="34" charset="0"/>
              </a:rPr>
              <a:t>isACK(rcvpkt,0) )</a:t>
            </a:r>
            <a:endParaRPr lang="en-US" altLang="en-US" sz="1400">
              <a:latin typeface="Times New Roman" panose="02020603050405020304" pitchFamily="18" charset="0"/>
            </a:endParaRPr>
          </a:p>
        </p:txBody>
      </p:sp>
      <p:sp>
        <p:nvSpPr>
          <p:cNvPr id="26" name="Line 26"/>
          <p:cNvSpPr>
            <a:spLocks noChangeShapeType="1"/>
          </p:cNvSpPr>
          <p:nvPr/>
        </p:nvSpPr>
        <p:spPr bwMode="auto">
          <a:xfrm>
            <a:off x="3015587" y="6115821"/>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7" name="Text Box 27"/>
          <p:cNvSpPr txBox="1">
            <a:spLocks noChangeArrowheads="1"/>
          </p:cNvSpPr>
          <p:nvPr/>
        </p:nvSpPr>
        <p:spPr bwMode="auto">
          <a:xfrm>
            <a:off x="2529812" y="3193234"/>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   </a:t>
            </a:r>
          </a:p>
          <a:p>
            <a:pPr>
              <a:spcBef>
                <a:spcPct val="0"/>
              </a:spcBef>
              <a:buClrTx/>
              <a:buSzTx/>
              <a:buFontTx/>
              <a:buNone/>
            </a:pPr>
            <a:r>
              <a:rPr lang="en-US" altLang="en-US" sz="1400">
                <a:latin typeface="Arial" panose="020B0604020202020204" pitchFamily="34" charset="0"/>
              </a:rPr>
              <a:t>&amp;&amp; notcorrupt(rcvpkt) </a:t>
            </a:r>
          </a:p>
          <a:p>
            <a:pPr>
              <a:spcBef>
                <a:spcPct val="0"/>
              </a:spcBef>
              <a:buClrTx/>
              <a:buSzTx/>
              <a:buFontTx/>
              <a:buNone/>
            </a:pPr>
            <a:r>
              <a:rPr lang="en-US" altLang="en-US" sz="1400">
                <a:latin typeface="Arial" panose="020B0604020202020204" pitchFamily="34" charset="0"/>
              </a:rPr>
              <a:t>&amp;&amp; isACK(rcvpkt,1)</a:t>
            </a:r>
            <a:r>
              <a:rPr lang="en-US" altLang="en-US" sz="1000">
                <a:latin typeface="Arial" panose="020B0604020202020204" pitchFamily="34" charset="0"/>
              </a:rPr>
              <a:t> </a:t>
            </a:r>
            <a:endParaRPr lang="en-US" altLang="en-US" sz="2400">
              <a:latin typeface="Times New Roman" panose="02020603050405020304" pitchFamily="18" charset="0"/>
            </a:endParaRPr>
          </a:p>
        </p:txBody>
      </p:sp>
      <p:sp>
        <p:nvSpPr>
          <p:cNvPr id="28" name="Line 28"/>
          <p:cNvSpPr>
            <a:spLocks noChangeShapeType="1"/>
          </p:cNvSpPr>
          <p:nvPr/>
        </p:nvSpPr>
        <p:spPr bwMode="auto">
          <a:xfrm>
            <a:off x="2656812" y="3933009"/>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 name="Text Box 29"/>
          <p:cNvSpPr txBox="1">
            <a:spLocks noChangeArrowheads="1"/>
          </p:cNvSpPr>
          <p:nvPr/>
        </p:nvSpPr>
        <p:spPr bwMode="auto">
          <a:xfrm>
            <a:off x="7922550" y="4126684"/>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stop_timer</a:t>
            </a:r>
            <a:endParaRPr lang="en-US" altLang="en-US" sz="1400">
              <a:latin typeface="Times New Roman" panose="02020603050405020304" pitchFamily="18" charset="0"/>
            </a:endParaRPr>
          </a:p>
        </p:txBody>
      </p:sp>
      <p:sp>
        <p:nvSpPr>
          <p:cNvPr id="30" name="Text Box 30"/>
          <p:cNvSpPr txBox="1">
            <a:spLocks noChangeArrowheads="1"/>
          </p:cNvSpPr>
          <p:nvPr/>
        </p:nvSpPr>
        <p:spPr bwMode="auto">
          <a:xfrm>
            <a:off x="2521875" y="3906021"/>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stop_timer</a:t>
            </a:r>
            <a:endParaRPr lang="en-US" altLang="en-US" sz="1400">
              <a:latin typeface="Times New Roman" panose="02020603050405020304" pitchFamily="18" charset="0"/>
            </a:endParaRPr>
          </a:p>
        </p:txBody>
      </p:sp>
      <p:sp>
        <p:nvSpPr>
          <p:cNvPr id="31" name="Freeform 31"/>
          <p:cNvSpPr>
            <a:spLocks/>
          </p:cNvSpPr>
          <p:nvPr/>
        </p:nvSpPr>
        <p:spPr bwMode="auto">
          <a:xfrm>
            <a:off x="7860637" y="2666184"/>
            <a:ext cx="461963" cy="682625"/>
          </a:xfrm>
          <a:custGeom>
            <a:avLst/>
            <a:gdLst>
              <a:gd name="T0" fmla="*/ 0 w 291"/>
              <a:gd name="T1" fmla="*/ 302418750 h 430"/>
              <a:gd name="T2" fmla="*/ 37803178 w 291"/>
              <a:gd name="T3" fmla="*/ 642640638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2" name="Text Box 33"/>
          <p:cNvSpPr txBox="1">
            <a:spLocks noChangeArrowheads="1"/>
          </p:cNvSpPr>
          <p:nvPr/>
        </p:nvSpPr>
        <p:spPr bwMode="auto">
          <a:xfrm>
            <a:off x="8214650" y="2607446"/>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timeout</a:t>
            </a:r>
            <a:endParaRPr lang="en-US" altLang="en-US" sz="1400">
              <a:latin typeface="Times New Roman" panose="02020603050405020304" pitchFamily="18" charset="0"/>
            </a:endParaRPr>
          </a:p>
        </p:txBody>
      </p:sp>
      <p:sp>
        <p:nvSpPr>
          <p:cNvPr id="33" name="Line 34"/>
          <p:cNvSpPr>
            <a:spLocks noChangeShapeType="1"/>
          </p:cNvSpPr>
          <p:nvPr/>
        </p:nvSpPr>
        <p:spPr bwMode="auto">
          <a:xfrm>
            <a:off x="8303550" y="286144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Freeform 35"/>
          <p:cNvSpPr>
            <a:spLocks/>
          </p:cNvSpPr>
          <p:nvPr/>
        </p:nvSpPr>
        <p:spPr bwMode="auto">
          <a:xfrm>
            <a:off x="3852200" y="5029971"/>
            <a:ext cx="692150" cy="631825"/>
          </a:xfrm>
          <a:custGeom>
            <a:avLst/>
            <a:gdLst>
              <a:gd name="T0" fmla="*/ 1098788125 w 436"/>
              <a:gd name="T1" fmla="*/ 254536575 h 398"/>
              <a:gd name="T2" fmla="*/ 756046875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5" name="Freeform 36"/>
          <p:cNvSpPr>
            <a:spLocks/>
          </p:cNvSpPr>
          <p:nvPr/>
        </p:nvSpPr>
        <p:spPr bwMode="auto">
          <a:xfrm>
            <a:off x="3652175" y="4741046"/>
            <a:ext cx="571500" cy="420688"/>
          </a:xfrm>
          <a:custGeom>
            <a:avLst/>
            <a:gdLst>
              <a:gd name="T0" fmla="*/ 362902500 w 900"/>
              <a:gd name="T1" fmla="*/ 145380749 h 662"/>
              <a:gd name="T2" fmla="*/ 332660625 w 900"/>
              <a:gd name="T3" fmla="*/ 6057399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6" name="Text Box 37"/>
          <p:cNvSpPr txBox="1">
            <a:spLocks noChangeArrowheads="1"/>
          </p:cNvSpPr>
          <p:nvPr/>
        </p:nvSpPr>
        <p:spPr bwMode="auto">
          <a:xfrm>
            <a:off x="2250412" y="4788671"/>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udt_send(sndpkt)</a:t>
            </a:r>
          </a:p>
          <a:p>
            <a:pPr>
              <a:spcBef>
                <a:spcPct val="0"/>
              </a:spcBef>
              <a:buClrTx/>
              <a:buSzTx/>
              <a:buFontTx/>
              <a:buNone/>
            </a:pPr>
            <a:r>
              <a:rPr lang="en-US" altLang="en-US" sz="1400">
                <a:latin typeface="Arial" panose="020B0604020202020204" pitchFamily="34" charset="0"/>
              </a:rPr>
              <a:t>start_timer</a:t>
            </a:r>
            <a:endParaRPr lang="en-US" altLang="en-US" sz="1400">
              <a:latin typeface="Times New Roman" panose="02020603050405020304" pitchFamily="18" charset="0"/>
            </a:endParaRPr>
          </a:p>
        </p:txBody>
      </p:sp>
      <p:sp>
        <p:nvSpPr>
          <p:cNvPr id="37" name="Text Box 38"/>
          <p:cNvSpPr txBox="1">
            <a:spLocks noChangeArrowheads="1"/>
          </p:cNvSpPr>
          <p:nvPr/>
        </p:nvSpPr>
        <p:spPr bwMode="auto">
          <a:xfrm>
            <a:off x="2264700" y="4534671"/>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timeout</a:t>
            </a:r>
            <a:endParaRPr lang="en-US" altLang="en-US" sz="1400">
              <a:latin typeface="Times New Roman" panose="02020603050405020304" pitchFamily="18" charset="0"/>
            </a:endParaRPr>
          </a:p>
        </p:txBody>
      </p:sp>
      <p:sp>
        <p:nvSpPr>
          <p:cNvPr id="38" name="Line 39"/>
          <p:cNvSpPr>
            <a:spLocks noChangeShapeType="1"/>
          </p:cNvSpPr>
          <p:nvPr/>
        </p:nvSpPr>
        <p:spPr bwMode="auto">
          <a:xfrm>
            <a:off x="2367887" y="481724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 name="Freeform 40"/>
          <p:cNvSpPr>
            <a:spLocks/>
          </p:cNvSpPr>
          <p:nvPr/>
        </p:nvSpPr>
        <p:spPr bwMode="auto">
          <a:xfrm>
            <a:off x="8047962" y="4701359"/>
            <a:ext cx="579438" cy="890587"/>
          </a:xfrm>
          <a:custGeom>
            <a:avLst/>
            <a:gdLst>
              <a:gd name="T0" fmla="*/ 100383135 w 322"/>
              <a:gd name="T1" fmla="*/ 407981039 h 483"/>
              <a:gd name="T2" fmla="*/ 0 w 322"/>
              <a:gd name="T3" fmla="*/ 622169979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0" name="Text Box 41"/>
          <p:cNvSpPr txBox="1">
            <a:spLocks noChangeArrowheads="1"/>
          </p:cNvSpPr>
          <p:nvPr/>
        </p:nvSpPr>
        <p:spPr bwMode="auto">
          <a:xfrm>
            <a:off x="2658400" y="220263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a:t>
            </a:r>
            <a:endParaRPr lang="en-US" altLang="en-US" sz="1400">
              <a:latin typeface="Times New Roman" panose="02020603050405020304" pitchFamily="18" charset="0"/>
            </a:endParaRPr>
          </a:p>
        </p:txBody>
      </p:sp>
      <p:grpSp>
        <p:nvGrpSpPr>
          <p:cNvPr id="41" name="Group 42"/>
          <p:cNvGrpSpPr>
            <a:grpSpLocks/>
          </p:cNvGrpSpPr>
          <p:nvPr/>
        </p:nvGrpSpPr>
        <p:grpSpPr bwMode="auto">
          <a:xfrm>
            <a:off x="4041112" y="2462984"/>
            <a:ext cx="1189038" cy="850900"/>
            <a:chOff x="4090" y="3230"/>
            <a:chExt cx="749" cy="536"/>
          </a:xfrm>
        </p:grpSpPr>
        <p:sp>
          <p:nvSpPr>
            <p:cNvPr id="42" name="Oval 43"/>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3" name="Text Box 44"/>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latin typeface="Arial" panose="020B0604020202020204" pitchFamily="34" charset="0"/>
                </a:rPr>
                <a:t>Wait for </a:t>
              </a:r>
            </a:p>
            <a:p>
              <a:pPr algn="ctr">
                <a:spcBef>
                  <a:spcPct val="0"/>
                </a:spcBef>
                <a:buClrTx/>
                <a:buSzTx/>
                <a:buFontTx/>
                <a:buNone/>
              </a:pPr>
              <a:r>
                <a:rPr lang="en-US" altLang="en-US" sz="1400">
                  <a:latin typeface="Arial" panose="020B0604020202020204" pitchFamily="34" charset="0"/>
                </a:rPr>
                <a:t>call 0from above</a:t>
              </a:r>
              <a:endParaRPr lang="en-US" altLang="en-US" sz="1400">
                <a:latin typeface="Times New Roman" panose="02020603050405020304" pitchFamily="18" charset="0"/>
              </a:endParaRPr>
            </a:p>
          </p:txBody>
        </p:sp>
      </p:grpSp>
      <p:sp>
        <p:nvSpPr>
          <p:cNvPr id="44" name="Line 45"/>
          <p:cNvSpPr>
            <a:spLocks noChangeShapeType="1"/>
          </p:cNvSpPr>
          <p:nvPr/>
        </p:nvSpPr>
        <p:spPr bwMode="auto">
          <a:xfrm>
            <a:off x="2745712" y="248838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45" name="Group 46"/>
          <p:cNvGrpSpPr>
            <a:grpSpLocks/>
          </p:cNvGrpSpPr>
          <p:nvPr/>
        </p:nvGrpSpPr>
        <p:grpSpPr bwMode="auto">
          <a:xfrm>
            <a:off x="4252250" y="4317184"/>
            <a:ext cx="889000" cy="865187"/>
            <a:chOff x="445" y="1273"/>
            <a:chExt cx="560" cy="545"/>
          </a:xfrm>
        </p:grpSpPr>
        <p:sp>
          <p:nvSpPr>
            <p:cNvPr id="46" name="Oval 47"/>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7" name="Text Box 48"/>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latin typeface="Arial" panose="020B0604020202020204" pitchFamily="34" charset="0"/>
                </a:rPr>
                <a:t>Wait for ACK1</a:t>
              </a:r>
              <a:endParaRPr lang="en-US" altLang="en-US" sz="1400">
                <a:latin typeface="Times New Roman" panose="02020603050405020304" pitchFamily="18" charset="0"/>
              </a:endParaRPr>
            </a:p>
          </p:txBody>
        </p:sp>
      </p:grpSp>
      <p:sp>
        <p:nvSpPr>
          <p:cNvPr id="48" name="Freeform 49"/>
          <p:cNvSpPr>
            <a:spLocks/>
          </p:cNvSpPr>
          <p:nvPr/>
        </p:nvSpPr>
        <p:spPr bwMode="auto">
          <a:xfrm flipH="1" flipV="1">
            <a:off x="3628362" y="2110559"/>
            <a:ext cx="579438" cy="890587"/>
          </a:xfrm>
          <a:custGeom>
            <a:avLst/>
            <a:gdLst>
              <a:gd name="T0" fmla="*/ 100383135 w 322"/>
              <a:gd name="T1" fmla="*/ 407981039 h 483"/>
              <a:gd name="T2" fmla="*/ 0 w 322"/>
              <a:gd name="T3" fmla="*/ 622169979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49" name="Text Box 50"/>
          <p:cNvSpPr txBox="1">
            <a:spLocks noChangeArrowheads="1"/>
          </p:cNvSpPr>
          <p:nvPr/>
        </p:nvSpPr>
        <p:spPr bwMode="auto">
          <a:xfrm>
            <a:off x="8846475" y="5180784"/>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latin typeface="Symbol" panose="05050102010706020507" pitchFamily="18" charset="2"/>
              </a:rPr>
              <a:t>L</a:t>
            </a:r>
          </a:p>
        </p:txBody>
      </p:sp>
      <p:sp>
        <p:nvSpPr>
          <p:cNvPr id="50" name="Text Box 51"/>
          <p:cNvSpPr txBox="1">
            <a:spLocks noChangeArrowheads="1"/>
          </p:cNvSpPr>
          <p:nvPr/>
        </p:nvSpPr>
        <p:spPr bwMode="auto">
          <a:xfrm>
            <a:off x="8379750" y="4931546"/>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Arial" panose="020B0604020202020204" pitchFamily="34" charset="0"/>
              </a:rPr>
              <a:t>rdt_rcv(rcvpkt)</a:t>
            </a:r>
            <a:endParaRPr lang="en-US" altLang="en-US" sz="1400">
              <a:latin typeface="Times New Roman" panose="02020603050405020304" pitchFamily="18" charset="0"/>
            </a:endParaRPr>
          </a:p>
        </p:txBody>
      </p:sp>
      <p:sp>
        <p:nvSpPr>
          <p:cNvPr id="51" name="Line 52"/>
          <p:cNvSpPr>
            <a:spLocks noChangeShapeType="1"/>
          </p:cNvSpPr>
          <p:nvPr/>
        </p:nvSpPr>
        <p:spPr bwMode="auto">
          <a:xfrm>
            <a:off x="8467062" y="5217296"/>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2" name="Text Box 53"/>
          <p:cNvSpPr txBox="1">
            <a:spLocks noChangeArrowheads="1"/>
          </p:cNvSpPr>
          <p:nvPr/>
        </p:nvSpPr>
        <p:spPr bwMode="auto">
          <a:xfrm>
            <a:off x="8749637" y="2175646"/>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latin typeface="Symbol" panose="05050102010706020507" pitchFamily="18" charset="2"/>
              </a:rPr>
              <a:t>L</a:t>
            </a:r>
          </a:p>
        </p:txBody>
      </p:sp>
      <p:sp>
        <p:nvSpPr>
          <p:cNvPr id="53" name="Text Box 54"/>
          <p:cNvSpPr txBox="1">
            <a:spLocks noChangeArrowheads="1"/>
          </p:cNvSpPr>
          <p:nvPr/>
        </p:nvSpPr>
        <p:spPr bwMode="auto">
          <a:xfrm>
            <a:off x="3098137" y="2451871"/>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latin typeface="Symbol" panose="05050102010706020507" pitchFamily="18" charset="2"/>
              </a:rPr>
              <a:t>L</a:t>
            </a:r>
          </a:p>
        </p:txBody>
      </p:sp>
      <p:sp>
        <p:nvSpPr>
          <p:cNvPr id="54" name="Text Box 55"/>
          <p:cNvSpPr txBox="1">
            <a:spLocks noChangeArrowheads="1"/>
          </p:cNvSpPr>
          <p:nvPr/>
        </p:nvSpPr>
        <p:spPr bwMode="auto">
          <a:xfrm>
            <a:off x="3501362" y="6122171"/>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latin typeface="Symbol" panose="05050102010706020507" pitchFamily="18" charset="2"/>
              </a:rPr>
              <a:t>L</a:t>
            </a:r>
          </a:p>
        </p:txBody>
      </p:sp>
      <p:sp>
        <p:nvSpPr>
          <p:cNvPr id="55" name="Rectangle 54"/>
          <p:cNvSpPr/>
          <p:nvPr/>
        </p:nvSpPr>
        <p:spPr>
          <a:xfrm>
            <a:off x="4580862" y="1459684"/>
            <a:ext cx="1608133" cy="369332"/>
          </a:xfrm>
          <a:prstGeom prst="rect">
            <a:avLst/>
          </a:prstGeom>
        </p:spPr>
        <p:txBody>
          <a:bodyPr wrap="none">
            <a:spAutoFit/>
          </a:bodyPr>
          <a:lstStyle/>
          <a:p>
            <a:r>
              <a:rPr lang="en-US" altLang="en-US" dirty="0" err="1">
                <a:latin typeface="Arial" panose="020B0604020202020204" pitchFamily="34" charset="0"/>
              </a:rPr>
              <a:t>rdt_send</a:t>
            </a:r>
            <a:r>
              <a:rPr lang="en-US" altLang="en-US" dirty="0">
                <a:latin typeface="Arial" panose="020B0604020202020204" pitchFamily="34" charset="0"/>
              </a:rPr>
              <a:t>(data</a:t>
            </a:r>
            <a:endParaRPr lang="en-IN" dirty="0"/>
          </a:p>
        </p:txBody>
      </p:sp>
    </p:spTree>
    <p:extLst>
      <p:ext uri="{BB962C8B-B14F-4D97-AF65-F5344CB8AC3E}">
        <p14:creationId xmlns:p14="http://schemas.microsoft.com/office/powerpoint/2010/main" val="419470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rdt3.0 in action</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rdt30_examplesa"/>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986845" y="1511091"/>
            <a:ext cx="869047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295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rdt3.0 in action</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rdt30_examplesb"/>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0782" y="1493838"/>
            <a:ext cx="874403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9172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dirty="0"/>
              <a:t>rdt3.0: stop-and-wait operation</a:t>
            </a:r>
            <a:endParaRPr lang="en-IN" dirty="0"/>
          </a:p>
        </p:txBody>
      </p:sp>
      <p:sp>
        <p:nvSpPr>
          <p:cNvPr id="4" name="Line 3"/>
          <p:cNvSpPr>
            <a:spLocks noChangeShapeType="1"/>
          </p:cNvSpPr>
          <p:nvPr/>
        </p:nvSpPr>
        <p:spPr bwMode="auto">
          <a:xfrm>
            <a:off x="5015448" y="200183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 name="Text Box 4"/>
          <p:cNvSpPr txBox="1">
            <a:spLocks noChangeArrowheads="1"/>
          </p:cNvSpPr>
          <p:nvPr/>
        </p:nvSpPr>
        <p:spPr bwMode="auto">
          <a:xfrm>
            <a:off x="1691223" y="179705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first packet bit transmitted, t = 0</a:t>
            </a:r>
          </a:p>
        </p:txBody>
      </p:sp>
      <p:sp>
        <p:nvSpPr>
          <p:cNvPr id="6" name="Line 5"/>
          <p:cNvSpPr>
            <a:spLocks noChangeShapeType="1"/>
          </p:cNvSpPr>
          <p:nvPr/>
        </p:nvSpPr>
        <p:spPr bwMode="auto">
          <a:xfrm>
            <a:off x="5004335" y="178276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 name="Line 6"/>
          <p:cNvSpPr>
            <a:spLocks noChangeShapeType="1"/>
          </p:cNvSpPr>
          <p:nvPr/>
        </p:nvSpPr>
        <p:spPr bwMode="auto">
          <a:xfrm>
            <a:off x="7231598" y="179546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 name="Text Box 7"/>
          <p:cNvSpPr txBox="1">
            <a:spLocks noChangeArrowheads="1"/>
          </p:cNvSpPr>
          <p:nvPr/>
        </p:nvSpPr>
        <p:spPr bwMode="auto">
          <a:xfrm>
            <a:off x="4475698" y="144621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sender</a:t>
            </a:r>
            <a:endParaRPr lang="en-US" altLang="en-US" sz="1600">
              <a:latin typeface="Times New Roman" panose="02020603050405020304" pitchFamily="18" charset="0"/>
            </a:endParaRPr>
          </a:p>
        </p:txBody>
      </p:sp>
      <p:sp>
        <p:nvSpPr>
          <p:cNvPr id="9" name="Text Box 8"/>
          <p:cNvSpPr txBox="1">
            <a:spLocks noChangeArrowheads="1"/>
          </p:cNvSpPr>
          <p:nvPr/>
        </p:nvSpPr>
        <p:spPr bwMode="auto">
          <a:xfrm>
            <a:off x="6653748" y="144621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receiver</a:t>
            </a:r>
            <a:endParaRPr lang="en-US" altLang="en-US" sz="1600">
              <a:latin typeface="Times New Roman" panose="02020603050405020304" pitchFamily="18" charset="0"/>
            </a:endParaRPr>
          </a:p>
        </p:txBody>
      </p:sp>
      <p:sp>
        <p:nvSpPr>
          <p:cNvPr id="10" name="Line 9"/>
          <p:cNvSpPr>
            <a:spLocks noChangeShapeType="1"/>
          </p:cNvSpPr>
          <p:nvPr/>
        </p:nvSpPr>
        <p:spPr bwMode="auto">
          <a:xfrm>
            <a:off x="5028148" y="199707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1" name="Line 10"/>
          <p:cNvSpPr>
            <a:spLocks noChangeShapeType="1"/>
          </p:cNvSpPr>
          <p:nvPr/>
        </p:nvSpPr>
        <p:spPr bwMode="auto">
          <a:xfrm>
            <a:off x="5032910" y="410845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2" name="Line 11"/>
          <p:cNvSpPr>
            <a:spLocks noChangeShapeType="1"/>
          </p:cNvSpPr>
          <p:nvPr/>
        </p:nvSpPr>
        <p:spPr bwMode="auto">
          <a:xfrm flipV="1">
            <a:off x="5032910" y="316547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Freeform 12"/>
          <p:cNvSpPr>
            <a:spLocks/>
          </p:cNvSpPr>
          <p:nvPr/>
        </p:nvSpPr>
        <p:spPr bwMode="auto">
          <a:xfrm>
            <a:off x="5010685" y="1995488"/>
            <a:ext cx="2232025" cy="1155700"/>
          </a:xfrm>
          <a:custGeom>
            <a:avLst/>
            <a:gdLst>
              <a:gd name="T0" fmla="*/ 0 w 2902"/>
              <a:gd name="T1" fmla="*/ 0 h 1185"/>
              <a:gd name="T2" fmla="*/ 2895 w 2902"/>
              <a:gd name="T3" fmla="*/ 937 h 1185"/>
              <a:gd name="T4" fmla="*/ 2902 w 2902"/>
              <a:gd name="T5" fmla="*/ 1185 h 1185"/>
              <a:gd name="T6" fmla="*/ 0 w 2902"/>
              <a:gd name="T7" fmla="*/ 247 h 1185"/>
              <a:gd name="T8" fmla="*/ 0 w 2902"/>
              <a:gd name="T9" fmla="*/ 0 h 1185"/>
            </a:gdLst>
            <a:ahLst/>
            <a:cxnLst>
              <a:cxn ang="0">
                <a:pos x="T0" y="T1"/>
              </a:cxn>
              <a:cxn ang="0">
                <a:pos x="T2" y="T3"/>
              </a:cxn>
              <a:cxn ang="0">
                <a:pos x="T4" y="T5"/>
              </a:cxn>
              <a:cxn ang="0">
                <a:pos x="T6" y="T7"/>
              </a:cxn>
              <a:cxn ang="0">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en-IN"/>
          </a:p>
        </p:txBody>
      </p:sp>
      <p:sp>
        <p:nvSpPr>
          <p:cNvPr id="14" name="Line 13"/>
          <p:cNvSpPr>
            <a:spLocks noChangeShapeType="1"/>
          </p:cNvSpPr>
          <p:nvPr/>
        </p:nvSpPr>
        <p:spPr bwMode="auto">
          <a:xfrm flipH="1">
            <a:off x="4866223" y="19954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 name="Line 14"/>
          <p:cNvSpPr>
            <a:spLocks noChangeShapeType="1"/>
          </p:cNvSpPr>
          <p:nvPr/>
        </p:nvSpPr>
        <p:spPr bwMode="auto">
          <a:xfrm flipH="1">
            <a:off x="4866223" y="22367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 name="Line 15"/>
          <p:cNvSpPr>
            <a:spLocks noChangeShapeType="1"/>
          </p:cNvSpPr>
          <p:nvPr/>
        </p:nvSpPr>
        <p:spPr bwMode="auto">
          <a:xfrm flipH="1">
            <a:off x="4877335" y="409575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 name="Text Box 16"/>
          <p:cNvSpPr txBox="1">
            <a:spLocks noChangeArrowheads="1"/>
          </p:cNvSpPr>
          <p:nvPr/>
        </p:nvSpPr>
        <p:spPr bwMode="auto">
          <a:xfrm>
            <a:off x="4213760" y="296862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solidFill>
                  <a:srgbClr val="FF0000"/>
                </a:solidFill>
              </a:rPr>
              <a:t>RTT</a:t>
            </a:r>
            <a:r>
              <a:rPr lang="en-US" altLang="en-US" sz="1000"/>
              <a:t> </a:t>
            </a:r>
            <a:endParaRPr lang="en-US" altLang="en-US" sz="2400">
              <a:latin typeface="Times New Roman" panose="02020603050405020304" pitchFamily="18" charset="0"/>
            </a:endParaRPr>
          </a:p>
        </p:txBody>
      </p:sp>
      <p:sp>
        <p:nvSpPr>
          <p:cNvPr id="18" name="Line 17"/>
          <p:cNvSpPr>
            <a:spLocks noChangeShapeType="1"/>
          </p:cNvSpPr>
          <p:nvPr/>
        </p:nvSpPr>
        <p:spPr bwMode="auto">
          <a:xfrm>
            <a:off x="4901148" y="327660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9" name="Line 18"/>
          <p:cNvSpPr>
            <a:spLocks noChangeShapeType="1"/>
          </p:cNvSpPr>
          <p:nvPr/>
        </p:nvSpPr>
        <p:spPr bwMode="auto">
          <a:xfrm flipV="1">
            <a:off x="4905910" y="225901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0" name="Line 20"/>
          <p:cNvSpPr>
            <a:spLocks noChangeShapeType="1"/>
          </p:cNvSpPr>
          <p:nvPr/>
        </p:nvSpPr>
        <p:spPr bwMode="auto">
          <a:xfrm flipH="1">
            <a:off x="7218898" y="290988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 name="Text Box 21"/>
          <p:cNvSpPr txBox="1">
            <a:spLocks noChangeArrowheads="1"/>
          </p:cNvSpPr>
          <p:nvPr/>
        </p:nvSpPr>
        <p:spPr bwMode="auto">
          <a:xfrm>
            <a:off x="7299860" y="273367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1600"/>
              <a:t>first packet bit arrives</a:t>
            </a:r>
            <a:endParaRPr lang="en-US" altLang="en-US" sz="1600">
              <a:latin typeface="Times New Roman" panose="02020603050405020304" pitchFamily="18" charset="0"/>
            </a:endParaRPr>
          </a:p>
        </p:txBody>
      </p:sp>
      <p:sp>
        <p:nvSpPr>
          <p:cNvPr id="22" name="Line 22"/>
          <p:cNvSpPr>
            <a:spLocks noChangeShapeType="1"/>
          </p:cNvSpPr>
          <p:nvPr/>
        </p:nvSpPr>
        <p:spPr bwMode="auto">
          <a:xfrm>
            <a:off x="7242710" y="315912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3" name="Text Box 23"/>
          <p:cNvSpPr txBox="1">
            <a:spLocks noChangeArrowheads="1"/>
          </p:cNvSpPr>
          <p:nvPr/>
        </p:nvSpPr>
        <p:spPr bwMode="auto">
          <a:xfrm>
            <a:off x="7306210" y="298608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1600"/>
              <a:t>last packet bit arrives, send ACK</a:t>
            </a:r>
            <a:endParaRPr lang="en-US" altLang="en-US" sz="1600">
              <a:latin typeface="Times New Roman" panose="02020603050405020304" pitchFamily="18" charset="0"/>
            </a:endParaRPr>
          </a:p>
        </p:txBody>
      </p:sp>
      <p:sp>
        <p:nvSpPr>
          <p:cNvPr id="24" name="Text Box 24"/>
          <p:cNvSpPr txBox="1">
            <a:spLocks noChangeArrowheads="1"/>
          </p:cNvSpPr>
          <p:nvPr/>
        </p:nvSpPr>
        <p:spPr bwMode="auto">
          <a:xfrm>
            <a:off x="2283360" y="376872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ACK arrives, send next </a:t>
            </a:r>
          </a:p>
          <a:p>
            <a:pPr algn="r" eaLnBrk="0" hangingPunct="0"/>
            <a:r>
              <a:rPr lang="en-US" altLang="en-US" sz="1600"/>
              <a:t>packet, </a:t>
            </a:r>
            <a:r>
              <a:rPr lang="en-US" altLang="en-US" sz="1600">
                <a:solidFill>
                  <a:srgbClr val="FF0000"/>
                </a:solidFill>
              </a:rPr>
              <a:t>t = RTT + L / R</a:t>
            </a:r>
            <a:endParaRPr lang="en-US" altLang="en-US" sz="1600">
              <a:solidFill>
                <a:srgbClr val="FF0000"/>
              </a:solidFill>
              <a:latin typeface="Times New Roman" panose="02020603050405020304" pitchFamily="18" charset="0"/>
            </a:endParaRPr>
          </a:p>
        </p:txBody>
      </p:sp>
      <p:sp>
        <p:nvSpPr>
          <p:cNvPr id="25" name="Freeform 25"/>
          <p:cNvSpPr>
            <a:spLocks/>
          </p:cNvSpPr>
          <p:nvPr/>
        </p:nvSpPr>
        <p:spPr bwMode="auto">
          <a:xfrm>
            <a:off x="5028148" y="4103688"/>
            <a:ext cx="1419225" cy="577850"/>
          </a:xfrm>
          <a:custGeom>
            <a:avLst/>
            <a:gdLst>
              <a:gd name="T0" fmla="*/ 0 w 1845"/>
              <a:gd name="T1" fmla="*/ 0 h 592"/>
              <a:gd name="T2" fmla="*/ 1845 w 1845"/>
              <a:gd name="T3" fmla="*/ 592 h 592"/>
              <a:gd name="T4" fmla="*/ 1095 w 1845"/>
              <a:gd name="T5" fmla="*/ 592 h 592"/>
              <a:gd name="T6" fmla="*/ 0 w 1845"/>
              <a:gd name="T7" fmla="*/ 247 h 592"/>
              <a:gd name="T8" fmla="*/ 0 w 1845"/>
              <a:gd name="T9" fmla="*/ 0 h 592"/>
            </a:gdLst>
            <a:ahLst/>
            <a:cxnLst>
              <a:cxn ang="0">
                <a:pos x="T0" y="T1"/>
              </a:cxn>
              <a:cxn ang="0">
                <a:pos x="T2" y="T3"/>
              </a:cxn>
              <a:cxn ang="0">
                <a:pos x="T4" y="T5"/>
              </a:cxn>
              <a:cxn ang="0">
                <a:pos x="T6" y="T7"/>
              </a:cxn>
              <a:cxn ang="0">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26" name="Group 26"/>
          <p:cNvGrpSpPr>
            <a:grpSpLocks/>
          </p:cNvGrpSpPr>
          <p:nvPr/>
        </p:nvGrpSpPr>
        <p:grpSpPr bwMode="auto">
          <a:xfrm>
            <a:off x="5021798" y="4095750"/>
            <a:ext cx="1281112" cy="534988"/>
            <a:chOff x="12315" y="13225"/>
            <a:chExt cx="2775" cy="913"/>
          </a:xfrm>
        </p:grpSpPr>
        <p:sp>
          <p:nvSpPr>
            <p:cNvPr id="27" name="Line 27"/>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8" name="Line 28"/>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9" name="Line 29"/>
          <p:cNvSpPr>
            <a:spLocks noChangeShapeType="1"/>
          </p:cNvSpPr>
          <p:nvPr/>
        </p:nvSpPr>
        <p:spPr bwMode="auto">
          <a:xfrm>
            <a:off x="5021798" y="433705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 name="Line 30"/>
          <p:cNvSpPr>
            <a:spLocks noChangeShapeType="1"/>
          </p:cNvSpPr>
          <p:nvPr/>
        </p:nvSpPr>
        <p:spPr bwMode="auto">
          <a:xfrm>
            <a:off x="5345648" y="446087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31" name="Object 31"/>
          <p:cNvGraphicFramePr>
            <a:graphicFrameLocks noChangeAspect="1"/>
          </p:cNvGraphicFramePr>
          <p:nvPr/>
        </p:nvGraphicFramePr>
        <p:xfrm>
          <a:off x="3169185" y="5065713"/>
          <a:ext cx="5994400" cy="933450"/>
        </p:xfrm>
        <a:graphic>
          <a:graphicData uri="http://schemas.openxmlformats.org/presentationml/2006/ole">
            <mc:AlternateContent xmlns:mc="http://schemas.openxmlformats.org/markup-compatibility/2006">
              <mc:Choice xmlns:v="urn:schemas-microsoft-com:vml" Requires="v">
                <p:oleObj spid="_x0000_s2050" name="Picture" r:id="rId3" imgW="3181320" imgH="495360" progId="Word.Picture.8">
                  <p:embed/>
                </p:oleObj>
              </mc:Choice>
              <mc:Fallback>
                <p:oleObj name="Picture" r:id="rId3" imgW="3181320" imgH="495360" progId="Word.Picture.8">
                  <p:embed/>
                  <p:pic>
                    <p:nvPicPr>
                      <p:cNvPr id="31"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9185" y="5065713"/>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55262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Pipelining: Increased Utilization</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5245446" y="3313584"/>
            <a:ext cx="1701107" cy="230832"/>
          </a:xfrm>
          <a:prstGeom prst="rect">
            <a:avLst/>
          </a:prstGeom>
        </p:spPr>
        <p:txBody>
          <a:bodyPr wrap="none">
            <a:spAutoFit/>
          </a:bodyPr>
          <a:lstStyle/>
          <a:p>
            <a:r>
              <a:rPr lang="en-US" sz="900" dirty="0">
                <a:ea typeface="ＭＳ Ｐゴシック" charset="0"/>
              </a:rPr>
              <a:t>Connectionless </a:t>
            </a:r>
            <a:r>
              <a:rPr lang="en-US" sz="900" dirty="0" err="1">
                <a:ea typeface="ＭＳ Ｐゴシック" charset="0"/>
              </a:rPr>
              <a:t>demux</a:t>
            </a:r>
            <a:r>
              <a:rPr lang="en-US" sz="900" dirty="0">
                <a:ea typeface="ＭＳ Ｐゴシック" charset="0"/>
              </a:rPr>
              <a:t>: example</a:t>
            </a:r>
            <a:endParaRPr lang="en-IN" dirty="0"/>
          </a:p>
        </p:txBody>
      </p:sp>
      <p:sp>
        <p:nvSpPr>
          <p:cNvPr id="5" name="Line 3"/>
          <p:cNvSpPr>
            <a:spLocks noChangeShapeType="1"/>
          </p:cNvSpPr>
          <p:nvPr/>
        </p:nvSpPr>
        <p:spPr bwMode="auto">
          <a:xfrm>
            <a:off x="4353641" y="2278328"/>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 name="Line 5"/>
          <p:cNvSpPr>
            <a:spLocks noChangeShapeType="1"/>
          </p:cNvSpPr>
          <p:nvPr/>
        </p:nvSpPr>
        <p:spPr bwMode="auto">
          <a:xfrm>
            <a:off x="4344116" y="2056078"/>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 name="Line 6"/>
          <p:cNvSpPr>
            <a:spLocks noChangeShapeType="1"/>
          </p:cNvSpPr>
          <p:nvPr/>
        </p:nvSpPr>
        <p:spPr bwMode="auto">
          <a:xfrm>
            <a:off x="6425329" y="2068778"/>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8" name="Text Box 7"/>
          <p:cNvSpPr txBox="1">
            <a:spLocks noChangeArrowheads="1"/>
          </p:cNvSpPr>
          <p:nvPr/>
        </p:nvSpPr>
        <p:spPr bwMode="auto">
          <a:xfrm>
            <a:off x="3883741" y="1729053"/>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sender</a:t>
            </a:r>
            <a:endParaRPr lang="en-US" altLang="en-US" sz="1600">
              <a:latin typeface="Times New Roman" panose="02020603050405020304" pitchFamily="18" charset="0"/>
            </a:endParaRPr>
          </a:p>
        </p:txBody>
      </p:sp>
      <p:sp>
        <p:nvSpPr>
          <p:cNvPr id="9" name="Text Box 8"/>
          <p:cNvSpPr txBox="1">
            <a:spLocks noChangeArrowheads="1"/>
          </p:cNvSpPr>
          <p:nvPr/>
        </p:nvSpPr>
        <p:spPr bwMode="auto">
          <a:xfrm>
            <a:off x="5912566" y="1729053"/>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receiver</a:t>
            </a:r>
            <a:endParaRPr lang="en-US" altLang="en-US" sz="1600">
              <a:latin typeface="Times New Roman" panose="02020603050405020304" pitchFamily="18" charset="0"/>
            </a:endParaRPr>
          </a:p>
        </p:txBody>
      </p:sp>
      <p:sp>
        <p:nvSpPr>
          <p:cNvPr id="10" name="Line 9"/>
          <p:cNvSpPr>
            <a:spLocks noChangeShapeType="1"/>
          </p:cNvSpPr>
          <p:nvPr/>
        </p:nvSpPr>
        <p:spPr bwMode="auto">
          <a:xfrm>
            <a:off x="4364754" y="2273566"/>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1" name="Line 10"/>
          <p:cNvSpPr>
            <a:spLocks noChangeShapeType="1"/>
          </p:cNvSpPr>
          <p:nvPr/>
        </p:nvSpPr>
        <p:spPr bwMode="auto">
          <a:xfrm>
            <a:off x="4371104" y="4405578"/>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2" name="Freeform 11"/>
          <p:cNvSpPr>
            <a:spLocks/>
          </p:cNvSpPr>
          <p:nvPr/>
        </p:nvSpPr>
        <p:spPr bwMode="auto">
          <a:xfrm>
            <a:off x="4348879" y="2270391"/>
            <a:ext cx="2087562" cy="1169987"/>
          </a:xfrm>
          <a:custGeom>
            <a:avLst/>
            <a:gdLst>
              <a:gd name="T0" fmla="*/ 0 w 2902"/>
              <a:gd name="T1" fmla="*/ 0 h 1185"/>
              <a:gd name="T2" fmla="*/ 2895 w 2902"/>
              <a:gd name="T3" fmla="*/ 937 h 1185"/>
              <a:gd name="T4" fmla="*/ 2902 w 2902"/>
              <a:gd name="T5" fmla="*/ 1185 h 1185"/>
              <a:gd name="T6" fmla="*/ 0 w 2902"/>
              <a:gd name="T7" fmla="*/ 247 h 1185"/>
              <a:gd name="T8" fmla="*/ 0 w 2902"/>
              <a:gd name="T9" fmla="*/ 0 h 1185"/>
            </a:gdLst>
            <a:ahLst/>
            <a:cxnLst>
              <a:cxn ang="0">
                <a:pos x="T0" y="T1"/>
              </a:cxn>
              <a:cxn ang="0">
                <a:pos x="T2" y="T3"/>
              </a:cxn>
              <a:cxn ang="0">
                <a:pos x="T4" y="T5"/>
              </a:cxn>
              <a:cxn ang="0">
                <a:pos x="T6" y="T7"/>
              </a:cxn>
              <a:cxn ang="0">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en-IN"/>
          </a:p>
        </p:txBody>
      </p:sp>
      <p:sp>
        <p:nvSpPr>
          <p:cNvPr id="13" name="Line 12"/>
          <p:cNvSpPr>
            <a:spLocks noChangeShapeType="1"/>
          </p:cNvSpPr>
          <p:nvPr/>
        </p:nvSpPr>
        <p:spPr bwMode="auto">
          <a:xfrm flipH="1">
            <a:off x="4213941" y="2270391"/>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 name="Line 13"/>
          <p:cNvSpPr>
            <a:spLocks noChangeShapeType="1"/>
          </p:cNvSpPr>
          <p:nvPr/>
        </p:nvSpPr>
        <p:spPr bwMode="auto">
          <a:xfrm flipH="1">
            <a:off x="4213941" y="2514866"/>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 name="Text Box 14"/>
          <p:cNvSpPr txBox="1">
            <a:spLocks noChangeArrowheads="1"/>
          </p:cNvSpPr>
          <p:nvPr/>
        </p:nvSpPr>
        <p:spPr bwMode="auto">
          <a:xfrm>
            <a:off x="3432891" y="3254641"/>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RTT </a:t>
            </a:r>
            <a:endParaRPr lang="en-US" altLang="en-US" sz="1600">
              <a:latin typeface="Times New Roman" panose="02020603050405020304" pitchFamily="18" charset="0"/>
            </a:endParaRPr>
          </a:p>
        </p:txBody>
      </p:sp>
      <p:sp>
        <p:nvSpPr>
          <p:cNvPr id="16" name="Line 15"/>
          <p:cNvSpPr>
            <a:spLocks noChangeShapeType="1"/>
          </p:cNvSpPr>
          <p:nvPr/>
        </p:nvSpPr>
        <p:spPr bwMode="auto">
          <a:xfrm>
            <a:off x="4247279" y="3565791"/>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7" name="Line 16"/>
          <p:cNvSpPr>
            <a:spLocks noChangeShapeType="1"/>
          </p:cNvSpPr>
          <p:nvPr/>
        </p:nvSpPr>
        <p:spPr bwMode="auto">
          <a:xfrm flipV="1">
            <a:off x="4252041" y="2537091"/>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 name="Text Box 17"/>
          <p:cNvSpPr txBox="1">
            <a:spLocks noChangeArrowheads="1"/>
          </p:cNvSpPr>
          <p:nvPr/>
        </p:nvSpPr>
        <p:spPr bwMode="auto">
          <a:xfrm>
            <a:off x="1527891" y="2352941"/>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last bit transmitted, t = L / R</a:t>
            </a:r>
            <a:endParaRPr lang="en-US" altLang="en-US" sz="1600">
              <a:latin typeface="Times New Roman" panose="02020603050405020304" pitchFamily="18" charset="0"/>
            </a:endParaRPr>
          </a:p>
        </p:txBody>
      </p:sp>
      <p:sp>
        <p:nvSpPr>
          <p:cNvPr id="19" name="Line 18"/>
          <p:cNvSpPr>
            <a:spLocks noChangeShapeType="1"/>
          </p:cNvSpPr>
          <p:nvPr/>
        </p:nvSpPr>
        <p:spPr bwMode="auto">
          <a:xfrm flipH="1">
            <a:off x="6414216" y="3195903"/>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 name="Text Box 19"/>
          <p:cNvSpPr txBox="1">
            <a:spLocks noChangeArrowheads="1"/>
          </p:cNvSpPr>
          <p:nvPr/>
        </p:nvSpPr>
        <p:spPr bwMode="auto">
          <a:xfrm>
            <a:off x="6490416" y="3018103"/>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1600"/>
              <a:t>first packet bit arrives</a:t>
            </a:r>
            <a:endParaRPr lang="en-US" altLang="en-US" sz="1600">
              <a:latin typeface="Times New Roman" panose="02020603050405020304" pitchFamily="18" charset="0"/>
            </a:endParaRPr>
          </a:p>
        </p:txBody>
      </p:sp>
      <p:sp>
        <p:nvSpPr>
          <p:cNvPr id="21" name="Line 20"/>
          <p:cNvSpPr>
            <a:spLocks noChangeShapeType="1"/>
          </p:cNvSpPr>
          <p:nvPr/>
        </p:nvSpPr>
        <p:spPr bwMode="auto">
          <a:xfrm>
            <a:off x="6436441" y="3446728"/>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 name="Text Box 21"/>
          <p:cNvSpPr txBox="1">
            <a:spLocks noChangeArrowheads="1"/>
          </p:cNvSpPr>
          <p:nvPr/>
        </p:nvSpPr>
        <p:spPr bwMode="auto">
          <a:xfrm>
            <a:off x="6495179" y="3270516"/>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1600"/>
              <a:t>last packet bit arrives, send ACK</a:t>
            </a:r>
            <a:endParaRPr lang="en-US" altLang="en-US" sz="1600">
              <a:latin typeface="Times New Roman" panose="02020603050405020304" pitchFamily="18" charset="0"/>
            </a:endParaRPr>
          </a:p>
        </p:txBody>
      </p:sp>
      <p:sp>
        <p:nvSpPr>
          <p:cNvPr id="23" name="Text Box 22"/>
          <p:cNvSpPr txBox="1">
            <a:spLocks noChangeArrowheads="1"/>
          </p:cNvSpPr>
          <p:nvPr/>
        </p:nvSpPr>
        <p:spPr bwMode="auto">
          <a:xfrm>
            <a:off x="1675529" y="4062678"/>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eaLnBrk="0" hangingPunct="0"/>
            <a:r>
              <a:rPr lang="en-US" altLang="en-US" sz="1600"/>
              <a:t>ACK arrives, send next </a:t>
            </a:r>
          </a:p>
          <a:p>
            <a:pPr algn="r" eaLnBrk="0" hangingPunct="0"/>
            <a:r>
              <a:rPr lang="en-US" altLang="en-US" sz="1600"/>
              <a:t>packet, t = RTT + L / R</a:t>
            </a:r>
            <a:endParaRPr lang="en-US" altLang="en-US" sz="1600">
              <a:latin typeface="Times New Roman" panose="02020603050405020304" pitchFamily="18" charset="0"/>
            </a:endParaRPr>
          </a:p>
        </p:txBody>
      </p:sp>
      <p:grpSp>
        <p:nvGrpSpPr>
          <p:cNvPr id="24" name="Group 23"/>
          <p:cNvGrpSpPr>
            <a:grpSpLocks/>
          </p:cNvGrpSpPr>
          <p:nvPr/>
        </p:nvGrpSpPr>
        <p:grpSpPr bwMode="auto">
          <a:xfrm>
            <a:off x="4225054" y="4392878"/>
            <a:ext cx="1466850" cy="608013"/>
            <a:chOff x="12502" y="21425"/>
            <a:chExt cx="3400" cy="1025"/>
          </a:xfrm>
        </p:grpSpPr>
        <p:sp>
          <p:nvSpPr>
            <p:cNvPr id="25" name="Line 24"/>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 name="Freeform 25"/>
            <p:cNvSpPr>
              <a:spLocks/>
            </p:cNvSpPr>
            <p:nvPr/>
          </p:nvSpPr>
          <p:spPr bwMode="auto">
            <a:xfrm>
              <a:off x="12827" y="21438"/>
              <a:ext cx="3075" cy="987"/>
            </a:xfrm>
            <a:custGeom>
              <a:avLst/>
              <a:gdLst>
                <a:gd name="T0" fmla="*/ 0 w 1845"/>
                <a:gd name="T1" fmla="*/ 0 h 592"/>
                <a:gd name="T2" fmla="*/ 1845 w 1845"/>
                <a:gd name="T3" fmla="*/ 592 h 592"/>
                <a:gd name="T4" fmla="*/ 1095 w 1845"/>
                <a:gd name="T5" fmla="*/ 592 h 592"/>
                <a:gd name="T6" fmla="*/ 0 w 1845"/>
                <a:gd name="T7" fmla="*/ 247 h 592"/>
                <a:gd name="T8" fmla="*/ 0 w 1845"/>
                <a:gd name="T9" fmla="*/ 0 h 592"/>
              </a:gdLst>
              <a:ahLst/>
              <a:cxnLst>
                <a:cxn ang="0">
                  <a:pos x="T0" y="T1"/>
                </a:cxn>
                <a:cxn ang="0">
                  <a:pos x="T2" y="T3"/>
                </a:cxn>
                <a:cxn ang="0">
                  <a:pos x="T4" y="T5"/>
                </a:cxn>
                <a:cxn ang="0">
                  <a:pos x="T6" y="T7"/>
                </a:cxn>
                <a:cxn ang="0">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27" name="Group 26"/>
            <p:cNvGrpSpPr>
              <a:grpSpLocks/>
            </p:cNvGrpSpPr>
            <p:nvPr/>
          </p:nvGrpSpPr>
          <p:grpSpPr bwMode="auto">
            <a:xfrm>
              <a:off x="12815" y="21425"/>
              <a:ext cx="2776" cy="913"/>
              <a:chOff x="12315" y="13225"/>
              <a:chExt cx="2775" cy="913"/>
            </a:xfrm>
          </p:grpSpPr>
          <p:sp>
            <p:nvSpPr>
              <p:cNvPr id="30" name="Line 27"/>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 name="Line 28"/>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8" name="Line 29"/>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 name="Line 30"/>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32" name="Freeform 31"/>
          <p:cNvSpPr>
            <a:spLocks/>
          </p:cNvSpPr>
          <p:nvPr/>
        </p:nvSpPr>
        <p:spPr bwMode="auto">
          <a:xfrm>
            <a:off x="4353641" y="2522803"/>
            <a:ext cx="2087563" cy="1168400"/>
          </a:xfrm>
          <a:custGeom>
            <a:avLst/>
            <a:gdLst>
              <a:gd name="T0" fmla="*/ 0 w 2902"/>
              <a:gd name="T1" fmla="*/ 0 h 1185"/>
              <a:gd name="T2" fmla="*/ 2895 w 2902"/>
              <a:gd name="T3" fmla="*/ 937 h 1185"/>
              <a:gd name="T4" fmla="*/ 2902 w 2902"/>
              <a:gd name="T5" fmla="*/ 1185 h 1185"/>
              <a:gd name="T6" fmla="*/ 0 w 2902"/>
              <a:gd name="T7" fmla="*/ 247 h 1185"/>
              <a:gd name="T8" fmla="*/ 0 w 2902"/>
              <a:gd name="T9" fmla="*/ 0 h 1185"/>
            </a:gdLst>
            <a:ahLst/>
            <a:cxnLst>
              <a:cxn ang="0">
                <a:pos x="T0" y="T1"/>
              </a:cxn>
              <a:cxn ang="0">
                <a:pos x="T2" y="T3"/>
              </a:cxn>
              <a:cxn ang="0">
                <a:pos x="T4" y="T5"/>
              </a:cxn>
              <a:cxn ang="0">
                <a:pos x="T6" y="T7"/>
              </a:cxn>
              <a:cxn ang="0">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3" name="Freeform 32"/>
          <p:cNvSpPr>
            <a:spLocks/>
          </p:cNvSpPr>
          <p:nvPr/>
        </p:nvSpPr>
        <p:spPr bwMode="auto">
          <a:xfrm>
            <a:off x="4353641" y="2773628"/>
            <a:ext cx="2087563" cy="1168400"/>
          </a:xfrm>
          <a:custGeom>
            <a:avLst/>
            <a:gdLst>
              <a:gd name="T0" fmla="*/ 0 w 2902"/>
              <a:gd name="T1" fmla="*/ 0 h 1185"/>
              <a:gd name="T2" fmla="*/ 2895 w 2902"/>
              <a:gd name="T3" fmla="*/ 937 h 1185"/>
              <a:gd name="T4" fmla="*/ 2902 w 2902"/>
              <a:gd name="T5" fmla="*/ 1185 h 1185"/>
              <a:gd name="T6" fmla="*/ 0 w 2902"/>
              <a:gd name="T7" fmla="*/ 247 h 1185"/>
              <a:gd name="T8" fmla="*/ 0 w 2902"/>
              <a:gd name="T9" fmla="*/ 0 h 1185"/>
            </a:gdLst>
            <a:ahLst/>
            <a:cxnLst>
              <a:cxn ang="0">
                <a:pos x="T0" y="T1"/>
              </a:cxn>
              <a:cxn ang="0">
                <a:pos x="T2" y="T3"/>
              </a:cxn>
              <a:cxn ang="0">
                <a:pos x="T4" y="T5"/>
              </a:cxn>
              <a:cxn ang="0">
                <a:pos x="T6" y="T7"/>
              </a:cxn>
              <a:cxn ang="0">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en-IN"/>
          </a:p>
        </p:txBody>
      </p:sp>
      <p:sp>
        <p:nvSpPr>
          <p:cNvPr id="34" name="Line 33"/>
          <p:cNvSpPr>
            <a:spLocks noChangeShapeType="1"/>
          </p:cNvSpPr>
          <p:nvPr/>
        </p:nvSpPr>
        <p:spPr bwMode="auto">
          <a:xfrm flipV="1">
            <a:off x="4371104" y="3454666"/>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 name="Line 34"/>
          <p:cNvSpPr>
            <a:spLocks noChangeShapeType="1"/>
          </p:cNvSpPr>
          <p:nvPr/>
        </p:nvSpPr>
        <p:spPr bwMode="auto">
          <a:xfrm flipV="1">
            <a:off x="4371104" y="3705491"/>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36" name="Group 35"/>
          <p:cNvGrpSpPr>
            <a:grpSpLocks/>
          </p:cNvGrpSpPr>
          <p:nvPr/>
        </p:nvGrpSpPr>
        <p:grpSpPr bwMode="auto">
          <a:xfrm>
            <a:off x="4213941" y="4631003"/>
            <a:ext cx="1466850" cy="606425"/>
            <a:chOff x="12502" y="21425"/>
            <a:chExt cx="3400" cy="1025"/>
          </a:xfrm>
        </p:grpSpPr>
        <p:sp>
          <p:nvSpPr>
            <p:cNvPr id="37" name="Line 36"/>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 name="Freeform 37"/>
            <p:cNvSpPr>
              <a:spLocks/>
            </p:cNvSpPr>
            <p:nvPr/>
          </p:nvSpPr>
          <p:spPr bwMode="auto">
            <a:xfrm>
              <a:off x="12827" y="21438"/>
              <a:ext cx="3075" cy="987"/>
            </a:xfrm>
            <a:custGeom>
              <a:avLst/>
              <a:gdLst>
                <a:gd name="T0" fmla="*/ 0 w 1845"/>
                <a:gd name="T1" fmla="*/ 0 h 592"/>
                <a:gd name="T2" fmla="*/ 1845 w 1845"/>
                <a:gd name="T3" fmla="*/ 592 h 592"/>
                <a:gd name="T4" fmla="*/ 1095 w 1845"/>
                <a:gd name="T5" fmla="*/ 592 h 592"/>
                <a:gd name="T6" fmla="*/ 0 w 1845"/>
                <a:gd name="T7" fmla="*/ 247 h 592"/>
                <a:gd name="T8" fmla="*/ 0 w 1845"/>
                <a:gd name="T9" fmla="*/ 0 h 592"/>
              </a:gdLst>
              <a:ahLst/>
              <a:cxnLst>
                <a:cxn ang="0">
                  <a:pos x="T0" y="T1"/>
                </a:cxn>
                <a:cxn ang="0">
                  <a:pos x="T2" y="T3"/>
                </a:cxn>
                <a:cxn ang="0">
                  <a:pos x="T4" y="T5"/>
                </a:cxn>
                <a:cxn ang="0">
                  <a:pos x="T6" y="T7"/>
                </a:cxn>
                <a:cxn ang="0">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39" name="Group 38"/>
            <p:cNvGrpSpPr>
              <a:grpSpLocks/>
            </p:cNvGrpSpPr>
            <p:nvPr/>
          </p:nvGrpSpPr>
          <p:grpSpPr bwMode="auto">
            <a:xfrm>
              <a:off x="12815" y="21425"/>
              <a:ext cx="2776" cy="913"/>
              <a:chOff x="12315" y="13225"/>
              <a:chExt cx="2775" cy="913"/>
            </a:xfrm>
          </p:grpSpPr>
          <p:sp>
            <p:nvSpPr>
              <p:cNvPr id="42" name="Line 39"/>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3" name="Line 40"/>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40" name="Line 41"/>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 name="Line 42"/>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44" name="Group 43"/>
          <p:cNvGrpSpPr>
            <a:grpSpLocks/>
          </p:cNvGrpSpPr>
          <p:nvPr/>
        </p:nvGrpSpPr>
        <p:grpSpPr bwMode="auto">
          <a:xfrm>
            <a:off x="4225054" y="4881828"/>
            <a:ext cx="1466850" cy="606425"/>
            <a:chOff x="12502" y="21425"/>
            <a:chExt cx="3400" cy="1025"/>
          </a:xfrm>
        </p:grpSpPr>
        <p:sp>
          <p:nvSpPr>
            <p:cNvPr id="45" name="Line 44"/>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 name="Freeform 45"/>
            <p:cNvSpPr>
              <a:spLocks/>
            </p:cNvSpPr>
            <p:nvPr/>
          </p:nvSpPr>
          <p:spPr bwMode="auto">
            <a:xfrm>
              <a:off x="12827" y="21438"/>
              <a:ext cx="3075" cy="987"/>
            </a:xfrm>
            <a:custGeom>
              <a:avLst/>
              <a:gdLst>
                <a:gd name="T0" fmla="*/ 0 w 1845"/>
                <a:gd name="T1" fmla="*/ 0 h 592"/>
                <a:gd name="T2" fmla="*/ 1845 w 1845"/>
                <a:gd name="T3" fmla="*/ 592 h 592"/>
                <a:gd name="T4" fmla="*/ 1095 w 1845"/>
                <a:gd name="T5" fmla="*/ 592 h 592"/>
                <a:gd name="T6" fmla="*/ 0 w 1845"/>
                <a:gd name="T7" fmla="*/ 247 h 592"/>
                <a:gd name="T8" fmla="*/ 0 w 1845"/>
                <a:gd name="T9" fmla="*/ 0 h 592"/>
              </a:gdLst>
              <a:ahLst/>
              <a:cxnLst>
                <a:cxn ang="0">
                  <a:pos x="T0" y="T1"/>
                </a:cxn>
                <a:cxn ang="0">
                  <a:pos x="T2" y="T3"/>
                </a:cxn>
                <a:cxn ang="0">
                  <a:pos x="T4" y="T5"/>
                </a:cxn>
                <a:cxn ang="0">
                  <a:pos x="T6" y="T7"/>
                </a:cxn>
                <a:cxn ang="0">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47" name="Group 46"/>
            <p:cNvGrpSpPr>
              <a:grpSpLocks/>
            </p:cNvGrpSpPr>
            <p:nvPr/>
          </p:nvGrpSpPr>
          <p:grpSpPr bwMode="auto">
            <a:xfrm>
              <a:off x="12815" y="21425"/>
              <a:ext cx="2776" cy="913"/>
              <a:chOff x="12315" y="13225"/>
              <a:chExt cx="2775" cy="913"/>
            </a:xfrm>
          </p:grpSpPr>
          <p:sp>
            <p:nvSpPr>
              <p:cNvPr id="50" name="Line 47"/>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 name="Line 48"/>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48" name="Line 49"/>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 name="Line 50"/>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52" name="Line 51"/>
          <p:cNvSpPr>
            <a:spLocks noChangeShapeType="1"/>
          </p:cNvSpPr>
          <p:nvPr/>
        </p:nvSpPr>
        <p:spPr bwMode="auto">
          <a:xfrm flipV="1">
            <a:off x="4375866" y="3957903"/>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3" name="Line 53"/>
          <p:cNvSpPr>
            <a:spLocks noChangeShapeType="1"/>
          </p:cNvSpPr>
          <p:nvPr/>
        </p:nvSpPr>
        <p:spPr bwMode="auto">
          <a:xfrm flipV="1">
            <a:off x="6436441" y="3683266"/>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 name="Line 54"/>
          <p:cNvSpPr>
            <a:spLocks noChangeShapeType="1"/>
          </p:cNvSpPr>
          <p:nvPr/>
        </p:nvSpPr>
        <p:spPr bwMode="auto">
          <a:xfrm flipV="1">
            <a:off x="6447554" y="3935678"/>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5" name="Text Box 57"/>
          <p:cNvSpPr txBox="1">
            <a:spLocks noChangeArrowheads="1"/>
          </p:cNvSpPr>
          <p:nvPr/>
        </p:nvSpPr>
        <p:spPr bwMode="auto">
          <a:xfrm>
            <a:off x="7492129" y="4937391"/>
            <a:ext cx="2505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2000">
                <a:solidFill>
                  <a:srgbClr val="FF0000"/>
                </a:solidFill>
                <a:latin typeface="Comic Sans MS" panose="030F0702030302020204" pitchFamily="66" charset="0"/>
              </a:rPr>
              <a:t>Increase utilization</a:t>
            </a:r>
          </a:p>
          <a:p>
            <a:pPr algn="ctr" eaLnBrk="0" hangingPunct="0"/>
            <a:r>
              <a:rPr lang="en-US" altLang="en-US" sz="2000">
                <a:solidFill>
                  <a:srgbClr val="FF0000"/>
                </a:solidFill>
                <a:latin typeface="Comic Sans MS" panose="030F0702030302020204" pitchFamily="66" charset="0"/>
              </a:rPr>
              <a:t>by a factor of 3!</a:t>
            </a:r>
          </a:p>
        </p:txBody>
      </p:sp>
      <p:sp>
        <p:nvSpPr>
          <p:cNvPr id="56" name="Line 58"/>
          <p:cNvSpPr>
            <a:spLocks noChangeShapeType="1"/>
          </p:cNvSpPr>
          <p:nvPr/>
        </p:nvSpPr>
        <p:spPr bwMode="auto">
          <a:xfrm flipH="1">
            <a:off x="7568329" y="5321566"/>
            <a:ext cx="125412" cy="5127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2150518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9413" y="1547019"/>
            <a:ext cx="10144813" cy="3196432"/>
          </a:xfrm>
        </p:spPr>
        <p:txBody>
          <a:bodyPr/>
          <a:lstStyle/>
          <a:p>
            <a:pPr>
              <a:lnSpc>
                <a:spcPct val="90000"/>
              </a:lnSpc>
            </a:pPr>
            <a:r>
              <a:rPr lang="en-US" altLang="en-US"/>
              <a:t>Stop-and-wait allows the sender to only have a single unACKed packet at any time</a:t>
            </a:r>
          </a:p>
          <a:p>
            <a:pPr>
              <a:lnSpc>
                <a:spcPct val="90000"/>
              </a:lnSpc>
            </a:pPr>
            <a:r>
              <a:rPr lang="en-US" altLang="en-US"/>
              <a:t>example: 1 Mbps link (R), end-2-end round trip propagation delay (D) of 92ms, 1KB packet (L):</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Pipelining: Motivation</a:t>
            </a:r>
            <a:endParaRPr lang="en-IN" b="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Object 5"/>
          <p:cNvGraphicFramePr>
            <a:graphicFrameLocks noChangeAspect="1"/>
          </p:cNvGraphicFramePr>
          <p:nvPr/>
        </p:nvGraphicFramePr>
        <p:xfrm>
          <a:off x="1295400" y="3810000"/>
          <a:ext cx="5994400" cy="933450"/>
        </p:xfrm>
        <a:graphic>
          <a:graphicData uri="http://schemas.openxmlformats.org/presentationml/2006/ole">
            <mc:AlternateContent xmlns:mc="http://schemas.openxmlformats.org/markup-compatibility/2006">
              <mc:Choice xmlns:v="urn:schemas-microsoft-com:vml" Requires="v">
                <p:oleObj spid="_x0000_s3074" name="Picture" r:id="rId3" imgW="3181382" imgH="495997" progId="Word.Picture.8">
                  <p:embed/>
                </p:oleObj>
              </mc:Choice>
              <mc:Fallback>
                <p:oleObj name="Picture" r:id="rId3" imgW="3181382" imgH="495997" progId="Word.Picture.8">
                  <p:embed/>
                  <p:pic>
                    <p:nvPicPr>
                      <p:cNvPr id="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81000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 6"/>
          <p:cNvGrpSpPr>
            <a:grpSpLocks/>
          </p:cNvGrpSpPr>
          <p:nvPr/>
        </p:nvGrpSpPr>
        <p:grpSpPr bwMode="auto">
          <a:xfrm>
            <a:off x="379413" y="2971800"/>
            <a:ext cx="7964487" cy="742950"/>
            <a:chOff x="239" y="1872"/>
            <a:chExt cx="5017" cy="468"/>
          </a:xfrm>
        </p:grpSpPr>
        <p:sp>
          <p:nvSpPr>
            <p:cNvPr id="6" name="Text Box 7"/>
            <p:cNvSpPr txBox="1">
              <a:spLocks noChangeArrowheads="1"/>
            </p:cNvSpPr>
            <p:nvPr/>
          </p:nvSpPr>
          <p:spPr bwMode="auto">
            <a:xfrm>
              <a:off x="239" y="1939"/>
              <a:ext cx="22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T</a:t>
              </a:r>
              <a:endParaRPr lang="en-US" altLang="en-US" sz="2400">
                <a:latin typeface="Times New Roman" panose="02020603050405020304" pitchFamily="18" charset="0"/>
              </a:endParaRPr>
            </a:p>
          </p:txBody>
        </p:sp>
        <p:sp>
          <p:nvSpPr>
            <p:cNvPr id="7" name="Text Box 8"/>
            <p:cNvSpPr txBox="1">
              <a:spLocks noChangeArrowheads="1"/>
            </p:cNvSpPr>
            <p:nvPr/>
          </p:nvSpPr>
          <p:spPr bwMode="auto">
            <a:xfrm>
              <a:off x="331" y="2032"/>
              <a:ext cx="6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t>transmit</a:t>
              </a:r>
              <a:endParaRPr lang="en-US" altLang="en-US" sz="2400" dirty="0">
                <a:latin typeface="Times New Roman" panose="02020603050405020304" pitchFamily="18" charset="0"/>
              </a:endParaRPr>
            </a:p>
          </p:txBody>
        </p:sp>
        <p:sp>
          <p:nvSpPr>
            <p:cNvPr id="8" name="Text Box 9"/>
            <p:cNvSpPr txBox="1">
              <a:spLocks noChangeArrowheads="1"/>
            </p:cNvSpPr>
            <p:nvPr/>
          </p:nvSpPr>
          <p:spPr bwMode="auto">
            <a:xfrm>
              <a:off x="937" y="1951"/>
              <a:ext cx="19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t>
              </a:r>
              <a:endParaRPr lang="en-US" altLang="en-US" sz="2400">
                <a:latin typeface="Times New Roman" panose="02020603050405020304" pitchFamily="18" charset="0"/>
              </a:endParaRPr>
            </a:p>
          </p:txBody>
        </p:sp>
        <p:sp>
          <p:nvSpPr>
            <p:cNvPr id="9" name="Text Box 10"/>
            <p:cNvSpPr txBox="1">
              <a:spLocks noChangeArrowheads="1"/>
            </p:cNvSpPr>
            <p:nvPr/>
          </p:nvSpPr>
          <p:spPr bwMode="auto">
            <a:xfrm>
              <a:off x="3458" y="1886"/>
              <a:ext cx="72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8kb/pkt</a:t>
              </a:r>
              <a:endParaRPr lang="en-US" altLang="en-US" sz="2400">
                <a:latin typeface="Times New Roman" panose="02020603050405020304" pitchFamily="18" charset="0"/>
              </a:endParaRPr>
            </a:p>
          </p:txBody>
        </p:sp>
        <p:sp>
          <p:nvSpPr>
            <p:cNvPr id="10" name="Text Box 11"/>
            <p:cNvSpPr txBox="1">
              <a:spLocks noChangeArrowheads="1"/>
            </p:cNvSpPr>
            <p:nvPr/>
          </p:nvSpPr>
          <p:spPr bwMode="auto">
            <a:xfrm>
              <a:off x="3379" y="2090"/>
              <a:ext cx="111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10**3 kb/sec</a:t>
              </a:r>
              <a:endParaRPr lang="en-US" altLang="en-US" sz="2400">
                <a:latin typeface="Times New Roman" panose="02020603050405020304" pitchFamily="18" charset="0"/>
              </a:endParaRPr>
            </a:p>
          </p:txBody>
        </p:sp>
        <p:sp>
          <p:nvSpPr>
            <p:cNvPr id="11" name="Text Box 12"/>
            <p:cNvSpPr txBox="1">
              <a:spLocks noChangeArrowheads="1"/>
            </p:cNvSpPr>
            <p:nvPr/>
          </p:nvSpPr>
          <p:spPr bwMode="auto">
            <a:xfrm>
              <a:off x="4662" y="1988"/>
              <a:ext cx="5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 8 ms</a:t>
              </a:r>
              <a:endParaRPr lang="en-US" altLang="en-US" sz="2400">
                <a:latin typeface="Times New Roman" panose="02020603050405020304" pitchFamily="18" charset="0"/>
              </a:endParaRPr>
            </a:p>
          </p:txBody>
        </p:sp>
        <p:sp>
          <p:nvSpPr>
            <p:cNvPr id="12" name="Line 13"/>
            <p:cNvSpPr>
              <a:spLocks noChangeShapeType="1"/>
            </p:cNvSpPr>
            <p:nvPr/>
          </p:nvSpPr>
          <p:spPr bwMode="auto">
            <a:xfrm>
              <a:off x="3488" y="2103"/>
              <a:ext cx="8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Text Box 14"/>
            <p:cNvSpPr txBox="1">
              <a:spLocks noChangeArrowheads="1"/>
            </p:cNvSpPr>
            <p:nvPr/>
          </p:nvSpPr>
          <p:spPr bwMode="auto">
            <a:xfrm>
              <a:off x="1200" y="1872"/>
              <a:ext cx="190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L (packet length in bits)</a:t>
              </a:r>
              <a:endParaRPr lang="en-US" altLang="en-US" sz="2400">
                <a:latin typeface="Times New Roman" panose="02020603050405020304" pitchFamily="18" charset="0"/>
              </a:endParaRPr>
            </a:p>
          </p:txBody>
        </p:sp>
        <p:sp>
          <p:nvSpPr>
            <p:cNvPr id="14" name="Text Box 15"/>
            <p:cNvSpPr txBox="1">
              <a:spLocks noChangeArrowheads="1"/>
            </p:cNvSpPr>
            <p:nvPr/>
          </p:nvSpPr>
          <p:spPr bwMode="auto">
            <a:xfrm>
              <a:off x="1186" y="2076"/>
              <a:ext cx="20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R (transmission rate, bps)</a:t>
              </a:r>
              <a:endParaRPr lang="en-US" altLang="en-US" sz="2400">
                <a:latin typeface="Times New Roman" panose="02020603050405020304" pitchFamily="18" charset="0"/>
              </a:endParaRPr>
            </a:p>
          </p:txBody>
        </p:sp>
        <p:sp>
          <p:nvSpPr>
            <p:cNvPr id="15" name="Line 16"/>
            <p:cNvSpPr>
              <a:spLocks noChangeShapeType="1"/>
            </p:cNvSpPr>
            <p:nvPr/>
          </p:nvSpPr>
          <p:spPr bwMode="auto">
            <a:xfrm>
              <a:off x="1232" y="2103"/>
              <a:ext cx="1851"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Text Box 17"/>
            <p:cNvSpPr txBox="1">
              <a:spLocks noChangeArrowheads="1"/>
            </p:cNvSpPr>
            <p:nvPr/>
          </p:nvSpPr>
          <p:spPr bwMode="auto">
            <a:xfrm>
              <a:off x="3219" y="1968"/>
              <a:ext cx="19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a:t>
              </a:r>
              <a:endParaRPr lang="en-US" altLang="en-US" sz="2400">
                <a:latin typeface="Times New Roman" panose="02020603050405020304" pitchFamily="18" charset="0"/>
              </a:endParaRPr>
            </a:p>
          </p:txBody>
        </p:sp>
      </p:grpSp>
      <p:sp>
        <p:nvSpPr>
          <p:cNvPr id="18" name="Rectangle 17"/>
          <p:cNvSpPr/>
          <p:nvPr/>
        </p:nvSpPr>
        <p:spPr>
          <a:xfrm>
            <a:off x="542924" y="5083329"/>
            <a:ext cx="8402667" cy="400110"/>
          </a:xfrm>
          <a:prstGeom prst="rect">
            <a:avLst/>
          </a:prstGeom>
        </p:spPr>
        <p:txBody>
          <a:bodyPr wrap="square">
            <a:spAutoFit/>
          </a:bodyPr>
          <a:lstStyle/>
          <a:p>
            <a:pPr lvl="1"/>
            <a:r>
              <a:rPr lang="en-US" altLang="en-US" sz="2000" dirty="0"/>
              <a:t>1KB </a:t>
            </a:r>
            <a:r>
              <a:rPr lang="en-US" altLang="en-US" sz="2000" dirty="0" err="1"/>
              <a:t>pkt</a:t>
            </a:r>
            <a:r>
              <a:rPr lang="en-US" altLang="en-US" sz="2000" dirty="0"/>
              <a:t> every 100 </a:t>
            </a:r>
            <a:r>
              <a:rPr lang="en-US" altLang="en-US" sz="2000" dirty="0" err="1"/>
              <a:t>ms</a:t>
            </a:r>
            <a:r>
              <a:rPr lang="en-US" altLang="en-US" sz="2000" dirty="0"/>
              <a:t> -&gt; 80Kbps throughput on a 1 Mbps link</a:t>
            </a:r>
          </a:p>
        </p:txBody>
      </p:sp>
    </p:spTree>
    <p:extLst>
      <p:ext uri="{BB962C8B-B14F-4D97-AF65-F5344CB8AC3E}">
        <p14:creationId xmlns:p14="http://schemas.microsoft.com/office/powerpoint/2010/main" val="2344119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solidFill>
                  <a:srgbClr val="FF0000"/>
                </a:solidFill>
              </a:rPr>
              <a:t>Pipelining:</a:t>
            </a:r>
            <a:r>
              <a:rPr lang="en-US" altLang="en-US" dirty="0"/>
              <a:t> sender allows multiple, “in-flight”, yet-to-be-acknowledged </a:t>
            </a:r>
            <a:r>
              <a:rPr lang="en-US" altLang="en-US" dirty="0" err="1"/>
              <a:t>pkts</a:t>
            </a:r>
            <a:endParaRPr lang="en-US" altLang="en-US" dirty="0"/>
          </a:p>
          <a:p>
            <a:pPr lvl="1"/>
            <a:r>
              <a:rPr lang="en-US" altLang="en-US" dirty="0"/>
              <a:t>range of sequence numbers must be increased</a:t>
            </a:r>
          </a:p>
          <a:p>
            <a:pPr lvl="1"/>
            <a:r>
              <a:rPr lang="en-US" altLang="en-US" dirty="0"/>
              <a:t>buffering at sender and/or receiver</a:t>
            </a:r>
          </a:p>
          <a:p>
            <a:r>
              <a:rPr lang="en-US" altLang="en-US" dirty="0"/>
              <a:t>Two generic forms of pipelined protocols</a:t>
            </a:r>
          </a:p>
          <a:p>
            <a:pPr lvl="1"/>
            <a:r>
              <a:rPr lang="en-US" altLang="en-US" sz="2400" i="1" dirty="0">
                <a:solidFill>
                  <a:srgbClr val="FF0000"/>
                </a:solidFill>
              </a:rPr>
              <a:t>go-Back-N</a:t>
            </a:r>
          </a:p>
          <a:p>
            <a:pPr lvl="1"/>
            <a:r>
              <a:rPr lang="en-US" altLang="en-US" sz="2400" i="1" dirty="0">
                <a:solidFill>
                  <a:srgbClr val="FF0000"/>
                </a:solidFill>
              </a:rPr>
              <a:t>selective repeat</a:t>
            </a:r>
          </a:p>
          <a:p>
            <a:endParaRPr lang="en-US" altLang="en-US" dirty="0"/>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rPr>
              <a:t>Pipelined protocols</a:t>
            </a:r>
            <a:endParaRPr lang="en-IN" b="0" dirty="0">
              <a:solidFill>
                <a:srgbClr val="FF0000"/>
              </a:solidFill>
            </a:endParaRPr>
          </a:p>
        </p:txBody>
      </p:sp>
    </p:spTree>
    <p:extLst>
      <p:ext uri="{BB962C8B-B14F-4D97-AF65-F5344CB8AC3E}">
        <p14:creationId xmlns:p14="http://schemas.microsoft.com/office/powerpoint/2010/main" val="9802900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Allow up to </a:t>
            </a:r>
            <a:r>
              <a:rPr lang="en-US" altLang="en-US" i="1" dirty="0"/>
              <a:t>N</a:t>
            </a:r>
            <a:r>
              <a:rPr lang="en-US" altLang="en-US" dirty="0"/>
              <a:t> </a:t>
            </a:r>
            <a:r>
              <a:rPr lang="en-US" altLang="en-US" dirty="0" err="1"/>
              <a:t>unACKed</a:t>
            </a:r>
            <a:r>
              <a:rPr lang="en-US" altLang="en-US" dirty="0"/>
              <a:t> </a:t>
            </a:r>
            <a:r>
              <a:rPr lang="en-US" altLang="en-US" dirty="0" err="1"/>
              <a:t>pkts</a:t>
            </a:r>
            <a:r>
              <a:rPr lang="en-US" altLang="en-US" dirty="0"/>
              <a:t> in the network</a:t>
            </a:r>
          </a:p>
          <a:p>
            <a:endParaRPr lang="en-US" altLang="en-US" dirty="0"/>
          </a:p>
          <a:p>
            <a:pPr lvl="1"/>
            <a:r>
              <a:rPr lang="en-US" altLang="en-US" dirty="0">
                <a:solidFill>
                  <a:srgbClr val="002060"/>
                </a:solidFill>
              </a:rPr>
              <a:t>N is the Window size</a:t>
            </a:r>
          </a:p>
          <a:p>
            <a:pPr lvl="1"/>
            <a:endParaRPr lang="en-US" altLang="en-US" dirty="0"/>
          </a:p>
          <a:p>
            <a:r>
              <a:rPr lang="en-US" altLang="en-US" dirty="0"/>
              <a:t>Sender Operation:</a:t>
            </a:r>
          </a:p>
          <a:p>
            <a:endParaRPr lang="en-US" altLang="en-US" dirty="0"/>
          </a:p>
          <a:p>
            <a:pPr lvl="1"/>
            <a:r>
              <a:rPr lang="en-US" altLang="en-US" dirty="0">
                <a:solidFill>
                  <a:srgbClr val="002060"/>
                </a:solidFill>
              </a:rPr>
              <a:t>If window not full, transmit</a:t>
            </a:r>
          </a:p>
          <a:p>
            <a:pPr lvl="1"/>
            <a:r>
              <a:rPr lang="en-US" altLang="en-US" dirty="0">
                <a:solidFill>
                  <a:srgbClr val="002060"/>
                </a:solidFill>
              </a:rPr>
              <a:t>ACKs are cumulative </a:t>
            </a:r>
          </a:p>
          <a:p>
            <a:pPr lvl="1"/>
            <a:r>
              <a:rPr lang="en-US" altLang="en-US" dirty="0">
                <a:solidFill>
                  <a:srgbClr val="002060"/>
                </a:solidFill>
              </a:rPr>
              <a:t>On timeout, send all packets previously sent but not yet </a:t>
            </a:r>
            <a:r>
              <a:rPr lang="en-US" altLang="en-US" dirty="0" err="1">
                <a:solidFill>
                  <a:srgbClr val="002060"/>
                </a:solidFill>
              </a:rPr>
              <a:t>ACKed</a:t>
            </a:r>
            <a:r>
              <a:rPr lang="en-US" altLang="en-US" dirty="0">
                <a:solidFill>
                  <a:srgbClr val="002060"/>
                </a:solidFill>
              </a:rPr>
              <a:t>.</a:t>
            </a:r>
          </a:p>
          <a:p>
            <a:pPr lvl="1"/>
            <a:r>
              <a:rPr lang="en-US" altLang="en-US" dirty="0">
                <a:solidFill>
                  <a:srgbClr val="002060"/>
                </a:solidFill>
              </a:rPr>
              <a:t>Uses a single timer – represents the oldest transmitted, but not yet </a:t>
            </a:r>
            <a:r>
              <a:rPr lang="en-US" altLang="en-US" dirty="0" err="1">
                <a:solidFill>
                  <a:srgbClr val="002060"/>
                </a:solidFill>
              </a:rPr>
              <a:t>ACKed</a:t>
            </a:r>
            <a:r>
              <a:rPr lang="en-US" altLang="en-US" dirty="0">
                <a:solidFill>
                  <a:srgbClr val="002060"/>
                </a:solidFill>
              </a:rPr>
              <a:t> </a:t>
            </a:r>
            <a:r>
              <a:rPr lang="en-US" altLang="en-US" dirty="0" err="1">
                <a:solidFill>
                  <a:srgbClr val="002060"/>
                </a:solidFill>
              </a:rPr>
              <a:t>pkt</a:t>
            </a:r>
            <a:endParaRPr lang="en-US" altLang="en-US" dirty="0">
              <a:solidFill>
                <a:srgbClr val="002060"/>
              </a:solidFill>
            </a:endParaRPr>
          </a:p>
          <a:p>
            <a:endParaRPr lang="en-IN" dirty="0">
              <a:solidFill>
                <a:srgbClr val="002060"/>
              </a:solidFill>
            </a:endParaRPr>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Go-Back-N</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6200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1.	[0, base-1]  - packets that have already been transmitted and acknowledged</a:t>
            </a:r>
          </a:p>
          <a:p>
            <a:endParaRPr lang="en-US" altLang="en-US" dirty="0"/>
          </a:p>
          <a:p>
            <a:r>
              <a:rPr lang="en-US" altLang="en-US" dirty="0"/>
              <a:t>2. [base,nextsequence-1] - packets that have been sent but not yet </a:t>
            </a:r>
            <a:r>
              <a:rPr lang="en-US" altLang="en-US" dirty="0" err="1"/>
              <a:t>ack</a:t>
            </a:r>
            <a:endParaRPr lang="en-US" altLang="en-US" dirty="0"/>
          </a:p>
          <a:p>
            <a:endParaRPr lang="en-US" altLang="en-US" dirty="0"/>
          </a:p>
          <a:p>
            <a:r>
              <a:rPr lang="en-US" altLang="en-US" dirty="0"/>
              <a:t>3. [</a:t>
            </a:r>
            <a:r>
              <a:rPr lang="en-US" altLang="en-US" dirty="0" err="1"/>
              <a:t>nextseqnum</a:t>
            </a:r>
            <a:r>
              <a:rPr lang="en-US" altLang="en-US" dirty="0"/>
              <a:t>, base+N-1] - packets that can be sent immediately</a:t>
            </a:r>
          </a:p>
          <a:p>
            <a:endParaRPr lang="en-US" altLang="en-US" dirty="0"/>
          </a:p>
          <a:p>
            <a:r>
              <a:rPr lang="en-US" altLang="en-US" dirty="0"/>
              <a:t>4. </a:t>
            </a:r>
            <a:r>
              <a:rPr lang="en-US" altLang="en-US" dirty="0" err="1"/>
              <a:t>Seqnum</a:t>
            </a:r>
            <a:r>
              <a:rPr lang="en-US" altLang="en-US" dirty="0"/>
              <a:t> &gt; N+1 cannot be used until </a:t>
            </a:r>
            <a:r>
              <a:rPr lang="en-US" altLang="en-US" dirty="0" err="1"/>
              <a:t>unack</a:t>
            </a:r>
            <a:r>
              <a:rPr lang="en-US" altLang="en-US" dirty="0"/>
              <a:t> packet in the </a:t>
            </a:r>
            <a:r>
              <a:rPr lang="en-US" altLang="en-US" dirty="0" err="1"/>
              <a:t>pipelimne</a:t>
            </a:r>
            <a:r>
              <a:rPr lang="en-US" altLang="en-US" dirty="0"/>
              <a:t> is </a:t>
            </a:r>
            <a:r>
              <a:rPr lang="en-US" altLang="en-US" dirty="0" err="1"/>
              <a:t>ack</a:t>
            </a:r>
            <a:r>
              <a:rPr lang="en-US" altLang="en-US" dirty="0"/>
              <a:t> </a:t>
            </a:r>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4 intervals in the range of sequence numbers</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406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Go-Back-N</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514350" y="1323975"/>
            <a:ext cx="8324850" cy="12192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Tx/>
              <a:buNone/>
            </a:pPr>
            <a:r>
              <a:rPr lang="en-US" altLang="en-US">
                <a:solidFill>
                  <a:srgbClr val="FF0000"/>
                </a:solidFill>
              </a:rPr>
              <a:t>Sender:</a:t>
            </a:r>
            <a:endParaRPr lang="en-US" altLang="en-US"/>
          </a:p>
          <a:p>
            <a:pPr>
              <a:lnSpc>
                <a:spcPct val="90000"/>
              </a:lnSpc>
            </a:pPr>
            <a:r>
              <a:rPr lang="en-US" altLang="en-US" sz="2000"/>
              <a:t>k-bit seq # in pkt header</a:t>
            </a:r>
          </a:p>
          <a:p>
            <a:pPr>
              <a:lnSpc>
                <a:spcPct val="90000"/>
              </a:lnSpc>
            </a:pPr>
            <a:r>
              <a:rPr lang="en-US" altLang="en-US" sz="2000"/>
              <a:t>“window” of up to N, consecutive unack’ed pkts allowed</a:t>
            </a:r>
          </a:p>
        </p:txBody>
      </p:sp>
      <p:pic>
        <p:nvPicPr>
          <p:cNvPr id="5" name="Picture 4" descr="gbn_seqn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2752725"/>
            <a:ext cx="8099425" cy="16303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a:spLocks noChangeArrowheads="1"/>
          </p:cNvSpPr>
          <p:nvPr/>
        </p:nvSpPr>
        <p:spPr bwMode="auto">
          <a:xfrm>
            <a:off x="457200" y="4495800"/>
            <a:ext cx="832485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fontAlgn="base">
              <a:spcBef>
                <a:spcPct val="20000"/>
              </a:spcBef>
              <a:spcAft>
                <a:spcPct val="0"/>
              </a:spcAft>
              <a:buChar char="»"/>
              <a:defRPr>
                <a:solidFill>
                  <a:schemeClr val="tx1"/>
                </a:solidFill>
                <a:latin typeface="Arial" panose="020B0604020202020204" pitchFamily="34" charset="0"/>
              </a:defRPr>
            </a:lvl6pPr>
            <a:lvl7pPr marL="2971800" indent="-228600" fontAlgn="base">
              <a:spcBef>
                <a:spcPct val="20000"/>
              </a:spcBef>
              <a:spcAft>
                <a:spcPct val="0"/>
              </a:spcAft>
              <a:buChar char="»"/>
              <a:defRPr>
                <a:solidFill>
                  <a:schemeClr val="tx1"/>
                </a:solidFill>
                <a:latin typeface="Arial" panose="020B0604020202020204" pitchFamily="34" charset="0"/>
              </a:defRPr>
            </a:lvl7pPr>
            <a:lvl8pPr marL="3429000" indent="-228600" fontAlgn="base">
              <a:spcBef>
                <a:spcPct val="20000"/>
              </a:spcBef>
              <a:spcAft>
                <a:spcPct val="0"/>
              </a:spcAft>
              <a:buChar char="»"/>
              <a:defRPr>
                <a:solidFill>
                  <a:schemeClr val="tx1"/>
                </a:solidFill>
                <a:latin typeface="Arial" panose="020B0604020202020204" pitchFamily="34" charset="0"/>
              </a:defRPr>
            </a:lvl8pPr>
            <a:lvl9pPr marL="3886200" indent="-228600" fontAlgn="base">
              <a:spcBef>
                <a:spcPct val="20000"/>
              </a:spcBef>
              <a:spcAft>
                <a:spcPct val="0"/>
              </a:spcAft>
              <a:buChar char="»"/>
              <a:defRPr>
                <a:solidFill>
                  <a:schemeClr val="tx1"/>
                </a:solidFill>
                <a:latin typeface="Arial" panose="020B0604020202020204" pitchFamily="34" charset="0"/>
              </a:defRPr>
            </a:lvl9pPr>
          </a:lstStyle>
          <a:p>
            <a:r>
              <a:rPr lang="en-US" altLang="en-US" sz="2000"/>
              <a:t>ACK(n): ACKs all pkts up to, including seq # n - “cumulative ACK”</a:t>
            </a:r>
          </a:p>
          <a:p>
            <a:pPr lvl="1"/>
            <a:r>
              <a:rPr lang="en-US" altLang="en-US" sz="2000"/>
              <a:t>may receive duplicate ACKs (see receiver)</a:t>
            </a:r>
          </a:p>
          <a:p>
            <a:r>
              <a:rPr lang="en-US" altLang="en-US" sz="2000"/>
              <a:t>timer for each in-flight pkt</a:t>
            </a:r>
          </a:p>
          <a:p>
            <a:r>
              <a:rPr lang="en-US" altLang="en-US" sz="2000" i="1"/>
              <a:t>timeout(n):</a:t>
            </a:r>
            <a:r>
              <a:rPr lang="en-US" altLang="en-US" sz="2000"/>
              <a:t> retransmit pkt n and all higher seq # pkts in window</a:t>
            </a:r>
          </a:p>
        </p:txBody>
      </p:sp>
    </p:spTree>
    <p:extLst>
      <p:ext uri="{BB962C8B-B14F-4D97-AF65-F5344CB8AC3E}">
        <p14:creationId xmlns:p14="http://schemas.microsoft.com/office/powerpoint/2010/main" val="1065826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GBN in action</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gbn_examp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4859" y="1614607"/>
            <a:ext cx="4703563"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019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dirty="0"/>
              <a:t>receiver </a:t>
            </a:r>
            <a:r>
              <a:rPr lang="en-US" altLang="en-US" i="1" dirty="0"/>
              <a:t>individually</a:t>
            </a:r>
            <a:r>
              <a:rPr lang="en-US" altLang="en-US" dirty="0"/>
              <a:t> acknowledges all correctly received </a:t>
            </a:r>
            <a:r>
              <a:rPr lang="en-US" altLang="en-US" dirty="0" err="1"/>
              <a:t>pkts</a:t>
            </a:r>
            <a:endParaRPr lang="en-US" altLang="en-US" dirty="0"/>
          </a:p>
          <a:p>
            <a:pPr lvl="1"/>
            <a:r>
              <a:rPr lang="en-US" altLang="en-US" sz="2000" dirty="0"/>
              <a:t>buffers </a:t>
            </a:r>
            <a:r>
              <a:rPr lang="en-US" altLang="en-US" sz="2000" dirty="0" err="1"/>
              <a:t>pkts</a:t>
            </a:r>
            <a:r>
              <a:rPr lang="en-US" altLang="en-US" sz="2000" dirty="0"/>
              <a:t>, as needed, for eventual in-order delivery to upper layer</a:t>
            </a:r>
          </a:p>
          <a:p>
            <a:r>
              <a:rPr lang="en-US" altLang="en-US" dirty="0"/>
              <a:t>sender only resends </a:t>
            </a:r>
            <a:r>
              <a:rPr lang="en-US" altLang="en-US" dirty="0" err="1"/>
              <a:t>pkts</a:t>
            </a:r>
            <a:r>
              <a:rPr lang="en-US" altLang="en-US" dirty="0"/>
              <a:t> for which ACK not received</a:t>
            </a:r>
          </a:p>
          <a:p>
            <a:pPr lvl="1"/>
            <a:r>
              <a:rPr lang="en-US" altLang="en-US" sz="2000" dirty="0"/>
              <a:t>sender timer for each </a:t>
            </a:r>
            <a:r>
              <a:rPr lang="en-US" altLang="en-US" sz="2000" dirty="0" err="1"/>
              <a:t>unACKed</a:t>
            </a:r>
            <a:r>
              <a:rPr lang="en-US" altLang="en-US" sz="2000" dirty="0"/>
              <a:t> </a:t>
            </a:r>
            <a:r>
              <a:rPr lang="en-US" altLang="en-US" sz="2000" dirty="0" err="1"/>
              <a:t>pkt</a:t>
            </a:r>
            <a:endParaRPr lang="en-US" altLang="en-US" sz="2000" dirty="0"/>
          </a:p>
          <a:p>
            <a:r>
              <a:rPr lang="en-US" altLang="en-US" dirty="0"/>
              <a:t>sender window</a:t>
            </a:r>
          </a:p>
          <a:p>
            <a:pPr lvl="1"/>
            <a:r>
              <a:rPr lang="en-US" altLang="en-US" sz="2000" dirty="0"/>
              <a:t>N consecutive </a:t>
            </a:r>
            <a:r>
              <a:rPr lang="en-US" altLang="en-US" sz="2000" dirty="0" err="1"/>
              <a:t>seq</a:t>
            </a:r>
            <a:r>
              <a:rPr lang="en-US" altLang="en-US" sz="2000" dirty="0"/>
              <a:t> #’s</a:t>
            </a:r>
          </a:p>
          <a:p>
            <a:pPr lvl="1"/>
            <a:r>
              <a:rPr lang="en-US" altLang="en-US" sz="2000" dirty="0"/>
              <a:t>again limits </a:t>
            </a:r>
            <a:r>
              <a:rPr lang="en-US" altLang="en-US" sz="2000" dirty="0" err="1"/>
              <a:t>seq</a:t>
            </a:r>
            <a:r>
              <a:rPr lang="en-US" altLang="en-US" sz="2000" dirty="0"/>
              <a:t> #s of sent, </a:t>
            </a:r>
            <a:r>
              <a:rPr lang="en-US" altLang="en-US" sz="2000" dirty="0" err="1"/>
              <a:t>unACKed</a:t>
            </a:r>
            <a:r>
              <a:rPr lang="en-US" altLang="en-US" sz="2000" dirty="0"/>
              <a:t> </a:t>
            </a:r>
            <a:r>
              <a:rPr lang="en-US" altLang="en-US" sz="2000" dirty="0" err="1"/>
              <a:t>pkts</a:t>
            </a:r>
            <a:endParaRPr lang="en-US" altLang="en-US" sz="2000" dirty="0"/>
          </a:p>
          <a:p>
            <a:endParaRPr lang="en-IN" dirty="0"/>
          </a:p>
        </p:txBody>
      </p:sp>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Selective Repeat</a:t>
            </a:r>
            <a:endParaRPr lang="en-IN"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9350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Selective repeat: sender, receiver windows</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sr_seqn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0015" y="1493838"/>
            <a:ext cx="758062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99393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Selective repeat</a:t>
            </a:r>
            <a:endParaRPr lang="en-IN" b="0"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1680708" y="1600200"/>
            <a:ext cx="3810000" cy="46482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ZapfDingbats" pitchFamily="82" charset="2"/>
              <a:buNone/>
            </a:pPr>
            <a:r>
              <a:rPr lang="en-US" altLang="en-US">
                <a:solidFill>
                  <a:srgbClr val="FF0000"/>
                </a:solidFill>
              </a:rPr>
              <a:t>data from above :</a:t>
            </a:r>
            <a:endParaRPr lang="en-US" altLang="en-US"/>
          </a:p>
          <a:p>
            <a:r>
              <a:rPr lang="en-US" altLang="en-US" sz="2000"/>
              <a:t>if next available seq # in window, send pkt</a:t>
            </a:r>
          </a:p>
          <a:p>
            <a:pPr>
              <a:buFont typeface="ZapfDingbats" pitchFamily="82" charset="2"/>
              <a:buNone/>
            </a:pPr>
            <a:r>
              <a:rPr lang="en-US" altLang="en-US">
                <a:solidFill>
                  <a:srgbClr val="FF0000"/>
                </a:solidFill>
              </a:rPr>
              <a:t>timeout(n):</a:t>
            </a:r>
            <a:endParaRPr lang="en-US" altLang="en-US"/>
          </a:p>
          <a:p>
            <a:r>
              <a:rPr lang="en-US" altLang="en-US" sz="2000"/>
              <a:t>resend pkt n, restart timer</a:t>
            </a:r>
          </a:p>
          <a:p>
            <a:pPr>
              <a:buFont typeface="ZapfDingbats" pitchFamily="82" charset="2"/>
              <a:buNone/>
            </a:pPr>
            <a:r>
              <a:rPr lang="en-US" altLang="en-US">
                <a:solidFill>
                  <a:srgbClr val="FF0000"/>
                </a:solidFill>
              </a:rPr>
              <a:t>ACK(n) </a:t>
            </a:r>
            <a:r>
              <a:rPr lang="en-US" altLang="en-US" sz="2000"/>
              <a:t>in </a:t>
            </a:r>
            <a:r>
              <a:rPr lang="en-US" altLang="en-US" sz="1600"/>
              <a:t>[sendbase,sendbase+N]:</a:t>
            </a:r>
            <a:endParaRPr lang="en-US" altLang="en-US" sz="2000"/>
          </a:p>
          <a:p>
            <a:r>
              <a:rPr lang="en-US" altLang="en-US" sz="2000"/>
              <a:t>mark pkt n as received</a:t>
            </a:r>
          </a:p>
          <a:p>
            <a:r>
              <a:rPr lang="en-US" altLang="en-US" sz="2000"/>
              <a:t>if n smallest unACKed pkt, advance window base to next unACKed seq # </a:t>
            </a:r>
            <a:endParaRPr lang="en-US" altLang="en-US"/>
          </a:p>
          <a:p>
            <a:endParaRPr lang="en-US" altLang="en-US" dirty="0"/>
          </a:p>
        </p:txBody>
      </p:sp>
      <p:sp>
        <p:nvSpPr>
          <p:cNvPr id="5" name="Rectangle 4"/>
          <p:cNvSpPr>
            <a:spLocks noChangeArrowheads="1"/>
          </p:cNvSpPr>
          <p:nvPr/>
        </p:nvSpPr>
        <p:spPr bwMode="auto">
          <a:xfrm>
            <a:off x="1642608" y="1457325"/>
            <a:ext cx="3838575" cy="46101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6" name="Rectangle 8"/>
          <p:cNvSpPr>
            <a:spLocks noChangeArrowheads="1"/>
          </p:cNvSpPr>
          <p:nvPr/>
        </p:nvSpPr>
        <p:spPr bwMode="auto">
          <a:xfrm>
            <a:off x="6147933" y="1581150"/>
            <a:ext cx="38100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rgbClr val="FF0000"/>
                </a:solidFill>
              </a:rPr>
              <a:t>pkt n in </a:t>
            </a:r>
            <a:r>
              <a:rPr lang="en-US" altLang="en-US" sz="1600">
                <a:solidFill>
                  <a:srgbClr val="FF0000"/>
                </a:solidFill>
              </a:rPr>
              <a:t>[rcvbase, rcvbase+N-1]</a:t>
            </a:r>
            <a:endParaRPr lang="en-US" altLang="en-US" sz="2400"/>
          </a:p>
          <a:p>
            <a:r>
              <a:rPr lang="en-US" altLang="en-US" sz="2000"/>
              <a:t>send ACK(n)</a:t>
            </a:r>
          </a:p>
          <a:p>
            <a:r>
              <a:rPr lang="en-US" altLang="en-US" sz="2000"/>
              <a:t>out-of-order: buffer</a:t>
            </a:r>
          </a:p>
          <a:p>
            <a:r>
              <a:rPr lang="en-US" altLang="en-US" sz="2000"/>
              <a:t>in-order: deliver (also deliver buffered, in-order pkts), advance window to next not-yet-received pkt</a:t>
            </a:r>
          </a:p>
          <a:p>
            <a:pPr>
              <a:buFont typeface="ZapfDingbats" pitchFamily="82" charset="2"/>
              <a:buNone/>
            </a:pPr>
            <a:r>
              <a:rPr lang="en-US" altLang="en-US" sz="2400">
                <a:solidFill>
                  <a:srgbClr val="FF0000"/>
                </a:solidFill>
              </a:rPr>
              <a:t>pkt n in </a:t>
            </a:r>
            <a:r>
              <a:rPr lang="en-US" altLang="en-US" sz="1600">
                <a:solidFill>
                  <a:srgbClr val="FF0000"/>
                </a:solidFill>
              </a:rPr>
              <a:t>[rcvbase-N,rcvbase-1]</a:t>
            </a:r>
            <a:endParaRPr lang="en-US" altLang="en-US" sz="2400"/>
          </a:p>
          <a:p>
            <a:r>
              <a:rPr lang="en-US" altLang="en-US" sz="2000"/>
              <a:t>ACK(n)</a:t>
            </a:r>
          </a:p>
          <a:p>
            <a:pPr>
              <a:buFont typeface="ZapfDingbats" pitchFamily="82" charset="2"/>
              <a:buNone/>
            </a:pPr>
            <a:r>
              <a:rPr lang="en-US" altLang="en-US" sz="2400">
                <a:solidFill>
                  <a:srgbClr val="FF0000"/>
                </a:solidFill>
              </a:rPr>
              <a:t>otherwise:</a:t>
            </a:r>
            <a:r>
              <a:rPr lang="en-US" altLang="en-US" sz="2000">
                <a:solidFill>
                  <a:srgbClr val="FF0000"/>
                </a:solidFill>
              </a:rPr>
              <a:t> </a:t>
            </a:r>
          </a:p>
          <a:p>
            <a:r>
              <a:rPr lang="en-US" altLang="en-US" sz="2000"/>
              <a:t>ignore </a:t>
            </a:r>
            <a:endParaRPr lang="en-US" altLang="en-US" sz="2400"/>
          </a:p>
          <a:p>
            <a:endParaRPr lang="en-US" altLang="en-US" sz="2400"/>
          </a:p>
        </p:txBody>
      </p:sp>
      <p:sp>
        <p:nvSpPr>
          <p:cNvPr id="7" name="Rectangle 9"/>
          <p:cNvSpPr>
            <a:spLocks noChangeArrowheads="1"/>
          </p:cNvSpPr>
          <p:nvPr/>
        </p:nvSpPr>
        <p:spPr bwMode="auto">
          <a:xfrm>
            <a:off x="6109833" y="1438275"/>
            <a:ext cx="3838575" cy="46101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Tree>
    <p:extLst>
      <p:ext uri="{BB962C8B-B14F-4D97-AF65-F5344CB8AC3E}">
        <p14:creationId xmlns:p14="http://schemas.microsoft.com/office/powerpoint/2010/main" val="3801982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dirty="0"/>
              <a:t>Selective Repeat Example</a:t>
            </a:r>
            <a:endParaRPr lang="en-IN" dirty="0"/>
          </a:p>
        </p:txBody>
      </p:sp>
      <p:sp>
        <p:nvSpPr>
          <p:cNvPr id="4" name="Line 3"/>
          <p:cNvSpPr>
            <a:spLocks noChangeShapeType="1"/>
          </p:cNvSpPr>
          <p:nvPr/>
        </p:nvSpPr>
        <p:spPr bwMode="auto">
          <a:xfrm>
            <a:off x="4975998" y="1137242"/>
            <a:ext cx="0" cy="502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 name="Line 4"/>
          <p:cNvSpPr>
            <a:spLocks noChangeShapeType="1"/>
          </p:cNvSpPr>
          <p:nvPr/>
        </p:nvSpPr>
        <p:spPr bwMode="auto">
          <a:xfrm>
            <a:off x="7185798" y="1137242"/>
            <a:ext cx="0" cy="502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 name="Line 5"/>
          <p:cNvSpPr>
            <a:spLocks noChangeShapeType="1"/>
          </p:cNvSpPr>
          <p:nvPr/>
        </p:nvSpPr>
        <p:spPr bwMode="auto">
          <a:xfrm>
            <a:off x="4975998" y="14420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7" name="Line 6"/>
          <p:cNvSpPr>
            <a:spLocks noChangeShapeType="1"/>
          </p:cNvSpPr>
          <p:nvPr/>
        </p:nvSpPr>
        <p:spPr bwMode="auto">
          <a:xfrm>
            <a:off x="4975998" y="15944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8" name="Line 7"/>
          <p:cNvSpPr>
            <a:spLocks noChangeShapeType="1"/>
          </p:cNvSpPr>
          <p:nvPr/>
        </p:nvSpPr>
        <p:spPr bwMode="auto">
          <a:xfrm>
            <a:off x="4975998" y="17468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9" name="Line 8"/>
          <p:cNvSpPr>
            <a:spLocks noChangeShapeType="1"/>
          </p:cNvSpPr>
          <p:nvPr/>
        </p:nvSpPr>
        <p:spPr bwMode="auto">
          <a:xfrm>
            <a:off x="4975998" y="18992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10" name="Group 9"/>
          <p:cNvGrpSpPr>
            <a:grpSpLocks/>
          </p:cNvGrpSpPr>
          <p:nvPr/>
        </p:nvGrpSpPr>
        <p:grpSpPr bwMode="auto">
          <a:xfrm>
            <a:off x="3658373" y="1442042"/>
            <a:ext cx="1141413" cy="274638"/>
            <a:chOff x="370" y="816"/>
            <a:chExt cx="719" cy="173"/>
          </a:xfrm>
        </p:grpSpPr>
        <p:sp>
          <p:nvSpPr>
            <p:cNvPr id="11" name="Rectangle 10"/>
            <p:cNvSpPr>
              <a:spLocks noChangeArrowheads="1"/>
            </p:cNvSpPr>
            <p:nvPr/>
          </p:nvSpPr>
          <p:spPr bwMode="auto">
            <a:xfrm>
              <a:off x="432" y="816"/>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12" name="Text Box 11"/>
            <p:cNvSpPr txBox="1">
              <a:spLocks noChangeArrowheads="1"/>
            </p:cNvSpPr>
            <p:nvPr/>
          </p:nvSpPr>
          <p:spPr bwMode="auto">
            <a:xfrm>
              <a:off x="370" y="816"/>
              <a:ext cx="71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0123 456789</a:t>
              </a:r>
            </a:p>
          </p:txBody>
        </p:sp>
      </p:grpSp>
      <p:sp>
        <p:nvSpPr>
          <p:cNvPr id="13" name="Text Box 12"/>
          <p:cNvSpPr txBox="1">
            <a:spLocks noChangeArrowheads="1"/>
          </p:cNvSpPr>
          <p:nvPr/>
        </p:nvSpPr>
        <p:spPr bwMode="auto">
          <a:xfrm>
            <a:off x="5052198" y="1289642"/>
            <a:ext cx="5540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PKT0</a:t>
            </a:r>
          </a:p>
        </p:txBody>
      </p:sp>
      <p:sp>
        <p:nvSpPr>
          <p:cNvPr id="14" name="Text Box 13"/>
          <p:cNvSpPr txBox="1">
            <a:spLocks noChangeArrowheads="1"/>
          </p:cNvSpPr>
          <p:nvPr/>
        </p:nvSpPr>
        <p:spPr bwMode="auto">
          <a:xfrm>
            <a:off x="5280798" y="1594442"/>
            <a:ext cx="5286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PKT1</a:t>
            </a:r>
          </a:p>
        </p:txBody>
      </p:sp>
      <p:sp>
        <p:nvSpPr>
          <p:cNvPr id="15" name="Text Box 14"/>
          <p:cNvSpPr txBox="1">
            <a:spLocks noChangeArrowheads="1"/>
          </p:cNvSpPr>
          <p:nvPr/>
        </p:nvSpPr>
        <p:spPr bwMode="auto">
          <a:xfrm>
            <a:off x="5509398" y="1823042"/>
            <a:ext cx="5540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PKT2</a:t>
            </a:r>
          </a:p>
        </p:txBody>
      </p:sp>
      <p:sp>
        <p:nvSpPr>
          <p:cNvPr id="16" name="Text Box 15"/>
          <p:cNvSpPr txBox="1">
            <a:spLocks noChangeArrowheads="1"/>
          </p:cNvSpPr>
          <p:nvPr/>
        </p:nvSpPr>
        <p:spPr bwMode="auto">
          <a:xfrm>
            <a:off x="5737998" y="2051642"/>
            <a:ext cx="5540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PKT3</a:t>
            </a:r>
          </a:p>
        </p:txBody>
      </p:sp>
      <p:sp>
        <p:nvSpPr>
          <p:cNvPr id="17" name="Line 16"/>
          <p:cNvSpPr>
            <a:spLocks noChangeShapeType="1"/>
          </p:cNvSpPr>
          <p:nvPr/>
        </p:nvSpPr>
        <p:spPr bwMode="auto">
          <a:xfrm flipH="1">
            <a:off x="4975998" y="1975442"/>
            <a:ext cx="2209800" cy="11430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 name="Line 17"/>
          <p:cNvSpPr>
            <a:spLocks noChangeShapeType="1"/>
          </p:cNvSpPr>
          <p:nvPr/>
        </p:nvSpPr>
        <p:spPr bwMode="auto">
          <a:xfrm flipH="1">
            <a:off x="5966598" y="2127842"/>
            <a:ext cx="1219200" cy="6096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9" name="Line 18"/>
          <p:cNvSpPr>
            <a:spLocks noChangeShapeType="1"/>
          </p:cNvSpPr>
          <p:nvPr/>
        </p:nvSpPr>
        <p:spPr bwMode="auto">
          <a:xfrm flipH="1">
            <a:off x="4975998" y="2432642"/>
            <a:ext cx="2209800" cy="11430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0" name="Line 19"/>
          <p:cNvSpPr>
            <a:spLocks noChangeShapeType="1"/>
          </p:cNvSpPr>
          <p:nvPr/>
        </p:nvSpPr>
        <p:spPr bwMode="auto">
          <a:xfrm flipH="1">
            <a:off x="4975998" y="2280242"/>
            <a:ext cx="2209800" cy="11430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1" name="Text Box 20"/>
          <p:cNvSpPr txBox="1">
            <a:spLocks noChangeArrowheads="1"/>
          </p:cNvSpPr>
          <p:nvPr/>
        </p:nvSpPr>
        <p:spPr bwMode="auto">
          <a:xfrm>
            <a:off x="5345886" y="2585042"/>
            <a:ext cx="574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ACK0</a:t>
            </a:r>
          </a:p>
        </p:txBody>
      </p:sp>
      <p:sp>
        <p:nvSpPr>
          <p:cNvPr id="22" name="Text Box 21"/>
          <p:cNvSpPr txBox="1">
            <a:spLocks noChangeArrowheads="1"/>
          </p:cNvSpPr>
          <p:nvPr/>
        </p:nvSpPr>
        <p:spPr bwMode="auto">
          <a:xfrm>
            <a:off x="5826898" y="2508842"/>
            <a:ext cx="5492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ACK1</a:t>
            </a:r>
          </a:p>
        </p:txBody>
      </p:sp>
      <p:sp>
        <p:nvSpPr>
          <p:cNvPr id="23" name="Text Box 22"/>
          <p:cNvSpPr txBox="1">
            <a:spLocks noChangeArrowheads="1"/>
          </p:cNvSpPr>
          <p:nvPr/>
        </p:nvSpPr>
        <p:spPr bwMode="auto">
          <a:xfrm>
            <a:off x="5128398" y="3042242"/>
            <a:ext cx="574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ACK2</a:t>
            </a:r>
          </a:p>
        </p:txBody>
      </p:sp>
      <p:sp>
        <p:nvSpPr>
          <p:cNvPr id="24" name="Text Box 23"/>
          <p:cNvSpPr txBox="1">
            <a:spLocks noChangeArrowheads="1"/>
          </p:cNvSpPr>
          <p:nvPr/>
        </p:nvSpPr>
        <p:spPr bwMode="auto">
          <a:xfrm>
            <a:off x="5128398" y="3347042"/>
            <a:ext cx="574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ACK3</a:t>
            </a:r>
          </a:p>
        </p:txBody>
      </p:sp>
      <p:grpSp>
        <p:nvGrpSpPr>
          <p:cNvPr id="25" name="Group 24"/>
          <p:cNvGrpSpPr>
            <a:grpSpLocks/>
          </p:cNvGrpSpPr>
          <p:nvPr/>
        </p:nvGrpSpPr>
        <p:grpSpPr bwMode="auto">
          <a:xfrm>
            <a:off x="3712348" y="3347042"/>
            <a:ext cx="1187450" cy="274638"/>
            <a:chOff x="404" y="2016"/>
            <a:chExt cx="748" cy="173"/>
          </a:xfrm>
        </p:grpSpPr>
        <p:sp>
          <p:nvSpPr>
            <p:cNvPr id="26" name="Rectangle 25"/>
            <p:cNvSpPr>
              <a:spLocks noChangeArrowheads="1"/>
            </p:cNvSpPr>
            <p:nvPr/>
          </p:nvSpPr>
          <p:spPr bwMode="auto">
            <a:xfrm>
              <a:off x="528" y="2016"/>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27" name="Text Box 26"/>
            <p:cNvSpPr txBox="1">
              <a:spLocks noChangeArrowheads="1"/>
            </p:cNvSpPr>
            <p:nvPr/>
          </p:nvSpPr>
          <p:spPr bwMode="auto">
            <a:xfrm>
              <a:off x="404" y="2016"/>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0 1234 56789</a:t>
              </a:r>
            </a:p>
          </p:txBody>
        </p:sp>
      </p:grpSp>
      <p:sp>
        <p:nvSpPr>
          <p:cNvPr id="28" name="Line 27"/>
          <p:cNvSpPr>
            <a:spLocks noChangeShapeType="1"/>
          </p:cNvSpPr>
          <p:nvPr/>
        </p:nvSpPr>
        <p:spPr bwMode="auto">
          <a:xfrm>
            <a:off x="4975998" y="31184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9" name="Line 28"/>
          <p:cNvSpPr>
            <a:spLocks noChangeShapeType="1"/>
          </p:cNvSpPr>
          <p:nvPr/>
        </p:nvSpPr>
        <p:spPr bwMode="auto">
          <a:xfrm flipH="1">
            <a:off x="4975998" y="3651842"/>
            <a:ext cx="2209800" cy="11430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 name="Text Box 29"/>
          <p:cNvSpPr txBox="1">
            <a:spLocks noChangeArrowheads="1"/>
          </p:cNvSpPr>
          <p:nvPr/>
        </p:nvSpPr>
        <p:spPr bwMode="auto">
          <a:xfrm>
            <a:off x="6118998" y="3347042"/>
            <a:ext cx="5540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PKT4</a:t>
            </a:r>
          </a:p>
        </p:txBody>
      </p:sp>
      <p:grpSp>
        <p:nvGrpSpPr>
          <p:cNvPr id="31" name="Group 30"/>
          <p:cNvGrpSpPr>
            <a:grpSpLocks/>
          </p:cNvGrpSpPr>
          <p:nvPr/>
        </p:nvGrpSpPr>
        <p:grpSpPr bwMode="auto">
          <a:xfrm>
            <a:off x="3680598" y="3042242"/>
            <a:ext cx="1187450" cy="274638"/>
            <a:chOff x="384" y="1824"/>
            <a:chExt cx="748" cy="173"/>
          </a:xfrm>
        </p:grpSpPr>
        <p:sp>
          <p:nvSpPr>
            <p:cNvPr id="32" name="Rectangle 31"/>
            <p:cNvSpPr>
              <a:spLocks noChangeArrowheads="1"/>
            </p:cNvSpPr>
            <p:nvPr/>
          </p:nvSpPr>
          <p:spPr bwMode="auto">
            <a:xfrm>
              <a:off x="508" y="1824"/>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33" name="Text Box 32"/>
            <p:cNvSpPr txBox="1">
              <a:spLocks noChangeArrowheads="1"/>
            </p:cNvSpPr>
            <p:nvPr/>
          </p:nvSpPr>
          <p:spPr bwMode="auto">
            <a:xfrm>
              <a:off x="384" y="1824"/>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0 1234 56789</a:t>
              </a:r>
            </a:p>
          </p:txBody>
        </p:sp>
      </p:grpSp>
      <p:sp>
        <p:nvSpPr>
          <p:cNvPr id="34" name="Line 33"/>
          <p:cNvSpPr>
            <a:spLocks noChangeShapeType="1"/>
          </p:cNvSpPr>
          <p:nvPr/>
        </p:nvSpPr>
        <p:spPr bwMode="auto">
          <a:xfrm>
            <a:off x="4975998" y="3804242"/>
            <a:ext cx="220980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5" name="Text Box 34"/>
          <p:cNvSpPr txBox="1">
            <a:spLocks noChangeArrowheads="1"/>
          </p:cNvSpPr>
          <p:nvPr/>
        </p:nvSpPr>
        <p:spPr bwMode="auto">
          <a:xfrm>
            <a:off x="5356998" y="3804242"/>
            <a:ext cx="5286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PKT1</a:t>
            </a:r>
          </a:p>
        </p:txBody>
      </p:sp>
      <p:sp>
        <p:nvSpPr>
          <p:cNvPr id="36" name="Line 35"/>
          <p:cNvSpPr>
            <a:spLocks noChangeShapeType="1"/>
          </p:cNvSpPr>
          <p:nvPr/>
        </p:nvSpPr>
        <p:spPr bwMode="auto">
          <a:xfrm flipH="1">
            <a:off x="4975998" y="4337642"/>
            <a:ext cx="2209800" cy="11430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7" name="Text Box 36"/>
          <p:cNvSpPr txBox="1">
            <a:spLocks noChangeArrowheads="1"/>
          </p:cNvSpPr>
          <p:nvPr/>
        </p:nvSpPr>
        <p:spPr bwMode="auto">
          <a:xfrm>
            <a:off x="5356998" y="5099642"/>
            <a:ext cx="5492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ACK1</a:t>
            </a:r>
          </a:p>
        </p:txBody>
      </p:sp>
      <p:sp>
        <p:nvSpPr>
          <p:cNvPr id="38" name="Text Box 37"/>
          <p:cNvSpPr txBox="1">
            <a:spLocks noChangeArrowheads="1"/>
          </p:cNvSpPr>
          <p:nvPr/>
        </p:nvSpPr>
        <p:spPr bwMode="auto">
          <a:xfrm>
            <a:off x="5191898" y="4413842"/>
            <a:ext cx="574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ACK4</a:t>
            </a:r>
          </a:p>
        </p:txBody>
      </p:sp>
      <p:grpSp>
        <p:nvGrpSpPr>
          <p:cNvPr id="39" name="Group 38"/>
          <p:cNvGrpSpPr>
            <a:grpSpLocks/>
          </p:cNvGrpSpPr>
          <p:nvPr/>
        </p:nvGrpSpPr>
        <p:grpSpPr bwMode="auto">
          <a:xfrm>
            <a:off x="3604398" y="5404442"/>
            <a:ext cx="1187450" cy="274638"/>
            <a:chOff x="336" y="3312"/>
            <a:chExt cx="748" cy="173"/>
          </a:xfrm>
        </p:grpSpPr>
        <p:sp>
          <p:nvSpPr>
            <p:cNvPr id="40" name="Rectangle 39"/>
            <p:cNvSpPr>
              <a:spLocks noChangeArrowheads="1"/>
            </p:cNvSpPr>
            <p:nvPr/>
          </p:nvSpPr>
          <p:spPr bwMode="auto">
            <a:xfrm>
              <a:off x="720" y="3312"/>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1" name="Text Box 40"/>
            <p:cNvSpPr txBox="1">
              <a:spLocks noChangeArrowheads="1"/>
            </p:cNvSpPr>
            <p:nvPr/>
          </p:nvSpPr>
          <p:spPr bwMode="auto">
            <a:xfrm>
              <a:off x="336" y="3312"/>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01234 5678 9</a:t>
              </a:r>
            </a:p>
          </p:txBody>
        </p:sp>
      </p:grpSp>
      <p:grpSp>
        <p:nvGrpSpPr>
          <p:cNvPr id="42" name="Group 41"/>
          <p:cNvGrpSpPr>
            <a:grpSpLocks/>
          </p:cNvGrpSpPr>
          <p:nvPr/>
        </p:nvGrpSpPr>
        <p:grpSpPr bwMode="auto">
          <a:xfrm>
            <a:off x="7338198" y="1746842"/>
            <a:ext cx="1187450" cy="274638"/>
            <a:chOff x="2736" y="768"/>
            <a:chExt cx="748" cy="173"/>
          </a:xfrm>
        </p:grpSpPr>
        <p:sp>
          <p:nvSpPr>
            <p:cNvPr id="43" name="Rectangle 42"/>
            <p:cNvSpPr>
              <a:spLocks noChangeArrowheads="1"/>
            </p:cNvSpPr>
            <p:nvPr/>
          </p:nvSpPr>
          <p:spPr bwMode="auto">
            <a:xfrm>
              <a:off x="2880" y="768"/>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4" name="Text Box 43"/>
            <p:cNvSpPr txBox="1">
              <a:spLocks noChangeArrowheads="1"/>
            </p:cNvSpPr>
            <p:nvPr/>
          </p:nvSpPr>
          <p:spPr bwMode="auto">
            <a:xfrm>
              <a:off x="2736" y="768"/>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0 1234 56789</a:t>
              </a:r>
            </a:p>
          </p:txBody>
        </p:sp>
      </p:grpSp>
      <p:grpSp>
        <p:nvGrpSpPr>
          <p:cNvPr id="45" name="Group 44"/>
          <p:cNvGrpSpPr>
            <a:grpSpLocks/>
          </p:cNvGrpSpPr>
          <p:nvPr/>
        </p:nvGrpSpPr>
        <p:grpSpPr bwMode="auto">
          <a:xfrm>
            <a:off x="7338198" y="2051642"/>
            <a:ext cx="1187450" cy="274638"/>
            <a:chOff x="3360" y="1632"/>
            <a:chExt cx="748" cy="173"/>
          </a:xfrm>
        </p:grpSpPr>
        <p:sp>
          <p:nvSpPr>
            <p:cNvPr id="46" name="Rectangle 45"/>
            <p:cNvSpPr>
              <a:spLocks noChangeArrowheads="1"/>
            </p:cNvSpPr>
            <p:nvPr/>
          </p:nvSpPr>
          <p:spPr bwMode="auto">
            <a:xfrm>
              <a:off x="3552" y="1632"/>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47" name="Text Box 46"/>
            <p:cNvSpPr txBox="1">
              <a:spLocks noChangeArrowheads="1"/>
            </p:cNvSpPr>
            <p:nvPr/>
          </p:nvSpPr>
          <p:spPr bwMode="auto">
            <a:xfrm>
              <a:off x="3360" y="1632"/>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01 2345 6789</a:t>
              </a:r>
            </a:p>
          </p:txBody>
        </p:sp>
      </p:grpSp>
      <p:grpSp>
        <p:nvGrpSpPr>
          <p:cNvPr id="48" name="Group 47"/>
          <p:cNvGrpSpPr>
            <a:grpSpLocks/>
          </p:cNvGrpSpPr>
          <p:nvPr/>
        </p:nvGrpSpPr>
        <p:grpSpPr bwMode="auto">
          <a:xfrm>
            <a:off x="7338198" y="3499442"/>
            <a:ext cx="1187450" cy="274638"/>
            <a:chOff x="4080" y="2016"/>
            <a:chExt cx="748" cy="173"/>
          </a:xfrm>
        </p:grpSpPr>
        <p:sp>
          <p:nvSpPr>
            <p:cNvPr id="49" name="Rectangle 48"/>
            <p:cNvSpPr>
              <a:spLocks noChangeArrowheads="1"/>
            </p:cNvSpPr>
            <p:nvPr/>
          </p:nvSpPr>
          <p:spPr bwMode="auto">
            <a:xfrm>
              <a:off x="4464" y="2016"/>
              <a:ext cx="240"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IN" altLang="en-US" sz="1600"/>
            </a:p>
          </p:txBody>
        </p:sp>
        <p:sp>
          <p:nvSpPr>
            <p:cNvPr id="50" name="Text Box 49"/>
            <p:cNvSpPr txBox="1">
              <a:spLocks noChangeArrowheads="1"/>
            </p:cNvSpPr>
            <p:nvPr/>
          </p:nvSpPr>
          <p:spPr bwMode="auto">
            <a:xfrm>
              <a:off x="4080" y="2016"/>
              <a:ext cx="74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200"/>
                <a:t>01234 5678 9</a:t>
              </a:r>
            </a:p>
          </p:txBody>
        </p:sp>
      </p:grpSp>
      <p:sp>
        <p:nvSpPr>
          <p:cNvPr id="51" name="Text Box 50"/>
          <p:cNvSpPr txBox="1">
            <a:spLocks noChangeArrowheads="1"/>
          </p:cNvSpPr>
          <p:nvPr/>
        </p:nvSpPr>
        <p:spPr bwMode="auto">
          <a:xfrm>
            <a:off x="4061598" y="3651842"/>
            <a:ext cx="981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400"/>
              <a:t>Time-Out</a:t>
            </a:r>
          </a:p>
        </p:txBody>
      </p:sp>
      <p:sp>
        <p:nvSpPr>
          <p:cNvPr id="52" name="Text Box 51"/>
          <p:cNvSpPr txBox="1">
            <a:spLocks noChangeArrowheads="1"/>
          </p:cNvSpPr>
          <p:nvPr/>
        </p:nvSpPr>
        <p:spPr bwMode="auto">
          <a:xfrm>
            <a:off x="4518798" y="6242642"/>
            <a:ext cx="871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Sender</a:t>
            </a:r>
          </a:p>
        </p:txBody>
      </p:sp>
      <p:sp>
        <p:nvSpPr>
          <p:cNvPr id="53" name="Text Box 52"/>
          <p:cNvSpPr txBox="1">
            <a:spLocks noChangeArrowheads="1"/>
          </p:cNvSpPr>
          <p:nvPr/>
        </p:nvSpPr>
        <p:spPr bwMode="auto">
          <a:xfrm>
            <a:off x="6660336" y="6166442"/>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600"/>
              <a:t>Receiver</a:t>
            </a:r>
          </a:p>
        </p:txBody>
      </p:sp>
    </p:spTree>
    <p:extLst>
      <p:ext uri="{BB962C8B-B14F-4D97-AF65-F5344CB8AC3E}">
        <p14:creationId xmlns:p14="http://schemas.microsoft.com/office/powerpoint/2010/main" val="213541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checkerboard(across)">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checkerboard(across)">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right)">
                                      <p:cBhvr>
                                        <p:cTn id="57" dur="500"/>
                                        <p:tgtEl>
                                          <p:spTgt spid="17"/>
                                        </p:tgtEl>
                                      </p:cBhvr>
                                    </p:animEffect>
                                  </p:childTnLst>
                                </p:cTn>
                              </p:par>
                            </p:childTnLst>
                          </p:cTn>
                        </p:par>
                        <p:par>
                          <p:cTn id="58" fill="hold">
                            <p:stCondLst>
                              <p:cond delay="500"/>
                            </p:stCondLst>
                            <p:childTnLst>
                              <p:par>
                                <p:cTn id="59" presetID="22" presetClass="entr" presetSubtype="2"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right)">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checkerboard(across)">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right)">
                                      <p:cBhvr>
                                        <p:cTn id="71" dur="500"/>
                                        <p:tgtEl>
                                          <p:spTgt spid="18"/>
                                        </p:tgtEl>
                                      </p:cBhvr>
                                    </p:animEffect>
                                  </p:childTnLst>
                                </p:cTn>
                              </p:par>
                            </p:childTnLst>
                          </p:cTn>
                        </p:par>
                        <p:par>
                          <p:cTn id="72" fill="hold">
                            <p:stCondLst>
                              <p:cond delay="500"/>
                            </p:stCondLst>
                            <p:childTnLst>
                              <p:par>
                                <p:cTn id="73" presetID="22" presetClass="entr" presetSubtype="2" fill="hold" grpId="0" nodeType="after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right)">
                                      <p:cBhvr>
                                        <p:cTn id="75" dur="500"/>
                                        <p:tgtEl>
                                          <p:spTgt spid="2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grpId="0" nodeType="click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right)">
                                      <p:cBhvr>
                                        <p:cTn id="80" dur="500"/>
                                        <p:tgtEl>
                                          <p:spTgt spid="23"/>
                                        </p:tgtEl>
                                      </p:cBhvr>
                                    </p:animEffect>
                                  </p:childTnLst>
                                </p:cTn>
                              </p:par>
                            </p:childTnLst>
                          </p:cTn>
                        </p:par>
                        <p:par>
                          <p:cTn id="81" fill="hold">
                            <p:stCondLst>
                              <p:cond delay="500"/>
                            </p:stCondLst>
                            <p:childTnLst>
                              <p:par>
                                <p:cTn id="82" presetID="22" presetClass="entr" presetSubtype="2"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right)">
                                      <p:cBhvr>
                                        <p:cTn id="84" dur="500"/>
                                        <p:tgtEl>
                                          <p:spTgt spid="20"/>
                                        </p:tgtEl>
                                      </p:cBhvr>
                                    </p:animEffect>
                                  </p:childTnLst>
                                </p:cTn>
                              </p:par>
                            </p:childTnLst>
                          </p:cTn>
                        </p:par>
                        <p:par>
                          <p:cTn id="85" fill="hold">
                            <p:stCondLst>
                              <p:cond delay="1000"/>
                            </p:stCondLst>
                            <p:childTnLst>
                              <p:par>
                                <p:cTn id="86" presetID="22" presetClass="entr" presetSubtype="2" fill="hold" nodeType="after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right)">
                                      <p:cBhvr>
                                        <p:cTn id="88" dur="500"/>
                                        <p:tgtEl>
                                          <p:spTgt spid="19"/>
                                        </p:tgtEl>
                                      </p:cBhvr>
                                    </p:animEffect>
                                  </p:childTnLst>
                                </p:cTn>
                              </p:par>
                            </p:childTnLst>
                          </p:cTn>
                        </p:par>
                        <p:par>
                          <p:cTn id="89" fill="hold">
                            <p:stCondLst>
                              <p:cond delay="1500"/>
                            </p:stCondLst>
                            <p:childTnLst>
                              <p:par>
                                <p:cTn id="90" presetID="22" presetClass="entr" presetSubtype="2"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right)">
                                      <p:cBhvr>
                                        <p:cTn id="92"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95" presetID="5" presetClass="entr" presetSubtype="10"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checkerboard(across)">
                                      <p:cBhvr>
                                        <p:cTn id="97" dur="500"/>
                                        <p:tgtEl>
                                          <p:spTgt spid="2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ipe(left)">
                                      <p:cBhvr>
                                        <p:cTn id="102" dur="500"/>
                                        <p:tgtEl>
                                          <p:spTgt spid="28"/>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wipe(left)">
                                      <p:cBhvr>
                                        <p:cTn id="106" dur="500"/>
                                        <p:tgtEl>
                                          <p:spTgt spid="30"/>
                                        </p:tgtEl>
                                      </p:cBhvr>
                                    </p:animEffect>
                                  </p:childTnLst>
                                </p:cTn>
                              </p:par>
                            </p:childTnLst>
                          </p:cTn>
                        </p:par>
                      </p:childTnLst>
                    </p:cTn>
                  </p:par>
                  <p:par>
                    <p:cTn id="107" fill="hold">
                      <p:stCondLst>
                        <p:cond delay="indefinite"/>
                      </p:stCondLst>
                      <p:childTnLst>
                        <p:par>
                          <p:cTn id="108" fill="hold">
                            <p:stCondLst>
                              <p:cond delay="0"/>
                            </p:stCondLst>
                            <p:childTnLst>
                              <p:par>
                                <p:cTn id="109" presetID="5" presetClass="entr" presetSubtype="10" fill="hold" nodeType="clickEffect">
                                  <p:stCondLst>
                                    <p:cond delay="0"/>
                                  </p:stCondLst>
                                  <p:childTnLst>
                                    <p:set>
                                      <p:cBhvr>
                                        <p:cTn id="110" dur="1" fill="hold">
                                          <p:stCondLst>
                                            <p:cond delay="0"/>
                                          </p:stCondLst>
                                        </p:cTn>
                                        <p:tgtEl>
                                          <p:spTgt spid="48"/>
                                        </p:tgtEl>
                                        <p:attrNameLst>
                                          <p:attrName>style.visibility</p:attrName>
                                        </p:attrNameLst>
                                      </p:cBhvr>
                                      <p:to>
                                        <p:strVal val="visible"/>
                                      </p:to>
                                    </p:set>
                                    <p:animEffect transition="in" filter="checkerboard(across)">
                                      <p:cBhvr>
                                        <p:cTn id="111" dur="500"/>
                                        <p:tgtEl>
                                          <p:spTgt spid="48"/>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499"/>
                                          </p:stCondLst>
                                        </p:cTn>
                                        <p:tgtEl>
                                          <p:spTgt spid="5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nodeType="click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wipe(right)">
                                      <p:cBhvr>
                                        <p:cTn id="120" dur="500"/>
                                        <p:tgtEl>
                                          <p:spTgt spid="29"/>
                                        </p:tgtEl>
                                      </p:cBhvr>
                                    </p:animEffect>
                                  </p:childTnLst>
                                </p:cTn>
                              </p:par>
                            </p:childTnLst>
                          </p:cTn>
                        </p:par>
                        <p:par>
                          <p:cTn id="121" fill="hold">
                            <p:stCondLst>
                              <p:cond delay="500"/>
                            </p:stCondLst>
                            <p:childTnLst>
                              <p:par>
                                <p:cTn id="122" presetID="22" presetClass="entr" presetSubtype="2" fill="hold" grpId="0" nodeType="after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wipe(right)">
                                      <p:cBhvr>
                                        <p:cTn id="124" dur="500"/>
                                        <p:tgtEl>
                                          <p:spTgt spid="3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34"/>
                                        </p:tgtEl>
                                        <p:attrNameLst>
                                          <p:attrName>style.visibility</p:attrName>
                                        </p:attrNameLst>
                                      </p:cBhvr>
                                      <p:to>
                                        <p:strVal val="visible"/>
                                      </p:to>
                                    </p:set>
                                    <p:animEffect transition="in" filter="wipe(left)">
                                      <p:cBhvr>
                                        <p:cTn id="129" dur="500"/>
                                        <p:tgtEl>
                                          <p:spTgt spid="34"/>
                                        </p:tgtEl>
                                      </p:cBhvr>
                                    </p:animEffect>
                                  </p:childTnLst>
                                </p:cTn>
                              </p:par>
                            </p:childTnLst>
                          </p:cTn>
                        </p:par>
                        <p:par>
                          <p:cTn id="130" fill="hold">
                            <p:stCondLst>
                              <p:cond delay="500"/>
                            </p:stCondLst>
                            <p:childTnLst>
                              <p:par>
                                <p:cTn id="131" presetID="22" presetClass="entr" presetSubtype="8" fill="hold" grpId="0" nodeType="afterEffect">
                                  <p:stCondLst>
                                    <p:cond delay="0"/>
                                  </p:stCondLst>
                                  <p:childTnLst>
                                    <p:set>
                                      <p:cBhvr>
                                        <p:cTn id="132" dur="1" fill="hold">
                                          <p:stCondLst>
                                            <p:cond delay="0"/>
                                          </p:stCondLst>
                                        </p:cTn>
                                        <p:tgtEl>
                                          <p:spTgt spid="35"/>
                                        </p:tgtEl>
                                        <p:attrNameLst>
                                          <p:attrName>style.visibility</p:attrName>
                                        </p:attrNameLst>
                                      </p:cBhvr>
                                      <p:to>
                                        <p:strVal val="visible"/>
                                      </p:to>
                                    </p:set>
                                    <p:animEffect transition="in" filter="wipe(left)">
                                      <p:cBhvr>
                                        <p:cTn id="133" dur="500"/>
                                        <p:tgtEl>
                                          <p:spTgt spid="35"/>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2" fill="hold" nodeType="click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right)">
                                      <p:cBhvr>
                                        <p:cTn id="138" dur="500"/>
                                        <p:tgtEl>
                                          <p:spTgt spid="36"/>
                                        </p:tgtEl>
                                      </p:cBhvr>
                                    </p:animEffect>
                                  </p:childTnLst>
                                </p:cTn>
                              </p:par>
                            </p:childTnLst>
                          </p:cTn>
                        </p:par>
                        <p:par>
                          <p:cTn id="139" fill="hold">
                            <p:stCondLst>
                              <p:cond delay="500"/>
                            </p:stCondLst>
                            <p:childTnLst>
                              <p:par>
                                <p:cTn id="140" presetID="22" presetClass="entr" presetSubtype="2"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wipe(right)">
                                      <p:cBhvr>
                                        <p:cTn id="142" dur="500"/>
                                        <p:tgtEl>
                                          <p:spTgt spid="37"/>
                                        </p:tgtEl>
                                      </p:cBhvr>
                                    </p:animEffect>
                                  </p:childTnLst>
                                </p:cTn>
                              </p:par>
                            </p:childTnLst>
                          </p:cTn>
                        </p:par>
                      </p:childTnLst>
                    </p:cTn>
                  </p:par>
                  <p:par>
                    <p:cTn id="143" fill="hold">
                      <p:stCondLst>
                        <p:cond delay="indefinite"/>
                      </p:stCondLst>
                      <p:childTnLst>
                        <p:par>
                          <p:cTn id="144" fill="hold">
                            <p:stCondLst>
                              <p:cond delay="0"/>
                            </p:stCondLst>
                            <p:childTnLst>
                              <p:par>
                                <p:cTn id="145" presetID="5" presetClass="entr" presetSubtype="10" fill="hold" nodeType="clickEffect">
                                  <p:stCondLst>
                                    <p:cond delay="0"/>
                                  </p:stCondLst>
                                  <p:childTnLst>
                                    <p:set>
                                      <p:cBhvr>
                                        <p:cTn id="146" dur="1" fill="hold">
                                          <p:stCondLst>
                                            <p:cond delay="0"/>
                                          </p:stCondLst>
                                        </p:cTn>
                                        <p:tgtEl>
                                          <p:spTgt spid="39"/>
                                        </p:tgtEl>
                                        <p:attrNameLst>
                                          <p:attrName>style.visibility</p:attrName>
                                        </p:attrNameLst>
                                      </p:cBhvr>
                                      <p:to>
                                        <p:strVal val="visible"/>
                                      </p:to>
                                    </p:set>
                                    <p:animEffect transition="in" filter="checkerboard(across)">
                                      <p:cBhvr>
                                        <p:cTn id="1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5" grpId="0" autoUpdateAnimBg="0"/>
      <p:bldP spid="16" grpId="0" autoUpdateAnimBg="0"/>
      <p:bldP spid="21" grpId="0" autoUpdateAnimBg="0"/>
      <p:bldP spid="22" grpId="0" autoUpdateAnimBg="0"/>
      <p:bldP spid="23" grpId="0" autoUpdateAnimBg="0"/>
      <p:bldP spid="24" grpId="0" autoUpdateAnimBg="0"/>
      <p:bldP spid="30" grpId="0" autoUpdateAnimBg="0"/>
      <p:bldP spid="35" grpId="0" autoUpdateAnimBg="0"/>
      <p:bldP spid="37" grpId="0" autoUpdateAnimBg="0"/>
      <p:bldP spid="38" grpId="0" autoUpdateAnimBg="0"/>
      <p:bldP spid="5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b="0" dirty="0">
                <a:solidFill>
                  <a:srgbClr val="FF0000"/>
                </a:solidFill>
                <a:latin typeface="Times New Roman" panose="02020603050405020304" pitchFamily="18" charset="0"/>
                <a:cs typeface="Times New Roman" panose="02020603050405020304" pitchFamily="18" charset="0"/>
              </a:rPr>
              <a:t>Another Example</a:t>
            </a:r>
            <a:endParaRPr lang="en-IN" b="0" dirty="0">
              <a:solidFill>
                <a:srgbClr val="FF0000"/>
              </a:solidFill>
              <a:latin typeface="Times New Roman" panose="02020603050405020304" pitchFamily="18" charset="0"/>
              <a:cs typeface="Times New Roman" panose="02020603050405020304" pitchFamily="18" charset="0"/>
            </a:endParaRPr>
          </a:p>
        </p:txBody>
      </p:sp>
      <p:pic>
        <p:nvPicPr>
          <p:cNvPr id="4" name="Picture 3" descr="03-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079" y="1416169"/>
            <a:ext cx="5489276" cy="466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955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altLang="en-US" sz="3600" dirty="0"/>
              <a:t>GBN in action</a:t>
            </a:r>
            <a:endParaRPr lang="en-US" altLang="en-US" dirty="0"/>
          </a:p>
          <a:p>
            <a:endParaRPr lang="en-IN" i="1" dirty="0"/>
          </a:p>
        </p:txBody>
      </p:sp>
      <p:pic>
        <p:nvPicPr>
          <p:cNvPr id="5" name="Picture 3" descr="gbn_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0460" y="1535976"/>
            <a:ext cx="4613515" cy="4439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244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endParaRPr lang="en-IN" b="0" dirty="0">
              <a:solidFill>
                <a:srgbClr val="FF0000"/>
              </a:solidFill>
            </a:endParaRPr>
          </a:p>
        </p:txBody>
      </p:sp>
      <p:pic>
        <p:nvPicPr>
          <p:cNvPr id="22530" name="Picture 2" descr="How To Write A Thank You Note In Five Easy St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8722" y="2599396"/>
            <a:ext cx="4468184" cy="251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083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9002533A2C464CBD7F5B3D09DA59C7" ma:contentTypeVersion="28" ma:contentTypeDescription="Create a new document." ma:contentTypeScope="" ma:versionID="1685237c5012c7d90733e3feefc4a729">
  <xsd:schema xmlns:xsd="http://www.w3.org/2001/XMLSchema" xmlns:xs="http://www.w3.org/2001/XMLSchema" xmlns:p="http://schemas.microsoft.com/office/2006/metadata/properties" xmlns:ns2="6fdd37d2-8c27-4924-b2e6-c1d2ce638cc3" targetNamespace="http://schemas.microsoft.com/office/2006/metadata/properties" ma:root="true" ma:fieldsID="c68d5ebc5661ba923e8f5fcf6ca981fc" ns2:_="">
    <xsd:import namespace="6fdd37d2-8c27-4924-b2e6-c1d2ce638c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dd37d2-8c27-4924-b2e6-c1d2ce638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Has_Teacher_Only_SectionGroup xmlns="6fdd37d2-8c27-4924-b2e6-c1d2ce638cc3" xsi:nil="true"/>
    <NotebookType xmlns="6fdd37d2-8c27-4924-b2e6-c1d2ce638cc3" xsi:nil="true"/>
    <LMS_Mappings xmlns="6fdd37d2-8c27-4924-b2e6-c1d2ce638cc3" xsi:nil="true"/>
    <Teams_Channel_Section_Location xmlns="6fdd37d2-8c27-4924-b2e6-c1d2ce638cc3" xsi:nil="true"/>
    <FolderType xmlns="6fdd37d2-8c27-4924-b2e6-c1d2ce638cc3" xsi:nil="true"/>
    <CultureName xmlns="6fdd37d2-8c27-4924-b2e6-c1d2ce638cc3" xsi:nil="true"/>
    <Owner xmlns="6fdd37d2-8c27-4924-b2e6-c1d2ce638cc3">
      <UserInfo>
        <DisplayName/>
        <AccountId xsi:nil="true"/>
        <AccountType/>
      </UserInfo>
    </Owner>
    <Invited_Students xmlns="6fdd37d2-8c27-4924-b2e6-c1d2ce638cc3" xsi:nil="true"/>
    <Math_Settings xmlns="6fdd37d2-8c27-4924-b2e6-c1d2ce638cc3" xsi:nil="true"/>
    <Templates xmlns="6fdd37d2-8c27-4924-b2e6-c1d2ce638cc3" xsi:nil="true"/>
    <AppVersion xmlns="6fdd37d2-8c27-4924-b2e6-c1d2ce638cc3" xsi:nil="true"/>
    <Self_Registration_Enabled xmlns="6fdd37d2-8c27-4924-b2e6-c1d2ce638cc3" xsi:nil="true"/>
    <Distribution_Groups xmlns="6fdd37d2-8c27-4924-b2e6-c1d2ce638cc3" xsi:nil="true"/>
    <TeamsChannelId xmlns="6fdd37d2-8c27-4924-b2e6-c1d2ce638cc3" xsi:nil="true"/>
    <Invited_Teachers xmlns="6fdd37d2-8c27-4924-b2e6-c1d2ce638cc3" xsi:nil="true"/>
    <IsNotebookLocked xmlns="6fdd37d2-8c27-4924-b2e6-c1d2ce638cc3" xsi:nil="true"/>
    <Teachers xmlns="6fdd37d2-8c27-4924-b2e6-c1d2ce638cc3">
      <UserInfo>
        <DisplayName/>
        <AccountId xsi:nil="true"/>
        <AccountType/>
      </UserInfo>
    </Teachers>
    <Students xmlns="6fdd37d2-8c27-4924-b2e6-c1d2ce638cc3">
      <UserInfo>
        <DisplayName/>
        <AccountId xsi:nil="true"/>
        <AccountType/>
      </UserInfo>
    </Students>
    <Student_Groups xmlns="6fdd37d2-8c27-4924-b2e6-c1d2ce638cc3">
      <UserInfo>
        <DisplayName/>
        <AccountId xsi:nil="true"/>
        <AccountType/>
      </UserInfo>
    </Student_Groups>
    <DefaultSectionNames xmlns="6fdd37d2-8c27-4924-b2e6-c1d2ce638cc3" xsi:nil="true"/>
    <Is_Collaboration_Space_Locked xmlns="6fdd37d2-8c27-4924-b2e6-c1d2ce638cc3" xsi:nil="true"/>
  </documentManagement>
</p:properties>
</file>

<file path=customXml/itemProps1.xml><?xml version="1.0" encoding="utf-8"?>
<ds:datastoreItem xmlns:ds="http://schemas.openxmlformats.org/officeDocument/2006/customXml" ds:itemID="{B589B443-2664-4FFA-AC6E-813221A29393}"/>
</file>

<file path=customXml/itemProps2.xml><?xml version="1.0" encoding="utf-8"?>
<ds:datastoreItem xmlns:ds="http://schemas.openxmlformats.org/officeDocument/2006/customXml" ds:itemID="{1CF4A6EF-FD6D-410E-9E46-FEA2F4BC5DE9}"/>
</file>

<file path=customXml/itemProps3.xml><?xml version="1.0" encoding="utf-8"?>
<ds:datastoreItem xmlns:ds="http://schemas.openxmlformats.org/officeDocument/2006/customXml" ds:itemID="{EF0BCAF0-E51A-4383-9BB7-47FC3541764F}"/>
</file>

<file path=docProps/app.xml><?xml version="1.0" encoding="utf-8"?>
<Properties xmlns="http://schemas.openxmlformats.org/officeDocument/2006/extended-properties" xmlns:vt="http://schemas.openxmlformats.org/officeDocument/2006/docPropsVTypes">
  <TotalTime>475</TotalTime>
  <Words>2669</Words>
  <Application>Microsoft Office PowerPoint</Application>
  <PresentationFormat>Widescreen</PresentationFormat>
  <Paragraphs>752</Paragraphs>
  <Slides>54</Slides>
  <Notes>15</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72" baseType="lpstr">
      <vt:lpstr>MS PGothic</vt:lpstr>
      <vt:lpstr>MS PGothic</vt:lpstr>
      <vt:lpstr>SimSun</vt:lpstr>
      <vt:lpstr>Arial</vt:lpstr>
      <vt:lpstr>Calibri</vt:lpstr>
      <vt:lpstr>Calibri Light</vt:lpstr>
      <vt:lpstr>Comic Sans MS</vt:lpstr>
      <vt:lpstr>Courier</vt:lpstr>
      <vt:lpstr>Courier New</vt:lpstr>
      <vt:lpstr>Symbol</vt:lpstr>
      <vt:lpstr>Tahoma</vt:lpstr>
      <vt:lpstr>Times New Roman</vt:lpstr>
      <vt:lpstr>Ubuntu</vt:lpstr>
      <vt:lpstr>Wingdings</vt:lpstr>
      <vt:lpstr>ZapfDingbats</vt:lpstr>
      <vt:lpstr>Office Theme</vt:lpstr>
      <vt:lpstr>Clip</vt:lpstr>
      <vt:lpstr>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Transport Layer Actions</vt:lpstr>
      <vt:lpstr>Transport Layer 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demultiplexing works</vt:lpstr>
      <vt:lpstr>PowerPoint Presentation</vt:lpstr>
      <vt:lpstr>PowerPoint Presentation</vt:lpstr>
      <vt:lpstr>PowerPoint Presentation</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Reliable data transfer: getting started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Animesh  Giri</dc:creator>
  <cp:lastModifiedBy>Prabhu S</cp:lastModifiedBy>
  <cp:revision>39</cp:revision>
  <dcterms:created xsi:type="dcterms:W3CDTF">2021-11-13T15:42:14Z</dcterms:created>
  <dcterms:modified xsi:type="dcterms:W3CDTF">2026-02-27T14:22:44Z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0x0101006F9002533A2C464CBD7F5B3D09DA59C7</vt:lpwstr>
  </property>
</Properties>
</file>