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1.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Masters/slideMaster2.xml" ContentType="application/vnd.openxmlformats-officedocument.presentationml.slideMaster+xml"/>
  <Override PartName="/ppt/slideLayouts/slideLayout20.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5.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8.xml" ContentType="application/vnd.openxmlformats-officedocument.presentationml.slideLayout+xml"/>
  <Override PartName="/ppt/slideLayouts/slideLayout25.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notesSlides/notesSlide10.xml" ContentType="application/vnd.openxmlformats-officedocument.presentationml.notesSlide+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notesSlides/notesSlide17.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5.xml" ContentType="application/vnd.openxmlformats-officedocument.presentationml.notesSlide+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notesSlides/notesSlide16.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 id="2147483694" r:id="rId2"/>
  </p:sldMasterIdLst>
  <p:notesMasterIdLst>
    <p:notesMasterId r:id="rId41"/>
  </p:notesMasterIdLst>
  <p:sldIdLst>
    <p:sldId id="256" r:id="rId3"/>
    <p:sldId id="1547" r:id="rId4"/>
    <p:sldId id="260" r:id="rId5"/>
    <p:sldId id="257" r:id="rId6"/>
    <p:sldId id="334" r:id="rId7"/>
    <p:sldId id="1206" r:id="rId8"/>
    <p:sldId id="1123" r:id="rId9"/>
    <p:sldId id="1121" r:id="rId10"/>
    <p:sldId id="1195" r:id="rId11"/>
    <p:sldId id="1196" r:id="rId12"/>
    <p:sldId id="1126" r:id="rId13"/>
    <p:sldId id="1127" r:id="rId14"/>
    <p:sldId id="1128" r:id="rId15"/>
    <p:sldId id="1131" r:id="rId16"/>
    <p:sldId id="1129" r:id="rId17"/>
    <p:sldId id="1130" r:id="rId18"/>
    <p:sldId id="1207" r:id="rId19"/>
    <p:sldId id="340" r:id="rId20"/>
    <p:sldId id="1184" r:id="rId21"/>
    <p:sldId id="395" r:id="rId22"/>
    <p:sldId id="1193" r:id="rId23"/>
    <p:sldId id="1132" r:id="rId24"/>
    <p:sldId id="1133" r:id="rId25"/>
    <p:sldId id="397" r:id="rId26"/>
    <p:sldId id="1209" r:id="rId27"/>
    <p:sldId id="1210" r:id="rId28"/>
    <p:sldId id="1134" r:id="rId29"/>
    <p:sldId id="400" r:id="rId30"/>
    <p:sldId id="443" r:id="rId31"/>
    <p:sldId id="444" r:id="rId32"/>
    <p:sldId id="1211" r:id="rId33"/>
    <p:sldId id="347" r:id="rId34"/>
    <p:sldId id="348" r:id="rId35"/>
    <p:sldId id="401" r:id="rId36"/>
    <p:sldId id="501" r:id="rId37"/>
    <p:sldId id="1208" r:id="rId38"/>
    <p:sldId id="267" r:id="rId39"/>
    <p:sldId id="268" r:id="rId40"/>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033" autoAdjust="0"/>
    <p:restoredTop sz="71589" autoAdjust="0"/>
  </p:normalViewPr>
  <p:slideViewPr>
    <p:cSldViewPr>
      <p:cViewPr varScale="1">
        <p:scale>
          <a:sx n="98" d="100"/>
          <a:sy n="98" d="100"/>
        </p:scale>
        <p:origin x="22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ustomXml" Target="../customXml/item1.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3B4602AA-E5EC-4255-94EA-3A3BA154CF81}" type="datetimeFigureOut">
              <a:rPr lang="en-IN" smtClean="0"/>
              <a:t>13-03-2026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A01D748E-31E2-46D2-A004-86A4E33FF69D}" type="slidenum">
              <a:rPr lang="en-IN" smtClean="0"/>
              <a:t>‹#›</a:t>
            </a:fld>
            <a:endParaRPr lang="en-IN"/>
          </a:p>
        </p:txBody>
      </p:sp>
    </p:spTree>
    <p:extLst>
      <p:ext uri="{BB962C8B-B14F-4D97-AF65-F5344CB8AC3E}">
        <p14:creationId xmlns:p14="http://schemas.microsoft.com/office/powerpoint/2010/main" val="2823727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359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07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34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870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577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8792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4651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4460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971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63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4843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90355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08860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769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7731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1848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6956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1AC68D-457B-4EB0-8349-28F8608E53D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74DBDB28-6D03-4D62-9999-ED3CE530CFF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890CA45F-0ECF-4179-A8F3-CF02E292710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AABFC597-6ED3-473C-8E00-570EEA6D7C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1820D15-1338-4FA4-81B8-62DCDE69E588}"/>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3861928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129044-241A-4B49-AA71-29622874E4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956BF08-5525-44E1-9CBC-08F4DB382A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3032EA1-BDF6-47D5-83C1-17F10E9FC5C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7362C8C8-E692-417E-939F-5D54D7150C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D26E870-228C-40FA-96BF-E5EAA547A616}"/>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50355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FFE598-368F-4BAF-8459-9D2DD6DC4B7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B0ED5C5-FE6F-4DE5-808A-1DC28874117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67EA050-88EF-4E74-9B6A-9DBD30B2641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F65ABF41-748C-4D7D-89DB-B28F12896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6EF4CFF-2C80-4B1F-8301-6FD056ABD492}"/>
              </a:ext>
            </a:extLst>
          </p:cNvPr>
          <p:cNvSpPr>
            <a:spLocks noGrp="1"/>
          </p:cNvSpPr>
          <p:nvPr>
            <p:ph type="sldNum" sz="quarter" idx="12"/>
          </p:nvPr>
        </p:nvSpPr>
        <p:spPr/>
        <p:txBody>
          <a:bodyPr/>
          <a:lstStyle/>
          <a:p>
            <a:fld id="{37B21C89-4E4A-406B-8392-F67A056F84AA}" type="slidenum">
              <a:rPr lang="en-IN" smtClean="0"/>
              <a:t>‹#›</a:t>
            </a:fld>
            <a:endParaRPr lang="en-IN"/>
          </a:p>
        </p:txBody>
      </p:sp>
    </p:spTree>
    <p:extLst>
      <p:ext uri="{BB962C8B-B14F-4D97-AF65-F5344CB8AC3E}">
        <p14:creationId xmlns:p14="http://schemas.microsoft.com/office/powerpoint/2010/main" val="1098038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A699B8-99C5-412F-8417-9C5920635B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702F8A2-2B55-4D26-B5B4-91F3E6410FC0}"/>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8374EA15-1FFC-4439-8E00-3F41E10D2582}"/>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66885A66-6587-4159-B995-66D9D8AD1EB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DA250D78-2958-4FD0-9FB6-7C2803665C4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7399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1FADC9-3DFF-4B64-8515-E2DB00795044}"/>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7E80FF-9B8F-4423-A75A-7B1373EE203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2DF7B69-9360-452F-AD9A-F64EB5ED6AB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0D548944-61FB-4CC1-AA32-54593DC6D71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5BC2F6F-452B-412E-AC68-5DEC3BFB3B4D}"/>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2FC04886-CF78-4E91-9538-612E745278C1}"/>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xmlns="" id="{74EF4EA3-9E30-45F9-88D2-1BBDEBCB2D2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868679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210C51-8D30-4EE6-A7DC-49370F95A8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288B016C-D836-49DE-A7A8-7FF54E820409}"/>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xmlns="" id="{E91790BF-9870-4AE2-B899-648B9736C0F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037756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AE68A3D-EE19-4B90-8E3C-D6620D33698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xmlns="" id="{81DE1B44-FB6B-4D81-9F50-34BECB1D5761}"/>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560667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DB1CB4-6396-4D24-BE77-A04473461E3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AA58F8B-9FC1-4CA5-92FF-3A7B12BEFD8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8D27F549-A937-4E7A-A987-D9FB149B1672}"/>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2DCC5333-FCB4-4EA2-BD6A-03644F0EDF7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BB95B3CF-6AB7-4541-90C4-3B68C8FC7663}"/>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3020030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A88944-BD39-468F-B01D-7BC9565EF67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67B6C8D0-A64C-4ED5-844B-E99968AD1A7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xmlns="" id="{C649E219-18AC-4B43-B226-31768284209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98552A45-41DB-44BE-A633-0A829775802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xmlns="" id="{F7B37505-4B21-4668-B749-3CD1715A5BE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4008890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8056C4-2765-4D17-8460-E3B998941E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0181CB3-32F0-4496-B213-50DE6B4478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0528562-AF09-4AE8-84CC-AC006E7789C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F77EE95F-09D7-46BB-B9B6-ED427A7CEB96}"/>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87859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FA46257-E188-4C8C-9090-F6B8779B0436}"/>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B368D73-3B3D-4E98-AE84-9B4A8312F7EB}"/>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3898B74-BE35-4ED9-8C0D-AB9E7107C95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xmlns="" id="{D240DEA6-0D1A-4F24-8409-32793E90A778}"/>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2372037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grpSp>
        <p:nvGrpSpPr>
          <p:cNvPr id="5" name="Group 11"/>
          <p:cNvGrpSpPr>
            <a:grpSpLocks/>
          </p:cNvGrpSpPr>
          <p:nvPr userDrawn="1"/>
        </p:nvGrpSpPr>
        <p:grpSpPr bwMode="auto">
          <a:xfrm>
            <a:off x="2084388" y="4912520"/>
            <a:ext cx="7059612" cy="36910"/>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133600" y="4914900"/>
            <a:ext cx="7010400" cy="34529"/>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p:cNvGrpSpPr>
            <a:grpSpLocks/>
          </p:cNvGrpSpPr>
          <p:nvPr userDrawn="1"/>
        </p:nvGrpSpPr>
        <p:grpSpPr bwMode="auto">
          <a:xfrm>
            <a:off x="0" y="971550"/>
            <a:ext cx="7010400" cy="34529"/>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120379"/>
            <a:ext cx="8229600" cy="3394472"/>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14300"/>
            <a:ext cx="6324600" cy="85725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09709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A3767B4-AB52-97DB-868B-0ADC105B2775}"/>
              </a:ext>
            </a:extLst>
          </p:cNvPr>
          <p:cNvSpPr txBox="1"/>
          <p:nvPr/>
        </p:nvSpPr>
        <p:spPr>
          <a:xfrm>
            <a:off x="3276600" y="4947049"/>
            <a:ext cx="5867400" cy="187615"/>
          </a:xfrm>
          <a:prstGeom prst="rect">
            <a:avLst/>
          </a:prstGeom>
          <a:noFill/>
        </p:spPr>
        <p:txBody>
          <a:bodyPr>
            <a:spAutoFit/>
          </a:bodyPr>
          <a:lstStyle/>
          <a:p>
            <a:pPr algn="r">
              <a:defRPr/>
            </a:pPr>
            <a:r>
              <a:rPr lang="en-US" sz="619" b="1" dirty="0">
                <a:solidFill>
                  <a:srgbClr val="101141"/>
                </a:solidFill>
                <a:latin typeface="Arial" panose="020B0604020202020204"/>
                <a:cs typeface="Arial" panose="020B0604020202020204"/>
              </a:rPr>
              <a:t>BITS </a:t>
            </a:r>
            <a:r>
              <a:rPr lang="en-US" sz="619" dirty="0">
                <a:solidFill>
                  <a:srgbClr val="101141"/>
                </a:solidFill>
                <a:latin typeface="Arial" panose="020B0604020202020204"/>
                <a:cs typeface="Arial" panose="020B0604020202020204"/>
              </a:rPr>
              <a:t>Pilani, Pilani Campus</a:t>
            </a:r>
          </a:p>
        </p:txBody>
      </p:sp>
      <p:grpSp>
        <p:nvGrpSpPr>
          <p:cNvPr id="4" name="Group 11">
            <a:extLst>
              <a:ext uri="{FF2B5EF4-FFF2-40B4-BE49-F238E27FC236}">
                <a16:creationId xmlns:a16="http://schemas.microsoft.com/office/drawing/2014/main" xmlns="" id="{D53B34A8-0D61-F94D-6658-E372B624D1E3}"/>
              </a:ext>
            </a:extLst>
          </p:cNvPr>
          <p:cNvGrpSpPr>
            <a:grpSpLocks/>
          </p:cNvGrpSpPr>
          <p:nvPr/>
        </p:nvGrpSpPr>
        <p:grpSpPr bwMode="auto">
          <a:xfrm>
            <a:off x="2084388" y="4912520"/>
            <a:ext cx="7059612" cy="36910"/>
            <a:chOff x="2083888" y="6550671"/>
            <a:chExt cx="7060112" cy="48665"/>
          </a:xfrm>
        </p:grpSpPr>
        <p:sp>
          <p:nvSpPr>
            <p:cNvPr id="5" name="Rectangle 4">
              <a:extLst>
                <a:ext uri="{FF2B5EF4-FFF2-40B4-BE49-F238E27FC236}">
                  <a16:creationId xmlns:a16="http://schemas.microsoft.com/office/drawing/2014/main" xmlns="" id="{083C1FF3-223D-D196-8F91-0C0F3EA0863C}"/>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6" name="Rectangle 5">
              <a:extLst>
                <a:ext uri="{FF2B5EF4-FFF2-40B4-BE49-F238E27FC236}">
                  <a16:creationId xmlns:a16="http://schemas.microsoft.com/office/drawing/2014/main" xmlns="" id="{7B744F7F-4651-793A-5732-F50EF06918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7" name="Rectangle 6">
              <a:extLst>
                <a:ext uri="{FF2B5EF4-FFF2-40B4-BE49-F238E27FC236}">
                  <a16:creationId xmlns:a16="http://schemas.microsoft.com/office/drawing/2014/main" xmlns="" id="{3C477641-1E9D-E30D-B181-37D02FDD292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pic>
        <p:nvPicPr>
          <p:cNvPr id="8" name="Picture 11" descr="Picture 7.png">
            <a:extLst>
              <a:ext uri="{FF2B5EF4-FFF2-40B4-BE49-F238E27FC236}">
                <a16:creationId xmlns:a16="http://schemas.microsoft.com/office/drawing/2014/main" xmlns="" id="{97259A23-A641-FB0C-BC74-37332053B2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xmlns="" id="{9E0C1B94-82C2-5DD5-B490-266791DAF886}"/>
              </a:ext>
            </a:extLst>
          </p:cNvPr>
          <p:cNvGrpSpPr>
            <a:grpSpLocks/>
          </p:cNvGrpSpPr>
          <p:nvPr/>
        </p:nvGrpSpPr>
        <p:grpSpPr bwMode="auto">
          <a:xfrm>
            <a:off x="2133600" y="4914900"/>
            <a:ext cx="7010400" cy="34529"/>
            <a:chOff x="1905000" y="6553200"/>
            <a:chExt cx="7010400" cy="45719"/>
          </a:xfrm>
        </p:grpSpPr>
        <p:sp>
          <p:nvSpPr>
            <p:cNvPr id="10" name="Rectangle 9">
              <a:extLst>
                <a:ext uri="{FF2B5EF4-FFF2-40B4-BE49-F238E27FC236}">
                  <a16:creationId xmlns:a16="http://schemas.microsoft.com/office/drawing/2014/main" xmlns="" id="{9F720400-26CF-D2DC-6C4C-2B45A327999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1" name="Rectangle 10">
              <a:extLst>
                <a:ext uri="{FF2B5EF4-FFF2-40B4-BE49-F238E27FC236}">
                  <a16:creationId xmlns:a16="http://schemas.microsoft.com/office/drawing/2014/main" xmlns="" id="{1EB7E4CE-2A0F-8349-D6C7-69B8AD57124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2" name="Rectangle 11">
              <a:extLst>
                <a:ext uri="{FF2B5EF4-FFF2-40B4-BE49-F238E27FC236}">
                  <a16:creationId xmlns:a16="http://schemas.microsoft.com/office/drawing/2014/main" xmlns="" id="{7FD90075-DE4A-617E-1F44-CC1E6517620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grpSp>
        <p:nvGrpSpPr>
          <p:cNvPr id="13" name="Group 22">
            <a:extLst>
              <a:ext uri="{FF2B5EF4-FFF2-40B4-BE49-F238E27FC236}">
                <a16:creationId xmlns:a16="http://schemas.microsoft.com/office/drawing/2014/main" xmlns="" id="{C0086D47-2149-6DDE-D807-14849A95CE69}"/>
              </a:ext>
            </a:extLst>
          </p:cNvPr>
          <p:cNvGrpSpPr>
            <a:grpSpLocks/>
          </p:cNvGrpSpPr>
          <p:nvPr/>
        </p:nvGrpSpPr>
        <p:grpSpPr bwMode="auto">
          <a:xfrm>
            <a:off x="0" y="971550"/>
            <a:ext cx="7010400" cy="34529"/>
            <a:chOff x="1905000" y="6553200"/>
            <a:chExt cx="7010400" cy="45719"/>
          </a:xfrm>
        </p:grpSpPr>
        <p:sp>
          <p:nvSpPr>
            <p:cNvPr id="14" name="Rectangle 13">
              <a:extLst>
                <a:ext uri="{FF2B5EF4-FFF2-40B4-BE49-F238E27FC236}">
                  <a16:creationId xmlns:a16="http://schemas.microsoft.com/office/drawing/2014/main" xmlns="" id="{7316EFD5-8FC9-2939-8ADD-EF3DA674F11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5" name="Rectangle 14">
              <a:extLst>
                <a:ext uri="{FF2B5EF4-FFF2-40B4-BE49-F238E27FC236}">
                  <a16:creationId xmlns:a16="http://schemas.microsoft.com/office/drawing/2014/main" xmlns="" id="{81D64989-6811-D3DC-10E8-8D7B51CEDD0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sp>
          <p:nvSpPr>
            <p:cNvPr id="16" name="Rectangle 15">
              <a:extLst>
                <a:ext uri="{FF2B5EF4-FFF2-40B4-BE49-F238E27FC236}">
                  <a16:creationId xmlns:a16="http://schemas.microsoft.com/office/drawing/2014/main" xmlns="" id="{697419B5-7B46-C0F5-2683-9DB043E89DBE}"/>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13">
                <a:solidFill>
                  <a:prstClr val="white"/>
                </a:solidFill>
              </a:endParaRPr>
            </a:p>
          </p:txBody>
        </p:sp>
      </p:grpSp>
      <p:sp>
        <p:nvSpPr>
          <p:cNvPr id="3" name="Content Placeholder 2"/>
          <p:cNvSpPr>
            <a:spLocks noGrp="1"/>
          </p:cNvSpPr>
          <p:nvPr>
            <p:ph idx="1"/>
          </p:nvPr>
        </p:nvSpPr>
        <p:spPr>
          <a:xfrm>
            <a:off x="304801" y="1120378"/>
            <a:ext cx="8518526" cy="3680222"/>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350">
                <a:latin typeface="Arial" panose="020B0604020202020204" pitchFamily="34" charset="0"/>
                <a:cs typeface="Arial" panose="020B0604020202020204"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anose="020B0604020202020204" pitchFamily="34" charset="0"/>
              <a:buChar char="–"/>
              <a:defRPr sz="900">
                <a:latin typeface="Arial" panose="020B0604020202020204" pitchFamily="34" charset="0"/>
                <a:cs typeface="Arial" panose="020B0604020202020204" pitchFamily="34" charset="0"/>
              </a:defRPr>
            </a:lvl2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14300"/>
            <a:ext cx="6324600" cy="812007"/>
          </a:xfrm>
        </p:spPr>
        <p:txBody>
          <a:bodyPr anchor="ctr">
            <a:normAutofit/>
          </a:bodyPr>
          <a:lstStyle>
            <a:lvl1pPr marL="0">
              <a:lnSpc>
                <a:spcPts val="2025"/>
              </a:lnSpc>
              <a:spcBef>
                <a:spcPts val="0"/>
              </a:spcBef>
              <a:buNone/>
              <a:defRPr sz="2025" b="1" spc="-85" baseline="0">
                <a:solidFill>
                  <a:srgbClr val="FF0000"/>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17" name="Footer Placeholder 4">
            <a:extLst>
              <a:ext uri="{FF2B5EF4-FFF2-40B4-BE49-F238E27FC236}">
                <a16:creationId xmlns:a16="http://schemas.microsoft.com/office/drawing/2014/main" xmlns="" id="{7F62397A-7720-6902-D87D-83F75699E168}"/>
              </a:ext>
            </a:extLst>
          </p:cNvPr>
          <p:cNvSpPr>
            <a:spLocks noGrp="1"/>
          </p:cNvSpPr>
          <p:nvPr>
            <p:ph type="ftr" sz="quarter" idx="11"/>
          </p:nvPr>
        </p:nvSpPr>
        <p:spPr>
          <a:xfrm>
            <a:off x="304800" y="4972050"/>
            <a:ext cx="4038600" cy="171450"/>
          </a:xfrm>
        </p:spPr>
        <p:txBody>
          <a:bodyPr/>
          <a:lstStyle>
            <a:lvl1pPr algn="l">
              <a:defRPr/>
            </a:lvl1pPr>
          </a:lstStyle>
          <a:p>
            <a:pPr>
              <a:defRPr/>
            </a:pPr>
            <a:endParaRPr lang="en-US" dirty="0"/>
          </a:p>
        </p:txBody>
      </p:sp>
      <p:sp>
        <p:nvSpPr>
          <p:cNvPr id="18" name="Slide Number Placeholder 5">
            <a:extLst>
              <a:ext uri="{FF2B5EF4-FFF2-40B4-BE49-F238E27FC236}">
                <a16:creationId xmlns:a16="http://schemas.microsoft.com/office/drawing/2014/main" xmlns="" id="{D95EBA3B-2C3A-83C0-6E1A-C21276ECBD6B}"/>
              </a:ext>
            </a:extLst>
          </p:cNvPr>
          <p:cNvSpPr>
            <a:spLocks noGrp="1"/>
          </p:cNvSpPr>
          <p:nvPr>
            <p:ph type="sldNum" sz="quarter" idx="12"/>
          </p:nvPr>
        </p:nvSpPr>
        <p:spPr>
          <a:xfrm>
            <a:off x="5581650" y="4947048"/>
            <a:ext cx="2133600" cy="196453"/>
          </a:xfrm>
        </p:spPr>
        <p:txBody>
          <a:bodyPr/>
          <a:lstStyle>
            <a:lvl1pPr>
              <a:defRPr/>
            </a:lvl1pPr>
          </a:lstStyle>
          <a:p>
            <a:pPr>
              <a:defRPr/>
            </a:pPr>
            <a:fld id="{7D73CF5B-AF6F-4DC3-9E62-6ACC0963616B}" type="slidenum">
              <a:rPr lang="en-US"/>
              <a:pPr>
                <a:defRPr/>
              </a:pPr>
              <a:t>‹#›</a:t>
            </a:fld>
            <a:endParaRPr lang="en-US"/>
          </a:p>
        </p:txBody>
      </p:sp>
    </p:spTree>
    <p:extLst>
      <p:ext uri="{BB962C8B-B14F-4D97-AF65-F5344CB8AC3E}">
        <p14:creationId xmlns:p14="http://schemas.microsoft.com/office/powerpoint/2010/main" val="493744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2514600"/>
            <a:ext cx="8686800" cy="20574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27" name="Rectangle 3"/>
          <p:cNvSpPr/>
          <p:nvPr/>
        </p:nvSpPr>
        <p:spPr>
          <a:xfrm>
            <a:off x="2895600" y="4572000"/>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28" name="Rectangle 4"/>
          <p:cNvSpPr/>
          <p:nvPr/>
        </p:nvSpPr>
        <p:spPr>
          <a:xfrm>
            <a:off x="0" y="4572000"/>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29" name="Rectangle 5"/>
          <p:cNvSpPr/>
          <p:nvPr/>
        </p:nvSpPr>
        <p:spPr>
          <a:xfrm>
            <a:off x="5791200" y="4572000"/>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30" name="Picture 10" descr="Picture 10"/>
          <p:cNvPicPr>
            <a:picLocks noChangeAspect="1"/>
          </p:cNvPicPr>
          <p:nvPr/>
        </p:nvPicPr>
        <p:blipFill>
          <a:blip r:embed="rId3"/>
          <a:srcRect t="2" b="28592"/>
          <a:stretch>
            <a:fillRect/>
          </a:stretch>
        </p:blipFill>
        <p:spPr>
          <a:xfrm>
            <a:off x="76200" y="2514600"/>
            <a:ext cx="2057400" cy="1484711"/>
          </a:xfrm>
          <a:prstGeom prst="rect">
            <a:avLst/>
          </a:prstGeom>
          <a:ln w="12700">
            <a:miter lim="400000"/>
          </a:ln>
        </p:spPr>
      </p:pic>
      <p:sp>
        <p:nvSpPr>
          <p:cNvPr id="31" name="TextBox 8"/>
          <p:cNvSpPr txBox="1"/>
          <p:nvPr/>
        </p:nvSpPr>
        <p:spPr>
          <a:xfrm>
            <a:off x="-30481" y="394335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33" name="Body Level One…"/>
          <p:cNvSpPr txBox="1">
            <a:spLocks noGrp="1"/>
          </p:cNvSpPr>
          <p:nvPr>
            <p:ph type="body" sz="quarter" idx="1"/>
          </p:nvPr>
        </p:nvSpPr>
        <p:spPr>
          <a:xfrm>
            <a:off x="2514600" y="4057650"/>
            <a:ext cx="6019800" cy="400050"/>
          </a:xfrm>
          <a:prstGeom prst="rect">
            <a:avLst/>
          </a:prstGeom>
        </p:spPr>
        <p:txBody>
          <a:bodyPr anchor="b">
            <a:normAutofit/>
          </a:bodyPr>
          <a:lstStyle>
            <a:lvl1pPr marL="0" indent="0" algn="r">
              <a:lnSpc>
                <a:spcPts val="1350"/>
              </a:lnSpc>
              <a:spcBef>
                <a:spcPts val="0"/>
              </a:spcBef>
              <a:buSzTx/>
              <a:buFontTx/>
              <a:buNone/>
              <a:defRPr sz="1350">
                <a:solidFill>
                  <a:srgbClr val="FFFFFF"/>
                </a:solidFill>
              </a:defRPr>
            </a:lvl1pPr>
            <a:lvl2pPr marL="480672" indent="-137772" algn="r">
              <a:lnSpc>
                <a:spcPts val="1350"/>
              </a:lnSpc>
              <a:spcBef>
                <a:spcPts val="0"/>
              </a:spcBef>
              <a:buFontTx/>
              <a:defRPr sz="1350">
                <a:solidFill>
                  <a:srgbClr val="FFFFFF"/>
                </a:solidFill>
              </a:defRPr>
            </a:lvl2pPr>
            <a:lvl3pPr marL="814388" indent="-128588" algn="r">
              <a:lnSpc>
                <a:spcPts val="1350"/>
              </a:lnSpc>
              <a:spcBef>
                <a:spcPts val="0"/>
              </a:spcBef>
              <a:buFontTx/>
              <a:defRPr sz="1350">
                <a:solidFill>
                  <a:srgbClr val="FFFFFF"/>
                </a:solidFill>
              </a:defRPr>
            </a:lvl3pPr>
            <a:lvl4pPr marL="1183004" indent="-154304" algn="r">
              <a:lnSpc>
                <a:spcPts val="1350"/>
              </a:lnSpc>
              <a:spcBef>
                <a:spcPts val="0"/>
              </a:spcBef>
              <a:buFontTx/>
              <a:defRPr sz="1350">
                <a:solidFill>
                  <a:srgbClr val="FFFFFF"/>
                </a:solidFill>
              </a:defRPr>
            </a:lvl4pPr>
            <a:lvl5pPr marL="1525904" indent="-154304" algn="r">
              <a:lnSpc>
                <a:spcPts val="1350"/>
              </a:lnSpc>
              <a:spcBef>
                <a:spcPts val="0"/>
              </a:spcBef>
              <a:buFontTx/>
              <a:defRPr sz="135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2857500"/>
            <a:ext cx="6019800" cy="1143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6456113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2_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xmlns="" id="{63D8738E-0221-4D62-B029-49DE045C1179}"/>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xmlns="" id="{6FB9BF06-D4F4-462B-8CAF-F7AA8C4CBC1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xmlns="" id="{E7369A73-8C94-4131-B664-BDA73406BED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xmlns="" id="{940D2137-4506-475E-BDBD-01C8F9AB32A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a16="http://schemas.microsoft.com/office/drawing/2014/main" xmlns="" id="{C9477889-6CB3-410D-8BC9-E4C3C618592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a16="http://schemas.microsoft.com/office/drawing/2014/main" xmlns="" id="{5359F3D2-27DE-4C2B-9063-2466CC0C13C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a16="http://schemas.microsoft.com/office/drawing/2014/main" xmlns="" id="{9E9826F6-77EC-4995-BFD7-0318A680BA1A}"/>
                </a:ext>
              </a:extLst>
            </p:cNvPr>
            <p:cNvGrpSpPr/>
            <p:nvPr userDrawn="1"/>
          </p:nvGrpSpPr>
          <p:grpSpPr>
            <a:xfrm>
              <a:off x="0" y="0"/>
              <a:ext cx="9144001" cy="6888451"/>
              <a:chOff x="0" y="0"/>
              <a:chExt cx="9144001" cy="6888451"/>
            </a:xfrm>
          </p:grpSpPr>
          <p:grpSp>
            <p:nvGrpSpPr>
              <p:cNvPr id="46" name="Group 6">
                <a:extLst>
                  <a:ext uri="{FF2B5EF4-FFF2-40B4-BE49-F238E27FC236}">
                    <a16:creationId xmlns:a16="http://schemas.microsoft.com/office/drawing/2014/main" xmlns=""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xmlns=""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a16="http://schemas.microsoft.com/office/drawing/2014/main" xmlns=""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a16="http://schemas.microsoft.com/office/drawing/2014/main" xmlns=""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a16="http://schemas.microsoft.com/office/drawing/2014/main" xmlns=""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xmlns=""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a16="http://schemas.microsoft.com/office/drawing/2014/main" xmlns=""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a16="http://schemas.microsoft.com/office/drawing/2014/main" xmlns=""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a16="http://schemas.microsoft.com/office/drawing/2014/main" xmlns=""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xmlns="" id="{BA5796A7-03C0-4F17-B86D-A3B33F3BC2CE}"/>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29" name="Graphic 28">
              <a:extLst>
                <a:ext uri="{FF2B5EF4-FFF2-40B4-BE49-F238E27FC236}">
                  <a16:creationId xmlns:a16="http://schemas.microsoft.com/office/drawing/2014/main" xmlns="" id="{8C31F058-777D-4D47-AD29-CC17547B026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14300"/>
            <a:ext cx="6324600" cy="85725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8376172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xmlns="" id="{4F1635D6-F918-E4B0-D8DF-45976B43E5CC}"/>
              </a:ext>
            </a:extLst>
          </p:cNvPr>
          <p:cNvSpPr/>
          <p:nvPr userDrawn="1"/>
        </p:nvSpPr>
        <p:spPr>
          <a:xfrm>
            <a:off x="0" y="2514600"/>
            <a:ext cx="8686800" cy="20574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6" name="Rectangle 3">
            <a:extLst>
              <a:ext uri="{FF2B5EF4-FFF2-40B4-BE49-F238E27FC236}">
                <a16:creationId xmlns:a16="http://schemas.microsoft.com/office/drawing/2014/main" xmlns="" id="{509FF428-FD03-A3ED-E874-F7399C457B5A}"/>
              </a:ext>
            </a:extLst>
          </p:cNvPr>
          <p:cNvSpPr/>
          <p:nvPr userDrawn="1"/>
        </p:nvSpPr>
        <p:spPr>
          <a:xfrm>
            <a:off x="2895600" y="4572000"/>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7" name="Rectangle 4">
            <a:extLst>
              <a:ext uri="{FF2B5EF4-FFF2-40B4-BE49-F238E27FC236}">
                <a16:creationId xmlns:a16="http://schemas.microsoft.com/office/drawing/2014/main" xmlns="" id="{A493EE98-E537-385E-2051-74DF0B3608DF}"/>
              </a:ext>
            </a:extLst>
          </p:cNvPr>
          <p:cNvSpPr/>
          <p:nvPr userDrawn="1"/>
        </p:nvSpPr>
        <p:spPr>
          <a:xfrm>
            <a:off x="0" y="4572000"/>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8" name="Rectangle 5">
            <a:extLst>
              <a:ext uri="{FF2B5EF4-FFF2-40B4-BE49-F238E27FC236}">
                <a16:creationId xmlns:a16="http://schemas.microsoft.com/office/drawing/2014/main" xmlns="" id="{DE4627D7-A115-550F-D7B3-42FC43297FF1}"/>
              </a:ext>
            </a:extLst>
          </p:cNvPr>
          <p:cNvSpPr/>
          <p:nvPr userDrawn="1"/>
        </p:nvSpPr>
        <p:spPr>
          <a:xfrm>
            <a:off x="5791200" y="4572000"/>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9" name="Picture 10" descr="Picture 10">
            <a:extLst>
              <a:ext uri="{FF2B5EF4-FFF2-40B4-BE49-F238E27FC236}">
                <a16:creationId xmlns:a16="http://schemas.microsoft.com/office/drawing/2014/main" xmlns="" id="{D695F453-58E4-7D66-AB7F-98878BD64651}"/>
              </a:ext>
            </a:extLst>
          </p:cNvPr>
          <p:cNvPicPr>
            <a:picLocks noChangeAspect="1"/>
          </p:cNvPicPr>
          <p:nvPr userDrawn="1"/>
        </p:nvPicPr>
        <p:blipFill>
          <a:blip r:embed="rId2"/>
          <a:srcRect t="2" b="28592"/>
          <a:stretch>
            <a:fillRect/>
          </a:stretch>
        </p:blipFill>
        <p:spPr>
          <a:xfrm>
            <a:off x="76200" y="2514600"/>
            <a:ext cx="2057400" cy="1484711"/>
          </a:xfrm>
          <a:prstGeom prst="rect">
            <a:avLst/>
          </a:prstGeom>
          <a:ln w="12700">
            <a:miter lim="400000"/>
          </a:ln>
        </p:spPr>
      </p:pic>
      <p:sp>
        <p:nvSpPr>
          <p:cNvPr id="10" name="TextBox 8">
            <a:extLst>
              <a:ext uri="{FF2B5EF4-FFF2-40B4-BE49-F238E27FC236}">
                <a16:creationId xmlns:a16="http://schemas.microsoft.com/office/drawing/2014/main" xmlns="" id="{93711A98-B303-E78D-34AC-04374950E07A}"/>
              </a:ext>
            </a:extLst>
          </p:cNvPr>
          <p:cNvSpPr txBox="1"/>
          <p:nvPr userDrawn="1"/>
        </p:nvSpPr>
        <p:spPr>
          <a:xfrm>
            <a:off x="-30481" y="394335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18" name="Title Text"/>
          <p:cNvSpPr txBox="1">
            <a:spLocks noGrp="1"/>
          </p:cNvSpPr>
          <p:nvPr>
            <p:ph type="title"/>
          </p:nvPr>
        </p:nvSpPr>
        <p:spPr>
          <a:xfrm>
            <a:off x="2667000" y="2923546"/>
            <a:ext cx="6019800" cy="1143000"/>
          </a:xfrm>
          <a:prstGeom prst="rect">
            <a:avLst/>
          </a:prstGeom>
        </p:spPr>
        <p:txBody>
          <a:bodyPr/>
          <a:lstStyle/>
          <a:p>
            <a:r>
              <a:t>Title Text</a:t>
            </a:r>
          </a:p>
        </p:txBody>
      </p:sp>
    </p:spTree>
    <p:extLst>
      <p:ext uri="{BB962C8B-B14F-4D97-AF65-F5344CB8AC3E}">
        <p14:creationId xmlns:p14="http://schemas.microsoft.com/office/powerpoint/2010/main" val="3909221528"/>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2514600"/>
            <a:ext cx="8686800" cy="2057400"/>
          </a:xfrm>
          <a:prstGeom prst="rect">
            <a:avLst/>
          </a:prstGeom>
          <a:solidFill>
            <a:srgbClr val="101141"/>
          </a:solidFill>
          <a:ln w="12700">
            <a:miter lim="400000"/>
          </a:ln>
        </p:spPr>
        <p:txBody>
          <a:bodyPr lIns="34289" rIns="34289" anchor="ctr"/>
          <a:lstStyle/>
          <a:p>
            <a:pPr algn="ctr">
              <a:defRPr>
                <a:solidFill>
                  <a:srgbClr val="FFFFFF"/>
                </a:solidFill>
                <a:latin typeface="+mj-lt"/>
                <a:ea typeface="+mj-ea"/>
                <a:cs typeface="+mj-cs"/>
                <a:sym typeface="Arial"/>
              </a:defRPr>
            </a:pPr>
            <a:endParaRPr sz="1350"/>
          </a:p>
        </p:txBody>
      </p:sp>
      <p:sp>
        <p:nvSpPr>
          <p:cNvPr id="27" name="Rectangle 3"/>
          <p:cNvSpPr/>
          <p:nvPr/>
        </p:nvSpPr>
        <p:spPr>
          <a:xfrm>
            <a:off x="2895600" y="4572000"/>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28" name="Rectangle 4"/>
          <p:cNvSpPr/>
          <p:nvPr/>
        </p:nvSpPr>
        <p:spPr>
          <a:xfrm>
            <a:off x="0" y="4572000"/>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29" name="Rectangle 5"/>
          <p:cNvSpPr/>
          <p:nvPr/>
        </p:nvSpPr>
        <p:spPr>
          <a:xfrm>
            <a:off x="5791200" y="4572000"/>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pic>
        <p:nvPicPr>
          <p:cNvPr id="30" name="Picture 10" descr="Picture 10"/>
          <p:cNvPicPr>
            <a:picLocks noChangeAspect="1"/>
          </p:cNvPicPr>
          <p:nvPr/>
        </p:nvPicPr>
        <p:blipFill>
          <a:blip r:embed="rId3"/>
          <a:srcRect t="2" b="28592"/>
          <a:stretch>
            <a:fillRect/>
          </a:stretch>
        </p:blipFill>
        <p:spPr>
          <a:xfrm>
            <a:off x="76200" y="2514600"/>
            <a:ext cx="2057400" cy="1484711"/>
          </a:xfrm>
          <a:prstGeom prst="rect">
            <a:avLst/>
          </a:prstGeom>
          <a:ln w="12700">
            <a:miter lim="400000"/>
          </a:ln>
        </p:spPr>
      </p:pic>
      <p:sp>
        <p:nvSpPr>
          <p:cNvPr id="31" name="TextBox 8"/>
          <p:cNvSpPr txBox="1"/>
          <p:nvPr/>
        </p:nvSpPr>
        <p:spPr>
          <a:xfrm>
            <a:off x="-30481" y="394335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dirty="0"/>
              <a:t>BITS</a:t>
            </a:r>
            <a:r>
              <a:rPr sz="2175" b="0" dirty="0"/>
              <a:t> </a:t>
            </a:r>
            <a:r>
              <a:rPr sz="2175" b="0" dirty="0" err="1"/>
              <a:t>Pilani</a:t>
            </a:r>
            <a:endParaRPr sz="2175" b="0" dirty="0"/>
          </a:p>
        </p:txBody>
      </p:sp>
      <p:sp>
        <p:nvSpPr>
          <p:cNvPr id="33" name="Body Level One…"/>
          <p:cNvSpPr txBox="1">
            <a:spLocks noGrp="1"/>
          </p:cNvSpPr>
          <p:nvPr>
            <p:ph type="body" sz="quarter" idx="1"/>
          </p:nvPr>
        </p:nvSpPr>
        <p:spPr>
          <a:xfrm>
            <a:off x="2514600" y="4057650"/>
            <a:ext cx="6019800" cy="400050"/>
          </a:xfrm>
          <a:prstGeom prst="rect">
            <a:avLst/>
          </a:prstGeom>
        </p:spPr>
        <p:txBody>
          <a:bodyPr anchor="b">
            <a:normAutofit/>
          </a:bodyPr>
          <a:lstStyle>
            <a:lvl1pPr marL="0" indent="0" algn="r">
              <a:lnSpc>
                <a:spcPts val="1350"/>
              </a:lnSpc>
              <a:spcBef>
                <a:spcPts val="0"/>
              </a:spcBef>
              <a:buSzTx/>
              <a:buFontTx/>
              <a:buNone/>
              <a:defRPr sz="1350">
                <a:solidFill>
                  <a:srgbClr val="FFFFFF"/>
                </a:solidFill>
              </a:defRPr>
            </a:lvl1pPr>
            <a:lvl2pPr marL="480672" indent="-137772" algn="r">
              <a:lnSpc>
                <a:spcPts val="1350"/>
              </a:lnSpc>
              <a:spcBef>
                <a:spcPts val="0"/>
              </a:spcBef>
              <a:buFontTx/>
              <a:defRPr sz="1350">
                <a:solidFill>
                  <a:srgbClr val="FFFFFF"/>
                </a:solidFill>
              </a:defRPr>
            </a:lvl2pPr>
            <a:lvl3pPr marL="814388" indent="-128588" algn="r">
              <a:lnSpc>
                <a:spcPts val="1350"/>
              </a:lnSpc>
              <a:spcBef>
                <a:spcPts val="0"/>
              </a:spcBef>
              <a:buFontTx/>
              <a:defRPr sz="1350">
                <a:solidFill>
                  <a:srgbClr val="FFFFFF"/>
                </a:solidFill>
              </a:defRPr>
            </a:lvl3pPr>
            <a:lvl4pPr marL="1183004" indent="-154304" algn="r">
              <a:lnSpc>
                <a:spcPts val="1350"/>
              </a:lnSpc>
              <a:spcBef>
                <a:spcPts val="0"/>
              </a:spcBef>
              <a:buFontTx/>
              <a:defRPr sz="1350">
                <a:solidFill>
                  <a:srgbClr val="FFFFFF"/>
                </a:solidFill>
              </a:defRPr>
            </a:lvl4pPr>
            <a:lvl5pPr marL="1525904" indent="-154304" algn="r">
              <a:lnSpc>
                <a:spcPts val="1350"/>
              </a:lnSpc>
              <a:spcBef>
                <a:spcPts val="0"/>
              </a:spcBef>
              <a:buFontTx/>
              <a:defRPr sz="135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2857500"/>
            <a:ext cx="6019800" cy="1143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76301234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5143500"/>
          </a:xfrm>
          <a:prstGeom prst="rect">
            <a:avLst/>
          </a:prstGeom>
          <a:ln w="12700">
            <a:miter lim="400000"/>
          </a:ln>
        </p:spPr>
      </p:pic>
      <p:sp>
        <p:nvSpPr>
          <p:cNvPr id="43" name="Rectangle 2"/>
          <p:cNvSpPr/>
          <p:nvPr/>
        </p:nvSpPr>
        <p:spPr>
          <a:xfrm>
            <a:off x="0" y="3211116"/>
            <a:ext cx="9144000" cy="1932384"/>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34289" rIns="34289" anchor="ctr"/>
          <a:lstStyle/>
          <a:p>
            <a:pPr algn="ctr">
              <a:defRPr>
                <a:solidFill>
                  <a:srgbClr val="FFFFFF"/>
                </a:solidFill>
              </a:defRPr>
            </a:pPr>
            <a:endParaRPr sz="1350"/>
          </a:p>
        </p:txBody>
      </p:sp>
      <p:pic>
        <p:nvPicPr>
          <p:cNvPr id="44" name="Picture 8" descr="Picture 8"/>
          <p:cNvPicPr>
            <a:picLocks noChangeAspect="1"/>
          </p:cNvPicPr>
          <p:nvPr/>
        </p:nvPicPr>
        <p:blipFill>
          <a:blip r:embed="rId3"/>
          <a:srcRect t="2677" b="2677"/>
          <a:stretch>
            <a:fillRect/>
          </a:stretch>
        </p:blipFill>
        <p:spPr>
          <a:xfrm>
            <a:off x="6629401" y="0"/>
            <a:ext cx="2193925" cy="519113"/>
          </a:xfrm>
          <a:prstGeom prst="rect">
            <a:avLst/>
          </a:prstGeom>
          <a:ln w="12700">
            <a:miter lim="400000"/>
          </a:ln>
        </p:spPr>
      </p:pic>
      <p:sp>
        <p:nvSpPr>
          <p:cNvPr id="45" name="Rectangle 4"/>
          <p:cNvSpPr/>
          <p:nvPr/>
        </p:nvSpPr>
        <p:spPr>
          <a:xfrm>
            <a:off x="2882900" y="5081588"/>
            <a:ext cx="2895600" cy="57150"/>
          </a:xfrm>
          <a:prstGeom prst="rect">
            <a:avLst/>
          </a:prstGeom>
          <a:solidFill>
            <a:srgbClr val="76C2E5"/>
          </a:solidFill>
          <a:ln w="12700">
            <a:miter lim="400000"/>
          </a:ln>
        </p:spPr>
        <p:txBody>
          <a:bodyPr lIns="34289" rIns="34289" anchor="ctr"/>
          <a:lstStyle/>
          <a:p>
            <a:pPr algn="ctr">
              <a:defRPr>
                <a:solidFill>
                  <a:srgbClr val="FFFFFF"/>
                </a:solidFill>
              </a:defRPr>
            </a:pPr>
            <a:endParaRPr sz="1350"/>
          </a:p>
        </p:txBody>
      </p:sp>
      <p:sp>
        <p:nvSpPr>
          <p:cNvPr id="46" name="Rectangle 5"/>
          <p:cNvSpPr/>
          <p:nvPr/>
        </p:nvSpPr>
        <p:spPr>
          <a:xfrm>
            <a:off x="-12700" y="5081588"/>
            <a:ext cx="2895600" cy="57150"/>
          </a:xfrm>
          <a:prstGeom prst="rect">
            <a:avLst/>
          </a:prstGeom>
          <a:solidFill>
            <a:srgbClr val="FCB017"/>
          </a:solidFill>
          <a:ln w="12700">
            <a:miter lim="400000"/>
          </a:ln>
        </p:spPr>
        <p:txBody>
          <a:bodyPr lIns="34289" rIns="34289" anchor="ctr"/>
          <a:lstStyle/>
          <a:p>
            <a:pPr algn="ctr">
              <a:defRPr>
                <a:solidFill>
                  <a:srgbClr val="FFFFFF"/>
                </a:solidFill>
              </a:defRPr>
            </a:pPr>
            <a:endParaRPr sz="1350"/>
          </a:p>
        </p:txBody>
      </p:sp>
      <p:sp>
        <p:nvSpPr>
          <p:cNvPr id="47" name="Rectangle 6"/>
          <p:cNvSpPr/>
          <p:nvPr/>
        </p:nvSpPr>
        <p:spPr>
          <a:xfrm>
            <a:off x="5778500" y="5081588"/>
            <a:ext cx="2895600" cy="57150"/>
          </a:xfrm>
          <a:prstGeom prst="rect">
            <a:avLst/>
          </a:prstGeom>
          <a:solidFill>
            <a:srgbClr val="FF0000"/>
          </a:solidFill>
          <a:ln w="12700">
            <a:miter lim="400000"/>
          </a:ln>
        </p:spPr>
        <p:txBody>
          <a:bodyPr lIns="34289" rIns="34289" anchor="ctr"/>
          <a:lstStyle/>
          <a:p>
            <a:pPr algn="ctr">
              <a:defRPr>
                <a:solidFill>
                  <a:srgbClr val="FFFFFF"/>
                </a:solidFill>
              </a:defRPr>
            </a:pPr>
            <a:endParaRPr sz="1350"/>
          </a:p>
        </p:txBody>
      </p:sp>
      <p:sp>
        <p:nvSpPr>
          <p:cNvPr id="48" name="TextBox 7"/>
          <p:cNvSpPr txBox="1"/>
          <p:nvPr/>
        </p:nvSpPr>
        <p:spPr>
          <a:xfrm>
            <a:off x="6903720" y="571501"/>
            <a:ext cx="2118362" cy="42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9" rIns="34289">
            <a:spAutoFit/>
          </a:bodyPr>
          <a:lstStyle/>
          <a:p>
            <a:pPr algn="ctr">
              <a:defRPr sz="2900" b="1" spc="-150">
                <a:solidFill>
                  <a:srgbClr val="FFFFFF"/>
                </a:solidFill>
                <a:latin typeface="+mj-lt"/>
                <a:ea typeface="+mj-ea"/>
                <a:cs typeface="+mj-cs"/>
                <a:sym typeface="Arial"/>
              </a:defRPr>
            </a:pPr>
            <a:r>
              <a:rPr sz="2175"/>
              <a:t>BITS</a:t>
            </a:r>
            <a:r>
              <a:rPr sz="2175" b="0"/>
              <a:t> Pilani</a:t>
            </a:r>
          </a:p>
        </p:txBody>
      </p:sp>
      <p:sp>
        <p:nvSpPr>
          <p:cNvPr id="50" name="Body Level One…"/>
          <p:cNvSpPr txBox="1">
            <a:spLocks noGrp="1"/>
          </p:cNvSpPr>
          <p:nvPr>
            <p:ph type="body" sz="half" idx="1"/>
          </p:nvPr>
        </p:nvSpPr>
        <p:spPr>
          <a:xfrm>
            <a:off x="304800" y="3486150"/>
            <a:ext cx="8458200" cy="1200150"/>
          </a:xfrm>
          <a:prstGeom prst="rect">
            <a:avLst/>
          </a:prstGeom>
        </p:spPr>
        <p:txBody>
          <a:bodyPr>
            <a:normAutofit/>
          </a:bodyPr>
          <a:lstStyle>
            <a:lvl1pPr marL="0" indent="0">
              <a:lnSpc>
                <a:spcPts val="3150"/>
              </a:lnSpc>
              <a:spcBef>
                <a:spcPts val="0"/>
              </a:spcBef>
              <a:buSzTx/>
              <a:buFontTx/>
              <a:buNone/>
              <a:defRPr sz="3000" b="1" spc="-113"/>
            </a:lvl1pPr>
            <a:lvl2pPr marL="649061" indent="-306161">
              <a:lnSpc>
                <a:spcPts val="3150"/>
              </a:lnSpc>
              <a:spcBef>
                <a:spcPts val="0"/>
              </a:spcBef>
              <a:buFontTx/>
              <a:defRPr sz="3000" b="1" spc="-113"/>
            </a:lvl2pPr>
            <a:lvl3pPr marL="971550" indent="-285750">
              <a:lnSpc>
                <a:spcPts val="3150"/>
              </a:lnSpc>
              <a:spcBef>
                <a:spcPts val="0"/>
              </a:spcBef>
              <a:buFontTx/>
              <a:defRPr sz="3000" b="1" spc="-113"/>
            </a:lvl3pPr>
            <a:lvl4pPr marL="1371600" indent="-342900">
              <a:lnSpc>
                <a:spcPts val="3150"/>
              </a:lnSpc>
              <a:spcBef>
                <a:spcPts val="0"/>
              </a:spcBef>
              <a:buFontTx/>
              <a:defRPr sz="3000" b="1" spc="-113"/>
            </a:lvl4pPr>
            <a:lvl5pPr marL="1714500" indent="-342900">
              <a:lnSpc>
                <a:spcPts val="3150"/>
              </a:lnSpc>
              <a:spcBef>
                <a:spcPts val="0"/>
              </a:spcBef>
              <a:buFontTx/>
              <a:defRPr sz="3000" b="1" spc="-113"/>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2668324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xmlns="" id="{63D8738E-0221-4D62-B029-49DE045C1179}"/>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xmlns="" id="{6FB9BF06-D4F4-462B-8CAF-F7AA8C4CBC1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xmlns="" id="{E7369A73-8C94-4131-B664-BDA73406BED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xmlns="" id="{940D2137-4506-475E-BDBD-01C8F9AB32A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26" name="Graphic 25">
              <a:extLst>
                <a:ext uri="{FF2B5EF4-FFF2-40B4-BE49-F238E27FC236}">
                  <a16:creationId xmlns:a16="http://schemas.microsoft.com/office/drawing/2014/main" xmlns="" id="{C9477889-6CB3-410D-8BC9-E4C3C618592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27" name="Graphic 26">
              <a:extLst>
                <a:ext uri="{FF2B5EF4-FFF2-40B4-BE49-F238E27FC236}">
                  <a16:creationId xmlns:a16="http://schemas.microsoft.com/office/drawing/2014/main" xmlns="" id="{5359F3D2-27DE-4C2B-9063-2466CC0C13C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28" name="Group 27">
              <a:extLst>
                <a:ext uri="{FF2B5EF4-FFF2-40B4-BE49-F238E27FC236}">
                  <a16:creationId xmlns:a16="http://schemas.microsoft.com/office/drawing/2014/main" xmlns="" id="{9E9826F6-77EC-4995-BFD7-0318A680BA1A}"/>
                </a:ext>
              </a:extLst>
            </p:cNvPr>
            <p:cNvGrpSpPr/>
            <p:nvPr userDrawn="1"/>
          </p:nvGrpSpPr>
          <p:grpSpPr>
            <a:xfrm>
              <a:off x="0" y="0"/>
              <a:ext cx="9144001" cy="6888451"/>
              <a:chOff x="0" y="0"/>
              <a:chExt cx="9144001" cy="6888451"/>
            </a:xfrm>
          </p:grpSpPr>
          <p:grpSp>
            <p:nvGrpSpPr>
              <p:cNvPr id="46" name="Group 6">
                <a:extLst>
                  <a:ext uri="{FF2B5EF4-FFF2-40B4-BE49-F238E27FC236}">
                    <a16:creationId xmlns:a16="http://schemas.microsoft.com/office/drawing/2014/main" xmlns=""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xmlns=""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7">
                  <a:extLst>
                    <a:ext uri="{FF2B5EF4-FFF2-40B4-BE49-F238E27FC236}">
                      <a16:creationId xmlns:a16="http://schemas.microsoft.com/office/drawing/2014/main" xmlns=""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8">
                  <a:extLst>
                    <a:ext uri="{FF2B5EF4-FFF2-40B4-BE49-F238E27FC236}">
                      <a16:creationId xmlns:a16="http://schemas.microsoft.com/office/drawing/2014/main" xmlns=""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7" name="Group 10">
                <a:extLst>
                  <a:ext uri="{FF2B5EF4-FFF2-40B4-BE49-F238E27FC236}">
                    <a16:creationId xmlns:a16="http://schemas.microsoft.com/office/drawing/2014/main" xmlns=""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xmlns=""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1" name="Rectangle 11">
                  <a:extLst>
                    <a:ext uri="{FF2B5EF4-FFF2-40B4-BE49-F238E27FC236}">
                      <a16:creationId xmlns:a16="http://schemas.microsoft.com/office/drawing/2014/main" xmlns=""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2" name="Rectangle 12">
                  <a:extLst>
                    <a:ext uri="{FF2B5EF4-FFF2-40B4-BE49-F238E27FC236}">
                      <a16:creationId xmlns:a16="http://schemas.microsoft.com/office/drawing/2014/main" xmlns=""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48" name="Picture 14" descr="Picture 14">
                <a:extLst>
                  <a:ext uri="{FF2B5EF4-FFF2-40B4-BE49-F238E27FC236}">
                    <a16:creationId xmlns:a16="http://schemas.microsoft.com/office/drawing/2014/main" xmlns="" id="{5DC18BF1-5331-4F2F-A174-787311906D1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xmlns="" id="{BA5796A7-03C0-4F17-B86D-A3B33F3BC2CE}"/>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29" name="Graphic 28">
              <a:extLst>
                <a:ext uri="{FF2B5EF4-FFF2-40B4-BE49-F238E27FC236}">
                  <a16:creationId xmlns:a16="http://schemas.microsoft.com/office/drawing/2014/main" xmlns="" id="{8C31F058-777D-4D47-AD29-CC17547B026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100" name="Body Level One…"/>
          <p:cNvSpPr txBox="1">
            <a:spLocks noGrp="1"/>
          </p:cNvSpPr>
          <p:nvPr>
            <p:ph type="body" sz="quarter" idx="1"/>
          </p:nvPr>
        </p:nvSpPr>
        <p:spPr>
          <a:xfrm>
            <a:off x="304800" y="114300"/>
            <a:ext cx="6324600" cy="85725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7843939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xmlns="" id="{FFD8716B-A31C-47B4-A0C5-7548CDD430C6}"/>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xmlns="" id="{5680844E-99C5-4EC4-B180-E92A1197398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xmlns="" id="{3DF246C4-7681-40D2-BD7F-05D1FC48F1E5}"/>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xmlns="" id="{1C3A5CD5-E5A4-4ACE-A91A-27B1E844C52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xmlns="" id="{9469C547-61A0-45EB-B6FA-25B60785AFA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xmlns="" id="{217C0F69-5C4A-46A1-81DF-1368943C8595}"/>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xmlns="" id="{5F7D3B5F-9C84-4CDD-ADC5-1C7AEA7FFA30}"/>
                </a:ext>
              </a:extLst>
            </p:cNvPr>
            <p:cNvGrpSpPr/>
            <p:nvPr userDrawn="1"/>
          </p:nvGrpSpPr>
          <p:grpSpPr>
            <a:xfrm>
              <a:off x="0" y="0"/>
              <a:ext cx="9144001" cy="6888451"/>
              <a:chOff x="0" y="0"/>
              <a:chExt cx="9144001" cy="6888451"/>
            </a:xfrm>
          </p:grpSpPr>
          <p:grpSp>
            <p:nvGrpSpPr>
              <p:cNvPr id="48" name="Group 6">
                <a:extLst>
                  <a:ext uri="{FF2B5EF4-FFF2-40B4-BE49-F238E27FC236}">
                    <a16:creationId xmlns:a16="http://schemas.microsoft.com/office/drawing/2014/main" xmlns=""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xmlns=""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a16="http://schemas.microsoft.com/office/drawing/2014/main" xmlns=""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a16="http://schemas.microsoft.com/office/drawing/2014/main" xmlns=""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a16="http://schemas.microsoft.com/office/drawing/2014/main" xmlns=""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xmlns=""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a16="http://schemas.microsoft.com/office/drawing/2014/main" xmlns=""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a16="http://schemas.microsoft.com/office/drawing/2014/main" xmlns=""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a16="http://schemas.microsoft.com/office/drawing/2014/main" xmlns="" id="{70822080-A35E-497B-A345-0B4F6B3CEC3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xmlns="" id="{35FF49B6-322B-45EA-ADB7-89C68BCD8C5E}"/>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a16="http://schemas.microsoft.com/office/drawing/2014/main" xmlns="" id="{5201B7A3-E0CF-49C7-BCF5-6D53993FB453}"/>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200151"/>
            <a:ext cx="4038600" cy="3394472"/>
          </a:xfrm>
          <a:prstGeom prst="rect">
            <a:avLst/>
          </a:prstGeom>
        </p:spPr>
        <p:txBody>
          <a:bodyPr>
            <a:normAutofit/>
          </a:bodyPr>
          <a:lstStyle>
            <a:lvl1pPr>
              <a:spcBef>
                <a:spcPts val="450"/>
              </a:spcBef>
              <a:buSzTx/>
              <a:buFontTx/>
              <a:buNone/>
              <a:defRPr sz="2100"/>
            </a:lvl1pPr>
            <a:lvl2pPr marL="717947" indent="-375047">
              <a:spcBef>
                <a:spcPts val="450"/>
              </a:spcBef>
              <a:buFontTx/>
              <a:defRPr sz="2100"/>
            </a:lvl2pPr>
            <a:lvl3pPr marL="925829" indent="-240029">
              <a:spcBef>
                <a:spcPts val="450"/>
              </a:spcBef>
              <a:buFontTx/>
              <a:defRPr sz="2100"/>
            </a:lvl3pPr>
            <a:lvl4pPr marL="1295400" indent="-266700">
              <a:spcBef>
                <a:spcPts val="450"/>
              </a:spcBef>
              <a:buFontTx/>
              <a:defRPr sz="2100"/>
            </a:lvl4pPr>
            <a:lvl5pPr marL="1638300" indent="-266700">
              <a:spcBef>
                <a:spcPts val="450"/>
              </a:spcBef>
              <a:buFontTx/>
              <a:defRPr sz="21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49091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xmlns="" id="{83C6F3F4-5751-43BB-8C7D-E213EC59F5AA}"/>
              </a:ext>
            </a:extLst>
          </p:cNvPr>
          <p:cNvGrpSpPr/>
          <p:nvPr userDrawn="1"/>
        </p:nvGrpSpPr>
        <p:grpSpPr>
          <a:xfrm>
            <a:off x="-59470" y="-480825"/>
            <a:ext cx="9267429" cy="6190364"/>
            <a:chOff x="-59470" y="-641099"/>
            <a:chExt cx="9267429" cy="8253818"/>
          </a:xfrm>
        </p:grpSpPr>
        <p:pic>
          <p:nvPicPr>
            <p:cNvPr id="24" name="Graphic 23">
              <a:extLst>
                <a:ext uri="{FF2B5EF4-FFF2-40B4-BE49-F238E27FC236}">
                  <a16:creationId xmlns:a16="http://schemas.microsoft.com/office/drawing/2014/main" xmlns="" id="{3100B7FA-AEEE-4B3E-BF82-561149B2BC1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xmlns="" id="{CA1F78BE-6A45-4BEE-B3D7-5B27F29777F5}"/>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xmlns="" id="{4F972F80-0475-4E37-81F3-DF25FE0B49A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xmlns="" id="{0C8BCD8D-488C-4254-8236-C54B886306BA}"/>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xmlns="" id="{2EDFD120-14DA-495A-8AED-AED69AF6823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xmlns="" id="{B2740D71-E14A-4547-9EF5-592B9A01A999}"/>
                </a:ext>
              </a:extLst>
            </p:cNvPr>
            <p:cNvGrpSpPr/>
            <p:nvPr userDrawn="1"/>
          </p:nvGrpSpPr>
          <p:grpSpPr>
            <a:xfrm>
              <a:off x="0" y="0"/>
              <a:ext cx="9144001" cy="6888451"/>
              <a:chOff x="0" y="0"/>
              <a:chExt cx="9144001" cy="6888451"/>
            </a:xfrm>
          </p:grpSpPr>
          <p:grpSp>
            <p:nvGrpSpPr>
              <p:cNvPr id="49" name="Group 6">
                <a:extLst>
                  <a:ext uri="{FF2B5EF4-FFF2-40B4-BE49-F238E27FC236}">
                    <a16:creationId xmlns:a16="http://schemas.microsoft.com/office/drawing/2014/main" xmlns=""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xmlns=""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a16="http://schemas.microsoft.com/office/drawing/2014/main" xmlns=""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a16="http://schemas.microsoft.com/office/drawing/2014/main" xmlns=""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a16="http://schemas.microsoft.com/office/drawing/2014/main" xmlns=""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xmlns=""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a16="http://schemas.microsoft.com/office/drawing/2014/main" xmlns=""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a16="http://schemas.microsoft.com/office/drawing/2014/main" xmlns=""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a16="http://schemas.microsoft.com/office/drawing/2014/main" xmlns="" id="{E9AFB7EB-F4A0-4F61-B3FC-95170197BC58}"/>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xmlns="" id="{0A56C53E-F093-4235-B0C3-8FDF84D95BFF}"/>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a16="http://schemas.microsoft.com/office/drawing/2014/main" xmlns="" id="{B0F0EE30-1431-48B8-8A47-F3CED9AB2925}"/>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151334"/>
            <a:ext cx="4040188" cy="620316"/>
          </a:xfrm>
          <a:prstGeom prst="rect">
            <a:avLst/>
          </a:prstGeom>
        </p:spPr>
        <p:txBody>
          <a:bodyPr anchor="b">
            <a:normAutofit/>
          </a:bodyPr>
          <a:lstStyle>
            <a:lvl1pPr marL="0" indent="0">
              <a:spcBef>
                <a:spcPts val="375"/>
              </a:spcBef>
              <a:buSzTx/>
              <a:buFontTx/>
              <a:buNone/>
              <a:defRPr sz="1800" b="1"/>
            </a:lvl1pPr>
            <a:lvl2pPr marL="0" indent="342900">
              <a:spcBef>
                <a:spcPts val="375"/>
              </a:spcBef>
              <a:buSzTx/>
              <a:buFontTx/>
              <a:buNone/>
              <a:defRPr sz="1800" b="1"/>
            </a:lvl2pPr>
            <a:lvl3pPr marL="0" indent="685800">
              <a:spcBef>
                <a:spcPts val="375"/>
              </a:spcBef>
              <a:buSzTx/>
              <a:buFontTx/>
              <a:buNone/>
              <a:defRPr sz="1800" b="1"/>
            </a:lvl3pPr>
            <a:lvl4pPr marL="0" indent="1028700">
              <a:spcBef>
                <a:spcPts val="375"/>
              </a:spcBef>
              <a:buSzTx/>
              <a:buFontTx/>
              <a:buNone/>
              <a:defRPr sz="1800" b="1"/>
            </a:lvl4pPr>
            <a:lvl5pPr marL="0" indent="1371600">
              <a:spcBef>
                <a:spcPts val="375"/>
              </a:spcBef>
              <a:buSzTx/>
              <a:buFontTx/>
              <a:buNone/>
              <a:defRPr sz="18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6" y="1151334"/>
            <a:ext cx="4041775" cy="620316"/>
          </a:xfrm>
          <a:prstGeom prst="rect">
            <a:avLst/>
          </a:prstGeom>
        </p:spPr>
        <p:txBody>
          <a:bodyPr anchor="b">
            <a:normAutofit/>
          </a:bodyPr>
          <a:lstStyle>
            <a:lvl1pPr marL="0" indent="0">
              <a:spcBef>
                <a:spcPts val="375"/>
              </a:spcBef>
              <a:buSzTx/>
              <a:buFontTx/>
              <a:buNone/>
              <a:defRPr sz="2400" b="1"/>
            </a:lvl1p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0966846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xmlns="" id="{DD5745CB-06AA-4B81-957F-FB40813E1114}"/>
              </a:ext>
            </a:extLst>
          </p:cNvPr>
          <p:cNvGrpSpPr/>
          <p:nvPr userDrawn="1"/>
        </p:nvGrpSpPr>
        <p:grpSpPr>
          <a:xfrm>
            <a:off x="-59470" y="-480825"/>
            <a:ext cx="9267429" cy="6190364"/>
            <a:chOff x="-59470" y="-641099"/>
            <a:chExt cx="9267429" cy="8253818"/>
          </a:xfrm>
        </p:grpSpPr>
        <p:pic>
          <p:nvPicPr>
            <p:cNvPr id="23" name="Graphic 22">
              <a:extLst>
                <a:ext uri="{FF2B5EF4-FFF2-40B4-BE49-F238E27FC236}">
                  <a16:creationId xmlns:a16="http://schemas.microsoft.com/office/drawing/2014/main" xmlns="" id="{9CF6619D-D89D-4695-84F2-4D14B9CE5CB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xmlns="" id="{3F684C8C-B74B-40AF-ABA0-D1634725725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xmlns="" id="{9347B43F-FF3F-4A48-9060-6D5ED0C6A56D}"/>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xmlns="" id="{E002E591-4F7B-48A9-9F72-9E4DE09C2B3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xmlns="" id="{09B02342-AE14-4FD7-923C-6D9B53B9160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xmlns="" id="{12F6725C-53D2-4236-87F9-62DF3413A481}"/>
                </a:ext>
              </a:extLst>
            </p:cNvPr>
            <p:cNvGrpSpPr/>
            <p:nvPr userDrawn="1"/>
          </p:nvGrpSpPr>
          <p:grpSpPr>
            <a:xfrm>
              <a:off x="0" y="0"/>
              <a:ext cx="9144001" cy="6888451"/>
              <a:chOff x="0" y="0"/>
              <a:chExt cx="9144001" cy="6888451"/>
            </a:xfrm>
          </p:grpSpPr>
          <p:grpSp>
            <p:nvGrpSpPr>
              <p:cNvPr id="48" name="Group 6">
                <a:extLst>
                  <a:ext uri="{FF2B5EF4-FFF2-40B4-BE49-F238E27FC236}">
                    <a16:creationId xmlns:a16="http://schemas.microsoft.com/office/drawing/2014/main" xmlns=""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xmlns=""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6" name="Rectangle 7">
                  <a:extLst>
                    <a:ext uri="{FF2B5EF4-FFF2-40B4-BE49-F238E27FC236}">
                      <a16:creationId xmlns:a16="http://schemas.microsoft.com/office/drawing/2014/main" xmlns=""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8">
                  <a:extLst>
                    <a:ext uri="{FF2B5EF4-FFF2-40B4-BE49-F238E27FC236}">
                      <a16:creationId xmlns:a16="http://schemas.microsoft.com/office/drawing/2014/main" xmlns=""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49" name="Group 10">
                <a:extLst>
                  <a:ext uri="{FF2B5EF4-FFF2-40B4-BE49-F238E27FC236}">
                    <a16:creationId xmlns:a16="http://schemas.microsoft.com/office/drawing/2014/main" xmlns=""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xmlns=""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3" name="Rectangle 11">
                  <a:extLst>
                    <a:ext uri="{FF2B5EF4-FFF2-40B4-BE49-F238E27FC236}">
                      <a16:creationId xmlns:a16="http://schemas.microsoft.com/office/drawing/2014/main" xmlns=""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2">
                  <a:extLst>
                    <a:ext uri="{FF2B5EF4-FFF2-40B4-BE49-F238E27FC236}">
                      <a16:creationId xmlns:a16="http://schemas.microsoft.com/office/drawing/2014/main" xmlns=""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0" name="Picture 14" descr="Picture 14">
                <a:extLst>
                  <a:ext uri="{FF2B5EF4-FFF2-40B4-BE49-F238E27FC236}">
                    <a16:creationId xmlns:a16="http://schemas.microsoft.com/office/drawing/2014/main" xmlns="" id="{D53E0125-E6C8-4170-8576-A8B945924E84}"/>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xmlns="" id="{3BF71A74-AAB4-4ED8-9AC1-98341ED06B55}"/>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7" name="Graphic 46">
              <a:extLst>
                <a:ext uri="{FF2B5EF4-FFF2-40B4-BE49-F238E27FC236}">
                  <a16:creationId xmlns:a16="http://schemas.microsoft.com/office/drawing/2014/main" xmlns="" id="{AF9A04AC-78E1-4BBC-9A65-F9118363579B}"/>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14300"/>
            <a:ext cx="6324600" cy="857250"/>
          </a:xfrm>
          <a:prstGeom prst="rect">
            <a:avLst/>
          </a:prstGeom>
        </p:spPr>
        <p:txBody>
          <a:bodyPr anchor="ctr">
            <a:normAutofit/>
          </a:bodyPr>
          <a:lstStyle>
            <a:lvl1pPr indent="-514350">
              <a:lnSpc>
                <a:spcPts val="2700"/>
              </a:lnSpc>
              <a:spcBef>
                <a:spcPts val="0"/>
              </a:spcBef>
              <a:buSzTx/>
              <a:buFontTx/>
              <a:buNone/>
              <a:defRPr sz="2700" b="1" spc="-113"/>
            </a:lvl1pPr>
            <a:lvl2pPr marL="618444" indent="-275544">
              <a:lnSpc>
                <a:spcPts val="2700"/>
              </a:lnSpc>
              <a:spcBef>
                <a:spcPts val="0"/>
              </a:spcBef>
              <a:buFontTx/>
              <a:defRPr sz="2700" b="1" spc="-113"/>
            </a:lvl2pPr>
            <a:lvl3pPr marL="942975" indent="-257175">
              <a:lnSpc>
                <a:spcPts val="2700"/>
              </a:lnSpc>
              <a:spcBef>
                <a:spcPts val="0"/>
              </a:spcBef>
              <a:buFontTx/>
              <a:defRPr sz="2700" b="1" spc="-113"/>
            </a:lvl3pPr>
            <a:lvl4pPr marL="1337309" indent="-308609">
              <a:lnSpc>
                <a:spcPts val="2700"/>
              </a:lnSpc>
              <a:spcBef>
                <a:spcPts val="0"/>
              </a:spcBef>
              <a:buFontTx/>
              <a:defRPr sz="2700" b="1" spc="-113"/>
            </a:lvl4pPr>
            <a:lvl5pPr marL="1680209" indent="-308609">
              <a:lnSpc>
                <a:spcPts val="2700"/>
              </a:lnSpc>
              <a:spcBef>
                <a:spcPts val="0"/>
              </a:spcBef>
              <a:buFontTx/>
              <a:defRPr sz="2700" b="1" spc="-113"/>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085488427"/>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xmlns="" id="{EBA91D93-81E9-4E44-BA3B-BFC4DB61B9B1}"/>
              </a:ext>
            </a:extLst>
          </p:cNvPr>
          <p:cNvGrpSpPr/>
          <p:nvPr userDrawn="1"/>
        </p:nvGrpSpPr>
        <p:grpSpPr>
          <a:xfrm>
            <a:off x="-59470" y="-480825"/>
            <a:ext cx="9267429" cy="6190364"/>
            <a:chOff x="-59470" y="-641099"/>
            <a:chExt cx="9267429" cy="8253818"/>
          </a:xfrm>
        </p:grpSpPr>
        <p:pic>
          <p:nvPicPr>
            <p:cNvPr id="24" name="Graphic 23">
              <a:extLst>
                <a:ext uri="{FF2B5EF4-FFF2-40B4-BE49-F238E27FC236}">
                  <a16:creationId xmlns:a16="http://schemas.microsoft.com/office/drawing/2014/main" xmlns="" id="{A03074E5-C395-4142-B82C-55575CC3750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xmlns="" id="{5043B723-FDC1-4C80-B36E-65A0302A4A6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xmlns="" id="{5DB4FDD8-D8D7-4A39-973E-FF204CF26F7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xmlns="" id="{276FF869-530C-4BCB-92FE-054992EB10F1}"/>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xmlns="" id="{D919A7FA-FDD4-4C10-97CC-BCD6F27C1D3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xmlns="" id="{CCCFF274-1225-4563-806D-A565D4704B4E}"/>
                </a:ext>
              </a:extLst>
            </p:cNvPr>
            <p:cNvGrpSpPr/>
            <p:nvPr userDrawn="1"/>
          </p:nvGrpSpPr>
          <p:grpSpPr>
            <a:xfrm>
              <a:off x="0" y="0"/>
              <a:ext cx="9144001" cy="6888451"/>
              <a:chOff x="0" y="0"/>
              <a:chExt cx="9144001" cy="6888451"/>
            </a:xfrm>
          </p:grpSpPr>
          <p:grpSp>
            <p:nvGrpSpPr>
              <p:cNvPr id="49" name="Group 6">
                <a:extLst>
                  <a:ext uri="{FF2B5EF4-FFF2-40B4-BE49-F238E27FC236}">
                    <a16:creationId xmlns:a16="http://schemas.microsoft.com/office/drawing/2014/main" xmlns=""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xmlns=""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7" name="Rectangle 7">
                  <a:extLst>
                    <a:ext uri="{FF2B5EF4-FFF2-40B4-BE49-F238E27FC236}">
                      <a16:creationId xmlns:a16="http://schemas.microsoft.com/office/drawing/2014/main" xmlns=""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8" name="Rectangle 8">
                  <a:extLst>
                    <a:ext uri="{FF2B5EF4-FFF2-40B4-BE49-F238E27FC236}">
                      <a16:creationId xmlns:a16="http://schemas.microsoft.com/office/drawing/2014/main" xmlns=""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50" name="Group 10">
                <a:extLst>
                  <a:ext uri="{FF2B5EF4-FFF2-40B4-BE49-F238E27FC236}">
                    <a16:creationId xmlns:a16="http://schemas.microsoft.com/office/drawing/2014/main" xmlns=""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xmlns=""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4" name="Rectangle 11">
                  <a:extLst>
                    <a:ext uri="{FF2B5EF4-FFF2-40B4-BE49-F238E27FC236}">
                      <a16:creationId xmlns:a16="http://schemas.microsoft.com/office/drawing/2014/main" xmlns=""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55" name="Rectangle 12">
                  <a:extLst>
                    <a:ext uri="{FF2B5EF4-FFF2-40B4-BE49-F238E27FC236}">
                      <a16:creationId xmlns:a16="http://schemas.microsoft.com/office/drawing/2014/main" xmlns=""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51" name="Picture 14" descr="Picture 14">
                <a:extLst>
                  <a:ext uri="{FF2B5EF4-FFF2-40B4-BE49-F238E27FC236}">
                    <a16:creationId xmlns:a16="http://schemas.microsoft.com/office/drawing/2014/main" xmlns="" id="{F4752845-A425-4626-8999-478B6153E307}"/>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xmlns="" id="{E2DF6F5B-D493-4810-B293-745C2BA1A0FC}"/>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48" name="Graphic 47">
              <a:extLst>
                <a:ext uri="{FF2B5EF4-FFF2-40B4-BE49-F238E27FC236}">
                  <a16:creationId xmlns:a16="http://schemas.microsoft.com/office/drawing/2014/main" xmlns="" id="{09623608-3D09-45A2-8F67-52AC08DC493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200151"/>
            <a:ext cx="5111750" cy="3394472"/>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200" y="1200151"/>
            <a:ext cx="3008315" cy="3394472"/>
          </a:xfrm>
          <a:prstGeom prst="rect">
            <a:avLst/>
          </a:prstGeom>
        </p:spPr>
        <p:txBody>
          <a:bodyPr>
            <a:normAutofit/>
          </a:bodyPr>
          <a:lstStyle>
            <a:lvl1pPr marL="0" indent="0">
              <a:spcBef>
                <a:spcPts val="225"/>
              </a:spcBef>
              <a:buSzTx/>
              <a:buFontTx/>
              <a:buNone/>
              <a:defRPr sz="1400"/>
            </a:lvl1p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34801255"/>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xmlns="" id="{0635ADB2-6EA8-4BAD-8DAD-0182A2D9B5D3}"/>
              </a:ext>
            </a:extLst>
          </p:cNvPr>
          <p:cNvGrpSpPr/>
          <p:nvPr userDrawn="1"/>
        </p:nvGrpSpPr>
        <p:grpSpPr>
          <a:xfrm>
            <a:off x="-59470" y="-480825"/>
            <a:ext cx="9267429" cy="6190364"/>
            <a:chOff x="-59470" y="-641099"/>
            <a:chExt cx="9267429" cy="8253818"/>
          </a:xfrm>
        </p:grpSpPr>
        <p:pic>
          <p:nvPicPr>
            <p:cNvPr id="77" name="Graphic 76">
              <a:extLst>
                <a:ext uri="{FF2B5EF4-FFF2-40B4-BE49-F238E27FC236}">
                  <a16:creationId xmlns:a16="http://schemas.microsoft.com/office/drawing/2014/main" xmlns="" id="{A2BB439D-C20C-4C61-883B-5D07B84E6E7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xmlns="" id="{A2344A81-D7C5-4E75-BD95-2C318577491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xmlns="" id="{493B14BD-1E4B-4DAF-8B9A-008ACC84DBF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xmlns="" id="{1017A1EE-D786-4AD9-8114-7031497F17D0}"/>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xmlns="" id="{5EB74B49-6A5D-4E90-A8EF-F1A27B22DD44}"/>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xmlns="" id="{80B25D4E-B9E2-4A64-A8A8-6B92913B4C6C}"/>
                </a:ext>
              </a:extLst>
            </p:cNvPr>
            <p:cNvGrpSpPr/>
            <p:nvPr userDrawn="1"/>
          </p:nvGrpSpPr>
          <p:grpSpPr>
            <a:xfrm>
              <a:off x="0" y="0"/>
              <a:ext cx="9144001" cy="6888451"/>
              <a:chOff x="0" y="0"/>
              <a:chExt cx="9144001" cy="6888451"/>
            </a:xfrm>
          </p:grpSpPr>
          <p:grpSp>
            <p:nvGrpSpPr>
              <p:cNvPr id="84" name="Group 6">
                <a:extLst>
                  <a:ext uri="{FF2B5EF4-FFF2-40B4-BE49-F238E27FC236}">
                    <a16:creationId xmlns:a16="http://schemas.microsoft.com/office/drawing/2014/main" xmlns=""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xmlns=""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2" name="Rectangle 7">
                  <a:extLst>
                    <a:ext uri="{FF2B5EF4-FFF2-40B4-BE49-F238E27FC236}">
                      <a16:creationId xmlns:a16="http://schemas.microsoft.com/office/drawing/2014/main" xmlns=""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3" name="Rectangle 8">
                  <a:extLst>
                    <a:ext uri="{FF2B5EF4-FFF2-40B4-BE49-F238E27FC236}">
                      <a16:creationId xmlns:a16="http://schemas.microsoft.com/office/drawing/2014/main" xmlns=""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85" name="Group 10">
                <a:extLst>
                  <a:ext uri="{FF2B5EF4-FFF2-40B4-BE49-F238E27FC236}">
                    <a16:creationId xmlns:a16="http://schemas.microsoft.com/office/drawing/2014/main" xmlns=""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xmlns=""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89" name="Rectangle 11">
                  <a:extLst>
                    <a:ext uri="{FF2B5EF4-FFF2-40B4-BE49-F238E27FC236}">
                      <a16:creationId xmlns:a16="http://schemas.microsoft.com/office/drawing/2014/main" xmlns=""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90" name="Rectangle 12">
                  <a:extLst>
                    <a:ext uri="{FF2B5EF4-FFF2-40B4-BE49-F238E27FC236}">
                      <a16:creationId xmlns:a16="http://schemas.microsoft.com/office/drawing/2014/main" xmlns=""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86" name="Picture 14" descr="Picture 14">
                <a:extLst>
                  <a:ext uri="{FF2B5EF4-FFF2-40B4-BE49-F238E27FC236}">
                    <a16:creationId xmlns:a16="http://schemas.microsoft.com/office/drawing/2014/main" xmlns="" id="{F8C276B3-EE15-4980-9AC5-AF2F16814A5D}"/>
                  </a:ext>
                </a:extLst>
              </p:cNvPr>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xmlns="" id="{D133DA9B-065F-4040-94C1-D75BBB8A8147}"/>
                  </a:ext>
                </a:extLst>
              </p:cNvPr>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83" name="Graphic 82">
              <a:extLst>
                <a:ext uri="{FF2B5EF4-FFF2-40B4-BE49-F238E27FC236}">
                  <a16:creationId xmlns:a16="http://schemas.microsoft.com/office/drawing/2014/main" xmlns="" id="{DD930F25-DAB1-4FE7-A1F6-75A37FD151BD}"/>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9" y="4055269"/>
            <a:ext cx="5486401" cy="228600"/>
          </a:xfrm>
          <a:prstGeom prst="rect">
            <a:avLst/>
          </a:prstGeom>
        </p:spPr>
        <p:txBody>
          <a:bodyPr anchor="b"/>
          <a:lstStyle>
            <a:lvl1pPr>
              <a:lnSpc>
                <a:spcPct val="100000"/>
              </a:lnSpc>
              <a:defRPr sz="1350" spc="0">
                <a:solidFill>
                  <a:srgbClr val="000000"/>
                </a:solidFill>
              </a:defRPr>
            </a:lvl1pPr>
          </a:lstStyle>
          <a:p>
            <a:r>
              <a:t>Title Text</a:t>
            </a:r>
          </a:p>
        </p:txBody>
      </p:sp>
      <p:sp>
        <p:nvSpPr>
          <p:cNvPr id="338" name="Body Level One…"/>
          <p:cNvSpPr txBox="1">
            <a:spLocks noGrp="1"/>
          </p:cNvSpPr>
          <p:nvPr>
            <p:ph type="body" sz="quarter" idx="1"/>
          </p:nvPr>
        </p:nvSpPr>
        <p:spPr>
          <a:xfrm>
            <a:off x="1792289" y="4283869"/>
            <a:ext cx="5486401" cy="228600"/>
          </a:xfrm>
          <a:prstGeom prst="rect">
            <a:avLst/>
          </a:prstGeom>
        </p:spPr>
        <p:txBody>
          <a:bodyPr>
            <a:normAutofit/>
          </a:bodyPr>
          <a:lstStyle>
            <a:lvl1pPr marL="0" indent="0">
              <a:spcBef>
                <a:spcPts val="225"/>
              </a:spcBef>
              <a:buSzTx/>
              <a:buFontTx/>
              <a:buNone/>
              <a:defRPr sz="1200"/>
            </a:lvl1pPr>
            <a:lvl2pPr marL="0" indent="342900">
              <a:spcBef>
                <a:spcPts val="225"/>
              </a:spcBef>
              <a:buSzTx/>
              <a:buFontTx/>
              <a:buNone/>
              <a:defRPr sz="1200"/>
            </a:lvl2pPr>
            <a:lvl3pPr marL="0" indent="685800">
              <a:spcBef>
                <a:spcPts val="225"/>
              </a:spcBef>
              <a:buSzTx/>
              <a:buFontTx/>
              <a:buNone/>
              <a:defRPr sz="1200"/>
            </a:lvl3pPr>
            <a:lvl4pPr marL="0" indent="1028700">
              <a:spcBef>
                <a:spcPts val="225"/>
              </a:spcBef>
              <a:buSzTx/>
              <a:buFontTx/>
              <a:buNone/>
              <a:defRPr sz="1200"/>
            </a:lvl4pPr>
            <a:lvl5pPr marL="0" indent="1371600">
              <a:spcBef>
                <a:spcPts val="225"/>
              </a:spcBef>
              <a:buSzTx/>
              <a:buFontTx/>
              <a:buNone/>
              <a:defRPr sz="12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9" y="1371600"/>
            <a:ext cx="5486401" cy="257175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86707179"/>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xmlns="" id="{983BBAD0-43A5-4D32-8FC9-062F956D4D42}"/>
              </a:ext>
            </a:extLst>
          </p:cNvPr>
          <p:cNvGrpSpPr/>
          <p:nvPr userDrawn="1"/>
        </p:nvGrpSpPr>
        <p:grpSpPr>
          <a:xfrm>
            <a:off x="-59470" y="-480825"/>
            <a:ext cx="9267429" cy="6190364"/>
            <a:chOff x="-59470" y="-641099"/>
            <a:chExt cx="9267429" cy="8253818"/>
          </a:xfrm>
        </p:grpSpPr>
        <p:pic>
          <p:nvPicPr>
            <p:cNvPr id="5" name="Graphic 4">
              <a:extLst>
                <a:ext uri="{FF2B5EF4-FFF2-40B4-BE49-F238E27FC236}">
                  <a16:creationId xmlns:a16="http://schemas.microsoft.com/office/drawing/2014/main" xmlns="" id="{68C4D830-E082-446B-B643-5F87F72600BE}"/>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xmlns="" id="{1C9D4848-2B9E-4B8D-B630-AD31B352037F}"/>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xmlns="" id="{635F0174-0096-461B-8212-566B0011E8D5}"/>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xmlns="" id="{1B104A8E-51B2-42E7-B651-568B9D1D3616}"/>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xmlns="" id="{62F3D4CE-0862-4E00-B299-11A67A59042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xmlns="" id="{1C5A1F24-1ABA-4385-8DF2-98C8D03B2CCD}"/>
                </a:ext>
              </a:extLst>
            </p:cNvPr>
            <p:cNvGrpSpPr/>
            <p:nvPr userDrawn="1"/>
          </p:nvGrpSpPr>
          <p:grpSpPr>
            <a:xfrm>
              <a:off x="0" y="0"/>
              <a:ext cx="9144001" cy="6888451"/>
              <a:chOff x="0" y="0"/>
              <a:chExt cx="9144001" cy="6888451"/>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sz="1350"/>
                </a:p>
              </p:txBody>
            </p:sp>
          </p:grpSp>
          <p:pic>
            <p:nvPicPr>
              <p:cNvPr id="335" name="Picture 14" descr="Picture 14"/>
              <p:cNvPicPr>
                <a:picLocks noChangeAspect="1"/>
              </p:cNvPicPr>
              <p:nvPr userDrawn="1"/>
            </p:nvPicPr>
            <p:blipFill>
              <a:blip r:embed="rId4"/>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923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sz="825" dirty="0"/>
                  <a:t>BITS </a:t>
                </a:r>
                <a:r>
                  <a:rPr lang="en-IN" sz="825" b="0" dirty="0" err="1"/>
                  <a:t>Pilani</a:t>
                </a:r>
                <a:r>
                  <a:rPr lang="en-IN" sz="825" b="0" dirty="0"/>
                  <a:t>, Deemed to be University under Section 3 of UGC Act, 1956</a:t>
                </a:r>
              </a:p>
            </p:txBody>
          </p:sp>
        </p:grpSp>
        <p:pic>
          <p:nvPicPr>
            <p:cNvPr id="3" name="Graphic 2">
              <a:extLst>
                <a:ext uri="{FF2B5EF4-FFF2-40B4-BE49-F238E27FC236}">
                  <a16:creationId xmlns:a16="http://schemas.microsoft.com/office/drawing/2014/main" xmlns="" id="{B778ADC1-BEF0-4061-926A-4839BEC48F19}"/>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83072489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8.jpe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FD961AE-01FE-4E7F-AF74-CFEC5D90A373}"/>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F9FC92-7924-4452-BBC0-DB112ED8DAF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6E19652-ECCD-48DB-BE94-1C68A87AAB50}"/>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xmlns="" id="{88E03F7E-54E3-4B60-A0C0-14F04187E8A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284E1B61-94FE-4BE6-A879-F9D19B3B7DB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7B21C89-4E4A-406B-8392-F67A056F84AA}" type="slidenum">
              <a:rPr lang="en-IN" smtClean="0"/>
              <a:t>‹#›</a:t>
            </a:fld>
            <a:endParaRPr lang="en-IN"/>
          </a:p>
        </p:txBody>
      </p:sp>
    </p:spTree>
    <p:extLst>
      <p:ext uri="{BB962C8B-B14F-4D97-AF65-F5344CB8AC3E}">
        <p14:creationId xmlns:p14="http://schemas.microsoft.com/office/powerpoint/2010/main" val="243896811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200151"/>
            <a:ext cx="8229600" cy="33944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6319805" y="4651849"/>
            <a:ext cx="233395" cy="230832"/>
          </a:xfrm>
          <a:prstGeom prst="rect">
            <a:avLst/>
          </a:prstGeom>
          <a:ln w="12700">
            <a:miter lim="400000"/>
          </a:ln>
        </p:spPr>
        <p:txBody>
          <a:bodyPr wrap="none" lIns="45719" rIns="45719" anchor="ctr">
            <a:spAutoFit/>
          </a:bodyPr>
          <a:lstStyle>
            <a:lvl1pPr algn="r">
              <a:defRPr sz="9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xmlns="" id="{BC5692C0-A143-3571-7EE1-32346BE87C3A}"/>
              </a:ext>
            </a:extLst>
          </p:cNvPr>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419270405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Lst>
  <p:transition spd="med"/>
  <p:txStyles>
    <p:titleStyle>
      <a:lvl1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1pPr>
      <a:lvl2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2pPr>
      <a:lvl3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3pPr>
      <a:lvl4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4pPr>
      <a:lvl5pPr marL="0" marR="0" indent="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5pPr>
      <a:lvl6pPr marL="0" marR="0" indent="3429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6pPr>
      <a:lvl7pPr marL="0" marR="0" indent="6858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7pPr>
      <a:lvl8pPr marL="0" marR="0" indent="10287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8pPr>
      <a:lvl9pPr marL="0" marR="0" indent="1371600" algn="l" defTabSz="685800" rtl="0" latinLnBrk="0">
        <a:lnSpc>
          <a:spcPts val="3000"/>
        </a:lnSpc>
        <a:spcBef>
          <a:spcPts val="0"/>
        </a:spcBef>
        <a:spcAft>
          <a:spcPts val="0"/>
        </a:spcAft>
        <a:buClrTx/>
        <a:buSzTx/>
        <a:buFontTx/>
        <a:buNone/>
        <a:tabLst/>
        <a:defRPr sz="3300" b="1" i="0" u="none" strike="noStrike" cap="none" spc="-113" baseline="0">
          <a:solidFill>
            <a:srgbClr val="FFFFFF"/>
          </a:solidFill>
          <a:uFillTx/>
          <a:latin typeface="+mj-lt"/>
          <a:ea typeface="+mj-ea"/>
          <a:cs typeface="+mj-cs"/>
          <a:sym typeface="Arial"/>
        </a:defRPr>
      </a:lvl9pPr>
    </p:titleStyle>
    <p:bodyStyle>
      <a:lvl1pPr marL="257175" marR="0" indent="-257175"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1pPr>
      <a:lvl2pPr marL="587828" marR="0" indent="-244928"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2pPr>
      <a:lvl3pPr marL="914400" marR="0" indent="-22860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3pPr>
      <a:lvl4pPr marL="13030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4pPr>
      <a:lvl5pPr marL="16459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5pPr>
      <a:lvl6pPr marL="19888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6pPr>
      <a:lvl7pPr marL="2331720" marR="0" indent="-274320"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7pPr>
      <a:lvl8pPr marL="26746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8pPr>
      <a:lvl9pPr marL="3017519" marR="0" indent="-274319" algn="l" defTabSz="685800" rtl="0" latinLnBrk="0">
        <a:lnSpc>
          <a:spcPct val="100000"/>
        </a:lnSpc>
        <a:spcBef>
          <a:spcPts val="525"/>
        </a:spcBef>
        <a:spcAft>
          <a:spcPts val="0"/>
        </a:spcAft>
        <a:buClrTx/>
        <a:buSzPct val="100000"/>
        <a:buFont typeface="Arial"/>
        <a:buChar char="•"/>
        <a:tabLst/>
        <a:defRPr sz="2400" b="0" i="0" u="none" strike="noStrike" cap="none" spc="0" baseline="0">
          <a:solidFill>
            <a:srgbClr val="000000"/>
          </a:solidFill>
          <a:uFillTx/>
          <a:latin typeface="+mj-lt"/>
          <a:ea typeface="+mj-ea"/>
          <a:cs typeface="+mj-cs"/>
          <a:sym typeface="Arial"/>
        </a:defRPr>
      </a:lvl9pPr>
    </p:bodyStyle>
    <p:otherStyle>
      <a:lvl1pPr marL="0" marR="0" indent="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1pPr>
      <a:lvl2pPr marL="0" marR="0" indent="3429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2pPr>
      <a:lvl3pPr marL="0" marR="0" indent="6858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3pPr>
      <a:lvl4pPr marL="0" marR="0" indent="10287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4pPr>
      <a:lvl5pPr marL="0" marR="0" indent="13716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5pPr>
      <a:lvl6pPr marL="0" marR="0" indent="17145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6pPr>
      <a:lvl7pPr marL="0" marR="0" indent="20574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7pPr>
      <a:lvl8pPr marL="0" marR="0" indent="24003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8pPr>
      <a:lvl9pPr marL="0" marR="0" indent="2743200" algn="r" defTabSz="6858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1.emf"/><Relationship Id="rId5" Type="http://schemas.openxmlformats.org/officeDocument/2006/relationships/image" Target="../media/image20.emf"/><Relationship Id="rId4" Type="http://schemas.openxmlformats.org/officeDocument/2006/relationships/image" Target="../media/image19.emf"/></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xmlns="" id="{6B4EA8C7-D7DC-AAB6-F030-CFB268473928}"/>
              </a:ext>
            </a:extLst>
          </p:cNvPr>
          <p:cNvSpPr txBox="1">
            <a:spLocks noGrp="1"/>
          </p:cNvSpPr>
          <p:nvPr>
            <p:ph type="title"/>
          </p:nvPr>
        </p:nvSpPr>
        <p:spPr>
          <a:xfrm>
            <a:off x="2057400" y="2914650"/>
            <a:ext cx="6205928" cy="682989"/>
          </a:xfrm>
          <a:prstGeom prst="rect">
            <a:avLst/>
          </a:prstGeom>
        </p:spPr>
        <p:txBody>
          <a:bodyPr>
            <a:noAutofit/>
          </a:bodyPr>
          <a:lstStyle>
            <a:lvl1pPr>
              <a:defRPr spc="-200"/>
            </a:lvl1pPr>
          </a:lstStyle>
          <a:p>
            <a:pPr algn="ctr"/>
            <a:r>
              <a:rPr lang="en-IN" sz="4950" dirty="0">
                <a:solidFill>
                  <a:schemeClr val="bg1"/>
                </a:solidFill>
                <a:latin typeface="Times New Roman" panose="02020603050405020304" pitchFamily="18" charset="0"/>
                <a:ea typeface="Ubuntu" panose="020B0504030602030204" pitchFamily="34" charset="0"/>
              </a:rPr>
              <a:t>Computer </a:t>
            </a:r>
            <a:r>
              <a:rPr lang="en-IN" sz="4950" dirty="0">
                <a:solidFill>
                  <a:schemeClr val="bg1"/>
                </a:solidFill>
                <a:latin typeface="Times New Roman" panose="02020603050405020304" pitchFamily="18" charset="0"/>
              </a:rPr>
              <a:t>Networks</a:t>
            </a:r>
            <a:endParaRPr lang="en-US" sz="4950" dirty="0">
              <a:solidFill>
                <a:schemeClr val="bg1"/>
              </a:solidFill>
            </a:endParaRPr>
          </a:p>
        </p:txBody>
      </p:sp>
      <p:sp>
        <p:nvSpPr>
          <p:cNvPr id="7" name="Content Placeholder 5">
            <a:extLst>
              <a:ext uri="{FF2B5EF4-FFF2-40B4-BE49-F238E27FC236}">
                <a16:creationId xmlns:a16="http://schemas.microsoft.com/office/drawing/2014/main" xmlns="" id="{98943538-8B93-5D12-646F-DD350E0577E6}"/>
              </a:ext>
            </a:extLst>
          </p:cNvPr>
          <p:cNvSpPr txBox="1">
            <a:spLocks noGrp="1"/>
          </p:cNvSpPr>
          <p:nvPr>
            <p:ph type="body" sz="quarter" idx="1"/>
          </p:nvPr>
        </p:nvSpPr>
        <p:spPr>
          <a:xfrm>
            <a:off x="4052029" y="4046407"/>
            <a:ext cx="4514850" cy="400050"/>
          </a:xfrm>
          <a:prstGeom prst="rect">
            <a:avLst/>
          </a:prstGeom>
        </p:spPr>
        <p:txBody>
          <a:bodyPr>
            <a:noAutofit/>
          </a:bodyPr>
          <a:lstStyle/>
          <a:p>
            <a:pPr lvl="0">
              <a:buClr>
                <a:schemeClr val="lt1"/>
              </a:buClr>
              <a:buSzPts val="2400"/>
            </a:pPr>
            <a:r>
              <a:rPr lang="en-US" sz="1800" b="1" dirty="0" smtClean="0"/>
              <a:t>Prabhu Subramanian</a:t>
            </a:r>
            <a:endParaRPr lang="en-US" sz="1800" b="1" dirty="0"/>
          </a:p>
          <a:p>
            <a:pPr lvl="0">
              <a:buClr>
                <a:schemeClr val="lt1"/>
              </a:buClr>
              <a:buSzPts val="2400"/>
            </a:pPr>
            <a:r>
              <a:rPr lang="en-US" sz="1800" b="1" dirty="0" smtClean="0"/>
              <a:t>prabhus@wilp.bits-pilani.ac.in </a:t>
            </a:r>
            <a:endParaRPr lang="en-US" sz="1800" b="1"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a:extLst>
              <a:ext uri="{FF2B5EF4-FFF2-40B4-BE49-F238E27FC236}">
                <a16:creationId xmlns:a16="http://schemas.microsoft.com/office/drawing/2014/main" xmlns="" id="{F2263745-3CAE-516E-E0AB-1C77C3F00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9636" y="1843087"/>
            <a:ext cx="3807619" cy="186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Slide Number Placeholder 2">
            <a:extLst>
              <a:ext uri="{FF2B5EF4-FFF2-40B4-BE49-F238E27FC236}">
                <a16:creationId xmlns:a16="http://schemas.microsoft.com/office/drawing/2014/main" xmlns="" id="{E4FD0579-1766-353F-578D-035E79BF1C1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557213" indent="-214313">
              <a:spcBef>
                <a:spcPct val="20000"/>
              </a:spcBef>
              <a:buFont typeface="Arial" panose="020B0604020202020204" pitchFamily="34" charset="0"/>
              <a:buChar char="–"/>
              <a:defRPr sz="21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857250" indent="-171450">
              <a:spcBef>
                <a:spcPct val="20000"/>
              </a:spcBef>
              <a:buFont typeface="Arial" panose="020B0604020202020204" pitchFamily="34" charset="0"/>
              <a:buChar char="•"/>
              <a:defRPr sz="18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200150" indent="-171450">
              <a:spcBef>
                <a:spcPct val="20000"/>
              </a:spcBef>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1543050" indent="-171450">
              <a:spcBef>
                <a:spcPct val="20000"/>
              </a:spcBef>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18859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2288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25717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2914650" indent="-171450" eaLnBrk="0" fontAlgn="base" hangingPunct="0">
              <a:spcBef>
                <a:spcPct val="20000"/>
              </a:spcBef>
              <a:spcAft>
                <a:spcPct val="0"/>
              </a:spcAft>
              <a:buFont typeface="Arial" panose="020B0604020202020204" pitchFamily="34" charset="0"/>
              <a:buChar char="»"/>
              <a:defRPr sz="15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defTabSz="685800" rtl="0">
              <a:spcBef>
                <a:spcPct val="0"/>
              </a:spcBef>
              <a:buNone/>
            </a:pPr>
            <a:fld id="{055B8FDB-D63F-4C69-8E37-1D0C4F91AA89}" type="slidenum">
              <a:rPr lang="en-US" altLang="en-US" sz="900" kern="1200">
                <a:solidFill>
                  <a:srgbClr val="898989"/>
                </a:solidFill>
                <a:cs typeface="+mn-cs"/>
              </a:rPr>
              <a:pPr defTabSz="685800" rtl="0">
                <a:spcBef>
                  <a:spcPct val="0"/>
                </a:spcBef>
                <a:buNone/>
              </a:pPr>
              <a:t>2</a:t>
            </a:fld>
            <a:endParaRPr lang="en-US" altLang="en-US" sz="900" kern="1200">
              <a:solidFill>
                <a:srgbClr val="898989"/>
              </a:solidFill>
              <a:cs typeface="+mn-cs"/>
            </a:endParaRPr>
          </a:p>
        </p:txBody>
      </p:sp>
      <p:sp>
        <p:nvSpPr>
          <p:cNvPr id="18437" name="Google Shape;190;g2231df5f08c_0_0">
            <a:extLst>
              <a:ext uri="{FF2B5EF4-FFF2-40B4-BE49-F238E27FC236}">
                <a16:creationId xmlns:a16="http://schemas.microsoft.com/office/drawing/2014/main" xmlns="" id="{1724DF81-CB38-5CE6-577B-982632189434}"/>
              </a:ext>
            </a:extLst>
          </p:cNvPr>
          <p:cNvSpPr txBox="1">
            <a:spLocks noChangeArrowheads="1"/>
          </p:cNvSpPr>
          <p:nvPr/>
        </p:nvSpPr>
        <p:spPr bwMode="auto">
          <a:xfrm>
            <a:off x="85726" y="280987"/>
            <a:ext cx="5407819"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1427" tIns="25706" rIns="51427" bIns="25706" anchor="ctr"/>
          <a:lstStyle>
            <a:lvl1pPr>
              <a:spcBef>
                <a:spcPct val="20000"/>
              </a:spcBef>
              <a:buFont typeface="Arial" panose="020B0604020202020204" pitchFamily="34" charset="0"/>
              <a:buChar char="•"/>
              <a:defRPr sz="3200">
                <a:solidFill>
                  <a:schemeClr val="tx1"/>
                </a:solidFill>
                <a:latin typeface="Arial" panose="020B0604020202020204" pitchFamily="34" charset="0"/>
                <a:ea typeface="SimSun" panose="02010600030101010101" pitchFamily="2" charset="-122"/>
                <a:sym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SimSun" panose="02010600030101010101" pitchFamily="2" charset="-122"/>
                <a:sym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ea typeface="SimSun" panose="02010600030101010101" pitchFamily="2" charset="-122"/>
                <a:sym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ea typeface="SimSun" panose="02010600030101010101" pitchFamily="2" charset="-122"/>
                <a:sym typeface="Arial" panose="020B0604020202020204" pitchFamily="34" charset="0"/>
              </a:defRPr>
            </a:lvl9pPr>
          </a:lstStyle>
          <a:p>
            <a:pPr algn="l" defTabSz="685800" rtl="0">
              <a:spcBef>
                <a:spcPct val="0"/>
              </a:spcBef>
              <a:buClr>
                <a:srgbClr val="000000"/>
              </a:buClr>
              <a:buSzPts val="4400"/>
              <a:buNone/>
            </a:pPr>
            <a:r>
              <a:rPr lang="en-US" altLang="en-US" sz="2475" b="1" kern="1200" dirty="0">
                <a:solidFill>
                  <a:prstClr val="black"/>
                </a:solidFill>
                <a:cs typeface="+mn-cs"/>
              </a:rPr>
              <a:t>  IMP Note to Self</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782EF57-6DE5-354B-661F-E8F1742B8C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378D3494-7A2D-FA16-5E89-D8CCFDD9198C}"/>
              </a:ext>
            </a:extLst>
          </p:cNvPr>
          <p:cNvSpPr txBox="1">
            <a:spLocks/>
          </p:cNvSpPr>
          <p:nvPr/>
        </p:nvSpPr>
        <p:spPr>
          <a:xfrm>
            <a:off x="427219" y="1120378"/>
            <a:ext cx="7802381" cy="368022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4289" rIns="34289" anchor="ctr">
            <a:normAutofit fontScale="77500" lnSpcReduction="20000"/>
          </a:bodyPr>
          <a:lstStyle>
            <a:lvl1pPr marL="342900" marR="0" indent="-685800" algn="l" defTabSz="914400" rtl="0" latinLnBrk="0">
              <a:lnSpc>
                <a:spcPts val="3600"/>
              </a:lnSpc>
              <a:spcBef>
                <a:spcPts val="0"/>
              </a:spcBef>
              <a:spcAft>
                <a:spcPts val="0"/>
              </a:spcAft>
              <a:buClrTx/>
              <a:buSzTx/>
              <a:buFontTx/>
              <a:buNone/>
              <a:tabLst/>
              <a:defRPr sz="3600" b="1" i="0" u="none" strike="noStrike" cap="none" spc="-150" baseline="0">
                <a:solidFill>
                  <a:srgbClr val="000000"/>
                </a:solidFill>
                <a:uFillTx/>
                <a:latin typeface="+mj-lt"/>
                <a:ea typeface="+mj-ea"/>
                <a:cs typeface="+mj-cs"/>
                <a:sym typeface="Arial"/>
              </a:defRPr>
            </a:lvl1pPr>
            <a:lvl2pPr marL="824592" marR="0" indent="-367392"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2pPr>
            <a:lvl3pPr marL="1257300" marR="0" indent="-342900"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3pPr>
            <a:lvl4pPr marL="1783079" marR="0" indent="-411479"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4pPr>
            <a:lvl5pPr marL="2240279" marR="0" indent="-411479" algn="l" defTabSz="914400" rtl="0" latinLnBrk="0">
              <a:lnSpc>
                <a:spcPts val="3600"/>
              </a:lnSpc>
              <a:spcBef>
                <a:spcPts val="0"/>
              </a:spcBef>
              <a:spcAft>
                <a:spcPts val="0"/>
              </a:spcAft>
              <a:buClrTx/>
              <a:buSzPct val="100000"/>
              <a:buFontTx/>
              <a:buChar char="»"/>
              <a:tabLst/>
              <a:defRPr sz="3600" b="1" i="0" u="none" strike="noStrike" cap="none" spc="-15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pPr marL="539354" indent="-336947" algn="just" defTabSz="685800">
              <a:lnSpc>
                <a:spcPct val="150000"/>
              </a:lnSpc>
              <a:buFont typeface="Wingdings" panose="05000000000000000000" pitchFamily="2" charset="2"/>
              <a:buChar char="Ø"/>
            </a:pPr>
            <a:r>
              <a:rPr lang="en-IN" sz="2700" kern="1200" spc="-113" dirty="0">
                <a:latin typeface="Calibri Light" panose="020F0302020204030204"/>
              </a:rPr>
              <a:t>It is important  to know that just login to the session does not guarantee the  attendance.</a:t>
            </a:r>
          </a:p>
          <a:p>
            <a:pPr marL="539354" indent="-336947" algn="just" defTabSz="685800">
              <a:lnSpc>
                <a:spcPct val="150000"/>
              </a:lnSpc>
              <a:buFont typeface="Wingdings" panose="05000000000000000000" pitchFamily="2" charset="2"/>
              <a:buChar char="Ø"/>
            </a:pPr>
            <a:r>
              <a:rPr lang="en-IN" sz="2700" kern="1200" spc="-113" dirty="0">
                <a:latin typeface="Calibri Light" panose="020F0302020204030204"/>
              </a:rPr>
              <a:t>Once you join the session, continue till the end to consider you as present in the class.</a:t>
            </a:r>
          </a:p>
          <a:p>
            <a:pPr marL="539354" indent="-336947" algn="just" defTabSz="685800">
              <a:lnSpc>
                <a:spcPct val="150000"/>
              </a:lnSpc>
              <a:buFont typeface="Wingdings" panose="05000000000000000000" pitchFamily="2" charset="2"/>
              <a:buChar char="Ø"/>
            </a:pPr>
            <a:r>
              <a:rPr lang="en-IN" sz="2700" kern="1200" spc="-113" dirty="0">
                <a:latin typeface="Calibri Light" panose="020F0302020204030204"/>
              </a:rPr>
              <a:t>IMPORTANTLY, you need to make the class more interactive by responding to Professors queries in the session.</a:t>
            </a:r>
          </a:p>
          <a:p>
            <a:pPr marL="539354" indent="-336947" algn="just" defTabSz="685800">
              <a:lnSpc>
                <a:spcPct val="150000"/>
              </a:lnSpc>
              <a:buFont typeface="Wingdings" panose="05000000000000000000" pitchFamily="2" charset="2"/>
              <a:buChar char="Ø"/>
            </a:pPr>
            <a:r>
              <a:rPr lang="en-IN" sz="2700" kern="1200" spc="-113" dirty="0">
                <a:latin typeface="Calibri Light" panose="020F0302020204030204"/>
              </a:rPr>
              <a:t> </a:t>
            </a:r>
            <a:r>
              <a:rPr lang="en-IN" sz="2700" kern="1200" spc="-113" dirty="0">
                <a:solidFill>
                  <a:srgbClr val="FF0000"/>
                </a:solidFill>
                <a:latin typeface="Calibri Light" panose="020F0302020204030204"/>
              </a:rPr>
              <a:t>Whenever Professor calls your number / name, you need to respond, otherwise it will be considered as ABSENT</a:t>
            </a:r>
          </a:p>
        </p:txBody>
      </p:sp>
      <p:sp>
        <p:nvSpPr>
          <p:cNvPr id="3" name="Content Placeholder 3">
            <a:extLst>
              <a:ext uri="{FF2B5EF4-FFF2-40B4-BE49-F238E27FC236}">
                <a16:creationId xmlns:a16="http://schemas.microsoft.com/office/drawing/2014/main" xmlns="" id="{E5B81B82-6722-E8D7-444B-729DD031BBCE}"/>
              </a:ext>
            </a:extLst>
          </p:cNvPr>
          <p:cNvSpPr txBox="1">
            <a:spLocks/>
          </p:cNvSpPr>
          <p:nvPr/>
        </p:nvSpPr>
        <p:spPr>
          <a:xfrm>
            <a:off x="0" y="444084"/>
            <a:ext cx="5640050" cy="549015"/>
          </a:xfrm>
          <a:prstGeom prst="rect">
            <a:avLst/>
          </a:prstGeom>
        </p:spPr>
        <p:txBody>
          <a:bodyPr/>
          <a:lst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a:lstStyle>
          <a:p>
            <a:pPr marL="0" indent="0" defTabSz="685800">
              <a:spcBef>
                <a:spcPts val="525"/>
              </a:spcBef>
              <a:buNone/>
            </a:pPr>
            <a:r>
              <a:rPr lang="en-IN" sz="3000" b="1" kern="1200" dirty="0">
                <a:latin typeface="Calibri Light" panose="020F0302020204030204"/>
              </a:rPr>
              <a:t>Important Note to Students</a:t>
            </a:r>
            <a:endParaRPr lang="en-IN" sz="3000" kern="1200" dirty="0">
              <a:latin typeface="Calibri Light" panose="020F0302020204030204"/>
            </a:endParaRPr>
          </a:p>
        </p:txBody>
      </p:sp>
    </p:spTree>
    <p:extLst>
      <p:ext uri="{BB962C8B-B14F-4D97-AF65-F5344CB8AC3E}">
        <p14:creationId xmlns:p14="http://schemas.microsoft.com/office/powerpoint/2010/main" val="119808122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xmlns="" id="{0708FDF9-98D8-82DA-F401-4BCA6F29EBE4}"/>
              </a:ext>
            </a:extLst>
          </p:cNvPr>
          <p:cNvSpPr txBox="1">
            <a:spLocks noGrp="1"/>
          </p:cNvSpPr>
          <p:nvPr>
            <p:ph type="body" sz="half" idx="1"/>
          </p:nvPr>
        </p:nvSpPr>
        <p:spPr>
          <a:xfrm>
            <a:off x="1400175" y="3733488"/>
            <a:ext cx="6343650" cy="875988"/>
          </a:xfrm>
          <a:prstGeom prst="rect">
            <a:avLst/>
          </a:prstGeom>
        </p:spPr>
        <p:txBody>
          <a:bodyPr>
            <a:noAutofit/>
          </a:bodyPr>
          <a:lstStyle/>
          <a:p>
            <a:pPr algn="ctr">
              <a:defRPr spc="-200"/>
            </a:pPr>
            <a:r>
              <a:rPr lang="en-US" sz="2400" dirty="0"/>
              <a:t>SEWI ZC467 - COMPUTER NETWORKS</a:t>
            </a:r>
          </a:p>
          <a:p>
            <a:pPr algn="ctr">
              <a:defRPr spc="-200"/>
            </a:pPr>
            <a:r>
              <a:rPr lang="en-US" sz="2400" dirty="0"/>
              <a:t>Lecture No. 07</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3">
            <a:extLst>
              <a:ext uri="{FF2B5EF4-FFF2-40B4-BE49-F238E27FC236}">
                <a16:creationId xmlns:a16="http://schemas.microsoft.com/office/drawing/2014/main" xmlns="" id="{C5D66A81-E9F6-A9F6-5724-F8F4DA2DC192}"/>
              </a:ext>
            </a:extLst>
          </p:cNvPr>
          <p:cNvSpPr>
            <a:spLocks noGrp="1" noChangeArrowheads="1"/>
          </p:cNvSpPr>
          <p:nvPr>
            <p:ph type="body" sz="half" idx="4294967295"/>
          </p:nvPr>
        </p:nvSpPr>
        <p:spPr>
          <a:xfrm>
            <a:off x="304800" y="982663"/>
            <a:ext cx="8382000" cy="3703637"/>
          </a:xfrm>
        </p:spPr>
        <p:txBody>
          <a:bodyPr>
            <a:normAutofit lnSpcReduction="10000"/>
          </a:bodyPr>
          <a:lstStyle/>
          <a:p>
            <a:pPr marL="0" indent="0" algn="just">
              <a:lnSpc>
                <a:spcPct val="150000"/>
              </a:lnSpc>
              <a:spcBef>
                <a:spcPts val="0"/>
              </a:spcBef>
              <a:buNone/>
            </a:pPr>
            <a:r>
              <a:rPr lang="en-US" sz="2000" b="1" i="1"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Traffic-controlling methods for different situations. </a:t>
            </a:r>
          </a:p>
          <a:p>
            <a:pPr algn="just">
              <a:lnSpc>
                <a:spcPct val="150000"/>
              </a:lnSpc>
              <a:spcBef>
                <a:spcPts val="0"/>
              </a:spcBef>
            </a:pP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flow control</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the rate of traffic received from a sender can be controlled by a receiver.</a:t>
            </a:r>
          </a:p>
          <a:p>
            <a:pPr algn="just">
              <a:lnSpc>
                <a:spcPct val="150000"/>
              </a:lnSpc>
              <a:spcBef>
                <a:spcPts val="0"/>
              </a:spcBef>
            </a:pP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Flow control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is a technique used to regulate the flow of data between different nodes in a network. It ensures that a sender does not overwhelm a receiver with too much data too quickly. </a:t>
            </a:r>
          </a:p>
          <a:p>
            <a:pPr algn="just">
              <a:lnSpc>
                <a:spcPct val="150000"/>
              </a:lnSpc>
              <a:spcBef>
                <a:spcPts val="0"/>
              </a:spcBef>
            </a:pP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The goal of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flow control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is to prevent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buffer overflow</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which can lead to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dropped packets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and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poor network performance</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87046" name="Rectangle 2">
            <a:extLst>
              <a:ext uri="{FF2B5EF4-FFF2-40B4-BE49-F238E27FC236}">
                <a16:creationId xmlns:a16="http://schemas.microsoft.com/office/drawing/2014/main" xmlns="" id="{F94D0202-EDD3-98AF-E3D3-CFF7F05070D7}"/>
              </a:ext>
            </a:extLst>
          </p:cNvPr>
          <p:cNvSpPr>
            <a:spLocks noGrp="1" noChangeArrowheads="1"/>
          </p:cNvSpPr>
          <p:nvPr>
            <p:ph type="title" idx="4294967295"/>
          </p:nvPr>
        </p:nvSpPr>
        <p:spPr>
          <a:xfrm>
            <a:off x="0" y="209550"/>
            <a:ext cx="8534400" cy="773113"/>
          </a:xfrm>
        </p:spPr>
        <p:txBody>
          <a:bodyPr/>
          <a:lstStyle/>
          <a:p>
            <a:pPr>
              <a:defRPr/>
            </a:pPr>
            <a:r>
              <a:rPr lang="en-US" sz="3200" b="1" dirty="0">
                <a:latin typeface="Calibri" panose="020F0502020204030204" pitchFamily="34" charset="0"/>
                <a:ea typeface="Calibri" panose="020F0502020204030204" pitchFamily="34" charset="0"/>
                <a:cs typeface="Calibri" panose="020F0502020204030204" pitchFamily="34" charset="0"/>
              </a:rPr>
              <a:t>Flow Control vs Congestion Control</a:t>
            </a:r>
            <a:endParaRPr lang="en-US" sz="36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C90AC8-DE0A-A0CD-19C5-2365FB2117BE}"/>
            </a:ext>
          </a:extLst>
        </p:cNvPr>
        <p:cNvGrpSpPr/>
        <p:nvPr/>
      </p:nvGrpSpPr>
      <p:grpSpPr>
        <a:xfrm>
          <a:off x="0" y="0"/>
          <a:ext cx="0" cy="0"/>
          <a:chOff x="0" y="0"/>
          <a:chExt cx="0" cy="0"/>
        </a:xfrm>
      </p:grpSpPr>
      <p:sp>
        <p:nvSpPr>
          <p:cNvPr id="93188" name="Rectangle 3">
            <a:extLst>
              <a:ext uri="{FF2B5EF4-FFF2-40B4-BE49-F238E27FC236}">
                <a16:creationId xmlns:a16="http://schemas.microsoft.com/office/drawing/2014/main" xmlns="" id="{D23AD3FE-4DB7-4D82-0DF6-F68413D82A20}"/>
              </a:ext>
            </a:extLst>
          </p:cNvPr>
          <p:cNvSpPr>
            <a:spLocks noGrp="1" noChangeArrowheads="1"/>
          </p:cNvSpPr>
          <p:nvPr>
            <p:ph type="body" sz="half" idx="4294967295"/>
          </p:nvPr>
        </p:nvSpPr>
        <p:spPr>
          <a:xfrm>
            <a:off x="304800" y="982663"/>
            <a:ext cx="8382000" cy="3703637"/>
          </a:xfrm>
        </p:spPr>
        <p:txBody>
          <a:bodyPr/>
          <a:lstStyle/>
          <a:p>
            <a:pPr marL="0" indent="0" algn="just">
              <a:lnSpc>
                <a:spcPct val="150000"/>
              </a:lnSpc>
              <a:spcBef>
                <a:spcPts val="0"/>
              </a:spcBef>
              <a:buNone/>
            </a:pPr>
            <a:r>
              <a:rPr lang="en-US" sz="2000" b="1" i="1"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Traffic-controlling methods for different situations. </a:t>
            </a:r>
          </a:p>
          <a:p>
            <a:pPr algn="just">
              <a:lnSpc>
                <a:spcPct val="150000"/>
              </a:lnSpc>
            </a:pP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congestion control</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the rate of traffic from the sender to the network is controlled. </a:t>
            </a:r>
          </a:p>
          <a:p>
            <a:pPr algn="just">
              <a:lnSpc>
                <a:spcPct val="150000"/>
              </a:lnSpc>
            </a:pP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Congestion control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is a technique used to prevent congestion in a network. </a:t>
            </a:r>
          </a:p>
          <a:p>
            <a:pPr algn="just">
              <a:lnSpc>
                <a:spcPct val="150000"/>
              </a:lnSpc>
            </a:pP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Congestion occurs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when too much data is being sent over a network, and the network becomes overloaded, leading to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dropped packets </a:t>
            </a:r>
            <a:r>
              <a:rPr lang="en-US" sz="20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and </a:t>
            </a:r>
            <a:r>
              <a:rPr lang="en-US" sz="2000" b="1" i="0"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poor network performance.</a:t>
            </a:r>
            <a:endParaRPr lang="en-US" alt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87046" name="Rectangle 2">
            <a:extLst>
              <a:ext uri="{FF2B5EF4-FFF2-40B4-BE49-F238E27FC236}">
                <a16:creationId xmlns:a16="http://schemas.microsoft.com/office/drawing/2014/main" xmlns="" id="{FBBEAF0D-06F1-5FE8-FB06-BB90F8BF9722}"/>
              </a:ext>
            </a:extLst>
          </p:cNvPr>
          <p:cNvSpPr>
            <a:spLocks noGrp="1" noChangeArrowheads="1"/>
          </p:cNvSpPr>
          <p:nvPr>
            <p:ph type="title" idx="4294967295"/>
          </p:nvPr>
        </p:nvSpPr>
        <p:spPr>
          <a:xfrm>
            <a:off x="0" y="209550"/>
            <a:ext cx="8534400" cy="773113"/>
          </a:xfrm>
        </p:spPr>
        <p:txBody>
          <a:bodyPr/>
          <a:lstStyle/>
          <a:p>
            <a:pPr>
              <a:defRPr/>
            </a:pPr>
            <a:r>
              <a:rPr lang="en-US" sz="3600" b="1" dirty="0">
                <a:latin typeface="Calibri" panose="020F0502020204030204" pitchFamily="34" charset="0"/>
                <a:ea typeface="Calibri" panose="020F0502020204030204" pitchFamily="34" charset="0"/>
                <a:cs typeface="Calibri" panose="020F0502020204030204" pitchFamily="34" charset="0"/>
              </a:rPr>
              <a:t>Flow Control vs Congestion Control</a:t>
            </a:r>
            <a:endParaRPr lang="en-US" sz="3600" dirty="0">
              <a:ea typeface="ＭＳ Ｐゴシック" charset="0"/>
              <a:cs typeface="+mj-cs"/>
            </a:endParaRPr>
          </a:p>
        </p:txBody>
      </p:sp>
    </p:spTree>
    <p:extLst>
      <p:ext uri="{BB962C8B-B14F-4D97-AF65-F5344CB8AC3E}">
        <p14:creationId xmlns:p14="http://schemas.microsoft.com/office/powerpoint/2010/main" val="494045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xmlns="" id="{61C397FE-1DDC-5444-B79A-714CFC84F37C}"/>
              </a:ext>
            </a:extLst>
          </p:cNvPr>
          <p:cNvSpPr txBox="1">
            <a:spLocks noChangeArrowheads="1"/>
          </p:cNvSpPr>
          <p:nvPr/>
        </p:nvSpPr>
        <p:spPr>
          <a:xfrm>
            <a:off x="541245" y="1058956"/>
            <a:ext cx="8232962"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altLang="en-US" sz="2400" dirty="0">
                <a:solidFill>
                  <a:srgbClr val="CC0000"/>
                </a:solidFill>
                <a:latin typeface="Calibri" panose="020F0502020204030204"/>
                <a:ea typeface="ＭＳ Ｐゴシック" panose="020B0600070205080204" pitchFamily="34" charset="-128"/>
              </a:rPr>
              <a:t>Congestion:</a:t>
            </a:r>
            <a:endParaRPr lang="en-US" altLang="en-US" sz="2100" dirty="0">
              <a:solidFill>
                <a:srgbClr val="CC0000"/>
              </a:solidFill>
              <a:latin typeface="Calibri" panose="020F0502020204030204"/>
              <a:ea typeface="ＭＳ Ｐゴシック" panose="020B0600070205080204" pitchFamily="34" charset="-128"/>
            </a:endParaRP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informally: “</a:t>
            </a:r>
            <a:r>
              <a:rPr lang="en-US" altLang="ja-JP" sz="2100" dirty="0">
                <a:solidFill>
                  <a:prstClr val="black"/>
                </a:solidFill>
                <a:latin typeface="Calibri" panose="020F0502020204030204"/>
                <a:ea typeface="ＭＳ Ｐゴシック" panose="020B0600070205080204" pitchFamily="34" charset="-128"/>
              </a:rPr>
              <a:t>too many sources sending too much data too fast for </a:t>
            </a:r>
            <a:r>
              <a:rPr lang="en-US" altLang="ja-JP" sz="2100" i="1" dirty="0">
                <a:solidFill>
                  <a:srgbClr val="C00000"/>
                </a:solidFill>
                <a:latin typeface="Calibri" panose="020F0502020204030204"/>
                <a:ea typeface="ＭＳ Ｐゴシック" panose="020B0600070205080204" pitchFamily="34" charset="-128"/>
              </a:rPr>
              <a:t>network</a:t>
            </a:r>
            <a:r>
              <a:rPr lang="en-US" altLang="ja-JP" sz="2100" dirty="0">
                <a:solidFill>
                  <a:prstClr val="black"/>
                </a:solidFill>
                <a:latin typeface="Calibri" panose="020F0502020204030204"/>
                <a:ea typeface="ＭＳ Ｐゴシック" panose="020B0600070205080204" pitchFamily="34" charset="-128"/>
              </a:rPr>
              <a:t> to handle”</a:t>
            </a: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manifestations:</a:t>
            </a:r>
          </a:p>
          <a:p>
            <a:pPr marL="521494" lvl="1" indent="-173831"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long delays (queueing in router buffers)</a:t>
            </a:r>
          </a:p>
          <a:p>
            <a:pPr marL="521494" lvl="1" indent="-173831"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packet loss (buffer overflow at routers)</a:t>
            </a:r>
          </a:p>
          <a:p>
            <a:pPr marL="264319" indent="-166688" defTabSz="685800">
              <a:spcBef>
                <a:spcPts val="750"/>
              </a:spcBef>
              <a:defRPr/>
            </a:pPr>
            <a:endParaRPr lang="en-US" altLang="en-US" sz="1800" dirty="0">
              <a:solidFill>
                <a:prstClr val="black"/>
              </a:solidFill>
              <a:latin typeface="Calibri" panose="020F0502020204030204"/>
              <a:ea typeface="ＭＳ Ｐゴシック" panose="020B0600070205080204" pitchFamily="34" charset="-128"/>
            </a:endParaRPr>
          </a:p>
        </p:txBody>
      </p:sp>
      <p:sp>
        <p:nvSpPr>
          <p:cNvPr id="6" name="Rectangle 3">
            <a:extLst>
              <a:ext uri="{FF2B5EF4-FFF2-40B4-BE49-F238E27FC236}">
                <a16:creationId xmlns:a16="http://schemas.microsoft.com/office/drawing/2014/main" xmlns="" id="{ACFC6554-1CEB-8346-AF21-152FD0AE2BDD}"/>
              </a:ext>
            </a:extLst>
          </p:cNvPr>
          <p:cNvSpPr txBox="1">
            <a:spLocks noChangeArrowheads="1"/>
          </p:cNvSpPr>
          <p:nvPr/>
        </p:nvSpPr>
        <p:spPr>
          <a:xfrm>
            <a:off x="542004" y="2832450"/>
            <a:ext cx="8232962" cy="76247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different from flow control!</a:t>
            </a:r>
          </a:p>
        </p:txBody>
      </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26923"/>
            <a:ext cx="8545512" cy="669925"/>
          </a:xfrm>
        </p:spPr>
        <p:txBody>
          <a:bodyPr>
            <a:normAutofit/>
          </a:bodyPr>
          <a:lstStyle/>
          <a:p>
            <a:r>
              <a:rPr lang="en-US" sz="4000" b="1" dirty="0"/>
              <a:t>Principles of congestion control</a:t>
            </a:r>
          </a:p>
        </p:txBody>
      </p:sp>
      <p:grpSp>
        <p:nvGrpSpPr>
          <p:cNvPr id="10" name="Group 9">
            <a:extLst>
              <a:ext uri="{FF2B5EF4-FFF2-40B4-BE49-F238E27FC236}">
                <a16:creationId xmlns:a16="http://schemas.microsoft.com/office/drawing/2014/main" xmlns="" id="{F801E622-8D2F-5C40-BD60-438B29523DDB}"/>
              </a:ext>
            </a:extLst>
          </p:cNvPr>
          <p:cNvGrpSpPr/>
          <p:nvPr/>
        </p:nvGrpSpPr>
        <p:grpSpPr>
          <a:xfrm>
            <a:off x="6515104" y="2053098"/>
            <a:ext cx="2079523" cy="2141492"/>
            <a:chOff x="8878529" y="2737463"/>
            <a:chExt cx="2772697" cy="2855323"/>
          </a:xfrm>
        </p:grpSpPr>
        <p:pic>
          <p:nvPicPr>
            <p:cNvPr id="1028" name="Picture 4" descr="Why traffic apps make congestion worse | Berkeley News">
              <a:extLst>
                <a:ext uri="{FF2B5EF4-FFF2-40B4-BE49-F238E27FC236}">
                  <a16:creationId xmlns:a16="http://schemas.microsoft.com/office/drawing/2014/main" xmlns="" id="{5A685C73-1A7D-7448-83D5-182E1DF289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78529" y="2737463"/>
              <a:ext cx="2595716" cy="173047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2CEBCDC3-59AA-0043-9771-3FAB71AFCDB3}"/>
                </a:ext>
              </a:extLst>
            </p:cNvPr>
            <p:cNvSpPr txBox="1"/>
            <p:nvPr/>
          </p:nvSpPr>
          <p:spPr>
            <a:xfrm>
              <a:off x="9085008" y="4454013"/>
              <a:ext cx="2566218" cy="1138773"/>
            </a:xfrm>
            <a:prstGeom prst="rect">
              <a:avLst/>
            </a:prstGeom>
            <a:noFill/>
          </p:spPr>
          <p:txBody>
            <a:bodyPr wrap="square" rtlCol="0">
              <a:spAutoFit/>
            </a:bodyPr>
            <a:lstStyle/>
            <a:p>
              <a:pPr algn="r" defTabSz="685800" rtl="0">
                <a:defRPr/>
              </a:pPr>
              <a:r>
                <a:rPr lang="en-US" kern="1200" dirty="0">
                  <a:solidFill>
                    <a:srgbClr val="C00000"/>
                  </a:solidFill>
                  <a:latin typeface="Calibri"/>
                  <a:ea typeface="+mn-ea"/>
                  <a:cs typeface="+mn-cs"/>
                </a:rPr>
                <a:t>congestion control: </a:t>
              </a:r>
              <a:r>
                <a:rPr lang="en-US" sz="1350" kern="1200" dirty="0">
                  <a:solidFill>
                    <a:prstClr val="black"/>
                  </a:solidFill>
                  <a:latin typeface="Calibri"/>
                  <a:ea typeface="+mn-ea"/>
                  <a:cs typeface="+mn-cs"/>
                </a:rPr>
                <a:t>too many senders, sending too fast</a:t>
              </a:r>
            </a:p>
          </p:txBody>
        </p:sp>
      </p:grpSp>
      <p:grpSp>
        <p:nvGrpSpPr>
          <p:cNvPr id="13" name="Group 12">
            <a:extLst>
              <a:ext uri="{FF2B5EF4-FFF2-40B4-BE49-F238E27FC236}">
                <a16:creationId xmlns:a16="http://schemas.microsoft.com/office/drawing/2014/main" xmlns="" id="{440B5036-A83C-3D40-89CC-21D122E3DAA4}"/>
              </a:ext>
            </a:extLst>
          </p:cNvPr>
          <p:cNvGrpSpPr/>
          <p:nvPr/>
        </p:nvGrpSpPr>
        <p:grpSpPr>
          <a:xfrm>
            <a:off x="4302845" y="3318390"/>
            <a:ext cx="4395018" cy="1487793"/>
            <a:chOff x="5869858" y="4586748"/>
            <a:chExt cx="5860024" cy="1983725"/>
          </a:xfrm>
        </p:grpSpPr>
        <p:grpSp>
          <p:nvGrpSpPr>
            <p:cNvPr id="3" name="Group 2">
              <a:extLst>
                <a:ext uri="{FF2B5EF4-FFF2-40B4-BE49-F238E27FC236}">
                  <a16:creationId xmlns:a16="http://schemas.microsoft.com/office/drawing/2014/main" xmlns="" id="{460EE1F0-777A-5549-B373-8500229D882B}"/>
                </a:ext>
              </a:extLst>
            </p:cNvPr>
            <p:cNvGrpSpPr/>
            <p:nvPr/>
          </p:nvGrpSpPr>
          <p:grpSpPr>
            <a:xfrm>
              <a:off x="5869858" y="4586748"/>
              <a:ext cx="2882176" cy="1915023"/>
              <a:chOff x="6998772" y="3064248"/>
              <a:chExt cx="4393223" cy="2995072"/>
            </a:xfrm>
          </p:grpSpPr>
          <p:pic>
            <p:nvPicPr>
              <p:cNvPr id="7" name="Picture 2" descr="Drinking from the Firehose: How VividCortex Compresses its Metrics">
                <a:extLst>
                  <a:ext uri="{FF2B5EF4-FFF2-40B4-BE49-F238E27FC236}">
                    <a16:creationId xmlns:a16="http://schemas.microsoft.com/office/drawing/2014/main" xmlns="" id="{93C006A2-5EEC-1743-AF87-E45D3E90A07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73303" y="4248105"/>
                <a:ext cx="3018692" cy="181121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rinking From the Information Firehose">
                <a:extLst>
                  <a:ext uri="{FF2B5EF4-FFF2-40B4-BE49-F238E27FC236}">
                    <a16:creationId xmlns:a16="http://schemas.microsoft.com/office/drawing/2014/main" xmlns="" id="{540A1142-4C15-BA4C-BA82-A4861EB7D4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98772" y="3064248"/>
                <a:ext cx="2699594" cy="1781732"/>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xmlns="" id="{DB5BA06D-3B74-5348-8D35-1DEBB37E8FA0}"/>
                </a:ext>
              </a:extLst>
            </p:cNvPr>
            <p:cNvSpPr txBox="1"/>
            <p:nvPr/>
          </p:nvSpPr>
          <p:spPr>
            <a:xfrm>
              <a:off x="8794953" y="5801032"/>
              <a:ext cx="2934929" cy="769441"/>
            </a:xfrm>
            <a:prstGeom prst="rect">
              <a:avLst/>
            </a:prstGeom>
            <a:noFill/>
          </p:spPr>
          <p:txBody>
            <a:bodyPr wrap="square" rtlCol="0">
              <a:spAutoFit/>
            </a:bodyPr>
            <a:lstStyle/>
            <a:p>
              <a:pPr algn="l" defTabSz="685800" rtl="0">
                <a:defRPr/>
              </a:pPr>
              <a:r>
                <a:rPr lang="en-US" kern="1200" dirty="0">
                  <a:solidFill>
                    <a:srgbClr val="C00000"/>
                  </a:solidFill>
                  <a:latin typeface="Calibri"/>
                  <a:ea typeface="+mn-ea"/>
                  <a:cs typeface="+mn-cs"/>
                </a:rPr>
                <a:t>flow control: </a:t>
              </a:r>
              <a:r>
                <a:rPr lang="en-US" sz="1350" kern="1200" dirty="0">
                  <a:solidFill>
                    <a:prstClr val="black"/>
                  </a:solidFill>
                  <a:latin typeface="Calibri"/>
                  <a:ea typeface="+mn-ea"/>
                  <a:cs typeface="+mn-cs"/>
                </a:rPr>
                <a:t>one sender too fast for one receiver</a:t>
              </a:r>
            </a:p>
          </p:txBody>
        </p:sp>
      </p:grpSp>
      <p:sp>
        <p:nvSpPr>
          <p:cNvPr id="12" name="Rectangle 3">
            <a:extLst>
              <a:ext uri="{FF2B5EF4-FFF2-40B4-BE49-F238E27FC236}">
                <a16:creationId xmlns:a16="http://schemas.microsoft.com/office/drawing/2014/main" xmlns="" id="{EAFB275C-622F-0342-A28A-15D9EA67D3AB}"/>
              </a:ext>
            </a:extLst>
          </p:cNvPr>
          <p:cNvSpPr txBox="1">
            <a:spLocks noChangeArrowheads="1"/>
          </p:cNvSpPr>
          <p:nvPr/>
        </p:nvSpPr>
        <p:spPr>
          <a:xfrm>
            <a:off x="545691" y="3639164"/>
            <a:ext cx="3569109" cy="43507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Clr>
                <a:srgbClr val="0013A3"/>
              </a:buClr>
              <a:defRPr/>
            </a:pPr>
            <a:r>
              <a:rPr lang="en-US" altLang="en-US" sz="2100" dirty="0">
                <a:solidFill>
                  <a:prstClr val="black"/>
                </a:solidFill>
                <a:latin typeface="Calibri"/>
                <a:ea typeface="ＭＳ Ｐゴシック" panose="020B0600070205080204" pitchFamily="34" charset="-128"/>
              </a:rPr>
              <a:t>a top-10 problem!</a:t>
            </a:r>
          </a:p>
          <a:p>
            <a:pPr marL="264319" indent="-166688" defTabSz="685800">
              <a:spcBef>
                <a:spcPts val="750"/>
              </a:spcBef>
              <a:defRPr/>
            </a:pPr>
            <a:endParaRPr lang="en-US" altLang="en-US" sz="18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2165134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dissolv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Freeform 3">
            <a:extLst>
              <a:ext uri="{FF2B5EF4-FFF2-40B4-BE49-F238E27FC236}">
                <a16:creationId xmlns:a16="http://schemas.microsoft.com/office/drawing/2014/main" xmlns="" id="{28E26305-1B9C-8A47-B034-2E9BCCD87DED}"/>
              </a:ext>
            </a:extLst>
          </p:cNvPr>
          <p:cNvSpPr>
            <a:spLocks/>
          </p:cNvSpPr>
          <p:nvPr/>
        </p:nvSpPr>
        <p:spPr bwMode="auto">
          <a:xfrm>
            <a:off x="7504107" y="2166312"/>
            <a:ext cx="188119" cy="69770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03" name="Group 402">
            <a:extLst>
              <a:ext uri="{FF2B5EF4-FFF2-40B4-BE49-F238E27FC236}">
                <a16:creationId xmlns:a16="http://schemas.microsoft.com/office/drawing/2014/main" xmlns="" id="{3138E679-7A6F-3F4C-9CD4-1BC53C242F2F}"/>
              </a:ext>
            </a:extLst>
          </p:cNvPr>
          <p:cNvGrpSpPr/>
          <p:nvPr/>
        </p:nvGrpSpPr>
        <p:grpSpPr>
          <a:xfrm>
            <a:off x="7068738" y="2147158"/>
            <a:ext cx="440076" cy="678017"/>
            <a:chOff x="10910965" y="2513124"/>
            <a:chExt cx="586768" cy="904023"/>
          </a:xfrm>
        </p:grpSpPr>
        <p:sp>
          <p:nvSpPr>
            <p:cNvPr id="404" name="Rectangle 403">
              <a:extLst>
                <a:ext uri="{FF2B5EF4-FFF2-40B4-BE49-F238E27FC236}">
                  <a16:creationId xmlns:a16="http://schemas.microsoft.com/office/drawing/2014/main" xmlns="" id="{59524EB8-FD55-1D48-99F1-D1FB7A8F9D0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05" name="Straight Connector 404">
              <a:extLst>
                <a:ext uri="{FF2B5EF4-FFF2-40B4-BE49-F238E27FC236}">
                  <a16:creationId xmlns:a16="http://schemas.microsoft.com/office/drawing/2014/main" xmlns="" id="{F1173737-3613-AA43-B1AC-4838A3EDB68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xmlns="" id="{5C427322-6070-F549-83A0-B70739AD332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xmlns="" id="{9463F3C4-F379-1D41-902B-28BB5B0172C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xmlns="" id="{34B78D94-0CBB-174E-B3E9-C26DCE4669A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9" name="Freeform 9">
            <a:extLst>
              <a:ext uri="{FF2B5EF4-FFF2-40B4-BE49-F238E27FC236}">
                <a16:creationId xmlns:a16="http://schemas.microsoft.com/office/drawing/2014/main" xmlns="" id="{5547101E-4A79-584C-9989-5E85D28B6DAA}"/>
              </a:ext>
            </a:extLst>
          </p:cNvPr>
          <p:cNvSpPr>
            <a:spLocks/>
          </p:cNvSpPr>
          <p:nvPr/>
        </p:nvSpPr>
        <p:spPr bwMode="auto">
          <a:xfrm flipH="1">
            <a:off x="4388693" y="1309898"/>
            <a:ext cx="322607" cy="675352"/>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2" name="Group 351">
            <a:extLst>
              <a:ext uri="{FF2B5EF4-FFF2-40B4-BE49-F238E27FC236}">
                <a16:creationId xmlns:a16="http://schemas.microsoft.com/office/drawing/2014/main" xmlns="" id="{B6427DD3-BCDC-1D47-B9EA-F052CBEE3779}"/>
              </a:ext>
            </a:extLst>
          </p:cNvPr>
          <p:cNvGrpSpPr/>
          <p:nvPr/>
        </p:nvGrpSpPr>
        <p:grpSpPr>
          <a:xfrm>
            <a:off x="4043069" y="1979392"/>
            <a:ext cx="440076" cy="678017"/>
            <a:chOff x="10910965" y="2513124"/>
            <a:chExt cx="586768" cy="904023"/>
          </a:xfrm>
        </p:grpSpPr>
        <p:sp>
          <p:nvSpPr>
            <p:cNvPr id="353" name="Rectangle 352">
              <a:extLst>
                <a:ext uri="{FF2B5EF4-FFF2-40B4-BE49-F238E27FC236}">
                  <a16:creationId xmlns:a16="http://schemas.microsoft.com/office/drawing/2014/main" xmlns="" id="{334B80B7-DAB2-0C45-A85B-02F9853489C8}"/>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54" name="Straight Connector 353">
              <a:extLst>
                <a:ext uri="{FF2B5EF4-FFF2-40B4-BE49-F238E27FC236}">
                  <a16:creationId xmlns:a16="http://schemas.microsoft.com/office/drawing/2014/main" xmlns="" id="{9B105EEA-CD5C-4D41-AA8D-44A16BCD200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xmlns="" id="{300FADAA-FF42-DC4F-B232-CEDC6356959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xmlns="" id="{96243C39-7124-B447-92F8-07DFDCABC20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xmlns="" id="{D2849888-7EC3-EB4C-8BC1-51F7CF36C2D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6" name="Group 195">
            <a:extLst>
              <a:ext uri="{FF2B5EF4-FFF2-40B4-BE49-F238E27FC236}">
                <a16:creationId xmlns:a16="http://schemas.microsoft.com/office/drawing/2014/main" xmlns="" id="{F01A9AD5-3D29-E044-89AB-2A8A2872A48C}"/>
              </a:ext>
            </a:extLst>
          </p:cNvPr>
          <p:cNvGrpSpPr/>
          <p:nvPr/>
        </p:nvGrpSpPr>
        <p:grpSpPr>
          <a:xfrm>
            <a:off x="4700294" y="1313023"/>
            <a:ext cx="440076" cy="678017"/>
            <a:chOff x="10910965" y="2513124"/>
            <a:chExt cx="586768" cy="904023"/>
          </a:xfrm>
        </p:grpSpPr>
        <p:sp>
          <p:nvSpPr>
            <p:cNvPr id="197" name="Rectangle 196">
              <a:extLst>
                <a:ext uri="{FF2B5EF4-FFF2-40B4-BE49-F238E27FC236}">
                  <a16:creationId xmlns:a16="http://schemas.microsoft.com/office/drawing/2014/main" xmlns="" id="{4FE038A7-CF8F-144F-89E6-58D5113323E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98" name="Straight Connector 197">
              <a:extLst>
                <a:ext uri="{FF2B5EF4-FFF2-40B4-BE49-F238E27FC236}">
                  <a16:creationId xmlns:a16="http://schemas.microsoft.com/office/drawing/2014/main" xmlns="" id="{022D2CD4-E115-9446-9F3B-70153BE86F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xmlns="" id="{8DA93D54-B8CD-E944-A9A0-CD19B3D9BEB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xmlns="" id="{8C307284-45EC-EF40-B8C6-ACFAE3B84F2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xmlns="" id="{A5E51FF6-6B9B-CB46-932F-6752F8BC41C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4" name="Freeform 6">
            <a:extLst>
              <a:ext uri="{FF2B5EF4-FFF2-40B4-BE49-F238E27FC236}">
                <a16:creationId xmlns:a16="http://schemas.microsoft.com/office/drawing/2014/main" xmlns="" id="{48AC5632-6C88-9B4F-8AC4-BA566F7E218B}"/>
              </a:ext>
            </a:extLst>
          </p:cNvPr>
          <p:cNvSpPr>
            <a:spLocks/>
          </p:cNvSpPr>
          <p:nvPr/>
        </p:nvSpPr>
        <p:spPr bwMode="auto">
          <a:xfrm>
            <a:off x="7786286" y="1415264"/>
            <a:ext cx="188119" cy="69770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9" name="Group 8">
            <a:extLst>
              <a:ext uri="{FF2B5EF4-FFF2-40B4-BE49-F238E27FC236}">
                <a16:creationId xmlns:a16="http://schemas.microsoft.com/office/drawing/2014/main" xmlns="" id="{7395260E-0495-5549-B67B-D0932B2922A1}"/>
              </a:ext>
            </a:extLst>
          </p:cNvPr>
          <p:cNvGrpSpPr/>
          <p:nvPr/>
        </p:nvGrpSpPr>
        <p:grpSpPr>
          <a:xfrm>
            <a:off x="7352644" y="1397164"/>
            <a:ext cx="440076" cy="678017"/>
            <a:chOff x="10910965" y="2513124"/>
            <a:chExt cx="586768" cy="904023"/>
          </a:xfrm>
        </p:grpSpPr>
        <p:sp>
          <p:nvSpPr>
            <p:cNvPr id="191" name="Rectangle 190">
              <a:extLst>
                <a:ext uri="{FF2B5EF4-FFF2-40B4-BE49-F238E27FC236}">
                  <a16:creationId xmlns:a16="http://schemas.microsoft.com/office/drawing/2014/main" xmlns="" id="{F9C766A0-70B1-1B4B-AE37-4A6E9AF88F33}"/>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92" name="Straight Connector 191">
              <a:extLst>
                <a:ext uri="{FF2B5EF4-FFF2-40B4-BE49-F238E27FC236}">
                  <a16:creationId xmlns:a16="http://schemas.microsoft.com/office/drawing/2014/main" xmlns="" id="{AC485D2E-710B-7446-BEF0-A978225783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xmlns="" id="{67BF4BF4-4371-1D47-B858-D6B04135BAE0}"/>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xmlns="" id="{02AEE228-C85E-AC45-B2C5-C8182C643EF4}"/>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xmlns="" id="{0353931E-8944-EF4A-9720-7519EA6C48F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5" name="Group 354">
            <a:extLst>
              <a:ext uri="{FF2B5EF4-FFF2-40B4-BE49-F238E27FC236}">
                <a16:creationId xmlns:a16="http://schemas.microsoft.com/office/drawing/2014/main" xmlns="" id="{88E9FDF2-59AD-0849-94F0-90E7C39F4845}"/>
              </a:ext>
            </a:extLst>
          </p:cNvPr>
          <p:cNvGrpSpPr/>
          <p:nvPr/>
        </p:nvGrpSpPr>
        <p:grpSpPr>
          <a:xfrm>
            <a:off x="5564685" y="2179971"/>
            <a:ext cx="785758" cy="421237"/>
            <a:chOff x="7493876" y="2774731"/>
            <a:chExt cx="1481958" cy="894622"/>
          </a:xfrm>
        </p:grpSpPr>
        <p:sp>
          <p:nvSpPr>
            <p:cNvPr id="364" name="Freeform 363">
              <a:extLst>
                <a:ext uri="{FF2B5EF4-FFF2-40B4-BE49-F238E27FC236}">
                  <a16:creationId xmlns:a16="http://schemas.microsoft.com/office/drawing/2014/main" xmlns="" id="{43B8EDE0-230C-5542-B921-8F0ABAF1CB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365" name="Oval 364">
              <a:extLst>
                <a:ext uri="{FF2B5EF4-FFF2-40B4-BE49-F238E27FC236}">
                  <a16:creationId xmlns:a16="http://schemas.microsoft.com/office/drawing/2014/main" xmlns="" id="{A0803D89-4B4C-1B4A-BA1C-522F051281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366" name="Group 365">
              <a:extLst>
                <a:ext uri="{FF2B5EF4-FFF2-40B4-BE49-F238E27FC236}">
                  <a16:creationId xmlns:a16="http://schemas.microsoft.com/office/drawing/2014/main" xmlns="" id="{1101A5E5-CF40-804C-82BD-E8B63F1BC2AC}"/>
                </a:ext>
              </a:extLst>
            </p:cNvPr>
            <p:cNvGrpSpPr/>
            <p:nvPr/>
          </p:nvGrpSpPr>
          <p:grpSpPr>
            <a:xfrm>
              <a:off x="7713663" y="2848339"/>
              <a:ext cx="1042107" cy="425543"/>
              <a:chOff x="7786941" y="2884917"/>
              <a:chExt cx="897649" cy="353919"/>
            </a:xfrm>
          </p:grpSpPr>
          <p:sp>
            <p:nvSpPr>
              <p:cNvPr id="367" name="Freeform 366">
                <a:extLst>
                  <a:ext uri="{FF2B5EF4-FFF2-40B4-BE49-F238E27FC236}">
                    <a16:creationId xmlns:a16="http://schemas.microsoft.com/office/drawing/2014/main" xmlns="" id="{A40BF2E1-9425-BF47-9B1B-8AE2332218C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368" name="Freeform 367">
                <a:extLst>
                  <a:ext uri="{FF2B5EF4-FFF2-40B4-BE49-F238E27FC236}">
                    <a16:creationId xmlns:a16="http://schemas.microsoft.com/office/drawing/2014/main" xmlns="" id="{024B7FE2-D299-5444-BD23-74A1953D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369" name="Freeform 368">
                <a:extLst>
                  <a:ext uri="{FF2B5EF4-FFF2-40B4-BE49-F238E27FC236}">
                    <a16:creationId xmlns:a16="http://schemas.microsoft.com/office/drawing/2014/main" xmlns="" id="{51583098-B4D9-DC4A-AED4-1FAEFC9C7D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370" name="Freeform 369">
                <a:extLst>
                  <a:ext uri="{FF2B5EF4-FFF2-40B4-BE49-F238E27FC236}">
                    <a16:creationId xmlns:a16="http://schemas.microsoft.com/office/drawing/2014/main" xmlns="" id="{4DE1CA49-F338-444B-BB9A-F2991CA7D73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50446" y="264012"/>
            <a:ext cx="8545512" cy="669925"/>
          </a:xfrm>
        </p:spPr>
        <p:txBody>
          <a:bodyPr>
            <a:normAutofit fontScale="90000"/>
          </a:bodyPr>
          <a:lstStyle/>
          <a:p>
            <a:r>
              <a:rPr lang="en-US" sz="4000" b="1" dirty="0">
                <a:latin typeface="Calibri "/>
              </a:rPr>
              <a:t>Causes/costs of congestion: scenario 1 </a:t>
            </a:r>
          </a:p>
        </p:txBody>
      </p:sp>
      <p:grpSp>
        <p:nvGrpSpPr>
          <p:cNvPr id="180" name="Group 124">
            <a:extLst>
              <a:ext uri="{FF2B5EF4-FFF2-40B4-BE49-F238E27FC236}">
                <a16:creationId xmlns:a16="http://schemas.microsoft.com/office/drawing/2014/main" xmlns="" id="{09EDE4D1-769E-664A-B492-F153D45C56DF}"/>
              </a:ext>
            </a:extLst>
          </p:cNvPr>
          <p:cNvGrpSpPr>
            <a:grpSpLocks/>
          </p:cNvGrpSpPr>
          <p:nvPr/>
        </p:nvGrpSpPr>
        <p:grpSpPr bwMode="auto">
          <a:xfrm>
            <a:off x="4066726" y="1517088"/>
            <a:ext cx="394097" cy="326231"/>
            <a:chOff x="-44" y="1473"/>
            <a:chExt cx="981" cy="1105"/>
          </a:xfrm>
        </p:grpSpPr>
        <p:pic>
          <p:nvPicPr>
            <p:cNvPr id="181" name="Picture 125" descr="desktop_computer_stylized_medium">
              <a:extLst>
                <a:ext uri="{FF2B5EF4-FFF2-40B4-BE49-F238E27FC236}">
                  <a16:creationId xmlns:a16="http://schemas.microsoft.com/office/drawing/2014/main" xmlns="" id="{BCF21B40-E1CC-014D-891D-609787EB167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Freeform 126">
              <a:extLst>
                <a:ext uri="{FF2B5EF4-FFF2-40B4-BE49-F238E27FC236}">
                  <a16:creationId xmlns:a16="http://schemas.microsoft.com/office/drawing/2014/main" xmlns="" id="{083D804D-E191-C349-B559-AC9913D588A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185" name="Freeform 12">
            <a:extLst>
              <a:ext uri="{FF2B5EF4-FFF2-40B4-BE49-F238E27FC236}">
                <a16:creationId xmlns:a16="http://schemas.microsoft.com/office/drawing/2014/main" xmlns="" id="{AC913105-44C9-2F4B-B4CF-997DA724B11C}"/>
              </a:ext>
            </a:extLst>
          </p:cNvPr>
          <p:cNvSpPr>
            <a:spLocks/>
          </p:cNvSpPr>
          <p:nvPr/>
        </p:nvSpPr>
        <p:spPr bwMode="auto">
          <a:xfrm flipH="1">
            <a:off x="3859605" y="1978193"/>
            <a:ext cx="188119" cy="69770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86" name="Rectangle 15">
            <a:extLst>
              <a:ext uri="{FF2B5EF4-FFF2-40B4-BE49-F238E27FC236}">
                <a16:creationId xmlns:a16="http://schemas.microsoft.com/office/drawing/2014/main" xmlns="" id="{49269DA6-C1BF-794F-9EEA-0EFF8A8D2CA0}"/>
              </a:ext>
            </a:extLst>
          </p:cNvPr>
          <p:cNvSpPr txBox="1">
            <a:spLocks noChangeArrowheads="1"/>
          </p:cNvSpPr>
          <p:nvPr/>
        </p:nvSpPr>
        <p:spPr bwMode="auto">
          <a:xfrm>
            <a:off x="580696" y="1117610"/>
            <a:ext cx="2844137" cy="276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indent="0" defTabSz="685800">
              <a:buNone/>
              <a:defRPr/>
            </a:pPr>
            <a:r>
              <a:rPr lang="en-US" sz="2100" dirty="0">
                <a:solidFill>
                  <a:srgbClr val="000000"/>
                </a:solidFill>
                <a:latin typeface="Calibri" panose="020F0502020204030204" pitchFamily="34" charset="0"/>
                <a:cs typeface="Calibri" panose="020F0502020204030204" pitchFamily="34" charset="0"/>
              </a:rPr>
              <a:t>Simplest scenario:</a:t>
            </a:r>
          </a:p>
          <a:p>
            <a:pPr marL="0" indent="0" defTabSz="685800">
              <a:buNone/>
              <a:defRPr/>
            </a:pPr>
            <a:endParaRPr lang="en-US" sz="2100" dirty="0">
              <a:solidFill>
                <a:srgbClr val="000000"/>
              </a:solidFill>
              <a:latin typeface="Gill Sans MT"/>
              <a:cs typeface="+mn-cs"/>
            </a:endParaRPr>
          </a:p>
        </p:txBody>
      </p:sp>
      <p:sp>
        <p:nvSpPr>
          <p:cNvPr id="187" name="Rectangle 16">
            <a:extLst>
              <a:ext uri="{FF2B5EF4-FFF2-40B4-BE49-F238E27FC236}">
                <a16:creationId xmlns:a16="http://schemas.microsoft.com/office/drawing/2014/main" xmlns="" id="{F84F47E9-C6B6-224C-845B-E201FB286037}"/>
              </a:ext>
            </a:extLst>
          </p:cNvPr>
          <p:cNvSpPr txBox="1">
            <a:spLocks noChangeArrowheads="1"/>
          </p:cNvSpPr>
          <p:nvPr/>
        </p:nvSpPr>
        <p:spPr bwMode="auto">
          <a:xfrm>
            <a:off x="3651246" y="4463104"/>
            <a:ext cx="2472928" cy="5881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indent="0" defTabSz="685800">
              <a:buNone/>
              <a:defRPr/>
            </a:pPr>
            <a:r>
              <a:rPr lang="en-US" sz="1350" dirty="0">
                <a:solidFill>
                  <a:srgbClr val="000000"/>
                </a:solidFill>
                <a:latin typeface="Calibri" panose="020F0502020204030204"/>
                <a:cs typeface="+mn-cs"/>
              </a:rPr>
              <a:t>maximum per-connection throughput: R/2</a:t>
            </a:r>
          </a:p>
        </p:txBody>
      </p:sp>
      <p:sp>
        <p:nvSpPr>
          <p:cNvPr id="203" name="Line 33">
            <a:extLst>
              <a:ext uri="{FF2B5EF4-FFF2-40B4-BE49-F238E27FC236}">
                <a16:creationId xmlns:a16="http://schemas.microsoft.com/office/drawing/2014/main" xmlns="" id="{A9B30674-B59F-1643-8F90-1D2641E2102B}"/>
              </a:ext>
            </a:extLst>
          </p:cNvPr>
          <p:cNvSpPr>
            <a:spLocks noChangeShapeType="1"/>
          </p:cNvSpPr>
          <p:nvPr/>
        </p:nvSpPr>
        <p:spPr bwMode="auto">
          <a:xfrm flipH="1">
            <a:off x="4731142" y="2078206"/>
            <a:ext cx="692944" cy="6500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12" name="Text Box 42">
            <a:extLst>
              <a:ext uri="{FF2B5EF4-FFF2-40B4-BE49-F238E27FC236}">
                <a16:creationId xmlns:a16="http://schemas.microsoft.com/office/drawing/2014/main" xmlns="" id="{45FD0EC2-A145-DC4A-9A60-DC5E453EC52B}"/>
              </a:ext>
            </a:extLst>
          </p:cNvPr>
          <p:cNvSpPr txBox="1">
            <a:spLocks noChangeArrowheads="1"/>
          </p:cNvSpPr>
          <p:nvPr/>
        </p:nvSpPr>
        <p:spPr bwMode="auto">
          <a:xfrm>
            <a:off x="3927018" y="1318025"/>
            <a:ext cx="685396" cy="182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221" name="Text Box 52">
            <a:extLst>
              <a:ext uri="{FF2B5EF4-FFF2-40B4-BE49-F238E27FC236}">
                <a16:creationId xmlns:a16="http://schemas.microsoft.com/office/drawing/2014/main" xmlns="" id="{4BAC9BCC-8A73-B14B-8D28-0C77BB126162}"/>
              </a:ext>
            </a:extLst>
          </p:cNvPr>
          <p:cNvSpPr txBox="1">
            <a:spLocks noChangeArrowheads="1"/>
          </p:cNvSpPr>
          <p:nvPr/>
        </p:nvSpPr>
        <p:spPr bwMode="auto">
          <a:xfrm>
            <a:off x="3923855" y="2764511"/>
            <a:ext cx="599347" cy="182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222" name="Line 53">
            <a:extLst>
              <a:ext uri="{FF2B5EF4-FFF2-40B4-BE49-F238E27FC236}">
                <a16:creationId xmlns:a16="http://schemas.microsoft.com/office/drawing/2014/main" xmlns="" id="{8E626A5E-7769-D34B-B652-6F3C2A3740FB}"/>
              </a:ext>
            </a:extLst>
          </p:cNvPr>
          <p:cNvSpPr>
            <a:spLocks noChangeShapeType="1"/>
          </p:cNvSpPr>
          <p:nvPr/>
        </p:nvSpPr>
        <p:spPr bwMode="auto">
          <a:xfrm flipH="1">
            <a:off x="5095473" y="2378243"/>
            <a:ext cx="457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23" name="Line 54">
            <a:extLst>
              <a:ext uri="{FF2B5EF4-FFF2-40B4-BE49-F238E27FC236}">
                <a16:creationId xmlns:a16="http://schemas.microsoft.com/office/drawing/2014/main" xmlns="" id="{DFB6E6E2-8DA8-C549-8AC1-828F8F828431}"/>
              </a:ext>
            </a:extLst>
          </p:cNvPr>
          <p:cNvSpPr>
            <a:spLocks noChangeShapeType="1"/>
          </p:cNvSpPr>
          <p:nvPr/>
        </p:nvSpPr>
        <p:spPr bwMode="auto">
          <a:xfrm flipH="1">
            <a:off x="6309911" y="2378243"/>
            <a:ext cx="457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24" name="Line 55">
            <a:extLst>
              <a:ext uri="{FF2B5EF4-FFF2-40B4-BE49-F238E27FC236}">
                <a16:creationId xmlns:a16="http://schemas.microsoft.com/office/drawing/2014/main" xmlns="" id="{66F3E5E4-6136-594F-B2C6-BF81A4932B2E}"/>
              </a:ext>
            </a:extLst>
          </p:cNvPr>
          <p:cNvSpPr>
            <a:spLocks noChangeShapeType="1"/>
          </p:cNvSpPr>
          <p:nvPr/>
        </p:nvSpPr>
        <p:spPr bwMode="auto">
          <a:xfrm flipH="1">
            <a:off x="6402780" y="2078206"/>
            <a:ext cx="692944" cy="6500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25" name="Line 57">
            <a:extLst>
              <a:ext uri="{FF2B5EF4-FFF2-40B4-BE49-F238E27FC236}">
                <a16:creationId xmlns:a16="http://schemas.microsoft.com/office/drawing/2014/main" xmlns="" id="{3D95A033-C14C-3448-9016-0C9E6C4CF3A2}"/>
              </a:ext>
            </a:extLst>
          </p:cNvPr>
          <p:cNvSpPr>
            <a:spLocks noChangeShapeType="1"/>
          </p:cNvSpPr>
          <p:nvPr/>
        </p:nvSpPr>
        <p:spPr bwMode="auto">
          <a:xfrm flipH="1">
            <a:off x="7094201" y="2078315"/>
            <a:ext cx="32980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6" name="Group 15">
            <a:extLst>
              <a:ext uri="{FF2B5EF4-FFF2-40B4-BE49-F238E27FC236}">
                <a16:creationId xmlns:a16="http://schemas.microsoft.com/office/drawing/2014/main" xmlns="" id="{CB231E2E-E647-0B43-8C18-43AC77EF0F75}"/>
              </a:ext>
            </a:extLst>
          </p:cNvPr>
          <p:cNvGrpSpPr/>
          <p:nvPr/>
        </p:nvGrpSpPr>
        <p:grpSpPr>
          <a:xfrm>
            <a:off x="6462311" y="949493"/>
            <a:ext cx="1443789" cy="530392"/>
            <a:chOff x="8616414" y="1265990"/>
            <a:chExt cx="1925052" cy="707189"/>
          </a:xfrm>
        </p:grpSpPr>
        <p:sp>
          <p:nvSpPr>
            <p:cNvPr id="243" name="Text Box 75">
              <a:extLst>
                <a:ext uri="{FF2B5EF4-FFF2-40B4-BE49-F238E27FC236}">
                  <a16:creationId xmlns:a16="http://schemas.microsoft.com/office/drawing/2014/main" xmlns="" id="{CE7D4727-1265-8046-9D9E-99C60BC228BB}"/>
                </a:ext>
              </a:extLst>
            </p:cNvPr>
            <p:cNvSpPr txBox="1">
              <a:spLocks noChangeArrowheads="1"/>
            </p:cNvSpPr>
            <p:nvPr/>
          </p:nvSpPr>
          <p:spPr bwMode="auto">
            <a:xfrm>
              <a:off x="8616414" y="1265990"/>
              <a:ext cx="1925052" cy="38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0000"/>
                  </a:solidFill>
                  <a:latin typeface="Arial" panose="020B0604020202020204" pitchFamily="34" charset="0"/>
                  <a:cs typeface="+mn-cs"/>
                </a:rPr>
                <a:t>throughput:</a:t>
              </a:r>
              <a:r>
                <a:rPr lang="en-US" altLang="en-US" sz="1800" kern="1200" dirty="0">
                  <a:solidFill>
                    <a:srgbClr val="FF0000"/>
                  </a:solidFill>
                  <a:latin typeface="Symbol" pitchFamily="2" charset="2"/>
                  <a:cs typeface="+mn-cs"/>
                </a:rPr>
                <a:t> </a:t>
              </a:r>
              <a:r>
                <a:rPr lang="en-US" altLang="en-US" sz="1800" kern="1200" dirty="0">
                  <a:solidFill>
                    <a:srgbClr val="CC0000"/>
                  </a:solidFill>
                  <a:latin typeface="Symbol" pitchFamily="2" charset="2"/>
                  <a:cs typeface="+mn-cs"/>
                </a:rPr>
                <a:t>l</a:t>
              </a:r>
              <a:r>
                <a:rPr lang="en-US" altLang="en-US" sz="1800" kern="1200" baseline="-25000" dirty="0">
                  <a:solidFill>
                    <a:srgbClr val="CC0000"/>
                  </a:solidFill>
                  <a:latin typeface="Arial" panose="020B0604020202020204" pitchFamily="34" charset="0"/>
                  <a:cs typeface="+mn-cs"/>
                </a:rPr>
                <a:t>out</a:t>
              </a:r>
              <a:endParaRPr lang="en-US" altLang="en-US" sz="1800" kern="1200" dirty="0">
                <a:solidFill>
                  <a:srgbClr val="CC0000"/>
                </a:solidFill>
                <a:latin typeface="Comic Sans MS" panose="030F0902030302020204" pitchFamily="66" charset="0"/>
                <a:cs typeface="+mn-cs"/>
              </a:endParaRPr>
            </a:p>
          </p:txBody>
        </p:sp>
        <p:sp>
          <p:nvSpPr>
            <p:cNvPr id="244" name="Line 76">
              <a:extLst>
                <a:ext uri="{FF2B5EF4-FFF2-40B4-BE49-F238E27FC236}">
                  <a16:creationId xmlns:a16="http://schemas.microsoft.com/office/drawing/2014/main" xmlns="" id="{C5D66868-B812-9443-B51A-0CEF4AACBD68}"/>
                </a:ext>
              </a:extLst>
            </p:cNvPr>
            <p:cNvSpPr>
              <a:spLocks noChangeShapeType="1"/>
            </p:cNvSpPr>
            <p:nvPr/>
          </p:nvSpPr>
          <p:spPr bwMode="auto">
            <a:xfrm>
              <a:off x="9460964" y="1675565"/>
              <a:ext cx="549310" cy="2976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281" name="Rectangle 121">
            <a:extLst>
              <a:ext uri="{FF2B5EF4-FFF2-40B4-BE49-F238E27FC236}">
                <a16:creationId xmlns:a16="http://schemas.microsoft.com/office/drawing/2014/main" xmlns="" id="{EBE3971E-D5ED-054F-AE0D-069A6E86637C}"/>
              </a:ext>
            </a:extLst>
          </p:cNvPr>
          <p:cNvSpPr>
            <a:spLocks noChangeArrowheads="1"/>
          </p:cNvSpPr>
          <p:nvPr/>
        </p:nvSpPr>
        <p:spPr bwMode="auto">
          <a:xfrm>
            <a:off x="6076989" y="4465465"/>
            <a:ext cx="1953935" cy="58816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l" defTabSz="685800" rtl="0" eaLnBrk="0" fontAlgn="base" hangingPunct="0">
              <a:lnSpc>
                <a:spcPct val="85000"/>
              </a:lnSpc>
              <a:spcBef>
                <a:spcPct val="20000"/>
              </a:spcBef>
              <a:spcAft>
                <a:spcPct val="0"/>
              </a:spcAft>
              <a:buClr>
                <a:srgbClr val="000099"/>
              </a:buClr>
              <a:buSzPct val="65000"/>
              <a:defRPr/>
            </a:pPr>
            <a:r>
              <a:rPr lang="en-US" sz="1350" kern="1200" dirty="0">
                <a:solidFill>
                  <a:srgbClr val="000000"/>
                </a:solidFill>
                <a:latin typeface="Calibri" panose="020F0502020204030204"/>
                <a:ea typeface="ＭＳ Ｐゴシック" charset="0"/>
                <a:cs typeface="+mn-cs"/>
              </a:rPr>
              <a:t>large delays as arrival rate </a:t>
            </a:r>
            <a:r>
              <a:rPr lang="en-US" sz="1350" kern="1200" dirty="0">
                <a:solidFill>
                  <a:srgbClr val="000000"/>
                </a:solidFill>
                <a:latin typeface="Symbol" charset="0"/>
                <a:ea typeface="ＭＳ Ｐゴシック" charset="0"/>
                <a:cs typeface="+mn-cs"/>
              </a:rPr>
              <a:t>line</a:t>
            </a:r>
            <a:r>
              <a:rPr lang="en-US" sz="1350" kern="1200" dirty="0">
                <a:solidFill>
                  <a:srgbClr val="000000"/>
                </a:solidFill>
                <a:latin typeface="Gill Sans MT" charset="0"/>
                <a:ea typeface="ＭＳ Ｐゴシック" charset="0"/>
                <a:cs typeface="+mn-cs"/>
              </a:rPr>
              <a:t> </a:t>
            </a:r>
            <a:r>
              <a:rPr lang="en-US" sz="1350" kern="1200" dirty="0">
                <a:solidFill>
                  <a:srgbClr val="000000"/>
                </a:solidFill>
                <a:latin typeface="Calibri" panose="020F0502020204030204"/>
                <a:ea typeface="ＭＳ Ｐゴシック" charset="0"/>
                <a:cs typeface="+mn-cs"/>
              </a:rPr>
              <a:t>approaches capacity</a:t>
            </a:r>
          </a:p>
        </p:txBody>
      </p:sp>
      <p:grpSp>
        <p:nvGrpSpPr>
          <p:cNvPr id="282" name="Group 127">
            <a:extLst>
              <a:ext uri="{FF2B5EF4-FFF2-40B4-BE49-F238E27FC236}">
                <a16:creationId xmlns:a16="http://schemas.microsoft.com/office/drawing/2014/main" xmlns="" id="{879C5F16-9AAB-6840-B838-D482AFD339D0}"/>
              </a:ext>
            </a:extLst>
          </p:cNvPr>
          <p:cNvGrpSpPr>
            <a:grpSpLocks/>
          </p:cNvGrpSpPr>
          <p:nvPr/>
        </p:nvGrpSpPr>
        <p:grpSpPr bwMode="auto">
          <a:xfrm>
            <a:off x="7861295" y="1859130"/>
            <a:ext cx="173831" cy="330994"/>
            <a:chOff x="4140" y="429"/>
            <a:chExt cx="1425" cy="2396"/>
          </a:xfrm>
        </p:grpSpPr>
        <p:sp>
          <p:nvSpPr>
            <p:cNvPr id="283" name="Freeform 128">
              <a:extLst>
                <a:ext uri="{FF2B5EF4-FFF2-40B4-BE49-F238E27FC236}">
                  <a16:creationId xmlns:a16="http://schemas.microsoft.com/office/drawing/2014/main" xmlns="" id="{EEE9D070-85E1-B647-B7C8-1DB5376AB2D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84" name="Rectangle 129">
              <a:extLst>
                <a:ext uri="{FF2B5EF4-FFF2-40B4-BE49-F238E27FC236}">
                  <a16:creationId xmlns:a16="http://schemas.microsoft.com/office/drawing/2014/main" xmlns="" id="{E73B241F-DFB6-C64D-BF7F-84EE703171D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5" name="Freeform 130">
              <a:extLst>
                <a:ext uri="{FF2B5EF4-FFF2-40B4-BE49-F238E27FC236}">
                  <a16:creationId xmlns:a16="http://schemas.microsoft.com/office/drawing/2014/main" xmlns="" id="{64CD10E5-9AA0-9F41-9104-ED6E9D5A2A7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86" name="Freeform 131">
              <a:extLst>
                <a:ext uri="{FF2B5EF4-FFF2-40B4-BE49-F238E27FC236}">
                  <a16:creationId xmlns:a16="http://schemas.microsoft.com/office/drawing/2014/main" xmlns="" id="{8E369838-B1C5-9B4A-8873-925C9867C0A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87" name="Rectangle 132">
              <a:extLst>
                <a:ext uri="{FF2B5EF4-FFF2-40B4-BE49-F238E27FC236}">
                  <a16:creationId xmlns:a16="http://schemas.microsoft.com/office/drawing/2014/main" xmlns="" id="{44FFFEBD-8F73-6E40-B407-310565525D0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88" name="Group 133">
              <a:extLst>
                <a:ext uri="{FF2B5EF4-FFF2-40B4-BE49-F238E27FC236}">
                  <a16:creationId xmlns:a16="http://schemas.microsoft.com/office/drawing/2014/main" xmlns="" id="{6C449BB4-7723-4842-B85A-6CD8ADE6EEF7}"/>
                </a:ext>
              </a:extLst>
            </p:cNvPr>
            <p:cNvGrpSpPr>
              <a:grpSpLocks/>
            </p:cNvGrpSpPr>
            <p:nvPr/>
          </p:nvGrpSpPr>
          <p:grpSpPr bwMode="auto">
            <a:xfrm>
              <a:off x="4749" y="668"/>
              <a:ext cx="581" cy="145"/>
              <a:chOff x="614" y="2568"/>
              <a:chExt cx="725" cy="139"/>
            </a:xfrm>
          </p:grpSpPr>
          <p:sp>
            <p:nvSpPr>
              <p:cNvPr id="313" name="AutoShape 134">
                <a:extLst>
                  <a:ext uri="{FF2B5EF4-FFF2-40B4-BE49-F238E27FC236}">
                    <a16:creationId xmlns:a16="http://schemas.microsoft.com/office/drawing/2014/main" xmlns="" id="{580CA213-4512-FA45-88F9-266D6745944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14" name="AutoShape 135">
                <a:extLst>
                  <a:ext uri="{FF2B5EF4-FFF2-40B4-BE49-F238E27FC236}">
                    <a16:creationId xmlns:a16="http://schemas.microsoft.com/office/drawing/2014/main" xmlns="" id="{7BFC849C-499A-0845-9AF3-BC589CDB087E}"/>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89" name="Rectangle 136">
              <a:extLst>
                <a:ext uri="{FF2B5EF4-FFF2-40B4-BE49-F238E27FC236}">
                  <a16:creationId xmlns:a16="http://schemas.microsoft.com/office/drawing/2014/main" xmlns="" id="{B0208157-D9CE-EF44-A82A-B9CE3EFD6F21}"/>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90" name="Group 137">
              <a:extLst>
                <a:ext uri="{FF2B5EF4-FFF2-40B4-BE49-F238E27FC236}">
                  <a16:creationId xmlns:a16="http://schemas.microsoft.com/office/drawing/2014/main" xmlns="" id="{6411A460-4D2F-6042-B3FA-7877FC08542A}"/>
                </a:ext>
              </a:extLst>
            </p:cNvPr>
            <p:cNvGrpSpPr>
              <a:grpSpLocks/>
            </p:cNvGrpSpPr>
            <p:nvPr/>
          </p:nvGrpSpPr>
          <p:grpSpPr bwMode="auto">
            <a:xfrm>
              <a:off x="4747" y="994"/>
              <a:ext cx="581" cy="134"/>
              <a:chOff x="614" y="2568"/>
              <a:chExt cx="725" cy="139"/>
            </a:xfrm>
          </p:grpSpPr>
          <p:sp>
            <p:nvSpPr>
              <p:cNvPr id="311" name="AutoShape 138">
                <a:extLst>
                  <a:ext uri="{FF2B5EF4-FFF2-40B4-BE49-F238E27FC236}">
                    <a16:creationId xmlns:a16="http://schemas.microsoft.com/office/drawing/2014/main" xmlns="" id="{2528368F-0A05-EE46-8F4D-04BE346F7E3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12" name="AutoShape 139">
                <a:extLst>
                  <a:ext uri="{FF2B5EF4-FFF2-40B4-BE49-F238E27FC236}">
                    <a16:creationId xmlns:a16="http://schemas.microsoft.com/office/drawing/2014/main" xmlns="" id="{3B97611D-398F-1A45-996D-38BD9822FA1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91" name="Rectangle 140">
              <a:extLst>
                <a:ext uri="{FF2B5EF4-FFF2-40B4-BE49-F238E27FC236}">
                  <a16:creationId xmlns:a16="http://schemas.microsoft.com/office/drawing/2014/main" xmlns="" id="{4932601C-B73A-F24F-A7F0-F545FC9D85F6}"/>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92" name="Rectangle 141">
              <a:extLst>
                <a:ext uri="{FF2B5EF4-FFF2-40B4-BE49-F238E27FC236}">
                  <a16:creationId xmlns:a16="http://schemas.microsoft.com/office/drawing/2014/main" xmlns="" id="{2E798033-84E0-4046-8123-A3E022BD0D0D}"/>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93" name="Group 142">
              <a:extLst>
                <a:ext uri="{FF2B5EF4-FFF2-40B4-BE49-F238E27FC236}">
                  <a16:creationId xmlns:a16="http://schemas.microsoft.com/office/drawing/2014/main" xmlns="" id="{CD337402-4020-0C40-A87E-04755B4A7EFA}"/>
                </a:ext>
              </a:extLst>
            </p:cNvPr>
            <p:cNvGrpSpPr>
              <a:grpSpLocks/>
            </p:cNvGrpSpPr>
            <p:nvPr/>
          </p:nvGrpSpPr>
          <p:grpSpPr bwMode="auto">
            <a:xfrm>
              <a:off x="4735" y="1627"/>
              <a:ext cx="582" cy="151"/>
              <a:chOff x="614" y="2568"/>
              <a:chExt cx="725" cy="139"/>
            </a:xfrm>
          </p:grpSpPr>
          <p:sp>
            <p:nvSpPr>
              <p:cNvPr id="309" name="AutoShape 143">
                <a:extLst>
                  <a:ext uri="{FF2B5EF4-FFF2-40B4-BE49-F238E27FC236}">
                    <a16:creationId xmlns:a16="http://schemas.microsoft.com/office/drawing/2014/main" xmlns="" id="{9BAD2454-875B-1040-9ABC-295C5238C73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10" name="AutoShape 144">
                <a:extLst>
                  <a:ext uri="{FF2B5EF4-FFF2-40B4-BE49-F238E27FC236}">
                    <a16:creationId xmlns:a16="http://schemas.microsoft.com/office/drawing/2014/main" xmlns="" id="{811AD1F7-D00A-2044-8EE8-E002D9859C3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94" name="Freeform 145">
              <a:extLst>
                <a:ext uri="{FF2B5EF4-FFF2-40B4-BE49-F238E27FC236}">
                  <a16:creationId xmlns:a16="http://schemas.microsoft.com/office/drawing/2014/main" xmlns="" id="{A082C83D-EAED-5146-8038-BE6D0CD214E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95" name="Group 146">
              <a:extLst>
                <a:ext uri="{FF2B5EF4-FFF2-40B4-BE49-F238E27FC236}">
                  <a16:creationId xmlns:a16="http://schemas.microsoft.com/office/drawing/2014/main" xmlns="" id="{F3E31BE7-8EE9-F941-912B-D2464A54CE69}"/>
                </a:ext>
              </a:extLst>
            </p:cNvPr>
            <p:cNvGrpSpPr>
              <a:grpSpLocks/>
            </p:cNvGrpSpPr>
            <p:nvPr/>
          </p:nvGrpSpPr>
          <p:grpSpPr bwMode="auto">
            <a:xfrm>
              <a:off x="4739" y="1327"/>
              <a:ext cx="582" cy="139"/>
              <a:chOff x="614" y="2568"/>
              <a:chExt cx="725" cy="139"/>
            </a:xfrm>
          </p:grpSpPr>
          <p:sp>
            <p:nvSpPr>
              <p:cNvPr id="307" name="AutoShape 147">
                <a:extLst>
                  <a:ext uri="{FF2B5EF4-FFF2-40B4-BE49-F238E27FC236}">
                    <a16:creationId xmlns:a16="http://schemas.microsoft.com/office/drawing/2014/main" xmlns="" id="{732FE339-8FD2-B042-A014-EB19D7B6750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8" name="AutoShape 148">
                <a:extLst>
                  <a:ext uri="{FF2B5EF4-FFF2-40B4-BE49-F238E27FC236}">
                    <a16:creationId xmlns:a16="http://schemas.microsoft.com/office/drawing/2014/main" xmlns="" id="{DB2D76FA-CDCC-F543-9A55-827409AD12D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96" name="Rectangle 149">
              <a:extLst>
                <a:ext uri="{FF2B5EF4-FFF2-40B4-BE49-F238E27FC236}">
                  <a16:creationId xmlns:a16="http://schemas.microsoft.com/office/drawing/2014/main" xmlns="" id="{4AFD3D79-1011-034D-82FF-36956F3D9F3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97" name="Freeform 150">
              <a:extLst>
                <a:ext uri="{FF2B5EF4-FFF2-40B4-BE49-F238E27FC236}">
                  <a16:creationId xmlns:a16="http://schemas.microsoft.com/office/drawing/2014/main" xmlns="" id="{52F521AF-DEC9-9748-8982-D368DDC2B6B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98" name="Freeform 151">
              <a:extLst>
                <a:ext uri="{FF2B5EF4-FFF2-40B4-BE49-F238E27FC236}">
                  <a16:creationId xmlns:a16="http://schemas.microsoft.com/office/drawing/2014/main" xmlns="" id="{79F218C2-4B51-FB41-BB3E-2CB4FAE1682A}"/>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99" name="Oval 152">
              <a:extLst>
                <a:ext uri="{FF2B5EF4-FFF2-40B4-BE49-F238E27FC236}">
                  <a16:creationId xmlns:a16="http://schemas.microsoft.com/office/drawing/2014/main" xmlns="" id="{D16EE320-03FD-2743-B02B-D5E39593FF78}"/>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0" name="Freeform 153">
              <a:extLst>
                <a:ext uri="{FF2B5EF4-FFF2-40B4-BE49-F238E27FC236}">
                  <a16:creationId xmlns:a16="http://schemas.microsoft.com/office/drawing/2014/main" xmlns="" id="{325E7068-4B41-AE4C-965D-DA302E30903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01" name="AutoShape 154">
              <a:extLst>
                <a:ext uri="{FF2B5EF4-FFF2-40B4-BE49-F238E27FC236}">
                  <a16:creationId xmlns:a16="http://schemas.microsoft.com/office/drawing/2014/main" xmlns="" id="{1527CD1D-4826-F249-8CC0-8D803950A59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2" name="AutoShape 155">
              <a:extLst>
                <a:ext uri="{FF2B5EF4-FFF2-40B4-BE49-F238E27FC236}">
                  <a16:creationId xmlns:a16="http://schemas.microsoft.com/office/drawing/2014/main" xmlns="" id="{4137A0DF-EEBF-3340-81E2-30FAAE1292FF}"/>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3" name="Oval 156">
              <a:extLst>
                <a:ext uri="{FF2B5EF4-FFF2-40B4-BE49-F238E27FC236}">
                  <a16:creationId xmlns:a16="http://schemas.microsoft.com/office/drawing/2014/main" xmlns="" id="{E1E6F14E-95D9-CC4D-BAB1-1C12B1C1A4A9}"/>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4" name="Oval 157">
              <a:extLst>
                <a:ext uri="{FF2B5EF4-FFF2-40B4-BE49-F238E27FC236}">
                  <a16:creationId xmlns:a16="http://schemas.microsoft.com/office/drawing/2014/main" xmlns="" id="{6F01C793-1A32-CA48-99E6-4C06A214A40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305" name="Oval 158">
              <a:extLst>
                <a:ext uri="{FF2B5EF4-FFF2-40B4-BE49-F238E27FC236}">
                  <a16:creationId xmlns:a16="http://schemas.microsoft.com/office/drawing/2014/main" xmlns="" id="{3B94657D-9B77-1941-9CBF-A2C7591AF42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6" name="Rectangle 159">
              <a:extLst>
                <a:ext uri="{FF2B5EF4-FFF2-40B4-BE49-F238E27FC236}">
                  <a16:creationId xmlns:a16="http://schemas.microsoft.com/office/drawing/2014/main" xmlns="" id="{4C98791A-5A95-B940-9F34-EFDEF8150F81}"/>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15" name="Group 160">
            <a:extLst>
              <a:ext uri="{FF2B5EF4-FFF2-40B4-BE49-F238E27FC236}">
                <a16:creationId xmlns:a16="http://schemas.microsoft.com/office/drawing/2014/main" xmlns="" id="{AD8E3A61-2C5A-CC41-9933-891EC27B5015}"/>
              </a:ext>
            </a:extLst>
          </p:cNvPr>
          <p:cNvGrpSpPr>
            <a:grpSpLocks/>
          </p:cNvGrpSpPr>
          <p:nvPr/>
        </p:nvGrpSpPr>
        <p:grpSpPr bwMode="auto">
          <a:xfrm>
            <a:off x="3619693" y="2536270"/>
            <a:ext cx="394097" cy="326231"/>
            <a:chOff x="-44" y="1473"/>
            <a:chExt cx="981" cy="1105"/>
          </a:xfrm>
        </p:grpSpPr>
        <p:pic>
          <p:nvPicPr>
            <p:cNvPr id="316" name="Picture 161" descr="desktop_computer_stylized_medium">
              <a:extLst>
                <a:ext uri="{FF2B5EF4-FFF2-40B4-BE49-F238E27FC236}">
                  <a16:creationId xmlns:a16="http://schemas.microsoft.com/office/drawing/2014/main" xmlns="" id="{01E7AFB7-5DE3-CA4A-A50A-BEADA26B11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 name="Freeform 162">
              <a:extLst>
                <a:ext uri="{FF2B5EF4-FFF2-40B4-BE49-F238E27FC236}">
                  <a16:creationId xmlns:a16="http://schemas.microsoft.com/office/drawing/2014/main" xmlns="" id="{4E443E40-A128-4E43-A736-B0C7F3C2A94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318" name="Group 163">
            <a:extLst>
              <a:ext uri="{FF2B5EF4-FFF2-40B4-BE49-F238E27FC236}">
                <a16:creationId xmlns:a16="http://schemas.microsoft.com/office/drawing/2014/main" xmlns="" id="{C476CE94-C91A-0846-B6B7-05E77113879F}"/>
              </a:ext>
            </a:extLst>
          </p:cNvPr>
          <p:cNvGrpSpPr>
            <a:grpSpLocks/>
          </p:cNvGrpSpPr>
          <p:nvPr/>
        </p:nvGrpSpPr>
        <p:grpSpPr bwMode="auto">
          <a:xfrm>
            <a:off x="7623170" y="2583030"/>
            <a:ext cx="173831" cy="330994"/>
            <a:chOff x="4140" y="429"/>
            <a:chExt cx="1425" cy="2396"/>
          </a:xfrm>
        </p:grpSpPr>
        <p:sp>
          <p:nvSpPr>
            <p:cNvPr id="319" name="Freeform 164">
              <a:extLst>
                <a:ext uri="{FF2B5EF4-FFF2-40B4-BE49-F238E27FC236}">
                  <a16:creationId xmlns:a16="http://schemas.microsoft.com/office/drawing/2014/main" xmlns="" id="{7E23E3E7-6D0C-A747-B7EB-BCB232D5625B}"/>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20" name="Rectangle 165">
              <a:extLst>
                <a:ext uri="{FF2B5EF4-FFF2-40B4-BE49-F238E27FC236}">
                  <a16:creationId xmlns:a16="http://schemas.microsoft.com/office/drawing/2014/main" xmlns="" id="{814A29A9-35F7-F44A-86DF-9F21E4CCB44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21" name="Freeform 166">
              <a:extLst>
                <a:ext uri="{FF2B5EF4-FFF2-40B4-BE49-F238E27FC236}">
                  <a16:creationId xmlns:a16="http://schemas.microsoft.com/office/drawing/2014/main" xmlns="" id="{B8E9398E-F70E-104C-BC4B-6FFD09F2BA4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22" name="Freeform 167">
              <a:extLst>
                <a:ext uri="{FF2B5EF4-FFF2-40B4-BE49-F238E27FC236}">
                  <a16:creationId xmlns:a16="http://schemas.microsoft.com/office/drawing/2014/main" xmlns="" id="{5AC97C88-7A57-AC44-A1DE-BDAB3D1F0E3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23" name="Rectangle 168">
              <a:extLst>
                <a:ext uri="{FF2B5EF4-FFF2-40B4-BE49-F238E27FC236}">
                  <a16:creationId xmlns:a16="http://schemas.microsoft.com/office/drawing/2014/main" xmlns="" id="{229AF22C-8CDF-2B47-88DF-3B0B587AB207}"/>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24" name="Group 169">
              <a:extLst>
                <a:ext uri="{FF2B5EF4-FFF2-40B4-BE49-F238E27FC236}">
                  <a16:creationId xmlns:a16="http://schemas.microsoft.com/office/drawing/2014/main" xmlns="" id="{0515312F-DE85-5641-B779-E8991ECBE8F8}"/>
                </a:ext>
              </a:extLst>
            </p:cNvPr>
            <p:cNvGrpSpPr>
              <a:grpSpLocks/>
            </p:cNvGrpSpPr>
            <p:nvPr/>
          </p:nvGrpSpPr>
          <p:grpSpPr bwMode="auto">
            <a:xfrm>
              <a:off x="4749" y="668"/>
              <a:ext cx="581" cy="145"/>
              <a:chOff x="614" y="2568"/>
              <a:chExt cx="725" cy="139"/>
            </a:xfrm>
          </p:grpSpPr>
          <p:sp>
            <p:nvSpPr>
              <p:cNvPr id="349" name="AutoShape 170">
                <a:extLst>
                  <a:ext uri="{FF2B5EF4-FFF2-40B4-BE49-F238E27FC236}">
                    <a16:creationId xmlns:a16="http://schemas.microsoft.com/office/drawing/2014/main" xmlns="" id="{1534A008-335A-184E-AD46-396A2FE3719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50" name="AutoShape 171">
                <a:extLst>
                  <a:ext uri="{FF2B5EF4-FFF2-40B4-BE49-F238E27FC236}">
                    <a16:creationId xmlns:a16="http://schemas.microsoft.com/office/drawing/2014/main" xmlns="" id="{7B78E6A8-DEDF-8144-B322-E4206C6E43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25" name="Rectangle 172">
              <a:extLst>
                <a:ext uri="{FF2B5EF4-FFF2-40B4-BE49-F238E27FC236}">
                  <a16:creationId xmlns:a16="http://schemas.microsoft.com/office/drawing/2014/main" xmlns="" id="{41B3D22D-F506-A448-A3D5-682181A47A7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26" name="Group 173">
              <a:extLst>
                <a:ext uri="{FF2B5EF4-FFF2-40B4-BE49-F238E27FC236}">
                  <a16:creationId xmlns:a16="http://schemas.microsoft.com/office/drawing/2014/main" xmlns="" id="{BAB53084-6436-7444-ACD5-5E7D01263E2B}"/>
                </a:ext>
              </a:extLst>
            </p:cNvPr>
            <p:cNvGrpSpPr>
              <a:grpSpLocks/>
            </p:cNvGrpSpPr>
            <p:nvPr/>
          </p:nvGrpSpPr>
          <p:grpSpPr bwMode="auto">
            <a:xfrm>
              <a:off x="4747" y="994"/>
              <a:ext cx="581" cy="134"/>
              <a:chOff x="614" y="2568"/>
              <a:chExt cx="725" cy="139"/>
            </a:xfrm>
          </p:grpSpPr>
          <p:sp>
            <p:nvSpPr>
              <p:cNvPr id="347" name="AutoShape 174">
                <a:extLst>
                  <a:ext uri="{FF2B5EF4-FFF2-40B4-BE49-F238E27FC236}">
                    <a16:creationId xmlns:a16="http://schemas.microsoft.com/office/drawing/2014/main" xmlns="" id="{0369A39A-40F1-844B-BF97-43EE1A3A2AC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8" name="AutoShape 175">
                <a:extLst>
                  <a:ext uri="{FF2B5EF4-FFF2-40B4-BE49-F238E27FC236}">
                    <a16:creationId xmlns:a16="http://schemas.microsoft.com/office/drawing/2014/main" xmlns="" id="{D7484B32-60C3-FA43-A0AA-A0D628003D7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27" name="Rectangle 176">
              <a:extLst>
                <a:ext uri="{FF2B5EF4-FFF2-40B4-BE49-F238E27FC236}">
                  <a16:creationId xmlns:a16="http://schemas.microsoft.com/office/drawing/2014/main" xmlns="" id="{47F75A27-CD31-C143-9419-3EFB259397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28" name="Rectangle 177">
              <a:extLst>
                <a:ext uri="{FF2B5EF4-FFF2-40B4-BE49-F238E27FC236}">
                  <a16:creationId xmlns:a16="http://schemas.microsoft.com/office/drawing/2014/main" xmlns="" id="{EBB2CB62-D2FD-C047-94B4-C2C954564AF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29" name="Group 178">
              <a:extLst>
                <a:ext uri="{FF2B5EF4-FFF2-40B4-BE49-F238E27FC236}">
                  <a16:creationId xmlns:a16="http://schemas.microsoft.com/office/drawing/2014/main" xmlns="" id="{E30BEF1D-E99C-EF4F-A2DE-968E737192AA}"/>
                </a:ext>
              </a:extLst>
            </p:cNvPr>
            <p:cNvGrpSpPr>
              <a:grpSpLocks/>
            </p:cNvGrpSpPr>
            <p:nvPr/>
          </p:nvGrpSpPr>
          <p:grpSpPr bwMode="auto">
            <a:xfrm>
              <a:off x="4735" y="1627"/>
              <a:ext cx="582" cy="151"/>
              <a:chOff x="614" y="2568"/>
              <a:chExt cx="725" cy="139"/>
            </a:xfrm>
          </p:grpSpPr>
          <p:sp>
            <p:nvSpPr>
              <p:cNvPr id="345" name="AutoShape 179">
                <a:extLst>
                  <a:ext uri="{FF2B5EF4-FFF2-40B4-BE49-F238E27FC236}">
                    <a16:creationId xmlns:a16="http://schemas.microsoft.com/office/drawing/2014/main" xmlns="" id="{F4DDADBC-B242-A44B-A408-F26BF5F85024}"/>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6" name="AutoShape 180">
                <a:extLst>
                  <a:ext uri="{FF2B5EF4-FFF2-40B4-BE49-F238E27FC236}">
                    <a16:creationId xmlns:a16="http://schemas.microsoft.com/office/drawing/2014/main" xmlns="" id="{44C7D4E7-B87F-0F46-9357-55FA60430CB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30" name="Freeform 181">
              <a:extLst>
                <a:ext uri="{FF2B5EF4-FFF2-40B4-BE49-F238E27FC236}">
                  <a16:creationId xmlns:a16="http://schemas.microsoft.com/office/drawing/2014/main" xmlns="" id="{06EF0D71-8E6B-284F-8EA0-661C363088B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31" name="Group 182">
              <a:extLst>
                <a:ext uri="{FF2B5EF4-FFF2-40B4-BE49-F238E27FC236}">
                  <a16:creationId xmlns:a16="http://schemas.microsoft.com/office/drawing/2014/main" xmlns="" id="{6A155784-A945-0F47-A39B-31F367A22CCA}"/>
                </a:ext>
              </a:extLst>
            </p:cNvPr>
            <p:cNvGrpSpPr>
              <a:grpSpLocks/>
            </p:cNvGrpSpPr>
            <p:nvPr/>
          </p:nvGrpSpPr>
          <p:grpSpPr bwMode="auto">
            <a:xfrm>
              <a:off x="4739" y="1327"/>
              <a:ext cx="582" cy="139"/>
              <a:chOff x="614" y="2568"/>
              <a:chExt cx="725" cy="139"/>
            </a:xfrm>
          </p:grpSpPr>
          <p:sp>
            <p:nvSpPr>
              <p:cNvPr id="343" name="AutoShape 183">
                <a:extLst>
                  <a:ext uri="{FF2B5EF4-FFF2-40B4-BE49-F238E27FC236}">
                    <a16:creationId xmlns:a16="http://schemas.microsoft.com/office/drawing/2014/main" xmlns="" id="{22B4B462-8B3B-7C4D-A454-5B71818EBC5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4" name="AutoShape 184">
                <a:extLst>
                  <a:ext uri="{FF2B5EF4-FFF2-40B4-BE49-F238E27FC236}">
                    <a16:creationId xmlns:a16="http://schemas.microsoft.com/office/drawing/2014/main" xmlns="" id="{409F6314-B504-4546-8602-B7F2622A98DF}"/>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32" name="Rectangle 185">
              <a:extLst>
                <a:ext uri="{FF2B5EF4-FFF2-40B4-BE49-F238E27FC236}">
                  <a16:creationId xmlns:a16="http://schemas.microsoft.com/office/drawing/2014/main" xmlns="" id="{AF2779F2-42B0-3548-98BC-AAAD4254720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33" name="Freeform 186">
              <a:extLst>
                <a:ext uri="{FF2B5EF4-FFF2-40B4-BE49-F238E27FC236}">
                  <a16:creationId xmlns:a16="http://schemas.microsoft.com/office/drawing/2014/main" xmlns="" id="{7820BB4F-C7CB-BA4F-BE2B-ACCFBB678F2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34" name="Freeform 187">
              <a:extLst>
                <a:ext uri="{FF2B5EF4-FFF2-40B4-BE49-F238E27FC236}">
                  <a16:creationId xmlns:a16="http://schemas.microsoft.com/office/drawing/2014/main" xmlns="" id="{A1A403FF-DEAA-3D46-A5ED-A9AF23D9C5AD}"/>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35" name="Oval 188">
              <a:extLst>
                <a:ext uri="{FF2B5EF4-FFF2-40B4-BE49-F238E27FC236}">
                  <a16:creationId xmlns:a16="http://schemas.microsoft.com/office/drawing/2014/main" xmlns="" id="{F39A85A5-F2E7-8645-BCBC-3F68037F827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36" name="Freeform 189">
              <a:extLst>
                <a:ext uri="{FF2B5EF4-FFF2-40B4-BE49-F238E27FC236}">
                  <a16:creationId xmlns:a16="http://schemas.microsoft.com/office/drawing/2014/main" xmlns="" id="{0CB2E7B8-94AB-4F40-879D-C205945B419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37" name="AutoShape 190">
              <a:extLst>
                <a:ext uri="{FF2B5EF4-FFF2-40B4-BE49-F238E27FC236}">
                  <a16:creationId xmlns:a16="http://schemas.microsoft.com/office/drawing/2014/main" xmlns="" id="{B6C28932-399E-9147-AD60-584710E9C015}"/>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38" name="AutoShape 191">
              <a:extLst>
                <a:ext uri="{FF2B5EF4-FFF2-40B4-BE49-F238E27FC236}">
                  <a16:creationId xmlns:a16="http://schemas.microsoft.com/office/drawing/2014/main" xmlns="" id="{F9F7B82B-B598-F440-A518-BFE64EF662D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39" name="Oval 192">
              <a:extLst>
                <a:ext uri="{FF2B5EF4-FFF2-40B4-BE49-F238E27FC236}">
                  <a16:creationId xmlns:a16="http://schemas.microsoft.com/office/drawing/2014/main" xmlns="" id="{512A4325-4F66-844C-85B1-4C936DB52511}"/>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0" name="Oval 193">
              <a:extLst>
                <a:ext uri="{FF2B5EF4-FFF2-40B4-BE49-F238E27FC236}">
                  <a16:creationId xmlns:a16="http://schemas.microsoft.com/office/drawing/2014/main" xmlns="" id="{42DC5D9A-8390-1D4A-A8C1-3C193D975CB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341" name="Oval 194">
              <a:extLst>
                <a:ext uri="{FF2B5EF4-FFF2-40B4-BE49-F238E27FC236}">
                  <a16:creationId xmlns:a16="http://schemas.microsoft.com/office/drawing/2014/main" xmlns="" id="{2D7703BC-D6FE-9D4A-BE5F-ACBE696F02D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2" name="Rectangle 195">
              <a:extLst>
                <a:ext uri="{FF2B5EF4-FFF2-40B4-BE49-F238E27FC236}">
                  <a16:creationId xmlns:a16="http://schemas.microsoft.com/office/drawing/2014/main" xmlns="" id="{88471DD5-00EF-B34A-BAA1-AA8AE7CFB11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 name="TextBox 3">
            <a:extLst>
              <a:ext uri="{FF2B5EF4-FFF2-40B4-BE49-F238E27FC236}">
                <a16:creationId xmlns:a16="http://schemas.microsoft.com/office/drawing/2014/main" xmlns="" id="{86280C64-E9DA-2647-B08F-F808595E646B}"/>
              </a:ext>
            </a:extLst>
          </p:cNvPr>
          <p:cNvSpPr txBox="1"/>
          <p:nvPr/>
        </p:nvSpPr>
        <p:spPr>
          <a:xfrm>
            <a:off x="580696" y="3301796"/>
            <a:ext cx="2379551" cy="964880"/>
          </a:xfrm>
          <a:prstGeom prst="rect">
            <a:avLst/>
          </a:prstGeom>
          <a:noFill/>
        </p:spPr>
        <p:txBody>
          <a:bodyPr wrap="square" rtlCol="0">
            <a:spAutoFit/>
          </a:bodyPr>
          <a:lstStyle/>
          <a:p>
            <a:pPr marL="300038" indent="-300038" algn="l" defTabSz="685800" rtl="0">
              <a:lnSpc>
                <a:spcPct val="90000"/>
              </a:lnSpc>
              <a:defRPr/>
            </a:pPr>
            <a:r>
              <a:rPr lang="en-US" sz="2100" i="1" kern="1200" dirty="0">
                <a:solidFill>
                  <a:srgbClr val="C00000"/>
                </a:solidFill>
                <a:latin typeface="Calibri" panose="020F0502020204030204"/>
                <a:ea typeface="+mn-ea"/>
                <a:cs typeface="+mn-cs"/>
              </a:rPr>
              <a:t>Q: </a:t>
            </a:r>
            <a:r>
              <a:rPr lang="en-US" sz="2100" kern="1200" dirty="0">
                <a:solidFill>
                  <a:prstClr val="black"/>
                </a:solidFill>
                <a:latin typeface="Calibri" panose="020F0502020204030204"/>
                <a:ea typeface="+mn-ea"/>
                <a:cs typeface="+mn-cs"/>
              </a:rPr>
              <a:t>What happens as </a:t>
            </a:r>
            <a:r>
              <a:rPr lang="en-US" sz="2100" kern="1200" dirty="0">
                <a:solidFill>
                  <a:srgbClr val="000000"/>
                </a:solidFill>
                <a:latin typeface="Calibri" panose="020F0502020204030204"/>
                <a:ea typeface="ＭＳ Ｐゴシック" charset="0"/>
                <a:cs typeface="+mn-cs"/>
              </a:rPr>
              <a:t>arrival rate </a:t>
            </a:r>
            <a:r>
              <a:rPr lang="en-US" sz="2100" i="1" kern="1200" dirty="0">
                <a:solidFill>
                  <a:srgbClr val="C00000"/>
                </a:solidFill>
                <a:latin typeface="Symbol" charset="0"/>
                <a:ea typeface="ＭＳ Ｐゴシック" charset="0"/>
                <a:cs typeface="+mn-cs"/>
              </a:rPr>
              <a:t>l</a:t>
            </a:r>
            <a:r>
              <a:rPr lang="en-US" sz="2100" kern="1200" baseline="-25000" dirty="0">
                <a:solidFill>
                  <a:srgbClr val="C00000"/>
                </a:solidFill>
                <a:latin typeface="Calibri"/>
                <a:ea typeface="ＭＳ Ｐゴシック" charset="0"/>
                <a:cs typeface="+mn-cs"/>
              </a:rPr>
              <a:t>in</a:t>
            </a:r>
            <a:r>
              <a:rPr lang="en-US" sz="2100" i="1" kern="1200" dirty="0">
                <a:solidFill>
                  <a:srgbClr val="C00000"/>
                </a:solidFill>
                <a:latin typeface="Gill Sans MT" charset="0"/>
                <a:ea typeface="ＭＳ Ｐゴシック" charset="0"/>
                <a:cs typeface="+mn-cs"/>
              </a:rPr>
              <a:t> </a:t>
            </a:r>
            <a:r>
              <a:rPr lang="en-US" sz="2100" kern="1200" dirty="0">
                <a:solidFill>
                  <a:srgbClr val="000000"/>
                </a:solidFill>
                <a:latin typeface="Calibri" panose="020F0502020204030204"/>
                <a:ea typeface="ＭＳ Ｐゴシック" charset="0"/>
                <a:cs typeface="+mn-cs"/>
              </a:rPr>
              <a:t>approaches R/2?</a:t>
            </a:r>
            <a:r>
              <a:rPr lang="en-US" sz="2100" kern="1200" dirty="0">
                <a:solidFill>
                  <a:prstClr val="black"/>
                </a:solidFill>
                <a:latin typeface="Calibri" panose="020F0502020204030204"/>
                <a:ea typeface="+mn-ea"/>
                <a:cs typeface="+mn-cs"/>
              </a:rPr>
              <a:t> </a:t>
            </a:r>
          </a:p>
        </p:txBody>
      </p:sp>
      <p:grpSp>
        <p:nvGrpSpPr>
          <p:cNvPr id="5" name="Group 4">
            <a:extLst>
              <a:ext uri="{FF2B5EF4-FFF2-40B4-BE49-F238E27FC236}">
                <a16:creationId xmlns:a16="http://schemas.microsoft.com/office/drawing/2014/main" xmlns="" id="{A13DE16E-F5B0-8243-9843-F4026E4132BD}"/>
              </a:ext>
            </a:extLst>
          </p:cNvPr>
          <p:cNvGrpSpPr/>
          <p:nvPr/>
        </p:nvGrpSpPr>
        <p:grpSpPr>
          <a:xfrm>
            <a:off x="3613524" y="881384"/>
            <a:ext cx="1599010" cy="543168"/>
            <a:chOff x="4818031" y="1175178"/>
            <a:chExt cx="2132013" cy="724224"/>
          </a:xfrm>
        </p:grpSpPr>
        <p:sp>
          <p:nvSpPr>
            <p:cNvPr id="240" name="Oval 72">
              <a:extLst>
                <a:ext uri="{FF2B5EF4-FFF2-40B4-BE49-F238E27FC236}">
                  <a16:creationId xmlns:a16="http://schemas.microsoft.com/office/drawing/2014/main" xmlns="" id="{4B444E41-EF68-F94F-951A-91633B83D5F3}"/>
                </a:ext>
              </a:extLst>
            </p:cNvPr>
            <p:cNvSpPr>
              <a:spLocks noChangeArrowheads="1"/>
            </p:cNvSpPr>
            <p:nvPr/>
          </p:nvSpPr>
          <p:spPr bwMode="auto">
            <a:xfrm>
              <a:off x="6584414" y="1808915"/>
              <a:ext cx="92075" cy="904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42" name="Line 74">
              <a:extLst>
                <a:ext uri="{FF2B5EF4-FFF2-40B4-BE49-F238E27FC236}">
                  <a16:creationId xmlns:a16="http://schemas.microsoft.com/office/drawing/2014/main" xmlns="" id="{5D48EDA9-2F95-5143-AF32-3BAD44F9D608}"/>
                </a:ext>
              </a:extLst>
            </p:cNvPr>
            <p:cNvSpPr>
              <a:spLocks noChangeShapeType="1"/>
            </p:cNvSpPr>
            <p:nvPr/>
          </p:nvSpPr>
          <p:spPr bwMode="auto">
            <a:xfrm>
              <a:off x="6158964" y="1588252"/>
              <a:ext cx="369887" cy="2524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51" name="Text Box 43">
              <a:extLst>
                <a:ext uri="{FF2B5EF4-FFF2-40B4-BE49-F238E27FC236}">
                  <a16:creationId xmlns:a16="http://schemas.microsoft.com/office/drawing/2014/main" xmlns="" id="{1C99CDFE-9298-BC49-916B-D28FBB57638B}"/>
                </a:ext>
              </a:extLst>
            </p:cNvPr>
            <p:cNvSpPr txBox="1">
              <a:spLocks noChangeArrowheads="1"/>
            </p:cNvSpPr>
            <p:nvPr/>
          </p:nvSpPr>
          <p:spPr bwMode="auto">
            <a:xfrm>
              <a:off x="4818031" y="1175178"/>
              <a:ext cx="21320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a:defRPr/>
              </a:pPr>
              <a:r>
                <a:rPr lang="en-US" altLang="en-US" sz="1200" kern="1200" dirty="0">
                  <a:solidFill>
                    <a:prstClr val="black"/>
                  </a:solidFill>
                  <a:latin typeface="Arial" panose="020B0604020202020204" pitchFamily="34" charset="0"/>
                  <a:cs typeface="+mn-cs"/>
                </a:rPr>
                <a:t>original data: </a:t>
              </a:r>
              <a:r>
                <a:rPr lang="en-US" altLang="en-US" sz="1800" kern="1200" dirty="0">
                  <a:solidFill>
                    <a:srgbClr val="CC0000"/>
                  </a:solidFill>
                  <a:latin typeface="Symbol" pitchFamily="2" charset="2"/>
                  <a:cs typeface="+mn-cs"/>
                </a:rPr>
                <a:t>l</a:t>
              </a:r>
              <a:r>
                <a:rPr lang="en-US" altLang="en-US" sz="1800" kern="1200" baseline="-25000" dirty="0">
                  <a:solidFill>
                    <a:srgbClr val="CC0000"/>
                  </a:solidFill>
                  <a:latin typeface="Arial" panose="020B0604020202020204" pitchFamily="34" charset="0"/>
                  <a:cs typeface="+mn-cs"/>
                </a:rPr>
                <a:t>in</a:t>
              </a:r>
              <a:r>
                <a:rPr lang="en-US" altLang="en-US" sz="1200" kern="1200" baseline="-25000" dirty="0">
                  <a:solidFill>
                    <a:srgbClr val="CC0000"/>
                  </a:solidFill>
                  <a:latin typeface="Arial" panose="020B0604020202020204" pitchFamily="34" charset="0"/>
                  <a:cs typeface="+mn-cs"/>
                </a:rPr>
                <a:t> </a:t>
              </a:r>
              <a:endParaRPr lang="en-US" altLang="en-US" sz="1200" kern="1200" dirty="0">
                <a:solidFill>
                  <a:srgbClr val="CC0000"/>
                </a:solidFill>
                <a:latin typeface="Arial" panose="020B0604020202020204" pitchFamily="34" charset="0"/>
                <a:cs typeface="+mn-cs"/>
              </a:endParaRPr>
            </a:p>
          </p:txBody>
        </p:sp>
      </p:grpSp>
      <p:sp>
        <p:nvSpPr>
          <p:cNvPr id="174" name="Line 57">
            <a:extLst>
              <a:ext uri="{FF2B5EF4-FFF2-40B4-BE49-F238E27FC236}">
                <a16:creationId xmlns:a16="http://schemas.microsoft.com/office/drawing/2014/main" xmlns="" id="{198CECD8-AC19-4441-B07E-D812C1E4B022}"/>
              </a:ext>
            </a:extLst>
          </p:cNvPr>
          <p:cNvSpPr>
            <a:spLocks noChangeShapeType="1"/>
          </p:cNvSpPr>
          <p:nvPr/>
        </p:nvSpPr>
        <p:spPr bwMode="auto">
          <a:xfrm flipH="1">
            <a:off x="6410160" y="2727188"/>
            <a:ext cx="6166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5" name="Line 57">
            <a:extLst>
              <a:ext uri="{FF2B5EF4-FFF2-40B4-BE49-F238E27FC236}">
                <a16:creationId xmlns:a16="http://schemas.microsoft.com/office/drawing/2014/main" xmlns="" id="{E3F52AFD-CA05-E145-A13D-BB73559D50E0}"/>
              </a:ext>
            </a:extLst>
          </p:cNvPr>
          <p:cNvSpPr>
            <a:spLocks noChangeShapeType="1"/>
          </p:cNvSpPr>
          <p:nvPr/>
        </p:nvSpPr>
        <p:spPr bwMode="auto">
          <a:xfrm flipH="1">
            <a:off x="5094831" y="2076557"/>
            <a:ext cx="32980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6" name="Line 57">
            <a:extLst>
              <a:ext uri="{FF2B5EF4-FFF2-40B4-BE49-F238E27FC236}">
                <a16:creationId xmlns:a16="http://schemas.microsoft.com/office/drawing/2014/main" xmlns="" id="{1C06B2BF-A77D-004B-A9F1-4A7417598B7E}"/>
              </a:ext>
            </a:extLst>
          </p:cNvPr>
          <p:cNvSpPr>
            <a:spLocks noChangeShapeType="1"/>
          </p:cNvSpPr>
          <p:nvPr/>
        </p:nvSpPr>
        <p:spPr bwMode="auto">
          <a:xfrm flipH="1">
            <a:off x="4403755" y="2728946"/>
            <a:ext cx="32980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 name="TextBox 7">
            <a:extLst>
              <a:ext uri="{FF2B5EF4-FFF2-40B4-BE49-F238E27FC236}">
                <a16:creationId xmlns:a16="http://schemas.microsoft.com/office/drawing/2014/main" xmlns="" id="{348CA410-A84F-B34C-BD63-41722EE5FAA8}"/>
              </a:ext>
            </a:extLst>
          </p:cNvPr>
          <p:cNvSpPr txBox="1"/>
          <p:nvPr/>
        </p:nvSpPr>
        <p:spPr>
          <a:xfrm>
            <a:off x="6401976" y="2106637"/>
            <a:ext cx="309701" cy="36933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188" name="Rectangle 15">
            <a:extLst>
              <a:ext uri="{FF2B5EF4-FFF2-40B4-BE49-F238E27FC236}">
                <a16:creationId xmlns:a16="http://schemas.microsoft.com/office/drawing/2014/main" xmlns="" id="{623041CF-890D-E145-9016-1967AAC98E0D}"/>
              </a:ext>
            </a:extLst>
          </p:cNvPr>
          <p:cNvSpPr txBox="1">
            <a:spLocks noChangeArrowheads="1"/>
          </p:cNvSpPr>
          <p:nvPr/>
        </p:nvSpPr>
        <p:spPr bwMode="auto">
          <a:xfrm>
            <a:off x="584383" y="2014733"/>
            <a:ext cx="2844137" cy="3081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67879" indent="-167879" defTabSz="685800">
              <a:buFont typeface="Wingdings" charset="2"/>
              <a:buChar char="§"/>
              <a:defRPr/>
            </a:pPr>
            <a:r>
              <a:rPr lang="en-US" sz="1800" dirty="0">
                <a:solidFill>
                  <a:srgbClr val="000000"/>
                </a:solidFill>
                <a:latin typeface="Calibri" panose="020F0502020204030204" pitchFamily="34" charset="0"/>
                <a:cs typeface="Calibri" panose="020F0502020204030204" pitchFamily="34" charset="0"/>
              </a:rPr>
              <a:t>two flows</a:t>
            </a:r>
          </a:p>
        </p:txBody>
      </p:sp>
      <p:sp>
        <p:nvSpPr>
          <p:cNvPr id="189" name="Rectangle 15">
            <a:extLst>
              <a:ext uri="{FF2B5EF4-FFF2-40B4-BE49-F238E27FC236}">
                <a16:creationId xmlns:a16="http://schemas.microsoft.com/office/drawing/2014/main" xmlns="" id="{FF1255B8-CBCE-BA42-8BB2-AD361E914F8B}"/>
              </a:ext>
            </a:extLst>
          </p:cNvPr>
          <p:cNvSpPr txBox="1">
            <a:spLocks noChangeArrowheads="1"/>
          </p:cNvSpPr>
          <p:nvPr/>
        </p:nvSpPr>
        <p:spPr bwMode="auto">
          <a:xfrm>
            <a:off x="580025" y="1431015"/>
            <a:ext cx="3103701" cy="6042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67879" indent="-167879" defTabSz="685800">
              <a:buFont typeface="Wingdings" charset="2"/>
              <a:buChar char="§"/>
              <a:defRPr/>
            </a:pPr>
            <a:r>
              <a:rPr lang="en-US" sz="1800" dirty="0">
                <a:solidFill>
                  <a:srgbClr val="000000"/>
                </a:solidFill>
                <a:latin typeface="Calibri" panose="020F0502020204030204" pitchFamily="34" charset="0"/>
                <a:cs typeface="Calibri" panose="020F0502020204030204" pitchFamily="34" charset="0"/>
              </a:rPr>
              <a:t>one router, infinite buffers </a:t>
            </a:r>
          </a:p>
          <a:p>
            <a:pPr marL="167879" indent="-167879" defTabSz="685800">
              <a:buFont typeface="Wingdings" charset="2"/>
              <a:buChar char="§"/>
              <a:defRPr/>
            </a:pPr>
            <a:r>
              <a:rPr lang="en-US" sz="1800" dirty="0">
                <a:solidFill>
                  <a:srgbClr val="000000"/>
                </a:solidFill>
                <a:latin typeface="Calibri" panose="020F0502020204030204" pitchFamily="34" charset="0"/>
                <a:cs typeface="Calibri" panose="020F0502020204030204" pitchFamily="34" charset="0"/>
              </a:rPr>
              <a:t>input, output link capacity: R</a:t>
            </a:r>
          </a:p>
          <a:p>
            <a:pPr marL="0" indent="0" defTabSz="685800">
              <a:buNone/>
              <a:defRPr/>
            </a:pPr>
            <a:endParaRPr lang="en-US" sz="2100" dirty="0">
              <a:solidFill>
                <a:srgbClr val="000000"/>
              </a:solidFill>
              <a:latin typeface="Gill Sans MT"/>
              <a:cs typeface="+mn-cs"/>
            </a:endParaRPr>
          </a:p>
        </p:txBody>
      </p:sp>
      <p:grpSp>
        <p:nvGrpSpPr>
          <p:cNvPr id="13" name="Group 12">
            <a:extLst>
              <a:ext uri="{FF2B5EF4-FFF2-40B4-BE49-F238E27FC236}">
                <a16:creationId xmlns:a16="http://schemas.microsoft.com/office/drawing/2014/main" xmlns="" id="{9F0A3C67-BB73-4845-B5BC-A5FA51964D18}"/>
              </a:ext>
            </a:extLst>
          </p:cNvPr>
          <p:cNvGrpSpPr/>
          <p:nvPr/>
        </p:nvGrpSpPr>
        <p:grpSpPr>
          <a:xfrm>
            <a:off x="5648093" y="1669821"/>
            <a:ext cx="1172596" cy="813487"/>
            <a:chOff x="7530790" y="2226427"/>
            <a:chExt cx="1563461" cy="1084649"/>
          </a:xfrm>
        </p:grpSpPr>
        <p:sp>
          <p:nvSpPr>
            <p:cNvPr id="202" name="Text Box 32">
              <a:extLst>
                <a:ext uri="{FF2B5EF4-FFF2-40B4-BE49-F238E27FC236}">
                  <a16:creationId xmlns:a16="http://schemas.microsoft.com/office/drawing/2014/main" xmlns="" id="{67E5732D-E6EC-D241-A9B3-13D2E2E58D95}"/>
                </a:ext>
              </a:extLst>
            </p:cNvPr>
            <p:cNvSpPr txBox="1">
              <a:spLocks noChangeArrowheads="1"/>
            </p:cNvSpPr>
            <p:nvPr/>
          </p:nvSpPr>
          <p:spPr bwMode="auto">
            <a:xfrm>
              <a:off x="7670264" y="2226427"/>
              <a:ext cx="142398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050" b="1" i="1" kern="1200" dirty="0">
                  <a:solidFill>
                    <a:srgbClr val="000000"/>
                  </a:solidFill>
                  <a:latin typeface="Arial" panose="020B0604020202020204" pitchFamily="34" charset="0"/>
                  <a:cs typeface="+mn-cs"/>
                </a:rPr>
                <a:t>infinite</a:t>
              </a:r>
              <a:r>
                <a:rPr lang="en-US" altLang="en-US" sz="900" kern="1200" dirty="0">
                  <a:solidFill>
                    <a:srgbClr val="000000"/>
                  </a:solidFill>
                  <a:latin typeface="Arial" panose="020B0604020202020204" pitchFamily="34" charset="0"/>
                  <a:cs typeface="+mn-cs"/>
                </a:rPr>
                <a:t> shared output link buffers</a:t>
              </a:r>
            </a:p>
          </p:txBody>
        </p:sp>
        <p:sp>
          <p:nvSpPr>
            <p:cNvPr id="245" name="Line 77">
              <a:extLst>
                <a:ext uri="{FF2B5EF4-FFF2-40B4-BE49-F238E27FC236}">
                  <a16:creationId xmlns:a16="http://schemas.microsoft.com/office/drawing/2014/main" xmlns="" id="{CCE11A70-D909-BE48-AB8A-1428CFD4C558}"/>
                </a:ext>
              </a:extLst>
            </p:cNvPr>
            <p:cNvSpPr>
              <a:spLocks noChangeShapeType="1"/>
            </p:cNvSpPr>
            <p:nvPr/>
          </p:nvSpPr>
          <p:spPr bwMode="auto">
            <a:xfrm flipH="1">
              <a:off x="8308075" y="2647114"/>
              <a:ext cx="238488" cy="375865"/>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xmlns="" id="{887BD2B8-6069-9D4C-8D8B-41A687B641F2}"/>
                </a:ext>
              </a:extLst>
            </p:cNvPr>
            <p:cNvGrpSpPr/>
            <p:nvPr/>
          </p:nvGrpSpPr>
          <p:grpSpPr>
            <a:xfrm>
              <a:off x="7530790" y="3050726"/>
              <a:ext cx="899401" cy="260350"/>
              <a:chOff x="10436222" y="4555062"/>
              <a:chExt cx="899401" cy="260350"/>
            </a:xfrm>
          </p:grpSpPr>
          <p:sp>
            <p:nvSpPr>
              <p:cNvPr id="384" name="Rectangle 383">
                <a:extLst>
                  <a:ext uri="{FF2B5EF4-FFF2-40B4-BE49-F238E27FC236}">
                    <a16:creationId xmlns:a16="http://schemas.microsoft.com/office/drawing/2014/main" xmlns="" id="{F30537BA-9247-BC42-BBD7-831810DD3EB0}"/>
                  </a:ext>
                </a:extLst>
              </p:cNvPr>
              <p:cNvSpPr/>
              <p:nvPr/>
            </p:nvSpPr>
            <p:spPr>
              <a:xfrm>
                <a:off x="10442522" y="4559486"/>
                <a:ext cx="891015" cy="254197"/>
              </a:xfrm>
              <a:prstGeom prst="rect">
                <a:avLst/>
              </a:prstGeom>
              <a:gradFill>
                <a:gsLst>
                  <a:gs pos="0">
                    <a:schemeClr val="bg2">
                      <a:lumMod val="50000"/>
                    </a:schemeClr>
                  </a:gs>
                  <a:gs pos="100000">
                    <a:schemeClr val="bg1">
                      <a:lumMod val="8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nvGrpSpPr>
              <p:cNvPr id="385" name="Group 384">
                <a:extLst>
                  <a:ext uri="{FF2B5EF4-FFF2-40B4-BE49-F238E27FC236}">
                    <a16:creationId xmlns:a16="http://schemas.microsoft.com/office/drawing/2014/main" xmlns="" id="{2CC59C21-286F-834A-ABEB-23215F83C500}"/>
                  </a:ext>
                </a:extLst>
              </p:cNvPr>
              <p:cNvGrpSpPr/>
              <p:nvPr/>
            </p:nvGrpSpPr>
            <p:grpSpPr>
              <a:xfrm>
                <a:off x="10436222" y="4555062"/>
                <a:ext cx="899401" cy="260350"/>
                <a:chOff x="7488023" y="3444875"/>
                <a:chExt cx="947952" cy="260350"/>
              </a:xfrm>
            </p:grpSpPr>
            <p:grpSp>
              <p:nvGrpSpPr>
                <p:cNvPr id="386" name="Group 385">
                  <a:extLst>
                    <a:ext uri="{FF2B5EF4-FFF2-40B4-BE49-F238E27FC236}">
                      <a16:creationId xmlns:a16="http://schemas.microsoft.com/office/drawing/2014/main" xmlns="" id="{36049D02-069F-6C48-8DC5-99C6838DD8A5}"/>
                    </a:ext>
                  </a:extLst>
                </p:cNvPr>
                <p:cNvGrpSpPr/>
                <p:nvPr/>
              </p:nvGrpSpPr>
              <p:grpSpPr>
                <a:xfrm>
                  <a:off x="8025557" y="3487646"/>
                  <a:ext cx="327298" cy="173730"/>
                  <a:chOff x="8094529" y="3437940"/>
                  <a:chExt cx="307888" cy="155752"/>
                </a:xfrm>
              </p:grpSpPr>
              <p:cxnSp>
                <p:nvCxnSpPr>
                  <p:cNvPr id="395" name="Straight Connector 394">
                    <a:extLst>
                      <a:ext uri="{FF2B5EF4-FFF2-40B4-BE49-F238E27FC236}">
                        <a16:creationId xmlns:a16="http://schemas.microsoft.com/office/drawing/2014/main" xmlns="" id="{FF172DB4-2A00-6A46-8A16-C30786F979FB}"/>
                      </a:ext>
                    </a:extLst>
                  </p:cNvPr>
                  <p:cNvCxnSpPr/>
                  <p:nvPr/>
                </p:nvCxnSpPr>
                <p:spPr>
                  <a:xfrm flipV="1">
                    <a:off x="8402417"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xmlns="" id="{99BF623C-66BC-3245-B197-115199D1F5B3}"/>
                      </a:ext>
                    </a:extLst>
                  </p:cNvPr>
                  <p:cNvCxnSpPr/>
                  <p:nvPr/>
                </p:nvCxnSpPr>
                <p:spPr>
                  <a:xfrm flipV="1">
                    <a:off x="8351102"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xmlns="" id="{B4CE1C9F-BB23-484E-BA7E-95900D23BB44}"/>
                      </a:ext>
                    </a:extLst>
                  </p:cNvPr>
                  <p:cNvCxnSpPr/>
                  <p:nvPr/>
                </p:nvCxnSpPr>
                <p:spPr>
                  <a:xfrm flipV="1">
                    <a:off x="8299787"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xmlns="" id="{1B65F295-34D5-B848-A55B-C87742C69F9B}"/>
                      </a:ext>
                    </a:extLst>
                  </p:cNvPr>
                  <p:cNvCxnSpPr/>
                  <p:nvPr/>
                </p:nvCxnSpPr>
                <p:spPr>
                  <a:xfrm flipV="1">
                    <a:off x="8248473"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xmlns="" id="{E821A5FD-1839-F841-8915-6982EB740723}"/>
                      </a:ext>
                    </a:extLst>
                  </p:cNvPr>
                  <p:cNvCxnSpPr/>
                  <p:nvPr/>
                </p:nvCxnSpPr>
                <p:spPr>
                  <a:xfrm flipV="1">
                    <a:off x="8197158"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xmlns="" id="{133501AC-7C40-F74E-8B51-CD3FBFBAA6D2}"/>
                      </a:ext>
                    </a:extLst>
                  </p:cNvPr>
                  <p:cNvCxnSpPr/>
                  <p:nvPr/>
                </p:nvCxnSpPr>
                <p:spPr>
                  <a:xfrm flipV="1">
                    <a:off x="8145843"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xmlns="" id="{37CD78F7-3453-B544-9B8F-FEE9954DB3B9}"/>
                      </a:ext>
                    </a:extLst>
                  </p:cNvPr>
                  <p:cNvCxnSpPr/>
                  <p:nvPr/>
                </p:nvCxnSpPr>
                <p:spPr>
                  <a:xfrm flipV="1">
                    <a:off x="8094529" y="3437940"/>
                    <a:ext cx="0" cy="1557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7" name="Group 386">
                  <a:extLst>
                    <a:ext uri="{FF2B5EF4-FFF2-40B4-BE49-F238E27FC236}">
                      <a16:creationId xmlns:a16="http://schemas.microsoft.com/office/drawing/2014/main" xmlns="" id="{7B8129D5-9ED3-CA4A-A4D7-8B3E8421EE81}"/>
                    </a:ext>
                  </a:extLst>
                </p:cNvPr>
                <p:cNvGrpSpPr/>
                <p:nvPr/>
              </p:nvGrpSpPr>
              <p:grpSpPr>
                <a:xfrm>
                  <a:off x="7488023" y="3444875"/>
                  <a:ext cx="947952" cy="260350"/>
                  <a:chOff x="8103973" y="3803650"/>
                  <a:chExt cx="947952" cy="260350"/>
                </a:xfrm>
              </p:grpSpPr>
              <p:cxnSp>
                <p:nvCxnSpPr>
                  <p:cNvPr id="392" name="Straight Connector 391">
                    <a:extLst>
                      <a:ext uri="{FF2B5EF4-FFF2-40B4-BE49-F238E27FC236}">
                        <a16:creationId xmlns:a16="http://schemas.microsoft.com/office/drawing/2014/main" xmlns="" id="{872F3490-7E4D-8444-A669-531B26BEEF04}"/>
                      </a:ext>
                    </a:extLst>
                  </p:cNvPr>
                  <p:cNvCxnSpPr>
                    <a:cxnSpLocks/>
                  </p:cNvCxnSpPr>
                  <p:nvPr/>
                </p:nvCxnSpPr>
                <p:spPr>
                  <a:xfrm>
                    <a:off x="8110664" y="3810000"/>
                    <a:ext cx="94126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xmlns="" id="{9174BCA4-2936-E040-BF15-8E2726830EA9}"/>
                      </a:ext>
                    </a:extLst>
                  </p:cNvPr>
                  <p:cNvCxnSpPr>
                    <a:cxnSpLocks/>
                  </p:cNvCxnSpPr>
                  <p:nvPr/>
                </p:nvCxnSpPr>
                <p:spPr>
                  <a:xfrm>
                    <a:off x="8103973" y="4060825"/>
                    <a:ext cx="9479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xmlns="" id="{F9385773-39F4-2545-BD87-40FD8C9F9C6F}"/>
                      </a:ext>
                    </a:extLst>
                  </p:cNvPr>
                  <p:cNvCxnSpPr/>
                  <p:nvPr/>
                </p:nvCxnSpPr>
                <p:spPr>
                  <a:xfrm>
                    <a:off x="9048750" y="3803650"/>
                    <a:ext cx="0" cy="2603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8" name="Oval 387">
                  <a:extLst>
                    <a:ext uri="{FF2B5EF4-FFF2-40B4-BE49-F238E27FC236}">
                      <a16:creationId xmlns:a16="http://schemas.microsoft.com/office/drawing/2014/main" xmlns="" id="{688F0B57-026F-5344-8D43-0487FF117BFF}"/>
                    </a:ext>
                  </a:extLst>
                </p:cNvPr>
                <p:cNvSpPr/>
                <p:nvPr/>
              </p:nvSpPr>
              <p:spPr>
                <a:xfrm>
                  <a:off x="7924800" y="3546475"/>
                  <a:ext cx="57150" cy="57150"/>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89" name="Oval 388">
                  <a:extLst>
                    <a:ext uri="{FF2B5EF4-FFF2-40B4-BE49-F238E27FC236}">
                      <a16:creationId xmlns:a16="http://schemas.microsoft.com/office/drawing/2014/main" xmlns="" id="{8E4A8AF8-2EE5-E84B-833D-8A787630D598}"/>
                    </a:ext>
                  </a:extLst>
                </p:cNvPr>
                <p:cNvSpPr/>
                <p:nvPr/>
              </p:nvSpPr>
              <p:spPr>
                <a:xfrm>
                  <a:off x="7842250" y="3546475"/>
                  <a:ext cx="57150" cy="5715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90" name="Oval 389">
                  <a:extLst>
                    <a:ext uri="{FF2B5EF4-FFF2-40B4-BE49-F238E27FC236}">
                      <a16:creationId xmlns:a16="http://schemas.microsoft.com/office/drawing/2014/main" xmlns="" id="{402477F2-C87F-B441-AD74-F56E96984F63}"/>
                    </a:ext>
                  </a:extLst>
                </p:cNvPr>
                <p:cNvSpPr/>
                <p:nvPr/>
              </p:nvSpPr>
              <p:spPr>
                <a:xfrm>
                  <a:off x="7759700" y="3546475"/>
                  <a:ext cx="57150" cy="571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91" name="Oval 390">
                  <a:extLst>
                    <a:ext uri="{FF2B5EF4-FFF2-40B4-BE49-F238E27FC236}">
                      <a16:creationId xmlns:a16="http://schemas.microsoft.com/office/drawing/2014/main" xmlns="" id="{F86B5FF7-41EE-5F45-8AAE-5330D16205CB}"/>
                    </a:ext>
                  </a:extLst>
                </p:cNvPr>
                <p:cNvSpPr/>
                <p:nvPr/>
              </p:nvSpPr>
              <p:spPr>
                <a:xfrm>
                  <a:off x="7677150" y="3546475"/>
                  <a:ext cx="57150" cy="5715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sp>
        <p:nvSpPr>
          <p:cNvPr id="259" name="Freeform 91">
            <a:extLst>
              <a:ext uri="{FF2B5EF4-FFF2-40B4-BE49-F238E27FC236}">
                <a16:creationId xmlns:a16="http://schemas.microsoft.com/office/drawing/2014/main" xmlns="" id="{DCEE1836-E089-0E43-AA83-3C4D23A24812}"/>
              </a:ext>
            </a:extLst>
          </p:cNvPr>
          <p:cNvSpPr>
            <a:spLocks/>
          </p:cNvSpPr>
          <p:nvPr/>
        </p:nvSpPr>
        <p:spPr bwMode="auto">
          <a:xfrm>
            <a:off x="4974029" y="1392405"/>
            <a:ext cx="2571750" cy="957263"/>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xmlns="" id="{07632497-C7A3-5D43-A16B-0B4F26B7ADF5}"/>
              </a:ext>
            </a:extLst>
          </p:cNvPr>
          <p:cNvGrpSpPr/>
          <p:nvPr/>
        </p:nvGrpSpPr>
        <p:grpSpPr>
          <a:xfrm>
            <a:off x="4231079" y="2013911"/>
            <a:ext cx="3000375" cy="771525"/>
            <a:chOff x="5641439" y="2685215"/>
            <a:chExt cx="4000500" cy="1028700"/>
          </a:xfrm>
        </p:grpSpPr>
        <p:sp>
          <p:nvSpPr>
            <p:cNvPr id="241" name="Oval 73">
              <a:extLst>
                <a:ext uri="{FF2B5EF4-FFF2-40B4-BE49-F238E27FC236}">
                  <a16:creationId xmlns:a16="http://schemas.microsoft.com/office/drawing/2014/main" xmlns="" id="{ED516131-17AE-C440-B198-2569A5BF225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58" name="Freeform 90">
              <a:extLst>
                <a:ext uri="{FF2B5EF4-FFF2-40B4-BE49-F238E27FC236}">
                  <a16:creationId xmlns:a16="http://schemas.microsoft.com/office/drawing/2014/main" xmlns="" id="{3B8EFAC6-AD78-9046-A67E-7BBA82E667EB}"/>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402" name="TextBox 401">
            <a:extLst>
              <a:ext uri="{FF2B5EF4-FFF2-40B4-BE49-F238E27FC236}">
                <a16:creationId xmlns:a16="http://schemas.microsoft.com/office/drawing/2014/main" xmlns="" id="{4CED69A2-36DA-634D-8A3B-DB1A142EB7BC}"/>
              </a:ext>
            </a:extLst>
          </p:cNvPr>
          <p:cNvSpPr txBox="1"/>
          <p:nvPr/>
        </p:nvSpPr>
        <p:spPr>
          <a:xfrm>
            <a:off x="5262242" y="2132762"/>
            <a:ext cx="309701" cy="36933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09" name="Rectangle 15">
            <a:extLst>
              <a:ext uri="{FF2B5EF4-FFF2-40B4-BE49-F238E27FC236}">
                <a16:creationId xmlns:a16="http://schemas.microsoft.com/office/drawing/2014/main" xmlns="" id="{6315C129-DEF5-A84E-932D-A6743A5F4252}"/>
              </a:ext>
            </a:extLst>
          </p:cNvPr>
          <p:cNvSpPr txBox="1">
            <a:spLocks noChangeArrowheads="1"/>
          </p:cNvSpPr>
          <p:nvPr/>
        </p:nvSpPr>
        <p:spPr bwMode="auto">
          <a:xfrm>
            <a:off x="577010" y="2306014"/>
            <a:ext cx="2844137" cy="315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167879" indent="-167879" defTabSz="685800">
              <a:buFont typeface="Wingdings" charset="2"/>
              <a:buChar char="§"/>
              <a:defRPr/>
            </a:pPr>
            <a:r>
              <a:rPr lang="en-US" sz="1800" dirty="0">
                <a:solidFill>
                  <a:srgbClr val="000000"/>
                </a:solidFill>
                <a:latin typeface="Calibri" panose="020F0502020204030204" pitchFamily="34" charset="0"/>
                <a:cs typeface="Calibri" panose="020F0502020204030204" pitchFamily="34" charset="0"/>
              </a:rPr>
              <a:t>no retransmissions needed</a:t>
            </a:r>
          </a:p>
          <a:p>
            <a:pPr marL="213122" indent="-213122" defTabSz="685800">
              <a:buFont typeface="Wingdings" charset="2"/>
              <a:buChar char="§"/>
              <a:defRPr/>
            </a:pPr>
            <a:endParaRPr lang="en-US" sz="2100" dirty="0">
              <a:solidFill>
                <a:srgbClr val="000000"/>
              </a:solidFill>
              <a:latin typeface="Gill Sans MT"/>
              <a:cs typeface="+mn-cs"/>
            </a:endParaRPr>
          </a:p>
        </p:txBody>
      </p:sp>
      <p:grpSp>
        <p:nvGrpSpPr>
          <p:cNvPr id="10" name="Group 9">
            <a:extLst>
              <a:ext uri="{FF2B5EF4-FFF2-40B4-BE49-F238E27FC236}">
                <a16:creationId xmlns:a16="http://schemas.microsoft.com/office/drawing/2014/main" xmlns="" id="{57176CA8-B553-A348-A420-DCCEB21C31F8}"/>
              </a:ext>
            </a:extLst>
          </p:cNvPr>
          <p:cNvGrpSpPr/>
          <p:nvPr/>
        </p:nvGrpSpPr>
        <p:grpSpPr>
          <a:xfrm>
            <a:off x="5950887" y="3244140"/>
            <a:ext cx="1350266" cy="1251852"/>
            <a:chOff x="7934516" y="4325522"/>
            <a:chExt cx="1800355" cy="1669137"/>
          </a:xfrm>
        </p:grpSpPr>
        <p:sp>
          <p:nvSpPr>
            <p:cNvPr id="273" name="Line 109">
              <a:extLst>
                <a:ext uri="{FF2B5EF4-FFF2-40B4-BE49-F238E27FC236}">
                  <a16:creationId xmlns:a16="http://schemas.microsoft.com/office/drawing/2014/main" xmlns="" id="{9583C00B-D534-084D-8157-1CCEC25D6E7C}"/>
                </a:ext>
              </a:extLst>
            </p:cNvPr>
            <p:cNvSpPr>
              <a:spLocks noChangeShapeType="1"/>
            </p:cNvSpPr>
            <p:nvPr/>
          </p:nvSpPr>
          <p:spPr bwMode="auto">
            <a:xfrm>
              <a:off x="8321896" y="4325522"/>
              <a:ext cx="0" cy="127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5" name="Line 111">
              <a:extLst>
                <a:ext uri="{FF2B5EF4-FFF2-40B4-BE49-F238E27FC236}">
                  <a16:creationId xmlns:a16="http://schemas.microsoft.com/office/drawing/2014/main" xmlns="" id="{09BE50B8-B938-304E-AA75-9BE0DD3D3F24}"/>
                </a:ext>
              </a:extLst>
            </p:cNvPr>
            <p:cNvSpPr>
              <a:spLocks noChangeShapeType="1"/>
            </p:cNvSpPr>
            <p:nvPr/>
          </p:nvSpPr>
          <p:spPr bwMode="auto">
            <a:xfrm>
              <a:off x="9455371" y="4465222"/>
              <a:ext cx="0" cy="110490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6" name="Freeform 112">
              <a:extLst>
                <a:ext uri="{FF2B5EF4-FFF2-40B4-BE49-F238E27FC236}">
                  <a16:creationId xmlns:a16="http://schemas.microsoft.com/office/drawing/2014/main" xmlns="" id="{B4F837A8-9013-9E4D-BE0A-50904AB16A4C}"/>
                </a:ext>
              </a:extLst>
            </p:cNvPr>
            <p:cNvSpPr>
              <a:spLocks/>
            </p:cNvSpPr>
            <p:nvPr/>
          </p:nvSpPr>
          <p:spPr bwMode="auto">
            <a:xfrm>
              <a:off x="8315546" y="4439822"/>
              <a:ext cx="1106488" cy="1152525"/>
            </a:xfrm>
            <a:custGeom>
              <a:avLst/>
              <a:gdLst>
                <a:gd name="T0" fmla="*/ 0 w 723"/>
                <a:gd name="T1" fmla="*/ 905 h 905"/>
                <a:gd name="T2" fmla="*/ 573 w 723"/>
                <a:gd name="T3" fmla="*/ 732 h 905"/>
                <a:gd name="T4" fmla="*/ 680 w 723"/>
                <a:gd name="T5" fmla="*/ 0 h 905"/>
                <a:gd name="T6" fmla="*/ 0 60000 65536"/>
                <a:gd name="T7" fmla="*/ 0 60000 65536"/>
                <a:gd name="T8" fmla="*/ 0 60000 65536"/>
                <a:gd name="connsiteX0" fmla="*/ 0 w 9642"/>
                <a:gd name="connsiteY0" fmla="*/ 8023 h 8023"/>
                <a:gd name="connsiteX1" fmla="*/ 7925 w 9642"/>
                <a:gd name="connsiteY1" fmla="*/ 6111 h 8023"/>
                <a:gd name="connsiteX2" fmla="*/ 9642 w 9642"/>
                <a:gd name="connsiteY2" fmla="*/ 0 h 8023"/>
                <a:gd name="connsiteX0" fmla="*/ 0 w 10000"/>
                <a:gd name="connsiteY0" fmla="*/ 10000 h 10000"/>
                <a:gd name="connsiteX1" fmla="*/ 8219 w 10000"/>
                <a:gd name="connsiteY1" fmla="*/ 7617 h 10000"/>
                <a:gd name="connsiteX2" fmla="*/ 10000 w 10000"/>
                <a:gd name="connsiteY2" fmla="*/ 0 h 10000"/>
                <a:gd name="connsiteX0" fmla="*/ 0 w 10000"/>
                <a:gd name="connsiteY0" fmla="*/ 10000 h 10000"/>
                <a:gd name="connsiteX1" fmla="*/ 8219 w 10000"/>
                <a:gd name="connsiteY1" fmla="*/ 7617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363" y="9601"/>
                    <a:pt x="6598" y="9697"/>
                    <a:pt x="8219" y="7617"/>
                  </a:cubicBezTo>
                  <a:cubicBezTo>
                    <a:pt x="9562" y="6715"/>
                    <a:pt x="9861" y="4761"/>
                    <a:pt x="10000" y="0"/>
                  </a:cubicBez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77" name="Line 114">
              <a:extLst>
                <a:ext uri="{FF2B5EF4-FFF2-40B4-BE49-F238E27FC236}">
                  <a16:creationId xmlns:a16="http://schemas.microsoft.com/office/drawing/2014/main" xmlns="" id="{9E0B5DA0-C463-1949-8C79-0C8EA78D1124}"/>
                </a:ext>
              </a:extLst>
            </p:cNvPr>
            <p:cNvSpPr>
              <a:spLocks noChangeShapeType="1"/>
            </p:cNvSpPr>
            <p:nvPr/>
          </p:nvSpPr>
          <p:spPr bwMode="auto">
            <a:xfrm>
              <a:off x="9452196" y="5601872"/>
              <a:ext cx="0" cy="920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8" name="Text Box 116">
              <a:extLst>
                <a:ext uri="{FF2B5EF4-FFF2-40B4-BE49-F238E27FC236}">
                  <a16:creationId xmlns:a16="http://schemas.microsoft.com/office/drawing/2014/main" xmlns="" id="{D507FAE5-0060-B54B-B86B-D3BB4178E53C}"/>
                </a:ext>
              </a:extLst>
            </p:cNvPr>
            <p:cNvSpPr txBox="1">
              <a:spLocks noChangeArrowheads="1"/>
            </p:cNvSpPr>
            <p:nvPr/>
          </p:nvSpPr>
          <p:spPr bwMode="auto">
            <a:xfrm>
              <a:off x="9210796" y="5636797"/>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dirty="0">
                  <a:solidFill>
                    <a:srgbClr val="000000"/>
                  </a:solidFill>
                  <a:cs typeface="+mn-cs"/>
                </a:rPr>
                <a:t>R/2</a:t>
              </a:r>
            </a:p>
          </p:txBody>
        </p:sp>
        <p:sp>
          <p:nvSpPr>
            <p:cNvPr id="279" name="Text Box 117">
              <a:extLst>
                <a:ext uri="{FF2B5EF4-FFF2-40B4-BE49-F238E27FC236}">
                  <a16:creationId xmlns:a16="http://schemas.microsoft.com/office/drawing/2014/main" xmlns="" id="{B15ADD83-E850-F247-A96D-15A9484CF635}"/>
                </a:ext>
              </a:extLst>
            </p:cNvPr>
            <p:cNvSpPr txBox="1">
              <a:spLocks noChangeArrowheads="1"/>
            </p:cNvSpPr>
            <p:nvPr/>
          </p:nvSpPr>
          <p:spPr bwMode="auto">
            <a:xfrm rot="16200000">
              <a:off x="7758185" y="4853337"/>
              <a:ext cx="752771" cy="400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dirty="0">
                  <a:solidFill>
                    <a:srgbClr val="000000"/>
                  </a:solidFill>
                  <a:latin typeface="Calibri" panose="020F0502020204030204"/>
                  <a:cs typeface="+mn-cs"/>
                </a:rPr>
                <a:t>delay</a:t>
              </a:r>
              <a:endParaRPr lang="en-US" sz="1350" baseline="-25000" dirty="0">
                <a:solidFill>
                  <a:srgbClr val="000000"/>
                </a:solidFill>
                <a:latin typeface="Calibri" panose="020F0502020204030204"/>
                <a:cs typeface="+mn-cs"/>
              </a:endParaRPr>
            </a:p>
          </p:txBody>
        </p:sp>
        <p:sp>
          <p:nvSpPr>
            <p:cNvPr id="280" name="Text Box 118">
              <a:extLst>
                <a:ext uri="{FF2B5EF4-FFF2-40B4-BE49-F238E27FC236}">
                  <a16:creationId xmlns:a16="http://schemas.microsoft.com/office/drawing/2014/main" xmlns="" id="{C47E14E2-29C5-9544-AE24-B08ECA631259}"/>
                </a:ext>
              </a:extLst>
            </p:cNvPr>
            <p:cNvSpPr txBox="1">
              <a:spLocks noChangeArrowheads="1"/>
            </p:cNvSpPr>
            <p:nvPr/>
          </p:nvSpPr>
          <p:spPr bwMode="auto">
            <a:xfrm>
              <a:off x="8686677" y="5563772"/>
              <a:ext cx="519800"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500" dirty="0">
                  <a:solidFill>
                    <a:srgbClr val="000000"/>
                  </a:solidFill>
                  <a:latin typeface="Symbol" charset="0"/>
                  <a:cs typeface="+mn-cs"/>
                </a:rPr>
                <a:t>l</a:t>
              </a:r>
              <a:r>
                <a:rPr lang="en-US" sz="1500" baseline="-25000" dirty="0">
                  <a:solidFill>
                    <a:srgbClr val="000000"/>
                  </a:solidFill>
                  <a:latin typeface="Arial" charset="0"/>
                  <a:cs typeface="+mn-cs"/>
                </a:rPr>
                <a:t>in</a:t>
              </a:r>
            </a:p>
          </p:txBody>
        </p:sp>
        <p:cxnSp>
          <p:nvCxnSpPr>
            <p:cNvPr id="190" name="Straight Connector 189">
              <a:extLst>
                <a:ext uri="{FF2B5EF4-FFF2-40B4-BE49-F238E27FC236}">
                  <a16:creationId xmlns:a16="http://schemas.microsoft.com/office/drawing/2014/main" xmlns="" id="{737FA933-6276-0141-AB98-5F328D89E5E6}"/>
                </a:ext>
              </a:extLst>
            </p:cNvPr>
            <p:cNvCxnSpPr/>
            <p:nvPr/>
          </p:nvCxnSpPr>
          <p:spPr>
            <a:xfrm>
              <a:off x="8312683" y="5594801"/>
              <a:ext cx="14158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xmlns="" id="{0351EA60-E695-1A49-877E-C777EE27A7EF}"/>
              </a:ext>
            </a:extLst>
          </p:cNvPr>
          <p:cNvSpPr/>
          <p:nvPr/>
        </p:nvSpPr>
        <p:spPr>
          <a:xfrm>
            <a:off x="3573380" y="830180"/>
            <a:ext cx="1443789" cy="519764"/>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04" name="Oval 203">
            <a:extLst>
              <a:ext uri="{FF2B5EF4-FFF2-40B4-BE49-F238E27FC236}">
                <a16:creationId xmlns:a16="http://schemas.microsoft.com/office/drawing/2014/main" xmlns="" id="{22D67963-A1D8-D745-B58E-B552013D436E}"/>
              </a:ext>
            </a:extLst>
          </p:cNvPr>
          <p:cNvSpPr/>
          <p:nvPr/>
        </p:nvSpPr>
        <p:spPr>
          <a:xfrm>
            <a:off x="6380347" y="886729"/>
            <a:ext cx="1443789" cy="519764"/>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nvGrpSpPr>
          <p:cNvPr id="15" name="Group 14">
            <a:extLst>
              <a:ext uri="{FF2B5EF4-FFF2-40B4-BE49-F238E27FC236}">
                <a16:creationId xmlns:a16="http://schemas.microsoft.com/office/drawing/2014/main" xmlns="" id="{A52504F3-DA24-6D4D-AC29-260B2D78E924}"/>
              </a:ext>
            </a:extLst>
          </p:cNvPr>
          <p:cNvGrpSpPr/>
          <p:nvPr/>
        </p:nvGrpSpPr>
        <p:grpSpPr>
          <a:xfrm>
            <a:off x="3458782" y="3192944"/>
            <a:ext cx="1774107" cy="1301859"/>
            <a:chOff x="4611708" y="4257261"/>
            <a:chExt cx="2365475" cy="1735812"/>
          </a:xfrm>
        </p:grpSpPr>
        <p:grpSp>
          <p:nvGrpSpPr>
            <p:cNvPr id="11" name="Group 10">
              <a:extLst>
                <a:ext uri="{FF2B5EF4-FFF2-40B4-BE49-F238E27FC236}">
                  <a16:creationId xmlns:a16="http://schemas.microsoft.com/office/drawing/2014/main" xmlns="" id="{BB9E55DD-22D3-2C4D-96EC-2DA426511E2A}"/>
                </a:ext>
              </a:extLst>
            </p:cNvPr>
            <p:cNvGrpSpPr/>
            <p:nvPr/>
          </p:nvGrpSpPr>
          <p:grpSpPr>
            <a:xfrm>
              <a:off x="4611708" y="4257261"/>
              <a:ext cx="2365475" cy="1735812"/>
              <a:chOff x="4611708" y="4257261"/>
              <a:chExt cx="2365475" cy="1735812"/>
            </a:xfrm>
          </p:grpSpPr>
          <p:sp>
            <p:nvSpPr>
              <p:cNvPr id="261" name="Line 94">
                <a:extLst>
                  <a:ext uri="{FF2B5EF4-FFF2-40B4-BE49-F238E27FC236}">
                    <a16:creationId xmlns:a16="http://schemas.microsoft.com/office/drawing/2014/main" xmlns="" id="{7A0C5916-D5E3-FB42-83B7-2D47DCB343CA}"/>
                  </a:ext>
                </a:extLst>
              </p:cNvPr>
              <p:cNvSpPr>
                <a:spLocks noChangeShapeType="1"/>
              </p:cNvSpPr>
              <p:nvPr/>
            </p:nvSpPr>
            <p:spPr bwMode="auto">
              <a:xfrm>
                <a:off x="5126158" y="4323936"/>
                <a:ext cx="0" cy="12763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3" name="Line 96">
                <a:extLst>
                  <a:ext uri="{FF2B5EF4-FFF2-40B4-BE49-F238E27FC236}">
                    <a16:creationId xmlns:a16="http://schemas.microsoft.com/office/drawing/2014/main" xmlns="" id="{5174839E-5D4A-B04A-89C3-586EBCDEFCE8}"/>
                  </a:ext>
                </a:extLst>
              </p:cNvPr>
              <p:cNvSpPr>
                <a:spLocks noChangeShapeType="1"/>
              </p:cNvSpPr>
              <p:nvPr/>
            </p:nvSpPr>
            <p:spPr bwMode="auto">
              <a:xfrm>
                <a:off x="6259633" y="4463636"/>
                <a:ext cx="0" cy="110490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4" name="Freeform 97">
                <a:extLst>
                  <a:ext uri="{FF2B5EF4-FFF2-40B4-BE49-F238E27FC236}">
                    <a16:creationId xmlns:a16="http://schemas.microsoft.com/office/drawing/2014/main" xmlns="" id="{EC237386-8658-A949-B8C2-D9BA07511FB4}"/>
                  </a:ext>
                </a:extLst>
              </p:cNvPr>
              <p:cNvSpPr>
                <a:spLocks/>
              </p:cNvSpPr>
              <p:nvPr/>
            </p:nvSpPr>
            <p:spPr bwMode="auto">
              <a:xfrm>
                <a:off x="5119808" y="4428711"/>
                <a:ext cx="1857375" cy="1162050"/>
              </a:xfrm>
              <a:custGeom>
                <a:avLst/>
                <a:gdLst>
                  <a:gd name="T0" fmla="*/ 0 w 1170"/>
                  <a:gd name="T1" fmla="*/ 732 h 732"/>
                  <a:gd name="T2" fmla="*/ 720 w 1170"/>
                  <a:gd name="T3" fmla="*/ 0 h 732"/>
                  <a:gd name="T4" fmla="*/ 1170 w 1170"/>
                  <a:gd name="T5" fmla="*/ 0 h 732"/>
                  <a:gd name="T6" fmla="*/ 0 60000 65536"/>
                  <a:gd name="T7" fmla="*/ 0 60000 65536"/>
                  <a:gd name="T8" fmla="*/ 0 60000 65536"/>
                </a:gdLst>
                <a:ahLst/>
                <a:cxnLst>
                  <a:cxn ang="T6">
                    <a:pos x="T0" y="T1"/>
                  </a:cxn>
                  <a:cxn ang="T7">
                    <a:pos x="T2" y="T3"/>
                  </a:cxn>
                  <a:cxn ang="T8">
                    <a:pos x="T4" y="T5"/>
                  </a:cxn>
                </a:cxnLst>
                <a:rect l="0" t="0" r="r" b="b"/>
                <a:pathLst>
                  <a:path w="1170" h="732">
                    <a:moveTo>
                      <a:pt x="0" y="732"/>
                    </a:moveTo>
                    <a:lnTo>
                      <a:pt x="720" y="0"/>
                    </a:lnTo>
                    <a:lnTo>
                      <a:pt x="1170"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65" name="Line 98">
                <a:extLst>
                  <a:ext uri="{FF2B5EF4-FFF2-40B4-BE49-F238E27FC236}">
                    <a16:creationId xmlns:a16="http://schemas.microsoft.com/office/drawing/2014/main" xmlns="" id="{72E41F27-B7FB-9D47-A225-27B5355D50CA}"/>
                  </a:ext>
                </a:extLst>
              </p:cNvPr>
              <p:cNvSpPr>
                <a:spLocks noChangeShapeType="1"/>
              </p:cNvSpPr>
              <p:nvPr/>
            </p:nvSpPr>
            <p:spPr bwMode="auto">
              <a:xfrm>
                <a:off x="5043608" y="4428711"/>
                <a:ext cx="79375"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6" name="Line 99">
                <a:extLst>
                  <a:ext uri="{FF2B5EF4-FFF2-40B4-BE49-F238E27FC236}">
                    <a16:creationId xmlns:a16="http://schemas.microsoft.com/office/drawing/2014/main" xmlns="" id="{AC723AF5-64D6-5040-9235-C2B65B36A5B2}"/>
                  </a:ext>
                </a:extLst>
              </p:cNvPr>
              <p:cNvSpPr>
                <a:spLocks noChangeShapeType="1"/>
              </p:cNvSpPr>
              <p:nvPr/>
            </p:nvSpPr>
            <p:spPr bwMode="auto">
              <a:xfrm>
                <a:off x="6256458" y="5600286"/>
                <a:ext cx="0" cy="92075"/>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7" name="Text Box 100">
                <a:extLst>
                  <a:ext uri="{FF2B5EF4-FFF2-40B4-BE49-F238E27FC236}">
                    <a16:creationId xmlns:a16="http://schemas.microsoft.com/office/drawing/2014/main" xmlns="" id="{B31E33C5-D8FD-9C45-A060-B1987EF562A1}"/>
                  </a:ext>
                </a:extLst>
              </p:cNvPr>
              <p:cNvSpPr txBox="1">
                <a:spLocks noChangeArrowheads="1"/>
              </p:cNvSpPr>
              <p:nvPr/>
            </p:nvSpPr>
            <p:spPr bwMode="auto">
              <a:xfrm>
                <a:off x="4611708" y="4257261"/>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dirty="0">
                    <a:solidFill>
                      <a:srgbClr val="000000"/>
                    </a:solidFill>
                    <a:cs typeface="+mn-cs"/>
                  </a:rPr>
                  <a:t>R/2</a:t>
                </a:r>
              </a:p>
            </p:txBody>
          </p:sp>
          <p:sp>
            <p:nvSpPr>
              <p:cNvPr id="268" name="Text Box 101">
                <a:extLst>
                  <a:ext uri="{FF2B5EF4-FFF2-40B4-BE49-F238E27FC236}">
                    <a16:creationId xmlns:a16="http://schemas.microsoft.com/office/drawing/2014/main" xmlns="" id="{F97C34ED-44A3-FE4E-8E35-B3DEC9ACCFFB}"/>
                  </a:ext>
                </a:extLst>
              </p:cNvPr>
              <p:cNvSpPr txBox="1">
                <a:spLocks noChangeArrowheads="1"/>
              </p:cNvSpPr>
              <p:nvPr/>
            </p:nvSpPr>
            <p:spPr bwMode="auto">
              <a:xfrm>
                <a:off x="6015058" y="5635211"/>
                <a:ext cx="524074"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dirty="0">
                    <a:solidFill>
                      <a:srgbClr val="000000"/>
                    </a:solidFill>
                    <a:cs typeface="+mn-cs"/>
                  </a:rPr>
                  <a:t>R/2</a:t>
                </a:r>
              </a:p>
            </p:txBody>
          </p:sp>
          <p:sp>
            <p:nvSpPr>
              <p:cNvPr id="269" name="Text Box 102">
                <a:extLst>
                  <a:ext uri="{FF2B5EF4-FFF2-40B4-BE49-F238E27FC236}">
                    <a16:creationId xmlns:a16="http://schemas.microsoft.com/office/drawing/2014/main" xmlns="" id="{E1DFCD88-D6E7-3549-94E6-D1A194DCF2F8}"/>
                  </a:ext>
                </a:extLst>
              </p:cNvPr>
              <p:cNvSpPr txBox="1">
                <a:spLocks noChangeArrowheads="1"/>
              </p:cNvSpPr>
              <p:nvPr/>
            </p:nvSpPr>
            <p:spPr bwMode="auto">
              <a:xfrm rot="16200000">
                <a:off x="4604620" y="4546812"/>
                <a:ext cx="622393" cy="430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500" dirty="0">
                    <a:solidFill>
                      <a:srgbClr val="000000"/>
                    </a:solidFill>
                    <a:latin typeface="Symbol" charset="0"/>
                    <a:cs typeface="+mn-cs"/>
                  </a:rPr>
                  <a:t>l</a:t>
                </a:r>
                <a:r>
                  <a:rPr lang="en-US" sz="1500" baseline="-25000" dirty="0">
                    <a:solidFill>
                      <a:srgbClr val="000000"/>
                    </a:solidFill>
                    <a:latin typeface="Arial" charset="0"/>
                    <a:cs typeface="+mn-cs"/>
                  </a:rPr>
                  <a:t>out</a:t>
                </a:r>
              </a:p>
            </p:txBody>
          </p:sp>
          <p:sp>
            <p:nvSpPr>
              <p:cNvPr id="270" name="Text Box 103">
                <a:extLst>
                  <a:ext uri="{FF2B5EF4-FFF2-40B4-BE49-F238E27FC236}">
                    <a16:creationId xmlns:a16="http://schemas.microsoft.com/office/drawing/2014/main" xmlns="" id="{18220D2D-CB70-5348-8CDA-AC8B2AE8FE8C}"/>
                  </a:ext>
                </a:extLst>
              </p:cNvPr>
              <p:cNvSpPr txBox="1">
                <a:spLocks noChangeArrowheads="1"/>
              </p:cNvSpPr>
              <p:nvPr/>
            </p:nvSpPr>
            <p:spPr bwMode="auto">
              <a:xfrm>
                <a:off x="5490941" y="5562186"/>
                <a:ext cx="519800"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500" dirty="0">
                    <a:solidFill>
                      <a:srgbClr val="000000"/>
                    </a:solidFill>
                    <a:latin typeface="Symbol" charset="0"/>
                    <a:cs typeface="+mn-cs"/>
                  </a:rPr>
                  <a:t>l</a:t>
                </a:r>
                <a:r>
                  <a:rPr lang="en-US" sz="1500" baseline="-25000" dirty="0">
                    <a:solidFill>
                      <a:srgbClr val="000000"/>
                    </a:solidFill>
                    <a:latin typeface="Arial" charset="0"/>
                    <a:cs typeface="+mn-cs"/>
                  </a:rPr>
                  <a:t>in</a:t>
                </a:r>
              </a:p>
            </p:txBody>
          </p:sp>
          <p:sp>
            <p:nvSpPr>
              <p:cNvPr id="271" name="Line 106">
                <a:extLst>
                  <a:ext uri="{FF2B5EF4-FFF2-40B4-BE49-F238E27FC236}">
                    <a16:creationId xmlns:a16="http://schemas.microsoft.com/office/drawing/2014/main" xmlns="" id="{319712D7-1AB2-9D4A-B08D-45AD00991EEA}"/>
                  </a:ext>
                </a:extLst>
              </p:cNvPr>
              <p:cNvSpPr>
                <a:spLocks noChangeShapeType="1"/>
              </p:cNvSpPr>
              <p:nvPr/>
            </p:nvSpPr>
            <p:spPr bwMode="auto">
              <a:xfrm>
                <a:off x="5145208" y="4430299"/>
                <a:ext cx="1039813" cy="0"/>
              </a:xfrm>
              <a:prstGeom prst="line">
                <a:avLst/>
              </a:prstGeom>
              <a:noFill/>
              <a:ln w="12700">
                <a:solidFill>
                  <a:srgbClr val="00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cxnSp>
            <p:nvCxnSpPr>
              <p:cNvPr id="7" name="Straight Connector 6">
                <a:extLst>
                  <a:ext uri="{FF2B5EF4-FFF2-40B4-BE49-F238E27FC236}">
                    <a16:creationId xmlns:a16="http://schemas.microsoft.com/office/drawing/2014/main" xmlns="" id="{0272A867-5F31-FC46-A882-A3E999CBA0F0}"/>
                  </a:ext>
                </a:extLst>
              </p:cNvPr>
              <p:cNvCxnSpPr/>
              <p:nvPr/>
            </p:nvCxnSpPr>
            <p:spPr>
              <a:xfrm>
                <a:off x="5119903" y="5598611"/>
                <a:ext cx="14158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8" name="TextBox 217">
              <a:extLst>
                <a:ext uri="{FF2B5EF4-FFF2-40B4-BE49-F238E27FC236}">
                  <a16:creationId xmlns:a16="http://schemas.microsoft.com/office/drawing/2014/main" xmlns="" id="{265B06FE-7752-8942-9D69-AFB2C165CC35}"/>
                </a:ext>
              </a:extLst>
            </p:cNvPr>
            <p:cNvSpPr txBox="1"/>
            <p:nvPr/>
          </p:nvSpPr>
          <p:spPr>
            <a:xfrm rot="16200000">
              <a:off x="4401789" y="5161044"/>
              <a:ext cx="1037036" cy="307776"/>
            </a:xfrm>
            <a:prstGeom prst="rect">
              <a:avLst/>
            </a:prstGeom>
            <a:noFill/>
          </p:spPr>
          <p:txBody>
            <a:bodyPr wrap="none" rtlCol="0">
              <a:spAutoFit/>
            </a:bodyPr>
            <a:lstStyle/>
            <a:p>
              <a:pPr algn="l" defTabSz="685800" rtl="0">
                <a:defRPr/>
              </a:pPr>
              <a:r>
                <a:rPr lang="en-US" sz="900" kern="1200" dirty="0">
                  <a:solidFill>
                    <a:prstClr val="black"/>
                  </a:solidFill>
                  <a:latin typeface="Calibri"/>
                  <a:ea typeface="+mn-ea"/>
                  <a:cs typeface="+mn-cs"/>
                </a:rPr>
                <a:t>throughput: </a:t>
              </a:r>
            </a:p>
          </p:txBody>
        </p:sp>
      </p:grpSp>
    </p:spTree>
    <p:extLst>
      <p:ext uri="{BB962C8B-B14F-4D97-AF65-F5344CB8AC3E}">
        <p14:creationId xmlns:p14="http://schemas.microsoft.com/office/powerpoint/2010/main" val="184174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02"/>
                                        </p:tgtEl>
                                        <p:attrNameLst>
                                          <p:attrName>style.visibility</p:attrName>
                                        </p:attrNameLst>
                                      </p:cBhvr>
                                      <p:to>
                                        <p:strVal val="visible"/>
                                      </p:to>
                                    </p:set>
                                    <p:animEffect transition="in" filter="dissolve">
                                      <p:cBhvr>
                                        <p:cTn id="13" dur="500"/>
                                        <p:tgtEl>
                                          <p:spTgt spid="40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89"/>
                                        </p:tgtEl>
                                        <p:attrNameLst>
                                          <p:attrName>style.visibility</p:attrName>
                                        </p:attrNameLst>
                                      </p:cBhvr>
                                      <p:to>
                                        <p:strVal val="visible"/>
                                      </p:to>
                                    </p:set>
                                    <p:animEffect transition="in" filter="dissolve">
                                      <p:cBhvr>
                                        <p:cTn id="16" dur="500"/>
                                        <p:tgtEl>
                                          <p:spTgt spid="18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88"/>
                                        </p:tgtEl>
                                        <p:attrNameLst>
                                          <p:attrName>style.visibility</p:attrName>
                                        </p:attrNameLst>
                                      </p:cBhvr>
                                      <p:to>
                                        <p:strVal val="visible"/>
                                      </p:to>
                                    </p:set>
                                    <p:animEffect transition="in" filter="dissolve">
                                      <p:cBhvr>
                                        <p:cTn id="21" dur="500"/>
                                        <p:tgtEl>
                                          <p:spTgt spid="18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59"/>
                                        </p:tgtEl>
                                        <p:attrNameLst>
                                          <p:attrName>style.visibility</p:attrName>
                                        </p:attrNameLst>
                                      </p:cBhvr>
                                      <p:to>
                                        <p:strVal val="visible"/>
                                      </p:to>
                                    </p:set>
                                    <p:animEffect transition="in" filter="wipe(left)">
                                      <p:cBhvr>
                                        <p:cTn id="26" dur="500"/>
                                        <p:tgtEl>
                                          <p:spTgt spid="259"/>
                                        </p:tgtEl>
                                      </p:cBhvr>
                                    </p:animEffect>
                                  </p:childTnLst>
                                </p:cTn>
                              </p:par>
                              <p:par>
                                <p:cTn id="27" presetID="9"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dissolve">
                                      <p:cBhvr>
                                        <p:cTn id="29" dur="500"/>
                                        <p:tgtEl>
                                          <p:spTgt spid="5"/>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dissolv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left)">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dissolv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xit" presetSubtype="0" fill="hold" grpId="1" nodeType="clickEffect">
                                  <p:stCondLst>
                                    <p:cond delay="0"/>
                                  </p:stCondLst>
                                  <p:childTnLst>
                                    <p:animEffect transition="out" filter="dissolve">
                                      <p:cBhvr>
                                        <p:cTn id="47" dur="500"/>
                                        <p:tgtEl>
                                          <p:spTgt spid="14"/>
                                        </p:tgtEl>
                                      </p:cBhvr>
                                    </p:animEffect>
                                    <p:set>
                                      <p:cBhvr>
                                        <p:cTn id="48" dur="1" fill="hold">
                                          <p:stCondLst>
                                            <p:cond delay="499"/>
                                          </p:stCondLst>
                                        </p:cTn>
                                        <p:tgtEl>
                                          <p:spTgt spid="14"/>
                                        </p:tgtEl>
                                        <p:attrNameLst>
                                          <p:attrName>style.visibility</p:attrName>
                                        </p:attrNameLst>
                                      </p:cBhvr>
                                      <p:to>
                                        <p:strVal val="hidden"/>
                                      </p:to>
                                    </p:set>
                                  </p:childTnLst>
                                </p:cTn>
                              </p:par>
                              <p:par>
                                <p:cTn id="49" presetID="9" presetClass="entr" presetSubtype="0" fill="hold" grpId="0" nodeType="withEffect">
                                  <p:stCondLst>
                                    <p:cond delay="0"/>
                                  </p:stCondLst>
                                  <p:childTnLst>
                                    <p:set>
                                      <p:cBhvr>
                                        <p:cTn id="50" dur="1" fill="hold">
                                          <p:stCondLst>
                                            <p:cond delay="0"/>
                                          </p:stCondLst>
                                        </p:cTn>
                                        <p:tgtEl>
                                          <p:spTgt spid="204"/>
                                        </p:tgtEl>
                                        <p:attrNameLst>
                                          <p:attrName>style.visibility</p:attrName>
                                        </p:attrNameLst>
                                      </p:cBhvr>
                                      <p:to>
                                        <p:strVal val="visible"/>
                                      </p:to>
                                    </p:set>
                                    <p:animEffect transition="in" filter="dissolve">
                                      <p:cBhvr>
                                        <p:cTn id="51" dur="500"/>
                                        <p:tgtEl>
                                          <p:spTgt spid="204"/>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xit" presetSubtype="0" fill="hold" grpId="1" nodeType="clickEffect">
                                  <p:stCondLst>
                                    <p:cond delay="0"/>
                                  </p:stCondLst>
                                  <p:childTnLst>
                                    <p:animEffect transition="out" filter="dissolve">
                                      <p:cBhvr>
                                        <p:cTn id="55" dur="500"/>
                                        <p:tgtEl>
                                          <p:spTgt spid="204"/>
                                        </p:tgtEl>
                                      </p:cBhvr>
                                    </p:animEffect>
                                    <p:set>
                                      <p:cBhvr>
                                        <p:cTn id="56" dur="1" fill="hold">
                                          <p:stCondLst>
                                            <p:cond delay="499"/>
                                          </p:stCondLst>
                                        </p:cTn>
                                        <p:tgtEl>
                                          <p:spTgt spid="204"/>
                                        </p:tgtEl>
                                        <p:attrNameLst>
                                          <p:attrName>style.visibility</p:attrName>
                                        </p:attrNameLst>
                                      </p:cBhvr>
                                      <p:to>
                                        <p:strVal val="hidden"/>
                                      </p:to>
                                    </p:set>
                                  </p:childTnLst>
                                </p:cTn>
                              </p:par>
                              <p:par>
                                <p:cTn id="57" presetID="9" presetClass="entr" presetSubtype="0" fill="hold" grpId="0" nodeType="withEffect">
                                  <p:stCondLst>
                                    <p:cond delay="0"/>
                                  </p:stCondLst>
                                  <p:childTnLst>
                                    <p:set>
                                      <p:cBhvr>
                                        <p:cTn id="58" dur="1" fill="hold">
                                          <p:stCondLst>
                                            <p:cond delay="0"/>
                                          </p:stCondLst>
                                        </p:cTn>
                                        <p:tgtEl>
                                          <p:spTgt spid="409"/>
                                        </p:tgtEl>
                                        <p:attrNameLst>
                                          <p:attrName>style.visibility</p:attrName>
                                        </p:attrNameLst>
                                      </p:cBhvr>
                                      <p:to>
                                        <p:strVal val="visible"/>
                                      </p:to>
                                    </p:set>
                                    <p:animEffect transition="in" filter="dissolve">
                                      <p:cBhvr>
                                        <p:cTn id="59" dur="500"/>
                                        <p:tgtEl>
                                          <p:spTgt spid="409"/>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dissolve">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dissolve">
                                      <p:cBhvr>
                                        <p:cTn id="69" dur="500"/>
                                        <p:tgtEl>
                                          <p:spTgt spid="15"/>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187"/>
                                        </p:tgtEl>
                                        <p:attrNameLst>
                                          <p:attrName>style.visibility</p:attrName>
                                        </p:attrNameLst>
                                      </p:cBhvr>
                                      <p:to>
                                        <p:strVal val="visible"/>
                                      </p:to>
                                    </p:set>
                                    <p:animEffect transition="in" filter="dissolve">
                                      <p:cBhvr>
                                        <p:cTn id="72" dur="500"/>
                                        <p:tgtEl>
                                          <p:spTgt spid="187"/>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dissolve">
                                      <p:cBhvr>
                                        <p:cTn id="77" dur="500"/>
                                        <p:tgtEl>
                                          <p:spTgt spid="10"/>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281"/>
                                        </p:tgtEl>
                                        <p:attrNameLst>
                                          <p:attrName>style.visibility</p:attrName>
                                        </p:attrNameLst>
                                      </p:cBhvr>
                                      <p:to>
                                        <p:strVal val="visible"/>
                                      </p:to>
                                    </p:set>
                                    <p:animEffect transition="in" filter="dissolve">
                                      <p:cBhvr>
                                        <p:cTn id="80"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p:bldP spid="281" grpId="0"/>
      <p:bldP spid="4" grpId="0"/>
      <p:bldP spid="8" grpId="0"/>
      <p:bldP spid="188" grpId="0"/>
      <p:bldP spid="189" grpId="0"/>
      <p:bldP spid="259" grpId="0" animBg="1"/>
      <p:bldP spid="402" grpId="0"/>
      <p:bldP spid="409" grpId="0"/>
      <p:bldP spid="14" grpId="0" animBg="1"/>
      <p:bldP spid="14" grpId="1" animBg="1"/>
      <p:bldP spid="204" grpId="0" animBg="1"/>
      <p:bldP spid="20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Freeform 3">
            <a:extLst>
              <a:ext uri="{FF2B5EF4-FFF2-40B4-BE49-F238E27FC236}">
                <a16:creationId xmlns:a16="http://schemas.microsoft.com/office/drawing/2014/main" xmlns="" id="{80D23465-6886-5547-A6E1-507D7810B0F6}"/>
              </a:ext>
            </a:extLst>
          </p:cNvPr>
          <p:cNvSpPr>
            <a:spLocks/>
          </p:cNvSpPr>
          <p:nvPr/>
        </p:nvSpPr>
        <p:spPr bwMode="auto">
          <a:xfrm>
            <a:off x="5210233" y="3757361"/>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64" name="Group 463">
            <a:extLst>
              <a:ext uri="{FF2B5EF4-FFF2-40B4-BE49-F238E27FC236}">
                <a16:creationId xmlns:a16="http://schemas.microsoft.com/office/drawing/2014/main" xmlns="" id="{ED623061-0BAD-094E-BE78-B8341568F372}"/>
              </a:ext>
            </a:extLst>
          </p:cNvPr>
          <p:cNvGrpSpPr/>
          <p:nvPr/>
        </p:nvGrpSpPr>
        <p:grpSpPr>
          <a:xfrm>
            <a:off x="4680385" y="3762449"/>
            <a:ext cx="540549" cy="887198"/>
            <a:chOff x="10910965" y="2513124"/>
            <a:chExt cx="586768" cy="904023"/>
          </a:xfrm>
        </p:grpSpPr>
        <p:sp>
          <p:nvSpPr>
            <p:cNvPr id="465" name="Rectangle 464">
              <a:extLst>
                <a:ext uri="{FF2B5EF4-FFF2-40B4-BE49-F238E27FC236}">
                  <a16:creationId xmlns:a16="http://schemas.microsoft.com/office/drawing/2014/main" xmlns="" id="{FF2C2633-7018-BA41-AB83-B819BB9A45E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66" name="Straight Connector 465">
              <a:extLst>
                <a:ext uri="{FF2B5EF4-FFF2-40B4-BE49-F238E27FC236}">
                  <a16:creationId xmlns:a16="http://schemas.microsoft.com/office/drawing/2014/main" xmlns="" id="{302760D7-48DE-8A4B-ACF3-A7CD0B9C6468}"/>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xmlns="" id="{CB159F5A-C0DA-EB4C-A34A-F001D131F1EA}"/>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xmlns="" id="{AD2F7871-F8B6-2849-8DE5-284CB68B59A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xmlns="" id="{8AE2A84E-B822-F046-878E-584B56EF1E30}"/>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35345"/>
            <a:ext cx="8545512" cy="669925"/>
          </a:xfrm>
        </p:spPr>
        <p:txBody>
          <a:bodyPr>
            <a:normAutofit/>
          </a:bodyPr>
          <a:lstStyle/>
          <a:p>
            <a:r>
              <a:rPr lang="en-US" sz="4000" b="1" dirty="0"/>
              <a:t>Causes/costs of congestion: scenario 2</a:t>
            </a:r>
          </a:p>
        </p:txBody>
      </p:sp>
      <p:sp>
        <p:nvSpPr>
          <p:cNvPr id="909" name="Rectangle 2">
            <a:extLst>
              <a:ext uri="{FF2B5EF4-FFF2-40B4-BE49-F238E27FC236}">
                <a16:creationId xmlns:a16="http://schemas.microsoft.com/office/drawing/2014/main" xmlns="" id="{D810901F-4456-034F-A011-28193A3B4968}"/>
              </a:ext>
            </a:extLst>
          </p:cNvPr>
          <p:cNvSpPr txBox="1">
            <a:spLocks noChangeArrowheads="1"/>
          </p:cNvSpPr>
          <p:nvPr/>
        </p:nvSpPr>
        <p:spPr>
          <a:xfrm>
            <a:off x="476224" y="971550"/>
            <a:ext cx="7283123" cy="37697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one router, </a:t>
            </a:r>
            <a:r>
              <a:rPr lang="en-US" sz="2100" i="1" dirty="0">
                <a:solidFill>
                  <a:srgbClr val="000099"/>
                </a:solidFill>
                <a:latin typeface="Calibri" panose="020F0502020204030204"/>
              </a:rPr>
              <a:t>finite</a:t>
            </a:r>
            <a:r>
              <a:rPr lang="en-US" sz="2100" dirty="0">
                <a:solidFill>
                  <a:prstClr val="black"/>
                </a:solidFill>
                <a:latin typeface="Calibri" panose="020F0502020204030204"/>
              </a:rPr>
              <a:t> buffers </a:t>
            </a:r>
          </a:p>
          <a:p>
            <a:pPr marL="264319" indent="-166688" defTabSz="685800">
              <a:spcBef>
                <a:spcPts val="750"/>
              </a:spcBef>
              <a:buFont typeface="Wingdings" charset="2"/>
              <a:buChar char="§"/>
              <a:defRPr/>
            </a:pPr>
            <a:endParaRPr lang="en-US" sz="18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p:txBody>
      </p:sp>
      <p:sp>
        <p:nvSpPr>
          <p:cNvPr id="152" name="Freeform 9">
            <a:extLst>
              <a:ext uri="{FF2B5EF4-FFF2-40B4-BE49-F238E27FC236}">
                <a16:creationId xmlns:a16="http://schemas.microsoft.com/office/drawing/2014/main" xmlns="" id="{31041B91-E0FC-7E47-86EF-C839592CEEF9}"/>
              </a:ext>
            </a:extLst>
          </p:cNvPr>
          <p:cNvSpPr>
            <a:spLocks/>
          </p:cNvSpPr>
          <p:nvPr/>
        </p:nvSpPr>
        <p:spPr bwMode="auto">
          <a:xfrm flipH="1">
            <a:off x="1383541" y="2636729"/>
            <a:ext cx="396261" cy="88370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53" name="Group 152">
            <a:extLst>
              <a:ext uri="{FF2B5EF4-FFF2-40B4-BE49-F238E27FC236}">
                <a16:creationId xmlns:a16="http://schemas.microsoft.com/office/drawing/2014/main" xmlns="" id="{C664E13D-A71D-7A41-9ED2-950A4602199F}"/>
              </a:ext>
            </a:extLst>
          </p:cNvPr>
          <p:cNvGrpSpPr/>
          <p:nvPr/>
        </p:nvGrpSpPr>
        <p:grpSpPr>
          <a:xfrm>
            <a:off x="959009" y="3512773"/>
            <a:ext cx="540549" cy="887198"/>
            <a:chOff x="10910965" y="2513124"/>
            <a:chExt cx="586768" cy="904023"/>
          </a:xfrm>
        </p:grpSpPr>
        <p:sp>
          <p:nvSpPr>
            <p:cNvPr id="292" name="Rectangle 291">
              <a:extLst>
                <a:ext uri="{FF2B5EF4-FFF2-40B4-BE49-F238E27FC236}">
                  <a16:creationId xmlns:a16="http://schemas.microsoft.com/office/drawing/2014/main" xmlns="" id="{E609789D-FAF9-5746-8CD2-A008EE6CECB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93" name="Straight Connector 292">
              <a:extLst>
                <a:ext uri="{FF2B5EF4-FFF2-40B4-BE49-F238E27FC236}">
                  <a16:creationId xmlns:a16="http://schemas.microsoft.com/office/drawing/2014/main" xmlns="" id="{6D5231DA-8104-CB44-92A0-570084A4B42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xmlns="" id="{76E0EC21-BE7F-C342-9CAD-4288FEF4BFA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xmlns="" id="{DF9FAFCD-7CC5-104B-8E70-9A9A226394DD}"/>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xmlns="" id="{C0759462-583F-5148-89B2-CAC38E98E11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4" name="Group 153">
            <a:extLst>
              <a:ext uri="{FF2B5EF4-FFF2-40B4-BE49-F238E27FC236}">
                <a16:creationId xmlns:a16="http://schemas.microsoft.com/office/drawing/2014/main" xmlns="" id="{818064D3-1463-5B40-A9E3-050E65014C75}"/>
              </a:ext>
            </a:extLst>
          </p:cNvPr>
          <p:cNvGrpSpPr/>
          <p:nvPr/>
        </p:nvGrpSpPr>
        <p:grpSpPr>
          <a:xfrm>
            <a:off x="1766283" y="2640818"/>
            <a:ext cx="540549" cy="887198"/>
            <a:chOff x="10910965" y="2513124"/>
            <a:chExt cx="586768" cy="904023"/>
          </a:xfrm>
        </p:grpSpPr>
        <p:sp>
          <p:nvSpPr>
            <p:cNvPr id="287" name="Rectangle 286">
              <a:extLst>
                <a:ext uri="{FF2B5EF4-FFF2-40B4-BE49-F238E27FC236}">
                  <a16:creationId xmlns:a16="http://schemas.microsoft.com/office/drawing/2014/main" xmlns="" id="{8D19C0FC-E2FD-B34E-B3FB-BDFF7FD70A3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88" name="Straight Connector 287">
              <a:extLst>
                <a:ext uri="{FF2B5EF4-FFF2-40B4-BE49-F238E27FC236}">
                  <a16:creationId xmlns:a16="http://schemas.microsoft.com/office/drawing/2014/main" xmlns="" id="{FB7598A7-2ED2-704C-A197-75E68BC404D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xmlns="" id="{8240FCF7-9EBB-7C41-8D3A-965DA0A9761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xmlns="" id="{0F40B610-359C-5A46-86F3-309280845EC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xmlns="" id="{49FA9EB9-49D7-3F4E-9667-CD5C42ECC862}"/>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5" name="Freeform 6">
            <a:extLst>
              <a:ext uri="{FF2B5EF4-FFF2-40B4-BE49-F238E27FC236}">
                <a16:creationId xmlns:a16="http://schemas.microsoft.com/office/drawing/2014/main" xmlns="" id="{4DB18098-9AC8-F84F-9EFC-E14F468703DC}"/>
              </a:ext>
            </a:extLst>
          </p:cNvPr>
          <p:cNvSpPr>
            <a:spLocks/>
          </p:cNvSpPr>
          <p:nvPr/>
        </p:nvSpPr>
        <p:spPr bwMode="auto">
          <a:xfrm>
            <a:off x="5556835" y="2774602"/>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56" name="Group 155">
            <a:extLst>
              <a:ext uri="{FF2B5EF4-FFF2-40B4-BE49-F238E27FC236}">
                <a16:creationId xmlns:a16="http://schemas.microsoft.com/office/drawing/2014/main" xmlns="" id="{9E49415B-7EB6-4743-B880-41FB066DB4B9}"/>
              </a:ext>
            </a:extLst>
          </p:cNvPr>
          <p:cNvGrpSpPr/>
          <p:nvPr/>
        </p:nvGrpSpPr>
        <p:grpSpPr>
          <a:xfrm>
            <a:off x="5024189" y="2750917"/>
            <a:ext cx="540549" cy="887198"/>
            <a:chOff x="10910965" y="2513124"/>
            <a:chExt cx="586768" cy="904023"/>
          </a:xfrm>
        </p:grpSpPr>
        <p:sp>
          <p:nvSpPr>
            <p:cNvPr id="282" name="Rectangle 281">
              <a:extLst>
                <a:ext uri="{FF2B5EF4-FFF2-40B4-BE49-F238E27FC236}">
                  <a16:creationId xmlns:a16="http://schemas.microsoft.com/office/drawing/2014/main" xmlns="" id="{0448B2D2-1A62-5C43-9150-A99468BAB68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83" name="Straight Connector 282">
              <a:extLst>
                <a:ext uri="{FF2B5EF4-FFF2-40B4-BE49-F238E27FC236}">
                  <a16:creationId xmlns:a16="http://schemas.microsoft.com/office/drawing/2014/main" xmlns="" id="{940DD19D-B2AD-964D-83A9-82488AF7E0ED}"/>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xmlns="" id="{1E98CF7C-ADBA-454F-9236-1C970C41D5B9}"/>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xmlns="" id="{5343C97A-736C-CB4E-A0C3-58EA9178C035}"/>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xmlns="" id="{95638F38-76DF-9646-AF7C-7B73311BC37D}"/>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xmlns="" id="{E455C231-4F77-2943-A4A7-79D8A6F887B7}"/>
              </a:ext>
            </a:extLst>
          </p:cNvPr>
          <p:cNvGrpSpPr/>
          <p:nvPr/>
        </p:nvGrpSpPr>
        <p:grpSpPr>
          <a:xfrm>
            <a:off x="2828023" y="3775234"/>
            <a:ext cx="965153" cy="551195"/>
            <a:chOff x="7493876" y="2774731"/>
            <a:chExt cx="1481958" cy="894622"/>
          </a:xfrm>
        </p:grpSpPr>
        <p:sp>
          <p:nvSpPr>
            <p:cNvPr id="275" name="Freeform 274">
              <a:extLst>
                <a:ext uri="{FF2B5EF4-FFF2-40B4-BE49-F238E27FC236}">
                  <a16:creationId xmlns:a16="http://schemas.microsoft.com/office/drawing/2014/main" xmlns="" id="{4D0698D9-69AC-074F-89C8-D8A88994A28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276" name="Oval 275">
              <a:extLst>
                <a:ext uri="{FF2B5EF4-FFF2-40B4-BE49-F238E27FC236}">
                  <a16:creationId xmlns:a16="http://schemas.microsoft.com/office/drawing/2014/main" xmlns="" id="{59DCF5EE-AB68-B240-BE5F-5203162A964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277" name="Group 276">
              <a:extLst>
                <a:ext uri="{FF2B5EF4-FFF2-40B4-BE49-F238E27FC236}">
                  <a16:creationId xmlns:a16="http://schemas.microsoft.com/office/drawing/2014/main" xmlns="" id="{170C8D46-5FC3-C145-B11A-7CB2D312B360}"/>
                </a:ext>
              </a:extLst>
            </p:cNvPr>
            <p:cNvGrpSpPr/>
            <p:nvPr/>
          </p:nvGrpSpPr>
          <p:grpSpPr>
            <a:xfrm>
              <a:off x="7713663" y="2848339"/>
              <a:ext cx="1042107" cy="425543"/>
              <a:chOff x="7786941" y="2884917"/>
              <a:chExt cx="897649" cy="353919"/>
            </a:xfrm>
          </p:grpSpPr>
          <p:sp>
            <p:nvSpPr>
              <p:cNvPr id="278" name="Freeform 277">
                <a:extLst>
                  <a:ext uri="{FF2B5EF4-FFF2-40B4-BE49-F238E27FC236}">
                    <a16:creationId xmlns:a16="http://schemas.microsoft.com/office/drawing/2014/main" xmlns="" id="{AF04230D-700C-C549-99E0-41EBB2B22DD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279" name="Freeform 278">
                <a:extLst>
                  <a:ext uri="{FF2B5EF4-FFF2-40B4-BE49-F238E27FC236}">
                    <a16:creationId xmlns:a16="http://schemas.microsoft.com/office/drawing/2014/main" xmlns="" id="{4D1E1E76-B8D0-7C4B-9A0D-667DF456C81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280" name="Freeform 279">
                <a:extLst>
                  <a:ext uri="{FF2B5EF4-FFF2-40B4-BE49-F238E27FC236}">
                    <a16:creationId xmlns:a16="http://schemas.microsoft.com/office/drawing/2014/main" xmlns="" id="{B9903FEA-8DB2-E54A-AD78-7A6E5A6847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281" name="Freeform 280">
                <a:extLst>
                  <a:ext uri="{FF2B5EF4-FFF2-40B4-BE49-F238E27FC236}">
                    <a16:creationId xmlns:a16="http://schemas.microsoft.com/office/drawing/2014/main" xmlns="" id="{B092F8C6-79B6-BC42-B991-7922CC9AB62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158" name="Group 124">
            <a:extLst>
              <a:ext uri="{FF2B5EF4-FFF2-40B4-BE49-F238E27FC236}">
                <a16:creationId xmlns:a16="http://schemas.microsoft.com/office/drawing/2014/main" xmlns="" id="{BC5A178C-850C-0546-B828-A97A5F9A9008}"/>
              </a:ext>
            </a:extLst>
          </p:cNvPr>
          <p:cNvGrpSpPr>
            <a:grpSpLocks/>
          </p:cNvGrpSpPr>
          <p:nvPr/>
        </p:nvGrpSpPr>
        <p:grpSpPr bwMode="auto">
          <a:xfrm>
            <a:off x="988066" y="2907840"/>
            <a:ext cx="484073" cy="426879"/>
            <a:chOff x="-44" y="1473"/>
            <a:chExt cx="981" cy="1105"/>
          </a:xfrm>
        </p:grpSpPr>
        <p:pic>
          <p:nvPicPr>
            <p:cNvPr id="273" name="Picture 125" descr="desktop_computer_stylized_medium">
              <a:extLst>
                <a:ext uri="{FF2B5EF4-FFF2-40B4-BE49-F238E27FC236}">
                  <a16:creationId xmlns:a16="http://schemas.microsoft.com/office/drawing/2014/main" xmlns="" id="{8B5BD8CE-2A84-E846-817A-1550E18BFB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 name="Freeform 126">
              <a:extLst>
                <a:ext uri="{FF2B5EF4-FFF2-40B4-BE49-F238E27FC236}">
                  <a16:creationId xmlns:a16="http://schemas.microsoft.com/office/drawing/2014/main" xmlns="" id="{56638146-3603-4B43-8C07-22A53DD29F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160" name="Freeform 12">
            <a:extLst>
              <a:ext uri="{FF2B5EF4-FFF2-40B4-BE49-F238E27FC236}">
                <a16:creationId xmlns:a16="http://schemas.microsoft.com/office/drawing/2014/main" xmlns="" id="{B265A6FF-6F16-644A-A3DA-369A224CF48A}"/>
              </a:ext>
            </a:extLst>
          </p:cNvPr>
          <p:cNvSpPr>
            <a:spLocks/>
          </p:cNvSpPr>
          <p:nvPr/>
        </p:nvSpPr>
        <p:spPr bwMode="auto">
          <a:xfrm flipH="1">
            <a:off x="733658" y="3511205"/>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61" name="Line 33">
            <a:extLst>
              <a:ext uri="{FF2B5EF4-FFF2-40B4-BE49-F238E27FC236}">
                <a16:creationId xmlns:a16="http://schemas.microsoft.com/office/drawing/2014/main" xmlns="" id="{C878E23C-4C42-2D44-B41A-E547E44A04AD}"/>
              </a:ext>
            </a:extLst>
          </p:cNvPr>
          <p:cNvSpPr>
            <a:spLocks noChangeShapeType="1"/>
          </p:cNvSpPr>
          <p:nvPr/>
        </p:nvSpPr>
        <p:spPr bwMode="auto">
          <a:xfrm flipH="1">
            <a:off x="1804175"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62" name="Text Box 42">
            <a:extLst>
              <a:ext uri="{FF2B5EF4-FFF2-40B4-BE49-F238E27FC236}">
                <a16:creationId xmlns:a16="http://schemas.microsoft.com/office/drawing/2014/main" xmlns="" id="{DFAA6AE2-F5C0-4846-83FF-51CD9D3430CA}"/>
              </a:ext>
            </a:extLst>
          </p:cNvPr>
          <p:cNvSpPr txBox="1">
            <a:spLocks noChangeArrowheads="1"/>
          </p:cNvSpPr>
          <p:nvPr/>
        </p:nvSpPr>
        <p:spPr bwMode="auto">
          <a:xfrm>
            <a:off x="816463" y="2647363"/>
            <a:ext cx="841877"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163" name="Text Box 52">
            <a:extLst>
              <a:ext uri="{FF2B5EF4-FFF2-40B4-BE49-F238E27FC236}">
                <a16:creationId xmlns:a16="http://schemas.microsoft.com/office/drawing/2014/main" xmlns="" id="{697CE3BC-08E3-0743-B33B-A06D8A9715A3}"/>
              </a:ext>
            </a:extLst>
          </p:cNvPr>
          <p:cNvSpPr txBox="1">
            <a:spLocks noChangeArrowheads="1"/>
          </p:cNvSpPr>
          <p:nvPr/>
        </p:nvSpPr>
        <p:spPr bwMode="auto">
          <a:xfrm>
            <a:off x="812577" y="4540117"/>
            <a:ext cx="736183"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164" name="Line 53">
            <a:extLst>
              <a:ext uri="{FF2B5EF4-FFF2-40B4-BE49-F238E27FC236}">
                <a16:creationId xmlns:a16="http://schemas.microsoft.com/office/drawing/2014/main" xmlns="" id="{66A4B303-46B3-9E4D-A4D5-76E145975885}"/>
              </a:ext>
            </a:extLst>
          </p:cNvPr>
          <p:cNvSpPr>
            <a:spLocks noChangeShapeType="1"/>
          </p:cNvSpPr>
          <p:nvPr/>
        </p:nvSpPr>
        <p:spPr bwMode="auto">
          <a:xfrm flipH="1">
            <a:off x="2251686"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65" name="Line 54">
            <a:extLst>
              <a:ext uri="{FF2B5EF4-FFF2-40B4-BE49-F238E27FC236}">
                <a16:creationId xmlns:a16="http://schemas.microsoft.com/office/drawing/2014/main" xmlns="" id="{17F5C019-D2C3-9C47-8837-56EB26DFF684}"/>
              </a:ext>
            </a:extLst>
          </p:cNvPr>
          <p:cNvSpPr>
            <a:spLocks noChangeShapeType="1"/>
          </p:cNvSpPr>
          <p:nvPr/>
        </p:nvSpPr>
        <p:spPr bwMode="auto">
          <a:xfrm flipH="1">
            <a:off x="3743391"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66" name="Line 55">
            <a:extLst>
              <a:ext uri="{FF2B5EF4-FFF2-40B4-BE49-F238E27FC236}">
                <a16:creationId xmlns:a16="http://schemas.microsoft.com/office/drawing/2014/main" xmlns="" id="{5B033825-3CFA-7B48-B2A8-5386F733A453}"/>
              </a:ext>
            </a:extLst>
          </p:cNvPr>
          <p:cNvSpPr>
            <a:spLocks noChangeShapeType="1"/>
          </p:cNvSpPr>
          <p:nvPr/>
        </p:nvSpPr>
        <p:spPr bwMode="auto">
          <a:xfrm flipH="1">
            <a:off x="3857462"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67" name="Line 57">
            <a:extLst>
              <a:ext uri="{FF2B5EF4-FFF2-40B4-BE49-F238E27FC236}">
                <a16:creationId xmlns:a16="http://schemas.microsoft.com/office/drawing/2014/main" xmlns="" id="{6C1DD6E4-4DE9-0F41-BF04-1F6DF97D23BF}"/>
              </a:ext>
            </a:extLst>
          </p:cNvPr>
          <p:cNvSpPr>
            <a:spLocks noChangeShapeType="1"/>
          </p:cNvSpPr>
          <p:nvPr/>
        </p:nvSpPr>
        <p:spPr bwMode="auto">
          <a:xfrm flipH="1">
            <a:off x="4706741" y="3642217"/>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73" name="Group 127">
            <a:extLst>
              <a:ext uri="{FF2B5EF4-FFF2-40B4-BE49-F238E27FC236}">
                <a16:creationId xmlns:a16="http://schemas.microsoft.com/office/drawing/2014/main" xmlns="" id="{3808CE02-5C3D-C346-BEE9-B6E121BF954D}"/>
              </a:ext>
            </a:extLst>
          </p:cNvPr>
          <p:cNvGrpSpPr>
            <a:grpSpLocks/>
          </p:cNvGrpSpPr>
          <p:nvPr/>
        </p:nvGrpSpPr>
        <p:grpSpPr bwMode="auto">
          <a:xfrm>
            <a:off x="5648969" y="3355409"/>
            <a:ext cx="213518" cy="433111"/>
            <a:chOff x="4140" y="429"/>
            <a:chExt cx="1425" cy="2396"/>
          </a:xfrm>
        </p:grpSpPr>
        <p:sp>
          <p:nvSpPr>
            <p:cNvPr id="233" name="Freeform 128">
              <a:extLst>
                <a:ext uri="{FF2B5EF4-FFF2-40B4-BE49-F238E27FC236}">
                  <a16:creationId xmlns:a16="http://schemas.microsoft.com/office/drawing/2014/main" xmlns="" id="{811C558B-4215-704B-94D0-E1230464502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34" name="Rectangle 129">
              <a:extLst>
                <a:ext uri="{FF2B5EF4-FFF2-40B4-BE49-F238E27FC236}">
                  <a16:creationId xmlns:a16="http://schemas.microsoft.com/office/drawing/2014/main" xmlns="" id="{83BDE6F4-12C8-254F-99E6-1AC22AB23A6C}"/>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5" name="Freeform 130">
              <a:extLst>
                <a:ext uri="{FF2B5EF4-FFF2-40B4-BE49-F238E27FC236}">
                  <a16:creationId xmlns:a16="http://schemas.microsoft.com/office/drawing/2014/main" xmlns="" id="{505E1BFF-3C9F-B243-B5B0-75BB0D03FC8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36" name="Freeform 131">
              <a:extLst>
                <a:ext uri="{FF2B5EF4-FFF2-40B4-BE49-F238E27FC236}">
                  <a16:creationId xmlns:a16="http://schemas.microsoft.com/office/drawing/2014/main" xmlns="" id="{6FA76602-7304-F042-9F0F-79DB3F9AFF9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37" name="Rectangle 132">
              <a:extLst>
                <a:ext uri="{FF2B5EF4-FFF2-40B4-BE49-F238E27FC236}">
                  <a16:creationId xmlns:a16="http://schemas.microsoft.com/office/drawing/2014/main" xmlns="" id="{FA53C885-D9E0-A545-8445-B2721091BDB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38" name="Group 133">
              <a:extLst>
                <a:ext uri="{FF2B5EF4-FFF2-40B4-BE49-F238E27FC236}">
                  <a16:creationId xmlns:a16="http://schemas.microsoft.com/office/drawing/2014/main" xmlns="" id="{3A3B6CB5-41F2-664A-A843-912B5DB61A2B}"/>
                </a:ext>
              </a:extLst>
            </p:cNvPr>
            <p:cNvGrpSpPr>
              <a:grpSpLocks/>
            </p:cNvGrpSpPr>
            <p:nvPr/>
          </p:nvGrpSpPr>
          <p:grpSpPr bwMode="auto">
            <a:xfrm>
              <a:off x="4749" y="668"/>
              <a:ext cx="581" cy="145"/>
              <a:chOff x="614" y="2568"/>
              <a:chExt cx="725" cy="139"/>
            </a:xfrm>
          </p:grpSpPr>
          <p:sp>
            <p:nvSpPr>
              <p:cNvPr id="263" name="AutoShape 134">
                <a:extLst>
                  <a:ext uri="{FF2B5EF4-FFF2-40B4-BE49-F238E27FC236}">
                    <a16:creationId xmlns:a16="http://schemas.microsoft.com/office/drawing/2014/main" xmlns="" id="{BC9432EE-0011-9F4F-8687-4173A06D0FE0}"/>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4" name="AutoShape 135">
                <a:extLst>
                  <a:ext uri="{FF2B5EF4-FFF2-40B4-BE49-F238E27FC236}">
                    <a16:creationId xmlns:a16="http://schemas.microsoft.com/office/drawing/2014/main" xmlns="" id="{1850FFB1-810C-5D46-B468-F1377E8B8691}"/>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39" name="Rectangle 136">
              <a:extLst>
                <a:ext uri="{FF2B5EF4-FFF2-40B4-BE49-F238E27FC236}">
                  <a16:creationId xmlns:a16="http://schemas.microsoft.com/office/drawing/2014/main" xmlns="" id="{E6E1815D-B0B7-C249-B837-587E975BE7D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40" name="Group 137">
              <a:extLst>
                <a:ext uri="{FF2B5EF4-FFF2-40B4-BE49-F238E27FC236}">
                  <a16:creationId xmlns:a16="http://schemas.microsoft.com/office/drawing/2014/main" xmlns="" id="{7F97E068-6BF9-8149-811C-00184DED144A}"/>
                </a:ext>
              </a:extLst>
            </p:cNvPr>
            <p:cNvGrpSpPr>
              <a:grpSpLocks/>
            </p:cNvGrpSpPr>
            <p:nvPr/>
          </p:nvGrpSpPr>
          <p:grpSpPr bwMode="auto">
            <a:xfrm>
              <a:off x="4747" y="994"/>
              <a:ext cx="581" cy="134"/>
              <a:chOff x="614" y="2568"/>
              <a:chExt cx="725" cy="139"/>
            </a:xfrm>
          </p:grpSpPr>
          <p:sp>
            <p:nvSpPr>
              <p:cNvPr id="261" name="AutoShape 138">
                <a:extLst>
                  <a:ext uri="{FF2B5EF4-FFF2-40B4-BE49-F238E27FC236}">
                    <a16:creationId xmlns:a16="http://schemas.microsoft.com/office/drawing/2014/main" xmlns="" id="{6649A030-733E-DB43-A4BD-D41A8DDFDFB4}"/>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2" name="AutoShape 139">
                <a:extLst>
                  <a:ext uri="{FF2B5EF4-FFF2-40B4-BE49-F238E27FC236}">
                    <a16:creationId xmlns:a16="http://schemas.microsoft.com/office/drawing/2014/main" xmlns="" id="{9E214A48-F0EF-174A-A6D2-127D876264A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41" name="Rectangle 140">
              <a:extLst>
                <a:ext uri="{FF2B5EF4-FFF2-40B4-BE49-F238E27FC236}">
                  <a16:creationId xmlns:a16="http://schemas.microsoft.com/office/drawing/2014/main" xmlns="" id="{F4213574-ABC8-7F43-9C79-6E5C211657F9}"/>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2" name="Rectangle 141">
              <a:extLst>
                <a:ext uri="{FF2B5EF4-FFF2-40B4-BE49-F238E27FC236}">
                  <a16:creationId xmlns:a16="http://schemas.microsoft.com/office/drawing/2014/main" xmlns="" id="{6C7F02A7-1E6B-6744-BB83-50A5FD6692BB}"/>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43" name="Group 142">
              <a:extLst>
                <a:ext uri="{FF2B5EF4-FFF2-40B4-BE49-F238E27FC236}">
                  <a16:creationId xmlns:a16="http://schemas.microsoft.com/office/drawing/2014/main" xmlns="" id="{8F919684-30D5-B14A-AB97-B5DFBEF5302D}"/>
                </a:ext>
              </a:extLst>
            </p:cNvPr>
            <p:cNvGrpSpPr>
              <a:grpSpLocks/>
            </p:cNvGrpSpPr>
            <p:nvPr/>
          </p:nvGrpSpPr>
          <p:grpSpPr bwMode="auto">
            <a:xfrm>
              <a:off x="4735" y="1627"/>
              <a:ext cx="582" cy="151"/>
              <a:chOff x="614" y="2568"/>
              <a:chExt cx="725" cy="139"/>
            </a:xfrm>
          </p:grpSpPr>
          <p:sp>
            <p:nvSpPr>
              <p:cNvPr id="259" name="AutoShape 143">
                <a:extLst>
                  <a:ext uri="{FF2B5EF4-FFF2-40B4-BE49-F238E27FC236}">
                    <a16:creationId xmlns:a16="http://schemas.microsoft.com/office/drawing/2014/main" xmlns="" id="{96D6248B-EAAA-2A4D-A4BD-1009D13EBACD}"/>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0" name="AutoShape 144">
                <a:extLst>
                  <a:ext uri="{FF2B5EF4-FFF2-40B4-BE49-F238E27FC236}">
                    <a16:creationId xmlns:a16="http://schemas.microsoft.com/office/drawing/2014/main" xmlns="" id="{B63C93F6-376E-2F42-8185-8FD1271480A8}"/>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44" name="Freeform 145">
              <a:extLst>
                <a:ext uri="{FF2B5EF4-FFF2-40B4-BE49-F238E27FC236}">
                  <a16:creationId xmlns:a16="http://schemas.microsoft.com/office/drawing/2014/main" xmlns="" id="{B5A663D7-E6EE-734B-9792-F536336D04E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45" name="Group 146">
              <a:extLst>
                <a:ext uri="{FF2B5EF4-FFF2-40B4-BE49-F238E27FC236}">
                  <a16:creationId xmlns:a16="http://schemas.microsoft.com/office/drawing/2014/main" xmlns="" id="{C596A713-1C52-A34E-9381-F7F919A695BB}"/>
                </a:ext>
              </a:extLst>
            </p:cNvPr>
            <p:cNvGrpSpPr>
              <a:grpSpLocks/>
            </p:cNvGrpSpPr>
            <p:nvPr/>
          </p:nvGrpSpPr>
          <p:grpSpPr bwMode="auto">
            <a:xfrm>
              <a:off x="4739" y="1327"/>
              <a:ext cx="582" cy="139"/>
              <a:chOff x="614" y="2568"/>
              <a:chExt cx="725" cy="139"/>
            </a:xfrm>
          </p:grpSpPr>
          <p:sp>
            <p:nvSpPr>
              <p:cNvPr id="257" name="AutoShape 147">
                <a:extLst>
                  <a:ext uri="{FF2B5EF4-FFF2-40B4-BE49-F238E27FC236}">
                    <a16:creationId xmlns:a16="http://schemas.microsoft.com/office/drawing/2014/main" xmlns="" id="{A2AF9509-2E9C-F049-A69C-BC151ADB23C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8" name="AutoShape 148">
                <a:extLst>
                  <a:ext uri="{FF2B5EF4-FFF2-40B4-BE49-F238E27FC236}">
                    <a16:creationId xmlns:a16="http://schemas.microsoft.com/office/drawing/2014/main" xmlns="" id="{C59B2148-A3C8-0841-87D7-7B5FBFD9C24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46" name="Rectangle 149">
              <a:extLst>
                <a:ext uri="{FF2B5EF4-FFF2-40B4-BE49-F238E27FC236}">
                  <a16:creationId xmlns:a16="http://schemas.microsoft.com/office/drawing/2014/main" xmlns="" id="{B0F127BD-9A3A-EB41-A2E1-7CD4CC52498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7" name="Freeform 150">
              <a:extLst>
                <a:ext uri="{FF2B5EF4-FFF2-40B4-BE49-F238E27FC236}">
                  <a16:creationId xmlns:a16="http://schemas.microsoft.com/office/drawing/2014/main" xmlns="" id="{3BBBB4B7-56DB-1D43-A6D4-1D492AE15866}"/>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48" name="Freeform 151">
              <a:extLst>
                <a:ext uri="{FF2B5EF4-FFF2-40B4-BE49-F238E27FC236}">
                  <a16:creationId xmlns:a16="http://schemas.microsoft.com/office/drawing/2014/main" xmlns="" id="{591A95E8-6F86-8A42-A0C9-7487B89DA12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49" name="Oval 152">
              <a:extLst>
                <a:ext uri="{FF2B5EF4-FFF2-40B4-BE49-F238E27FC236}">
                  <a16:creationId xmlns:a16="http://schemas.microsoft.com/office/drawing/2014/main" xmlns="" id="{7C866B93-DCBC-7749-9A90-2E6DF2E7A4D7}"/>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0" name="Freeform 153">
              <a:extLst>
                <a:ext uri="{FF2B5EF4-FFF2-40B4-BE49-F238E27FC236}">
                  <a16:creationId xmlns:a16="http://schemas.microsoft.com/office/drawing/2014/main" xmlns="" id="{20096CEE-1D0A-DA4A-B4EA-CE851FB638CA}"/>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51" name="AutoShape 154">
              <a:extLst>
                <a:ext uri="{FF2B5EF4-FFF2-40B4-BE49-F238E27FC236}">
                  <a16:creationId xmlns:a16="http://schemas.microsoft.com/office/drawing/2014/main" xmlns="" id="{800A41D3-8C32-9540-A084-0538BB956EA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2" name="AutoShape 155">
              <a:extLst>
                <a:ext uri="{FF2B5EF4-FFF2-40B4-BE49-F238E27FC236}">
                  <a16:creationId xmlns:a16="http://schemas.microsoft.com/office/drawing/2014/main" xmlns="" id="{67F818BC-2518-4C4C-8597-C941419A4725}"/>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3" name="Oval 156">
              <a:extLst>
                <a:ext uri="{FF2B5EF4-FFF2-40B4-BE49-F238E27FC236}">
                  <a16:creationId xmlns:a16="http://schemas.microsoft.com/office/drawing/2014/main" xmlns="" id="{80D903FF-E73B-D84D-B215-D7FB2AA30BC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4" name="Oval 157">
              <a:extLst>
                <a:ext uri="{FF2B5EF4-FFF2-40B4-BE49-F238E27FC236}">
                  <a16:creationId xmlns:a16="http://schemas.microsoft.com/office/drawing/2014/main" xmlns="" id="{CB203238-7D82-C747-B805-A2FDFABD199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255" name="Oval 158">
              <a:extLst>
                <a:ext uri="{FF2B5EF4-FFF2-40B4-BE49-F238E27FC236}">
                  <a16:creationId xmlns:a16="http://schemas.microsoft.com/office/drawing/2014/main" xmlns="" id="{963F0D1E-6FE3-8E42-B74D-4F2947878C5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6" name="Rectangle 159">
              <a:extLst>
                <a:ext uri="{FF2B5EF4-FFF2-40B4-BE49-F238E27FC236}">
                  <a16:creationId xmlns:a16="http://schemas.microsoft.com/office/drawing/2014/main" xmlns="" id="{3C003407-E16A-4B46-B1EA-E94247F7467D}"/>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174" name="Group 160">
            <a:extLst>
              <a:ext uri="{FF2B5EF4-FFF2-40B4-BE49-F238E27FC236}">
                <a16:creationId xmlns:a16="http://schemas.microsoft.com/office/drawing/2014/main" xmlns="" id="{0F097A1A-2185-F148-8F82-34ABB517D6AE}"/>
              </a:ext>
            </a:extLst>
          </p:cNvPr>
          <p:cNvGrpSpPr>
            <a:grpSpLocks/>
          </p:cNvGrpSpPr>
          <p:nvPr/>
        </p:nvGrpSpPr>
        <p:grpSpPr bwMode="auto">
          <a:xfrm>
            <a:off x="438973" y="4241457"/>
            <a:ext cx="484073" cy="426879"/>
            <a:chOff x="-44" y="1473"/>
            <a:chExt cx="981" cy="1105"/>
          </a:xfrm>
        </p:grpSpPr>
        <p:pic>
          <p:nvPicPr>
            <p:cNvPr id="231" name="Picture 161" descr="desktop_computer_stylized_medium">
              <a:extLst>
                <a:ext uri="{FF2B5EF4-FFF2-40B4-BE49-F238E27FC236}">
                  <a16:creationId xmlns:a16="http://schemas.microsoft.com/office/drawing/2014/main" xmlns="" id="{739E1A58-F96D-1345-AEAE-EA59CB2F60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 name="Freeform 162">
              <a:extLst>
                <a:ext uri="{FF2B5EF4-FFF2-40B4-BE49-F238E27FC236}">
                  <a16:creationId xmlns:a16="http://schemas.microsoft.com/office/drawing/2014/main" xmlns="" id="{476098FC-333E-C14D-BD39-044AEB98AE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175" name="Group 163">
            <a:extLst>
              <a:ext uri="{FF2B5EF4-FFF2-40B4-BE49-F238E27FC236}">
                <a16:creationId xmlns:a16="http://schemas.microsoft.com/office/drawing/2014/main" xmlns="" id="{E2EFDB81-0D19-4A48-8538-D27C6B7F7D14}"/>
              </a:ext>
            </a:extLst>
          </p:cNvPr>
          <p:cNvGrpSpPr>
            <a:grpSpLocks/>
          </p:cNvGrpSpPr>
          <p:nvPr/>
        </p:nvGrpSpPr>
        <p:grpSpPr bwMode="auto">
          <a:xfrm>
            <a:off x="5356478" y="4302645"/>
            <a:ext cx="213518" cy="433111"/>
            <a:chOff x="4140" y="429"/>
            <a:chExt cx="1425" cy="2396"/>
          </a:xfrm>
        </p:grpSpPr>
        <p:sp>
          <p:nvSpPr>
            <p:cNvPr id="199" name="Freeform 164">
              <a:extLst>
                <a:ext uri="{FF2B5EF4-FFF2-40B4-BE49-F238E27FC236}">
                  <a16:creationId xmlns:a16="http://schemas.microsoft.com/office/drawing/2014/main" xmlns="" id="{BD6EFF4C-D844-414A-9756-E53717BA4951}"/>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00" name="Rectangle 165">
              <a:extLst>
                <a:ext uri="{FF2B5EF4-FFF2-40B4-BE49-F238E27FC236}">
                  <a16:creationId xmlns:a16="http://schemas.microsoft.com/office/drawing/2014/main" xmlns="" id="{7CB552E3-C1C5-F942-A2D3-56184702A5A0}"/>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01" name="Freeform 166">
              <a:extLst>
                <a:ext uri="{FF2B5EF4-FFF2-40B4-BE49-F238E27FC236}">
                  <a16:creationId xmlns:a16="http://schemas.microsoft.com/office/drawing/2014/main" xmlns="" id="{ADBEFE66-AA30-4B46-A1C5-46CBEA0C1B8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02" name="Freeform 167">
              <a:extLst>
                <a:ext uri="{FF2B5EF4-FFF2-40B4-BE49-F238E27FC236}">
                  <a16:creationId xmlns:a16="http://schemas.microsoft.com/office/drawing/2014/main" xmlns="" id="{02AE45A3-16A5-2145-B7BC-4400869B56C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03" name="Rectangle 168">
              <a:extLst>
                <a:ext uri="{FF2B5EF4-FFF2-40B4-BE49-F238E27FC236}">
                  <a16:creationId xmlns:a16="http://schemas.microsoft.com/office/drawing/2014/main" xmlns="" id="{8CFC0F08-B9F2-1B47-BFD4-FF5DCA080029}"/>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4" name="Group 169">
              <a:extLst>
                <a:ext uri="{FF2B5EF4-FFF2-40B4-BE49-F238E27FC236}">
                  <a16:creationId xmlns:a16="http://schemas.microsoft.com/office/drawing/2014/main" xmlns="" id="{13A37EEE-1891-1440-9CC9-602B2446BBA2}"/>
                </a:ext>
              </a:extLst>
            </p:cNvPr>
            <p:cNvGrpSpPr>
              <a:grpSpLocks/>
            </p:cNvGrpSpPr>
            <p:nvPr/>
          </p:nvGrpSpPr>
          <p:grpSpPr bwMode="auto">
            <a:xfrm>
              <a:off x="4749" y="668"/>
              <a:ext cx="581" cy="145"/>
              <a:chOff x="614" y="2568"/>
              <a:chExt cx="725" cy="139"/>
            </a:xfrm>
          </p:grpSpPr>
          <p:sp>
            <p:nvSpPr>
              <p:cNvPr id="229" name="AutoShape 170">
                <a:extLst>
                  <a:ext uri="{FF2B5EF4-FFF2-40B4-BE49-F238E27FC236}">
                    <a16:creationId xmlns:a16="http://schemas.microsoft.com/office/drawing/2014/main" xmlns="" id="{0DE9F83D-BA7B-AB43-9A9D-4DC6E78250E4}"/>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0" name="AutoShape 171">
                <a:extLst>
                  <a:ext uri="{FF2B5EF4-FFF2-40B4-BE49-F238E27FC236}">
                    <a16:creationId xmlns:a16="http://schemas.microsoft.com/office/drawing/2014/main" xmlns="" id="{A22C12A6-C6AF-F645-B954-ECC93E01FAD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05" name="Rectangle 172">
              <a:extLst>
                <a:ext uri="{FF2B5EF4-FFF2-40B4-BE49-F238E27FC236}">
                  <a16:creationId xmlns:a16="http://schemas.microsoft.com/office/drawing/2014/main" xmlns="" id="{E3DCF607-14CC-8F49-81D1-A0BB7C7DE346}"/>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6" name="Group 173">
              <a:extLst>
                <a:ext uri="{FF2B5EF4-FFF2-40B4-BE49-F238E27FC236}">
                  <a16:creationId xmlns:a16="http://schemas.microsoft.com/office/drawing/2014/main" xmlns="" id="{86D015C1-5E8B-3F4F-82D3-56E79D5E8284}"/>
                </a:ext>
              </a:extLst>
            </p:cNvPr>
            <p:cNvGrpSpPr>
              <a:grpSpLocks/>
            </p:cNvGrpSpPr>
            <p:nvPr/>
          </p:nvGrpSpPr>
          <p:grpSpPr bwMode="auto">
            <a:xfrm>
              <a:off x="4747" y="994"/>
              <a:ext cx="581" cy="134"/>
              <a:chOff x="614" y="2568"/>
              <a:chExt cx="725" cy="139"/>
            </a:xfrm>
          </p:grpSpPr>
          <p:sp>
            <p:nvSpPr>
              <p:cNvPr id="227" name="AutoShape 174">
                <a:extLst>
                  <a:ext uri="{FF2B5EF4-FFF2-40B4-BE49-F238E27FC236}">
                    <a16:creationId xmlns:a16="http://schemas.microsoft.com/office/drawing/2014/main" xmlns="" id="{48620533-E7B5-AD47-9B24-98B7CD27707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8" name="AutoShape 175">
                <a:extLst>
                  <a:ext uri="{FF2B5EF4-FFF2-40B4-BE49-F238E27FC236}">
                    <a16:creationId xmlns:a16="http://schemas.microsoft.com/office/drawing/2014/main" xmlns="" id="{E12148F0-F22A-FE46-8240-0D9581F97CFA}"/>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07" name="Rectangle 176">
              <a:extLst>
                <a:ext uri="{FF2B5EF4-FFF2-40B4-BE49-F238E27FC236}">
                  <a16:creationId xmlns:a16="http://schemas.microsoft.com/office/drawing/2014/main" xmlns="" id="{9AEDD470-9194-E749-BE81-8C84F3423921}"/>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08" name="Rectangle 177">
              <a:extLst>
                <a:ext uri="{FF2B5EF4-FFF2-40B4-BE49-F238E27FC236}">
                  <a16:creationId xmlns:a16="http://schemas.microsoft.com/office/drawing/2014/main" xmlns="" id="{92944065-57F3-474C-B7C9-8C3EF2246EB5}"/>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9" name="Group 178">
              <a:extLst>
                <a:ext uri="{FF2B5EF4-FFF2-40B4-BE49-F238E27FC236}">
                  <a16:creationId xmlns:a16="http://schemas.microsoft.com/office/drawing/2014/main" xmlns="" id="{F21A1F7B-AAFD-0B45-8D20-66719A131603}"/>
                </a:ext>
              </a:extLst>
            </p:cNvPr>
            <p:cNvGrpSpPr>
              <a:grpSpLocks/>
            </p:cNvGrpSpPr>
            <p:nvPr/>
          </p:nvGrpSpPr>
          <p:grpSpPr bwMode="auto">
            <a:xfrm>
              <a:off x="4735" y="1627"/>
              <a:ext cx="582" cy="151"/>
              <a:chOff x="614" y="2568"/>
              <a:chExt cx="725" cy="139"/>
            </a:xfrm>
          </p:grpSpPr>
          <p:sp>
            <p:nvSpPr>
              <p:cNvPr id="225" name="AutoShape 179">
                <a:extLst>
                  <a:ext uri="{FF2B5EF4-FFF2-40B4-BE49-F238E27FC236}">
                    <a16:creationId xmlns:a16="http://schemas.microsoft.com/office/drawing/2014/main" xmlns="" id="{C1DDC539-D8AE-0F41-B3C6-7BDF3D7B6C7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6" name="AutoShape 180">
                <a:extLst>
                  <a:ext uri="{FF2B5EF4-FFF2-40B4-BE49-F238E27FC236}">
                    <a16:creationId xmlns:a16="http://schemas.microsoft.com/office/drawing/2014/main" xmlns="" id="{7BE912F4-6A13-C146-872D-5E728DEDB991}"/>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10" name="Freeform 181">
              <a:extLst>
                <a:ext uri="{FF2B5EF4-FFF2-40B4-BE49-F238E27FC236}">
                  <a16:creationId xmlns:a16="http://schemas.microsoft.com/office/drawing/2014/main" xmlns="" id="{2D115A2E-4180-8D4D-9CD8-D6CDE2038C7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11" name="Group 182">
              <a:extLst>
                <a:ext uri="{FF2B5EF4-FFF2-40B4-BE49-F238E27FC236}">
                  <a16:creationId xmlns:a16="http://schemas.microsoft.com/office/drawing/2014/main" xmlns="" id="{60622201-2E59-994D-AB7D-72EE5A986908}"/>
                </a:ext>
              </a:extLst>
            </p:cNvPr>
            <p:cNvGrpSpPr>
              <a:grpSpLocks/>
            </p:cNvGrpSpPr>
            <p:nvPr/>
          </p:nvGrpSpPr>
          <p:grpSpPr bwMode="auto">
            <a:xfrm>
              <a:off x="4739" y="1327"/>
              <a:ext cx="582" cy="139"/>
              <a:chOff x="614" y="2568"/>
              <a:chExt cx="725" cy="139"/>
            </a:xfrm>
          </p:grpSpPr>
          <p:sp>
            <p:nvSpPr>
              <p:cNvPr id="223" name="AutoShape 183">
                <a:extLst>
                  <a:ext uri="{FF2B5EF4-FFF2-40B4-BE49-F238E27FC236}">
                    <a16:creationId xmlns:a16="http://schemas.microsoft.com/office/drawing/2014/main" xmlns="" id="{4C230A94-BC0D-F34B-A373-92423746E145}"/>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4" name="AutoShape 184">
                <a:extLst>
                  <a:ext uri="{FF2B5EF4-FFF2-40B4-BE49-F238E27FC236}">
                    <a16:creationId xmlns:a16="http://schemas.microsoft.com/office/drawing/2014/main" xmlns="" id="{790B5D31-2480-4F41-8E42-1AF6E8FAD50E}"/>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12" name="Rectangle 185">
              <a:extLst>
                <a:ext uri="{FF2B5EF4-FFF2-40B4-BE49-F238E27FC236}">
                  <a16:creationId xmlns:a16="http://schemas.microsoft.com/office/drawing/2014/main" xmlns="" id="{FDF61F85-9CD0-354B-947A-470245040D50}"/>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13" name="Freeform 186">
              <a:extLst>
                <a:ext uri="{FF2B5EF4-FFF2-40B4-BE49-F238E27FC236}">
                  <a16:creationId xmlns:a16="http://schemas.microsoft.com/office/drawing/2014/main" xmlns="" id="{611684CC-E72C-034A-A61A-6164A0BF856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14" name="Freeform 187">
              <a:extLst>
                <a:ext uri="{FF2B5EF4-FFF2-40B4-BE49-F238E27FC236}">
                  <a16:creationId xmlns:a16="http://schemas.microsoft.com/office/drawing/2014/main" xmlns="" id="{DBB964D6-CEE2-3241-BFDA-5DB20E1598D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15" name="Oval 188">
              <a:extLst>
                <a:ext uri="{FF2B5EF4-FFF2-40B4-BE49-F238E27FC236}">
                  <a16:creationId xmlns:a16="http://schemas.microsoft.com/office/drawing/2014/main" xmlns="" id="{27197FE3-A9C2-EE42-B3C2-C3A9CBF3D281}"/>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16" name="Freeform 189">
              <a:extLst>
                <a:ext uri="{FF2B5EF4-FFF2-40B4-BE49-F238E27FC236}">
                  <a16:creationId xmlns:a16="http://schemas.microsoft.com/office/drawing/2014/main" xmlns="" id="{F3ED62CF-FC3D-8949-A608-5B7BFE69DAA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17" name="AutoShape 190">
              <a:extLst>
                <a:ext uri="{FF2B5EF4-FFF2-40B4-BE49-F238E27FC236}">
                  <a16:creationId xmlns:a16="http://schemas.microsoft.com/office/drawing/2014/main" xmlns="" id="{3091CE7F-A295-6F47-B397-614B62DF0BA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18" name="AutoShape 191">
              <a:extLst>
                <a:ext uri="{FF2B5EF4-FFF2-40B4-BE49-F238E27FC236}">
                  <a16:creationId xmlns:a16="http://schemas.microsoft.com/office/drawing/2014/main" xmlns="" id="{415A0F15-253E-F54D-B178-9525AED18470}"/>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19" name="Oval 192">
              <a:extLst>
                <a:ext uri="{FF2B5EF4-FFF2-40B4-BE49-F238E27FC236}">
                  <a16:creationId xmlns:a16="http://schemas.microsoft.com/office/drawing/2014/main" xmlns="" id="{C2CD80B7-EEF4-014D-B5A6-EAE8E9D2D83E}"/>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0" name="Oval 193">
              <a:extLst>
                <a:ext uri="{FF2B5EF4-FFF2-40B4-BE49-F238E27FC236}">
                  <a16:creationId xmlns:a16="http://schemas.microsoft.com/office/drawing/2014/main" xmlns="" id="{36F54B23-051A-244E-98BA-0B1F8C402586}"/>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221" name="Oval 194">
              <a:extLst>
                <a:ext uri="{FF2B5EF4-FFF2-40B4-BE49-F238E27FC236}">
                  <a16:creationId xmlns:a16="http://schemas.microsoft.com/office/drawing/2014/main" xmlns="" id="{9B7CB66A-4AB2-C249-9259-D8943EEC6473}"/>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2" name="Rectangle 195">
              <a:extLst>
                <a:ext uri="{FF2B5EF4-FFF2-40B4-BE49-F238E27FC236}">
                  <a16:creationId xmlns:a16="http://schemas.microsoft.com/office/drawing/2014/main" xmlns="" id="{99EDA04F-76BC-A24E-994C-040F379BA75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178" name="Line 57">
            <a:extLst>
              <a:ext uri="{FF2B5EF4-FFF2-40B4-BE49-F238E27FC236}">
                <a16:creationId xmlns:a16="http://schemas.microsoft.com/office/drawing/2014/main" xmlns="" id="{57E79EDF-A69C-7748-A8F5-A8D11C416955}"/>
              </a:ext>
            </a:extLst>
          </p:cNvPr>
          <p:cNvSpPr>
            <a:spLocks noChangeShapeType="1"/>
          </p:cNvSpPr>
          <p:nvPr/>
        </p:nvSpPr>
        <p:spPr bwMode="auto">
          <a:xfrm flipH="1">
            <a:off x="3866527" y="4491277"/>
            <a:ext cx="7574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9" name="Line 57">
            <a:extLst>
              <a:ext uri="{FF2B5EF4-FFF2-40B4-BE49-F238E27FC236}">
                <a16:creationId xmlns:a16="http://schemas.microsoft.com/office/drawing/2014/main" xmlns="" id="{F9B908EA-CCC5-9140-968E-E85601F061A8}"/>
              </a:ext>
            </a:extLst>
          </p:cNvPr>
          <p:cNvSpPr>
            <a:spLocks noChangeShapeType="1"/>
          </p:cNvSpPr>
          <p:nvPr/>
        </p:nvSpPr>
        <p:spPr bwMode="auto">
          <a:xfrm flipH="1">
            <a:off x="2250897" y="3639916"/>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80" name="Line 57">
            <a:extLst>
              <a:ext uri="{FF2B5EF4-FFF2-40B4-BE49-F238E27FC236}">
                <a16:creationId xmlns:a16="http://schemas.microsoft.com/office/drawing/2014/main" xmlns="" id="{B8DA85AE-A4EF-8949-A171-7D8A32E2383C}"/>
              </a:ext>
            </a:extLst>
          </p:cNvPr>
          <p:cNvSpPr>
            <a:spLocks noChangeShapeType="1"/>
          </p:cNvSpPr>
          <p:nvPr/>
        </p:nvSpPr>
        <p:spPr bwMode="auto">
          <a:xfrm flipH="1">
            <a:off x="1402043" y="4493579"/>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 name="Group 2">
            <a:extLst>
              <a:ext uri="{FF2B5EF4-FFF2-40B4-BE49-F238E27FC236}">
                <a16:creationId xmlns:a16="http://schemas.microsoft.com/office/drawing/2014/main" xmlns="" id="{88B36FCA-98F2-334E-B745-8BE5CDDCBFB2}"/>
              </a:ext>
            </a:extLst>
          </p:cNvPr>
          <p:cNvGrpSpPr/>
          <p:nvPr/>
        </p:nvGrpSpPr>
        <p:grpSpPr>
          <a:xfrm>
            <a:off x="2061817" y="2570560"/>
            <a:ext cx="2138708" cy="709613"/>
            <a:chOff x="2749090" y="3427413"/>
            <a:chExt cx="2851610" cy="946150"/>
          </a:xfrm>
        </p:grpSpPr>
        <p:sp>
          <p:nvSpPr>
            <p:cNvPr id="297" name="Text Box 68">
              <a:extLst>
                <a:ext uri="{FF2B5EF4-FFF2-40B4-BE49-F238E27FC236}">
                  <a16:creationId xmlns:a16="http://schemas.microsoft.com/office/drawing/2014/main" xmlns="" id="{A106E788-CB34-784B-A7C6-28841DDC2E4F}"/>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original data</a:t>
              </a:r>
              <a:endParaRPr lang="en-US" altLang="en-US" sz="1200" kern="1200" dirty="0">
                <a:solidFill>
                  <a:srgbClr val="C00000"/>
                </a:solidFill>
                <a:latin typeface="Comic Sans MS" panose="030F0902030302020204" pitchFamily="66" charset="0"/>
                <a:cs typeface="+mn-cs"/>
              </a:endParaRPr>
            </a:p>
          </p:txBody>
        </p:sp>
        <p:sp>
          <p:nvSpPr>
            <p:cNvPr id="298" name="Oval 217">
              <a:extLst>
                <a:ext uri="{FF2B5EF4-FFF2-40B4-BE49-F238E27FC236}">
                  <a16:creationId xmlns:a16="http://schemas.microsoft.com/office/drawing/2014/main" xmlns="" id="{CEE2DA5C-50A0-D742-A105-CCD7EE709734}"/>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99" name="Line 229">
              <a:extLst>
                <a:ext uri="{FF2B5EF4-FFF2-40B4-BE49-F238E27FC236}">
                  <a16:creationId xmlns:a16="http://schemas.microsoft.com/office/drawing/2014/main" xmlns="" id="{255225C8-6B39-2541-95EB-F48A1F34AF4E}"/>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00" name="Oval 232">
              <a:extLst>
                <a:ext uri="{FF2B5EF4-FFF2-40B4-BE49-F238E27FC236}">
                  <a16:creationId xmlns:a16="http://schemas.microsoft.com/office/drawing/2014/main" xmlns="" id="{43D2CE91-2B81-EF48-9C07-31413440C1BA}"/>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01" name="Text Box 233">
              <a:extLst>
                <a:ext uri="{FF2B5EF4-FFF2-40B4-BE49-F238E27FC236}">
                  <a16:creationId xmlns:a16="http://schemas.microsoft.com/office/drawing/2014/main" xmlns="" id="{FE1C66F4-D8DA-494A-9A89-F8E745865FF4}"/>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original data, </a:t>
              </a:r>
              <a:r>
                <a:rPr lang="en-US" altLang="en-US" sz="1200" i="1" kern="1200" dirty="0">
                  <a:solidFill>
                    <a:srgbClr val="C00000"/>
                  </a:solidFill>
                  <a:latin typeface="Arial" panose="020B0604020202020204" pitchFamily="34" charset="0"/>
                  <a:cs typeface="+mn-cs"/>
                </a:rPr>
                <a:t>plus</a:t>
              </a:r>
              <a:r>
                <a:rPr lang="en-US" altLang="en-US" sz="1200" kern="1200" dirty="0">
                  <a:solidFill>
                    <a:srgbClr val="C00000"/>
                  </a:solidFill>
                  <a:latin typeface="Arial" panose="020B0604020202020204" pitchFamily="34" charset="0"/>
                  <a:cs typeface="+mn-cs"/>
                </a:rPr>
                <a:t> retransmitted data</a:t>
              </a:r>
              <a:endParaRPr lang="en-US" altLang="en-US" sz="1200" kern="1200" dirty="0">
                <a:solidFill>
                  <a:srgbClr val="C00000"/>
                </a:solidFill>
                <a:latin typeface="Comic Sans MS" panose="030F0902030302020204" pitchFamily="66" charset="0"/>
                <a:cs typeface="+mn-cs"/>
              </a:endParaRPr>
            </a:p>
          </p:txBody>
        </p:sp>
        <p:sp>
          <p:nvSpPr>
            <p:cNvPr id="302" name="Line 234">
              <a:extLst>
                <a:ext uri="{FF2B5EF4-FFF2-40B4-BE49-F238E27FC236}">
                  <a16:creationId xmlns:a16="http://schemas.microsoft.com/office/drawing/2014/main" xmlns="" id="{63AF49C8-A0AA-624A-85D8-166B2AE4973F}"/>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03" name="Line 235">
              <a:extLst>
                <a:ext uri="{FF2B5EF4-FFF2-40B4-BE49-F238E27FC236}">
                  <a16:creationId xmlns:a16="http://schemas.microsoft.com/office/drawing/2014/main" xmlns="" id="{DB362CDB-1FF4-4C41-99F9-FAF1CC7CC705}"/>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4" name="Group 3">
            <a:extLst>
              <a:ext uri="{FF2B5EF4-FFF2-40B4-BE49-F238E27FC236}">
                <a16:creationId xmlns:a16="http://schemas.microsoft.com/office/drawing/2014/main" xmlns="" id="{9DD48FEE-9456-1B4E-84A7-B3ED91FFE8E0}"/>
              </a:ext>
            </a:extLst>
          </p:cNvPr>
          <p:cNvGrpSpPr/>
          <p:nvPr/>
        </p:nvGrpSpPr>
        <p:grpSpPr>
          <a:xfrm>
            <a:off x="2185117" y="3914215"/>
            <a:ext cx="1454048" cy="975136"/>
            <a:chOff x="2913490" y="5218953"/>
            <a:chExt cx="1938730" cy="1300181"/>
          </a:xfrm>
        </p:grpSpPr>
        <p:sp>
          <p:nvSpPr>
            <p:cNvPr id="182" name="Text Box 32">
              <a:extLst>
                <a:ext uri="{FF2B5EF4-FFF2-40B4-BE49-F238E27FC236}">
                  <a16:creationId xmlns:a16="http://schemas.microsoft.com/office/drawing/2014/main" xmlns="" id="{CF2B7F29-466D-FC4A-ACE7-BFBF267B0CB3}"/>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200" b="1" i="1" kern="1200" dirty="0">
                  <a:solidFill>
                    <a:srgbClr val="C00000"/>
                  </a:solidFill>
                  <a:latin typeface="Arial" panose="020B0604020202020204" pitchFamily="34" charset="0"/>
                  <a:cs typeface="+mn-cs"/>
                </a:rPr>
                <a:t>finite</a:t>
              </a:r>
              <a:r>
                <a:rPr lang="en-US" altLang="en-US" sz="900" kern="1200" dirty="0">
                  <a:solidFill>
                    <a:srgbClr val="000000"/>
                  </a:solidFill>
                  <a:latin typeface="Arial" panose="020B0604020202020204" pitchFamily="34" charset="0"/>
                  <a:cs typeface="+mn-cs"/>
                </a:rPr>
                <a:t> shared output link buffers</a:t>
              </a:r>
            </a:p>
          </p:txBody>
        </p:sp>
        <p:sp>
          <p:nvSpPr>
            <p:cNvPr id="184" name="Line 77">
              <a:extLst>
                <a:ext uri="{FF2B5EF4-FFF2-40B4-BE49-F238E27FC236}">
                  <a16:creationId xmlns:a16="http://schemas.microsoft.com/office/drawing/2014/main" xmlns="" id="{7E362826-A3B7-5941-AE9B-A10769F86A4D}"/>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25" name="Group 324">
              <a:extLst>
                <a:ext uri="{FF2B5EF4-FFF2-40B4-BE49-F238E27FC236}">
                  <a16:creationId xmlns:a16="http://schemas.microsoft.com/office/drawing/2014/main" xmlns="" id="{F6512663-A281-404F-AF8E-A1DB8E5E7ECA}"/>
                </a:ext>
              </a:extLst>
            </p:cNvPr>
            <p:cNvGrpSpPr/>
            <p:nvPr/>
          </p:nvGrpSpPr>
          <p:grpSpPr>
            <a:xfrm>
              <a:off x="4030362" y="5218953"/>
              <a:ext cx="821858" cy="355937"/>
              <a:chOff x="6859123" y="5156933"/>
              <a:chExt cx="456701" cy="226548"/>
            </a:xfrm>
          </p:grpSpPr>
          <p:sp>
            <p:nvSpPr>
              <p:cNvPr id="326" name="Rectangle 325">
                <a:extLst>
                  <a:ext uri="{FF2B5EF4-FFF2-40B4-BE49-F238E27FC236}">
                    <a16:creationId xmlns:a16="http://schemas.microsoft.com/office/drawing/2014/main" xmlns="" id="{115AD671-DB74-444A-B48E-E8BEAB79A7D2}"/>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32" name="Straight Connector 331">
                <a:extLst>
                  <a:ext uri="{FF2B5EF4-FFF2-40B4-BE49-F238E27FC236}">
                    <a16:creationId xmlns:a16="http://schemas.microsoft.com/office/drawing/2014/main" xmlns="" id="{99DD12F9-E416-394B-8D63-40D48A708559}"/>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xmlns="" id="{15780100-29B8-5C4F-93B7-5649208D6A95}"/>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xmlns="" id="{202CCE17-CE75-B441-ADA2-F35E98844675}"/>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xmlns="" id="{9471ACA7-44C6-004C-B2C2-7818A49BE16E}"/>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xmlns="" id="{72FD74F9-7342-F046-8132-AF1193BA35CF}"/>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xmlns="" id="{4E5C557C-7FBE-9746-A186-91684629902D}"/>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xmlns="" id="{9B6FEECA-C37C-BB48-B144-6D6274CBC31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72" name="Freeform 91">
            <a:extLst>
              <a:ext uri="{FF2B5EF4-FFF2-40B4-BE49-F238E27FC236}">
                <a16:creationId xmlns:a16="http://schemas.microsoft.com/office/drawing/2014/main" xmlns="" id="{A9B480FF-21CF-FC44-9DF0-9C672684A517}"/>
              </a:ext>
            </a:extLst>
          </p:cNvPr>
          <p:cNvSpPr>
            <a:spLocks/>
          </p:cNvSpPr>
          <p:nvPr/>
        </p:nvSpPr>
        <p:spPr bwMode="auto">
          <a:xfrm>
            <a:off x="2102515" y="2744691"/>
            <a:ext cx="3158903" cy="1252595"/>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71" name="Group 170">
            <a:extLst>
              <a:ext uri="{FF2B5EF4-FFF2-40B4-BE49-F238E27FC236}">
                <a16:creationId xmlns:a16="http://schemas.microsoft.com/office/drawing/2014/main" xmlns="" id="{FE72A71E-CC9B-AE4A-AE8F-124BCB210BCD}"/>
              </a:ext>
            </a:extLst>
          </p:cNvPr>
          <p:cNvGrpSpPr/>
          <p:nvPr/>
        </p:nvGrpSpPr>
        <p:grpSpPr>
          <a:xfrm>
            <a:off x="1189944" y="3557943"/>
            <a:ext cx="3685387" cy="1009554"/>
            <a:chOff x="5641439" y="2685215"/>
            <a:chExt cx="4000500" cy="1028700"/>
          </a:xfrm>
        </p:grpSpPr>
        <p:sp>
          <p:nvSpPr>
            <p:cNvPr id="265" name="Oval 73">
              <a:extLst>
                <a:ext uri="{FF2B5EF4-FFF2-40B4-BE49-F238E27FC236}">
                  <a16:creationId xmlns:a16="http://schemas.microsoft.com/office/drawing/2014/main" xmlns="" id="{CBF2A11D-CB4B-5047-8DCE-1CCA81F60201}"/>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66" name="Freeform 90">
              <a:extLst>
                <a:ext uri="{FF2B5EF4-FFF2-40B4-BE49-F238E27FC236}">
                  <a16:creationId xmlns:a16="http://schemas.microsoft.com/office/drawing/2014/main" xmlns="" id="{A788A76C-C9BB-D246-93A9-CFA5F5F5A5FF}"/>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xmlns="" id="{7A2C2F29-CDE1-7F43-8E31-AA4451365879}"/>
              </a:ext>
            </a:extLst>
          </p:cNvPr>
          <p:cNvGrpSpPr/>
          <p:nvPr/>
        </p:nvGrpSpPr>
        <p:grpSpPr>
          <a:xfrm>
            <a:off x="482755" y="1276350"/>
            <a:ext cx="7283123" cy="1428750"/>
            <a:chOff x="643673" y="1701800"/>
            <a:chExt cx="9710831" cy="1905000"/>
          </a:xfrm>
        </p:grpSpPr>
        <p:grpSp>
          <p:nvGrpSpPr>
            <p:cNvPr id="910" name="Group 237">
              <a:extLst>
                <a:ext uri="{FF2B5EF4-FFF2-40B4-BE49-F238E27FC236}">
                  <a16:creationId xmlns:a16="http://schemas.microsoft.com/office/drawing/2014/main" xmlns="" id="{EC72FC62-B230-A94B-A95E-6B7E5B9B9AA4}"/>
                </a:ext>
              </a:extLst>
            </p:cNvPr>
            <p:cNvGrpSpPr>
              <a:grpSpLocks/>
            </p:cNvGrpSpPr>
            <p:nvPr/>
          </p:nvGrpSpPr>
          <p:grpSpPr bwMode="auto">
            <a:xfrm>
              <a:off x="7750739" y="2720058"/>
              <a:ext cx="195221" cy="142875"/>
              <a:chOff x="174" y="3986"/>
              <a:chExt cx="51" cy="62"/>
            </a:xfrm>
          </p:grpSpPr>
          <p:sp>
            <p:nvSpPr>
              <p:cNvPr id="911" name="Freeform 238">
                <a:extLst>
                  <a:ext uri="{FF2B5EF4-FFF2-40B4-BE49-F238E27FC236}">
                    <a16:creationId xmlns:a16="http://schemas.microsoft.com/office/drawing/2014/main" xmlns="" id="{8675489A-2D10-4445-84BB-BCD7F29CF98A}"/>
                  </a:ext>
                </a:extLst>
              </p:cNvPr>
              <p:cNvSpPr>
                <a:spLocks/>
              </p:cNvSpPr>
              <p:nvPr/>
            </p:nvSpPr>
            <p:spPr bwMode="auto">
              <a:xfrm>
                <a:off x="176" y="3986"/>
                <a:ext cx="49" cy="48"/>
              </a:xfrm>
              <a:custGeom>
                <a:avLst/>
                <a:gdLst>
                  <a:gd name="T0" fmla="*/ 0 w 49"/>
                  <a:gd name="T1" fmla="*/ 0 h 62"/>
                  <a:gd name="T2" fmla="*/ 49 w 49"/>
                  <a:gd name="T3" fmla="*/ 2 h 62"/>
                  <a:gd name="T4" fmla="*/ 4 w 49"/>
                  <a:gd name="T5" fmla="*/ 5 h 62"/>
                  <a:gd name="T6" fmla="*/ 0 60000 65536"/>
                  <a:gd name="T7" fmla="*/ 0 60000 65536"/>
                  <a:gd name="T8" fmla="*/ 0 60000 65536"/>
                </a:gdLst>
                <a:ahLst/>
                <a:cxnLst>
                  <a:cxn ang="T6">
                    <a:pos x="T0" y="T1"/>
                  </a:cxn>
                  <a:cxn ang="T7">
                    <a:pos x="T2" y="T3"/>
                  </a:cxn>
                  <a:cxn ang="T8">
                    <a:pos x="T4" y="T5"/>
                  </a:cxn>
                </a:cxnLst>
                <a:rect l="0" t="0" r="r" b="b"/>
                <a:pathLst>
                  <a:path w="49" h="62">
                    <a:moveTo>
                      <a:pt x="0" y="0"/>
                    </a:moveTo>
                    <a:lnTo>
                      <a:pt x="49" y="32"/>
                    </a:lnTo>
                    <a:lnTo>
                      <a:pt x="4" y="62"/>
                    </a:lnTo>
                  </a:path>
                </a:pathLst>
              </a:custGeom>
              <a:solidFill>
                <a:schemeClr val="bg1"/>
              </a:solidFill>
              <a:ln w="222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a:defRPr/>
                </a:pPr>
                <a:endParaRPr lang="en-US" sz="1350" kern="1200" dirty="0">
                  <a:solidFill>
                    <a:prstClr val="black"/>
                  </a:solidFill>
                  <a:latin typeface="Calibri" panose="020F0502020204030204"/>
                  <a:ea typeface="+mn-ea"/>
                  <a:cs typeface="+mn-cs"/>
                </a:endParaRPr>
              </a:p>
            </p:txBody>
          </p:sp>
          <p:sp>
            <p:nvSpPr>
              <p:cNvPr id="912" name="Line 239">
                <a:extLst>
                  <a:ext uri="{FF2B5EF4-FFF2-40B4-BE49-F238E27FC236}">
                    <a16:creationId xmlns:a16="http://schemas.microsoft.com/office/drawing/2014/main" xmlns="" id="{6EE2EE7A-D9AA-9444-A38F-5ADDE6E80F73}"/>
                  </a:ext>
                </a:extLst>
              </p:cNvPr>
              <p:cNvSpPr>
                <a:spLocks noChangeShapeType="1"/>
              </p:cNvSpPr>
              <p:nvPr/>
            </p:nvSpPr>
            <p:spPr bwMode="auto">
              <a:xfrm>
                <a:off x="174" y="4048"/>
                <a:ext cx="46" cy="0"/>
              </a:xfrm>
              <a:prstGeom prst="line">
                <a:avLst/>
              </a:prstGeom>
              <a:noFill/>
              <a:ln w="222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sp>
          <p:nvSpPr>
            <p:cNvPr id="460" name="Rectangle 2">
              <a:extLst>
                <a:ext uri="{FF2B5EF4-FFF2-40B4-BE49-F238E27FC236}">
                  <a16:creationId xmlns:a16="http://schemas.microsoft.com/office/drawing/2014/main" xmlns="" id="{03320F89-A084-7B49-8A13-3CBCE2696C5C}"/>
                </a:ext>
              </a:extLst>
            </p:cNvPr>
            <p:cNvSpPr txBox="1">
              <a:spLocks noChangeArrowheads="1"/>
            </p:cNvSpPr>
            <p:nvPr/>
          </p:nvSpPr>
          <p:spPr>
            <a:xfrm>
              <a:off x="643673" y="1701800"/>
              <a:ext cx="9710831" cy="190500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sender retransmits lost, timed-out packet</a:t>
              </a:r>
            </a:p>
            <a:p>
              <a:pPr marL="521494" lvl="1" indent="-173831" defTabSz="685800">
                <a:spcBef>
                  <a:spcPts val="375"/>
                </a:spcBef>
                <a:buFont typeface="Arial"/>
                <a:buChar char="•"/>
                <a:defRPr/>
              </a:pPr>
              <a:r>
                <a:rPr lang="en-US" sz="1800" dirty="0">
                  <a:solidFill>
                    <a:prstClr val="black"/>
                  </a:solidFill>
                  <a:latin typeface="Calibri" panose="020F0502020204030204"/>
                </a:rPr>
                <a:t>application-layer input = application-layer output:</a:t>
              </a:r>
              <a:r>
                <a:rPr lang="en-US" sz="1800" dirty="0">
                  <a:solidFill>
                    <a:prstClr val="black"/>
                  </a:solidFill>
                  <a:latin typeface="Symbol" charset="0"/>
                </a:rPr>
                <a:t> l</a:t>
              </a:r>
              <a:r>
                <a:rPr lang="en-US" sz="1800" baseline="-25000" dirty="0">
                  <a:solidFill>
                    <a:prstClr val="black"/>
                  </a:solidFill>
                  <a:latin typeface="Arial" charset="0"/>
                </a:rPr>
                <a:t>in </a:t>
              </a:r>
              <a:r>
                <a:rPr lang="en-US" sz="1800" dirty="0">
                  <a:solidFill>
                    <a:prstClr val="black"/>
                  </a:solidFill>
                  <a:latin typeface="Arial" charset="0"/>
                </a:rPr>
                <a:t>= </a:t>
              </a:r>
              <a:r>
                <a:rPr lang="en-US" sz="1800" dirty="0">
                  <a:solidFill>
                    <a:prstClr val="black"/>
                  </a:solidFill>
                  <a:latin typeface="Symbol" charset="0"/>
                </a:rPr>
                <a:t>l</a:t>
              </a:r>
              <a:r>
                <a:rPr lang="en-US" sz="1800" baseline="-25000" dirty="0">
                  <a:solidFill>
                    <a:prstClr val="black"/>
                  </a:solidFill>
                  <a:latin typeface="Arial" charset="0"/>
                </a:rPr>
                <a:t>out</a:t>
              </a:r>
            </a:p>
            <a:p>
              <a:pPr marL="521494" lvl="1" indent="-173831" defTabSz="685800">
                <a:spcBef>
                  <a:spcPts val="375"/>
                </a:spcBef>
                <a:buFont typeface="Arial"/>
                <a:buChar char="•"/>
                <a:defRPr/>
              </a:pPr>
              <a:r>
                <a:rPr lang="en-US" sz="1800" dirty="0">
                  <a:solidFill>
                    <a:prstClr val="black"/>
                  </a:solidFill>
                  <a:latin typeface="Calibri" panose="020F0502020204030204"/>
                </a:rPr>
                <a:t>transport-layer input includes </a:t>
              </a:r>
              <a:r>
                <a:rPr lang="en-US" sz="1800" i="1" dirty="0">
                  <a:solidFill>
                    <a:prstClr val="black"/>
                  </a:solidFill>
                  <a:latin typeface="Calibri" panose="020F0502020204030204"/>
                </a:rPr>
                <a:t>retransmissions </a:t>
              </a:r>
              <a:r>
                <a:rPr lang="en-US" sz="1800" dirty="0">
                  <a:solidFill>
                    <a:prstClr val="black"/>
                  </a:solidFill>
                  <a:latin typeface="Calibri" panose="020F0502020204030204"/>
                </a:rPr>
                <a:t>:</a:t>
              </a:r>
              <a:r>
                <a:rPr lang="en-US" sz="1800" dirty="0">
                  <a:solidFill>
                    <a:prstClr val="black"/>
                  </a:solidFill>
                  <a:latin typeface="Symbol" charset="0"/>
                </a:rPr>
                <a:t> l</a:t>
              </a:r>
              <a:r>
                <a:rPr lang="en-US" sz="1800" dirty="0">
                  <a:solidFill>
                    <a:prstClr val="black"/>
                  </a:solidFill>
                  <a:latin typeface="Calibri" panose="020F0502020204030204"/>
                </a:rPr>
                <a:t>’</a:t>
              </a:r>
              <a:r>
                <a:rPr lang="en-US" sz="1800" baseline="-25000" dirty="0">
                  <a:solidFill>
                    <a:prstClr val="black"/>
                  </a:solidFill>
                  <a:latin typeface="Arial" charset="0"/>
                </a:rPr>
                <a:t>in </a:t>
              </a:r>
              <a:r>
                <a:rPr lang="en-US" sz="1800" dirty="0">
                  <a:solidFill>
                    <a:prstClr val="black"/>
                  </a:solidFill>
                  <a:latin typeface="Arial" charset="0"/>
                </a:rPr>
                <a:t>   </a:t>
              </a:r>
              <a:r>
                <a:rPr lang="en-US" sz="1800" dirty="0">
                  <a:solidFill>
                    <a:prstClr val="black"/>
                  </a:solidFill>
                  <a:latin typeface="Symbol" charset="0"/>
                </a:rPr>
                <a:t>l</a:t>
              </a:r>
              <a:r>
                <a:rPr lang="en-US" sz="1800" baseline="-25000" dirty="0">
                  <a:solidFill>
                    <a:prstClr val="black"/>
                  </a:solidFill>
                  <a:latin typeface="Arial" charset="0"/>
                </a:rPr>
                <a:t>in</a:t>
              </a:r>
              <a:endParaRPr lang="en-US" sz="1800" i="1" dirty="0">
                <a:solidFill>
                  <a:prstClr val="black"/>
                </a:solidFill>
                <a:latin typeface="Calibri" panose="020F0502020204030204"/>
              </a:endParaRPr>
            </a:p>
            <a:p>
              <a:pPr marL="264319" indent="-166688" defTabSz="685800">
                <a:spcBef>
                  <a:spcPts val="750"/>
                </a:spcBef>
                <a:buFont typeface="Wingdings" charset="2"/>
                <a:buChar char="§"/>
                <a:defRPr/>
              </a:pPr>
              <a:endParaRPr lang="en-US" sz="18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p:txBody>
        </p:sp>
      </p:grpSp>
      <p:grpSp>
        <p:nvGrpSpPr>
          <p:cNvPr id="7" name="Group 6">
            <a:extLst>
              <a:ext uri="{FF2B5EF4-FFF2-40B4-BE49-F238E27FC236}">
                <a16:creationId xmlns:a16="http://schemas.microsoft.com/office/drawing/2014/main" xmlns="" id="{3C232186-DB8B-EE41-ABB8-8C4434E748DD}"/>
              </a:ext>
            </a:extLst>
          </p:cNvPr>
          <p:cNvGrpSpPr/>
          <p:nvPr/>
        </p:nvGrpSpPr>
        <p:grpSpPr>
          <a:xfrm>
            <a:off x="5337572" y="2721769"/>
            <a:ext cx="910827" cy="354806"/>
            <a:chOff x="7116763" y="3629025"/>
            <a:chExt cx="1057275" cy="473075"/>
          </a:xfrm>
        </p:grpSpPr>
        <p:sp>
          <p:nvSpPr>
            <p:cNvPr id="461" name="Text Box 219">
              <a:extLst>
                <a:ext uri="{FF2B5EF4-FFF2-40B4-BE49-F238E27FC236}">
                  <a16:creationId xmlns:a16="http://schemas.microsoft.com/office/drawing/2014/main" xmlns="" id="{C648AB54-6598-DE46-92A6-D245E6D0B322}"/>
                </a:ext>
              </a:extLst>
            </p:cNvPr>
            <p:cNvSpPr txBox="1">
              <a:spLocks noChangeArrowheads="1"/>
            </p:cNvSpPr>
            <p:nvPr/>
          </p:nvSpPr>
          <p:spPr bwMode="auto">
            <a:xfrm>
              <a:off x="7583488" y="3629025"/>
              <a:ext cx="590550"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out</a:t>
              </a:r>
              <a:endParaRPr lang="en-US" altLang="en-US" sz="1500" kern="1200" dirty="0">
                <a:solidFill>
                  <a:srgbClr val="C00000"/>
                </a:solidFill>
                <a:latin typeface="Comic Sans MS" panose="030F0902030302020204" pitchFamily="66" charset="0"/>
                <a:cs typeface="+mn-cs"/>
              </a:endParaRPr>
            </a:p>
          </p:txBody>
        </p:sp>
        <p:sp>
          <p:nvSpPr>
            <p:cNvPr id="462" name="Line 236">
              <a:extLst>
                <a:ext uri="{FF2B5EF4-FFF2-40B4-BE49-F238E27FC236}">
                  <a16:creationId xmlns:a16="http://schemas.microsoft.com/office/drawing/2014/main" xmlns="" id="{1870B461-7B79-EB4C-840A-4B5BE77A4D98}"/>
                </a:ext>
              </a:extLst>
            </p:cNvPr>
            <p:cNvSpPr>
              <a:spLocks noChangeShapeType="1"/>
            </p:cNvSpPr>
            <p:nvPr/>
          </p:nvSpPr>
          <p:spPr bwMode="auto">
            <a:xfrm>
              <a:off x="7116763" y="38354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5" name="Group 4">
            <a:extLst>
              <a:ext uri="{FF2B5EF4-FFF2-40B4-BE49-F238E27FC236}">
                <a16:creationId xmlns:a16="http://schemas.microsoft.com/office/drawing/2014/main" xmlns="" id="{65560666-FC53-B945-9620-BB2E2AE986CF}"/>
              </a:ext>
            </a:extLst>
          </p:cNvPr>
          <p:cNvGrpSpPr/>
          <p:nvPr/>
        </p:nvGrpSpPr>
        <p:grpSpPr>
          <a:xfrm>
            <a:off x="2421069" y="4002586"/>
            <a:ext cx="1639465" cy="380565"/>
            <a:chOff x="3228093" y="5336775"/>
            <a:chExt cx="2185953" cy="507419"/>
          </a:xfrm>
        </p:grpSpPr>
        <p:sp>
          <p:nvSpPr>
            <p:cNvPr id="181" name="TextBox 180">
              <a:extLst>
                <a:ext uri="{FF2B5EF4-FFF2-40B4-BE49-F238E27FC236}">
                  <a16:creationId xmlns:a16="http://schemas.microsoft.com/office/drawing/2014/main" xmlns="" id="{8372AD6F-EEFC-914F-BE23-DE28BE98C152}"/>
                </a:ext>
              </a:extLst>
            </p:cNvPr>
            <p:cNvSpPr txBox="1"/>
            <p:nvPr/>
          </p:nvSpPr>
          <p:spPr>
            <a:xfrm>
              <a:off x="5001111" y="5336775"/>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63" name="TextBox 462">
              <a:extLst>
                <a:ext uri="{FF2B5EF4-FFF2-40B4-BE49-F238E27FC236}">
                  <a16:creationId xmlns:a16="http://schemas.microsoft.com/office/drawing/2014/main" xmlns="" id="{AECD2E0A-D6E2-2842-934A-3F651325C0C8}"/>
                </a:ext>
              </a:extLst>
            </p:cNvPr>
            <p:cNvSpPr txBox="1"/>
            <p:nvPr/>
          </p:nvSpPr>
          <p:spPr>
            <a:xfrm>
              <a:off x="3228093" y="5351752"/>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grpSp>
    </p:spTree>
    <p:extLst>
      <p:ext uri="{BB962C8B-B14F-4D97-AF65-F5344CB8AC3E}">
        <p14:creationId xmlns:p14="http://schemas.microsoft.com/office/powerpoint/2010/main" val="344901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Freeform 3">
            <a:extLst>
              <a:ext uri="{FF2B5EF4-FFF2-40B4-BE49-F238E27FC236}">
                <a16:creationId xmlns:a16="http://schemas.microsoft.com/office/drawing/2014/main" xmlns="" id="{94850343-F164-9342-8172-492C44663F13}"/>
              </a:ext>
            </a:extLst>
          </p:cNvPr>
          <p:cNvSpPr>
            <a:spLocks/>
          </p:cNvSpPr>
          <p:nvPr/>
        </p:nvSpPr>
        <p:spPr bwMode="auto">
          <a:xfrm>
            <a:off x="5210233" y="3757361"/>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69" name="Group 468">
            <a:extLst>
              <a:ext uri="{FF2B5EF4-FFF2-40B4-BE49-F238E27FC236}">
                <a16:creationId xmlns:a16="http://schemas.microsoft.com/office/drawing/2014/main" xmlns="" id="{D7909E55-4569-0948-961D-43068CFC7348}"/>
              </a:ext>
            </a:extLst>
          </p:cNvPr>
          <p:cNvGrpSpPr/>
          <p:nvPr/>
        </p:nvGrpSpPr>
        <p:grpSpPr>
          <a:xfrm>
            <a:off x="4680385" y="3762449"/>
            <a:ext cx="540549" cy="887198"/>
            <a:chOff x="10910965" y="2513124"/>
            <a:chExt cx="586768" cy="904023"/>
          </a:xfrm>
        </p:grpSpPr>
        <p:sp>
          <p:nvSpPr>
            <p:cNvPr id="470" name="Rectangle 469">
              <a:extLst>
                <a:ext uri="{FF2B5EF4-FFF2-40B4-BE49-F238E27FC236}">
                  <a16:creationId xmlns:a16="http://schemas.microsoft.com/office/drawing/2014/main" xmlns="" id="{78B11350-9794-2342-B562-D5B69F60AC8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71" name="Straight Connector 470">
              <a:extLst>
                <a:ext uri="{FF2B5EF4-FFF2-40B4-BE49-F238E27FC236}">
                  <a16:creationId xmlns:a16="http://schemas.microsoft.com/office/drawing/2014/main" xmlns="" id="{A2D0AADF-2038-FE4A-BA0E-1A216AAE2643}"/>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xmlns="" id="{8A6F32B7-0022-B245-AE89-E8233E5F30D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xmlns="" id="{F3C70DC5-A1ED-2147-9421-DD1A82216451}"/>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xmlns="" id="{DCBAE229-1066-ED4A-BFB7-7DDF8153B5E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5" name="Freeform 9">
            <a:extLst>
              <a:ext uri="{FF2B5EF4-FFF2-40B4-BE49-F238E27FC236}">
                <a16:creationId xmlns:a16="http://schemas.microsoft.com/office/drawing/2014/main" xmlns="" id="{6FAE0227-588C-3740-BD2A-167D60FE1374}"/>
              </a:ext>
            </a:extLst>
          </p:cNvPr>
          <p:cNvSpPr>
            <a:spLocks/>
          </p:cNvSpPr>
          <p:nvPr/>
        </p:nvSpPr>
        <p:spPr bwMode="auto">
          <a:xfrm flipH="1">
            <a:off x="1383541" y="2636729"/>
            <a:ext cx="396261" cy="88370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66" name="Group 165">
            <a:extLst>
              <a:ext uri="{FF2B5EF4-FFF2-40B4-BE49-F238E27FC236}">
                <a16:creationId xmlns:a16="http://schemas.microsoft.com/office/drawing/2014/main" xmlns="" id="{27FD24CC-8B00-1249-B3EA-B48ED9BD0C16}"/>
              </a:ext>
            </a:extLst>
          </p:cNvPr>
          <p:cNvGrpSpPr/>
          <p:nvPr/>
        </p:nvGrpSpPr>
        <p:grpSpPr>
          <a:xfrm>
            <a:off x="959009" y="3512773"/>
            <a:ext cx="540549" cy="887198"/>
            <a:chOff x="10910965" y="2513124"/>
            <a:chExt cx="586768" cy="904023"/>
          </a:xfrm>
        </p:grpSpPr>
        <p:sp>
          <p:nvSpPr>
            <p:cNvPr id="458" name="Rectangle 457">
              <a:extLst>
                <a:ext uri="{FF2B5EF4-FFF2-40B4-BE49-F238E27FC236}">
                  <a16:creationId xmlns:a16="http://schemas.microsoft.com/office/drawing/2014/main" xmlns="" id="{90C923E9-F601-6A4C-8C38-FACF63AC4DA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59" name="Straight Connector 458">
              <a:extLst>
                <a:ext uri="{FF2B5EF4-FFF2-40B4-BE49-F238E27FC236}">
                  <a16:creationId xmlns:a16="http://schemas.microsoft.com/office/drawing/2014/main" xmlns="" id="{3B5A7695-AD4A-514E-8995-83287D6880D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xmlns="" id="{E21D7D74-8D80-2446-BB07-DFA009FB035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xmlns="" id="{863D0752-8B82-6B47-8C73-82CD069862DA}"/>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xmlns="" id="{14D54E01-67AD-BD41-8FC0-3607A456773F}"/>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166">
            <a:extLst>
              <a:ext uri="{FF2B5EF4-FFF2-40B4-BE49-F238E27FC236}">
                <a16:creationId xmlns:a16="http://schemas.microsoft.com/office/drawing/2014/main" xmlns="" id="{BFD7089E-96E8-4D43-B449-4D5C177E9983}"/>
              </a:ext>
            </a:extLst>
          </p:cNvPr>
          <p:cNvGrpSpPr/>
          <p:nvPr/>
        </p:nvGrpSpPr>
        <p:grpSpPr>
          <a:xfrm>
            <a:off x="1766283" y="2640818"/>
            <a:ext cx="540549" cy="887198"/>
            <a:chOff x="10910965" y="2513124"/>
            <a:chExt cx="586768" cy="904023"/>
          </a:xfrm>
        </p:grpSpPr>
        <p:sp>
          <p:nvSpPr>
            <p:cNvPr id="453" name="Rectangle 452">
              <a:extLst>
                <a:ext uri="{FF2B5EF4-FFF2-40B4-BE49-F238E27FC236}">
                  <a16:creationId xmlns:a16="http://schemas.microsoft.com/office/drawing/2014/main" xmlns="" id="{2B9795D8-DE72-0E4D-B8D0-8A4FE22C6F3F}"/>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54" name="Straight Connector 453">
              <a:extLst>
                <a:ext uri="{FF2B5EF4-FFF2-40B4-BE49-F238E27FC236}">
                  <a16:creationId xmlns:a16="http://schemas.microsoft.com/office/drawing/2014/main" xmlns="" id="{8DBB6C8D-4747-6047-8A27-F09F6A2E11DF}"/>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5" name="Straight Connector 454">
              <a:extLst>
                <a:ext uri="{FF2B5EF4-FFF2-40B4-BE49-F238E27FC236}">
                  <a16:creationId xmlns:a16="http://schemas.microsoft.com/office/drawing/2014/main" xmlns="" id="{F78138AC-BB02-AA47-B525-8C0F524F4082}"/>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Straight Connector 455">
              <a:extLst>
                <a:ext uri="{FF2B5EF4-FFF2-40B4-BE49-F238E27FC236}">
                  <a16:creationId xmlns:a16="http://schemas.microsoft.com/office/drawing/2014/main" xmlns="" id="{5263C1CB-C86A-1A4C-904B-C8D95F0C23F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Straight Connector 456">
              <a:extLst>
                <a:ext uri="{FF2B5EF4-FFF2-40B4-BE49-F238E27FC236}">
                  <a16:creationId xmlns:a16="http://schemas.microsoft.com/office/drawing/2014/main" xmlns="" id="{2EBC4991-6315-5645-9FFE-52CAD0CCC2F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8" name="Freeform 6">
            <a:extLst>
              <a:ext uri="{FF2B5EF4-FFF2-40B4-BE49-F238E27FC236}">
                <a16:creationId xmlns:a16="http://schemas.microsoft.com/office/drawing/2014/main" xmlns="" id="{3F104274-9FA2-EA4D-8A30-E52A462F2052}"/>
              </a:ext>
            </a:extLst>
          </p:cNvPr>
          <p:cNvSpPr>
            <a:spLocks/>
          </p:cNvSpPr>
          <p:nvPr/>
        </p:nvSpPr>
        <p:spPr bwMode="auto">
          <a:xfrm>
            <a:off x="5556835" y="2774602"/>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69" name="Group 168">
            <a:extLst>
              <a:ext uri="{FF2B5EF4-FFF2-40B4-BE49-F238E27FC236}">
                <a16:creationId xmlns:a16="http://schemas.microsoft.com/office/drawing/2014/main" xmlns="" id="{0C5836F1-F171-8247-9890-0337498997A7}"/>
              </a:ext>
            </a:extLst>
          </p:cNvPr>
          <p:cNvGrpSpPr/>
          <p:nvPr/>
        </p:nvGrpSpPr>
        <p:grpSpPr>
          <a:xfrm>
            <a:off x="5024189" y="2750917"/>
            <a:ext cx="540549" cy="887198"/>
            <a:chOff x="10910965" y="2513124"/>
            <a:chExt cx="586768" cy="904023"/>
          </a:xfrm>
        </p:grpSpPr>
        <p:sp>
          <p:nvSpPr>
            <p:cNvPr id="448" name="Rectangle 447">
              <a:extLst>
                <a:ext uri="{FF2B5EF4-FFF2-40B4-BE49-F238E27FC236}">
                  <a16:creationId xmlns:a16="http://schemas.microsoft.com/office/drawing/2014/main" xmlns="" id="{C659B83A-9A86-D445-A5DC-64CCDEE48D8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49" name="Straight Connector 448">
              <a:extLst>
                <a:ext uri="{FF2B5EF4-FFF2-40B4-BE49-F238E27FC236}">
                  <a16:creationId xmlns:a16="http://schemas.microsoft.com/office/drawing/2014/main" xmlns="" id="{6EBE406A-A87A-9E4C-85A9-355AAF8EA23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xmlns="" id="{957A93EE-01C8-704A-ACA5-9A2DD1B9436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xmlns="" id="{39523A07-6615-7940-9047-7059C0F0677B}"/>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xmlns="" id="{6A1A35B4-82C9-A345-8F03-D2DFA4D94CF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0" name="Group 169">
            <a:extLst>
              <a:ext uri="{FF2B5EF4-FFF2-40B4-BE49-F238E27FC236}">
                <a16:creationId xmlns:a16="http://schemas.microsoft.com/office/drawing/2014/main" xmlns="" id="{44E2CB90-F397-AB48-B9D9-5B9B57BE257D}"/>
              </a:ext>
            </a:extLst>
          </p:cNvPr>
          <p:cNvGrpSpPr/>
          <p:nvPr/>
        </p:nvGrpSpPr>
        <p:grpSpPr>
          <a:xfrm>
            <a:off x="2828023" y="3775234"/>
            <a:ext cx="965153" cy="551195"/>
            <a:chOff x="7493876" y="2774731"/>
            <a:chExt cx="1481958" cy="894622"/>
          </a:xfrm>
        </p:grpSpPr>
        <p:sp>
          <p:nvSpPr>
            <p:cNvPr id="441" name="Freeform 440">
              <a:extLst>
                <a:ext uri="{FF2B5EF4-FFF2-40B4-BE49-F238E27FC236}">
                  <a16:creationId xmlns:a16="http://schemas.microsoft.com/office/drawing/2014/main" xmlns="" id="{75657808-7F9A-4548-9BE7-735D4EF9B5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442" name="Oval 441">
              <a:extLst>
                <a:ext uri="{FF2B5EF4-FFF2-40B4-BE49-F238E27FC236}">
                  <a16:creationId xmlns:a16="http://schemas.microsoft.com/office/drawing/2014/main" xmlns="" id="{D4514D5D-3874-B943-8C94-3144D5AD3E8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443" name="Group 442">
              <a:extLst>
                <a:ext uri="{FF2B5EF4-FFF2-40B4-BE49-F238E27FC236}">
                  <a16:creationId xmlns:a16="http://schemas.microsoft.com/office/drawing/2014/main" xmlns="" id="{54922FA6-F0ED-144C-A4FA-75A78D9FC6B7}"/>
                </a:ext>
              </a:extLst>
            </p:cNvPr>
            <p:cNvGrpSpPr/>
            <p:nvPr/>
          </p:nvGrpSpPr>
          <p:grpSpPr>
            <a:xfrm>
              <a:off x="7713663" y="2848339"/>
              <a:ext cx="1042107" cy="425543"/>
              <a:chOff x="7786941" y="2884917"/>
              <a:chExt cx="897649" cy="353919"/>
            </a:xfrm>
          </p:grpSpPr>
          <p:sp>
            <p:nvSpPr>
              <p:cNvPr id="444" name="Freeform 443">
                <a:extLst>
                  <a:ext uri="{FF2B5EF4-FFF2-40B4-BE49-F238E27FC236}">
                    <a16:creationId xmlns:a16="http://schemas.microsoft.com/office/drawing/2014/main" xmlns="" id="{707D05DA-BBC6-CB49-A557-5ADC3226F9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45" name="Freeform 444">
                <a:extLst>
                  <a:ext uri="{FF2B5EF4-FFF2-40B4-BE49-F238E27FC236}">
                    <a16:creationId xmlns:a16="http://schemas.microsoft.com/office/drawing/2014/main" xmlns="" id="{4C02C300-6C33-5F4F-839D-3428AD261D5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46" name="Freeform 445">
                <a:extLst>
                  <a:ext uri="{FF2B5EF4-FFF2-40B4-BE49-F238E27FC236}">
                    <a16:creationId xmlns:a16="http://schemas.microsoft.com/office/drawing/2014/main" xmlns="" id="{BC516460-C1B4-3B4A-8BA7-BE2B0D6B211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47" name="Freeform 446">
                <a:extLst>
                  <a:ext uri="{FF2B5EF4-FFF2-40B4-BE49-F238E27FC236}">
                    <a16:creationId xmlns:a16="http://schemas.microsoft.com/office/drawing/2014/main" xmlns="" id="{26184741-429A-0845-8EDF-E02659947DD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171" name="Group 124">
            <a:extLst>
              <a:ext uri="{FF2B5EF4-FFF2-40B4-BE49-F238E27FC236}">
                <a16:creationId xmlns:a16="http://schemas.microsoft.com/office/drawing/2014/main" xmlns="" id="{928D5C6C-2458-A340-B436-05E659095139}"/>
              </a:ext>
            </a:extLst>
          </p:cNvPr>
          <p:cNvGrpSpPr>
            <a:grpSpLocks/>
          </p:cNvGrpSpPr>
          <p:nvPr/>
        </p:nvGrpSpPr>
        <p:grpSpPr bwMode="auto">
          <a:xfrm>
            <a:off x="988066" y="2907840"/>
            <a:ext cx="484073" cy="426879"/>
            <a:chOff x="-44" y="1473"/>
            <a:chExt cx="981" cy="1105"/>
          </a:xfrm>
        </p:grpSpPr>
        <p:pic>
          <p:nvPicPr>
            <p:cNvPr id="439" name="Picture 125" descr="desktop_computer_stylized_medium">
              <a:extLst>
                <a:ext uri="{FF2B5EF4-FFF2-40B4-BE49-F238E27FC236}">
                  <a16:creationId xmlns:a16="http://schemas.microsoft.com/office/drawing/2014/main" xmlns="" id="{0FD471B6-3E5D-2949-BD49-9611B77F5E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 name="Freeform 126">
              <a:extLst>
                <a:ext uri="{FF2B5EF4-FFF2-40B4-BE49-F238E27FC236}">
                  <a16:creationId xmlns:a16="http://schemas.microsoft.com/office/drawing/2014/main" xmlns="" id="{DC143BE7-08FC-9746-BAC8-890A432870EB}"/>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173" name="Freeform 12">
            <a:extLst>
              <a:ext uri="{FF2B5EF4-FFF2-40B4-BE49-F238E27FC236}">
                <a16:creationId xmlns:a16="http://schemas.microsoft.com/office/drawing/2014/main" xmlns="" id="{3498F994-5BD8-E74A-A219-152CBAE8AB41}"/>
              </a:ext>
            </a:extLst>
          </p:cNvPr>
          <p:cNvSpPr>
            <a:spLocks/>
          </p:cNvSpPr>
          <p:nvPr/>
        </p:nvSpPr>
        <p:spPr bwMode="auto">
          <a:xfrm flipH="1">
            <a:off x="733658" y="3511205"/>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74" name="Line 33">
            <a:extLst>
              <a:ext uri="{FF2B5EF4-FFF2-40B4-BE49-F238E27FC236}">
                <a16:creationId xmlns:a16="http://schemas.microsoft.com/office/drawing/2014/main" xmlns="" id="{4EAD0965-6EDE-3044-BDA1-47195A36E4BA}"/>
              </a:ext>
            </a:extLst>
          </p:cNvPr>
          <p:cNvSpPr>
            <a:spLocks noChangeShapeType="1"/>
          </p:cNvSpPr>
          <p:nvPr/>
        </p:nvSpPr>
        <p:spPr bwMode="auto">
          <a:xfrm flipH="1">
            <a:off x="1804175"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5" name="Text Box 42">
            <a:extLst>
              <a:ext uri="{FF2B5EF4-FFF2-40B4-BE49-F238E27FC236}">
                <a16:creationId xmlns:a16="http://schemas.microsoft.com/office/drawing/2014/main" xmlns="" id="{A72787AC-48CD-E748-AFE1-B2DF4BC2F136}"/>
              </a:ext>
            </a:extLst>
          </p:cNvPr>
          <p:cNvSpPr txBox="1">
            <a:spLocks noChangeArrowheads="1"/>
          </p:cNvSpPr>
          <p:nvPr/>
        </p:nvSpPr>
        <p:spPr bwMode="auto">
          <a:xfrm>
            <a:off x="816463" y="2647363"/>
            <a:ext cx="841877"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176" name="Text Box 52">
            <a:extLst>
              <a:ext uri="{FF2B5EF4-FFF2-40B4-BE49-F238E27FC236}">
                <a16:creationId xmlns:a16="http://schemas.microsoft.com/office/drawing/2014/main" xmlns="" id="{A95B344E-5BB8-1A4C-96D5-1A5CCC9D80C7}"/>
              </a:ext>
            </a:extLst>
          </p:cNvPr>
          <p:cNvSpPr txBox="1">
            <a:spLocks noChangeArrowheads="1"/>
          </p:cNvSpPr>
          <p:nvPr/>
        </p:nvSpPr>
        <p:spPr bwMode="auto">
          <a:xfrm>
            <a:off x="812577" y="4540117"/>
            <a:ext cx="736183"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218" name="Line 53">
            <a:extLst>
              <a:ext uri="{FF2B5EF4-FFF2-40B4-BE49-F238E27FC236}">
                <a16:creationId xmlns:a16="http://schemas.microsoft.com/office/drawing/2014/main" xmlns="" id="{36BC3461-D266-FC4F-AC75-DCAB735675AE}"/>
              </a:ext>
            </a:extLst>
          </p:cNvPr>
          <p:cNvSpPr>
            <a:spLocks noChangeShapeType="1"/>
          </p:cNvSpPr>
          <p:nvPr/>
        </p:nvSpPr>
        <p:spPr bwMode="auto">
          <a:xfrm flipH="1">
            <a:off x="2251686"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32" name="Line 54">
            <a:extLst>
              <a:ext uri="{FF2B5EF4-FFF2-40B4-BE49-F238E27FC236}">
                <a16:creationId xmlns:a16="http://schemas.microsoft.com/office/drawing/2014/main" xmlns="" id="{0FD51E39-54E3-FC4B-8438-1DA851F5A221}"/>
              </a:ext>
            </a:extLst>
          </p:cNvPr>
          <p:cNvSpPr>
            <a:spLocks noChangeShapeType="1"/>
          </p:cNvSpPr>
          <p:nvPr/>
        </p:nvSpPr>
        <p:spPr bwMode="auto">
          <a:xfrm flipH="1">
            <a:off x="3743391"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33" name="Line 55">
            <a:extLst>
              <a:ext uri="{FF2B5EF4-FFF2-40B4-BE49-F238E27FC236}">
                <a16:creationId xmlns:a16="http://schemas.microsoft.com/office/drawing/2014/main" xmlns="" id="{C7D9A69E-6BD1-3F4C-A4E5-506632A2540D}"/>
              </a:ext>
            </a:extLst>
          </p:cNvPr>
          <p:cNvSpPr>
            <a:spLocks noChangeShapeType="1"/>
          </p:cNvSpPr>
          <p:nvPr/>
        </p:nvSpPr>
        <p:spPr bwMode="auto">
          <a:xfrm flipH="1">
            <a:off x="3857462"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34" name="Line 57">
            <a:extLst>
              <a:ext uri="{FF2B5EF4-FFF2-40B4-BE49-F238E27FC236}">
                <a16:creationId xmlns:a16="http://schemas.microsoft.com/office/drawing/2014/main" xmlns="" id="{6191562F-E046-7846-9AFD-82F26FA47437}"/>
              </a:ext>
            </a:extLst>
          </p:cNvPr>
          <p:cNvSpPr>
            <a:spLocks noChangeShapeType="1"/>
          </p:cNvSpPr>
          <p:nvPr/>
        </p:nvSpPr>
        <p:spPr bwMode="auto">
          <a:xfrm flipH="1">
            <a:off x="4706741" y="3642217"/>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36" name="Group 127">
            <a:extLst>
              <a:ext uri="{FF2B5EF4-FFF2-40B4-BE49-F238E27FC236}">
                <a16:creationId xmlns:a16="http://schemas.microsoft.com/office/drawing/2014/main" xmlns="" id="{976B064D-F0CE-FD45-997B-82999C62D57F}"/>
              </a:ext>
            </a:extLst>
          </p:cNvPr>
          <p:cNvGrpSpPr>
            <a:grpSpLocks/>
          </p:cNvGrpSpPr>
          <p:nvPr/>
        </p:nvGrpSpPr>
        <p:grpSpPr bwMode="auto">
          <a:xfrm>
            <a:off x="5648969" y="3355409"/>
            <a:ext cx="213518" cy="433111"/>
            <a:chOff x="4140" y="429"/>
            <a:chExt cx="1425" cy="2396"/>
          </a:xfrm>
        </p:grpSpPr>
        <p:sp>
          <p:nvSpPr>
            <p:cNvPr id="401" name="Freeform 128">
              <a:extLst>
                <a:ext uri="{FF2B5EF4-FFF2-40B4-BE49-F238E27FC236}">
                  <a16:creationId xmlns:a16="http://schemas.microsoft.com/office/drawing/2014/main" xmlns="" id="{CDE4EA92-43F5-C648-9A6C-E9056B53081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2" name="Rectangle 129">
              <a:extLst>
                <a:ext uri="{FF2B5EF4-FFF2-40B4-BE49-F238E27FC236}">
                  <a16:creationId xmlns:a16="http://schemas.microsoft.com/office/drawing/2014/main" xmlns="" id="{AA5B00D6-3312-7844-B058-10026A6BD6D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3" name="Freeform 130">
              <a:extLst>
                <a:ext uri="{FF2B5EF4-FFF2-40B4-BE49-F238E27FC236}">
                  <a16:creationId xmlns:a16="http://schemas.microsoft.com/office/drawing/2014/main" xmlns="" id="{027D1F88-5C4B-6F4F-B91D-DE0B9249D24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4" name="Freeform 131">
              <a:extLst>
                <a:ext uri="{FF2B5EF4-FFF2-40B4-BE49-F238E27FC236}">
                  <a16:creationId xmlns:a16="http://schemas.microsoft.com/office/drawing/2014/main" xmlns="" id="{727D8677-A797-794C-AA30-D4400E7BECF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5" name="Rectangle 132">
              <a:extLst>
                <a:ext uri="{FF2B5EF4-FFF2-40B4-BE49-F238E27FC236}">
                  <a16:creationId xmlns:a16="http://schemas.microsoft.com/office/drawing/2014/main" xmlns="" id="{EB2FFBCE-C89F-BA45-B3E6-368DBC16E58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06" name="Group 133">
              <a:extLst>
                <a:ext uri="{FF2B5EF4-FFF2-40B4-BE49-F238E27FC236}">
                  <a16:creationId xmlns:a16="http://schemas.microsoft.com/office/drawing/2014/main" xmlns="" id="{D9B4D6C3-55E2-914C-9392-B06DB43BF6A3}"/>
                </a:ext>
              </a:extLst>
            </p:cNvPr>
            <p:cNvGrpSpPr>
              <a:grpSpLocks/>
            </p:cNvGrpSpPr>
            <p:nvPr/>
          </p:nvGrpSpPr>
          <p:grpSpPr bwMode="auto">
            <a:xfrm>
              <a:off x="4749" y="668"/>
              <a:ext cx="581" cy="145"/>
              <a:chOff x="614" y="2568"/>
              <a:chExt cx="725" cy="139"/>
            </a:xfrm>
          </p:grpSpPr>
          <p:sp>
            <p:nvSpPr>
              <p:cNvPr id="431" name="AutoShape 134">
                <a:extLst>
                  <a:ext uri="{FF2B5EF4-FFF2-40B4-BE49-F238E27FC236}">
                    <a16:creationId xmlns:a16="http://schemas.microsoft.com/office/drawing/2014/main" xmlns="" id="{C69DD16D-9B89-454E-86FE-146165B84FB6}"/>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2" name="AutoShape 135">
                <a:extLst>
                  <a:ext uri="{FF2B5EF4-FFF2-40B4-BE49-F238E27FC236}">
                    <a16:creationId xmlns:a16="http://schemas.microsoft.com/office/drawing/2014/main" xmlns="" id="{C5088E43-3534-E14E-B8F5-D6373D3DC00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07" name="Rectangle 136">
              <a:extLst>
                <a:ext uri="{FF2B5EF4-FFF2-40B4-BE49-F238E27FC236}">
                  <a16:creationId xmlns:a16="http://schemas.microsoft.com/office/drawing/2014/main" xmlns="" id="{10AC52A8-0502-8D4A-AC13-7CB92F60C63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08" name="Group 137">
              <a:extLst>
                <a:ext uri="{FF2B5EF4-FFF2-40B4-BE49-F238E27FC236}">
                  <a16:creationId xmlns:a16="http://schemas.microsoft.com/office/drawing/2014/main" xmlns="" id="{74705E03-7801-7B48-B480-350446C44388}"/>
                </a:ext>
              </a:extLst>
            </p:cNvPr>
            <p:cNvGrpSpPr>
              <a:grpSpLocks/>
            </p:cNvGrpSpPr>
            <p:nvPr/>
          </p:nvGrpSpPr>
          <p:grpSpPr bwMode="auto">
            <a:xfrm>
              <a:off x="4747" y="994"/>
              <a:ext cx="581" cy="134"/>
              <a:chOff x="614" y="2568"/>
              <a:chExt cx="725" cy="139"/>
            </a:xfrm>
          </p:grpSpPr>
          <p:sp>
            <p:nvSpPr>
              <p:cNvPr id="429" name="AutoShape 138">
                <a:extLst>
                  <a:ext uri="{FF2B5EF4-FFF2-40B4-BE49-F238E27FC236}">
                    <a16:creationId xmlns:a16="http://schemas.microsoft.com/office/drawing/2014/main" xmlns="" id="{99F3069A-6DD0-8644-9400-4D75C6E7A8D8}"/>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0" name="AutoShape 139">
                <a:extLst>
                  <a:ext uri="{FF2B5EF4-FFF2-40B4-BE49-F238E27FC236}">
                    <a16:creationId xmlns:a16="http://schemas.microsoft.com/office/drawing/2014/main" xmlns="" id="{5CD3DB9D-6837-A440-8052-1C258BC50C4C}"/>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09" name="Rectangle 140">
              <a:extLst>
                <a:ext uri="{FF2B5EF4-FFF2-40B4-BE49-F238E27FC236}">
                  <a16:creationId xmlns:a16="http://schemas.microsoft.com/office/drawing/2014/main" xmlns="" id="{5E25305B-0E4D-B64C-986D-5C8970801687}"/>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0" name="Rectangle 141">
              <a:extLst>
                <a:ext uri="{FF2B5EF4-FFF2-40B4-BE49-F238E27FC236}">
                  <a16:creationId xmlns:a16="http://schemas.microsoft.com/office/drawing/2014/main" xmlns="" id="{9BE5A888-367B-F34A-89D6-EDE1723A2989}"/>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11" name="Group 142">
              <a:extLst>
                <a:ext uri="{FF2B5EF4-FFF2-40B4-BE49-F238E27FC236}">
                  <a16:creationId xmlns:a16="http://schemas.microsoft.com/office/drawing/2014/main" xmlns="" id="{6A6FAD94-34FC-AE44-83CD-8483AEB15BE4}"/>
                </a:ext>
              </a:extLst>
            </p:cNvPr>
            <p:cNvGrpSpPr>
              <a:grpSpLocks/>
            </p:cNvGrpSpPr>
            <p:nvPr/>
          </p:nvGrpSpPr>
          <p:grpSpPr bwMode="auto">
            <a:xfrm>
              <a:off x="4735" y="1627"/>
              <a:ext cx="582" cy="151"/>
              <a:chOff x="614" y="2568"/>
              <a:chExt cx="725" cy="139"/>
            </a:xfrm>
          </p:grpSpPr>
          <p:sp>
            <p:nvSpPr>
              <p:cNvPr id="427" name="AutoShape 143">
                <a:extLst>
                  <a:ext uri="{FF2B5EF4-FFF2-40B4-BE49-F238E27FC236}">
                    <a16:creationId xmlns:a16="http://schemas.microsoft.com/office/drawing/2014/main" xmlns="" id="{FDB729FC-0BB7-714B-8CB7-04CEB3A7D61B}"/>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8" name="AutoShape 144">
                <a:extLst>
                  <a:ext uri="{FF2B5EF4-FFF2-40B4-BE49-F238E27FC236}">
                    <a16:creationId xmlns:a16="http://schemas.microsoft.com/office/drawing/2014/main" xmlns="" id="{26E1758B-606B-A54A-B37B-4D5B7FB64E93}"/>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12" name="Freeform 145">
              <a:extLst>
                <a:ext uri="{FF2B5EF4-FFF2-40B4-BE49-F238E27FC236}">
                  <a16:creationId xmlns:a16="http://schemas.microsoft.com/office/drawing/2014/main" xmlns="" id="{CA66D6F4-6566-2346-AE37-5D469680361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13" name="Group 146">
              <a:extLst>
                <a:ext uri="{FF2B5EF4-FFF2-40B4-BE49-F238E27FC236}">
                  <a16:creationId xmlns:a16="http://schemas.microsoft.com/office/drawing/2014/main" xmlns="" id="{14E0B7CB-EDF8-5B41-B427-8AD65964DE01}"/>
                </a:ext>
              </a:extLst>
            </p:cNvPr>
            <p:cNvGrpSpPr>
              <a:grpSpLocks/>
            </p:cNvGrpSpPr>
            <p:nvPr/>
          </p:nvGrpSpPr>
          <p:grpSpPr bwMode="auto">
            <a:xfrm>
              <a:off x="4739" y="1327"/>
              <a:ext cx="582" cy="139"/>
              <a:chOff x="614" y="2568"/>
              <a:chExt cx="725" cy="139"/>
            </a:xfrm>
          </p:grpSpPr>
          <p:sp>
            <p:nvSpPr>
              <p:cNvPr id="425" name="AutoShape 147">
                <a:extLst>
                  <a:ext uri="{FF2B5EF4-FFF2-40B4-BE49-F238E27FC236}">
                    <a16:creationId xmlns:a16="http://schemas.microsoft.com/office/drawing/2014/main" xmlns="" id="{467127AD-2CB0-8C45-8018-5848115D91DE}"/>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6" name="AutoShape 148">
                <a:extLst>
                  <a:ext uri="{FF2B5EF4-FFF2-40B4-BE49-F238E27FC236}">
                    <a16:creationId xmlns:a16="http://schemas.microsoft.com/office/drawing/2014/main" xmlns="" id="{0796E888-44D7-9F44-8AFE-FED1CF4EBA8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14" name="Rectangle 149">
              <a:extLst>
                <a:ext uri="{FF2B5EF4-FFF2-40B4-BE49-F238E27FC236}">
                  <a16:creationId xmlns:a16="http://schemas.microsoft.com/office/drawing/2014/main" xmlns="" id="{4E54C520-F74E-674F-A888-F85B55FA577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5" name="Freeform 150">
              <a:extLst>
                <a:ext uri="{FF2B5EF4-FFF2-40B4-BE49-F238E27FC236}">
                  <a16:creationId xmlns:a16="http://schemas.microsoft.com/office/drawing/2014/main" xmlns="" id="{0B18E885-C455-204F-9F4D-7CADCD00CB7B}"/>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6" name="Freeform 151">
              <a:extLst>
                <a:ext uri="{FF2B5EF4-FFF2-40B4-BE49-F238E27FC236}">
                  <a16:creationId xmlns:a16="http://schemas.microsoft.com/office/drawing/2014/main" xmlns="" id="{2B747C07-7872-A24D-BBEF-F9E8EAAF1EA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7" name="Oval 152">
              <a:extLst>
                <a:ext uri="{FF2B5EF4-FFF2-40B4-BE49-F238E27FC236}">
                  <a16:creationId xmlns:a16="http://schemas.microsoft.com/office/drawing/2014/main" xmlns="" id="{AD0A4401-053C-AC45-9D2C-65FFC62C7980}"/>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8" name="Freeform 153">
              <a:extLst>
                <a:ext uri="{FF2B5EF4-FFF2-40B4-BE49-F238E27FC236}">
                  <a16:creationId xmlns:a16="http://schemas.microsoft.com/office/drawing/2014/main" xmlns="" id="{89E1D87C-2C15-6646-AFDC-9A1416DDED7C}"/>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9" name="AutoShape 154">
              <a:extLst>
                <a:ext uri="{FF2B5EF4-FFF2-40B4-BE49-F238E27FC236}">
                  <a16:creationId xmlns:a16="http://schemas.microsoft.com/office/drawing/2014/main" xmlns="" id="{66C645BA-D886-044E-8239-D4BE8DA9A6C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0" name="AutoShape 155">
              <a:extLst>
                <a:ext uri="{FF2B5EF4-FFF2-40B4-BE49-F238E27FC236}">
                  <a16:creationId xmlns:a16="http://schemas.microsoft.com/office/drawing/2014/main" xmlns="" id="{5747D9F6-ED38-1747-B38A-3A0F3326F027}"/>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1" name="Oval 156">
              <a:extLst>
                <a:ext uri="{FF2B5EF4-FFF2-40B4-BE49-F238E27FC236}">
                  <a16:creationId xmlns:a16="http://schemas.microsoft.com/office/drawing/2014/main" xmlns="" id="{0317D36C-EC57-0840-A957-CE85B2AD965D}"/>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2" name="Oval 157">
              <a:extLst>
                <a:ext uri="{FF2B5EF4-FFF2-40B4-BE49-F238E27FC236}">
                  <a16:creationId xmlns:a16="http://schemas.microsoft.com/office/drawing/2014/main" xmlns="" id="{540537FD-C807-3D49-8566-6C4A55E3A420}"/>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423" name="Oval 158">
              <a:extLst>
                <a:ext uri="{FF2B5EF4-FFF2-40B4-BE49-F238E27FC236}">
                  <a16:creationId xmlns:a16="http://schemas.microsoft.com/office/drawing/2014/main" xmlns="" id="{23CFD8C3-6E99-8C40-806D-0A745B8363F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4" name="Rectangle 159">
              <a:extLst>
                <a:ext uri="{FF2B5EF4-FFF2-40B4-BE49-F238E27FC236}">
                  <a16:creationId xmlns:a16="http://schemas.microsoft.com/office/drawing/2014/main" xmlns="" id="{8A5D6DAA-891A-F544-9751-D8BAAF267EA2}"/>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37" name="Group 160">
            <a:extLst>
              <a:ext uri="{FF2B5EF4-FFF2-40B4-BE49-F238E27FC236}">
                <a16:creationId xmlns:a16="http://schemas.microsoft.com/office/drawing/2014/main" xmlns="" id="{4D8A606A-8EFC-7640-A900-5D4C81F03937}"/>
              </a:ext>
            </a:extLst>
          </p:cNvPr>
          <p:cNvGrpSpPr>
            <a:grpSpLocks/>
          </p:cNvGrpSpPr>
          <p:nvPr/>
        </p:nvGrpSpPr>
        <p:grpSpPr bwMode="auto">
          <a:xfrm>
            <a:off x="438973" y="4241457"/>
            <a:ext cx="484073" cy="426879"/>
            <a:chOff x="-44" y="1473"/>
            <a:chExt cx="981" cy="1105"/>
          </a:xfrm>
        </p:grpSpPr>
        <p:pic>
          <p:nvPicPr>
            <p:cNvPr id="399" name="Picture 161" descr="desktop_computer_stylized_medium">
              <a:extLst>
                <a:ext uri="{FF2B5EF4-FFF2-40B4-BE49-F238E27FC236}">
                  <a16:creationId xmlns:a16="http://schemas.microsoft.com/office/drawing/2014/main" xmlns="" id="{F51E3138-EF14-9E48-9BD4-406B983C41B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 name="Freeform 162">
              <a:extLst>
                <a:ext uri="{FF2B5EF4-FFF2-40B4-BE49-F238E27FC236}">
                  <a16:creationId xmlns:a16="http://schemas.microsoft.com/office/drawing/2014/main" xmlns="" id="{1256EDE8-FC43-7540-94FC-794D24BB662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338" name="Group 163">
            <a:extLst>
              <a:ext uri="{FF2B5EF4-FFF2-40B4-BE49-F238E27FC236}">
                <a16:creationId xmlns:a16="http://schemas.microsoft.com/office/drawing/2014/main" xmlns="" id="{0E7884E3-4890-9244-AEB3-FF8C9DC515D6}"/>
              </a:ext>
            </a:extLst>
          </p:cNvPr>
          <p:cNvGrpSpPr>
            <a:grpSpLocks/>
          </p:cNvGrpSpPr>
          <p:nvPr/>
        </p:nvGrpSpPr>
        <p:grpSpPr bwMode="auto">
          <a:xfrm>
            <a:off x="5356478" y="4302645"/>
            <a:ext cx="213518" cy="433111"/>
            <a:chOff x="4140" y="429"/>
            <a:chExt cx="1425" cy="2396"/>
          </a:xfrm>
        </p:grpSpPr>
        <p:sp>
          <p:nvSpPr>
            <p:cNvPr id="367" name="Freeform 164">
              <a:extLst>
                <a:ext uri="{FF2B5EF4-FFF2-40B4-BE49-F238E27FC236}">
                  <a16:creationId xmlns:a16="http://schemas.microsoft.com/office/drawing/2014/main" xmlns="" id="{3564F793-BB5B-2049-A377-2092094C063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68" name="Rectangle 165">
              <a:extLst>
                <a:ext uri="{FF2B5EF4-FFF2-40B4-BE49-F238E27FC236}">
                  <a16:creationId xmlns:a16="http://schemas.microsoft.com/office/drawing/2014/main" xmlns="" id="{EF360F4F-5495-6B4D-B6E0-552EB9DCADC6}"/>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9" name="Freeform 166">
              <a:extLst>
                <a:ext uri="{FF2B5EF4-FFF2-40B4-BE49-F238E27FC236}">
                  <a16:creationId xmlns:a16="http://schemas.microsoft.com/office/drawing/2014/main" xmlns="" id="{49576006-660E-9B47-AFBF-364EFC883E6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70" name="Freeform 167">
              <a:extLst>
                <a:ext uri="{FF2B5EF4-FFF2-40B4-BE49-F238E27FC236}">
                  <a16:creationId xmlns:a16="http://schemas.microsoft.com/office/drawing/2014/main" xmlns="" id="{8EB33FC8-E304-CE41-9CD6-0AD73C996C2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71" name="Rectangle 168">
              <a:extLst>
                <a:ext uri="{FF2B5EF4-FFF2-40B4-BE49-F238E27FC236}">
                  <a16:creationId xmlns:a16="http://schemas.microsoft.com/office/drawing/2014/main" xmlns="" id="{6C778B32-41A0-8244-BBE2-93B6E1761379}"/>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72" name="Group 169">
              <a:extLst>
                <a:ext uri="{FF2B5EF4-FFF2-40B4-BE49-F238E27FC236}">
                  <a16:creationId xmlns:a16="http://schemas.microsoft.com/office/drawing/2014/main" xmlns="" id="{7BA4195B-DEBE-4B4C-9882-FED7243E720C}"/>
                </a:ext>
              </a:extLst>
            </p:cNvPr>
            <p:cNvGrpSpPr>
              <a:grpSpLocks/>
            </p:cNvGrpSpPr>
            <p:nvPr/>
          </p:nvGrpSpPr>
          <p:grpSpPr bwMode="auto">
            <a:xfrm>
              <a:off x="4749" y="668"/>
              <a:ext cx="581" cy="145"/>
              <a:chOff x="614" y="2568"/>
              <a:chExt cx="725" cy="139"/>
            </a:xfrm>
          </p:grpSpPr>
          <p:sp>
            <p:nvSpPr>
              <p:cNvPr id="397" name="AutoShape 170">
                <a:extLst>
                  <a:ext uri="{FF2B5EF4-FFF2-40B4-BE49-F238E27FC236}">
                    <a16:creationId xmlns:a16="http://schemas.microsoft.com/office/drawing/2014/main" xmlns="" id="{C3147CE6-9A26-0846-A572-5121F21F6CF4}"/>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8" name="AutoShape 171">
                <a:extLst>
                  <a:ext uri="{FF2B5EF4-FFF2-40B4-BE49-F238E27FC236}">
                    <a16:creationId xmlns:a16="http://schemas.microsoft.com/office/drawing/2014/main" xmlns="" id="{E60D0823-A680-E749-BF37-E473D78B1738}"/>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73" name="Rectangle 172">
              <a:extLst>
                <a:ext uri="{FF2B5EF4-FFF2-40B4-BE49-F238E27FC236}">
                  <a16:creationId xmlns:a16="http://schemas.microsoft.com/office/drawing/2014/main" xmlns="" id="{FC18395B-F97E-B149-8E05-15194860B04B}"/>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74" name="Group 173">
              <a:extLst>
                <a:ext uri="{FF2B5EF4-FFF2-40B4-BE49-F238E27FC236}">
                  <a16:creationId xmlns:a16="http://schemas.microsoft.com/office/drawing/2014/main" xmlns="" id="{2BA003D7-82C2-B445-B5A2-C950E112D3A8}"/>
                </a:ext>
              </a:extLst>
            </p:cNvPr>
            <p:cNvGrpSpPr>
              <a:grpSpLocks/>
            </p:cNvGrpSpPr>
            <p:nvPr/>
          </p:nvGrpSpPr>
          <p:grpSpPr bwMode="auto">
            <a:xfrm>
              <a:off x="4747" y="994"/>
              <a:ext cx="581" cy="134"/>
              <a:chOff x="614" y="2568"/>
              <a:chExt cx="725" cy="139"/>
            </a:xfrm>
          </p:grpSpPr>
          <p:sp>
            <p:nvSpPr>
              <p:cNvPr id="395" name="AutoShape 174">
                <a:extLst>
                  <a:ext uri="{FF2B5EF4-FFF2-40B4-BE49-F238E27FC236}">
                    <a16:creationId xmlns:a16="http://schemas.microsoft.com/office/drawing/2014/main" xmlns="" id="{FAC3334E-F98D-3143-8A22-9FBE215555C8}"/>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6" name="AutoShape 175">
                <a:extLst>
                  <a:ext uri="{FF2B5EF4-FFF2-40B4-BE49-F238E27FC236}">
                    <a16:creationId xmlns:a16="http://schemas.microsoft.com/office/drawing/2014/main" xmlns="" id="{E2C9795D-E16D-BA42-A574-5505AF764534}"/>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75" name="Rectangle 176">
              <a:extLst>
                <a:ext uri="{FF2B5EF4-FFF2-40B4-BE49-F238E27FC236}">
                  <a16:creationId xmlns:a16="http://schemas.microsoft.com/office/drawing/2014/main" xmlns="" id="{E8ADCEF9-A7C3-1346-9F35-EAE9DE327CB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6" name="Rectangle 177">
              <a:extLst>
                <a:ext uri="{FF2B5EF4-FFF2-40B4-BE49-F238E27FC236}">
                  <a16:creationId xmlns:a16="http://schemas.microsoft.com/office/drawing/2014/main" xmlns="" id="{04D364FF-2C20-5C4D-B865-EF176AD2D2E5}"/>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77" name="Group 178">
              <a:extLst>
                <a:ext uri="{FF2B5EF4-FFF2-40B4-BE49-F238E27FC236}">
                  <a16:creationId xmlns:a16="http://schemas.microsoft.com/office/drawing/2014/main" xmlns="" id="{62CBF903-6CC6-274F-B178-5CF7DFE4E8FF}"/>
                </a:ext>
              </a:extLst>
            </p:cNvPr>
            <p:cNvGrpSpPr>
              <a:grpSpLocks/>
            </p:cNvGrpSpPr>
            <p:nvPr/>
          </p:nvGrpSpPr>
          <p:grpSpPr bwMode="auto">
            <a:xfrm>
              <a:off x="4735" y="1627"/>
              <a:ext cx="582" cy="151"/>
              <a:chOff x="614" y="2568"/>
              <a:chExt cx="725" cy="139"/>
            </a:xfrm>
          </p:grpSpPr>
          <p:sp>
            <p:nvSpPr>
              <p:cNvPr id="393" name="AutoShape 179">
                <a:extLst>
                  <a:ext uri="{FF2B5EF4-FFF2-40B4-BE49-F238E27FC236}">
                    <a16:creationId xmlns:a16="http://schemas.microsoft.com/office/drawing/2014/main" xmlns="" id="{204B8DDB-66CE-734E-B5AA-D99AAFCB5D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4" name="AutoShape 180">
                <a:extLst>
                  <a:ext uri="{FF2B5EF4-FFF2-40B4-BE49-F238E27FC236}">
                    <a16:creationId xmlns:a16="http://schemas.microsoft.com/office/drawing/2014/main" xmlns="" id="{1C725834-7BCF-624D-ADAE-62F2539CDD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78" name="Freeform 181">
              <a:extLst>
                <a:ext uri="{FF2B5EF4-FFF2-40B4-BE49-F238E27FC236}">
                  <a16:creationId xmlns:a16="http://schemas.microsoft.com/office/drawing/2014/main" xmlns="" id="{98340748-8514-DB48-90DD-355362472770}"/>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79" name="Group 182">
              <a:extLst>
                <a:ext uri="{FF2B5EF4-FFF2-40B4-BE49-F238E27FC236}">
                  <a16:creationId xmlns:a16="http://schemas.microsoft.com/office/drawing/2014/main" xmlns="" id="{F9562A1A-DA6F-9849-AC85-D69A990FF6C5}"/>
                </a:ext>
              </a:extLst>
            </p:cNvPr>
            <p:cNvGrpSpPr>
              <a:grpSpLocks/>
            </p:cNvGrpSpPr>
            <p:nvPr/>
          </p:nvGrpSpPr>
          <p:grpSpPr bwMode="auto">
            <a:xfrm>
              <a:off x="4739" y="1327"/>
              <a:ext cx="582" cy="139"/>
              <a:chOff x="614" y="2568"/>
              <a:chExt cx="725" cy="139"/>
            </a:xfrm>
          </p:grpSpPr>
          <p:sp>
            <p:nvSpPr>
              <p:cNvPr id="391" name="AutoShape 183">
                <a:extLst>
                  <a:ext uri="{FF2B5EF4-FFF2-40B4-BE49-F238E27FC236}">
                    <a16:creationId xmlns:a16="http://schemas.microsoft.com/office/drawing/2014/main" xmlns="" id="{A670CFDF-AFF7-A547-9CF4-9F926AE4D45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2" name="AutoShape 184">
                <a:extLst>
                  <a:ext uri="{FF2B5EF4-FFF2-40B4-BE49-F238E27FC236}">
                    <a16:creationId xmlns:a16="http://schemas.microsoft.com/office/drawing/2014/main" xmlns="" id="{8B989888-AABB-1E49-9382-C06BFA14BDC8}"/>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0" name="Rectangle 185">
              <a:extLst>
                <a:ext uri="{FF2B5EF4-FFF2-40B4-BE49-F238E27FC236}">
                  <a16:creationId xmlns:a16="http://schemas.microsoft.com/office/drawing/2014/main" xmlns="" id="{BB8DEF06-6B12-6A43-8D15-89B827E3F7B3}"/>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1" name="Freeform 186">
              <a:extLst>
                <a:ext uri="{FF2B5EF4-FFF2-40B4-BE49-F238E27FC236}">
                  <a16:creationId xmlns:a16="http://schemas.microsoft.com/office/drawing/2014/main" xmlns="" id="{D46CBF71-1AA1-1848-B7FE-0B5B429E7BF3}"/>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2" name="Freeform 187">
              <a:extLst>
                <a:ext uri="{FF2B5EF4-FFF2-40B4-BE49-F238E27FC236}">
                  <a16:creationId xmlns:a16="http://schemas.microsoft.com/office/drawing/2014/main" xmlns="" id="{E33DBEE9-2A43-1846-9129-67A75C2B41A8}"/>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3" name="Oval 188">
              <a:extLst>
                <a:ext uri="{FF2B5EF4-FFF2-40B4-BE49-F238E27FC236}">
                  <a16:creationId xmlns:a16="http://schemas.microsoft.com/office/drawing/2014/main" xmlns="" id="{4184AD3D-A3AA-D744-B0D4-86BC19CF850B}"/>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4" name="Freeform 189">
              <a:extLst>
                <a:ext uri="{FF2B5EF4-FFF2-40B4-BE49-F238E27FC236}">
                  <a16:creationId xmlns:a16="http://schemas.microsoft.com/office/drawing/2014/main" xmlns="" id="{30BD63BA-1E7E-5543-8241-5EE587F00DF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5" name="AutoShape 190">
              <a:extLst>
                <a:ext uri="{FF2B5EF4-FFF2-40B4-BE49-F238E27FC236}">
                  <a16:creationId xmlns:a16="http://schemas.microsoft.com/office/drawing/2014/main" xmlns="" id="{221FD49B-FBB4-D44C-A5B9-40C856B448C9}"/>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6" name="AutoShape 191">
              <a:extLst>
                <a:ext uri="{FF2B5EF4-FFF2-40B4-BE49-F238E27FC236}">
                  <a16:creationId xmlns:a16="http://schemas.microsoft.com/office/drawing/2014/main" xmlns="" id="{E02AA9C5-4176-1C44-A6F0-A95EC32403A6}"/>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7" name="Oval 192">
              <a:extLst>
                <a:ext uri="{FF2B5EF4-FFF2-40B4-BE49-F238E27FC236}">
                  <a16:creationId xmlns:a16="http://schemas.microsoft.com/office/drawing/2014/main" xmlns="" id="{DB848E75-06E4-9845-A916-4E09A522EAB5}"/>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8" name="Oval 193">
              <a:extLst>
                <a:ext uri="{FF2B5EF4-FFF2-40B4-BE49-F238E27FC236}">
                  <a16:creationId xmlns:a16="http://schemas.microsoft.com/office/drawing/2014/main" xmlns="" id="{E1CC4DA0-CE21-7849-ADF5-B8258F6A703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389" name="Oval 194">
              <a:extLst>
                <a:ext uri="{FF2B5EF4-FFF2-40B4-BE49-F238E27FC236}">
                  <a16:creationId xmlns:a16="http://schemas.microsoft.com/office/drawing/2014/main" xmlns="" id="{FB60D991-801A-5D49-A562-F17DB7672BEC}"/>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0" name="Rectangle 195">
              <a:extLst>
                <a:ext uri="{FF2B5EF4-FFF2-40B4-BE49-F238E27FC236}">
                  <a16:creationId xmlns:a16="http://schemas.microsoft.com/office/drawing/2014/main" xmlns="" id="{E71FA6D2-7AE4-AB49-97A1-DC456EBD084E}"/>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39" name="Line 57">
            <a:extLst>
              <a:ext uri="{FF2B5EF4-FFF2-40B4-BE49-F238E27FC236}">
                <a16:creationId xmlns:a16="http://schemas.microsoft.com/office/drawing/2014/main" xmlns="" id="{249CC5AB-AB21-0542-9359-82773A70F7B0}"/>
              </a:ext>
            </a:extLst>
          </p:cNvPr>
          <p:cNvSpPr>
            <a:spLocks noChangeShapeType="1"/>
          </p:cNvSpPr>
          <p:nvPr/>
        </p:nvSpPr>
        <p:spPr bwMode="auto">
          <a:xfrm flipH="1">
            <a:off x="3866527" y="4491277"/>
            <a:ext cx="7574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0" name="Line 57">
            <a:extLst>
              <a:ext uri="{FF2B5EF4-FFF2-40B4-BE49-F238E27FC236}">
                <a16:creationId xmlns:a16="http://schemas.microsoft.com/office/drawing/2014/main" xmlns="" id="{D195CB72-88E8-C440-A559-6FA4F63B9443}"/>
              </a:ext>
            </a:extLst>
          </p:cNvPr>
          <p:cNvSpPr>
            <a:spLocks noChangeShapeType="1"/>
          </p:cNvSpPr>
          <p:nvPr/>
        </p:nvSpPr>
        <p:spPr bwMode="auto">
          <a:xfrm flipH="1">
            <a:off x="2250897" y="3639916"/>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1" name="Line 57">
            <a:extLst>
              <a:ext uri="{FF2B5EF4-FFF2-40B4-BE49-F238E27FC236}">
                <a16:creationId xmlns:a16="http://schemas.microsoft.com/office/drawing/2014/main" xmlns="" id="{4BEB9C9E-14C1-E440-B93B-C474D1D3078F}"/>
              </a:ext>
            </a:extLst>
          </p:cNvPr>
          <p:cNvSpPr>
            <a:spLocks noChangeShapeType="1"/>
          </p:cNvSpPr>
          <p:nvPr/>
        </p:nvSpPr>
        <p:spPr bwMode="auto">
          <a:xfrm flipH="1">
            <a:off x="1402043" y="4493579"/>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43" name="Group 342">
            <a:extLst>
              <a:ext uri="{FF2B5EF4-FFF2-40B4-BE49-F238E27FC236}">
                <a16:creationId xmlns:a16="http://schemas.microsoft.com/office/drawing/2014/main" xmlns="" id="{406EC58A-B6EC-4447-9E97-40F524DE60FB}"/>
              </a:ext>
            </a:extLst>
          </p:cNvPr>
          <p:cNvGrpSpPr/>
          <p:nvPr/>
        </p:nvGrpSpPr>
        <p:grpSpPr>
          <a:xfrm>
            <a:off x="2061817" y="2570560"/>
            <a:ext cx="2138708" cy="709613"/>
            <a:chOff x="2749090" y="3427413"/>
            <a:chExt cx="2851610" cy="946150"/>
          </a:xfrm>
        </p:grpSpPr>
        <p:sp>
          <p:nvSpPr>
            <p:cNvPr id="360" name="Text Box 68">
              <a:extLst>
                <a:ext uri="{FF2B5EF4-FFF2-40B4-BE49-F238E27FC236}">
                  <a16:creationId xmlns:a16="http://schemas.microsoft.com/office/drawing/2014/main" xmlns="" id="{FA375BE1-B3E2-C94A-A758-A65780134EA0}"/>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original data</a:t>
              </a:r>
              <a:endParaRPr lang="en-US" altLang="en-US" sz="1200" kern="1200" dirty="0">
                <a:solidFill>
                  <a:srgbClr val="C00000"/>
                </a:solidFill>
                <a:latin typeface="Comic Sans MS" panose="030F0902030302020204" pitchFamily="66" charset="0"/>
                <a:cs typeface="+mn-cs"/>
              </a:endParaRPr>
            </a:p>
          </p:txBody>
        </p:sp>
        <p:sp>
          <p:nvSpPr>
            <p:cNvPr id="361" name="Oval 217">
              <a:extLst>
                <a:ext uri="{FF2B5EF4-FFF2-40B4-BE49-F238E27FC236}">
                  <a16:creationId xmlns:a16="http://schemas.microsoft.com/office/drawing/2014/main" xmlns="" id="{D579EE0C-24C1-7F4B-B6EE-A5D60E6E72F5}"/>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62" name="Line 229">
              <a:extLst>
                <a:ext uri="{FF2B5EF4-FFF2-40B4-BE49-F238E27FC236}">
                  <a16:creationId xmlns:a16="http://schemas.microsoft.com/office/drawing/2014/main" xmlns="" id="{7DFBE726-798B-1140-8F3C-66C3B37C2B5D}"/>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63" name="Oval 232">
              <a:extLst>
                <a:ext uri="{FF2B5EF4-FFF2-40B4-BE49-F238E27FC236}">
                  <a16:creationId xmlns:a16="http://schemas.microsoft.com/office/drawing/2014/main" xmlns="" id="{41ED5C42-E6DE-0444-B4F1-99DA159ABE99}"/>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64" name="Text Box 233">
              <a:extLst>
                <a:ext uri="{FF2B5EF4-FFF2-40B4-BE49-F238E27FC236}">
                  <a16:creationId xmlns:a16="http://schemas.microsoft.com/office/drawing/2014/main" xmlns="" id="{B7139E43-D720-7844-9069-FE79DA74AC38}"/>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original data, </a:t>
              </a:r>
              <a:r>
                <a:rPr lang="en-US" altLang="en-US" sz="1200" i="1" kern="1200" dirty="0">
                  <a:solidFill>
                    <a:srgbClr val="C00000"/>
                  </a:solidFill>
                  <a:latin typeface="Arial" panose="020B0604020202020204" pitchFamily="34" charset="0"/>
                  <a:cs typeface="+mn-cs"/>
                </a:rPr>
                <a:t>plus</a:t>
              </a:r>
              <a:r>
                <a:rPr lang="en-US" altLang="en-US" sz="1200" kern="1200" dirty="0">
                  <a:solidFill>
                    <a:srgbClr val="C00000"/>
                  </a:solidFill>
                  <a:latin typeface="Arial" panose="020B0604020202020204" pitchFamily="34" charset="0"/>
                  <a:cs typeface="+mn-cs"/>
                </a:rPr>
                <a:t> retransmitted data</a:t>
              </a:r>
              <a:endParaRPr lang="en-US" altLang="en-US" sz="1200" kern="1200" dirty="0">
                <a:solidFill>
                  <a:srgbClr val="C00000"/>
                </a:solidFill>
                <a:latin typeface="Comic Sans MS" panose="030F0902030302020204" pitchFamily="66" charset="0"/>
                <a:cs typeface="+mn-cs"/>
              </a:endParaRPr>
            </a:p>
          </p:txBody>
        </p:sp>
        <p:sp>
          <p:nvSpPr>
            <p:cNvPr id="365" name="Line 234">
              <a:extLst>
                <a:ext uri="{FF2B5EF4-FFF2-40B4-BE49-F238E27FC236}">
                  <a16:creationId xmlns:a16="http://schemas.microsoft.com/office/drawing/2014/main" xmlns="" id="{0082E09C-2174-3D43-877E-80509AB6F4D1}"/>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6" name="Line 235">
              <a:extLst>
                <a:ext uri="{FF2B5EF4-FFF2-40B4-BE49-F238E27FC236}">
                  <a16:creationId xmlns:a16="http://schemas.microsoft.com/office/drawing/2014/main" xmlns="" id="{D509C4AE-0768-3A40-9EEC-F41827CED3E1}"/>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44" name="Group 343">
            <a:extLst>
              <a:ext uri="{FF2B5EF4-FFF2-40B4-BE49-F238E27FC236}">
                <a16:creationId xmlns:a16="http://schemas.microsoft.com/office/drawing/2014/main" xmlns="" id="{D2E444DF-6D2A-054F-ACC0-9BC78029DB62}"/>
              </a:ext>
            </a:extLst>
          </p:cNvPr>
          <p:cNvGrpSpPr/>
          <p:nvPr/>
        </p:nvGrpSpPr>
        <p:grpSpPr>
          <a:xfrm>
            <a:off x="2185117" y="3914215"/>
            <a:ext cx="1454048" cy="975136"/>
            <a:chOff x="2913490" y="5218953"/>
            <a:chExt cx="1938730" cy="1300181"/>
          </a:xfrm>
        </p:grpSpPr>
        <p:sp>
          <p:nvSpPr>
            <p:cNvPr id="349" name="Text Box 32">
              <a:extLst>
                <a:ext uri="{FF2B5EF4-FFF2-40B4-BE49-F238E27FC236}">
                  <a16:creationId xmlns:a16="http://schemas.microsoft.com/office/drawing/2014/main" xmlns="" id="{568EB7D0-7CC1-B447-B931-1708DD0E5DFD}"/>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200" b="1" i="1" kern="1200" dirty="0">
                  <a:solidFill>
                    <a:srgbClr val="C00000"/>
                  </a:solidFill>
                  <a:latin typeface="Arial" panose="020B0604020202020204" pitchFamily="34" charset="0"/>
                  <a:cs typeface="+mn-cs"/>
                </a:rPr>
                <a:t>finite</a:t>
              </a:r>
              <a:r>
                <a:rPr lang="en-US" altLang="en-US" sz="900" kern="1200" dirty="0">
                  <a:solidFill>
                    <a:srgbClr val="000000"/>
                  </a:solidFill>
                  <a:latin typeface="Arial" panose="020B0604020202020204" pitchFamily="34" charset="0"/>
                  <a:cs typeface="+mn-cs"/>
                </a:rPr>
                <a:t> shared output link buffers</a:t>
              </a:r>
            </a:p>
          </p:txBody>
        </p:sp>
        <p:sp>
          <p:nvSpPr>
            <p:cNvPr id="350" name="Line 77">
              <a:extLst>
                <a:ext uri="{FF2B5EF4-FFF2-40B4-BE49-F238E27FC236}">
                  <a16:creationId xmlns:a16="http://schemas.microsoft.com/office/drawing/2014/main" xmlns="" id="{2609129D-FECD-5541-8755-40B9535EF20B}"/>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1" name="Group 350">
              <a:extLst>
                <a:ext uri="{FF2B5EF4-FFF2-40B4-BE49-F238E27FC236}">
                  <a16:creationId xmlns:a16="http://schemas.microsoft.com/office/drawing/2014/main" xmlns="" id="{DC9E0C42-D0D0-C642-A75B-D2B504E09F89}"/>
                </a:ext>
              </a:extLst>
            </p:cNvPr>
            <p:cNvGrpSpPr/>
            <p:nvPr/>
          </p:nvGrpSpPr>
          <p:grpSpPr>
            <a:xfrm>
              <a:off x="4030362" y="5218953"/>
              <a:ext cx="821858" cy="355937"/>
              <a:chOff x="6859123" y="5156933"/>
              <a:chExt cx="456701" cy="226548"/>
            </a:xfrm>
          </p:grpSpPr>
          <p:sp>
            <p:nvSpPr>
              <p:cNvPr id="352" name="Rectangle 351">
                <a:extLst>
                  <a:ext uri="{FF2B5EF4-FFF2-40B4-BE49-F238E27FC236}">
                    <a16:creationId xmlns:a16="http://schemas.microsoft.com/office/drawing/2014/main" xmlns="" id="{E85536C7-7667-104C-AC53-1ACBD3293324}"/>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53" name="Straight Connector 352">
                <a:extLst>
                  <a:ext uri="{FF2B5EF4-FFF2-40B4-BE49-F238E27FC236}">
                    <a16:creationId xmlns:a16="http://schemas.microsoft.com/office/drawing/2014/main" xmlns="" id="{0F6C01FB-9ABA-2B44-8CD3-912673CE784D}"/>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xmlns="" id="{3479AC20-C321-4140-9DF7-DAE3A82CAFBF}"/>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xmlns="" id="{5D7A5D36-0D51-274E-BD57-89216EE3D0ED}"/>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xmlns="" id="{8C56DC83-453E-884E-88C0-5F16F3D2F239}"/>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xmlns="" id="{F486F91F-497E-4840-99FF-2F6E93438A65}"/>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xmlns="" id="{F367282B-BA64-9F40-80F4-FC127E0FBA3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xmlns="" id="{B165A859-F8AA-894A-AA38-F397DF087DF1}"/>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45" name="Freeform 91">
            <a:extLst>
              <a:ext uri="{FF2B5EF4-FFF2-40B4-BE49-F238E27FC236}">
                <a16:creationId xmlns:a16="http://schemas.microsoft.com/office/drawing/2014/main" xmlns="" id="{FE9A735A-D29D-5048-9B95-09DCFCC19EE5}"/>
              </a:ext>
            </a:extLst>
          </p:cNvPr>
          <p:cNvSpPr>
            <a:spLocks/>
          </p:cNvSpPr>
          <p:nvPr/>
        </p:nvSpPr>
        <p:spPr bwMode="auto">
          <a:xfrm>
            <a:off x="2102515" y="2744691"/>
            <a:ext cx="3158903" cy="1252595"/>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46" name="Group 345">
            <a:extLst>
              <a:ext uri="{FF2B5EF4-FFF2-40B4-BE49-F238E27FC236}">
                <a16:creationId xmlns:a16="http://schemas.microsoft.com/office/drawing/2014/main" xmlns="" id="{D2EA7F33-E890-F044-9EFA-B51D448A85C4}"/>
              </a:ext>
            </a:extLst>
          </p:cNvPr>
          <p:cNvGrpSpPr/>
          <p:nvPr/>
        </p:nvGrpSpPr>
        <p:grpSpPr>
          <a:xfrm>
            <a:off x="1189944" y="3557943"/>
            <a:ext cx="3685387" cy="1009554"/>
            <a:chOff x="5641439" y="2685215"/>
            <a:chExt cx="4000500" cy="1028700"/>
          </a:xfrm>
        </p:grpSpPr>
        <p:sp>
          <p:nvSpPr>
            <p:cNvPr id="347" name="Oval 73">
              <a:extLst>
                <a:ext uri="{FF2B5EF4-FFF2-40B4-BE49-F238E27FC236}">
                  <a16:creationId xmlns:a16="http://schemas.microsoft.com/office/drawing/2014/main" xmlns="" id="{3265C07F-8CC7-8143-AF1A-B97C285AC265}"/>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48" name="Freeform 90">
              <a:extLst>
                <a:ext uri="{FF2B5EF4-FFF2-40B4-BE49-F238E27FC236}">
                  <a16:creationId xmlns:a16="http://schemas.microsoft.com/office/drawing/2014/main" xmlns="" id="{342C12D1-D3C0-854C-B5E9-1645E78B3183}"/>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79221"/>
            <a:ext cx="8545512" cy="669925"/>
          </a:xfrm>
        </p:spPr>
        <p:txBody>
          <a:bodyPr>
            <a:normAutofit/>
          </a:bodyPr>
          <a:lstStyle/>
          <a:p>
            <a:r>
              <a:rPr lang="en-US" sz="4000" b="1" dirty="0"/>
              <a:t>Causes/costs of congestion: scenario 2</a:t>
            </a:r>
          </a:p>
        </p:txBody>
      </p:sp>
      <p:sp>
        <p:nvSpPr>
          <p:cNvPr id="215" name="Oval 217">
            <a:extLst>
              <a:ext uri="{FF2B5EF4-FFF2-40B4-BE49-F238E27FC236}">
                <a16:creationId xmlns:a16="http://schemas.microsoft.com/office/drawing/2014/main" xmlns="" id="{E8380F29-F9DD-FD41-A743-32A2D2C0356C}"/>
              </a:ext>
            </a:extLst>
          </p:cNvPr>
          <p:cNvSpPr>
            <a:spLocks noChangeArrowheads="1"/>
          </p:cNvSpPr>
          <p:nvPr/>
        </p:nvSpPr>
        <p:spPr bwMode="auto">
          <a:xfrm>
            <a:off x="2072879" y="2712244"/>
            <a:ext cx="84534" cy="86916"/>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30" name="Oval 232">
            <a:extLst>
              <a:ext uri="{FF2B5EF4-FFF2-40B4-BE49-F238E27FC236}">
                <a16:creationId xmlns:a16="http://schemas.microsoft.com/office/drawing/2014/main" xmlns="" id="{6F587E7E-71AC-E54E-91B9-31091ED341D4}"/>
              </a:ext>
            </a:extLst>
          </p:cNvPr>
          <p:cNvSpPr>
            <a:spLocks noChangeArrowheads="1"/>
          </p:cNvSpPr>
          <p:nvPr/>
        </p:nvSpPr>
        <p:spPr bwMode="auto">
          <a:xfrm>
            <a:off x="2072879" y="2887267"/>
            <a:ext cx="84534" cy="86915"/>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35" name="Rectangle 241">
            <a:extLst>
              <a:ext uri="{FF2B5EF4-FFF2-40B4-BE49-F238E27FC236}">
                <a16:creationId xmlns:a16="http://schemas.microsoft.com/office/drawing/2014/main" xmlns="" id="{17406B91-ED98-7540-A5E7-482325DFDBB3}"/>
              </a:ext>
            </a:extLst>
          </p:cNvPr>
          <p:cNvSpPr>
            <a:spLocks noChangeArrowheads="1"/>
          </p:cNvSpPr>
          <p:nvPr/>
        </p:nvSpPr>
        <p:spPr bwMode="auto">
          <a:xfrm>
            <a:off x="2033588" y="2693194"/>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6" name="Rectangle 242">
            <a:extLst>
              <a:ext uri="{FF2B5EF4-FFF2-40B4-BE49-F238E27FC236}">
                <a16:creationId xmlns:a16="http://schemas.microsoft.com/office/drawing/2014/main" xmlns="" id="{16D1BB3A-2730-5542-A67A-DC96F7F3C3AA}"/>
              </a:ext>
            </a:extLst>
          </p:cNvPr>
          <p:cNvSpPr>
            <a:spLocks noChangeArrowheads="1"/>
          </p:cNvSpPr>
          <p:nvPr/>
        </p:nvSpPr>
        <p:spPr bwMode="auto">
          <a:xfrm>
            <a:off x="1785938" y="2868217"/>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7" name="Text Box 243">
            <a:extLst>
              <a:ext uri="{FF2B5EF4-FFF2-40B4-BE49-F238E27FC236}">
                <a16:creationId xmlns:a16="http://schemas.microsoft.com/office/drawing/2014/main" xmlns="" id="{0D22406C-BED1-1A4C-A523-FB8EDCECFC59}"/>
              </a:ext>
            </a:extLst>
          </p:cNvPr>
          <p:cNvSpPr txBox="1">
            <a:spLocks noChangeArrowheads="1"/>
          </p:cNvSpPr>
          <p:nvPr/>
        </p:nvSpPr>
        <p:spPr bwMode="auto">
          <a:xfrm>
            <a:off x="1293577" y="2786063"/>
            <a:ext cx="50847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kern="1200" dirty="0">
                <a:solidFill>
                  <a:srgbClr val="006600"/>
                </a:solidFill>
                <a:latin typeface="Arial" charset="0"/>
                <a:cs typeface="+mn-cs"/>
              </a:rPr>
              <a:t>copy</a:t>
            </a:r>
          </a:p>
        </p:txBody>
      </p:sp>
      <p:sp>
        <p:nvSpPr>
          <p:cNvPr id="238" name="Text Box 259">
            <a:extLst>
              <a:ext uri="{FF2B5EF4-FFF2-40B4-BE49-F238E27FC236}">
                <a16:creationId xmlns:a16="http://schemas.microsoft.com/office/drawing/2014/main" xmlns="" id="{586FFC28-194B-2246-81D3-22BA6BAE93C1}"/>
              </a:ext>
            </a:extLst>
          </p:cNvPr>
          <p:cNvSpPr txBox="1">
            <a:spLocks noChangeArrowheads="1"/>
          </p:cNvSpPr>
          <p:nvPr/>
        </p:nvSpPr>
        <p:spPr bwMode="auto">
          <a:xfrm>
            <a:off x="2764941" y="3554171"/>
            <a:ext cx="138050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i="1" kern="1200" dirty="0">
                <a:solidFill>
                  <a:srgbClr val="006600"/>
                </a:solidFill>
                <a:latin typeface="Arial" charset="0"/>
                <a:cs typeface="+mn-cs"/>
              </a:rPr>
              <a:t>free buffer space!</a:t>
            </a:r>
          </a:p>
        </p:txBody>
      </p:sp>
      <p:sp>
        <p:nvSpPr>
          <p:cNvPr id="319" name="Rectangle 3">
            <a:extLst>
              <a:ext uri="{FF2B5EF4-FFF2-40B4-BE49-F238E27FC236}">
                <a16:creationId xmlns:a16="http://schemas.microsoft.com/office/drawing/2014/main" xmlns="" id="{E5E65C79-ACE3-1743-A76E-FFA95B9A44A1}"/>
              </a:ext>
            </a:extLst>
          </p:cNvPr>
          <p:cNvSpPr txBox="1">
            <a:spLocks noChangeArrowheads="1"/>
          </p:cNvSpPr>
          <p:nvPr/>
        </p:nvSpPr>
        <p:spPr>
          <a:xfrm>
            <a:off x="444353" y="1194321"/>
            <a:ext cx="5717382" cy="107275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lnSpc>
                <a:spcPct val="80000"/>
              </a:lnSpc>
              <a:spcBef>
                <a:spcPts val="750"/>
              </a:spcBef>
              <a:buNone/>
              <a:defRPr/>
            </a:pPr>
            <a:r>
              <a:rPr lang="en-US" sz="2100" dirty="0">
                <a:solidFill>
                  <a:srgbClr val="000099"/>
                </a:solidFill>
                <a:latin typeface="Calibri" panose="020F0502020204030204"/>
              </a:rPr>
              <a:t>Idealization: </a:t>
            </a:r>
            <a:r>
              <a:rPr lang="en-US" sz="2100" dirty="0">
                <a:solidFill>
                  <a:srgbClr val="C00000"/>
                </a:solidFill>
                <a:latin typeface="Calibri" panose="020F0502020204030204"/>
              </a:rPr>
              <a:t>perfect knowledge</a:t>
            </a:r>
          </a:p>
          <a:p>
            <a:pPr marL="350044" indent="-170260" defTabSz="685800">
              <a:lnSpc>
                <a:spcPct val="80000"/>
              </a:lnSpc>
              <a:spcBef>
                <a:spcPts val="750"/>
              </a:spcBef>
              <a:buFont typeface="Wingdings" charset="2"/>
              <a:buChar char="§"/>
              <a:defRPr/>
            </a:pPr>
            <a:r>
              <a:rPr lang="en-US" sz="1800" dirty="0">
                <a:solidFill>
                  <a:prstClr val="black"/>
                </a:solidFill>
                <a:latin typeface="Calibri" panose="020F0502020204030204"/>
              </a:rPr>
              <a:t>sender sends only when router buffers available </a:t>
            </a:r>
          </a:p>
          <a:p>
            <a:pPr marL="264319" indent="-166688" defTabSz="685800">
              <a:lnSpc>
                <a:spcPct val="80000"/>
              </a:lnSpc>
              <a:spcBef>
                <a:spcPts val="750"/>
              </a:spcBef>
              <a:buFont typeface="Wingdings" charset="2"/>
              <a:buChar char="§"/>
              <a:defRPr/>
            </a:pPr>
            <a:endParaRPr lang="en-US" sz="18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p:txBody>
      </p:sp>
      <p:sp>
        <p:nvSpPr>
          <p:cNvPr id="463" name="Text Box 219">
            <a:extLst>
              <a:ext uri="{FF2B5EF4-FFF2-40B4-BE49-F238E27FC236}">
                <a16:creationId xmlns:a16="http://schemas.microsoft.com/office/drawing/2014/main" xmlns="" id="{52831C5B-CB06-DA40-A231-55AF76B69619}"/>
              </a:ext>
            </a:extLst>
          </p:cNvPr>
          <p:cNvSpPr txBox="1">
            <a:spLocks noChangeArrowheads="1"/>
          </p:cNvSpPr>
          <p:nvPr/>
        </p:nvSpPr>
        <p:spPr bwMode="auto">
          <a:xfrm>
            <a:off x="5687616" y="2721769"/>
            <a:ext cx="474119" cy="354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out</a:t>
            </a:r>
            <a:endParaRPr lang="en-US" altLang="en-US" sz="1500" kern="1200" dirty="0">
              <a:solidFill>
                <a:srgbClr val="C00000"/>
              </a:solidFill>
              <a:latin typeface="Comic Sans MS" panose="030F0902030302020204" pitchFamily="66" charset="0"/>
              <a:cs typeface="+mn-cs"/>
            </a:endParaRPr>
          </a:p>
        </p:txBody>
      </p:sp>
      <p:sp>
        <p:nvSpPr>
          <p:cNvPr id="464" name="Line 236">
            <a:extLst>
              <a:ext uri="{FF2B5EF4-FFF2-40B4-BE49-F238E27FC236}">
                <a16:creationId xmlns:a16="http://schemas.microsoft.com/office/drawing/2014/main" xmlns="" id="{AFF1C7E6-124D-294E-B63A-863323A2A9B8}"/>
              </a:ext>
            </a:extLst>
          </p:cNvPr>
          <p:cNvSpPr>
            <a:spLocks noChangeShapeType="1"/>
          </p:cNvSpPr>
          <p:nvPr/>
        </p:nvSpPr>
        <p:spPr bwMode="auto">
          <a:xfrm>
            <a:off x="5337572" y="2876550"/>
            <a:ext cx="385763"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66" name="Group 465">
            <a:extLst>
              <a:ext uri="{FF2B5EF4-FFF2-40B4-BE49-F238E27FC236}">
                <a16:creationId xmlns:a16="http://schemas.microsoft.com/office/drawing/2014/main" xmlns="" id="{B447B17F-F2FC-BA4D-B4F5-E4177AE17CB6}"/>
              </a:ext>
            </a:extLst>
          </p:cNvPr>
          <p:cNvGrpSpPr/>
          <p:nvPr/>
        </p:nvGrpSpPr>
        <p:grpSpPr>
          <a:xfrm>
            <a:off x="2421069" y="4002586"/>
            <a:ext cx="1639465" cy="380565"/>
            <a:chOff x="3228093" y="5336775"/>
            <a:chExt cx="2185953" cy="507419"/>
          </a:xfrm>
        </p:grpSpPr>
        <p:sp>
          <p:nvSpPr>
            <p:cNvPr id="467" name="TextBox 466">
              <a:extLst>
                <a:ext uri="{FF2B5EF4-FFF2-40B4-BE49-F238E27FC236}">
                  <a16:creationId xmlns:a16="http://schemas.microsoft.com/office/drawing/2014/main" xmlns="" id="{047AB416-0A13-7F45-9060-405793255F64}"/>
                </a:ext>
              </a:extLst>
            </p:cNvPr>
            <p:cNvSpPr txBox="1"/>
            <p:nvPr/>
          </p:nvSpPr>
          <p:spPr>
            <a:xfrm>
              <a:off x="5001111" y="5336775"/>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68" name="TextBox 467">
              <a:extLst>
                <a:ext uri="{FF2B5EF4-FFF2-40B4-BE49-F238E27FC236}">
                  <a16:creationId xmlns:a16="http://schemas.microsoft.com/office/drawing/2014/main" xmlns="" id="{E0E6E743-A4D4-5C4F-827B-4DB74EAE48CD}"/>
                </a:ext>
              </a:extLst>
            </p:cNvPr>
            <p:cNvSpPr txBox="1"/>
            <p:nvPr/>
          </p:nvSpPr>
          <p:spPr>
            <a:xfrm>
              <a:off x="3228093" y="5351752"/>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grpSp>
      <p:grpSp>
        <p:nvGrpSpPr>
          <p:cNvPr id="10" name="Group 9">
            <a:extLst>
              <a:ext uri="{FF2B5EF4-FFF2-40B4-BE49-F238E27FC236}">
                <a16:creationId xmlns:a16="http://schemas.microsoft.com/office/drawing/2014/main" xmlns="" id="{C52758C3-5717-F349-9801-53D0A9A63540}"/>
              </a:ext>
            </a:extLst>
          </p:cNvPr>
          <p:cNvGrpSpPr/>
          <p:nvPr/>
        </p:nvGrpSpPr>
        <p:grpSpPr>
          <a:xfrm>
            <a:off x="6144325" y="1067976"/>
            <a:ext cx="2169966" cy="1960824"/>
            <a:chOff x="7614918" y="1260338"/>
            <a:chExt cx="2893289" cy="2614432"/>
          </a:xfrm>
        </p:grpSpPr>
        <p:sp>
          <p:nvSpPr>
            <p:cNvPr id="328" name="Text Box 285">
              <a:extLst>
                <a:ext uri="{FF2B5EF4-FFF2-40B4-BE49-F238E27FC236}">
                  <a16:creationId xmlns:a16="http://schemas.microsoft.com/office/drawing/2014/main" xmlns="" id="{6552704E-18C8-1F45-B183-35CF584169C1}"/>
                </a:ext>
              </a:extLst>
            </p:cNvPr>
            <p:cNvSpPr txBox="1">
              <a:spLocks noChangeArrowheads="1"/>
            </p:cNvSpPr>
            <p:nvPr/>
          </p:nvSpPr>
          <p:spPr bwMode="auto">
            <a:xfrm>
              <a:off x="9984132" y="3536215"/>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330" name="Text Box 287">
              <a:extLst>
                <a:ext uri="{FF2B5EF4-FFF2-40B4-BE49-F238E27FC236}">
                  <a16:creationId xmlns:a16="http://schemas.microsoft.com/office/drawing/2014/main" xmlns="" id="{D3FBF239-D37F-BE46-A593-750EEE535A20}"/>
                </a:ext>
              </a:extLst>
            </p:cNvPr>
            <p:cNvSpPr txBox="1">
              <a:spLocks noChangeArrowheads="1"/>
            </p:cNvSpPr>
            <p:nvPr/>
          </p:nvSpPr>
          <p:spPr bwMode="auto">
            <a:xfrm>
              <a:off x="8924637" y="3354937"/>
              <a:ext cx="519800"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mn-cs"/>
                </a:rPr>
                <a:t>l</a:t>
              </a:r>
              <a:r>
                <a:rPr lang="en-US" sz="1500" kern="1200" baseline="-25000" dirty="0">
                  <a:solidFill>
                    <a:prstClr val="black"/>
                  </a:solidFill>
                  <a:latin typeface="Arial" charset="0"/>
                  <a:cs typeface="+mn-cs"/>
                </a:rPr>
                <a:t>in</a:t>
              </a:r>
            </a:p>
          </p:txBody>
        </p:sp>
        <p:sp>
          <p:nvSpPr>
            <p:cNvPr id="321" name="Line 278">
              <a:extLst>
                <a:ext uri="{FF2B5EF4-FFF2-40B4-BE49-F238E27FC236}">
                  <a16:creationId xmlns:a16="http://schemas.microsoft.com/office/drawing/2014/main" xmlns="" id="{8D1C7E69-8607-034F-9010-2F675295D4F5}"/>
                </a:ext>
              </a:extLst>
            </p:cNvPr>
            <p:cNvSpPr>
              <a:spLocks noChangeShapeType="1"/>
            </p:cNvSpPr>
            <p:nvPr/>
          </p:nvSpPr>
          <p:spPr bwMode="auto">
            <a:xfrm>
              <a:off x="8219134" y="1260338"/>
              <a:ext cx="0" cy="215904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23" name="Line 280">
              <a:extLst>
                <a:ext uri="{FF2B5EF4-FFF2-40B4-BE49-F238E27FC236}">
                  <a16:creationId xmlns:a16="http://schemas.microsoft.com/office/drawing/2014/main" xmlns="" id="{7BEEB8CF-6CB9-6340-9F43-F3E16379CE2E}"/>
                </a:ext>
              </a:extLst>
            </p:cNvPr>
            <p:cNvSpPr>
              <a:spLocks noChangeShapeType="1"/>
            </p:cNvSpPr>
            <p:nvPr/>
          </p:nvSpPr>
          <p:spPr bwMode="auto">
            <a:xfrm>
              <a:off x="10226022" y="1496652"/>
              <a:ext cx="0" cy="1869027"/>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24" name="Freeform 281">
              <a:extLst>
                <a:ext uri="{FF2B5EF4-FFF2-40B4-BE49-F238E27FC236}">
                  <a16:creationId xmlns:a16="http://schemas.microsoft.com/office/drawing/2014/main" xmlns="" id="{8E4BA303-1A21-0447-B1FD-7D49AEC15714}"/>
                </a:ext>
              </a:extLst>
            </p:cNvPr>
            <p:cNvSpPr>
              <a:spLocks/>
            </p:cNvSpPr>
            <p:nvPr/>
          </p:nvSpPr>
          <p:spPr bwMode="auto">
            <a:xfrm>
              <a:off x="8207891" y="1437573"/>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a:defRPr/>
              </a:pPr>
              <a:endParaRPr lang="en-US" sz="1350" kern="1200" dirty="0">
                <a:solidFill>
                  <a:prstClr val="black"/>
                </a:solidFill>
                <a:latin typeface="Calibri" panose="020F0502020204030204"/>
                <a:ea typeface="+mn-ea"/>
                <a:cs typeface="+mn-cs"/>
              </a:endParaRPr>
            </a:p>
          </p:txBody>
        </p:sp>
        <p:sp>
          <p:nvSpPr>
            <p:cNvPr id="325" name="Line 282">
              <a:extLst>
                <a:ext uri="{FF2B5EF4-FFF2-40B4-BE49-F238E27FC236}">
                  <a16:creationId xmlns:a16="http://schemas.microsoft.com/office/drawing/2014/main" xmlns="" id="{0C4AD16F-1863-314E-9708-694B5FDAA99C}"/>
                </a:ext>
              </a:extLst>
            </p:cNvPr>
            <p:cNvSpPr>
              <a:spLocks noChangeShapeType="1"/>
            </p:cNvSpPr>
            <p:nvPr/>
          </p:nvSpPr>
          <p:spPr bwMode="auto">
            <a:xfrm>
              <a:off x="8072974" y="1437573"/>
              <a:ext cx="140538"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26" name="Line 283">
              <a:extLst>
                <a:ext uri="{FF2B5EF4-FFF2-40B4-BE49-F238E27FC236}">
                  <a16:creationId xmlns:a16="http://schemas.microsoft.com/office/drawing/2014/main" xmlns="" id="{9408EF0E-6715-C947-964B-F65207653824}"/>
                </a:ext>
              </a:extLst>
            </p:cNvPr>
            <p:cNvSpPr>
              <a:spLocks noChangeShapeType="1"/>
            </p:cNvSpPr>
            <p:nvPr/>
          </p:nvSpPr>
          <p:spPr bwMode="auto">
            <a:xfrm>
              <a:off x="10220401" y="3419386"/>
              <a:ext cx="0" cy="15575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27" name="Text Box 284">
              <a:extLst>
                <a:ext uri="{FF2B5EF4-FFF2-40B4-BE49-F238E27FC236}">
                  <a16:creationId xmlns:a16="http://schemas.microsoft.com/office/drawing/2014/main" xmlns="" id="{DA7FA505-87D5-134C-A7F4-6FFBF2A5BAFE}"/>
                </a:ext>
              </a:extLst>
            </p:cNvPr>
            <p:cNvSpPr txBox="1">
              <a:spLocks noChangeArrowheads="1"/>
            </p:cNvSpPr>
            <p:nvPr/>
          </p:nvSpPr>
          <p:spPr bwMode="auto">
            <a:xfrm>
              <a:off x="7614918" y="1263053"/>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329" name="Text Box 286">
              <a:extLst>
                <a:ext uri="{FF2B5EF4-FFF2-40B4-BE49-F238E27FC236}">
                  <a16:creationId xmlns:a16="http://schemas.microsoft.com/office/drawing/2014/main" xmlns="" id="{F49DCA20-B1B5-E041-9E16-56DEDA3D0B40}"/>
                </a:ext>
              </a:extLst>
            </p:cNvPr>
            <p:cNvSpPr txBox="1">
              <a:spLocks noChangeArrowheads="1"/>
            </p:cNvSpPr>
            <p:nvPr/>
          </p:nvSpPr>
          <p:spPr bwMode="auto">
            <a:xfrm rot="16200000">
              <a:off x="7633445" y="1528265"/>
              <a:ext cx="622392"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mn-cs"/>
                </a:rPr>
                <a:t>l</a:t>
              </a:r>
              <a:r>
                <a:rPr lang="en-US" sz="1500" kern="1200" baseline="-25000" dirty="0">
                  <a:solidFill>
                    <a:prstClr val="black"/>
                  </a:solidFill>
                  <a:latin typeface="Arial" charset="0"/>
                  <a:cs typeface="+mn-cs"/>
                </a:rPr>
                <a:t>out</a:t>
              </a:r>
            </a:p>
          </p:txBody>
        </p:sp>
        <p:sp>
          <p:nvSpPr>
            <p:cNvPr id="331" name="Line 288">
              <a:extLst>
                <a:ext uri="{FF2B5EF4-FFF2-40B4-BE49-F238E27FC236}">
                  <a16:creationId xmlns:a16="http://schemas.microsoft.com/office/drawing/2014/main" xmlns="" id="{91CAA45D-D9D4-7D43-8A3C-E896823A07F2}"/>
                </a:ext>
              </a:extLst>
            </p:cNvPr>
            <p:cNvSpPr>
              <a:spLocks noChangeShapeType="1"/>
            </p:cNvSpPr>
            <p:nvPr/>
          </p:nvSpPr>
          <p:spPr bwMode="auto">
            <a:xfrm>
              <a:off x="8252864" y="1440259"/>
              <a:ext cx="1841053" cy="0"/>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cxnSp>
          <p:nvCxnSpPr>
            <p:cNvPr id="4" name="Straight Connector 3">
              <a:extLst>
                <a:ext uri="{FF2B5EF4-FFF2-40B4-BE49-F238E27FC236}">
                  <a16:creationId xmlns:a16="http://schemas.microsoft.com/office/drawing/2014/main" xmlns="" id="{E424D221-E335-BE44-90B5-F02D72533E0A}"/>
                </a:ext>
              </a:extLst>
            </p:cNvPr>
            <p:cNvCxnSpPr>
              <a:cxnSpLocks/>
            </p:cNvCxnSpPr>
            <p:nvPr/>
          </p:nvCxnSpPr>
          <p:spPr>
            <a:xfrm>
              <a:off x="8229601" y="3397718"/>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5378D6D1-AFF2-2349-B28A-F078B72C27EA}"/>
                </a:ext>
              </a:extLst>
            </p:cNvPr>
            <p:cNvSpPr txBox="1"/>
            <p:nvPr/>
          </p:nvSpPr>
          <p:spPr>
            <a:xfrm rot="16200000">
              <a:off x="7363855" y="2464069"/>
              <a:ext cx="1292320" cy="369332"/>
            </a:xfrm>
            <a:prstGeom prst="rect">
              <a:avLst/>
            </a:prstGeom>
            <a:noFill/>
          </p:spPr>
          <p:txBody>
            <a:bodyPr wrap="none" rtlCol="0">
              <a:spAutoFit/>
            </a:bodyPr>
            <a:lstStyle/>
            <a:p>
              <a:pPr algn="l" defTabSz="685800" rtl="0">
                <a:defRPr/>
              </a:pPr>
              <a:r>
                <a:rPr lang="en-US" sz="1200" kern="1200" dirty="0">
                  <a:solidFill>
                    <a:prstClr val="black"/>
                  </a:solidFill>
                  <a:latin typeface="Calibri"/>
                  <a:ea typeface="+mn-ea"/>
                  <a:cs typeface="+mn-cs"/>
                </a:rPr>
                <a:t>throughput: </a:t>
              </a:r>
            </a:p>
          </p:txBody>
        </p:sp>
        <p:sp>
          <p:nvSpPr>
            <p:cNvPr id="8" name="Oval 7">
              <a:extLst>
                <a:ext uri="{FF2B5EF4-FFF2-40B4-BE49-F238E27FC236}">
                  <a16:creationId xmlns:a16="http://schemas.microsoft.com/office/drawing/2014/main" xmlns="" id="{CC0BD9B2-FF07-7748-9C3C-FBC864C16D93}"/>
                </a:ext>
              </a:extLst>
            </p:cNvPr>
            <p:cNvSpPr/>
            <p:nvPr/>
          </p:nvSpPr>
          <p:spPr>
            <a:xfrm>
              <a:off x="10147300" y="1397000"/>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spTree>
    <p:extLst>
      <p:ext uri="{BB962C8B-B14F-4D97-AF65-F5344CB8AC3E}">
        <p14:creationId xmlns:p14="http://schemas.microsoft.com/office/powerpoint/2010/main" val="44509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dissolve">
                                      <p:cBhvr>
                                        <p:cTn id="7" dur="500"/>
                                        <p:tgtEl>
                                          <p:spTgt spid="235"/>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5"/>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6"/>
                                        </p:tgtEl>
                                        <p:attrNameLst>
                                          <p:attrName>style.visibility</p:attrName>
                                        </p:attrNameLst>
                                      </p:cBhvr>
                                      <p:to>
                                        <p:strVal val="visible"/>
                                      </p:to>
                                    </p:set>
                                    <p:animEffect transition="in" filter="dissolve">
                                      <p:cBhvr>
                                        <p:cTn id="14" dur="500"/>
                                        <p:tgtEl>
                                          <p:spTgt spid="23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dissolve">
                                      <p:cBhvr>
                                        <p:cTn id="17" dur="500"/>
                                        <p:tgtEl>
                                          <p:spTgt spid="237"/>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26 0.17778 L 0.06537 0.17871 L 0.03542 0.24167 L 0.14753 0.24167 " pathEditMode="relative" rAng="0" ptsTypes="AAAAA">
                                      <p:cBhvr>
                                        <p:cTn id="20" dur="2000" fill="hold"/>
                                        <p:tgtEl>
                                          <p:spTgt spid="235"/>
                                        </p:tgtEl>
                                        <p:attrNameLst>
                                          <p:attrName>ppt_x</p:attrName>
                                          <p:attrName>ppt_y</p:attrName>
                                        </p:attrNameLst>
                                      </p:cBhvr>
                                      <p:rCtr x="7370" y="10301"/>
                                    </p:animMotion>
                                  </p:childTnLst>
                                </p:cTn>
                              </p:par>
                              <p:par>
                                <p:cTn id="21" presetID="9" presetClass="exit" presetSubtype="0" fill="hold" grpId="1" nodeType="withEffect">
                                  <p:stCondLst>
                                    <p:cond delay="0"/>
                                  </p:stCondLst>
                                  <p:childTnLst>
                                    <p:animEffect transition="out" filter="dissolve">
                                      <p:cBhvr>
                                        <p:cTn id="22" dur="500"/>
                                        <p:tgtEl>
                                          <p:spTgt spid="237"/>
                                        </p:tgtEl>
                                      </p:cBhvr>
                                    </p:animEffect>
                                    <p:set>
                                      <p:cBhvr>
                                        <p:cTn id="23" dur="1" fill="hold">
                                          <p:stCondLst>
                                            <p:cond delay="499"/>
                                          </p:stCondLst>
                                        </p:cTn>
                                        <p:tgtEl>
                                          <p:spTgt spid="237"/>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dissolve">
                                      <p:cBhvr>
                                        <p:cTn id="27" dur="500"/>
                                        <p:tgtEl>
                                          <p:spTgt spid="238"/>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4753 0.24167 L 0.17917 0.24167 " pathEditMode="relative" rAng="0" ptsTypes="AA">
                                      <p:cBhvr>
                                        <p:cTn id="30" dur="3000" fill="hold"/>
                                        <p:tgtEl>
                                          <p:spTgt spid="235"/>
                                        </p:tgtEl>
                                        <p:attrNameLst>
                                          <p:attrName>ppt_x</p:attrName>
                                          <p:attrName>ppt_y</p:attrName>
                                        </p:attrNameLst>
                                      </p:cBhvr>
                                      <p:rCtr x="1576" y="0"/>
                                    </p:animMotion>
                                  </p:childTnLst>
                                </p:cTn>
                              </p:par>
                            </p:childTnLst>
                          </p:cTn>
                        </p:par>
                        <p:par>
                          <p:cTn id="31" fill="hold">
                            <p:stCondLst>
                              <p:cond delay="8500"/>
                            </p:stCondLst>
                            <p:childTnLst>
                              <p:par>
                                <p:cTn id="32" presetID="9" presetClass="exit" presetSubtype="0" fill="hold" grpId="1" nodeType="afterEffect">
                                  <p:stCondLst>
                                    <p:cond delay="0"/>
                                  </p:stCondLst>
                                  <p:childTnLst>
                                    <p:animEffect transition="out" filter="dissolve">
                                      <p:cBhvr>
                                        <p:cTn id="33" dur="500"/>
                                        <p:tgtEl>
                                          <p:spTgt spid="238"/>
                                        </p:tgtEl>
                                      </p:cBhvr>
                                    </p:animEffect>
                                    <p:set>
                                      <p:cBhvr>
                                        <p:cTn id="34" dur="1" fill="hold">
                                          <p:stCondLst>
                                            <p:cond delay="499"/>
                                          </p:stCondLst>
                                        </p:cTn>
                                        <p:tgtEl>
                                          <p:spTgt spid="238"/>
                                        </p:tgtEl>
                                        <p:attrNameLst>
                                          <p:attrName>style.visibility</p:attrName>
                                        </p:attrNameLst>
                                      </p:cBhvr>
                                      <p:to>
                                        <p:strVal val="hidden"/>
                                      </p:to>
                                    </p:set>
                                  </p:childTnLst>
                                </p:cTn>
                              </p:par>
                            </p:childTnLst>
                          </p:cTn>
                        </p:par>
                        <p:par>
                          <p:cTn id="35" fill="hold">
                            <p:stCondLst>
                              <p:cond delay="9000"/>
                            </p:stCondLst>
                            <p:childTnLst>
                              <p:par>
                                <p:cTn id="36" presetID="0" presetClass="path" presetSubtype="0" accel="50000" decel="50000" fill="hold" grpId="4" nodeType="afterEffect">
                                  <p:stCondLst>
                                    <p:cond delay="0"/>
                                  </p:stCondLst>
                                  <p:childTnLst>
                                    <p:animMotion origin="layout" path="M 0.17917 0.24167 L 0.22526 0.24167 L 0.27005 0.15278 L 0.33347 0.15278 L 0.33177 0.01297 " pathEditMode="relative" rAng="0" ptsTypes="AAAAA">
                                      <p:cBhvr>
                                        <p:cTn id="37" dur="2000" fill="hold"/>
                                        <p:tgtEl>
                                          <p:spTgt spid="235"/>
                                        </p:tgtEl>
                                        <p:attrNameLst>
                                          <p:attrName>ppt_x</p:attrName>
                                          <p:attrName>ppt_y</p:attrName>
                                        </p:attrNameLst>
                                      </p:cBhvr>
                                      <p:rCtr x="7708" y="-11435"/>
                                    </p:animMotion>
                                  </p:childTnLst>
                                </p:cTn>
                              </p:par>
                            </p:childTnLst>
                          </p:cTn>
                        </p:par>
                        <p:par>
                          <p:cTn id="38" fill="hold">
                            <p:stCondLst>
                              <p:cond delay="11000"/>
                            </p:stCondLst>
                            <p:childTnLst>
                              <p:par>
                                <p:cTn id="39" presetID="9" presetClass="exit" presetSubtype="0" fill="hold" grpId="5" nodeType="afterEffect">
                                  <p:stCondLst>
                                    <p:cond delay="0"/>
                                  </p:stCondLst>
                                  <p:childTnLst>
                                    <p:animEffect transition="out" filter="dissolve">
                                      <p:cBhvr>
                                        <p:cTn id="40" dur="500"/>
                                        <p:tgtEl>
                                          <p:spTgt spid="235"/>
                                        </p:tgtEl>
                                      </p:cBhvr>
                                    </p:animEffect>
                                    <p:set>
                                      <p:cBhvr>
                                        <p:cTn id="41" dur="1" fill="hold">
                                          <p:stCondLst>
                                            <p:cond delay="499"/>
                                          </p:stCondLst>
                                        </p:cTn>
                                        <p:tgtEl>
                                          <p:spTgt spid="235"/>
                                        </p:tgtEl>
                                        <p:attrNameLst>
                                          <p:attrName>style.visibility</p:attrName>
                                        </p:attrNameLst>
                                      </p:cBhvr>
                                      <p:to>
                                        <p:strVal val="hidden"/>
                                      </p:to>
                                    </p:set>
                                  </p:childTnLst>
                                </p:cTn>
                              </p:par>
                              <p:par>
                                <p:cTn id="42" presetID="9" presetClass="exit" presetSubtype="0" fill="hold" grpId="1" nodeType="withEffect">
                                  <p:stCondLst>
                                    <p:cond delay="0"/>
                                  </p:stCondLst>
                                  <p:childTnLst>
                                    <p:animEffect transition="out" filter="dissolve">
                                      <p:cBhvr>
                                        <p:cTn id="43" dur="500"/>
                                        <p:tgtEl>
                                          <p:spTgt spid="236"/>
                                        </p:tgtEl>
                                      </p:cBhvr>
                                    </p:animEffect>
                                    <p:set>
                                      <p:cBhvr>
                                        <p:cTn id="44" dur="1" fill="hold">
                                          <p:stCondLst>
                                            <p:cond delay="499"/>
                                          </p:stCondLst>
                                        </p:cTn>
                                        <p:tgtEl>
                                          <p:spTgt spid="23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dissolve">
                                      <p:cBhvr>
                                        <p:cTn id="4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animBg="1"/>
      <p:bldP spid="235" grpId="1" animBg="1"/>
      <p:bldP spid="235" grpId="2" animBg="1"/>
      <p:bldP spid="235" grpId="3" animBg="1"/>
      <p:bldP spid="235" grpId="4" animBg="1"/>
      <p:bldP spid="235" grpId="5" animBg="1"/>
      <p:bldP spid="236" grpId="0" animBg="1"/>
      <p:bldP spid="236" grpId="1" animBg="1"/>
      <p:bldP spid="237" grpId="0"/>
      <p:bldP spid="237" grpId="1"/>
      <p:bldP spid="238" grpId="0"/>
      <p:bldP spid="238"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 name="Picture 2" descr="garbage_can">
            <a:extLst>
              <a:ext uri="{FF2B5EF4-FFF2-40B4-BE49-F238E27FC236}">
                <a16:creationId xmlns:a16="http://schemas.microsoft.com/office/drawing/2014/main" xmlns="" id="{584AA802-2B1D-9B45-90AF-1F6B78CA92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84935" y="4331494"/>
            <a:ext cx="365522" cy="48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3">
            <a:extLst>
              <a:ext uri="{FF2B5EF4-FFF2-40B4-BE49-F238E27FC236}">
                <a16:creationId xmlns:a16="http://schemas.microsoft.com/office/drawing/2014/main" xmlns="" id="{56CD104B-8E67-7142-9E50-DB57D15E8A76}"/>
              </a:ext>
            </a:extLst>
          </p:cNvPr>
          <p:cNvSpPr>
            <a:spLocks/>
          </p:cNvSpPr>
          <p:nvPr/>
        </p:nvSpPr>
        <p:spPr bwMode="auto">
          <a:xfrm>
            <a:off x="5210233" y="3757361"/>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47" name="Group 446">
            <a:extLst>
              <a:ext uri="{FF2B5EF4-FFF2-40B4-BE49-F238E27FC236}">
                <a16:creationId xmlns:a16="http://schemas.microsoft.com/office/drawing/2014/main" xmlns="" id="{E3154B3D-EA89-ED49-9BDD-71ADB5CBED52}"/>
              </a:ext>
            </a:extLst>
          </p:cNvPr>
          <p:cNvGrpSpPr/>
          <p:nvPr/>
        </p:nvGrpSpPr>
        <p:grpSpPr>
          <a:xfrm>
            <a:off x="4680385" y="3762449"/>
            <a:ext cx="540549" cy="887198"/>
            <a:chOff x="10910965" y="2513124"/>
            <a:chExt cx="586768" cy="904023"/>
          </a:xfrm>
        </p:grpSpPr>
        <p:sp>
          <p:nvSpPr>
            <p:cNvPr id="448" name="Rectangle 447">
              <a:extLst>
                <a:ext uri="{FF2B5EF4-FFF2-40B4-BE49-F238E27FC236}">
                  <a16:creationId xmlns:a16="http://schemas.microsoft.com/office/drawing/2014/main" xmlns="" id="{C20196EC-5C9D-244E-A054-231C07CB12E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49" name="Straight Connector 448">
              <a:extLst>
                <a:ext uri="{FF2B5EF4-FFF2-40B4-BE49-F238E27FC236}">
                  <a16:creationId xmlns:a16="http://schemas.microsoft.com/office/drawing/2014/main" xmlns="" id="{20DAC0A1-5E9E-9342-8773-AC28BFF1C79E}"/>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xmlns="" id="{B9D8B51B-4873-D441-BBAD-7FC691EBDD5D}"/>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xmlns="" id="{3C668D72-9BBE-1141-800B-852CFD5E677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xmlns="" id="{1EAA48DB-862D-C446-8306-33815B191079}"/>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3" name="Freeform 9">
            <a:extLst>
              <a:ext uri="{FF2B5EF4-FFF2-40B4-BE49-F238E27FC236}">
                <a16:creationId xmlns:a16="http://schemas.microsoft.com/office/drawing/2014/main" xmlns="" id="{259E0A94-54BE-7245-80CC-030B9BD2E052}"/>
              </a:ext>
            </a:extLst>
          </p:cNvPr>
          <p:cNvSpPr>
            <a:spLocks/>
          </p:cNvSpPr>
          <p:nvPr/>
        </p:nvSpPr>
        <p:spPr bwMode="auto">
          <a:xfrm flipH="1">
            <a:off x="1383541" y="2636729"/>
            <a:ext cx="396261" cy="88370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54" name="Group 153">
            <a:extLst>
              <a:ext uri="{FF2B5EF4-FFF2-40B4-BE49-F238E27FC236}">
                <a16:creationId xmlns:a16="http://schemas.microsoft.com/office/drawing/2014/main" xmlns="" id="{746745B0-4450-AC42-B8BD-FE92C0ADE9D4}"/>
              </a:ext>
            </a:extLst>
          </p:cNvPr>
          <p:cNvGrpSpPr/>
          <p:nvPr/>
        </p:nvGrpSpPr>
        <p:grpSpPr>
          <a:xfrm>
            <a:off x="959009" y="3512773"/>
            <a:ext cx="540549" cy="887198"/>
            <a:chOff x="10910965" y="2513124"/>
            <a:chExt cx="586768" cy="904023"/>
          </a:xfrm>
        </p:grpSpPr>
        <p:sp>
          <p:nvSpPr>
            <p:cNvPr id="439" name="Rectangle 438">
              <a:extLst>
                <a:ext uri="{FF2B5EF4-FFF2-40B4-BE49-F238E27FC236}">
                  <a16:creationId xmlns:a16="http://schemas.microsoft.com/office/drawing/2014/main" xmlns="" id="{95C531B4-14C6-CF42-8F62-ECB0746666C0}"/>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40" name="Straight Connector 439">
              <a:extLst>
                <a:ext uri="{FF2B5EF4-FFF2-40B4-BE49-F238E27FC236}">
                  <a16:creationId xmlns:a16="http://schemas.microsoft.com/office/drawing/2014/main" xmlns="" id="{31B59911-BB8F-554E-A3ED-D3BD4296D93A}"/>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xmlns="" id="{7535AE79-BB12-7844-B2DA-41BDECE3CD4A}"/>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xmlns="" id="{0B14C542-C613-7E4B-9B5A-53DE92065BB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xmlns="" id="{04BDA539-80EE-F64B-81C9-754C3FD32FF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5" name="Group 154">
            <a:extLst>
              <a:ext uri="{FF2B5EF4-FFF2-40B4-BE49-F238E27FC236}">
                <a16:creationId xmlns:a16="http://schemas.microsoft.com/office/drawing/2014/main" xmlns="" id="{4879B8F7-8950-1649-8D37-378ECBBFDB62}"/>
              </a:ext>
            </a:extLst>
          </p:cNvPr>
          <p:cNvGrpSpPr/>
          <p:nvPr/>
        </p:nvGrpSpPr>
        <p:grpSpPr>
          <a:xfrm>
            <a:off x="1766283" y="2640818"/>
            <a:ext cx="540549" cy="887198"/>
            <a:chOff x="10910965" y="2513124"/>
            <a:chExt cx="586768" cy="904023"/>
          </a:xfrm>
        </p:grpSpPr>
        <p:sp>
          <p:nvSpPr>
            <p:cNvPr id="434" name="Rectangle 433">
              <a:extLst>
                <a:ext uri="{FF2B5EF4-FFF2-40B4-BE49-F238E27FC236}">
                  <a16:creationId xmlns:a16="http://schemas.microsoft.com/office/drawing/2014/main" xmlns="" id="{4E1426E7-23EC-AF46-8C8F-112D49CD5E79}"/>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35" name="Straight Connector 434">
              <a:extLst>
                <a:ext uri="{FF2B5EF4-FFF2-40B4-BE49-F238E27FC236}">
                  <a16:creationId xmlns:a16="http://schemas.microsoft.com/office/drawing/2014/main" xmlns="" id="{20090985-59C2-BD4B-855E-827534772F4D}"/>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xmlns="" id="{5F629929-45C7-FC4C-A84E-2FD6FDD93F4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xmlns="" id="{B8ED8CF2-A42B-EE49-9744-A4C7F576E88D}"/>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xmlns="" id="{635F92FB-5801-1845-9FAD-2C2BFB02757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1" name="Freeform 6">
            <a:extLst>
              <a:ext uri="{FF2B5EF4-FFF2-40B4-BE49-F238E27FC236}">
                <a16:creationId xmlns:a16="http://schemas.microsoft.com/office/drawing/2014/main" xmlns="" id="{E2AF8D49-A0C7-EC4A-803B-E7B675E9573F}"/>
              </a:ext>
            </a:extLst>
          </p:cNvPr>
          <p:cNvSpPr>
            <a:spLocks/>
          </p:cNvSpPr>
          <p:nvPr/>
        </p:nvSpPr>
        <p:spPr bwMode="auto">
          <a:xfrm>
            <a:off x="5556835" y="2774602"/>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62" name="Group 161">
            <a:extLst>
              <a:ext uri="{FF2B5EF4-FFF2-40B4-BE49-F238E27FC236}">
                <a16:creationId xmlns:a16="http://schemas.microsoft.com/office/drawing/2014/main" xmlns="" id="{5C7D5A1E-3514-C947-B273-F2E0678C33D3}"/>
              </a:ext>
            </a:extLst>
          </p:cNvPr>
          <p:cNvGrpSpPr/>
          <p:nvPr/>
        </p:nvGrpSpPr>
        <p:grpSpPr>
          <a:xfrm>
            <a:off x="5024189" y="2750917"/>
            <a:ext cx="540549" cy="887198"/>
            <a:chOff x="10910965" y="2513124"/>
            <a:chExt cx="586768" cy="904023"/>
          </a:xfrm>
        </p:grpSpPr>
        <p:sp>
          <p:nvSpPr>
            <p:cNvPr id="429" name="Rectangle 428">
              <a:extLst>
                <a:ext uri="{FF2B5EF4-FFF2-40B4-BE49-F238E27FC236}">
                  <a16:creationId xmlns:a16="http://schemas.microsoft.com/office/drawing/2014/main" xmlns="" id="{E1244AFB-0325-244E-A9B8-C17FA4F7C01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30" name="Straight Connector 429">
              <a:extLst>
                <a:ext uri="{FF2B5EF4-FFF2-40B4-BE49-F238E27FC236}">
                  <a16:creationId xmlns:a16="http://schemas.microsoft.com/office/drawing/2014/main" xmlns="" id="{A4F86619-DC06-F44A-B7E8-F853FF0B8F13}"/>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xmlns="" id="{58D6F3BD-6F9A-CE4C-A9E8-F1527ABCD40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xmlns="" id="{A7318AF6-6AC3-FD4C-9C9B-6AEF838CD717}"/>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xmlns="" id="{D496FD87-9FA2-E348-8DF6-0A2ED6851CE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xmlns="" id="{357E12A1-9668-9B42-B100-34C1DE0591E4}"/>
              </a:ext>
            </a:extLst>
          </p:cNvPr>
          <p:cNvGrpSpPr/>
          <p:nvPr/>
        </p:nvGrpSpPr>
        <p:grpSpPr>
          <a:xfrm>
            <a:off x="2828023" y="3775234"/>
            <a:ext cx="965153" cy="551195"/>
            <a:chOff x="7493876" y="2774731"/>
            <a:chExt cx="1481958" cy="894622"/>
          </a:xfrm>
        </p:grpSpPr>
        <p:sp>
          <p:nvSpPr>
            <p:cNvPr id="422" name="Freeform 421">
              <a:extLst>
                <a:ext uri="{FF2B5EF4-FFF2-40B4-BE49-F238E27FC236}">
                  <a16:creationId xmlns:a16="http://schemas.microsoft.com/office/drawing/2014/main" xmlns="" id="{F56C0630-709C-2843-A3DC-28B191A54A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423" name="Oval 422">
              <a:extLst>
                <a:ext uri="{FF2B5EF4-FFF2-40B4-BE49-F238E27FC236}">
                  <a16:creationId xmlns:a16="http://schemas.microsoft.com/office/drawing/2014/main" xmlns="" id="{295F088B-9D9D-964F-AA6D-D5327CE0C3A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424" name="Group 423">
              <a:extLst>
                <a:ext uri="{FF2B5EF4-FFF2-40B4-BE49-F238E27FC236}">
                  <a16:creationId xmlns:a16="http://schemas.microsoft.com/office/drawing/2014/main" xmlns="" id="{B1CAB28B-358E-AA46-BD50-E34CAAEF8E8D}"/>
                </a:ext>
              </a:extLst>
            </p:cNvPr>
            <p:cNvGrpSpPr/>
            <p:nvPr/>
          </p:nvGrpSpPr>
          <p:grpSpPr>
            <a:xfrm>
              <a:off x="7713663" y="2848339"/>
              <a:ext cx="1042107" cy="425543"/>
              <a:chOff x="7786941" y="2884917"/>
              <a:chExt cx="897649" cy="353919"/>
            </a:xfrm>
          </p:grpSpPr>
          <p:sp>
            <p:nvSpPr>
              <p:cNvPr id="425" name="Freeform 424">
                <a:extLst>
                  <a:ext uri="{FF2B5EF4-FFF2-40B4-BE49-F238E27FC236}">
                    <a16:creationId xmlns:a16="http://schemas.microsoft.com/office/drawing/2014/main" xmlns="" id="{01DD581A-A88A-A243-9941-2CA12F31E1D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26" name="Freeform 425">
                <a:extLst>
                  <a:ext uri="{FF2B5EF4-FFF2-40B4-BE49-F238E27FC236}">
                    <a16:creationId xmlns:a16="http://schemas.microsoft.com/office/drawing/2014/main" xmlns="" id="{DC80F0DF-8C07-9F4B-A91E-B69266F157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27" name="Freeform 426">
                <a:extLst>
                  <a:ext uri="{FF2B5EF4-FFF2-40B4-BE49-F238E27FC236}">
                    <a16:creationId xmlns:a16="http://schemas.microsoft.com/office/drawing/2014/main" xmlns="" id="{F8E66F3B-2637-A747-9C24-85B20184E6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28" name="Freeform 427">
                <a:extLst>
                  <a:ext uri="{FF2B5EF4-FFF2-40B4-BE49-F238E27FC236}">
                    <a16:creationId xmlns:a16="http://schemas.microsoft.com/office/drawing/2014/main" xmlns="" id="{3334DF4C-51D1-1941-B531-C15B374AB0E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164" name="Group 124">
            <a:extLst>
              <a:ext uri="{FF2B5EF4-FFF2-40B4-BE49-F238E27FC236}">
                <a16:creationId xmlns:a16="http://schemas.microsoft.com/office/drawing/2014/main" xmlns="" id="{FC5EB0EE-47AC-FF4C-AF7B-EEF579419908}"/>
              </a:ext>
            </a:extLst>
          </p:cNvPr>
          <p:cNvGrpSpPr>
            <a:grpSpLocks/>
          </p:cNvGrpSpPr>
          <p:nvPr/>
        </p:nvGrpSpPr>
        <p:grpSpPr bwMode="auto">
          <a:xfrm>
            <a:off x="988066" y="2907840"/>
            <a:ext cx="484073" cy="426879"/>
            <a:chOff x="-44" y="1473"/>
            <a:chExt cx="981" cy="1105"/>
          </a:xfrm>
        </p:grpSpPr>
        <p:pic>
          <p:nvPicPr>
            <p:cNvPr id="420" name="Picture 125" descr="desktop_computer_stylized_medium">
              <a:extLst>
                <a:ext uri="{FF2B5EF4-FFF2-40B4-BE49-F238E27FC236}">
                  <a16:creationId xmlns:a16="http://schemas.microsoft.com/office/drawing/2014/main" xmlns="" id="{DCB34079-A6E3-9D4A-BE16-E82BDFE7BE7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 name="Freeform 126">
              <a:extLst>
                <a:ext uri="{FF2B5EF4-FFF2-40B4-BE49-F238E27FC236}">
                  <a16:creationId xmlns:a16="http://schemas.microsoft.com/office/drawing/2014/main" xmlns="" id="{B18A6DB4-0DA7-0441-9809-42625EC3D67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166" name="Freeform 12">
            <a:extLst>
              <a:ext uri="{FF2B5EF4-FFF2-40B4-BE49-F238E27FC236}">
                <a16:creationId xmlns:a16="http://schemas.microsoft.com/office/drawing/2014/main" xmlns="" id="{3953C5E3-1C88-7F42-A861-A35744860036}"/>
              </a:ext>
            </a:extLst>
          </p:cNvPr>
          <p:cNvSpPr>
            <a:spLocks/>
          </p:cNvSpPr>
          <p:nvPr/>
        </p:nvSpPr>
        <p:spPr bwMode="auto">
          <a:xfrm flipH="1">
            <a:off x="733658" y="3511205"/>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67" name="Line 33">
            <a:extLst>
              <a:ext uri="{FF2B5EF4-FFF2-40B4-BE49-F238E27FC236}">
                <a16:creationId xmlns:a16="http://schemas.microsoft.com/office/drawing/2014/main" xmlns="" id="{6B880909-138C-864F-A544-21462FBDBD13}"/>
              </a:ext>
            </a:extLst>
          </p:cNvPr>
          <p:cNvSpPr>
            <a:spLocks noChangeShapeType="1"/>
          </p:cNvSpPr>
          <p:nvPr/>
        </p:nvSpPr>
        <p:spPr bwMode="auto">
          <a:xfrm flipH="1">
            <a:off x="1804175"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68" name="Text Box 42">
            <a:extLst>
              <a:ext uri="{FF2B5EF4-FFF2-40B4-BE49-F238E27FC236}">
                <a16:creationId xmlns:a16="http://schemas.microsoft.com/office/drawing/2014/main" xmlns="" id="{C12F884F-8B3B-254B-979E-446A00E57D14}"/>
              </a:ext>
            </a:extLst>
          </p:cNvPr>
          <p:cNvSpPr txBox="1">
            <a:spLocks noChangeArrowheads="1"/>
          </p:cNvSpPr>
          <p:nvPr/>
        </p:nvSpPr>
        <p:spPr bwMode="auto">
          <a:xfrm>
            <a:off x="816463" y="2647363"/>
            <a:ext cx="841877"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169" name="Text Box 52">
            <a:extLst>
              <a:ext uri="{FF2B5EF4-FFF2-40B4-BE49-F238E27FC236}">
                <a16:creationId xmlns:a16="http://schemas.microsoft.com/office/drawing/2014/main" xmlns="" id="{7B14A372-36AF-7943-B01F-CCDE7A3DF094}"/>
              </a:ext>
            </a:extLst>
          </p:cNvPr>
          <p:cNvSpPr txBox="1">
            <a:spLocks noChangeArrowheads="1"/>
          </p:cNvSpPr>
          <p:nvPr/>
        </p:nvSpPr>
        <p:spPr bwMode="auto">
          <a:xfrm>
            <a:off x="812577" y="4540117"/>
            <a:ext cx="736183"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170" name="Line 53">
            <a:extLst>
              <a:ext uri="{FF2B5EF4-FFF2-40B4-BE49-F238E27FC236}">
                <a16:creationId xmlns:a16="http://schemas.microsoft.com/office/drawing/2014/main" xmlns="" id="{E766E562-5368-124F-9601-7FDC89262714}"/>
              </a:ext>
            </a:extLst>
          </p:cNvPr>
          <p:cNvSpPr>
            <a:spLocks noChangeShapeType="1"/>
          </p:cNvSpPr>
          <p:nvPr/>
        </p:nvSpPr>
        <p:spPr bwMode="auto">
          <a:xfrm flipH="1">
            <a:off x="2251686"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1" name="Line 54">
            <a:extLst>
              <a:ext uri="{FF2B5EF4-FFF2-40B4-BE49-F238E27FC236}">
                <a16:creationId xmlns:a16="http://schemas.microsoft.com/office/drawing/2014/main" xmlns="" id="{5217D62B-C74B-E74F-A167-EAC133435E5A}"/>
              </a:ext>
            </a:extLst>
          </p:cNvPr>
          <p:cNvSpPr>
            <a:spLocks noChangeShapeType="1"/>
          </p:cNvSpPr>
          <p:nvPr/>
        </p:nvSpPr>
        <p:spPr bwMode="auto">
          <a:xfrm flipH="1">
            <a:off x="3743391"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2" name="Line 55">
            <a:extLst>
              <a:ext uri="{FF2B5EF4-FFF2-40B4-BE49-F238E27FC236}">
                <a16:creationId xmlns:a16="http://schemas.microsoft.com/office/drawing/2014/main" xmlns="" id="{13864E4D-0C95-B848-9A1E-13BC90244670}"/>
              </a:ext>
            </a:extLst>
          </p:cNvPr>
          <p:cNvSpPr>
            <a:spLocks noChangeShapeType="1"/>
          </p:cNvSpPr>
          <p:nvPr/>
        </p:nvSpPr>
        <p:spPr bwMode="auto">
          <a:xfrm flipH="1">
            <a:off x="3857462"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3" name="Line 57">
            <a:extLst>
              <a:ext uri="{FF2B5EF4-FFF2-40B4-BE49-F238E27FC236}">
                <a16:creationId xmlns:a16="http://schemas.microsoft.com/office/drawing/2014/main" xmlns="" id="{BF96F5E7-6F33-8C4E-8B93-288BD347F4C8}"/>
              </a:ext>
            </a:extLst>
          </p:cNvPr>
          <p:cNvSpPr>
            <a:spLocks noChangeShapeType="1"/>
          </p:cNvSpPr>
          <p:nvPr/>
        </p:nvSpPr>
        <p:spPr bwMode="auto">
          <a:xfrm flipH="1">
            <a:off x="4706741" y="3642217"/>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08" name="Group 127">
            <a:extLst>
              <a:ext uri="{FF2B5EF4-FFF2-40B4-BE49-F238E27FC236}">
                <a16:creationId xmlns:a16="http://schemas.microsoft.com/office/drawing/2014/main" xmlns="" id="{5A859FBC-BCA2-C842-8621-8728D6AA737D}"/>
              </a:ext>
            </a:extLst>
          </p:cNvPr>
          <p:cNvGrpSpPr>
            <a:grpSpLocks/>
          </p:cNvGrpSpPr>
          <p:nvPr/>
        </p:nvGrpSpPr>
        <p:grpSpPr bwMode="auto">
          <a:xfrm>
            <a:off x="5648969" y="3355409"/>
            <a:ext cx="213518" cy="433111"/>
            <a:chOff x="4140" y="429"/>
            <a:chExt cx="1425" cy="2396"/>
          </a:xfrm>
        </p:grpSpPr>
        <p:sp>
          <p:nvSpPr>
            <p:cNvPr id="382" name="Freeform 128">
              <a:extLst>
                <a:ext uri="{FF2B5EF4-FFF2-40B4-BE49-F238E27FC236}">
                  <a16:creationId xmlns:a16="http://schemas.microsoft.com/office/drawing/2014/main" xmlns="" id="{53E7DA9C-A2FB-2A47-9F85-7E7A65DE8A5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3" name="Rectangle 129">
              <a:extLst>
                <a:ext uri="{FF2B5EF4-FFF2-40B4-BE49-F238E27FC236}">
                  <a16:creationId xmlns:a16="http://schemas.microsoft.com/office/drawing/2014/main" xmlns="" id="{3AF5C3FC-49CB-F149-8EC4-D3CE93FBDCD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4" name="Freeform 130">
              <a:extLst>
                <a:ext uri="{FF2B5EF4-FFF2-40B4-BE49-F238E27FC236}">
                  <a16:creationId xmlns:a16="http://schemas.microsoft.com/office/drawing/2014/main" xmlns="" id="{7C42DC53-39FF-5A49-8C4F-6C40C63A2CA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5" name="Freeform 131">
              <a:extLst>
                <a:ext uri="{FF2B5EF4-FFF2-40B4-BE49-F238E27FC236}">
                  <a16:creationId xmlns:a16="http://schemas.microsoft.com/office/drawing/2014/main" xmlns="" id="{904C6061-3C0D-024D-9392-F0BBD56C7B4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6" name="Rectangle 132">
              <a:extLst>
                <a:ext uri="{FF2B5EF4-FFF2-40B4-BE49-F238E27FC236}">
                  <a16:creationId xmlns:a16="http://schemas.microsoft.com/office/drawing/2014/main" xmlns="" id="{CBF7762D-B9E1-3F42-8A5B-2FD716C9EFA6}"/>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87" name="Group 133">
              <a:extLst>
                <a:ext uri="{FF2B5EF4-FFF2-40B4-BE49-F238E27FC236}">
                  <a16:creationId xmlns:a16="http://schemas.microsoft.com/office/drawing/2014/main" xmlns="" id="{37F59F7C-B64B-B948-AF1B-7F3AF0207575}"/>
                </a:ext>
              </a:extLst>
            </p:cNvPr>
            <p:cNvGrpSpPr>
              <a:grpSpLocks/>
            </p:cNvGrpSpPr>
            <p:nvPr/>
          </p:nvGrpSpPr>
          <p:grpSpPr bwMode="auto">
            <a:xfrm>
              <a:off x="4749" y="668"/>
              <a:ext cx="581" cy="145"/>
              <a:chOff x="614" y="2568"/>
              <a:chExt cx="725" cy="139"/>
            </a:xfrm>
          </p:grpSpPr>
          <p:sp>
            <p:nvSpPr>
              <p:cNvPr id="412" name="AutoShape 134">
                <a:extLst>
                  <a:ext uri="{FF2B5EF4-FFF2-40B4-BE49-F238E27FC236}">
                    <a16:creationId xmlns:a16="http://schemas.microsoft.com/office/drawing/2014/main" xmlns="" id="{DC9F766E-CCD1-BE4A-94CB-63A12C7B94DB}"/>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3" name="AutoShape 135">
                <a:extLst>
                  <a:ext uri="{FF2B5EF4-FFF2-40B4-BE49-F238E27FC236}">
                    <a16:creationId xmlns:a16="http://schemas.microsoft.com/office/drawing/2014/main" xmlns="" id="{DD08DC7B-FBF1-C548-A5EC-8949A2770AAA}"/>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8" name="Rectangle 136">
              <a:extLst>
                <a:ext uri="{FF2B5EF4-FFF2-40B4-BE49-F238E27FC236}">
                  <a16:creationId xmlns:a16="http://schemas.microsoft.com/office/drawing/2014/main" xmlns="" id="{C3C4DB9B-2C11-974B-AE3D-EEE3882C2E58}"/>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89" name="Group 137">
              <a:extLst>
                <a:ext uri="{FF2B5EF4-FFF2-40B4-BE49-F238E27FC236}">
                  <a16:creationId xmlns:a16="http://schemas.microsoft.com/office/drawing/2014/main" xmlns="" id="{EC619C0F-379A-2342-B3D5-485A8C9E4063}"/>
                </a:ext>
              </a:extLst>
            </p:cNvPr>
            <p:cNvGrpSpPr>
              <a:grpSpLocks/>
            </p:cNvGrpSpPr>
            <p:nvPr/>
          </p:nvGrpSpPr>
          <p:grpSpPr bwMode="auto">
            <a:xfrm>
              <a:off x="4747" y="994"/>
              <a:ext cx="581" cy="134"/>
              <a:chOff x="614" y="2568"/>
              <a:chExt cx="725" cy="139"/>
            </a:xfrm>
          </p:grpSpPr>
          <p:sp>
            <p:nvSpPr>
              <p:cNvPr id="410" name="AutoShape 138">
                <a:extLst>
                  <a:ext uri="{FF2B5EF4-FFF2-40B4-BE49-F238E27FC236}">
                    <a16:creationId xmlns:a16="http://schemas.microsoft.com/office/drawing/2014/main" xmlns="" id="{2F03F1AA-B144-6441-82E1-7E7D399D4042}"/>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1" name="AutoShape 139">
                <a:extLst>
                  <a:ext uri="{FF2B5EF4-FFF2-40B4-BE49-F238E27FC236}">
                    <a16:creationId xmlns:a16="http://schemas.microsoft.com/office/drawing/2014/main" xmlns="" id="{F6577811-E5CB-A24A-9C7F-8DD1CEEA402E}"/>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0" name="Rectangle 140">
              <a:extLst>
                <a:ext uri="{FF2B5EF4-FFF2-40B4-BE49-F238E27FC236}">
                  <a16:creationId xmlns:a16="http://schemas.microsoft.com/office/drawing/2014/main" xmlns="" id="{905394A9-0D77-834D-B74B-528F8F2CC8AC}"/>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1" name="Rectangle 141">
              <a:extLst>
                <a:ext uri="{FF2B5EF4-FFF2-40B4-BE49-F238E27FC236}">
                  <a16:creationId xmlns:a16="http://schemas.microsoft.com/office/drawing/2014/main" xmlns="" id="{54E45B44-7162-414B-951E-CC6695CB2B24}"/>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92" name="Group 142">
              <a:extLst>
                <a:ext uri="{FF2B5EF4-FFF2-40B4-BE49-F238E27FC236}">
                  <a16:creationId xmlns:a16="http://schemas.microsoft.com/office/drawing/2014/main" xmlns="" id="{AD966B92-0483-3941-BD39-3D5F6359C8E3}"/>
                </a:ext>
              </a:extLst>
            </p:cNvPr>
            <p:cNvGrpSpPr>
              <a:grpSpLocks/>
            </p:cNvGrpSpPr>
            <p:nvPr/>
          </p:nvGrpSpPr>
          <p:grpSpPr bwMode="auto">
            <a:xfrm>
              <a:off x="4735" y="1627"/>
              <a:ext cx="582" cy="151"/>
              <a:chOff x="614" y="2568"/>
              <a:chExt cx="725" cy="139"/>
            </a:xfrm>
          </p:grpSpPr>
          <p:sp>
            <p:nvSpPr>
              <p:cNvPr id="408" name="AutoShape 143">
                <a:extLst>
                  <a:ext uri="{FF2B5EF4-FFF2-40B4-BE49-F238E27FC236}">
                    <a16:creationId xmlns:a16="http://schemas.microsoft.com/office/drawing/2014/main" xmlns="" id="{632896F6-0B90-8F4D-96AE-09DA88C7C800}"/>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9" name="AutoShape 144">
                <a:extLst>
                  <a:ext uri="{FF2B5EF4-FFF2-40B4-BE49-F238E27FC236}">
                    <a16:creationId xmlns:a16="http://schemas.microsoft.com/office/drawing/2014/main" xmlns="" id="{AFD82636-77B9-2B47-8699-D3BF427B33A8}"/>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3" name="Freeform 145">
              <a:extLst>
                <a:ext uri="{FF2B5EF4-FFF2-40B4-BE49-F238E27FC236}">
                  <a16:creationId xmlns:a16="http://schemas.microsoft.com/office/drawing/2014/main" xmlns="" id="{35166E21-5125-774B-9623-4EF221B04D86}"/>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94" name="Group 146">
              <a:extLst>
                <a:ext uri="{FF2B5EF4-FFF2-40B4-BE49-F238E27FC236}">
                  <a16:creationId xmlns:a16="http://schemas.microsoft.com/office/drawing/2014/main" xmlns="" id="{6C8DAE71-3F1C-904C-85C2-214CB59E7094}"/>
                </a:ext>
              </a:extLst>
            </p:cNvPr>
            <p:cNvGrpSpPr>
              <a:grpSpLocks/>
            </p:cNvGrpSpPr>
            <p:nvPr/>
          </p:nvGrpSpPr>
          <p:grpSpPr bwMode="auto">
            <a:xfrm>
              <a:off x="4739" y="1327"/>
              <a:ext cx="582" cy="139"/>
              <a:chOff x="614" y="2568"/>
              <a:chExt cx="725" cy="139"/>
            </a:xfrm>
          </p:grpSpPr>
          <p:sp>
            <p:nvSpPr>
              <p:cNvPr id="406" name="AutoShape 147">
                <a:extLst>
                  <a:ext uri="{FF2B5EF4-FFF2-40B4-BE49-F238E27FC236}">
                    <a16:creationId xmlns:a16="http://schemas.microsoft.com/office/drawing/2014/main" xmlns="" id="{87A402FD-47EE-FD44-AD9E-357434560E17}"/>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7" name="AutoShape 148">
                <a:extLst>
                  <a:ext uri="{FF2B5EF4-FFF2-40B4-BE49-F238E27FC236}">
                    <a16:creationId xmlns:a16="http://schemas.microsoft.com/office/drawing/2014/main" xmlns="" id="{D38CC5CC-31DB-F84B-B60C-A5487B93F0CD}"/>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5" name="Rectangle 149">
              <a:extLst>
                <a:ext uri="{FF2B5EF4-FFF2-40B4-BE49-F238E27FC236}">
                  <a16:creationId xmlns:a16="http://schemas.microsoft.com/office/drawing/2014/main" xmlns="" id="{0FDFE2FA-B251-B04D-9A87-9FA1DEE270F3}"/>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6" name="Freeform 150">
              <a:extLst>
                <a:ext uri="{FF2B5EF4-FFF2-40B4-BE49-F238E27FC236}">
                  <a16:creationId xmlns:a16="http://schemas.microsoft.com/office/drawing/2014/main" xmlns="" id="{861A3A88-011C-1648-B5E0-F5583D0CB17F}"/>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7" name="Freeform 151">
              <a:extLst>
                <a:ext uri="{FF2B5EF4-FFF2-40B4-BE49-F238E27FC236}">
                  <a16:creationId xmlns:a16="http://schemas.microsoft.com/office/drawing/2014/main" xmlns="" id="{FF9AD10E-0B20-D549-B4F4-E090093215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8" name="Oval 152">
              <a:extLst>
                <a:ext uri="{FF2B5EF4-FFF2-40B4-BE49-F238E27FC236}">
                  <a16:creationId xmlns:a16="http://schemas.microsoft.com/office/drawing/2014/main" xmlns="" id="{7FC6D115-11CC-8C42-84FB-F9380DF797E2}"/>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9" name="Freeform 153">
              <a:extLst>
                <a:ext uri="{FF2B5EF4-FFF2-40B4-BE49-F238E27FC236}">
                  <a16:creationId xmlns:a16="http://schemas.microsoft.com/office/drawing/2014/main" xmlns="" id="{FA893A70-E205-C74B-B0B1-F0BE1C5379C6}"/>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0" name="AutoShape 154">
              <a:extLst>
                <a:ext uri="{FF2B5EF4-FFF2-40B4-BE49-F238E27FC236}">
                  <a16:creationId xmlns:a16="http://schemas.microsoft.com/office/drawing/2014/main" xmlns="" id="{CA3DE6E4-EC59-C54E-A06D-302F82AD7F5B}"/>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1" name="AutoShape 155">
              <a:extLst>
                <a:ext uri="{FF2B5EF4-FFF2-40B4-BE49-F238E27FC236}">
                  <a16:creationId xmlns:a16="http://schemas.microsoft.com/office/drawing/2014/main" xmlns="" id="{D5954570-3A29-A04C-A694-89339B8CA162}"/>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2" name="Oval 156">
              <a:extLst>
                <a:ext uri="{FF2B5EF4-FFF2-40B4-BE49-F238E27FC236}">
                  <a16:creationId xmlns:a16="http://schemas.microsoft.com/office/drawing/2014/main" xmlns="" id="{6D15A2AA-735B-1540-83A7-0CF4980B6F6A}"/>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3" name="Oval 157">
              <a:extLst>
                <a:ext uri="{FF2B5EF4-FFF2-40B4-BE49-F238E27FC236}">
                  <a16:creationId xmlns:a16="http://schemas.microsoft.com/office/drawing/2014/main" xmlns="" id="{DBA0EFAE-DA9A-C341-9586-349045E9E09A}"/>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404" name="Oval 158">
              <a:extLst>
                <a:ext uri="{FF2B5EF4-FFF2-40B4-BE49-F238E27FC236}">
                  <a16:creationId xmlns:a16="http://schemas.microsoft.com/office/drawing/2014/main" xmlns="" id="{419BE2D4-504A-B24C-9BA2-88012DDF9C40}"/>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5" name="Rectangle 159">
              <a:extLst>
                <a:ext uri="{FF2B5EF4-FFF2-40B4-BE49-F238E27FC236}">
                  <a16:creationId xmlns:a16="http://schemas.microsoft.com/office/drawing/2014/main" xmlns="" id="{12323152-8DFE-D54A-8022-8B7157278EB3}"/>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17" name="Group 160">
            <a:extLst>
              <a:ext uri="{FF2B5EF4-FFF2-40B4-BE49-F238E27FC236}">
                <a16:creationId xmlns:a16="http://schemas.microsoft.com/office/drawing/2014/main" xmlns="" id="{FA087400-17DC-374A-8B3D-047A843A930C}"/>
              </a:ext>
            </a:extLst>
          </p:cNvPr>
          <p:cNvGrpSpPr>
            <a:grpSpLocks/>
          </p:cNvGrpSpPr>
          <p:nvPr/>
        </p:nvGrpSpPr>
        <p:grpSpPr bwMode="auto">
          <a:xfrm>
            <a:off x="438973" y="4241457"/>
            <a:ext cx="484073" cy="426879"/>
            <a:chOff x="-44" y="1473"/>
            <a:chExt cx="981" cy="1105"/>
          </a:xfrm>
        </p:grpSpPr>
        <p:pic>
          <p:nvPicPr>
            <p:cNvPr id="380" name="Picture 161" descr="desktop_computer_stylized_medium">
              <a:extLst>
                <a:ext uri="{FF2B5EF4-FFF2-40B4-BE49-F238E27FC236}">
                  <a16:creationId xmlns:a16="http://schemas.microsoft.com/office/drawing/2014/main" xmlns="" id="{3EA6EC22-E034-D743-91DD-5D279096F0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 name="Freeform 162">
              <a:extLst>
                <a:ext uri="{FF2B5EF4-FFF2-40B4-BE49-F238E27FC236}">
                  <a16:creationId xmlns:a16="http://schemas.microsoft.com/office/drawing/2014/main" xmlns="" id="{3DE644EB-7288-364C-85AD-A0B8C3C273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320" name="Group 163">
            <a:extLst>
              <a:ext uri="{FF2B5EF4-FFF2-40B4-BE49-F238E27FC236}">
                <a16:creationId xmlns:a16="http://schemas.microsoft.com/office/drawing/2014/main" xmlns="" id="{C67AA62F-6B41-6E41-82AB-388CDEBE1BF4}"/>
              </a:ext>
            </a:extLst>
          </p:cNvPr>
          <p:cNvGrpSpPr>
            <a:grpSpLocks/>
          </p:cNvGrpSpPr>
          <p:nvPr/>
        </p:nvGrpSpPr>
        <p:grpSpPr bwMode="auto">
          <a:xfrm>
            <a:off x="5356478" y="4302645"/>
            <a:ext cx="213518" cy="433111"/>
            <a:chOff x="4140" y="429"/>
            <a:chExt cx="1425" cy="2396"/>
          </a:xfrm>
        </p:grpSpPr>
        <p:sp>
          <p:nvSpPr>
            <p:cNvPr id="348" name="Freeform 164">
              <a:extLst>
                <a:ext uri="{FF2B5EF4-FFF2-40B4-BE49-F238E27FC236}">
                  <a16:creationId xmlns:a16="http://schemas.microsoft.com/office/drawing/2014/main" xmlns="" id="{D195FCDA-1D6E-A14F-813E-82BA881BA57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49" name="Rectangle 165">
              <a:extLst>
                <a:ext uri="{FF2B5EF4-FFF2-40B4-BE49-F238E27FC236}">
                  <a16:creationId xmlns:a16="http://schemas.microsoft.com/office/drawing/2014/main" xmlns="" id="{08336962-E72A-234B-AE02-13BF68CF9D88}"/>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50" name="Freeform 166">
              <a:extLst>
                <a:ext uri="{FF2B5EF4-FFF2-40B4-BE49-F238E27FC236}">
                  <a16:creationId xmlns:a16="http://schemas.microsoft.com/office/drawing/2014/main" xmlns="" id="{9CC8CF3D-B0E5-DF41-A2B1-CB144840173A}"/>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51" name="Freeform 167">
              <a:extLst>
                <a:ext uri="{FF2B5EF4-FFF2-40B4-BE49-F238E27FC236}">
                  <a16:creationId xmlns:a16="http://schemas.microsoft.com/office/drawing/2014/main" xmlns="" id="{A62F35DC-6D41-2C46-9982-EC06FA2C340F}"/>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52" name="Rectangle 168">
              <a:extLst>
                <a:ext uri="{FF2B5EF4-FFF2-40B4-BE49-F238E27FC236}">
                  <a16:creationId xmlns:a16="http://schemas.microsoft.com/office/drawing/2014/main" xmlns="" id="{41008D83-EBD9-A042-BDC0-CCFD7F0B7B12}"/>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53" name="Group 169">
              <a:extLst>
                <a:ext uri="{FF2B5EF4-FFF2-40B4-BE49-F238E27FC236}">
                  <a16:creationId xmlns:a16="http://schemas.microsoft.com/office/drawing/2014/main" xmlns="" id="{D5C2A6D0-2900-374F-8B47-7CAC43E5EA66}"/>
                </a:ext>
              </a:extLst>
            </p:cNvPr>
            <p:cNvGrpSpPr>
              <a:grpSpLocks/>
            </p:cNvGrpSpPr>
            <p:nvPr/>
          </p:nvGrpSpPr>
          <p:grpSpPr bwMode="auto">
            <a:xfrm>
              <a:off x="4749" y="668"/>
              <a:ext cx="581" cy="145"/>
              <a:chOff x="614" y="2568"/>
              <a:chExt cx="725" cy="139"/>
            </a:xfrm>
          </p:grpSpPr>
          <p:sp>
            <p:nvSpPr>
              <p:cNvPr id="378" name="AutoShape 170">
                <a:extLst>
                  <a:ext uri="{FF2B5EF4-FFF2-40B4-BE49-F238E27FC236}">
                    <a16:creationId xmlns:a16="http://schemas.microsoft.com/office/drawing/2014/main" xmlns="" id="{316161F8-F72E-8842-A7EA-ACD5553EBA20}"/>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9" name="AutoShape 171">
                <a:extLst>
                  <a:ext uri="{FF2B5EF4-FFF2-40B4-BE49-F238E27FC236}">
                    <a16:creationId xmlns:a16="http://schemas.microsoft.com/office/drawing/2014/main" xmlns="" id="{65D8DF1E-DC5A-4048-8F8A-B22E74465030}"/>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54" name="Rectangle 172">
              <a:extLst>
                <a:ext uri="{FF2B5EF4-FFF2-40B4-BE49-F238E27FC236}">
                  <a16:creationId xmlns:a16="http://schemas.microsoft.com/office/drawing/2014/main" xmlns="" id="{F0278590-CB35-2B4C-8960-A8E639AE0BF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55" name="Group 173">
              <a:extLst>
                <a:ext uri="{FF2B5EF4-FFF2-40B4-BE49-F238E27FC236}">
                  <a16:creationId xmlns:a16="http://schemas.microsoft.com/office/drawing/2014/main" xmlns="" id="{6B7EAD7C-E09C-8C45-93EA-4861697FBBA8}"/>
                </a:ext>
              </a:extLst>
            </p:cNvPr>
            <p:cNvGrpSpPr>
              <a:grpSpLocks/>
            </p:cNvGrpSpPr>
            <p:nvPr/>
          </p:nvGrpSpPr>
          <p:grpSpPr bwMode="auto">
            <a:xfrm>
              <a:off x="4747" y="994"/>
              <a:ext cx="581" cy="134"/>
              <a:chOff x="614" y="2568"/>
              <a:chExt cx="725" cy="139"/>
            </a:xfrm>
          </p:grpSpPr>
          <p:sp>
            <p:nvSpPr>
              <p:cNvPr id="376" name="AutoShape 174">
                <a:extLst>
                  <a:ext uri="{FF2B5EF4-FFF2-40B4-BE49-F238E27FC236}">
                    <a16:creationId xmlns:a16="http://schemas.microsoft.com/office/drawing/2014/main" xmlns="" id="{B100E59C-193E-F74A-9B2F-64705FC8DCC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7" name="AutoShape 175">
                <a:extLst>
                  <a:ext uri="{FF2B5EF4-FFF2-40B4-BE49-F238E27FC236}">
                    <a16:creationId xmlns:a16="http://schemas.microsoft.com/office/drawing/2014/main" xmlns="" id="{C5CAF38F-0311-FF44-974E-7B3A277A862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56" name="Rectangle 176">
              <a:extLst>
                <a:ext uri="{FF2B5EF4-FFF2-40B4-BE49-F238E27FC236}">
                  <a16:creationId xmlns:a16="http://schemas.microsoft.com/office/drawing/2014/main" xmlns="" id="{950C602D-D3E9-9D49-95E7-FEAA72A87184}"/>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57" name="Rectangle 177">
              <a:extLst>
                <a:ext uri="{FF2B5EF4-FFF2-40B4-BE49-F238E27FC236}">
                  <a16:creationId xmlns:a16="http://schemas.microsoft.com/office/drawing/2014/main" xmlns="" id="{08A4D495-7D7A-BC4E-B504-63349FFAAB6E}"/>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58" name="Group 178">
              <a:extLst>
                <a:ext uri="{FF2B5EF4-FFF2-40B4-BE49-F238E27FC236}">
                  <a16:creationId xmlns:a16="http://schemas.microsoft.com/office/drawing/2014/main" xmlns="" id="{F305A5C0-33C8-774E-A415-F8DB3638929B}"/>
                </a:ext>
              </a:extLst>
            </p:cNvPr>
            <p:cNvGrpSpPr>
              <a:grpSpLocks/>
            </p:cNvGrpSpPr>
            <p:nvPr/>
          </p:nvGrpSpPr>
          <p:grpSpPr bwMode="auto">
            <a:xfrm>
              <a:off x="4735" y="1627"/>
              <a:ext cx="582" cy="151"/>
              <a:chOff x="614" y="2568"/>
              <a:chExt cx="725" cy="139"/>
            </a:xfrm>
          </p:grpSpPr>
          <p:sp>
            <p:nvSpPr>
              <p:cNvPr id="374" name="AutoShape 179">
                <a:extLst>
                  <a:ext uri="{FF2B5EF4-FFF2-40B4-BE49-F238E27FC236}">
                    <a16:creationId xmlns:a16="http://schemas.microsoft.com/office/drawing/2014/main" xmlns="" id="{1D60B3F0-C96C-CF4F-AE8E-9DFC4AC8DCD2}"/>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5" name="AutoShape 180">
                <a:extLst>
                  <a:ext uri="{FF2B5EF4-FFF2-40B4-BE49-F238E27FC236}">
                    <a16:creationId xmlns:a16="http://schemas.microsoft.com/office/drawing/2014/main" xmlns="" id="{59F17474-B1E9-5A4A-95BC-0FFA152A6A9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59" name="Freeform 181">
              <a:extLst>
                <a:ext uri="{FF2B5EF4-FFF2-40B4-BE49-F238E27FC236}">
                  <a16:creationId xmlns:a16="http://schemas.microsoft.com/office/drawing/2014/main" xmlns="" id="{4D4849DA-5BB5-194F-B347-D9C0FD3BCD1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60" name="Group 182">
              <a:extLst>
                <a:ext uri="{FF2B5EF4-FFF2-40B4-BE49-F238E27FC236}">
                  <a16:creationId xmlns:a16="http://schemas.microsoft.com/office/drawing/2014/main" xmlns="" id="{387B571D-6B5A-D54A-893E-26AE8531647F}"/>
                </a:ext>
              </a:extLst>
            </p:cNvPr>
            <p:cNvGrpSpPr>
              <a:grpSpLocks/>
            </p:cNvGrpSpPr>
            <p:nvPr/>
          </p:nvGrpSpPr>
          <p:grpSpPr bwMode="auto">
            <a:xfrm>
              <a:off x="4739" y="1327"/>
              <a:ext cx="582" cy="139"/>
              <a:chOff x="614" y="2568"/>
              <a:chExt cx="725" cy="139"/>
            </a:xfrm>
          </p:grpSpPr>
          <p:sp>
            <p:nvSpPr>
              <p:cNvPr id="372" name="AutoShape 183">
                <a:extLst>
                  <a:ext uri="{FF2B5EF4-FFF2-40B4-BE49-F238E27FC236}">
                    <a16:creationId xmlns:a16="http://schemas.microsoft.com/office/drawing/2014/main" xmlns="" id="{5B2C6A46-36B9-A645-9C38-687443126F02}"/>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3" name="AutoShape 184">
                <a:extLst>
                  <a:ext uri="{FF2B5EF4-FFF2-40B4-BE49-F238E27FC236}">
                    <a16:creationId xmlns:a16="http://schemas.microsoft.com/office/drawing/2014/main" xmlns="" id="{02DF9FD3-61E5-B44A-9E31-BCF57F47401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61" name="Rectangle 185">
              <a:extLst>
                <a:ext uri="{FF2B5EF4-FFF2-40B4-BE49-F238E27FC236}">
                  <a16:creationId xmlns:a16="http://schemas.microsoft.com/office/drawing/2014/main" xmlns="" id="{F669C71A-A324-3F42-B2FE-2FE5DA2A8DED}"/>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2" name="Freeform 186">
              <a:extLst>
                <a:ext uri="{FF2B5EF4-FFF2-40B4-BE49-F238E27FC236}">
                  <a16:creationId xmlns:a16="http://schemas.microsoft.com/office/drawing/2014/main" xmlns="" id="{1BE5E4D2-2391-A140-B438-A2BFAB94D309}"/>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63" name="Freeform 187">
              <a:extLst>
                <a:ext uri="{FF2B5EF4-FFF2-40B4-BE49-F238E27FC236}">
                  <a16:creationId xmlns:a16="http://schemas.microsoft.com/office/drawing/2014/main" xmlns="" id="{F61AA69B-2497-BB41-84E6-2379E99BE2CC}"/>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64" name="Oval 188">
              <a:extLst>
                <a:ext uri="{FF2B5EF4-FFF2-40B4-BE49-F238E27FC236}">
                  <a16:creationId xmlns:a16="http://schemas.microsoft.com/office/drawing/2014/main" xmlns="" id="{E5FC988D-0562-6D4B-B677-9976C97CCB3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5" name="Freeform 189">
              <a:extLst>
                <a:ext uri="{FF2B5EF4-FFF2-40B4-BE49-F238E27FC236}">
                  <a16:creationId xmlns:a16="http://schemas.microsoft.com/office/drawing/2014/main" xmlns="" id="{5F9AF67B-EB16-1940-9E54-CD01DD73DF6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66" name="AutoShape 190">
              <a:extLst>
                <a:ext uri="{FF2B5EF4-FFF2-40B4-BE49-F238E27FC236}">
                  <a16:creationId xmlns:a16="http://schemas.microsoft.com/office/drawing/2014/main" xmlns="" id="{425C5A13-F083-B641-AE96-394F4EC8B801}"/>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7" name="AutoShape 191">
              <a:extLst>
                <a:ext uri="{FF2B5EF4-FFF2-40B4-BE49-F238E27FC236}">
                  <a16:creationId xmlns:a16="http://schemas.microsoft.com/office/drawing/2014/main" xmlns="" id="{6A53B106-9919-0D42-AB27-C542B277A4D3}"/>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8" name="Oval 192">
              <a:extLst>
                <a:ext uri="{FF2B5EF4-FFF2-40B4-BE49-F238E27FC236}">
                  <a16:creationId xmlns:a16="http://schemas.microsoft.com/office/drawing/2014/main" xmlns="" id="{20C525CE-1753-F641-9DA5-9A348D00FCC7}"/>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69" name="Oval 193">
              <a:extLst>
                <a:ext uri="{FF2B5EF4-FFF2-40B4-BE49-F238E27FC236}">
                  <a16:creationId xmlns:a16="http://schemas.microsoft.com/office/drawing/2014/main" xmlns="" id="{98E2DDA5-BB4C-C44C-94CB-E3E75C14A37B}"/>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370" name="Oval 194">
              <a:extLst>
                <a:ext uri="{FF2B5EF4-FFF2-40B4-BE49-F238E27FC236}">
                  <a16:creationId xmlns:a16="http://schemas.microsoft.com/office/drawing/2014/main" xmlns="" id="{BE983F88-4E1D-8D4F-BAE7-B4FF6986BCA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1" name="Rectangle 195">
              <a:extLst>
                <a:ext uri="{FF2B5EF4-FFF2-40B4-BE49-F238E27FC236}">
                  <a16:creationId xmlns:a16="http://schemas.microsoft.com/office/drawing/2014/main" xmlns="" id="{6517F9BF-0412-704A-8CF4-5197BADDBEC3}"/>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21" name="Line 57">
            <a:extLst>
              <a:ext uri="{FF2B5EF4-FFF2-40B4-BE49-F238E27FC236}">
                <a16:creationId xmlns:a16="http://schemas.microsoft.com/office/drawing/2014/main" xmlns="" id="{68763ED6-942C-0F41-AD7D-01D0E5880E9B}"/>
              </a:ext>
            </a:extLst>
          </p:cNvPr>
          <p:cNvSpPr>
            <a:spLocks noChangeShapeType="1"/>
          </p:cNvSpPr>
          <p:nvPr/>
        </p:nvSpPr>
        <p:spPr bwMode="auto">
          <a:xfrm flipH="1">
            <a:off x="3866527" y="4491277"/>
            <a:ext cx="7574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22" name="Line 57">
            <a:extLst>
              <a:ext uri="{FF2B5EF4-FFF2-40B4-BE49-F238E27FC236}">
                <a16:creationId xmlns:a16="http://schemas.microsoft.com/office/drawing/2014/main" xmlns="" id="{F860BD77-FEC3-1440-9C5F-412C1944CF71}"/>
              </a:ext>
            </a:extLst>
          </p:cNvPr>
          <p:cNvSpPr>
            <a:spLocks noChangeShapeType="1"/>
          </p:cNvSpPr>
          <p:nvPr/>
        </p:nvSpPr>
        <p:spPr bwMode="auto">
          <a:xfrm flipH="1">
            <a:off x="2250897" y="3639916"/>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23" name="Line 57">
            <a:extLst>
              <a:ext uri="{FF2B5EF4-FFF2-40B4-BE49-F238E27FC236}">
                <a16:creationId xmlns:a16="http://schemas.microsoft.com/office/drawing/2014/main" xmlns="" id="{27B00412-D610-DE4A-846E-7A4177E41EB4}"/>
              </a:ext>
            </a:extLst>
          </p:cNvPr>
          <p:cNvSpPr>
            <a:spLocks noChangeShapeType="1"/>
          </p:cNvSpPr>
          <p:nvPr/>
        </p:nvSpPr>
        <p:spPr bwMode="auto">
          <a:xfrm flipH="1">
            <a:off x="1402043" y="4493579"/>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24" name="Group 323">
            <a:extLst>
              <a:ext uri="{FF2B5EF4-FFF2-40B4-BE49-F238E27FC236}">
                <a16:creationId xmlns:a16="http://schemas.microsoft.com/office/drawing/2014/main" xmlns="" id="{E8361AD1-D10B-914D-B557-ED00BB81668B}"/>
              </a:ext>
            </a:extLst>
          </p:cNvPr>
          <p:cNvGrpSpPr/>
          <p:nvPr/>
        </p:nvGrpSpPr>
        <p:grpSpPr>
          <a:xfrm>
            <a:off x="2061817" y="2570560"/>
            <a:ext cx="2138708" cy="709613"/>
            <a:chOff x="2749090" y="3427413"/>
            <a:chExt cx="2851610" cy="946150"/>
          </a:xfrm>
        </p:grpSpPr>
        <p:sp>
          <p:nvSpPr>
            <p:cNvPr id="341" name="Text Box 68">
              <a:extLst>
                <a:ext uri="{FF2B5EF4-FFF2-40B4-BE49-F238E27FC236}">
                  <a16:creationId xmlns:a16="http://schemas.microsoft.com/office/drawing/2014/main" xmlns="" id="{3B9B04FF-F305-1B42-B32C-BD98A3457B82}"/>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original data</a:t>
              </a:r>
              <a:endParaRPr lang="en-US" altLang="en-US" sz="1200" kern="1200" dirty="0">
                <a:solidFill>
                  <a:srgbClr val="C00000"/>
                </a:solidFill>
                <a:latin typeface="Comic Sans MS" panose="030F0902030302020204" pitchFamily="66" charset="0"/>
                <a:cs typeface="+mn-cs"/>
              </a:endParaRPr>
            </a:p>
          </p:txBody>
        </p:sp>
        <p:sp>
          <p:nvSpPr>
            <p:cNvPr id="342" name="Oval 217">
              <a:extLst>
                <a:ext uri="{FF2B5EF4-FFF2-40B4-BE49-F238E27FC236}">
                  <a16:creationId xmlns:a16="http://schemas.microsoft.com/office/drawing/2014/main" xmlns="" id="{EDF2431F-1AB1-4C49-A181-71EBA9C9AEE4}"/>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43" name="Line 229">
              <a:extLst>
                <a:ext uri="{FF2B5EF4-FFF2-40B4-BE49-F238E27FC236}">
                  <a16:creationId xmlns:a16="http://schemas.microsoft.com/office/drawing/2014/main" xmlns="" id="{B59B3A23-BDBB-ED4B-90A7-F3F3742615C8}"/>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4" name="Oval 232">
              <a:extLst>
                <a:ext uri="{FF2B5EF4-FFF2-40B4-BE49-F238E27FC236}">
                  <a16:creationId xmlns:a16="http://schemas.microsoft.com/office/drawing/2014/main" xmlns="" id="{A0D84490-063F-6249-A3C3-EBD662E3F907}"/>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45" name="Text Box 233">
              <a:extLst>
                <a:ext uri="{FF2B5EF4-FFF2-40B4-BE49-F238E27FC236}">
                  <a16:creationId xmlns:a16="http://schemas.microsoft.com/office/drawing/2014/main" xmlns="" id="{8B358585-163D-654F-995A-9C22E22B5CB1}"/>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original data, </a:t>
              </a:r>
              <a:r>
                <a:rPr lang="en-US" altLang="en-US" sz="1200" i="1" kern="1200" dirty="0">
                  <a:solidFill>
                    <a:srgbClr val="C00000"/>
                  </a:solidFill>
                  <a:latin typeface="Arial" panose="020B0604020202020204" pitchFamily="34" charset="0"/>
                  <a:cs typeface="+mn-cs"/>
                </a:rPr>
                <a:t>plus</a:t>
              </a:r>
              <a:r>
                <a:rPr lang="en-US" altLang="en-US" sz="1200" kern="1200" dirty="0">
                  <a:solidFill>
                    <a:srgbClr val="C00000"/>
                  </a:solidFill>
                  <a:latin typeface="Arial" panose="020B0604020202020204" pitchFamily="34" charset="0"/>
                  <a:cs typeface="+mn-cs"/>
                </a:rPr>
                <a:t> retransmitted data</a:t>
              </a:r>
              <a:endParaRPr lang="en-US" altLang="en-US" sz="1200" kern="1200" dirty="0">
                <a:solidFill>
                  <a:srgbClr val="C00000"/>
                </a:solidFill>
                <a:latin typeface="Comic Sans MS" panose="030F0902030302020204" pitchFamily="66" charset="0"/>
                <a:cs typeface="+mn-cs"/>
              </a:endParaRPr>
            </a:p>
          </p:txBody>
        </p:sp>
        <p:sp>
          <p:nvSpPr>
            <p:cNvPr id="346" name="Line 234">
              <a:extLst>
                <a:ext uri="{FF2B5EF4-FFF2-40B4-BE49-F238E27FC236}">
                  <a16:creationId xmlns:a16="http://schemas.microsoft.com/office/drawing/2014/main" xmlns="" id="{1E1EF6EB-75EA-3840-81BD-7EFEF385444F}"/>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47" name="Line 235">
              <a:extLst>
                <a:ext uri="{FF2B5EF4-FFF2-40B4-BE49-F238E27FC236}">
                  <a16:creationId xmlns:a16="http://schemas.microsoft.com/office/drawing/2014/main" xmlns="" id="{B9666650-75BE-044C-8E55-D19782D17F0D}"/>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25" name="Group 324">
            <a:extLst>
              <a:ext uri="{FF2B5EF4-FFF2-40B4-BE49-F238E27FC236}">
                <a16:creationId xmlns:a16="http://schemas.microsoft.com/office/drawing/2014/main" xmlns="" id="{E0A0DEBB-1942-DF47-BE8F-4DC1FAAF267D}"/>
              </a:ext>
            </a:extLst>
          </p:cNvPr>
          <p:cNvGrpSpPr/>
          <p:nvPr/>
        </p:nvGrpSpPr>
        <p:grpSpPr>
          <a:xfrm>
            <a:off x="2185117" y="3914215"/>
            <a:ext cx="1454048" cy="975136"/>
            <a:chOff x="2913490" y="5218953"/>
            <a:chExt cx="1938730" cy="1300181"/>
          </a:xfrm>
        </p:grpSpPr>
        <p:sp>
          <p:nvSpPr>
            <p:cNvPr id="330" name="Text Box 32">
              <a:extLst>
                <a:ext uri="{FF2B5EF4-FFF2-40B4-BE49-F238E27FC236}">
                  <a16:creationId xmlns:a16="http://schemas.microsoft.com/office/drawing/2014/main" xmlns="" id="{2BE67432-4EDA-2144-971A-97E31C21CBFD}"/>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200" b="1" i="1" kern="1200" dirty="0">
                  <a:solidFill>
                    <a:srgbClr val="C00000"/>
                  </a:solidFill>
                  <a:latin typeface="Arial" panose="020B0604020202020204" pitchFamily="34" charset="0"/>
                  <a:cs typeface="+mn-cs"/>
                </a:rPr>
                <a:t>finite</a:t>
              </a:r>
              <a:r>
                <a:rPr lang="en-US" altLang="en-US" sz="900" kern="1200" dirty="0">
                  <a:solidFill>
                    <a:srgbClr val="000000"/>
                  </a:solidFill>
                  <a:latin typeface="Arial" panose="020B0604020202020204" pitchFamily="34" charset="0"/>
                  <a:cs typeface="+mn-cs"/>
                </a:rPr>
                <a:t> shared output link buffers</a:t>
              </a:r>
            </a:p>
          </p:txBody>
        </p:sp>
        <p:sp>
          <p:nvSpPr>
            <p:cNvPr id="331" name="Line 77">
              <a:extLst>
                <a:ext uri="{FF2B5EF4-FFF2-40B4-BE49-F238E27FC236}">
                  <a16:creationId xmlns:a16="http://schemas.microsoft.com/office/drawing/2014/main" xmlns="" id="{0FD3A7D1-0F64-3E4F-9EFC-3E9B5C3CB4E5}"/>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32" name="Group 331">
              <a:extLst>
                <a:ext uri="{FF2B5EF4-FFF2-40B4-BE49-F238E27FC236}">
                  <a16:creationId xmlns:a16="http://schemas.microsoft.com/office/drawing/2014/main" xmlns="" id="{129E87F1-D0EC-544C-AAD3-67A4ADC56ED1}"/>
                </a:ext>
              </a:extLst>
            </p:cNvPr>
            <p:cNvGrpSpPr/>
            <p:nvPr/>
          </p:nvGrpSpPr>
          <p:grpSpPr>
            <a:xfrm>
              <a:off x="4030362" y="5218953"/>
              <a:ext cx="821858" cy="355937"/>
              <a:chOff x="6859123" y="5156933"/>
              <a:chExt cx="456701" cy="226548"/>
            </a:xfrm>
          </p:grpSpPr>
          <p:sp>
            <p:nvSpPr>
              <p:cNvPr id="333" name="Rectangle 332">
                <a:extLst>
                  <a:ext uri="{FF2B5EF4-FFF2-40B4-BE49-F238E27FC236}">
                    <a16:creationId xmlns:a16="http://schemas.microsoft.com/office/drawing/2014/main" xmlns="" id="{420EF065-0C5B-3C42-9309-A54EAD48FE4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34" name="Straight Connector 333">
                <a:extLst>
                  <a:ext uri="{FF2B5EF4-FFF2-40B4-BE49-F238E27FC236}">
                    <a16:creationId xmlns:a16="http://schemas.microsoft.com/office/drawing/2014/main" xmlns="" id="{E69DAA66-53B2-484A-8CE4-893106A81F71}"/>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xmlns="" id="{0115558E-B280-5645-9FB4-A4EBF6BE1E2B}"/>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xmlns="" id="{7ED04A48-0229-FC4F-821B-EB6EAD1E0728}"/>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xmlns="" id="{771E9A5B-C688-D540-9A52-AD683DD66EBA}"/>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xmlns="" id="{ED4DD7E1-448A-8143-9791-173C9F59FF70}"/>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xmlns="" id="{F553CB64-B4A4-2C41-8D54-9660CE27A4FE}"/>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xmlns="" id="{C11E0997-AC70-934E-899D-8D26941865C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26" name="Freeform 91">
            <a:extLst>
              <a:ext uri="{FF2B5EF4-FFF2-40B4-BE49-F238E27FC236}">
                <a16:creationId xmlns:a16="http://schemas.microsoft.com/office/drawing/2014/main" xmlns="" id="{2AB634B7-7E1A-2F49-BD94-F471CBAAAB57}"/>
              </a:ext>
            </a:extLst>
          </p:cNvPr>
          <p:cNvSpPr>
            <a:spLocks/>
          </p:cNvSpPr>
          <p:nvPr/>
        </p:nvSpPr>
        <p:spPr bwMode="auto">
          <a:xfrm>
            <a:off x="2102515" y="2744691"/>
            <a:ext cx="3158903" cy="1252595"/>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27" name="Group 326">
            <a:extLst>
              <a:ext uri="{FF2B5EF4-FFF2-40B4-BE49-F238E27FC236}">
                <a16:creationId xmlns:a16="http://schemas.microsoft.com/office/drawing/2014/main" xmlns="" id="{E2437294-F0A6-B64F-9701-980D73E181E5}"/>
              </a:ext>
            </a:extLst>
          </p:cNvPr>
          <p:cNvGrpSpPr/>
          <p:nvPr/>
        </p:nvGrpSpPr>
        <p:grpSpPr>
          <a:xfrm>
            <a:off x="1189944" y="3557943"/>
            <a:ext cx="3685387" cy="1009554"/>
            <a:chOff x="5641439" y="2685215"/>
            <a:chExt cx="4000500" cy="1028700"/>
          </a:xfrm>
        </p:grpSpPr>
        <p:sp>
          <p:nvSpPr>
            <p:cNvPr id="328" name="Oval 73">
              <a:extLst>
                <a:ext uri="{FF2B5EF4-FFF2-40B4-BE49-F238E27FC236}">
                  <a16:creationId xmlns:a16="http://schemas.microsoft.com/office/drawing/2014/main" xmlns="" id="{A5E7C6D8-EF6B-FD4F-B4BF-AB9BD2FC0A39}"/>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29" name="Freeform 90">
              <a:extLst>
                <a:ext uri="{FF2B5EF4-FFF2-40B4-BE49-F238E27FC236}">
                  <a16:creationId xmlns:a16="http://schemas.microsoft.com/office/drawing/2014/main" xmlns="" id="{E290CF0B-A025-EA42-80CC-B9295A47390D}"/>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444" name="Group 443">
            <a:extLst>
              <a:ext uri="{FF2B5EF4-FFF2-40B4-BE49-F238E27FC236}">
                <a16:creationId xmlns:a16="http://schemas.microsoft.com/office/drawing/2014/main" xmlns="" id="{1EA2D756-F337-784D-91E9-D0329FAA029D}"/>
              </a:ext>
            </a:extLst>
          </p:cNvPr>
          <p:cNvGrpSpPr/>
          <p:nvPr/>
        </p:nvGrpSpPr>
        <p:grpSpPr>
          <a:xfrm>
            <a:off x="2421069" y="4002586"/>
            <a:ext cx="1639465" cy="380565"/>
            <a:chOff x="3228093" y="5336775"/>
            <a:chExt cx="2185953" cy="507419"/>
          </a:xfrm>
        </p:grpSpPr>
        <p:sp>
          <p:nvSpPr>
            <p:cNvPr id="445" name="TextBox 444">
              <a:extLst>
                <a:ext uri="{FF2B5EF4-FFF2-40B4-BE49-F238E27FC236}">
                  <a16:creationId xmlns:a16="http://schemas.microsoft.com/office/drawing/2014/main" xmlns="" id="{1CF86E91-20B2-AA40-ADE7-23C1A4B452F5}"/>
                </a:ext>
              </a:extLst>
            </p:cNvPr>
            <p:cNvSpPr txBox="1"/>
            <p:nvPr/>
          </p:nvSpPr>
          <p:spPr>
            <a:xfrm>
              <a:off x="5001111" y="5336775"/>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46" name="TextBox 445">
              <a:extLst>
                <a:ext uri="{FF2B5EF4-FFF2-40B4-BE49-F238E27FC236}">
                  <a16:creationId xmlns:a16="http://schemas.microsoft.com/office/drawing/2014/main" xmlns="" id="{4B4D0976-F981-B64D-A7D0-EC08D7AD5DE8}"/>
                </a:ext>
              </a:extLst>
            </p:cNvPr>
            <p:cNvSpPr txBox="1"/>
            <p:nvPr/>
          </p:nvSpPr>
          <p:spPr>
            <a:xfrm>
              <a:off x="3228093" y="5351752"/>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351210" y="292820"/>
            <a:ext cx="8545512" cy="669925"/>
          </a:xfrm>
        </p:spPr>
        <p:txBody>
          <a:bodyPr>
            <a:normAutofit/>
          </a:bodyPr>
          <a:lstStyle/>
          <a:p>
            <a:r>
              <a:rPr lang="en-US" sz="4000" b="1" dirty="0"/>
              <a:t>Causes/costs of congestion: scenario 2</a:t>
            </a:r>
          </a:p>
        </p:txBody>
      </p:sp>
      <p:sp>
        <p:nvSpPr>
          <p:cNvPr id="230" name="Rectangle 234">
            <a:extLst>
              <a:ext uri="{FF2B5EF4-FFF2-40B4-BE49-F238E27FC236}">
                <a16:creationId xmlns:a16="http://schemas.microsoft.com/office/drawing/2014/main" xmlns="" id="{6E45144B-BF92-9A47-94FD-F52064FD06E8}"/>
              </a:ext>
            </a:extLst>
          </p:cNvPr>
          <p:cNvSpPr>
            <a:spLocks noChangeArrowheads="1"/>
          </p:cNvSpPr>
          <p:nvPr/>
        </p:nvSpPr>
        <p:spPr bwMode="auto">
          <a:xfrm>
            <a:off x="2033588" y="2709863"/>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1" name="Rectangle 235">
            <a:extLst>
              <a:ext uri="{FF2B5EF4-FFF2-40B4-BE49-F238E27FC236}">
                <a16:creationId xmlns:a16="http://schemas.microsoft.com/office/drawing/2014/main" xmlns="" id="{F4772420-2FB1-314B-A194-38B964C76259}"/>
              </a:ext>
            </a:extLst>
          </p:cNvPr>
          <p:cNvSpPr>
            <a:spLocks noChangeArrowheads="1"/>
          </p:cNvSpPr>
          <p:nvPr/>
        </p:nvSpPr>
        <p:spPr bwMode="auto">
          <a:xfrm>
            <a:off x="1785938" y="2884885"/>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2" name="Text Box 236">
            <a:extLst>
              <a:ext uri="{FF2B5EF4-FFF2-40B4-BE49-F238E27FC236}">
                <a16:creationId xmlns:a16="http://schemas.microsoft.com/office/drawing/2014/main" xmlns="" id="{11E59F0D-C317-314F-8F6B-B5D0BED054AD}"/>
              </a:ext>
            </a:extLst>
          </p:cNvPr>
          <p:cNvSpPr txBox="1">
            <a:spLocks noChangeArrowheads="1"/>
          </p:cNvSpPr>
          <p:nvPr/>
        </p:nvSpPr>
        <p:spPr bwMode="auto">
          <a:xfrm>
            <a:off x="1293577" y="2802732"/>
            <a:ext cx="50847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kern="1200" dirty="0">
                <a:solidFill>
                  <a:srgbClr val="006600"/>
                </a:solidFill>
                <a:latin typeface="Arial" charset="0"/>
                <a:cs typeface="+mn-cs"/>
              </a:rPr>
              <a:t>copy</a:t>
            </a:r>
          </a:p>
        </p:txBody>
      </p:sp>
      <p:sp>
        <p:nvSpPr>
          <p:cNvPr id="233" name="Text Box 237">
            <a:extLst>
              <a:ext uri="{FF2B5EF4-FFF2-40B4-BE49-F238E27FC236}">
                <a16:creationId xmlns:a16="http://schemas.microsoft.com/office/drawing/2014/main" xmlns="" id="{EAD9B395-E752-6A49-A4A1-C7F6E1FAF489}"/>
              </a:ext>
            </a:extLst>
          </p:cNvPr>
          <p:cNvSpPr txBox="1">
            <a:spLocks noChangeArrowheads="1"/>
          </p:cNvSpPr>
          <p:nvPr/>
        </p:nvSpPr>
        <p:spPr bwMode="auto">
          <a:xfrm>
            <a:off x="2812825" y="3570840"/>
            <a:ext cx="1285929"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i="1" kern="1200" dirty="0">
                <a:solidFill>
                  <a:srgbClr val="006600"/>
                </a:solidFill>
                <a:latin typeface="Arial" charset="0"/>
                <a:cs typeface="+mn-cs"/>
              </a:rPr>
              <a:t>no buffer space!</a:t>
            </a:r>
          </a:p>
        </p:txBody>
      </p:sp>
      <p:sp>
        <p:nvSpPr>
          <p:cNvPr id="318" name="Rectangle 264">
            <a:extLst>
              <a:ext uri="{FF2B5EF4-FFF2-40B4-BE49-F238E27FC236}">
                <a16:creationId xmlns:a16="http://schemas.microsoft.com/office/drawing/2014/main" xmlns="" id="{D09A7464-92EB-C943-B1B0-D7DED6B7F590}"/>
              </a:ext>
            </a:extLst>
          </p:cNvPr>
          <p:cNvSpPr txBox="1">
            <a:spLocks noChangeArrowheads="1"/>
          </p:cNvSpPr>
          <p:nvPr/>
        </p:nvSpPr>
        <p:spPr>
          <a:xfrm>
            <a:off x="501179" y="1054151"/>
            <a:ext cx="6712565" cy="159913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250" dirty="0">
                <a:solidFill>
                  <a:srgbClr val="000099"/>
                </a:solidFill>
                <a:latin typeface="Calibri" panose="020F0502020204030204"/>
              </a:rPr>
              <a:t>Idealization: </a:t>
            </a:r>
            <a:r>
              <a:rPr lang="en-US" sz="2250" i="1" dirty="0">
                <a:solidFill>
                  <a:srgbClr val="C00000"/>
                </a:solidFill>
                <a:latin typeface="Calibri" panose="020F0502020204030204"/>
              </a:rPr>
              <a:t>some </a:t>
            </a:r>
            <a:r>
              <a:rPr lang="en-US" sz="2250" dirty="0">
                <a:solidFill>
                  <a:prstClr val="black"/>
                </a:solidFill>
                <a:latin typeface="Calibri" panose="020F0502020204030204"/>
              </a:rPr>
              <a:t>perfect knowledge</a:t>
            </a:r>
          </a:p>
          <a:p>
            <a:pPr marL="342900" indent="-161925" defTabSz="685800">
              <a:spcBef>
                <a:spcPts val="750"/>
              </a:spcBef>
              <a:defRPr/>
            </a:pPr>
            <a:r>
              <a:rPr lang="en-US" sz="1800" dirty="0">
                <a:solidFill>
                  <a:prstClr val="black"/>
                </a:solidFill>
                <a:latin typeface="Calibri" panose="020F0502020204030204"/>
              </a:rPr>
              <a:t>packets can be lost (dropped at router) due  to full buffers</a:t>
            </a:r>
          </a:p>
          <a:p>
            <a:pPr marL="342900" indent="-161925" defTabSz="685800">
              <a:spcBef>
                <a:spcPts val="750"/>
              </a:spcBef>
              <a:defRPr/>
            </a:pPr>
            <a:r>
              <a:rPr lang="en-US" sz="1800" dirty="0">
                <a:solidFill>
                  <a:prstClr val="black"/>
                </a:solidFill>
                <a:latin typeface="Calibri" panose="020F0502020204030204"/>
              </a:rPr>
              <a:t>sender knows when packet has been dropped: only resends if packet </a:t>
            </a:r>
            <a:r>
              <a:rPr lang="en-US" sz="1800" i="1" dirty="0">
                <a:solidFill>
                  <a:prstClr val="black"/>
                </a:solidFill>
                <a:latin typeface="Calibri" panose="020F0502020204030204"/>
              </a:rPr>
              <a:t>known</a:t>
            </a:r>
            <a:r>
              <a:rPr lang="en-US" sz="1800" dirty="0">
                <a:solidFill>
                  <a:prstClr val="black"/>
                </a:solidFill>
                <a:latin typeface="Calibri" panose="020F0502020204030204"/>
              </a:rPr>
              <a:t> to be lost</a:t>
            </a:r>
            <a:endParaRPr lang="en-US" sz="2100" dirty="0">
              <a:solidFill>
                <a:prstClr val="black"/>
              </a:solidFill>
              <a:latin typeface="Calibri" panose="020F0502020204030204"/>
            </a:endParaRPr>
          </a:p>
        </p:txBody>
      </p:sp>
    </p:spTree>
    <p:extLst>
      <p:ext uri="{BB962C8B-B14F-4D97-AF65-F5344CB8AC3E}">
        <p14:creationId xmlns:p14="http://schemas.microsoft.com/office/powerpoint/2010/main" val="745262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dissolve">
                                      <p:cBhvr>
                                        <p:cTn id="7" dur="500"/>
                                        <p:tgtEl>
                                          <p:spTgt spid="230"/>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0"/>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1"/>
                                        </p:tgtEl>
                                        <p:attrNameLst>
                                          <p:attrName>style.visibility</p:attrName>
                                        </p:attrNameLst>
                                      </p:cBhvr>
                                      <p:to>
                                        <p:strVal val="visible"/>
                                      </p:to>
                                    </p:set>
                                    <p:animEffect transition="in" filter="dissolve">
                                      <p:cBhvr>
                                        <p:cTn id="14" dur="500"/>
                                        <p:tgtEl>
                                          <p:spTgt spid="231"/>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dissolve">
                                      <p:cBhvr>
                                        <p:cTn id="17" dur="500"/>
                                        <p:tgtEl>
                                          <p:spTgt spid="232"/>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26 0.17778 L 0.06328 0.17871 L 0.03451 0.24167 L 0.14323 0.24167 " pathEditMode="relative" rAng="0" ptsTypes="AAAAA">
                                      <p:cBhvr>
                                        <p:cTn id="20" dur="2000" fill="hold"/>
                                        <p:tgtEl>
                                          <p:spTgt spid="230"/>
                                        </p:tgtEl>
                                        <p:attrNameLst>
                                          <p:attrName>ppt_x</p:attrName>
                                          <p:attrName>ppt_y</p:attrName>
                                        </p:attrNameLst>
                                      </p:cBhvr>
                                      <p:rCtr x="7161" y="10301"/>
                                    </p:animMotion>
                                  </p:childTnLst>
                                </p:cTn>
                              </p:par>
                              <p:par>
                                <p:cTn id="21" presetID="9" presetClass="exit" presetSubtype="0" fill="hold" grpId="1" nodeType="withEffect">
                                  <p:stCondLst>
                                    <p:cond delay="0"/>
                                  </p:stCondLst>
                                  <p:childTnLst>
                                    <p:animEffect transition="out" filter="dissolve">
                                      <p:cBhvr>
                                        <p:cTn id="22" dur="500"/>
                                        <p:tgtEl>
                                          <p:spTgt spid="232"/>
                                        </p:tgtEl>
                                      </p:cBhvr>
                                    </p:animEffect>
                                    <p:set>
                                      <p:cBhvr>
                                        <p:cTn id="23" dur="1" fill="hold">
                                          <p:stCondLst>
                                            <p:cond delay="499"/>
                                          </p:stCondLst>
                                        </p:cTn>
                                        <p:tgtEl>
                                          <p:spTgt spid="232"/>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3"/>
                                        </p:tgtEl>
                                        <p:attrNameLst>
                                          <p:attrName>style.visibility</p:attrName>
                                        </p:attrNameLst>
                                      </p:cBhvr>
                                      <p:to>
                                        <p:strVal val="visible"/>
                                      </p:to>
                                    </p:set>
                                    <p:animEffect transition="in" filter="dissolve">
                                      <p:cBhvr>
                                        <p:cTn id="27" dur="500"/>
                                        <p:tgtEl>
                                          <p:spTgt spid="233"/>
                                        </p:tgtEl>
                                      </p:cBhvr>
                                    </p:animEffect>
                                  </p:childTnLst>
                                </p:cTn>
                              </p:par>
                            </p:childTnLst>
                          </p:cTn>
                        </p:par>
                        <p:par>
                          <p:cTn id="28" fill="hold">
                            <p:stCondLst>
                              <p:cond delay="5500"/>
                            </p:stCondLst>
                            <p:childTnLst>
                              <p:par>
                                <p:cTn id="29" presetID="9" presetClass="entr" presetSubtype="0" fill="hold" nodeType="afterEffect">
                                  <p:stCondLst>
                                    <p:cond delay="0"/>
                                  </p:stCondLst>
                                  <p:childTnLst>
                                    <p:set>
                                      <p:cBhvr>
                                        <p:cTn id="30" dur="1" fill="hold">
                                          <p:stCondLst>
                                            <p:cond delay="0"/>
                                          </p:stCondLst>
                                        </p:cTn>
                                        <p:tgtEl>
                                          <p:spTgt spid="160"/>
                                        </p:tgtEl>
                                        <p:attrNameLst>
                                          <p:attrName>style.visibility</p:attrName>
                                        </p:attrNameLst>
                                      </p:cBhvr>
                                      <p:to>
                                        <p:strVal val="visible"/>
                                      </p:to>
                                    </p:set>
                                    <p:animEffect transition="in" filter="dissolve">
                                      <p:cBhvr>
                                        <p:cTn id="31" dur="500"/>
                                        <p:tgtEl>
                                          <p:spTgt spid="160"/>
                                        </p:tgtEl>
                                      </p:cBhvr>
                                    </p:animEffect>
                                  </p:childTnLst>
                                </p:cTn>
                              </p:par>
                            </p:childTnLst>
                          </p:cTn>
                        </p:par>
                        <p:par>
                          <p:cTn id="32" fill="hold">
                            <p:stCondLst>
                              <p:cond delay="6000"/>
                            </p:stCondLst>
                            <p:childTnLst>
                              <p:par>
                                <p:cTn id="33" presetID="0" presetClass="path" presetSubtype="0" accel="50000" decel="50000" fill="hold" grpId="3" nodeType="afterEffect">
                                  <p:stCondLst>
                                    <p:cond delay="0"/>
                                  </p:stCondLst>
                                  <p:childTnLst>
                                    <p:animMotion origin="layout" path="M 0.14323 0.24167 L 0.14544 0.35116 " pathEditMode="relative" rAng="0" ptsTypes="AA">
                                      <p:cBhvr>
                                        <p:cTn id="34" dur="2000" fill="hold"/>
                                        <p:tgtEl>
                                          <p:spTgt spid="230"/>
                                        </p:tgtEl>
                                        <p:attrNameLst>
                                          <p:attrName>ppt_x</p:attrName>
                                          <p:attrName>ppt_y</p:attrName>
                                        </p:attrNameLst>
                                      </p:cBhvr>
                                      <p:rCtr x="104" y="5463"/>
                                    </p:animMotion>
                                  </p:childTnLst>
                                </p:cTn>
                              </p:par>
                              <p:par>
                                <p:cTn id="35" presetID="9" presetClass="exit" presetSubtype="0" fill="hold" grpId="1" nodeType="withEffect">
                                  <p:stCondLst>
                                    <p:cond delay="0"/>
                                  </p:stCondLst>
                                  <p:childTnLst>
                                    <p:animEffect transition="out" filter="dissolve">
                                      <p:cBhvr>
                                        <p:cTn id="36" dur="500"/>
                                        <p:tgtEl>
                                          <p:spTgt spid="233"/>
                                        </p:tgtEl>
                                      </p:cBhvr>
                                    </p:animEffect>
                                    <p:set>
                                      <p:cBhvr>
                                        <p:cTn id="37" dur="1" fill="hold">
                                          <p:stCondLst>
                                            <p:cond delay="499"/>
                                          </p:stCondLst>
                                        </p:cTn>
                                        <p:tgtEl>
                                          <p:spTgt spid="233"/>
                                        </p:tgtEl>
                                        <p:attrNameLst>
                                          <p:attrName>style.visibility</p:attrName>
                                        </p:attrNameLst>
                                      </p:cBhvr>
                                      <p:to>
                                        <p:strVal val="hidden"/>
                                      </p:to>
                                    </p:set>
                                  </p:childTnLst>
                                </p:cTn>
                              </p:par>
                            </p:childTnLst>
                          </p:cTn>
                        </p:par>
                        <p:par>
                          <p:cTn id="38" fill="hold">
                            <p:stCondLst>
                              <p:cond delay="8000"/>
                            </p:stCondLst>
                            <p:childTnLst>
                              <p:par>
                                <p:cTn id="39" presetID="9" presetClass="exit" presetSubtype="0" fill="hold" grpId="4" nodeType="afterEffect">
                                  <p:stCondLst>
                                    <p:cond delay="0"/>
                                  </p:stCondLst>
                                  <p:childTnLst>
                                    <p:animEffect transition="out" filter="dissolve">
                                      <p:cBhvr>
                                        <p:cTn id="40" dur="500"/>
                                        <p:tgtEl>
                                          <p:spTgt spid="230"/>
                                        </p:tgtEl>
                                      </p:cBhvr>
                                    </p:animEffect>
                                    <p:set>
                                      <p:cBhvr>
                                        <p:cTn id="41" dur="1" fill="hold">
                                          <p:stCondLst>
                                            <p:cond delay="499"/>
                                          </p:stCondLst>
                                        </p:cTn>
                                        <p:tgtEl>
                                          <p:spTgt spid="2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animBg="1"/>
      <p:bldP spid="230" grpId="1" animBg="1"/>
      <p:bldP spid="230" grpId="2" animBg="1"/>
      <p:bldP spid="230" grpId="3" animBg="1"/>
      <p:bldP spid="230" grpId="4" animBg="1"/>
      <p:bldP spid="231" grpId="0" animBg="1"/>
      <p:bldP spid="232" grpId="0"/>
      <p:bldP spid="232" grpId="1"/>
      <p:bldP spid="233" grpId="0"/>
      <p:bldP spid="23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Freeform 3">
            <a:extLst>
              <a:ext uri="{FF2B5EF4-FFF2-40B4-BE49-F238E27FC236}">
                <a16:creationId xmlns:a16="http://schemas.microsoft.com/office/drawing/2014/main" xmlns="" id="{78DA0B54-F98B-BB46-88B3-CE41F122DE26}"/>
              </a:ext>
            </a:extLst>
          </p:cNvPr>
          <p:cNvSpPr>
            <a:spLocks/>
          </p:cNvSpPr>
          <p:nvPr/>
        </p:nvSpPr>
        <p:spPr bwMode="auto">
          <a:xfrm>
            <a:off x="5210233" y="3757361"/>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74" name="Group 473">
            <a:extLst>
              <a:ext uri="{FF2B5EF4-FFF2-40B4-BE49-F238E27FC236}">
                <a16:creationId xmlns:a16="http://schemas.microsoft.com/office/drawing/2014/main" xmlns="" id="{B7831227-C019-F54D-8486-90C2641B233E}"/>
              </a:ext>
            </a:extLst>
          </p:cNvPr>
          <p:cNvGrpSpPr/>
          <p:nvPr/>
        </p:nvGrpSpPr>
        <p:grpSpPr>
          <a:xfrm>
            <a:off x="4687076" y="3768042"/>
            <a:ext cx="540549" cy="887198"/>
            <a:chOff x="10910965" y="2513124"/>
            <a:chExt cx="586768" cy="904023"/>
          </a:xfrm>
        </p:grpSpPr>
        <p:sp>
          <p:nvSpPr>
            <p:cNvPr id="475" name="Rectangle 474">
              <a:extLst>
                <a:ext uri="{FF2B5EF4-FFF2-40B4-BE49-F238E27FC236}">
                  <a16:creationId xmlns:a16="http://schemas.microsoft.com/office/drawing/2014/main" xmlns="" id="{1F86B744-C8BE-A248-B391-C1A1E47E0A0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76" name="Straight Connector 475">
              <a:extLst>
                <a:ext uri="{FF2B5EF4-FFF2-40B4-BE49-F238E27FC236}">
                  <a16:creationId xmlns:a16="http://schemas.microsoft.com/office/drawing/2014/main" xmlns="" id="{900566A3-5320-FA4C-ABD1-930C515C0C89}"/>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xmlns="" id="{93B54A25-2EFC-2B49-BB5B-BE990ACB6E19}"/>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xmlns="" id="{A6538998-BDBF-DF4C-B2EC-77F281D72F0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xmlns="" id="{968272CD-399F-264B-A633-827064A7E41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9" name="Freeform 9">
            <a:extLst>
              <a:ext uri="{FF2B5EF4-FFF2-40B4-BE49-F238E27FC236}">
                <a16:creationId xmlns:a16="http://schemas.microsoft.com/office/drawing/2014/main" xmlns="" id="{3605A7CD-486E-374E-857B-A5FED463149A}"/>
              </a:ext>
            </a:extLst>
          </p:cNvPr>
          <p:cNvSpPr>
            <a:spLocks/>
          </p:cNvSpPr>
          <p:nvPr/>
        </p:nvSpPr>
        <p:spPr bwMode="auto">
          <a:xfrm flipH="1">
            <a:off x="1383541" y="2636729"/>
            <a:ext cx="396261" cy="88370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70" name="Group 169">
            <a:extLst>
              <a:ext uri="{FF2B5EF4-FFF2-40B4-BE49-F238E27FC236}">
                <a16:creationId xmlns:a16="http://schemas.microsoft.com/office/drawing/2014/main" xmlns="" id="{6BAE210C-B315-BF49-9E14-832C803385C1}"/>
              </a:ext>
            </a:extLst>
          </p:cNvPr>
          <p:cNvGrpSpPr/>
          <p:nvPr/>
        </p:nvGrpSpPr>
        <p:grpSpPr>
          <a:xfrm>
            <a:off x="959009" y="3512773"/>
            <a:ext cx="540549" cy="887198"/>
            <a:chOff x="10910965" y="2513124"/>
            <a:chExt cx="586768" cy="904023"/>
          </a:xfrm>
        </p:grpSpPr>
        <p:sp>
          <p:nvSpPr>
            <p:cNvPr id="466" name="Rectangle 465">
              <a:extLst>
                <a:ext uri="{FF2B5EF4-FFF2-40B4-BE49-F238E27FC236}">
                  <a16:creationId xmlns:a16="http://schemas.microsoft.com/office/drawing/2014/main" xmlns="" id="{782DF269-B22E-124D-A8AB-1B45AC4017F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67" name="Straight Connector 466">
              <a:extLst>
                <a:ext uri="{FF2B5EF4-FFF2-40B4-BE49-F238E27FC236}">
                  <a16:creationId xmlns:a16="http://schemas.microsoft.com/office/drawing/2014/main" xmlns="" id="{A7812E96-3B07-D348-AB53-B122DAB4E6B2}"/>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xmlns="" id="{2B399334-1A8E-134C-B4FC-1DADB2572F9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xmlns="" id="{2A8D4057-50A8-0C4E-B3DB-41EF5AA29419}"/>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xmlns="" id="{303C7848-D36A-834E-9516-64CE78236ED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1" name="Group 170">
            <a:extLst>
              <a:ext uri="{FF2B5EF4-FFF2-40B4-BE49-F238E27FC236}">
                <a16:creationId xmlns:a16="http://schemas.microsoft.com/office/drawing/2014/main" xmlns="" id="{584477B2-231F-6342-BB1B-FEE6C59ECF52}"/>
              </a:ext>
            </a:extLst>
          </p:cNvPr>
          <p:cNvGrpSpPr/>
          <p:nvPr/>
        </p:nvGrpSpPr>
        <p:grpSpPr>
          <a:xfrm>
            <a:off x="1766283" y="2640818"/>
            <a:ext cx="540549" cy="887198"/>
            <a:chOff x="10910965" y="2513124"/>
            <a:chExt cx="586768" cy="904023"/>
          </a:xfrm>
        </p:grpSpPr>
        <p:sp>
          <p:nvSpPr>
            <p:cNvPr id="461" name="Rectangle 460">
              <a:extLst>
                <a:ext uri="{FF2B5EF4-FFF2-40B4-BE49-F238E27FC236}">
                  <a16:creationId xmlns:a16="http://schemas.microsoft.com/office/drawing/2014/main" xmlns="" id="{6809513A-96B2-F747-B5DE-AE92732DF736}"/>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62" name="Straight Connector 461">
              <a:extLst>
                <a:ext uri="{FF2B5EF4-FFF2-40B4-BE49-F238E27FC236}">
                  <a16:creationId xmlns:a16="http://schemas.microsoft.com/office/drawing/2014/main" xmlns="" id="{12D921D5-B6BF-A24C-8002-5AB6451D58B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xmlns="" id="{8E7AFE4F-E85D-E74E-9028-EA5E47E1FC08}"/>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xmlns="" id="{A7E6CF1A-5E38-FC4A-91EC-B6B52C3CCCC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xmlns="" id="{C7013E7D-279D-3441-A1FC-72573517FCAA}"/>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2" name="Freeform 6">
            <a:extLst>
              <a:ext uri="{FF2B5EF4-FFF2-40B4-BE49-F238E27FC236}">
                <a16:creationId xmlns:a16="http://schemas.microsoft.com/office/drawing/2014/main" xmlns="" id="{206261C0-C19D-5445-B1A1-7208FAA9D5C0}"/>
              </a:ext>
            </a:extLst>
          </p:cNvPr>
          <p:cNvSpPr>
            <a:spLocks/>
          </p:cNvSpPr>
          <p:nvPr/>
        </p:nvSpPr>
        <p:spPr bwMode="auto">
          <a:xfrm>
            <a:off x="5556835" y="2774602"/>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35" name="Group 234">
            <a:extLst>
              <a:ext uri="{FF2B5EF4-FFF2-40B4-BE49-F238E27FC236}">
                <a16:creationId xmlns:a16="http://schemas.microsoft.com/office/drawing/2014/main" xmlns="" id="{2D5D8D25-47D7-4247-93AC-740845C8F29F}"/>
              </a:ext>
            </a:extLst>
          </p:cNvPr>
          <p:cNvGrpSpPr/>
          <p:nvPr/>
        </p:nvGrpSpPr>
        <p:grpSpPr>
          <a:xfrm>
            <a:off x="5024189" y="2750917"/>
            <a:ext cx="540549" cy="887198"/>
            <a:chOff x="10910965" y="2513124"/>
            <a:chExt cx="586768" cy="904023"/>
          </a:xfrm>
        </p:grpSpPr>
        <p:sp>
          <p:nvSpPr>
            <p:cNvPr id="456" name="Rectangle 455">
              <a:extLst>
                <a:ext uri="{FF2B5EF4-FFF2-40B4-BE49-F238E27FC236}">
                  <a16:creationId xmlns:a16="http://schemas.microsoft.com/office/drawing/2014/main" xmlns="" id="{23DA77B2-BEC2-8945-AF87-82BF78DFEBDC}"/>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57" name="Straight Connector 456">
              <a:extLst>
                <a:ext uri="{FF2B5EF4-FFF2-40B4-BE49-F238E27FC236}">
                  <a16:creationId xmlns:a16="http://schemas.microsoft.com/office/drawing/2014/main" xmlns="" id="{5E0EB13A-C315-4845-B3CA-9996078979F7}"/>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xmlns="" id="{77FF2C2F-77E2-114D-A87A-BE0DC699808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xmlns="" id="{215BACD8-AE1A-024C-8113-15D983544269}"/>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xmlns="" id="{4A77BC0A-EA01-7445-AAE0-B8E8936A6672}"/>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1" name="Group 330">
            <a:extLst>
              <a:ext uri="{FF2B5EF4-FFF2-40B4-BE49-F238E27FC236}">
                <a16:creationId xmlns:a16="http://schemas.microsoft.com/office/drawing/2014/main" xmlns="" id="{FFA35F8C-504E-E740-B268-F48CB484744A}"/>
              </a:ext>
            </a:extLst>
          </p:cNvPr>
          <p:cNvGrpSpPr/>
          <p:nvPr/>
        </p:nvGrpSpPr>
        <p:grpSpPr>
          <a:xfrm>
            <a:off x="2828023" y="3775234"/>
            <a:ext cx="965153" cy="551195"/>
            <a:chOff x="7493876" y="2774731"/>
            <a:chExt cx="1481958" cy="894622"/>
          </a:xfrm>
        </p:grpSpPr>
        <p:sp>
          <p:nvSpPr>
            <p:cNvPr id="449" name="Freeform 448">
              <a:extLst>
                <a:ext uri="{FF2B5EF4-FFF2-40B4-BE49-F238E27FC236}">
                  <a16:creationId xmlns:a16="http://schemas.microsoft.com/office/drawing/2014/main" xmlns="" id="{0C5B982F-8D0D-5E4B-A5F4-51D4EACABD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450" name="Oval 449">
              <a:extLst>
                <a:ext uri="{FF2B5EF4-FFF2-40B4-BE49-F238E27FC236}">
                  <a16:creationId xmlns:a16="http://schemas.microsoft.com/office/drawing/2014/main" xmlns="" id="{486B86C4-CAB3-2943-9DDD-58492CC7335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451" name="Group 450">
              <a:extLst>
                <a:ext uri="{FF2B5EF4-FFF2-40B4-BE49-F238E27FC236}">
                  <a16:creationId xmlns:a16="http://schemas.microsoft.com/office/drawing/2014/main" xmlns="" id="{2DD189E4-73DE-594A-9971-497300D8C426}"/>
                </a:ext>
              </a:extLst>
            </p:cNvPr>
            <p:cNvGrpSpPr/>
            <p:nvPr/>
          </p:nvGrpSpPr>
          <p:grpSpPr>
            <a:xfrm>
              <a:off x="7713663" y="2848339"/>
              <a:ext cx="1042107" cy="425543"/>
              <a:chOff x="7786941" y="2884917"/>
              <a:chExt cx="897649" cy="353919"/>
            </a:xfrm>
          </p:grpSpPr>
          <p:sp>
            <p:nvSpPr>
              <p:cNvPr id="452" name="Freeform 451">
                <a:extLst>
                  <a:ext uri="{FF2B5EF4-FFF2-40B4-BE49-F238E27FC236}">
                    <a16:creationId xmlns:a16="http://schemas.microsoft.com/office/drawing/2014/main" xmlns="" id="{E85CF2D0-3CFC-5E43-B858-03D42C9110A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53" name="Freeform 452">
                <a:extLst>
                  <a:ext uri="{FF2B5EF4-FFF2-40B4-BE49-F238E27FC236}">
                    <a16:creationId xmlns:a16="http://schemas.microsoft.com/office/drawing/2014/main" xmlns="" id="{EC9DAD17-F992-4F48-8267-9058E7CD27F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54" name="Freeform 453">
                <a:extLst>
                  <a:ext uri="{FF2B5EF4-FFF2-40B4-BE49-F238E27FC236}">
                    <a16:creationId xmlns:a16="http://schemas.microsoft.com/office/drawing/2014/main" xmlns="" id="{E710E015-BE76-AE4B-81F6-34C170D713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55" name="Freeform 454">
                <a:extLst>
                  <a:ext uri="{FF2B5EF4-FFF2-40B4-BE49-F238E27FC236}">
                    <a16:creationId xmlns:a16="http://schemas.microsoft.com/office/drawing/2014/main" xmlns="" id="{E6F85A0B-00CE-6D4F-A4FF-FFB7E1C2F7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334" name="Group 124">
            <a:extLst>
              <a:ext uri="{FF2B5EF4-FFF2-40B4-BE49-F238E27FC236}">
                <a16:creationId xmlns:a16="http://schemas.microsoft.com/office/drawing/2014/main" xmlns="" id="{9BF07229-A6A4-AD45-97F8-02F77949015D}"/>
              </a:ext>
            </a:extLst>
          </p:cNvPr>
          <p:cNvGrpSpPr>
            <a:grpSpLocks/>
          </p:cNvGrpSpPr>
          <p:nvPr/>
        </p:nvGrpSpPr>
        <p:grpSpPr bwMode="auto">
          <a:xfrm>
            <a:off x="988066" y="2907840"/>
            <a:ext cx="484073" cy="426879"/>
            <a:chOff x="-44" y="1473"/>
            <a:chExt cx="981" cy="1105"/>
          </a:xfrm>
        </p:grpSpPr>
        <p:pic>
          <p:nvPicPr>
            <p:cNvPr id="447" name="Picture 125" descr="desktop_computer_stylized_medium">
              <a:extLst>
                <a:ext uri="{FF2B5EF4-FFF2-40B4-BE49-F238E27FC236}">
                  <a16:creationId xmlns:a16="http://schemas.microsoft.com/office/drawing/2014/main" xmlns="" id="{7307EF69-0AD9-7347-B5CF-13B9A3CE26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 name="Freeform 126">
              <a:extLst>
                <a:ext uri="{FF2B5EF4-FFF2-40B4-BE49-F238E27FC236}">
                  <a16:creationId xmlns:a16="http://schemas.microsoft.com/office/drawing/2014/main" xmlns="" id="{70150EB8-302C-104D-A225-CB59DD73AD6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336" name="Freeform 12">
            <a:extLst>
              <a:ext uri="{FF2B5EF4-FFF2-40B4-BE49-F238E27FC236}">
                <a16:creationId xmlns:a16="http://schemas.microsoft.com/office/drawing/2014/main" xmlns="" id="{0457B109-DCF7-7B48-990C-188E960DA7E2}"/>
              </a:ext>
            </a:extLst>
          </p:cNvPr>
          <p:cNvSpPr>
            <a:spLocks/>
          </p:cNvSpPr>
          <p:nvPr/>
        </p:nvSpPr>
        <p:spPr bwMode="auto">
          <a:xfrm flipH="1">
            <a:off x="733658" y="3511205"/>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37" name="Line 33">
            <a:extLst>
              <a:ext uri="{FF2B5EF4-FFF2-40B4-BE49-F238E27FC236}">
                <a16:creationId xmlns:a16="http://schemas.microsoft.com/office/drawing/2014/main" xmlns="" id="{378BB6D2-BFAA-E544-BB30-E3BAC64FEF3E}"/>
              </a:ext>
            </a:extLst>
          </p:cNvPr>
          <p:cNvSpPr>
            <a:spLocks noChangeShapeType="1"/>
          </p:cNvSpPr>
          <p:nvPr/>
        </p:nvSpPr>
        <p:spPr bwMode="auto">
          <a:xfrm flipH="1">
            <a:off x="1804175"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38" name="Text Box 42">
            <a:extLst>
              <a:ext uri="{FF2B5EF4-FFF2-40B4-BE49-F238E27FC236}">
                <a16:creationId xmlns:a16="http://schemas.microsoft.com/office/drawing/2014/main" xmlns="" id="{E22D8322-6AC1-024E-A7E0-7FB476A5F28E}"/>
              </a:ext>
            </a:extLst>
          </p:cNvPr>
          <p:cNvSpPr txBox="1">
            <a:spLocks noChangeArrowheads="1"/>
          </p:cNvSpPr>
          <p:nvPr/>
        </p:nvSpPr>
        <p:spPr bwMode="auto">
          <a:xfrm>
            <a:off x="816463" y="2647363"/>
            <a:ext cx="841877"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339" name="Text Box 52">
            <a:extLst>
              <a:ext uri="{FF2B5EF4-FFF2-40B4-BE49-F238E27FC236}">
                <a16:creationId xmlns:a16="http://schemas.microsoft.com/office/drawing/2014/main" xmlns="" id="{C9BA4092-FFBC-344B-B0CD-5F77B5C37F21}"/>
              </a:ext>
            </a:extLst>
          </p:cNvPr>
          <p:cNvSpPr txBox="1">
            <a:spLocks noChangeArrowheads="1"/>
          </p:cNvSpPr>
          <p:nvPr/>
        </p:nvSpPr>
        <p:spPr bwMode="auto">
          <a:xfrm>
            <a:off x="812577" y="4540117"/>
            <a:ext cx="736183"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340" name="Line 53">
            <a:extLst>
              <a:ext uri="{FF2B5EF4-FFF2-40B4-BE49-F238E27FC236}">
                <a16:creationId xmlns:a16="http://schemas.microsoft.com/office/drawing/2014/main" xmlns="" id="{D40AEB36-CE2F-6240-A4C3-F1CF224B9976}"/>
              </a:ext>
            </a:extLst>
          </p:cNvPr>
          <p:cNvSpPr>
            <a:spLocks noChangeShapeType="1"/>
          </p:cNvSpPr>
          <p:nvPr/>
        </p:nvSpPr>
        <p:spPr bwMode="auto">
          <a:xfrm flipH="1">
            <a:off x="2251686"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1" name="Line 54">
            <a:extLst>
              <a:ext uri="{FF2B5EF4-FFF2-40B4-BE49-F238E27FC236}">
                <a16:creationId xmlns:a16="http://schemas.microsoft.com/office/drawing/2014/main" xmlns="" id="{495C95A8-89BF-AD47-9100-5231A4D8B0C2}"/>
              </a:ext>
            </a:extLst>
          </p:cNvPr>
          <p:cNvSpPr>
            <a:spLocks noChangeShapeType="1"/>
          </p:cNvSpPr>
          <p:nvPr/>
        </p:nvSpPr>
        <p:spPr bwMode="auto">
          <a:xfrm flipH="1">
            <a:off x="3743391"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2" name="Line 55">
            <a:extLst>
              <a:ext uri="{FF2B5EF4-FFF2-40B4-BE49-F238E27FC236}">
                <a16:creationId xmlns:a16="http://schemas.microsoft.com/office/drawing/2014/main" xmlns="" id="{120B847C-F27F-494F-8014-E8B621196DE4}"/>
              </a:ext>
            </a:extLst>
          </p:cNvPr>
          <p:cNvSpPr>
            <a:spLocks noChangeShapeType="1"/>
          </p:cNvSpPr>
          <p:nvPr/>
        </p:nvSpPr>
        <p:spPr bwMode="auto">
          <a:xfrm flipH="1">
            <a:off x="3857462"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3" name="Line 57">
            <a:extLst>
              <a:ext uri="{FF2B5EF4-FFF2-40B4-BE49-F238E27FC236}">
                <a16:creationId xmlns:a16="http://schemas.microsoft.com/office/drawing/2014/main" xmlns="" id="{960F0352-E2A3-DE4C-9E29-AD02BDE1E663}"/>
              </a:ext>
            </a:extLst>
          </p:cNvPr>
          <p:cNvSpPr>
            <a:spLocks noChangeShapeType="1"/>
          </p:cNvSpPr>
          <p:nvPr/>
        </p:nvSpPr>
        <p:spPr bwMode="auto">
          <a:xfrm flipH="1">
            <a:off x="4706741" y="3642217"/>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45" name="Group 127">
            <a:extLst>
              <a:ext uri="{FF2B5EF4-FFF2-40B4-BE49-F238E27FC236}">
                <a16:creationId xmlns:a16="http://schemas.microsoft.com/office/drawing/2014/main" xmlns="" id="{3AD20F85-F9D5-B241-A4C0-83AA3C7AFA1C}"/>
              </a:ext>
            </a:extLst>
          </p:cNvPr>
          <p:cNvGrpSpPr>
            <a:grpSpLocks/>
          </p:cNvGrpSpPr>
          <p:nvPr/>
        </p:nvGrpSpPr>
        <p:grpSpPr bwMode="auto">
          <a:xfrm>
            <a:off x="5648969" y="3355409"/>
            <a:ext cx="213518" cy="433111"/>
            <a:chOff x="4140" y="429"/>
            <a:chExt cx="1425" cy="2396"/>
          </a:xfrm>
        </p:grpSpPr>
        <p:sp>
          <p:nvSpPr>
            <p:cNvPr id="409" name="Freeform 128">
              <a:extLst>
                <a:ext uri="{FF2B5EF4-FFF2-40B4-BE49-F238E27FC236}">
                  <a16:creationId xmlns:a16="http://schemas.microsoft.com/office/drawing/2014/main" xmlns="" id="{0B4C7EC1-ADAA-B244-8CDF-3FEFCFF9F2D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0" name="Rectangle 129">
              <a:extLst>
                <a:ext uri="{FF2B5EF4-FFF2-40B4-BE49-F238E27FC236}">
                  <a16:creationId xmlns:a16="http://schemas.microsoft.com/office/drawing/2014/main" xmlns="" id="{A0FF8C35-B0F8-A74B-9E6E-A21B68AFBDF1}"/>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1" name="Freeform 130">
              <a:extLst>
                <a:ext uri="{FF2B5EF4-FFF2-40B4-BE49-F238E27FC236}">
                  <a16:creationId xmlns:a16="http://schemas.microsoft.com/office/drawing/2014/main" xmlns="" id="{B8A6A9CE-AE19-9646-8506-8FABE239754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2" name="Freeform 131">
              <a:extLst>
                <a:ext uri="{FF2B5EF4-FFF2-40B4-BE49-F238E27FC236}">
                  <a16:creationId xmlns:a16="http://schemas.microsoft.com/office/drawing/2014/main" xmlns="" id="{920D5DF8-F10D-784B-A501-18ADE558747A}"/>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13" name="Rectangle 132">
              <a:extLst>
                <a:ext uri="{FF2B5EF4-FFF2-40B4-BE49-F238E27FC236}">
                  <a16:creationId xmlns:a16="http://schemas.microsoft.com/office/drawing/2014/main" xmlns="" id="{158A36BE-3875-984B-860D-8A0FE0867C2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14" name="Group 133">
              <a:extLst>
                <a:ext uri="{FF2B5EF4-FFF2-40B4-BE49-F238E27FC236}">
                  <a16:creationId xmlns:a16="http://schemas.microsoft.com/office/drawing/2014/main" xmlns="" id="{E5497F18-12AE-964F-A3C6-A90B513556BE}"/>
                </a:ext>
              </a:extLst>
            </p:cNvPr>
            <p:cNvGrpSpPr>
              <a:grpSpLocks/>
            </p:cNvGrpSpPr>
            <p:nvPr/>
          </p:nvGrpSpPr>
          <p:grpSpPr bwMode="auto">
            <a:xfrm>
              <a:off x="4749" y="668"/>
              <a:ext cx="581" cy="145"/>
              <a:chOff x="614" y="2568"/>
              <a:chExt cx="725" cy="139"/>
            </a:xfrm>
          </p:grpSpPr>
          <p:sp>
            <p:nvSpPr>
              <p:cNvPr id="439" name="AutoShape 134">
                <a:extLst>
                  <a:ext uri="{FF2B5EF4-FFF2-40B4-BE49-F238E27FC236}">
                    <a16:creationId xmlns:a16="http://schemas.microsoft.com/office/drawing/2014/main" xmlns="" id="{44D06AC1-BE64-AD44-B78A-06EA0742660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0" name="AutoShape 135">
                <a:extLst>
                  <a:ext uri="{FF2B5EF4-FFF2-40B4-BE49-F238E27FC236}">
                    <a16:creationId xmlns:a16="http://schemas.microsoft.com/office/drawing/2014/main" xmlns="" id="{AB2F27B0-5EAD-DE4F-BB61-62C23D5FBC86}"/>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15" name="Rectangle 136">
              <a:extLst>
                <a:ext uri="{FF2B5EF4-FFF2-40B4-BE49-F238E27FC236}">
                  <a16:creationId xmlns:a16="http://schemas.microsoft.com/office/drawing/2014/main" xmlns="" id="{497EAA10-56C6-FF48-9B71-8DD4C9104F4D}"/>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16" name="Group 137">
              <a:extLst>
                <a:ext uri="{FF2B5EF4-FFF2-40B4-BE49-F238E27FC236}">
                  <a16:creationId xmlns:a16="http://schemas.microsoft.com/office/drawing/2014/main" xmlns="" id="{C3283769-C067-6D49-911F-DE095B9010DC}"/>
                </a:ext>
              </a:extLst>
            </p:cNvPr>
            <p:cNvGrpSpPr>
              <a:grpSpLocks/>
            </p:cNvGrpSpPr>
            <p:nvPr/>
          </p:nvGrpSpPr>
          <p:grpSpPr bwMode="auto">
            <a:xfrm>
              <a:off x="4747" y="994"/>
              <a:ext cx="581" cy="134"/>
              <a:chOff x="614" y="2568"/>
              <a:chExt cx="725" cy="139"/>
            </a:xfrm>
          </p:grpSpPr>
          <p:sp>
            <p:nvSpPr>
              <p:cNvPr id="437" name="AutoShape 138">
                <a:extLst>
                  <a:ext uri="{FF2B5EF4-FFF2-40B4-BE49-F238E27FC236}">
                    <a16:creationId xmlns:a16="http://schemas.microsoft.com/office/drawing/2014/main" xmlns="" id="{AB151B02-EE9D-8247-BD54-A32913D967B6}"/>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8" name="AutoShape 139">
                <a:extLst>
                  <a:ext uri="{FF2B5EF4-FFF2-40B4-BE49-F238E27FC236}">
                    <a16:creationId xmlns:a16="http://schemas.microsoft.com/office/drawing/2014/main" xmlns="" id="{FEF7F223-DA6D-0843-95D8-3849E237504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17" name="Rectangle 140">
              <a:extLst>
                <a:ext uri="{FF2B5EF4-FFF2-40B4-BE49-F238E27FC236}">
                  <a16:creationId xmlns:a16="http://schemas.microsoft.com/office/drawing/2014/main" xmlns="" id="{7E6BEA62-9B73-F64A-AD66-03070B2683C2}"/>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8" name="Rectangle 141">
              <a:extLst>
                <a:ext uri="{FF2B5EF4-FFF2-40B4-BE49-F238E27FC236}">
                  <a16:creationId xmlns:a16="http://schemas.microsoft.com/office/drawing/2014/main" xmlns="" id="{B703598A-F43E-8F44-AA55-32B934E36F72}"/>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19" name="Group 142">
              <a:extLst>
                <a:ext uri="{FF2B5EF4-FFF2-40B4-BE49-F238E27FC236}">
                  <a16:creationId xmlns:a16="http://schemas.microsoft.com/office/drawing/2014/main" xmlns="" id="{37E008B5-DF9F-4741-9481-59DB934698E8}"/>
                </a:ext>
              </a:extLst>
            </p:cNvPr>
            <p:cNvGrpSpPr>
              <a:grpSpLocks/>
            </p:cNvGrpSpPr>
            <p:nvPr/>
          </p:nvGrpSpPr>
          <p:grpSpPr bwMode="auto">
            <a:xfrm>
              <a:off x="4735" y="1627"/>
              <a:ext cx="582" cy="151"/>
              <a:chOff x="614" y="2568"/>
              <a:chExt cx="725" cy="139"/>
            </a:xfrm>
          </p:grpSpPr>
          <p:sp>
            <p:nvSpPr>
              <p:cNvPr id="435" name="AutoShape 143">
                <a:extLst>
                  <a:ext uri="{FF2B5EF4-FFF2-40B4-BE49-F238E27FC236}">
                    <a16:creationId xmlns:a16="http://schemas.microsoft.com/office/drawing/2014/main" xmlns="" id="{4DFCD725-D192-594A-9091-58E3EB174CD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6" name="AutoShape 144">
                <a:extLst>
                  <a:ext uri="{FF2B5EF4-FFF2-40B4-BE49-F238E27FC236}">
                    <a16:creationId xmlns:a16="http://schemas.microsoft.com/office/drawing/2014/main" xmlns="" id="{E1E81217-E6F8-7E4C-83BD-39023D5FF172}"/>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20" name="Freeform 145">
              <a:extLst>
                <a:ext uri="{FF2B5EF4-FFF2-40B4-BE49-F238E27FC236}">
                  <a16:creationId xmlns:a16="http://schemas.microsoft.com/office/drawing/2014/main" xmlns="" id="{C9C21037-BEFA-DF45-969E-77E95675D29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21" name="Group 146">
              <a:extLst>
                <a:ext uri="{FF2B5EF4-FFF2-40B4-BE49-F238E27FC236}">
                  <a16:creationId xmlns:a16="http://schemas.microsoft.com/office/drawing/2014/main" xmlns="" id="{8C21E2FB-1E40-4E43-8A6F-A77D3B537718}"/>
                </a:ext>
              </a:extLst>
            </p:cNvPr>
            <p:cNvGrpSpPr>
              <a:grpSpLocks/>
            </p:cNvGrpSpPr>
            <p:nvPr/>
          </p:nvGrpSpPr>
          <p:grpSpPr bwMode="auto">
            <a:xfrm>
              <a:off x="4739" y="1327"/>
              <a:ext cx="582" cy="139"/>
              <a:chOff x="614" y="2568"/>
              <a:chExt cx="725" cy="139"/>
            </a:xfrm>
          </p:grpSpPr>
          <p:sp>
            <p:nvSpPr>
              <p:cNvPr id="433" name="AutoShape 147">
                <a:extLst>
                  <a:ext uri="{FF2B5EF4-FFF2-40B4-BE49-F238E27FC236}">
                    <a16:creationId xmlns:a16="http://schemas.microsoft.com/office/drawing/2014/main" xmlns="" id="{3FB07F3E-B384-BA42-B9DC-3F347F4454A1}"/>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4" name="AutoShape 148">
                <a:extLst>
                  <a:ext uri="{FF2B5EF4-FFF2-40B4-BE49-F238E27FC236}">
                    <a16:creationId xmlns:a16="http://schemas.microsoft.com/office/drawing/2014/main" xmlns="" id="{53CFABFE-9ECC-654C-A26F-077B10C41C5B}"/>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22" name="Rectangle 149">
              <a:extLst>
                <a:ext uri="{FF2B5EF4-FFF2-40B4-BE49-F238E27FC236}">
                  <a16:creationId xmlns:a16="http://schemas.microsoft.com/office/drawing/2014/main" xmlns="" id="{2ADBFF81-E61D-BD42-A5DA-C6C72A45BA91}"/>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3" name="Freeform 150">
              <a:extLst>
                <a:ext uri="{FF2B5EF4-FFF2-40B4-BE49-F238E27FC236}">
                  <a16:creationId xmlns:a16="http://schemas.microsoft.com/office/drawing/2014/main" xmlns="" id="{B801D18D-12AF-604B-826B-87612B4BE25A}"/>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4" name="Freeform 151">
              <a:extLst>
                <a:ext uri="{FF2B5EF4-FFF2-40B4-BE49-F238E27FC236}">
                  <a16:creationId xmlns:a16="http://schemas.microsoft.com/office/drawing/2014/main" xmlns="" id="{E0D76583-E225-D143-AD69-86F92601178E}"/>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5" name="Oval 152">
              <a:extLst>
                <a:ext uri="{FF2B5EF4-FFF2-40B4-BE49-F238E27FC236}">
                  <a16:creationId xmlns:a16="http://schemas.microsoft.com/office/drawing/2014/main" xmlns="" id="{B87BD5BD-84ED-1A45-B304-E70CB33272B5}"/>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6" name="Freeform 153">
              <a:extLst>
                <a:ext uri="{FF2B5EF4-FFF2-40B4-BE49-F238E27FC236}">
                  <a16:creationId xmlns:a16="http://schemas.microsoft.com/office/drawing/2014/main" xmlns="" id="{AC83A214-EE2C-7D46-A95B-93B9ECF9794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7" name="AutoShape 154">
              <a:extLst>
                <a:ext uri="{FF2B5EF4-FFF2-40B4-BE49-F238E27FC236}">
                  <a16:creationId xmlns:a16="http://schemas.microsoft.com/office/drawing/2014/main" xmlns="" id="{E7B0CC33-9743-9840-8876-CD696FD4644E}"/>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8" name="AutoShape 155">
              <a:extLst>
                <a:ext uri="{FF2B5EF4-FFF2-40B4-BE49-F238E27FC236}">
                  <a16:creationId xmlns:a16="http://schemas.microsoft.com/office/drawing/2014/main" xmlns="" id="{90FDCD67-DF9D-014D-94A7-D70073231139}"/>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9" name="Oval 156">
              <a:extLst>
                <a:ext uri="{FF2B5EF4-FFF2-40B4-BE49-F238E27FC236}">
                  <a16:creationId xmlns:a16="http://schemas.microsoft.com/office/drawing/2014/main" xmlns="" id="{B70C62CF-87D8-BD4F-8287-EAFAD6879C9C}"/>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0" name="Oval 157">
              <a:extLst>
                <a:ext uri="{FF2B5EF4-FFF2-40B4-BE49-F238E27FC236}">
                  <a16:creationId xmlns:a16="http://schemas.microsoft.com/office/drawing/2014/main" xmlns="" id="{9CB3EBC8-732C-2243-9992-39D2F18B4FAC}"/>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431" name="Oval 158">
              <a:extLst>
                <a:ext uri="{FF2B5EF4-FFF2-40B4-BE49-F238E27FC236}">
                  <a16:creationId xmlns:a16="http://schemas.microsoft.com/office/drawing/2014/main" xmlns="" id="{F6C1B254-B4D2-D447-9853-48F46447F66A}"/>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2" name="Rectangle 159">
              <a:extLst>
                <a:ext uri="{FF2B5EF4-FFF2-40B4-BE49-F238E27FC236}">
                  <a16:creationId xmlns:a16="http://schemas.microsoft.com/office/drawing/2014/main" xmlns="" id="{0ACFD0C6-117A-4E4E-ABC4-5883C7B0EF1B}"/>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46" name="Group 160">
            <a:extLst>
              <a:ext uri="{FF2B5EF4-FFF2-40B4-BE49-F238E27FC236}">
                <a16:creationId xmlns:a16="http://schemas.microsoft.com/office/drawing/2014/main" xmlns="" id="{C6CE532B-F6A8-1F45-B978-5D94FE3A17B7}"/>
              </a:ext>
            </a:extLst>
          </p:cNvPr>
          <p:cNvGrpSpPr>
            <a:grpSpLocks/>
          </p:cNvGrpSpPr>
          <p:nvPr/>
        </p:nvGrpSpPr>
        <p:grpSpPr bwMode="auto">
          <a:xfrm>
            <a:off x="438973" y="4241457"/>
            <a:ext cx="484073" cy="426879"/>
            <a:chOff x="-44" y="1473"/>
            <a:chExt cx="981" cy="1105"/>
          </a:xfrm>
        </p:grpSpPr>
        <p:pic>
          <p:nvPicPr>
            <p:cNvPr id="407" name="Picture 161" descr="desktop_computer_stylized_medium">
              <a:extLst>
                <a:ext uri="{FF2B5EF4-FFF2-40B4-BE49-F238E27FC236}">
                  <a16:creationId xmlns:a16="http://schemas.microsoft.com/office/drawing/2014/main" xmlns="" id="{3D454C67-648C-464C-9348-5D5073002BF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8" name="Freeform 162">
              <a:extLst>
                <a:ext uri="{FF2B5EF4-FFF2-40B4-BE49-F238E27FC236}">
                  <a16:creationId xmlns:a16="http://schemas.microsoft.com/office/drawing/2014/main" xmlns="" id="{AF9C0563-4685-1D4B-BCCD-35AFDE3FA6D7}"/>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347" name="Group 163">
            <a:extLst>
              <a:ext uri="{FF2B5EF4-FFF2-40B4-BE49-F238E27FC236}">
                <a16:creationId xmlns:a16="http://schemas.microsoft.com/office/drawing/2014/main" xmlns="" id="{B6D845CD-0E90-2A48-9E39-CEAB78AAF9D3}"/>
              </a:ext>
            </a:extLst>
          </p:cNvPr>
          <p:cNvGrpSpPr>
            <a:grpSpLocks/>
          </p:cNvGrpSpPr>
          <p:nvPr/>
        </p:nvGrpSpPr>
        <p:grpSpPr bwMode="auto">
          <a:xfrm>
            <a:off x="5356478" y="4302645"/>
            <a:ext cx="213518" cy="433111"/>
            <a:chOff x="4140" y="429"/>
            <a:chExt cx="1425" cy="2396"/>
          </a:xfrm>
        </p:grpSpPr>
        <p:sp>
          <p:nvSpPr>
            <p:cNvPr id="375" name="Freeform 164">
              <a:extLst>
                <a:ext uri="{FF2B5EF4-FFF2-40B4-BE49-F238E27FC236}">
                  <a16:creationId xmlns:a16="http://schemas.microsoft.com/office/drawing/2014/main" xmlns="" id="{AC1944D9-AB2D-A840-B696-F06D81AC9CA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76" name="Rectangle 165">
              <a:extLst>
                <a:ext uri="{FF2B5EF4-FFF2-40B4-BE49-F238E27FC236}">
                  <a16:creationId xmlns:a16="http://schemas.microsoft.com/office/drawing/2014/main" xmlns="" id="{FE3F2702-7FD8-D84F-B02B-60338FAC6456}"/>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7" name="Freeform 166">
              <a:extLst>
                <a:ext uri="{FF2B5EF4-FFF2-40B4-BE49-F238E27FC236}">
                  <a16:creationId xmlns:a16="http://schemas.microsoft.com/office/drawing/2014/main" xmlns="" id="{AE3945C7-89B6-AE48-8EE1-FAE01D503FEB}"/>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78" name="Freeform 167">
              <a:extLst>
                <a:ext uri="{FF2B5EF4-FFF2-40B4-BE49-F238E27FC236}">
                  <a16:creationId xmlns:a16="http://schemas.microsoft.com/office/drawing/2014/main" xmlns="" id="{8B262BBF-D0A1-384E-849C-4C274B7FE56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79" name="Rectangle 168">
              <a:extLst>
                <a:ext uri="{FF2B5EF4-FFF2-40B4-BE49-F238E27FC236}">
                  <a16:creationId xmlns:a16="http://schemas.microsoft.com/office/drawing/2014/main" xmlns="" id="{B21054BF-A0F7-5548-9EE7-4534695D12BF}"/>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80" name="Group 169">
              <a:extLst>
                <a:ext uri="{FF2B5EF4-FFF2-40B4-BE49-F238E27FC236}">
                  <a16:creationId xmlns:a16="http://schemas.microsoft.com/office/drawing/2014/main" xmlns="" id="{2C63B899-F37C-2843-B0E4-6A8FD67FEB3C}"/>
                </a:ext>
              </a:extLst>
            </p:cNvPr>
            <p:cNvGrpSpPr>
              <a:grpSpLocks/>
            </p:cNvGrpSpPr>
            <p:nvPr/>
          </p:nvGrpSpPr>
          <p:grpSpPr bwMode="auto">
            <a:xfrm>
              <a:off x="4749" y="668"/>
              <a:ext cx="581" cy="145"/>
              <a:chOff x="614" y="2568"/>
              <a:chExt cx="725" cy="139"/>
            </a:xfrm>
          </p:grpSpPr>
          <p:sp>
            <p:nvSpPr>
              <p:cNvPr id="405" name="AutoShape 170">
                <a:extLst>
                  <a:ext uri="{FF2B5EF4-FFF2-40B4-BE49-F238E27FC236}">
                    <a16:creationId xmlns:a16="http://schemas.microsoft.com/office/drawing/2014/main" xmlns="" id="{94C05A2E-6617-C343-8F01-95B4E8D0C0AD}"/>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6" name="AutoShape 171">
                <a:extLst>
                  <a:ext uri="{FF2B5EF4-FFF2-40B4-BE49-F238E27FC236}">
                    <a16:creationId xmlns:a16="http://schemas.microsoft.com/office/drawing/2014/main" xmlns="" id="{881D794E-FF34-414B-ABDF-C5EFE314129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1" name="Rectangle 172">
              <a:extLst>
                <a:ext uri="{FF2B5EF4-FFF2-40B4-BE49-F238E27FC236}">
                  <a16:creationId xmlns:a16="http://schemas.microsoft.com/office/drawing/2014/main" xmlns="" id="{1248FF3D-9E05-3A40-AB88-FD1C22C30F07}"/>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82" name="Group 173">
              <a:extLst>
                <a:ext uri="{FF2B5EF4-FFF2-40B4-BE49-F238E27FC236}">
                  <a16:creationId xmlns:a16="http://schemas.microsoft.com/office/drawing/2014/main" xmlns="" id="{AEA37B61-C679-BD4C-946C-0850A830FE28}"/>
                </a:ext>
              </a:extLst>
            </p:cNvPr>
            <p:cNvGrpSpPr>
              <a:grpSpLocks/>
            </p:cNvGrpSpPr>
            <p:nvPr/>
          </p:nvGrpSpPr>
          <p:grpSpPr bwMode="auto">
            <a:xfrm>
              <a:off x="4747" y="994"/>
              <a:ext cx="581" cy="134"/>
              <a:chOff x="614" y="2568"/>
              <a:chExt cx="725" cy="139"/>
            </a:xfrm>
          </p:grpSpPr>
          <p:sp>
            <p:nvSpPr>
              <p:cNvPr id="403" name="AutoShape 174">
                <a:extLst>
                  <a:ext uri="{FF2B5EF4-FFF2-40B4-BE49-F238E27FC236}">
                    <a16:creationId xmlns:a16="http://schemas.microsoft.com/office/drawing/2014/main" xmlns="" id="{E18E671A-3A85-AB40-A9A6-C1676123ED1A}"/>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4" name="AutoShape 175">
                <a:extLst>
                  <a:ext uri="{FF2B5EF4-FFF2-40B4-BE49-F238E27FC236}">
                    <a16:creationId xmlns:a16="http://schemas.microsoft.com/office/drawing/2014/main" xmlns="" id="{091465B3-523F-F74A-848E-134B2B03659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3" name="Rectangle 176">
              <a:extLst>
                <a:ext uri="{FF2B5EF4-FFF2-40B4-BE49-F238E27FC236}">
                  <a16:creationId xmlns:a16="http://schemas.microsoft.com/office/drawing/2014/main" xmlns="" id="{9F161249-61DD-1645-8787-2796E69D4525}"/>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4" name="Rectangle 177">
              <a:extLst>
                <a:ext uri="{FF2B5EF4-FFF2-40B4-BE49-F238E27FC236}">
                  <a16:creationId xmlns:a16="http://schemas.microsoft.com/office/drawing/2014/main" xmlns="" id="{AA505E39-11E3-4D49-96C3-80F10D41D467}"/>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85" name="Group 178">
              <a:extLst>
                <a:ext uri="{FF2B5EF4-FFF2-40B4-BE49-F238E27FC236}">
                  <a16:creationId xmlns:a16="http://schemas.microsoft.com/office/drawing/2014/main" xmlns="" id="{A3C57DB1-4919-604C-A319-3C717B76618C}"/>
                </a:ext>
              </a:extLst>
            </p:cNvPr>
            <p:cNvGrpSpPr>
              <a:grpSpLocks/>
            </p:cNvGrpSpPr>
            <p:nvPr/>
          </p:nvGrpSpPr>
          <p:grpSpPr bwMode="auto">
            <a:xfrm>
              <a:off x="4735" y="1627"/>
              <a:ext cx="582" cy="151"/>
              <a:chOff x="614" y="2568"/>
              <a:chExt cx="725" cy="139"/>
            </a:xfrm>
          </p:grpSpPr>
          <p:sp>
            <p:nvSpPr>
              <p:cNvPr id="401" name="AutoShape 179">
                <a:extLst>
                  <a:ext uri="{FF2B5EF4-FFF2-40B4-BE49-F238E27FC236}">
                    <a16:creationId xmlns:a16="http://schemas.microsoft.com/office/drawing/2014/main" xmlns="" id="{5E8B2822-F633-304D-B3EE-0E72DDC60D6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2" name="AutoShape 180">
                <a:extLst>
                  <a:ext uri="{FF2B5EF4-FFF2-40B4-BE49-F238E27FC236}">
                    <a16:creationId xmlns:a16="http://schemas.microsoft.com/office/drawing/2014/main" xmlns="" id="{05C20314-621B-134F-97EA-D4A0DDECDD4F}"/>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6" name="Freeform 181">
              <a:extLst>
                <a:ext uri="{FF2B5EF4-FFF2-40B4-BE49-F238E27FC236}">
                  <a16:creationId xmlns:a16="http://schemas.microsoft.com/office/drawing/2014/main" xmlns="" id="{BD2DBEB0-3968-0649-BC9B-64EA7317E00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87" name="Group 182">
              <a:extLst>
                <a:ext uri="{FF2B5EF4-FFF2-40B4-BE49-F238E27FC236}">
                  <a16:creationId xmlns:a16="http://schemas.microsoft.com/office/drawing/2014/main" xmlns="" id="{BFC44DA6-F534-CD44-A919-BDA60B793836}"/>
                </a:ext>
              </a:extLst>
            </p:cNvPr>
            <p:cNvGrpSpPr>
              <a:grpSpLocks/>
            </p:cNvGrpSpPr>
            <p:nvPr/>
          </p:nvGrpSpPr>
          <p:grpSpPr bwMode="auto">
            <a:xfrm>
              <a:off x="4739" y="1327"/>
              <a:ext cx="582" cy="139"/>
              <a:chOff x="614" y="2568"/>
              <a:chExt cx="725" cy="139"/>
            </a:xfrm>
          </p:grpSpPr>
          <p:sp>
            <p:nvSpPr>
              <p:cNvPr id="399" name="AutoShape 183">
                <a:extLst>
                  <a:ext uri="{FF2B5EF4-FFF2-40B4-BE49-F238E27FC236}">
                    <a16:creationId xmlns:a16="http://schemas.microsoft.com/office/drawing/2014/main" xmlns="" id="{E60E8D05-3918-B747-A606-FC0E1386C154}"/>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0" name="AutoShape 184">
                <a:extLst>
                  <a:ext uri="{FF2B5EF4-FFF2-40B4-BE49-F238E27FC236}">
                    <a16:creationId xmlns:a16="http://schemas.microsoft.com/office/drawing/2014/main" xmlns="" id="{8735D17B-A685-3648-8255-F30DD55695AC}"/>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88" name="Rectangle 185">
              <a:extLst>
                <a:ext uri="{FF2B5EF4-FFF2-40B4-BE49-F238E27FC236}">
                  <a16:creationId xmlns:a16="http://schemas.microsoft.com/office/drawing/2014/main" xmlns="" id="{B66C501C-7D5B-8E4B-B068-5CCE73A0405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9" name="Freeform 186">
              <a:extLst>
                <a:ext uri="{FF2B5EF4-FFF2-40B4-BE49-F238E27FC236}">
                  <a16:creationId xmlns:a16="http://schemas.microsoft.com/office/drawing/2014/main" xmlns="" id="{33C62712-7A81-4F41-B474-B9218B7AFA0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0" name="Freeform 187">
              <a:extLst>
                <a:ext uri="{FF2B5EF4-FFF2-40B4-BE49-F238E27FC236}">
                  <a16:creationId xmlns:a16="http://schemas.microsoft.com/office/drawing/2014/main" xmlns="" id="{E4B6BE7D-DBBB-B44D-A0F9-E40A81D7F43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1" name="Oval 188">
              <a:extLst>
                <a:ext uri="{FF2B5EF4-FFF2-40B4-BE49-F238E27FC236}">
                  <a16:creationId xmlns:a16="http://schemas.microsoft.com/office/drawing/2014/main" xmlns="" id="{6D17DB9A-DA87-3640-89B5-EA939BE73CE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2" name="Freeform 189">
              <a:extLst>
                <a:ext uri="{FF2B5EF4-FFF2-40B4-BE49-F238E27FC236}">
                  <a16:creationId xmlns:a16="http://schemas.microsoft.com/office/drawing/2014/main" xmlns="" id="{2DE874C4-BF52-8245-9555-CA025B392D7F}"/>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3" name="AutoShape 190">
              <a:extLst>
                <a:ext uri="{FF2B5EF4-FFF2-40B4-BE49-F238E27FC236}">
                  <a16:creationId xmlns:a16="http://schemas.microsoft.com/office/drawing/2014/main" xmlns="" id="{D15AD96A-57FC-B240-8995-DEDB6B8C42C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4" name="AutoShape 191">
              <a:extLst>
                <a:ext uri="{FF2B5EF4-FFF2-40B4-BE49-F238E27FC236}">
                  <a16:creationId xmlns:a16="http://schemas.microsoft.com/office/drawing/2014/main" xmlns="" id="{9B662CF9-5E9F-EE42-826A-BA11CF39366A}"/>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5" name="Oval 192">
              <a:extLst>
                <a:ext uri="{FF2B5EF4-FFF2-40B4-BE49-F238E27FC236}">
                  <a16:creationId xmlns:a16="http://schemas.microsoft.com/office/drawing/2014/main" xmlns="" id="{F2A6059E-C073-154E-9CDE-85E284A9C1E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6" name="Oval 193">
              <a:extLst>
                <a:ext uri="{FF2B5EF4-FFF2-40B4-BE49-F238E27FC236}">
                  <a16:creationId xmlns:a16="http://schemas.microsoft.com/office/drawing/2014/main" xmlns="" id="{55ECAC8A-9EEB-3F47-B474-796C5779F66F}"/>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397" name="Oval 194">
              <a:extLst>
                <a:ext uri="{FF2B5EF4-FFF2-40B4-BE49-F238E27FC236}">
                  <a16:creationId xmlns:a16="http://schemas.microsoft.com/office/drawing/2014/main" xmlns="" id="{F009E702-300F-2245-8184-904D723ECFB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8" name="Rectangle 195">
              <a:extLst>
                <a:ext uri="{FF2B5EF4-FFF2-40B4-BE49-F238E27FC236}">
                  <a16:creationId xmlns:a16="http://schemas.microsoft.com/office/drawing/2014/main" xmlns="" id="{E1220E42-05A2-224A-AF06-8BC122552018}"/>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48" name="Line 57">
            <a:extLst>
              <a:ext uri="{FF2B5EF4-FFF2-40B4-BE49-F238E27FC236}">
                <a16:creationId xmlns:a16="http://schemas.microsoft.com/office/drawing/2014/main" xmlns="" id="{BE19B1CA-E01A-2D4A-A501-25E01C74D0D9}"/>
              </a:ext>
            </a:extLst>
          </p:cNvPr>
          <p:cNvSpPr>
            <a:spLocks noChangeShapeType="1"/>
          </p:cNvSpPr>
          <p:nvPr/>
        </p:nvSpPr>
        <p:spPr bwMode="auto">
          <a:xfrm flipH="1">
            <a:off x="3866527" y="4491277"/>
            <a:ext cx="7574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9" name="Line 57">
            <a:extLst>
              <a:ext uri="{FF2B5EF4-FFF2-40B4-BE49-F238E27FC236}">
                <a16:creationId xmlns:a16="http://schemas.microsoft.com/office/drawing/2014/main" xmlns="" id="{CDD86028-5E0B-1E49-A327-7BF095EF01DB}"/>
              </a:ext>
            </a:extLst>
          </p:cNvPr>
          <p:cNvSpPr>
            <a:spLocks noChangeShapeType="1"/>
          </p:cNvSpPr>
          <p:nvPr/>
        </p:nvSpPr>
        <p:spPr bwMode="auto">
          <a:xfrm flipH="1">
            <a:off x="2250897" y="3639916"/>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50" name="Line 57">
            <a:extLst>
              <a:ext uri="{FF2B5EF4-FFF2-40B4-BE49-F238E27FC236}">
                <a16:creationId xmlns:a16="http://schemas.microsoft.com/office/drawing/2014/main" xmlns="" id="{456364AC-0294-B946-BA06-B02AD7C1481D}"/>
              </a:ext>
            </a:extLst>
          </p:cNvPr>
          <p:cNvSpPr>
            <a:spLocks noChangeShapeType="1"/>
          </p:cNvSpPr>
          <p:nvPr/>
        </p:nvSpPr>
        <p:spPr bwMode="auto">
          <a:xfrm flipH="1">
            <a:off x="1402043" y="4493579"/>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1" name="Group 350">
            <a:extLst>
              <a:ext uri="{FF2B5EF4-FFF2-40B4-BE49-F238E27FC236}">
                <a16:creationId xmlns:a16="http://schemas.microsoft.com/office/drawing/2014/main" xmlns="" id="{7AD5920F-E18F-2E4A-8BAE-ACFA2B9B05A4}"/>
              </a:ext>
            </a:extLst>
          </p:cNvPr>
          <p:cNvGrpSpPr/>
          <p:nvPr/>
        </p:nvGrpSpPr>
        <p:grpSpPr>
          <a:xfrm>
            <a:off x="2061817" y="2570560"/>
            <a:ext cx="2138708" cy="709613"/>
            <a:chOff x="2749090" y="3427413"/>
            <a:chExt cx="2851610" cy="946150"/>
          </a:xfrm>
        </p:grpSpPr>
        <p:sp>
          <p:nvSpPr>
            <p:cNvPr id="368" name="Text Box 68">
              <a:extLst>
                <a:ext uri="{FF2B5EF4-FFF2-40B4-BE49-F238E27FC236}">
                  <a16:creationId xmlns:a16="http://schemas.microsoft.com/office/drawing/2014/main" xmlns="" id="{859A744D-4964-E049-B851-169F4C802B9D}"/>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original data</a:t>
              </a:r>
              <a:endParaRPr lang="en-US" altLang="en-US" sz="1200" kern="1200" dirty="0">
                <a:solidFill>
                  <a:srgbClr val="C00000"/>
                </a:solidFill>
                <a:latin typeface="Comic Sans MS" panose="030F0902030302020204" pitchFamily="66" charset="0"/>
                <a:cs typeface="+mn-cs"/>
              </a:endParaRPr>
            </a:p>
          </p:txBody>
        </p:sp>
        <p:sp>
          <p:nvSpPr>
            <p:cNvPr id="369" name="Oval 217">
              <a:extLst>
                <a:ext uri="{FF2B5EF4-FFF2-40B4-BE49-F238E27FC236}">
                  <a16:creationId xmlns:a16="http://schemas.microsoft.com/office/drawing/2014/main" xmlns="" id="{46259149-BCE0-B941-AA71-927BC7C2EE1D}"/>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70" name="Line 229">
              <a:extLst>
                <a:ext uri="{FF2B5EF4-FFF2-40B4-BE49-F238E27FC236}">
                  <a16:creationId xmlns:a16="http://schemas.microsoft.com/office/drawing/2014/main" xmlns="" id="{9CBDE0F7-AD5A-7847-A00B-C9BE9408958B}"/>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71" name="Oval 232">
              <a:extLst>
                <a:ext uri="{FF2B5EF4-FFF2-40B4-BE49-F238E27FC236}">
                  <a16:creationId xmlns:a16="http://schemas.microsoft.com/office/drawing/2014/main" xmlns="" id="{50F84776-27DA-5E43-BACA-DB1E8848891B}"/>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72" name="Text Box 233">
              <a:extLst>
                <a:ext uri="{FF2B5EF4-FFF2-40B4-BE49-F238E27FC236}">
                  <a16:creationId xmlns:a16="http://schemas.microsoft.com/office/drawing/2014/main" xmlns="" id="{CD7720D4-A07A-DB4C-A9C9-DFD5FF905D56}"/>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original data, </a:t>
              </a:r>
              <a:r>
                <a:rPr lang="en-US" altLang="en-US" sz="1200" i="1" kern="1200" dirty="0">
                  <a:solidFill>
                    <a:srgbClr val="C00000"/>
                  </a:solidFill>
                  <a:latin typeface="Arial" panose="020B0604020202020204" pitchFamily="34" charset="0"/>
                  <a:cs typeface="+mn-cs"/>
                </a:rPr>
                <a:t>plus</a:t>
              </a:r>
              <a:r>
                <a:rPr lang="en-US" altLang="en-US" sz="1200" kern="1200" dirty="0">
                  <a:solidFill>
                    <a:srgbClr val="C00000"/>
                  </a:solidFill>
                  <a:latin typeface="Arial" panose="020B0604020202020204" pitchFamily="34" charset="0"/>
                  <a:cs typeface="+mn-cs"/>
                </a:rPr>
                <a:t> retransmitted data</a:t>
              </a:r>
              <a:endParaRPr lang="en-US" altLang="en-US" sz="1200" kern="1200" dirty="0">
                <a:solidFill>
                  <a:srgbClr val="C00000"/>
                </a:solidFill>
                <a:latin typeface="Comic Sans MS" panose="030F0902030302020204" pitchFamily="66" charset="0"/>
                <a:cs typeface="+mn-cs"/>
              </a:endParaRPr>
            </a:p>
          </p:txBody>
        </p:sp>
        <p:sp>
          <p:nvSpPr>
            <p:cNvPr id="373" name="Line 234">
              <a:extLst>
                <a:ext uri="{FF2B5EF4-FFF2-40B4-BE49-F238E27FC236}">
                  <a16:creationId xmlns:a16="http://schemas.microsoft.com/office/drawing/2014/main" xmlns="" id="{E5F71B29-0A2A-964A-BC39-E82168AE5BAA}"/>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74" name="Line 235">
              <a:extLst>
                <a:ext uri="{FF2B5EF4-FFF2-40B4-BE49-F238E27FC236}">
                  <a16:creationId xmlns:a16="http://schemas.microsoft.com/office/drawing/2014/main" xmlns="" id="{2CB87FE3-B426-7646-85C8-A92260133CCD}"/>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52" name="Group 351">
            <a:extLst>
              <a:ext uri="{FF2B5EF4-FFF2-40B4-BE49-F238E27FC236}">
                <a16:creationId xmlns:a16="http://schemas.microsoft.com/office/drawing/2014/main" xmlns="" id="{F6D1D3E8-6407-F347-8471-50418E5DB3B6}"/>
              </a:ext>
            </a:extLst>
          </p:cNvPr>
          <p:cNvGrpSpPr/>
          <p:nvPr/>
        </p:nvGrpSpPr>
        <p:grpSpPr>
          <a:xfrm>
            <a:off x="2185117" y="3914215"/>
            <a:ext cx="1454048" cy="975136"/>
            <a:chOff x="2913490" y="5218953"/>
            <a:chExt cx="1938730" cy="1300181"/>
          </a:xfrm>
        </p:grpSpPr>
        <p:sp>
          <p:nvSpPr>
            <p:cNvPr id="357" name="Text Box 32">
              <a:extLst>
                <a:ext uri="{FF2B5EF4-FFF2-40B4-BE49-F238E27FC236}">
                  <a16:creationId xmlns:a16="http://schemas.microsoft.com/office/drawing/2014/main" xmlns="" id="{1A4AA4F8-0231-2B46-803C-7155B2F0120F}"/>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200" b="1" i="1" kern="1200" dirty="0">
                  <a:solidFill>
                    <a:srgbClr val="C00000"/>
                  </a:solidFill>
                  <a:latin typeface="Arial" panose="020B0604020202020204" pitchFamily="34" charset="0"/>
                  <a:cs typeface="+mn-cs"/>
                </a:rPr>
                <a:t>finite</a:t>
              </a:r>
              <a:r>
                <a:rPr lang="en-US" altLang="en-US" sz="900" kern="1200" dirty="0">
                  <a:solidFill>
                    <a:srgbClr val="000000"/>
                  </a:solidFill>
                  <a:latin typeface="Arial" panose="020B0604020202020204" pitchFamily="34" charset="0"/>
                  <a:cs typeface="+mn-cs"/>
                </a:rPr>
                <a:t> shared output link buffers</a:t>
              </a:r>
            </a:p>
          </p:txBody>
        </p:sp>
        <p:sp>
          <p:nvSpPr>
            <p:cNvPr id="358" name="Line 77">
              <a:extLst>
                <a:ext uri="{FF2B5EF4-FFF2-40B4-BE49-F238E27FC236}">
                  <a16:creationId xmlns:a16="http://schemas.microsoft.com/office/drawing/2014/main" xmlns="" id="{89EEFCE7-B693-DF47-A9C3-7974FB2172E2}"/>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9" name="Group 358">
              <a:extLst>
                <a:ext uri="{FF2B5EF4-FFF2-40B4-BE49-F238E27FC236}">
                  <a16:creationId xmlns:a16="http://schemas.microsoft.com/office/drawing/2014/main" xmlns="" id="{D0C09238-8174-BB4A-8E90-44FDE9970486}"/>
                </a:ext>
              </a:extLst>
            </p:cNvPr>
            <p:cNvGrpSpPr/>
            <p:nvPr/>
          </p:nvGrpSpPr>
          <p:grpSpPr>
            <a:xfrm>
              <a:off x="4030362" y="5218953"/>
              <a:ext cx="821858" cy="355937"/>
              <a:chOff x="6859123" y="5156933"/>
              <a:chExt cx="456701" cy="226548"/>
            </a:xfrm>
          </p:grpSpPr>
          <p:sp>
            <p:nvSpPr>
              <p:cNvPr id="360" name="Rectangle 359">
                <a:extLst>
                  <a:ext uri="{FF2B5EF4-FFF2-40B4-BE49-F238E27FC236}">
                    <a16:creationId xmlns:a16="http://schemas.microsoft.com/office/drawing/2014/main" xmlns="" id="{92A586BF-DE6F-8C4B-AE2F-F0967D2E372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61" name="Straight Connector 360">
                <a:extLst>
                  <a:ext uri="{FF2B5EF4-FFF2-40B4-BE49-F238E27FC236}">
                    <a16:creationId xmlns:a16="http://schemas.microsoft.com/office/drawing/2014/main" xmlns="" id="{0E592EE8-BB64-8D4B-9345-8DEFE71B26CD}"/>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xmlns="" id="{D5F79093-B2D3-DA49-86C9-324E48C7FA3A}"/>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xmlns="" id="{EE578935-8319-0640-AF1D-F33CFCCD6D7E}"/>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xmlns="" id="{1A169DC6-020D-CF4C-944B-35A60B7E9A3E}"/>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xmlns="" id="{3FE5D615-EDCC-3D44-B201-E215C2A51C1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xmlns="" id="{F42D5131-B17F-3447-A42A-972810DE3D7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xmlns="" id="{B1CCBEF8-F4EA-4348-968D-DFF086EA12A7}"/>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53" name="Freeform 91">
            <a:extLst>
              <a:ext uri="{FF2B5EF4-FFF2-40B4-BE49-F238E27FC236}">
                <a16:creationId xmlns:a16="http://schemas.microsoft.com/office/drawing/2014/main" xmlns="" id="{74B53B18-9053-AB4D-AAB3-9A2A8C61C05F}"/>
              </a:ext>
            </a:extLst>
          </p:cNvPr>
          <p:cNvSpPr>
            <a:spLocks/>
          </p:cNvSpPr>
          <p:nvPr/>
        </p:nvSpPr>
        <p:spPr bwMode="auto">
          <a:xfrm>
            <a:off x="2102515" y="2744691"/>
            <a:ext cx="3158903" cy="1252595"/>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4" name="Group 353">
            <a:extLst>
              <a:ext uri="{FF2B5EF4-FFF2-40B4-BE49-F238E27FC236}">
                <a16:creationId xmlns:a16="http://schemas.microsoft.com/office/drawing/2014/main" xmlns="" id="{FC27C661-ABA7-0F42-9E2F-25607CCF3F4D}"/>
              </a:ext>
            </a:extLst>
          </p:cNvPr>
          <p:cNvGrpSpPr/>
          <p:nvPr/>
        </p:nvGrpSpPr>
        <p:grpSpPr>
          <a:xfrm>
            <a:off x="1189944" y="3557943"/>
            <a:ext cx="3685387" cy="1009554"/>
            <a:chOff x="5641439" y="2685215"/>
            <a:chExt cx="4000500" cy="1028700"/>
          </a:xfrm>
        </p:grpSpPr>
        <p:sp>
          <p:nvSpPr>
            <p:cNvPr id="355" name="Oval 73">
              <a:extLst>
                <a:ext uri="{FF2B5EF4-FFF2-40B4-BE49-F238E27FC236}">
                  <a16:creationId xmlns:a16="http://schemas.microsoft.com/office/drawing/2014/main" xmlns="" id="{E72E301D-F1BA-6444-B895-0B1F0880352E}"/>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56" name="Freeform 90">
              <a:extLst>
                <a:ext uri="{FF2B5EF4-FFF2-40B4-BE49-F238E27FC236}">
                  <a16:creationId xmlns:a16="http://schemas.microsoft.com/office/drawing/2014/main" xmlns="" id="{13DADEF9-AF21-FF44-BE17-072235C1AE6F}"/>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471" name="Group 470">
            <a:extLst>
              <a:ext uri="{FF2B5EF4-FFF2-40B4-BE49-F238E27FC236}">
                <a16:creationId xmlns:a16="http://schemas.microsoft.com/office/drawing/2014/main" xmlns="" id="{C0C36A94-589E-A54C-A4A3-B52075E06328}"/>
              </a:ext>
            </a:extLst>
          </p:cNvPr>
          <p:cNvGrpSpPr/>
          <p:nvPr/>
        </p:nvGrpSpPr>
        <p:grpSpPr>
          <a:xfrm>
            <a:off x="2421069" y="4002586"/>
            <a:ext cx="1639465" cy="380565"/>
            <a:chOff x="3228093" y="5336775"/>
            <a:chExt cx="2185953" cy="507419"/>
          </a:xfrm>
        </p:grpSpPr>
        <p:sp>
          <p:nvSpPr>
            <p:cNvPr id="472" name="TextBox 471">
              <a:extLst>
                <a:ext uri="{FF2B5EF4-FFF2-40B4-BE49-F238E27FC236}">
                  <a16:creationId xmlns:a16="http://schemas.microsoft.com/office/drawing/2014/main" xmlns="" id="{A9A4B8BA-23AF-5649-A3E6-D2BC9304C809}"/>
                </a:ext>
              </a:extLst>
            </p:cNvPr>
            <p:cNvSpPr txBox="1"/>
            <p:nvPr/>
          </p:nvSpPr>
          <p:spPr>
            <a:xfrm>
              <a:off x="5001111" y="5336775"/>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73" name="TextBox 472">
              <a:extLst>
                <a:ext uri="{FF2B5EF4-FFF2-40B4-BE49-F238E27FC236}">
                  <a16:creationId xmlns:a16="http://schemas.microsoft.com/office/drawing/2014/main" xmlns="" id="{1F06564D-8518-8D42-A177-6D185E9763E0}"/>
                </a:ext>
              </a:extLst>
            </p:cNvPr>
            <p:cNvSpPr txBox="1"/>
            <p:nvPr/>
          </p:nvSpPr>
          <p:spPr>
            <a:xfrm>
              <a:off x="3228093" y="5351752"/>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351210" y="263158"/>
            <a:ext cx="8545512" cy="669925"/>
          </a:xfrm>
        </p:spPr>
        <p:txBody>
          <a:bodyPr>
            <a:normAutofit/>
          </a:bodyPr>
          <a:lstStyle/>
          <a:p>
            <a:r>
              <a:rPr lang="en-US" sz="4000" b="1" dirty="0"/>
              <a:t>Causes/costs of congestion: scenario 2</a:t>
            </a:r>
          </a:p>
        </p:txBody>
      </p:sp>
      <p:sp>
        <p:nvSpPr>
          <p:cNvPr id="229" name="Rectangle 235">
            <a:extLst>
              <a:ext uri="{FF2B5EF4-FFF2-40B4-BE49-F238E27FC236}">
                <a16:creationId xmlns:a16="http://schemas.microsoft.com/office/drawing/2014/main" xmlns="" id="{3A9A156B-19A0-8342-AF04-25615D3C763E}"/>
              </a:ext>
            </a:extLst>
          </p:cNvPr>
          <p:cNvSpPr>
            <a:spLocks noChangeArrowheads="1"/>
          </p:cNvSpPr>
          <p:nvPr/>
        </p:nvSpPr>
        <p:spPr bwMode="auto">
          <a:xfrm>
            <a:off x="1785938" y="2884885"/>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0" name="Text Box 236">
            <a:extLst>
              <a:ext uri="{FF2B5EF4-FFF2-40B4-BE49-F238E27FC236}">
                <a16:creationId xmlns:a16="http://schemas.microsoft.com/office/drawing/2014/main" xmlns="" id="{E294DDA8-9BC1-2C4F-AB17-AAF3914D97A7}"/>
              </a:ext>
            </a:extLst>
          </p:cNvPr>
          <p:cNvSpPr txBox="1">
            <a:spLocks noChangeArrowheads="1"/>
          </p:cNvSpPr>
          <p:nvPr/>
        </p:nvSpPr>
        <p:spPr bwMode="auto">
          <a:xfrm>
            <a:off x="2767322" y="3570840"/>
            <a:ext cx="138050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i="1" kern="1200" dirty="0">
                <a:solidFill>
                  <a:srgbClr val="006600"/>
                </a:solidFill>
                <a:latin typeface="Arial" charset="0"/>
                <a:cs typeface="+mn-cs"/>
              </a:rPr>
              <a:t>free buffer space!</a:t>
            </a:r>
          </a:p>
        </p:txBody>
      </p:sp>
      <p:sp>
        <p:nvSpPr>
          <p:cNvPr id="231" name="Rectangle 237">
            <a:extLst>
              <a:ext uri="{FF2B5EF4-FFF2-40B4-BE49-F238E27FC236}">
                <a16:creationId xmlns:a16="http://schemas.microsoft.com/office/drawing/2014/main" xmlns="" id="{360D339D-2CD2-AD42-920B-3E6688F7095A}"/>
              </a:ext>
            </a:extLst>
          </p:cNvPr>
          <p:cNvSpPr>
            <a:spLocks noChangeArrowheads="1"/>
          </p:cNvSpPr>
          <p:nvPr/>
        </p:nvSpPr>
        <p:spPr bwMode="auto">
          <a:xfrm>
            <a:off x="1785938" y="2883694"/>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32" name="Rectangle 264">
            <a:extLst>
              <a:ext uri="{FF2B5EF4-FFF2-40B4-BE49-F238E27FC236}">
                <a16:creationId xmlns:a16="http://schemas.microsoft.com/office/drawing/2014/main" xmlns="" id="{BB519C3C-C510-F944-9E31-54655082190E}"/>
              </a:ext>
            </a:extLst>
          </p:cNvPr>
          <p:cNvSpPr txBox="1">
            <a:spLocks noChangeArrowheads="1"/>
          </p:cNvSpPr>
          <p:nvPr/>
        </p:nvSpPr>
        <p:spPr>
          <a:xfrm>
            <a:off x="430562" y="979620"/>
            <a:ext cx="4991066" cy="1599134"/>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250" dirty="0">
                <a:solidFill>
                  <a:srgbClr val="000099"/>
                </a:solidFill>
                <a:latin typeface="Calibri" panose="020F0502020204030204"/>
              </a:rPr>
              <a:t>Idealization: </a:t>
            </a:r>
            <a:r>
              <a:rPr lang="en-US" sz="2250" i="1" dirty="0">
                <a:solidFill>
                  <a:srgbClr val="C00000"/>
                </a:solidFill>
                <a:latin typeface="Calibri" panose="020F0502020204030204"/>
              </a:rPr>
              <a:t>some </a:t>
            </a:r>
            <a:r>
              <a:rPr lang="en-US" sz="2250" dirty="0">
                <a:solidFill>
                  <a:srgbClr val="C00000"/>
                </a:solidFill>
                <a:latin typeface="Calibri" panose="020F0502020204030204"/>
              </a:rPr>
              <a:t>perfect knowledge</a:t>
            </a:r>
          </a:p>
          <a:p>
            <a:pPr marL="342900" indent="-161925" defTabSz="685800">
              <a:spcBef>
                <a:spcPts val="750"/>
              </a:spcBef>
              <a:defRPr/>
            </a:pPr>
            <a:r>
              <a:rPr lang="en-US" sz="1800" dirty="0">
                <a:solidFill>
                  <a:prstClr val="black"/>
                </a:solidFill>
                <a:latin typeface="Calibri" panose="020F0502020204030204"/>
              </a:rPr>
              <a:t>packets can be lost (dropped at router) due  to full buffers</a:t>
            </a:r>
          </a:p>
          <a:p>
            <a:pPr marL="342900" indent="-161925" defTabSz="685800">
              <a:spcBef>
                <a:spcPts val="750"/>
              </a:spcBef>
              <a:defRPr/>
            </a:pPr>
            <a:r>
              <a:rPr lang="en-US" sz="1800" dirty="0">
                <a:solidFill>
                  <a:prstClr val="black"/>
                </a:solidFill>
                <a:latin typeface="Calibri" panose="020F0502020204030204"/>
              </a:rPr>
              <a:t>sender knows when packet has been dropped: only resends if packet </a:t>
            </a:r>
            <a:r>
              <a:rPr lang="en-US" sz="1800" i="1" dirty="0">
                <a:solidFill>
                  <a:prstClr val="black"/>
                </a:solidFill>
                <a:latin typeface="Calibri" panose="020F0502020204030204"/>
              </a:rPr>
              <a:t>known</a:t>
            </a:r>
            <a:r>
              <a:rPr lang="en-US" sz="1800" dirty="0">
                <a:solidFill>
                  <a:prstClr val="black"/>
                </a:solidFill>
                <a:latin typeface="Calibri" panose="020F0502020204030204"/>
              </a:rPr>
              <a:t> to be lost</a:t>
            </a:r>
            <a:endParaRPr lang="en-US" sz="2100" dirty="0">
              <a:solidFill>
                <a:prstClr val="black"/>
              </a:solidFill>
              <a:latin typeface="Calibri" panose="020F0502020204030204"/>
            </a:endParaRPr>
          </a:p>
        </p:txBody>
      </p:sp>
      <p:grpSp>
        <p:nvGrpSpPr>
          <p:cNvPr id="8" name="Group 7">
            <a:extLst>
              <a:ext uri="{FF2B5EF4-FFF2-40B4-BE49-F238E27FC236}">
                <a16:creationId xmlns:a16="http://schemas.microsoft.com/office/drawing/2014/main" xmlns="" id="{1126E605-68BC-EB43-9DDC-7055194378DF}"/>
              </a:ext>
            </a:extLst>
          </p:cNvPr>
          <p:cNvGrpSpPr/>
          <p:nvPr/>
        </p:nvGrpSpPr>
        <p:grpSpPr>
          <a:xfrm>
            <a:off x="7529709" y="1495055"/>
            <a:ext cx="1400128" cy="1147407"/>
            <a:chOff x="10039611" y="1800903"/>
            <a:chExt cx="1866837" cy="1529876"/>
          </a:xfrm>
        </p:grpSpPr>
        <p:sp>
          <p:nvSpPr>
            <p:cNvPr id="174" name="Text Box 252">
              <a:extLst>
                <a:ext uri="{FF2B5EF4-FFF2-40B4-BE49-F238E27FC236}">
                  <a16:creationId xmlns:a16="http://schemas.microsoft.com/office/drawing/2014/main" xmlns="" id="{01A1C74C-CAF4-D343-928F-0A92D0818ABD}"/>
                </a:ext>
              </a:extLst>
            </p:cNvPr>
            <p:cNvSpPr txBox="1">
              <a:spLocks noChangeArrowheads="1"/>
            </p:cNvSpPr>
            <p:nvPr/>
          </p:nvSpPr>
          <p:spPr bwMode="auto">
            <a:xfrm>
              <a:off x="10188718" y="2099672"/>
              <a:ext cx="1717730" cy="12311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lnSpc>
                  <a:spcPct val="90000"/>
                </a:lnSpc>
                <a:defRPr/>
              </a:pPr>
              <a:r>
                <a:rPr lang="en-US" sz="1200" kern="1200" dirty="0">
                  <a:solidFill>
                    <a:prstClr val="black"/>
                  </a:solidFill>
                  <a:latin typeface="Calibri" panose="020F0502020204030204"/>
                  <a:cs typeface="+mn-cs"/>
                </a:rPr>
                <a:t>when sending at R/2, some packets are needed retransmissions</a:t>
              </a:r>
            </a:p>
          </p:txBody>
        </p:sp>
        <p:sp>
          <p:nvSpPr>
            <p:cNvPr id="175" name="Line 253">
              <a:extLst>
                <a:ext uri="{FF2B5EF4-FFF2-40B4-BE49-F238E27FC236}">
                  <a16:creationId xmlns:a16="http://schemas.microsoft.com/office/drawing/2014/main" xmlns="" id="{08A19883-389A-0744-90AC-A2F43EE860AE}"/>
                </a:ext>
              </a:extLst>
            </p:cNvPr>
            <p:cNvSpPr>
              <a:spLocks noChangeShapeType="1"/>
            </p:cNvSpPr>
            <p:nvPr/>
          </p:nvSpPr>
          <p:spPr bwMode="auto">
            <a:xfrm flipH="1" flipV="1">
              <a:off x="10039611" y="1800903"/>
              <a:ext cx="423050" cy="35515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grpSp>
        <p:nvGrpSpPr>
          <p:cNvPr id="176" name="Group 175">
            <a:extLst>
              <a:ext uri="{FF2B5EF4-FFF2-40B4-BE49-F238E27FC236}">
                <a16:creationId xmlns:a16="http://schemas.microsoft.com/office/drawing/2014/main" xmlns="" id="{926AA148-B0D7-CC4E-9816-B84A671E16CE}"/>
              </a:ext>
            </a:extLst>
          </p:cNvPr>
          <p:cNvGrpSpPr/>
          <p:nvPr/>
        </p:nvGrpSpPr>
        <p:grpSpPr>
          <a:xfrm>
            <a:off x="5521089" y="1044513"/>
            <a:ext cx="2107003" cy="1960824"/>
            <a:chOff x="10662918" y="1488938"/>
            <a:chExt cx="2809338" cy="2614432"/>
          </a:xfrm>
        </p:grpSpPr>
        <p:sp>
          <p:nvSpPr>
            <p:cNvPr id="177" name="Freeform 245">
              <a:extLst>
                <a:ext uri="{FF2B5EF4-FFF2-40B4-BE49-F238E27FC236}">
                  <a16:creationId xmlns:a16="http://schemas.microsoft.com/office/drawing/2014/main" xmlns="" id="{F3B393A3-F432-5143-B5C5-92241ECA3889}"/>
                </a:ext>
              </a:extLst>
            </p:cNvPr>
            <p:cNvSpPr>
              <a:spLocks/>
            </p:cNvSpPr>
            <p:nvPr/>
          </p:nvSpPr>
          <p:spPr bwMode="auto">
            <a:xfrm>
              <a:off x="11260180" y="2035401"/>
              <a:ext cx="2024019" cy="1604948"/>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125" y="9688"/>
                    <a:pt x="7233" y="1532"/>
                  </a:cubicBezTo>
                  <a:cubicBezTo>
                    <a:pt x="7865" y="929"/>
                    <a:pt x="8381" y="338"/>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a:defRPr/>
              </a:pPr>
              <a:endParaRPr lang="en-US" sz="1350" kern="1200" dirty="0">
                <a:solidFill>
                  <a:prstClr val="black"/>
                </a:solidFill>
                <a:latin typeface="Calibri" panose="020F0502020204030204"/>
                <a:ea typeface="+mn-ea"/>
                <a:cs typeface="+mn-cs"/>
              </a:endParaRPr>
            </a:p>
          </p:txBody>
        </p:sp>
        <p:grpSp>
          <p:nvGrpSpPr>
            <p:cNvPr id="178" name="Group 246">
              <a:extLst>
                <a:ext uri="{FF2B5EF4-FFF2-40B4-BE49-F238E27FC236}">
                  <a16:creationId xmlns:a16="http://schemas.microsoft.com/office/drawing/2014/main" xmlns="" id="{AAE2772B-88A3-794C-B173-B78F63EB26A5}"/>
                </a:ext>
              </a:extLst>
            </p:cNvPr>
            <p:cNvGrpSpPr>
              <a:grpSpLocks/>
            </p:cNvGrpSpPr>
            <p:nvPr/>
          </p:nvGrpSpPr>
          <p:grpSpPr bwMode="auto">
            <a:xfrm>
              <a:off x="12077699" y="3606749"/>
              <a:ext cx="519113" cy="430214"/>
              <a:chOff x="3583" y="1761"/>
              <a:chExt cx="327" cy="271"/>
            </a:xfrm>
          </p:grpSpPr>
          <p:sp>
            <p:nvSpPr>
              <p:cNvPr id="192" name="Text Box 247">
                <a:extLst>
                  <a:ext uri="{FF2B5EF4-FFF2-40B4-BE49-F238E27FC236}">
                    <a16:creationId xmlns:a16="http://schemas.microsoft.com/office/drawing/2014/main" xmlns="" id="{0CD967AF-AE53-0141-B763-822463304CC6}"/>
                  </a:ext>
                </a:extLst>
              </p:cNvPr>
              <p:cNvSpPr txBox="1">
                <a:spLocks noChangeArrowheads="1"/>
              </p:cNvSpPr>
              <p:nvPr/>
            </p:nvSpPr>
            <p:spPr bwMode="auto">
              <a:xfrm>
                <a:off x="3583" y="1761"/>
                <a:ext cx="327"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Arial" charset="0"/>
                  </a:rPr>
                  <a:t>l</a:t>
                </a:r>
                <a:r>
                  <a:rPr lang="en-US" sz="1500" kern="1200" baseline="-25000" dirty="0">
                    <a:solidFill>
                      <a:prstClr val="black"/>
                    </a:solidFill>
                    <a:latin typeface="Arial" charset="0"/>
                    <a:cs typeface="Arial" charset="0"/>
                  </a:rPr>
                  <a:t>in</a:t>
                </a:r>
              </a:p>
            </p:txBody>
          </p:sp>
          <p:sp>
            <p:nvSpPr>
              <p:cNvPr id="193" name="Line 248">
                <a:extLst>
                  <a:ext uri="{FF2B5EF4-FFF2-40B4-BE49-F238E27FC236}">
                    <a16:creationId xmlns:a16="http://schemas.microsoft.com/office/drawing/2014/main" xmlns="" id="{8D1623B3-54DC-FF40-A9ED-596362BD7E24}"/>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l" defTabSz="685800" rtl="0">
                  <a:defRPr/>
                </a:pPr>
                <a:endParaRPr lang="en-US" sz="1350" kern="1200" dirty="0">
                  <a:solidFill>
                    <a:prstClr val="black"/>
                  </a:solidFill>
                  <a:latin typeface="Tahoma" charset="0"/>
                  <a:ea typeface="ＭＳ Ｐゴシック" charset="0"/>
                  <a:cs typeface="+mn-cs"/>
                </a:endParaRPr>
              </a:p>
            </p:txBody>
          </p:sp>
        </p:grpSp>
        <p:sp>
          <p:nvSpPr>
            <p:cNvPr id="179" name="Line 278">
              <a:extLst>
                <a:ext uri="{FF2B5EF4-FFF2-40B4-BE49-F238E27FC236}">
                  <a16:creationId xmlns:a16="http://schemas.microsoft.com/office/drawing/2014/main" xmlns="" id="{2DAB427C-45D4-6A41-80B1-CB2A86EFD9C8}"/>
                </a:ext>
              </a:extLst>
            </p:cNvPr>
            <p:cNvSpPr>
              <a:spLocks noChangeShapeType="1"/>
            </p:cNvSpPr>
            <p:nvPr/>
          </p:nvSpPr>
          <p:spPr bwMode="auto">
            <a:xfrm>
              <a:off x="11267134" y="1488938"/>
              <a:ext cx="0" cy="215904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180" name="Line 280">
              <a:extLst>
                <a:ext uri="{FF2B5EF4-FFF2-40B4-BE49-F238E27FC236}">
                  <a16:creationId xmlns:a16="http://schemas.microsoft.com/office/drawing/2014/main" xmlns="" id="{76DB589D-7977-134C-A4C6-CBB66786BDAB}"/>
                </a:ext>
              </a:extLst>
            </p:cNvPr>
            <p:cNvSpPr>
              <a:spLocks noChangeShapeType="1"/>
            </p:cNvSpPr>
            <p:nvPr/>
          </p:nvSpPr>
          <p:spPr bwMode="auto">
            <a:xfrm>
              <a:off x="13274022" y="1725252"/>
              <a:ext cx="0" cy="1869027"/>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181" name="Freeform 281">
              <a:extLst>
                <a:ext uri="{FF2B5EF4-FFF2-40B4-BE49-F238E27FC236}">
                  <a16:creationId xmlns:a16="http://schemas.microsoft.com/office/drawing/2014/main" xmlns="" id="{4582F97F-DEC6-1042-84F8-230A0E725038}"/>
                </a:ext>
              </a:extLst>
            </p:cNvPr>
            <p:cNvSpPr>
              <a:spLocks/>
            </p:cNvSpPr>
            <p:nvPr/>
          </p:nvSpPr>
          <p:spPr bwMode="auto">
            <a:xfrm>
              <a:off x="11255891" y="1666173"/>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a:defRPr/>
              </a:pPr>
              <a:endParaRPr lang="en-US" sz="1350" kern="1200" dirty="0">
                <a:solidFill>
                  <a:prstClr val="black"/>
                </a:solidFill>
                <a:latin typeface="Calibri" panose="020F0502020204030204"/>
                <a:ea typeface="+mn-ea"/>
                <a:cs typeface="+mn-cs"/>
              </a:endParaRPr>
            </a:p>
          </p:txBody>
        </p:sp>
        <p:sp>
          <p:nvSpPr>
            <p:cNvPr id="182" name="Line 282">
              <a:extLst>
                <a:ext uri="{FF2B5EF4-FFF2-40B4-BE49-F238E27FC236}">
                  <a16:creationId xmlns:a16="http://schemas.microsoft.com/office/drawing/2014/main" xmlns="" id="{E27607A2-A55D-1E4E-A7DC-D02F627E8623}"/>
                </a:ext>
              </a:extLst>
            </p:cNvPr>
            <p:cNvSpPr>
              <a:spLocks noChangeShapeType="1"/>
            </p:cNvSpPr>
            <p:nvPr/>
          </p:nvSpPr>
          <p:spPr bwMode="auto">
            <a:xfrm>
              <a:off x="11120974" y="1666173"/>
              <a:ext cx="140538"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183" name="Line 283">
              <a:extLst>
                <a:ext uri="{FF2B5EF4-FFF2-40B4-BE49-F238E27FC236}">
                  <a16:creationId xmlns:a16="http://schemas.microsoft.com/office/drawing/2014/main" xmlns="" id="{8DD37E8C-1915-D049-AB47-171918ED155D}"/>
                </a:ext>
              </a:extLst>
            </p:cNvPr>
            <p:cNvSpPr>
              <a:spLocks noChangeShapeType="1"/>
            </p:cNvSpPr>
            <p:nvPr/>
          </p:nvSpPr>
          <p:spPr bwMode="auto">
            <a:xfrm>
              <a:off x="13268401" y="3647986"/>
              <a:ext cx="0" cy="15575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184" name="Text Box 284">
              <a:extLst>
                <a:ext uri="{FF2B5EF4-FFF2-40B4-BE49-F238E27FC236}">
                  <a16:creationId xmlns:a16="http://schemas.microsoft.com/office/drawing/2014/main" xmlns="" id="{373B57A0-6A99-7640-8562-A14FEDE2B5C1}"/>
                </a:ext>
              </a:extLst>
            </p:cNvPr>
            <p:cNvSpPr txBox="1">
              <a:spLocks noChangeArrowheads="1"/>
            </p:cNvSpPr>
            <p:nvPr/>
          </p:nvSpPr>
          <p:spPr bwMode="auto">
            <a:xfrm>
              <a:off x="10662918" y="1491653"/>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185" name="Text Box 286">
              <a:extLst>
                <a:ext uri="{FF2B5EF4-FFF2-40B4-BE49-F238E27FC236}">
                  <a16:creationId xmlns:a16="http://schemas.microsoft.com/office/drawing/2014/main" xmlns="" id="{A39B50BF-5EFF-0045-ADB3-B4F28E92E69B}"/>
                </a:ext>
              </a:extLst>
            </p:cNvPr>
            <p:cNvSpPr txBox="1">
              <a:spLocks noChangeArrowheads="1"/>
            </p:cNvSpPr>
            <p:nvPr/>
          </p:nvSpPr>
          <p:spPr bwMode="auto">
            <a:xfrm rot="16200000">
              <a:off x="10699626" y="1756865"/>
              <a:ext cx="622392"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mn-cs"/>
                </a:rPr>
                <a:t>l</a:t>
              </a:r>
              <a:r>
                <a:rPr lang="en-US" sz="1500" kern="1200" baseline="-25000" dirty="0">
                  <a:solidFill>
                    <a:prstClr val="black"/>
                  </a:solidFill>
                  <a:latin typeface="Arial" charset="0"/>
                  <a:cs typeface="+mn-cs"/>
                </a:rPr>
                <a:t>out</a:t>
              </a:r>
            </a:p>
          </p:txBody>
        </p:sp>
        <p:sp>
          <p:nvSpPr>
            <p:cNvPr id="186" name="Line 288">
              <a:extLst>
                <a:ext uri="{FF2B5EF4-FFF2-40B4-BE49-F238E27FC236}">
                  <a16:creationId xmlns:a16="http://schemas.microsoft.com/office/drawing/2014/main" xmlns="" id="{55EB893A-4478-7D4E-A2A8-A5437DE0CEFB}"/>
                </a:ext>
              </a:extLst>
            </p:cNvPr>
            <p:cNvSpPr>
              <a:spLocks noChangeShapeType="1"/>
            </p:cNvSpPr>
            <p:nvPr/>
          </p:nvSpPr>
          <p:spPr bwMode="auto">
            <a:xfrm>
              <a:off x="11300864" y="1668859"/>
              <a:ext cx="1841053" cy="0"/>
            </a:xfrm>
            <a:prstGeom prst="line">
              <a:avLst/>
            </a:prstGeom>
            <a:noFill/>
            <a:ln w="12700">
              <a:solidFill>
                <a:schemeClr val="bg1">
                  <a:lumMod val="75000"/>
                </a:schemeClr>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cxnSp>
          <p:nvCxnSpPr>
            <p:cNvPr id="187" name="Straight Connector 186">
              <a:extLst>
                <a:ext uri="{FF2B5EF4-FFF2-40B4-BE49-F238E27FC236}">
                  <a16:creationId xmlns:a16="http://schemas.microsoft.com/office/drawing/2014/main" xmlns="" id="{0D3A43B7-67EB-8149-8177-63ACBDAC09D3}"/>
                </a:ext>
              </a:extLst>
            </p:cNvPr>
            <p:cNvCxnSpPr>
              <a:cxnSpLocks/>
            </p:cNvCxnSpPr>
            <p:nvPr/>
          </p:nvCxnSpPr>
          <p:spPr>
            <a:xfrm>
              <a:off x="11277601" y="3626318"/>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TextBox 187">
              <a:extLst>
                <a:ext uri="{FF2B5EF4-FFF2-40B4-BE49-F238E27FC236}">
                  <a16:creationId xmlns:a16="http://schemas.microsoft.com/office/drawing/2014/main" xmlns="" id="{8C6ED6D6-A137-9B42-BF4F-C72EBCC66029}"/>
                </a:ext>
              </a:extLst>
            </p:cNvPr>
            <p:cNvSpPr txBox="1"/>
            <p:nvPr/>
          </p:nvSpPr>
          <p:spPr>
            <a:xfrm rot="16200000">
              <a:off x="10411855" y="2692668"/>
              <a:ext cx="1292320" cy="369332"/>
            </a:xfrm>
            <a:prstGeom prst="rect">
              <a:avLst/>
            </a:prstGeom>
            <a:noFill/>
          </p:spPr>
          <p:txBody>
            <a:bodyPr wrap="none" rtlCol="0">
              <a:spAutoFit/>
            </a:bodyPr>
            <a:lstStyle/>
            <a:p>
              <a:pPr algn="l" defTabSz="685800" rtl="0">
                <a:defRPr/>
              </a:pPr>
              <a:r>
                <a:rPr lang="en-US" sz="1200" kern="1200" dirty="0">
                  <a:solidFill>
                    <a:prstClr val="black"/>
                  </a:solidFill>
                  <a:latin typeface="Calibri"/>
                  <a:ea typeface="+mn-ea"/>
                  <a:cs typeface="+mn-cs"/>
                </a:rPr>
                <a:t>throughput: </a:t>
              </a:r>
            </a:p>
          </p:txBody>
        </p:sp>
        <p:sp>
          <p:nvSpPr>
            <p:cNvPr id="189" name="Oval 188">
              <a:extLst>
                <a:ext uri="{FF2B5EF4-FFF2-40B4-BE49-F238E27FC236}">
                  <a16:creationId xmlns:a16="http://schemas.microsoft.com/office/drawing/2014/main" xmlns="" id="{A51FB1CF-649B-CC49-BACE-97B8B3CDE942}"/>
                </a:ext>
              </a:extLst>
            </p:cNvPr>
            <p:cNvSpPr/>
            <p:nvPr/>
          </p:nvSpPr>
          <p:spPr>
            <a:xfrm>
              <a:off x="13195300" y="1625600"/>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90" name="Text Box 285">
              <a:extLst>
                <a:ext uri="{FF2B5EF4-FFF2-40B4-BE49-F238E27FC236}">
                  <a16:creationId xmlns:a16="http://schemas.microsoft.com/office/drawing/2014/main" xmlns="" id="{C633E812-6FC0-C24F-B90C-3885051F03C4}"/>
                </a:ext>
              </a:extLst>
            </p:cNvPr>
            <p:cNvSpPr txBox="1">
              <a:spLocks noChangeArrowheads="1"/>
            </p:cNvSpPr>
            <p:nvPr/>
          </p:nvSpPr>
          <p:spPr bwMode="auto">
            <a:xfrm>
              <a:off x="12948181" y="3764815"/>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191" name="Oval 190">
              <a:extLst>
                <a:ext uri="{FF2B5EF4-FFF2-40B4-BE49-F238E27FC236}">
                  <a16:creationId xmlns:a16="http://schemas.microsoft.com/office/drawing/2014/main" xmlns="" id="{DB7FD550-F812-2E40-88E3-303D39E6D2EA}"/>
                </a:ext>
              </a:extLst>
            </p:cNvPr>
            <p:cNvSpPr/>
            <p:nvPr/>
          </p:nvSpPr>
          <p:spPr>
            <a:xfrm>
              <a:off x="13213792" y="1978681"/>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94" name="Line 288">
              <a:extLst>
                <a:ext uri="{FF2B5EF4-FFF2-40B4-BE49-F238E27FC236}">
                  <a16:creationId xmlns:a16="http://schemas.microsoft.com/office/drawing/2014/main" xmlns="" id="{D53B1774-03D5-BD4B-9BCD-E50D15DB4A0C}"/>
                </a:ext>
              </a:extLst>
            </p:cNvPr>
            <p:cNvSpPr>
              <a:spLocks noChangeShapeType="1"/>
            </p:cNvSpPr>
            <p:nvPr/>
          </p:nvSpPr>
          <p:spPr bwMode="auto">
            <a:xfrm>
              <a:off x="11261558" y="2061890"/>
              <a:ext cx="1975007" cy="0"/>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sp>
        <p:nvSpPr>
          <p:cNvPr id="10" name="Oval 9">
            <a:extLst>
              <a:ext uri="{FF2B5EF4-FFF2-40B4-BE49-F238E27FC236}">
                <a16:creationId xmlns:a16="http://schemas.microsoft.com/office/drawing/2014/main" xmlns="" id="{9628093C-FFB3-054E-B64A-1E3835241090}"/>
              </a:ext>
            </a:extLst>
          </p:cNvPr>
          <p:cNvSpPr/>
          <p:nvPr/>
        </p:nvSpPr>
        <p:spPr>
          <a:xfrm rot="19191287">
            <a:off x="5912318" y="2086276"/>
            <a:ext cx="902369" cy="397043"/>
          </a:xfrm>
          <a:prstGeom prst="ellipse">
            <a:avLst/>
          </a:prstGeom>
          <a:noFill/>
          <a:ln w="25400">
            <a:solidFill>
              <a:srgbClr val="001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 name="Oval 10">
            <a:extLst>
              <a:ext uri="{FF2B5EF4-FFF2-40B4-BE49-F238E27FC236}">
                <a16:creationId xmlns:a16="http://schemas.microsoft.com/office/drawing/2014/main" xmlns="" id="{1B6200A7-EAB4-A446-B925-6AAC42752BAA}"/>
              </a:ext>
            </a:extLst>
          </p:cNvPr>
          <p:cNvSpPr/>
          <p:nvPr/>
        </p:nvSpPr>
        <p:spPr>
          <a:xfrm>
            <a:off x="7182853" y="1061185"/>
            <a:ext cx="649706" cy="649706"/>
          </a:xfrm>
          <a:prstGeom prst="ellipse">
            <a:avLst/>
          </a:prstGeom>
          <a:noFill/>
          <a:ln w="28575">
            <a:solidFill>
              <a:srgbClr val="0013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nvGrpSpPr>
          <p:cNvPr id="9" name="Group 8">
            <a:extLst>
              <a:ext uri="{FF2B5EF4-FFF2-40B4-BE49-F238E27FC236}">
                <a16:creationId xmlns:a16="http://schemas.microsoft.com/office/drawing/2014/main" xmlns="" id="{D654E839-2366-974D-AA53-9D5D4AA79583}"/>
              </a:ext>
            </a:extLst>
          </p:cNvPr>
          <p:cNvGrpSpPr/>
          <p:nvPr/>
        </p:nvGrpSpPr>
        <p:grpSpPr>
          <a:xfrm>
            <a:off x="7631230" y="1123950"/>
            <a:ext cx="1588970" cy="528606"/>
            <a:chOff x="10048776" y="1268181"/>
            <a:chExt cx="2118627" cy="704807"/>
          </a:xfrm>
          <a:solidFill>
            <a:schemeClr val="bg1"/>
          </a:solidFill>
        </p:grpSpPr>
        <p:sp>
          <p:nvSpPr>
            <p:cNvPr id="7" name="Right Brace 6">
              <a:extLst>
                <a:ext uri="{FF2B5EF4-FFF2-40B4-BE49-F238E27FC236}">
                  <a16:creationId xmlns:a16="http://schemas.microsoft.com/office/drawing/2014/main" xmlns="" id="{0A993798-9407-6A45-8986-FB364E5661F1}"/>
                </a:ext>
              </a:extLst>
            </p:cNvPr>
            <p:cNvSpPr/>
            <p:nvPr/>
          </p:nvSpPr>
          <p:spPr>
            <a:xfrm>
              <a:off x="10048776" y="1414914"/>
              <a:ext cx="144379" cy="336885"/>
            </a:xfrm>
            <a:prstGeom prst="rightBrac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rtl="0">
                <a:defRPr/>
              </a:pPr>
              <a:endParaRPr lang="en-US" sz="1350" kern="1200" dirty="0">
                <a:solidFill>
                  <a:prstClr val="black"/>
                </a:solidFill>
                <a:latin typeface="Calibri"/>
              </a:endParaRPr>
            </a:p>
          </p:txBody>
        </p:sp>
        <p:sp>
          <p:nvSpPr>
            <p:cNvPr id="196" name="Text Box 252">
              <a:extLst>
                <a:ext uri="{FF2B5EF4-FFF2-40B4-BE49-F238E27FC236}">
                  <a16:creationId xmlns:a16="http://schemas.microsoft.com/office/drawing/2014/main" xmlns="" id="{90EEE6E2-B3F9-6740-9FCA-2CF9A84F8740}"/>
                </a:ext>
              </a:extLst>
            </p:cNvPr>
            <p:cNvSpPr txBox="1">
              <a:spLocks noChangeArrowheads="1"/>
            </p:cNvSpPr>
            <p:nvPr/>
          </p:nvSpPr>
          <p:spPr bwMode="auto">
            <a:xfrm>
              <a:off x="10351812" y="1268181"/>
              <a:ext cx="1815591" cy="704807"/>
            </a:xfrm>
            <a:prstGeom prst="rect">
              <a:avLst/>
            </a:prstGeom>
            <a:grp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lnSpc>
                  <a:spcPct val="90000"/>
                </a:lnSpc>
                <a:defRPr/>
              </a:pPr>
              <a:r>
                <a:rPr lang="en-US" sz="1050" kern="1200" dirty="0">
                  <a:solidFill>
                    <a:prstClr val="black"/>
                  </a:solidFill>
                  <a:latin typeface="Calibri" panose="020F0502020204030204"/>
                  <a:cs typeface="+mn-cs"/>
                </a:rPr>
                <a:t>“wasted” capacity due to retransmissions</a:t>
              </a:r>
            </a:p>
          </p:txBody>
        </p:sp>
      </p:grpSp>
    </p:spTree>
    <p:extLst>
      <p:ext uri="{BB962C8B-B14F-4D97-AF65-F5344CB8AC3E}">
        <p14:creationId xmlns:p14="http://schemas.microsoft.com/office/powerpoint/2010/main" val="849525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1.45833E-6 -2.22222E-6 L 0.02383 -2.22222E-6 L 0.02383 0.14584 L 0.08542 0.14584 L 0.05716 0.20625 L 0.16237 0.20625 " pathEditMode="relative" rAng="0" ptsTypes="AAAAAA">
                                      <p:cBhvr>
                                        <p:cTn id="6" dur="2000" fill="hold"/>
                                        <p:tgtEl>
                                          <p:spTgt spid="229"/>
                                        </p:tgtEl>
                                        <p:attrNameLst>
                                          <p:attrName>ppt_x</p:attrName>
                                          <p:attrName>ppt_y</p:attrName>
                                        </p:attrNameLst>
                                      </p:cBhvr>
                                      <p:rCtr x="8112" y="10301"/>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230"/>
                                        </p:tgtEl>
                                        <p:attrNameLst>
                                          <p:attrName>style.visibility</p:attrName>
                                        </p:attrNameLst>
                                      </p:cBhvr>
                                      <p:to>
                                        <p:strVal val="visible"/>
                                      </p:to>
                                    </p:set>
                                    <p:animEffect transition="in" filter="dissolve">
                                      <p:cBhvr>
                                        <p:cTn id="10" dur="500"/>
                                        <p:tgtEl>
                                          <p:spTgt spid="230"/>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0.16237 0.20625 L 0.19492 0.20648 " pathEditMode="relative" rAng="0" ptsTypes="AA">
                                      <p:cBhvr>
                                        <p:cTn id="13" dur="3000" fill="hold"/>
                                        <p:tgtEl>
                                          <p:spTgt spid="229"/>
                                        </p:tgtEl>
                                        <p:attrNameLst>
                                          <p:attrName>ppt_x</p:attrName>
                                          <p:attrName>ppt_y</p:attrName>
                                        </p:attrNameLst>
                                      </p:cBhvr>
                                      <p:rCtr x="1628" y="0"/>
                                    </p:animMotion>
                                  </p:childTnLst>
                                </p:cTn>
                              </p:par>
                            </p:childTnLst>
                          </p:cTn>
                        </p:par>
                        <p:par>
                          <p:cTn id="14" fill="hold">
                            <p:stCondLst>
                              <p:cond delay="5500"/>
                            </p:stCondLst>
                            <p:childTnLst>
                              <p:par>
                                <p:cTn id="15" presetID="9" presetClass="exit" presetSubtype="0" fill="hold" nodeType="afterEffect">
                                  <p:stCondLst>
                                    <p:cond delay="0"/>
                                  </p:stCondLst>
                                  <p:childTnLst>
                                    <p:animEffect transition="out" filter="dissolve">
                                      <p:cBhvr>
                                        <p:cTn id="16" dur="500"/>
                                        <p:tgtEl>
                                          <p:spTgt spid="230"/>
                                        </p:tgtEl>
                                      </p:cBhvr>
                                    </p:animEffect>
                                    <p:set>
                                      <p:cBhvr>
                                        <p:cTn id="17" dur="1" fill="hold">
                                          <p:stCondLst>
                                            <p:cond delay="499"/>
                                          </p:stCondLst>
                                        </p:cTn>
                                        <p:tgtEl>
                                          <p:spTgt spid="230"/>
                                        </p:tgtEl>
                                        <p:attrNameLst>
                                          <p:attrName>style.visibility</p:attrName>
                                        </p:attrNameLst>
                                      </p:cBhvr>
                                      <p:to>
                                        <p:strVal val="hidden"/>
                                      </p:to>
                                    </p:set>
                                  </p:childTnLst>
                                </p:cTn>
                              </p:par>
                            </p:childTnLst>
                          </p:cTn>
                        </p:par>
                        <p:par>
                          <p:cTn id="18" fill="hold">
                            <p:stCondLst>
                              <p:cond delay="6000"/>
                            </p:stCondLst>
                            <p:childTnLst>
                              <p:par>
                                <p:cTn id="19" presetID="0" presetClass="path" presetSubtype="0" accel="50000" decel="50000" fill="hold" grpId="2" nodeType="afterEffect">
                                  <p:stCondLst>
                                    <p:cond delay="0"/>
                                  </p:stCondLst>
                                  <p:childTnLst>
                                    <p:animMotion origin="layout" path="M 0.20625 0.20648 L 0.25221 0.20648 L 0.29661 0.11597 L 0.35755 0.12084 L 0.35755 -0.01111 " pathEditMode="relative" rAng="0" ptsTypes="AAAAA">
                                      <p:cBhvr>
                                        <p:cTn id="20" dur="2000" fill="hold"/>
                                        <p:tgtEl>
                                          <p:spTgt spid="229"/>
                                        </p:tgtEl>
                                        <p:attrNameLst>
                                          <p:attrName>ppt_x</p:attrName>
                                          <p:attrName>ppt_y</p:attrName>
                                        </p:attrNameLst>
                                      </p:cBhvr>
                                      <p:rCtr x="7565" y="-10880"/>
                                    </p:animMotion>
                                  </p:childTnLst>
                                </p:cTn>
                              </p:par>
                            </p:childTnLst>
                          </p:cTn>
                        </p:par>
                        <p:par>
                          <p:cTn id="21" fill="hold">
                            <p:stCondLst>
                              <p:cond delay="8000"/>
                            </p:stCondLst>
                            <p:childTnLst>
                              <p:par>
                                <p:cTn id="22" presetID="9" presetClass="exit" presetSubtype="0" fill="hold" grpId="3" nodeType="afterEffect">
                                  <p:stCondLst>
                                    <p:cond delay="0"/>
                                  </p:stCondLst>
                                  <p:childTnLst>
                                    <p:animEffect transition="out" filter="dissolve">
                                      <p:cBhvr>
                                        <p:cTn id="23" dur="500"/>
                                        <p:tgtEl>
                                          <p:spTgt spid="229"/>
                                        </p:tgtEl>
                                      </p:cBhvr>
                                    </p:animEffect>
                                    <p:set>
                                      <p:cBhvr>
                                        <p:cTn id="24" dur="1" fill="hold">
                                          <p:stCondLst>
                                            <p:cond delay="499"/>
                                          </p:stCondLst>
                                        </p:cTn>
                                        <p:tgtEl>
                                          <p:spTgt spid="229"/>
                                        </p:tgtEl>
                                        <p:attrNameLst>
                                          <p:attrName>style.visibility</p:attrName>
                                        </p:attrNameLst>
                                      </p:cBhvr>
                                      <p:to>
                                        <p:strVal val="hidden"/>
                                      </p:to>
                                    </p:set>
                                  </p:childTnLst>
                                </p:cTn>
                              </p:par>
                              <p:par>
                                <p:cTn id="25" presetID="9" presetClass="exit" presetSubtype="0" fill="hold" grpId="0" nodeType="withEffect">
                                  <p:stCondLst>
                                    <p:cond delay="0"/>
                                  </p:stCondLst>
                                  <p:childTnLst>
                                    <p:animEffect transition="out" filter="dissolve">
                                      <p:cBhvr>
                                        <p:cTn id="26" dur="500"/>
                                        <p:tgtEl>
                                          <p:spTgt spid="231"/>
                                        </p:tgtEl>
                                      </p:cBhvr>
                                    </p:animEffect>
                                    <p:set>
                                      <p:cBhvr>
                                        <p:cTn id="27" dur="1" fill="hold">
                                          <p:stCondLst>
                                            <p:cond delay="499"/>
                                          </p:stCondLst>
                                        </p:cTn>
                                        <p:tgtEl>
                                          <p:spTgt spid="23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6"/>
                                        </p:tgtEl>
                                        <p:attrNameLst>
                                          <p:attrName>style.visibility</p:attrName>
                                        </p:attrNameLst>
                                      </p:cBhvr>
                                      <p:to>
                                        <p:strVal val="visible"/>
                                      </p:to>
                                    </p:set>
                                    <p:animEffect transition="in" filter="dissolve">
                                      <p:cBhvr>
                                        <p:cTn id="32" dur="500"/>
                                        <p:tgtEl>
                                          <p:spTgt spid="17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dissolv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par>
                                <p:cTn id="43" presetID="9" presetClass="exit" presetSubtype="0" fill="hold" grpId="1" nodeType="withEffect">
                                  <p:stCondLst>
                                    <p:cond delay="0"/>
                                  </p:stCondLst>
                                  <p:childTnLst>
                                    <p:animEffect transition="out" filter="dissolve">
                                      <p:cBhvr>
                                        <p:cTn id="44" dur="500"/>
                                        <p:tgtEl>
                                          <p:spTgt spid="10"/>
                                        </p:tgtEl>
                                      </p:cBhvr>
                                    </p:animEffect>
                                    <p:set>
                                      <p:cBhvr>
                                        <p:cTn id="45" dur="1" fill="hold">
                                          <p:stCondLst>
                                            <p:cond delay="499"/>
                                          </p:stCondLst>
                                        </p:cTn>
                                        <p:tgtEl>
                                          <p:spTgt spid="10"/>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dissolv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dissolve">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P spid="229" grpId="1" animBg="1"/>
      <p:bldP spid="229" grpId="2" animBg="1"/>
      <p:bldP spid="229" grpId="3" animBg="1"/>
      <p:bldP spid="230" grpId="0"/>
      <p:bldP spid="231" grpId="0" animBg="1"/>
      <p:bldP spid="10" grpId="0" animBg="1"/>
      <p:bldP spid="10" grpId="1"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Freeform 3">
            <a:extLst>
              <a:ext uri="{FF2B5EF4-FFF2-40B4-BE49-F238E27FC236}">
                <a16:creationId xmlns:a16="http://schemas.microsoft.com/office/drawing/2014/main" xmlns="" id="{F3DAD8A0-663C-1646-8A3A-A562D7F6543A}"/>
              </a:ext>
            </a:extLst>
          </p:cNvPr>
          <p:cNvSpPr>
            <a:spLocks/>
          </p:cNvSpPr>
          <p:nvPr/>
        </p:nvSpPr>
        <p:spPr bwMode="auto">
          <a:xfrm>
            <a:off x="5210233" y="3757361"/>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91" name="Group 490">
            <a:extLst>
              <a:ext uri="{FF2B5EF4-FFF2-40B4-BE49-F238E27FC236}">
                <a16:creationId xmlns:a16="http://schemas.microsoft.com/office/drawing/2014/main" xmlns="" id="{83BB7D95-FCAE-9B42-AEAB-D8E35C89434F}"/>
              </a:ext>
            </a:extLst>
          </p:cNvPr>
          <p:cNvGrpSpPr/>
          <p:nvPr/>
        </p:nvGrpSpPr>
        <p:grpSpPr>
          <a:xfrm>
            <a:off x="4687076" y="3768042"/>
            <a:ext cx="540549" cy="887198"/>
            <a:chOff x="10910965" y="2513124"/>
            <a:chExt cx="586768" cy="904023"/>
          </a:xfrm>
        </p:grpSpPr>
        <p:sp>
          <p:nvSpPr>
            <p:cNvPr id="492" name="Rectangle 491">
              <a:extLst>
                <a:ext uri="{FF2B5EF4-FFF2-40B4-BE49-F238E27FC236}">
                  <a16:creationId xmlns:a16="http://schemas.microsoft.com/office/drawing/2014/main" xmlns="" id="{B166A895-5BC9-2648-8A56-D2E710C6B54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93" name="Straight Connector 492">
              <a:extLst>
                <a:ext uri="{FF2B5EF4-FFF2-40B4-BE49-F238E27FC236}">
                  <a16:creationId xmlns:a16="http://schemas.microsoft.com/office/drawing/2014/main" xmlns="" id="{1E312B60-1C4E-AD4B-8C4A-4F2EEF657244}"/>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xmlns="" id="{32EBA421-617D-FD48-A968-2D26C923E03D}"/>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xmlns="" id="{A91341A0-C7EC-F148-816F-EABD49A6B59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xmlns="" id="{D95EE473-EC8C-B946-A371-E70E0010B345}"/>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4" name="Freeform 9">
            <a:extLst>
              <a:ext uri="{FF2B5EF4-FFF2-40B4-BE49-F238E27FC236}">
                <a16:creationId xmlns:a16="http://schemas.microsoft.com/office/drawing/2014/main" xmlns="" id="{7BC539C4-03E2-6040-9EE4-38A67D76BDD0}"/>
              </a:ext>
            </a:extLst>
          </p:cNvPr>
          <p:cNvSpPr>
            <a:spLocks/>
          </p:cNvSpPr>
          <p:nvPr/>
        </p:nvSpPr>
        <p:spPr bwMode="auto">
          <a:xfrm flipH="1">
            <a:off x="1383541" y="2636729"/>
            <a:ext cx="396261" cy="883709"/>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401 w 10401"/>
              <a:gd name="connsiteY0" fmla="*/ 9412 h 9459"/>
              <a:gd name="connsiteX1" fmla="*/ 0 w 10401"/>
              <a:gd name="connsiteY1" fmla="*/ 0 h 9459"/>
              <a:gd name="connsiteX2" fmla="*/ 401 w 10401"/>
              <a:gd name="connsiteY2" fmla="*/ 8992 h 9459"/>
              <a:gd name="connsiteX3" fmla="*/ 5483 w 10401"/>
              <a:gd name="connsiteY3" fmla="*/ 9459 h 9459"/>
              <a:gd name="connsiteX4" fmla="*/ 10401 w 10401"/>
              <a:gd name="connsiteY4" fmla="*/ 9412 h 9459"/>
              <a:gd name="connsiteX0" fmla="*/ 14206 w 14206"/>
              <a:gd name="connsiteY0" fmla="*/ 3611 h 10000"/>
              <a:gd name="connsiteX1" fmla="*/ 0 w 14206"/>
              <a:gd name="connsiteY1" fmla="*/ 0 h 10000"/>
              <a:gd name="connsiteX2" fmla="*/ 386 w 14206"/>
              <a:gd name="connsiteY2" fmla="*/ 9506 h 10000"/>
              <a:gd name="connsiteX3" fmla="*/ 5272 w 14206"/>
              <a:gd name="connsiteY3" fmla="*/ 10000 h 10000"/>
              <a:gd name="connsiteX4" fmla="*/ 14206 w 14206"/>
              <a:gd name="connsiteY4" fmla="*/ 3611 h 10000"/>
              <a:gd name="connsiteX0" fmla="*/ 14206 w 16488"/>
              <a:gd name="connsiteY0" fmla="*/ 3611 h 9506"/>
              <a:gd name="connsiteX1" fmla="*/ 0 w 16488"/>
              <a:gd name="connsiteY1" fmla="*/ 0 h 9506"/>
              <a:gd name="connsiteX2" fmla="*/ 386 w 16488"/>
              <a:gd name="connsiteY2" fmla="*/ 9506 h 9506"/>
              <a:gd name="connsiteX3" fmla="*/ 16488 w 16488"/>
              <a:gd name="connsiteY3" fmla="*/ 6207 h 9506"/>
              <a:gd name="connsiteX4" fmla="*/ 14206 w 16488"/>
              <a:gd name="connsiteY4" fmla="*/ 3611 h 9506"/>
              <a:gd name="connsiteX0" fmla="*/ 8616 w 10000"/>
              <a:gd name="connsiteY0" fmla="*/ 3799 h 10765"/>
              <a:gd name="connsiteX1" fmla="*/ 0 w 10000"/>
              <a:gd name="connsiteY1" fmla="*/ 0 h 10765"/>
              <a:gd name="connsiteX2" fmla="*/ 128 w 10000"/>
              <a:gd name="connsiteY2" fmla="*/ 10765 h 10765"/>
              <a:gd name="connsiteX3" fmla="*/ 10000 w 10000"/>
              <a:gd name="connsiteY3" fmla="*/ 6530 h 10765"/>
              <a:gd name="connsiteX4" fmla="*/ 8616 w 10000"/>
              <a:gd name="connsiteY4" fmla="*/ 3799 h 10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765">
                <a:moveTo>
                  <a:pt x="8616" y="3799"/>
                </a:moveTo>
                <a:lnTo>
                  <a:pt x="0" y="0"/>
                </a:lnTo>
                <a:cubicBezTo>
                  <a:pt x="78" y="3333"/>
                  <a:pt x="50" y="7432"/>
                  <a:pt x="128" y="10765"/>
                </a:cubicBezTo>
                <a:lnTo>
                  <a:pt x="10000" y="6530"/>
                </a:lnTo>
                <a:lnTo>
                  <a:pt x="8616" y="3799"/>
                </a:lnTo>
                <a:close/>
              </a:path>
            </a:pathLst>
          </a:cu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w="9525">
                <a:solidFill>
                  <a:srgbClr val="DDDDDD"/>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75" name="Group 174">
            <a:extLst>
              <a:ext uri="{FF2B5EF4-FFF2-40B4-BE49-F238E27FC236}">
                <a16:creationId xmlns:a16="http://schemas.microsoft.com/office/drawing/2014/main" xmlns="" id="{4BD209F8-EB2A-9F4F-B363-BC938C5DA835}"/>
              </a:ext>
            </a:extLst>
          </p:cNvPr>
          <p:cNvGrpSpPr/>
          <p:nvPr/>
        </p:nvGrpSpPr>
        <p:grpSpPr>
          <a:xfrm>
            <a:off x="959009" y="3512773"/>
            <a:ext cx="540549" cy="887198"/>
            <a:chOff x="10910965" y="2513124"/>
            <a:chExt cx="586768" cy="904023"/>
          </a:xfrm>
        </p:grpSpPr>
        <p:sp>
          <p:nvSpPr>
            <p:cNvPr id="477" name="Rectangle 476">
              <a:extLst>
                <a:ext uri="{FF2B5EF4-FFF2-40B4-BE49-F238E27FC236}">
                  <a16:creationId xmlns:a16="http://schemas.microsoft.com/office/drawing/2014/main" xmlns="" id="{BCE8A729-A73C-F54F-A8A9-3733CC70183B}"/>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78" name="Straight Connector 477">
              <a:extLst>
                <a:ext uri="{FF2B5EF4-FFF2-40B4-BE49-F238E27FC236}">
                  <a16:creationId xmlns:a16="http://schemas.microsoft.com/office/drawing/2014/main" xmlns="" id="{2F48DF19-80E3-7F4A-8454-1BEB4B00E16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xmlns="" id="{8FA6A88D-F9D7-4145-A917-41C2C7FC12A7}"/>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xmlns="" id="{391498D3-135C-F543-A213-6124B95A870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xmlns="" id="{F5B7A06C-468D-E74C-97F5-530BC4315BF6}"/>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6" name="Group 175">
            <a:extLst>
              <a:ext uri="{FF2B5EF4-FFF2-40B4-BE49-F238E27FC236}">
                <a16:creationId xmlns:a16="http://schemas.microsoft.com/office/drawing/2014/main" xmlns="" id="{B26A6ED3-2CE4-F243-BD5E-0E3D12D1032C}"/>
              </a:ext>
            </a:extLst>
          </p:cNvPr>
          <p:cNvGrpSpPr/>
          <p:nvPr/>
        </p:nvGrpSpPr>
        <p:grpSpPr>
          <a:xfrm>
            <a:off x="1766283" y="2640818"/>
            <a:ext cx="540549" cy="887198"/>
            <a:chOff x="10910965" y="2513124"/>
            <a:chExt cx="586768" cy="904023"/>
          </a:xfrm>
        </p:grpSpPr>
        <p:sp>
          <p:nvSpPr>
            <p:cNvPr id="472" name="Rectangle 471">
              <a:extLst>
                <a:ext uri="{FF2B5EF4-FFF2-40B4-BE49-F238E27FC236}">
                  <a16:creationId xmlns:a16="http://schemas.microsoft.com/office/drawing/2014/main" xmlns="" id="{E5732A89-DEC6-C04F-8D35-653ED5A74D0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73" name="Straight Connector 472">
              <a:extLst>
                <a:ext uri="{FF2B5EF4-FFF2-40B4-BE49-F238E27FC236}">
                  <a16:creationId xmlns:a16="http://schemas.microsoft.com/office/drawing/2014/main" xmlns="" id="{3BA48241-0809-D749-AA95-E5E0009564B5}"/>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xmlns="" id="{4F914E7F-35B8-B84D-9E03-048E2AC52A84}"/>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xmlns="" id="{F059F7DD-38D6-FB44-928C-D70FCB46C69F}"/>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xmlns="" id="{69780329-E6CC-7B44-AD09-CD529A71009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7" name="Freeform 6">
            <a:extLst>
              <a:ext uri="{FF2B5EF4-FFF2-40B4-BE49-F238E27FC236}">
                <a16:creationId xmlns:a16="http://schemas.microsoft.com/office/drawing/2014/main" xmlns="" id="{0A6B0B41-CE88-A847-BDFD-D4C5406DB4FD}"/>
              </a:ext>
            </a:extLst>
          </p:cNvPr>
          <p:cNvSpPr>
            <a:spLocks/>
          </p:cNvSpPr>
          <p:nvPr/>
        </p:nvSpPr>
        <p:spPr bwMode="auto">
          <a:xfrm>
            <a:off x="5556835" y="2774602"/>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87" name="Group 186">
            <a:extLst>
              <a:ext uri="{FF2B5EF4-FFF2-40B4-BE49-F238E27FC236}">
                <a16:creationId xmlns:a16="http://schemas.microsoft.com/office/drawing/2014/main" xmlns="" id="{698728B3-54B3-7348-A92A-D46EBCBE40A7}"/>
              </a:ext>
            </a:extLst>
          </p:cNvPr>
          <p:cNvGrpSpPr/>
          <p:nvPr/>
        </p:nvGrpSpPr>
        <p:grpSpPr>
          <a:xfrm>
            <a:off x="5024189" y="2750917"/>
            <a:ext cx="540549" cy="887198"/>
            <a:chOff x="10910965" y="2513124"/>
            <a:chExt cx="586768" cy="904023"/>
          </a:xfrm>
        </p:grpSpPr>
        <p:sp>
          <p:nvSpPr>
            <p:cNvPr id="467" name="Rectangle 466">
              <a:extLst>
                <a:ext uri="{FF2B5EF4-FFF2-40B4-BE49-F238E27FC236}">
                  <a16:creationId xmlns:a16="http://schemas.microsoft.com/office/drawing/2014/main" xmlns="" id="{993EFA25-A923-104F-AA7A-D1A0A1DFAF09}"/>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468" name="Straight Connector 467">
              <a:extLst>
                <a:ext uri="{FF2B5EF4-FFF2-40B4-BE49-F238E27FC236}">
                  <a16:creationId xmlns:a16="http://schemas.microsoft.com/office/drawing/2014/main" xmlns="" id="{F9FAACE5-7286-8041-B6C5-31BF3B00BC52}"/>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xmlns="" id="{2B9192CF-4A86-234C-A018-E18B6174B23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xmlns="" id="{E51604E2-6668-3C47-9339-A57BD00E151C}"/>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xmlns="" id="{1355E105-F22E-4C4E-B4E5-337CC0AC9628}"/>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4" name="Group 343">
            <a:extLst>
              <a:ext uri="{FF2B5EF4-FFF2-40B4-BE49-F238E27FC236}">
                <a16:creationId xmlns:a16="http://schemas.microsoft.com/office/drawing/2014/main" xmlns="" id="{98CAF04A-1334-B348-B035-3A982F9BDEB6}"/>
              </a:ext>
            </a:extLst>
          </p:cNvPr>
          <p:cNvGrpSpPr/>
          <p:nvPr/>
        </p:nvGrpSpPr>
        <p:grpSpPr>
          <a:xfrm>
            <a:off x="2828023" y="3775234"/>
            <a:ext cx="965153" cy="551195"/>
            <a:chOff x="7493876" y="2774731"/>
            <a:chExt cx="1481958" cy="894622"/>
          </a:xfrm>
        </p:grpSpPr>
        <p:sp>
          <p:nvSpPr>
            <p:cNvPr id="460" name="Freeform 459">
              <a:extLst>
                <a:ext uri="{FF2B5EF4-FFF2-40B4-BE49-F238E27FC236}">
                  <a16:creationId xmlns:a16="http://schemas.microsoft.com/office/drawing/2014/main" xmlns="" id="{1CC3E213-0DED-B141-84EE-4148FCBF957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461" name="Oval 460">
              <a:extLst>
                <a:ext uri="{FF2B5EF4-FFF2-40B4-BE49-F238E27FC236}">
                  <a16:creationId xmlns:a16="http://schemas.microsoft.com/office/drawing/2014/main" xmlns="" id="{873B81E7-2D3F-7C4E-BD26-C74207A647E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462" name="Group 461">
              <a:extLst>
                <a:ext uri="{FF2B5EF4-FFF2-40B4-BE49-F238E27FC236}">
                  <a16:creationId xmlns:a16="http://schemas.microsoft.com/office/drawing/2014/main" xmlns="" id="{6BE5949F-B050-EB4B-B822-E35D4247EEC2}"/>
                </a:ext>
              </a:extLst>
            </p:cNvPr>
            <p:cNvGrpSpPr/>
            <p:nvPr/>
          </p:nvGrpSpPr>
          <p:grpSpPr>
            <a:xfrm>
              <a:off x="7713663" y="2848339"/>
              <a:ext cx="1042107" cy="425543"/>
              <a:chOff x="7786941" y="2884917"/>
              <a:chExt cx="897649" cy="353919"/>
            </a:xfrm>
          </p:grpSpPr>
          <p:sp>
            <p:nvSpPr>
              <p:cNvPr id="463" name="Freeform 462">
                <a:extLst>
                  <a:ext uri="{FF2B5EF4-FFF2-40B4-BE49-F238E27FC236}">
                    <a16:creationId xmlns:a16="http://schemas.microsoft.com/office/drawing/2014/main" xmlns="" id="{2AD53E5B-C2A7-B44B-BE8C-CE15460DCE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64" name="Freeform 463">
                <a:extLst>
                  <a:ext uri="{FF2B5EF4-FFF2-40B4-BE49-F238E27FC236}">
                    <a16:creationId xmlns:a16="http://schemas.microsoft.com/office/drawing/2014/main" xmlns="" id="{D8E482E0-784D-9147-8920-C673267B1F7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65" name="Freeform 464">
                <a:extLst>
                  <a:ext uri="{FF2B5EF4-FFF2-40B4-BE49-F238E27FC236}">
                    <a16:creationId xmlns:a16="http://schemas.microsoft.com/office/drawing/2014/main" xmlns="" id="{C0849211-2B58-F142-A8CE-1BF8EAE9207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466" name="Freeform 465">
                <a:extLst>
                  <a:ext uri="{FF2B5EF4-FFF2-40B4-BE49-F238E27FC236}">
                    <a16:creationId xmlns:a16="http://schemas.microsoft.com/office/drawing/2014/main" xmlns="" id="{5A3A8A9F-4FBE-BD43-8E9E-03C5075F771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345" name="Group 124">
            <a:extLst>
              <a:ext uri="{FF2B5EF4-FFF2-40B4-BE49-F238E27FC236}">
                <a16:creationId xmlns:a16="http://schemas.microsoft.com/office/drawing/2014/main" xmlns="" id="{1875CC16-4D82-EC4B-A27F-8C5523CDCA1C}"/>
              </a:ext>
            </a:extLst>
          </p:cNvPr>
          <p:cNvGrpSpPr>
            <a:grpSpLocks/>
          </p:cNvGrpSpPr>
          <p:nvPr/>
        </p:nvGrpSpPr>
        <p:grpSpPr bwMode="auto">
          <a:xfrm>
            <a:off x="988066" y="2907840"/>
            <a:ext cx="484073" cy="426879"/>
            <a:chOff x="-44" y="1473"/>
            <a:chExt cx="981" cy="1105"/>
          </a:xfrm>
        </p:grpSpPr>
        <p:pic>
          <p:nvPicPr>
            <p:cNvPr id="458" name="Picture 125" descr="desktop_computer_stylized_medium">
              <a:extLst>
                <a:ext uri="{FF2B5EF4-FFF2-40B4-BE49-F238E27FC236}">
                  <a16:creationId xmlns:a16="http://schemas.microsoft.com/office/drawing/2014/main" xmlns="" id="{06C4FF17-B894-F64E-B8E9-009E2F935B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 name="Freeform 126">
              <a:extLst>
                <a:ext uri="{FF2B5EF4-FFF2-40B4-BE49-F238E27FC236}">
                  <a16:creationId xmlns:a16="http://schemas.microsoft.com/office/drawing/2014/main" xmlns="" id="{2B78B566-3D03-D044-A615-5F2E69BA2D5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347" name="Freeform 12">
            <a:extLst>
              <a:ext uri="{FF2B5EF4-FFF2-40B4-BE49-F238E27FC236}">
                <a16:creationId xmlns:a16="http://schemas.microsoft.com/office/drawing/2014/main" xmlns="" id="{B3DEE67E-0295-1C42-877B-3030DF5CC3A0}"/>
              </a:ext>
            </a:extLst>
          </p:cNvPr>
          <p:cNvSpPr>
            <a:spLocks/>
          </p:cNvSpPr>
          <p:nvPr/>
        </p:nvSpPr>
        <p:spPr bwMode="auto">
          <a:xfrm flipH="1">
            <a:off x="733658" y="3511205"/>
            <a:ext cx="231068" cy="91296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48" name="Line 33">
            <a:extLst>
              <a:ext uri="{FF2B5EF4-FFF2-40B4-BE49-F238E27FC236}">
                <a16:creationId xmlns:a16="http://schemas.microsoft.com/office/drawing/2014/main" xmlns="" id="{EB4F5429-B362-3445-AEC3-247C13D4C69F}"/>
              </a:ext>
            </a:extLst>
          </p:cNvPr>
          <p:cNvSpPr>
            <a:spLocks noChangeShapeType="1"/>
          </p:cNvSpPr>
          <p:nvPr/>
        </p:nvSpPr>
        <p:spPr bwMode="auto">
          <a:xfrm flipH="1">
            <a:off x="1804175"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49" name="Text Box 42">
            <a:extLst>
              <a:ext uri="{FF2B5EF4-FFF2-40B4-BE49-F238E27FC236}">
                <a16:creationId xmlns:a16="http://schemas.microsoft.com/office/drawing/2014/main" xmlns="" id="{71EABF9B-1A6B-F746-87A6-59211399E59A}"/>
              </a:ext>
            </a:extLst>
          </p:cNvPr>
          <p:cNvSpPr txBox="1">
            <a:spLocks noChangeArrowheads="1"/>
          </p:cNvSpPr>
          <p:nvPr/>
        </p:nvSpPr>
        <p:spPr bwMode="auto">
          <a:xfrm>
            <a:off x="816463" y="2647363"/>
            <a:ext cx="841877"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C00000"/>
                </a:solidFill>
                <a:latin typeface="Arial" panose="020B0604020202020204" pitchFamily="34" charset="0"/>
                <a:cs typeface="+mn-cs"/>
              </a:rPr>
              <a:t>Host A</a:t>
            </a:r>
            <a:endParaRPr lang="en-US" altLang="en-US" sz="3000" kern="1200" dirty="0">
              <a:solidFill>
                <a:srgbClr val="C00000"/>
              </a:solidFill>
              <a:latin typeface="Comic Sans MS" panose="030F0902030302020204" pitchFamily="66" charset="0"/>
              <a:cs typeface="+mn-cs"/>
            </a:endParaRPr>
          </a:p>
        </p:txBody>
      </p:sp>
      <p:sp>
        <p:nvSpPr>
          <p:cNvPr id="350" name="Text Box 52">
            <a:extLst>
              <a:ext uri="{FF2B5EF4-FFF2-40B4-BE49-F238E27FC236}">
                <a16:creationId xmlns:a16="http://schemas.microsoft.com/office/drawing/2014/main" xmlns="" id="{E952F158-8C87-2743-A654-CB43702CF48D}"/>
              </a:ext>
            </a:extLst>
          </p:cNvPr>
          <p:cNvSpPr txBox="1">
            <a:spLocks noChangeArrowheads="1"/>
          </p:cNvSpPr>
          <p:nvPr/>
        </p:nvSpPr>
        <p:spPr bwMode="auto">
          <a:xfrm>
            <a:off x="812577" y="4540117"/>
            <a:ext cx="736183" cy="238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200" kern="1200" dirty="0">
                <a:solidFill>
                  <a:srgbClr val="0013A3"/>
                </a:solidFill>
                <a:latin typeface="Arial" panose="020B0604020202020204" pitchFamily="34" charset="0"/>
                <a:cs typeface="+mn-cs"/>
              </a:rPr>
              <a:t>Host B</a:t>
            </a:r>
            <a:endParaRPr lang="en-US" altLang="en-US" sz="3000" kern="1200" dirty="0">
              <a:solidFill>
                <a:srgbClr val="0013A3"/>
              </a:solidFill>
              <a:latin typeface="Comic Sans MS" panose="030F0902030302020204" pitchFamily="66" charset="0"/>
              <a:cs typeface="+mn-cs"/>
            </a:endParaRPr>
          </a:p>
        </p:txBody>
      </p:sp>
      <p:sp>
        <p:nvSpPr>
          <p:cNvPr id="351" name="Line 53">
            <a:extLst>
              <a:ext uri="{FF2B5EF4-FFF2-40B4-BE49-F238E27FC236}">
                <a16:creationId xmlns:a16="http://schemas.microsoft.com/office/drawing/2014/main" xmlns="" id="{75256407-96DE-9F48-98B8-5BBEA93EFEC0}"/>
              </a:ext>
            </a:extLst>
          </p:cNvPr>
          <p:cNvSpPr>
            <a:spLocks noChangeShapeType="1"/>
          </p:cNvSpPr>
          <p:nvPr/>
        </p:nvSpPr>
        <p:spPr bwMode="auto">
          <a:xfrm flipH="1">
            <a:off x="2251686"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52" name="Line 54">
            <a:extLst>
              <a:ext uri="{FF2B5EF4-FFF2-40B4-BE49-F238E27FC236}">
                <a16:creationId xmlns:a16="http://schemas.microsoft.com/office/drawing/2014/main" xmlns="" id="{468D4135-22FF-CA48-B7FE-0A8C463F08E4}"/>
              </a:ext>
            </a:extLst>
          </p:cNvPr>
          <p:cNvSpPr>
            <a:spLocks noChangeShapeType="1"/>
          </p:cNvSpPr>
          <p:nvPr/>
        </p:nvSpPr>
        <p:spPr bwMode="auto">
          <a:xfrm flipH="1">
            <a:off x="3743391" y="4034677"/>
            <a:ext cx="5615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53" name="Line 55">
            <a:extLst>
              <a:ext uri="{FF2B5EF4-FFF2-40B4-BE49-F238E27FC236}">
                <a16:creationId xmlns:a16="http://schemas.microsoft.com/office/drawing/2014/main" xmlns="" id="{BBD1E308-9528-154A-A531-46348FA3DF78}"/>
              </a:ext>
            </a:extLst>
          </p:cNvPr>
          <p:cNvSpPr>
            <a:spLocks noChangeShapeType="1"/>
          </p:cNvSpPr>
          <p:nvPr/>
        </p:nvSpPr>
        <p:spPr bwMode="auto">
          <a:xfrm flipH="1">
            <a:off x="3857462" y="3642072"/>
            <a:ext cx="851149" cy="8506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54" name="Line 57">
            <a:extLst>
              <a:ext uri="{FF2B5EF4-FFF2-40B4-BE49-F238E27FC236}">
                <a16:creationId xmlns:a16="http://schemas.microsoft.com/office/drawing/2014/main" xmlns="" id="{ED09B7CD-707F-824A-951E-3DF44B158743}"/>
              </a:ext>
            </a:extLst>
          </p:cNvPr>
          <p:cNvSpPr>
            <a:spLocks noChangeShapeType="1"/>
          </p:cNvSpPr>
          <p:nvPr/>
        </p:nvSpPr>
        <p:spPr bwMode="auto">
          <a:xfrm flipH="1">
            <a:off x="4706741" y="3642217"/>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56" name="Group 127">
            <a:extLst>
              <a:ext uri="{FF2B5EF4-FFF2-40B4-BE49-F238E27FC236}">
                <a16:creationId xmlns:a16="http://schemas.microsoft.com/office/drawing/2014/main" xmlns="" id="{F053E5CE-83C8-B44F-BB41-24ACED3C1F54}"/>
              </a:ext>
            </a:extLst>
          </p:cNvPr>
          <p:cNvGrpSpPr>
            <a:grpSpLocks/>
          </p:cNvGrpSpPr>
          <p:nvPr/>
        </p:nvGrpSpPr>
        <p:grpSpPr bwMode="auto">
          <a:xfrm>
            <a:off x="5648969" y="3355409"/>
            <a:ext cx="213518" cy="433111"/>
            <a:chOff x="4140" y="429"/>
            <a:chExt cx="1425" cy="2396"/>
          </a:xfrm>
        </p:grpSpPr>
        <p:sp>
          <p:nvSpPr>
            <p:cNvPr id="420" name="Freeform 128">
              <a:extLst>
                <a:ext uri="{FF2B5EF4-FFF2-40B4-BE49-F238E27FC236}">
                  <a16:creationId xmlns:a16="http://schemas.microsoft.com/office/drawing/2014/main" xmlns="" id="{0C38C29E-82D9-DE4D-B34F-6E1B0F29E95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1" name="Rectangle 129">
              <a:extLst>
                <a:ext uri="{FF2B5EF4-FFF2-40B4-BE49-F238E27FC236}">
                  <a16:creationId xmlns:a16="http://schemas.microsoft.com/office/drawing/2014/main" xmlns="" id="{68008099-7DA3-DC4F-9848-B28E0757C8AF}"/>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2" name="Freeform 130">
              <a:extLst>
                <a:ext uri="{FF2B5EF4-FFF2-40B4-BE49-F238E27FC236}">
                  <a16:creationId xmlns:a16="http://schemas.microsoft.com/office/drawing/2014/main" xmlns="" id="{EE836601-014E-A34E-BA49-8C6B48990CC7}"/>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3" name="Freeform 131">
              <a:extLst>
                <a:ext uri="{FF2B5EF4-FFF2-40B4-BE49-F238E27FC236}">
                  <a16:creationId xmlns:a16="http://schemas.microsoft.com/office/drawing/2014/main" xmlns="" id="{196DB8E5-D7EB-FE4F-8E87-CF450052351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24" name="Rectangle 132">
              <a:extLst>
                <a:ext uri="{FF2B5EF4-FFF2-40B4-BE49-F238E27FC236}">
                  <a16:creationId xmlns:a16="http://schemas.microsoft.com/office/drawing/2014/main" xmlns="" id="{A36AF25C-36F4-8C41-BBF3-7179E440A69A}"/>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25" name="Group 133">
              <a:extLst>
                <a:ext uri="{FF2B5EF4-FFF2-40B4-BE49-F238E27FC236}">
                  <a16:creationId xmlns:a16="http://schemas.microsoft.com/office/drawing/2014/main" xmlns="" id="{91FC7106-BBE3-6342-AEDC-BB075E2A4F40}"/>
                </a:ext>
              </a:extLst>
            </p:cNvPr>
            <p:cNvGrpSpPr>
              <a:grpSpLocks/>
            </p:cNvGrpSpPr>
            <p:nvPr/>
          </p:nvGrpSpPr>
          <p:grpSpPr bwMode="auto">
            <a:xfrm>
              <a:off x="4749" y="668"/>
              <a:ext cx="581" cy="145"/>
              <a:chOff x="614" y="2568"/>
              <a:chExt cx="725" cy="139"/>
            </a:xfrm>
          </p:grpSpPr>
          <p:sp>
            <p:nvSpPr>
              <p:cNvPr id="450" name="AutoShape 134">
                <a:extLst>
                  <a:ext uri="{FF2B5EF4-FFF2-40B4-BE49-F238E27FC236}">
                    <a16:creationId xmlns:a16="http://schemas.microsoft.com/office/drawing/2014/main" xmlns="" id="{B78B2B71-C293-E74B-A8B2-FA48F8A21AA8}"/>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51" name="AutoShape 135">
                <a:extLst>
                  <a:ext uri="{FF2B5EF4-FFF2-40B4-BE49-F238E27FC236}">
                    <a16:creationId xmlns:a16="http://schemas.microsoft.com/office/drawing/2014/main" xmlns="" id="{B93FE048-8D2E-184B-938F-A023FE6CC24D}"/>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26" name="Rectangle 136">
              <a:extLst>
                <a:ext uri="{FF2B5EF4-FFF2-40B4-BE49-F238E27FC236}">
                  <a16:creationId xmlns:a16="http://schemas.microsoft.com/office/drawing/2014/main" xmlns="" id="{1BE92891-13BB-1942-AF26-7547F5E896F7}"/>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27" name="Group 137">
              <a:extLst>
                <a:ext uri="{FF2B5EF4-FFF2-40B4-BE49-F238E27FC236}">
                  <a16:creationId xmlns:a16="http://schemas.microsoft.com/office/drawing/2014/main" xmlns="" id="{B146C1A0-0498-3742-B869-C11FC5A9B4D9}"/>
                </a:ext>
              </a:extLst>
            </p:cNvPr>
            <p:cNvGrpSpPr>
              <a:grpSpLocks/>
            </p:cNvGrpSpPr>
            <p:nvPr/>
          </p:nvGrpSpPr>
          <p:grpSpPr bwMode="auto">
            <a:xfrm>
              <a:off x="4747" y="994"/>
              <a:ext cx="581" cy="134"/>
              <a:chOff x="614" y="2568"/>
              <a:chExt cx="725" cy="139"/>
            </a:xfrm>
          </p:grpSpPr>
          <p:sp>
            <p:nvSpPr>
              <p:cNvPr id="448" name="AutoShape 138">
                <a:extLst>
                  <a:ext uri="{FF2B5EF4-FFF2-40B4-BE49-F238E27FC236}">
                    <a16:creationId xmlns:a16="http://schemas.microsoft.com/office/drawing/2014/main" xmlns="" id="{6D8DAB10-D332-E443-B0C8-6926120D7EAC}"/>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9" name="AutoShape 139">
                <a:extLst>
                  <a:ext uri="{FF2B5EF4-FFF2-40B4-BE49-F238E27FC236}">
                    <a16:creationId xmlns:a16="http://schemas.microsoft.com/office/drawing/2014/main" xmlns="" id="{10A758BC-CA4A-4941-B3B1-013DFD754CC9}"/>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28" name="Rectangle 140">
              <a:extLst>
                <a:ext uri="{FF2B5EF4-FFF2-40B4-BE49-F238E27FC236}">
                  <a16:creationId xmlns:a16="http://schemas.microsoft.com/office/drawing/2014/main" xmlns="" id="{72D726F8-E1D6-6540-B8C3-5DC6D289ACF9}"/>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29" name="Rectangle 141">
              <a:extLst>
                <a:ext uri="{FF2B5EF4-FFF2-40B4-BE49-F238E27FC236}">
                  <a16:creationId xmlns:a16="http://schemas.microsoft.com/office/drawing/2014/main" xmlns="" id="{A62C6415-93B4-6540-B726-6DC1170DF017}"/>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430" name="Group 142">
              <a:extLst>
                <a:ext uri="{FF2B5EF4-FFF2-40B4-BE49-F238E27FC236}">
                  <a16:creationId xmlns:a16="http://schemas.microsoft.com/office/drawing/2014/main" xmlns="" id="{E2133AAA-F115-D84C-A2BB-27266E35F2E4}"/>
                </a:ext>
              </a:extLst>
            </p:cNvPr>
            <p:cNvGrpSpPr>
              <a:grpSpLocks/>
            </p:cNvGrpSpPr>
            <p:nvPr/>
          </p:nvGrpSpPr>
          <p:grpSpPr bwMode="auto">
            <a:xfrm>
              <a:off x="4735" y="1627"/>
              <a:ext cx="582" cy="151"/>
              <a:chOff x="614" y="2568"/>
              <a:chExt cx="725" cy="139"/>
            </a:xfrm>
          </p:grpSpPr>
          <p:sp>
            <p:nvSpPr>
              <p:cNvPr id="446" name="AutoShape 143">
                <a:extLst>
                  <a:ext uri="{FF2B5EF4-FFF2-40B4-BE49-F238E27FC236}">
                    <a16:creationId xmlns:a16="http://schemas.microsoft.com/office/drawing/2014/main" xmlns="" id="{2E174869-B2BC-4A45-B3FD-9330A289DD4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7" name="AutoShape 144">
                <a:extLst>
                  <a:ext uri="{FF2B5EF4-FFF2-40B4-BE49-F238E27FC236}">
                    <a16:creationId xmlns:a16="http://schemas.microsoft.com/office/drawing/2014/main" xmlns="" id="{865B98B3-39D4-1340-8796-962A54421EB5}"/>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31" name="Freeform 145">
              <a:extLst>
                <a:ext uri="{FF2B5EF4-FFF2-40B4-BE49-F238E27FC236}">
                  <a16:creationId xmlns:a16="http://schemas.microsoft.com/office/drawing/2014/main" xmlns="" id="{519C0B54-898C-9845-915D-7A5F4E93D83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432" name="Group 146">
              <a:extLst>
                <a:ext uri="{FF2B5EF4-FFF2-40B4-BE49-F238E27FC236}">
                  <a16:creationId xmlns:a16="http://schemas.microsoft.com/office/drawing/2014/main" xmlns="" id="{8CDD4409-D107-D44E-A6F3-3F54C9F344EA}"/>
                </a:ext>
              </a:extLst>
            </p:cNvPr>
            <p:cNvGrpSpPr>
              <a:grpSpLocks/>
            </p:cNvGrpSpPr>
            <p:nvPr/>
          </p:nvGrpSpPr>
          <p:grpSpPr bwMode="auto">
            <a:xfrm>
              <a:off x="4739" y="1327"/>
              <a:ext cx="582" cy="139"/>
              <a:chOff x="614" y="2568"/>
              <a:chExt cx="725" cy="139"/>
            </a:xfrm>
          </p:grpSpPr>
          <p:sp>
            <p:nvSpPr>
              <p:cNvPr id="444" name="AutoShape 147">
                <a:extLst>
                  <a:ext uri="{FF2B5EF4-FFF2-40B4-BE49-F238E27FC236}">
                    <a16:creationId xmlns:a16="http://schemas.microsoft.com/office/drawing/2014/main" xmlns="" id="{55B72EBE-4A58-CF48-BD56-76B6F6022AB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5" name="AutoShape 148">
                <a:extLst>
                  <a:ext uri="{FF2B5EF4-FFF2-40B4-BE49-F238E27FC236}">
                    <a16:creationId xmlns:a16="http://schemas.microsoft.com/office/drawing/2014/main" xmlns="" id="{AEF43A66-7669-AC44-AF01-1D8B6CB77F41}"/>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433" name="Rectangle 149">
              <a:extLst>
                <a:ext uri="{FF2B5EF4-FFF2-40B4-BE49-F238E27FC236}">
                  <a16:creationId xmlns:a16="http://schemas.microsoft.com/office/drawing/2014/main" xmlns="" id="{48DA1B94-09C2-1840-B8EC-113BE8C83454}"/>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4" name="Freeform 150">
              <a:extLst>
                <a:ext uri="{FF2B5EF4-FFF2-40B4-BE49-F238E27FC236}">
                  <a16:creationId xmlns:a16="http://schemas.microsoft.com/office/drawing/2014/main" xmlns="" id="{E90CC519-FF6C-A642-B4B0-C0D5E7E7F8DF}"/>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35" name="Freeform 151">
              <a:extLst>
                <a:ext uri="{FF2B5EF4-FFF2-40B4-BE49-F238E27FC236}">
                  <a16:creationId xmlns:a16="http://schemas.microsoft.com/office/drawing/2014/main" xmlns="" id="{4FD498C9-45E2-9A44-833E-DF1718373526}"/>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36" name="Oval 152">
              <a:extLst>
                <a:ext uri="{FF2B5EF4-FFF2-40B4-BE49-F238E27FC236}">
                  <a16:creationId xmlns:a16="http://schemas.microsoft.com/office/drawing/2014/main" xmlns="" id="{094B9650-E8E9-8049-A250-639ED23B64E2}"/>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7" name="Freeform 153">
              <a:extLst>
                <a:ext uri="{FF2B5EF4-FFF2-40B4-BE49-F238E27FC236}">
                  <a16:creationId xmlns:a16="http://schemas.microsoft.com/office/drawing/2014/main" xmlns="" id="{CC772392-E262-1B4C-934A-C2274B74B3D1}"/>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38" name="AutoShape 154">
              <a:extLst>
                <a:ext uri="{FF2B5EF4-FFF2-40B4-BE49-F238E27FC236}">
                  <a16:creationId xmlns:a16="http://schemas.microsoft.com/office/drawing/2014/main" xmlns="" id="{A847FBEF-BCEF-144E-A9B4-6D4EC2B327A2}"/>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39" name="AutoShape 155">
              <a:extLst>
                <a:ext uri="{FF2B5EF4-FFF2-40B4-BE49-F238E27FC236}">
                  <a16:creationId xmlns:a16="http://schemas.microsoft.com/office/drawing/2014/main" xmlns="" id="{77E42DB7-A005-9743-82D9-584F8FF41393}"/>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0" name="Oval 156">
              <a:extLst>
                <a:ext uri="{FF2B5EF4-FFF2-40B4-BE49-F238E27FC236}">
                  <a16:creationId xmlns:a16="http://schemas.microsoft.com/office/drawing/2014/main" xmlns="" id="{727589AB-7983-4642-ABB0-1373C86DB54A}"/>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1" name="Oval 157">
              <a:extLst>
                <a:ext uri="{FF2B5EF4-FFF2-40B4-BE49-F238E27FC236}">
                  <a16:creationId xmlns:a16="http://schemas.microsoft.com/office/drawing/2014/main" xmlns="" id="{0E294EC3-D225-AC47-9069-5C4C2296B7DB}"/>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442" name="Oval 158">
              <a:extLst>
                <a:ext uri="{FF2B5EF4-FFF2-40B4-BE49-F238E27FC236}">
                  <a16:creationId xmlns:a16="http://schemas.microsoft.com/office/drawing/2014/main" xmlns="" id="{91CEEFA5-1DF7-3243-BA43-EEF99F148238}"/>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43" name="Rectangle 159">
              <a:extLst>
                <a:ext uri="{FF2B5EF4-FFF2-40B4-BE49-F238E27FC236}">
                  <a16:creationId xmlns:a16="http://schemas.microsoft.com/office/drawing/2014/main" xmlns="" id="{1F261A4A-7DA6-3F43-A166-B036ABB1FED2}"/>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57" name="Group 160">
            <a:extLst>
              <a:ext uri="{FF2B5EF4-FFF2-40B4-BE49-F238E27FC236}">
                <a16:creationId xmlns:a16="http://schemas.microsoft.com/office/drawing/2014/main" xmlns="" id="{FC5CD3E0-8F4C-A247-BF27-2828EA8EA48E}"/>
              </a:ext>
            </a:extLst>
          </p:cNvPr>
          <p:cNvGrpSpPr>
            <a:grpSpLocks/>
          </p:cNvGrpSpPr>
          <p:nvPr/>
        </p:nvGrpSpPr>
        <p:grpSpPr bwMode="auto">
          <a:xfrm>
            <a:off x="438973" y="4241457"/>
            <a:ext cx="484073" cy="426879"/>
            <a:chOff x="-44" y="1473"/>
            <a:chExt cx="981" cy="1105"/>
          </a:xfrm>
        </p:grpSpPr>
        <p:pic>
          <p:nvPicPr>
            <p:cNvPr id="418" name="Picture 161" descr="desktop_computer_stylized_medium">
              <a:extLst>
                <a:ext uri="{FF2B5EF4-FFF2-40B4-BE49-F238E27FC236}">
                  <a16:creationId xmlns:a16="http://schemas.microsoft.com/office/drawing/2014/main" xmlns="" id="{6E92F66C-6B76-EE47-BDD2-F1129D17EFE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 name="Freeform 162">
              <a:extLst>
                <a:ext uri="{FF2B5EF4-FFF2-40B4-BE49-F238E27FC236}">
                  <a16:creationId xmlns:a16="http://schemas.microsoft.com/office/drawing/2014/main" xmlns="" id="{6E619406-BD3D-804E-84E7-04C656A88C8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358" name="Group 163">
            <a:extLst>
              <a:ext uri="{FF2B5EF4-FFF2-40B4-BE49-F238E27FC236}">
                <a16:creationId xmlns:a16="http://schemas.microsoft.com/office/drawing/2014/main" xmlns="" id="{E1C5F9CD-6CD9-E043-8A6F-A2FE02A80733}"/>
              </a:ext>
            </a:extLst>
          </p:cNvPr>
          <p:cNvGrpSpPr>
            <a:grpSpLocks/>
          </p:cNvGrpSpPr>
          <p:nvPr/>
        </p:nvGrpSpPr>
        <p:grpSpPr bwMode="auto">
          <a:xfrm>
            <a:off x="5356478" y="4302645"/>
            <a:ext cx="213518" cy="433111"/>
            <a:chOff x="4140" y="429"/>
            <a:chExt cx="1425" cy="2396"/>
          </a:xfrm>
        </p:grpSpPr>
        <p:sp>
          <p:nvSpPr>
            <p:cNvPr id="386" name="Freeform 164">
              <a:extLst>
                <a:ext uri="{FF2B5EF4-FFF2-40B4-BE49-F238E27FC236}">
                  <a16:creationId xmlns:a16="http://schemas.microsoft.com/office/drawing/2014/main" xmlns="" id="{6CA1ADCB-BF30-864D-9F00-26EE89960734}"/>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7" name="Rectangle 165">
              <a:extLst>
                <a:ext uri="{FF2B5EF4-FFF2-40B4-BE49-F238E27FC236}">
                  <a16:creationId xmlns:a16="http://schemas.microsoft.com/office/drawing/2014/main" xmlns="" id="{84113A57-FEA3-A245-ADC3-1C98EE6B6040}"/>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8" name="Freeform 166">
              <a:extLst>
                <a:ext uri="{FF2B5EF4-FFF2-40B4-BE49-F238E27FC236}">
                  <a16:creationId xmlns:a16="http://schemas.microsoft.com/office/drawing/2014/main" xmlns="" id="{17DDF599-C8B9-ED49-A878-2E9E9C14F25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89" name="Freeform 167">
              <a:extLst>
                <a:ext uri="{FF2B5EF4-FFF2-40B4-BE49-F238E27FC236}">
                  <a16:creationId xmlns:a16="http://schemas.microsoft.com/office/drawing/2014/main" xmlns="" id="{D79F5A9D-B30C-E04E-814D-CEF62D45B0E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390" name="Rectangle 168">
              <a:extLst>
                <a:ext uri="{FF2B5EF4-FFF2-40B4-BE49-F238E27FC236}">
                  <a16:creationId xmlns:a16="http://schemas.microsoft.com/office/drawing/2014/main" xmlns="" id="{E4257EA1-363B-2845-8C9B-7FA15C50A60D}"/>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91" name="Group 169">
              <a:extLst>
                <a:ext uri="{FF2B5EF4-FFF2-40B4-BE49-F238E27FC236}">
                  <a16:creationId xmlns:a16="http://schemas.microsoft.com/office/drawing/2014/main" xmlns="" id="{5E2C0E7D-06A7-264F-887D-F219437D11A5}"/>
                </a:ext>
              </a:extLst>
            </p:cNvPr>
            <p:cNvGrpSpPr>
              <a:grpSpLocks/>
            </p:cNvGrpSpPr>
            <p:nvPr/>
          </p:nvGrpSpPr>
          <p:grpSpPr bwMode="auto">
            <a:xfrm>
              <a:off x="4749" y="668"/>
              <a:ext cx="581" cy="145"/>
              <a:chOff x="614" y="2568"/>
              <a:chExt cx="725" cy="139"/>
            </a:xfrm>
          </p:grpSpPr>
          <p:sp>
            <p:nvSpPr>
              <p:cNvPr id="416" name="AutoShape 170">
                <a:extLst>
                  <a:ext uri="{FF2B5EF4-FFF2-40B4-BE49-F238E27FC236}">
                    <a16:creationId xmlns:a16="http://schemas.microsoft.com/office/drawing/2014/main" xmlns="" id="{A967F0FF-1A5B-524B-93E6-F5241976BB9B}"/>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7" name="AutoShape 171">
                <a:extLst>
                  <a:ext uri="{FF2B5EF4-FFF2-40B4-BE49-F238E27FC236}">
                    <a16:creationId xmlns:a16="http://schemas.microsoft.com/office/drawing/2014/main" xmlns="" id="{47E42211-0EB4-8846-9356-8025F0B0AFDB}"/>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2" name="Rectangle 172">
              <a:extLst>
                <a:ext uri="{FF2B5EF4-FFF2-40B4-BE49-F238E27FC236}">
                  <a16:creationId xmlns:a16="http://schemas.microsoft.com/office/drawing/2014/main" xmlns="" id="{A253ECB5-E810-654A-8AEA-B06E7E8BD7F0}"/>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93" name="Group 173">
              <a:extLst>
                <a:ext uri="{FF2B5EF4-FFF2-40B4-BE49-F238E27FC236}">
                  <a16:creationId xmlns:a16="http://schemas.microsoft.com/office/drawing/2014/main" xmlns="" id="{8ABBF0A2-79C7-3843-AEF7-0B108A1A9DBD}"/>
                </a:ext>
              </a:extLst>
            </p:cNvPr>
            <p:cNvGrpSpPr>
              <a:grpSpLocks/>
            </p:cNvGrpSpPr>
            <p:nvPr/>
          </p:nvGrpSpPr>
          <p:grpSpPr bwMode="auto">
            <a:xfrm>
              <a:off x="4747" y="994"/>
              <a:ext cx="581" cy="134"/>
              <a:chOff x="614" y="2568"/>
              <a:chExt cx="725" cy="139"/>
            </a:xfrm>
          </p:grpSpPr>
          <p:sp>
            <p:nvSpPr>
              <p:cNvPr id="414" name="AutoShape 174">
                <a:extLst>
                  <a:ext uri="{FF2B5EF4-FFF2-40B4-BE49-F238E27FC236}">
                    <a16:creationId xmlns:a16="http://schemas.microsoft.com/office/drawing/2014/main" xmlns="" id="{0D6185E6-D51D-A544-8C9F-6CF31ACD0652}"/>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5" name="AutoShape 175">
                <a:extLst>
                  <a:ext uri="{FF2B5EF4-FFF2-40B4-BE49-F238E27FC236}">
                    <a16:creationId xmlns:a16="http://schemas.microsoft.com/office/drawing/2014/main" xmlns="" id="{45C49FBD-4799-3440-BE93-ED432BA55488}"/>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4" name="Rectangle 176">
              <a:extLst>
                <a:ext uri="{FF2B5EF4-FFF2-40B4-BE49-F238E27FC236}">
                  <a16:creationId xmlns:a16="http://schemas.microsoft.com/office/drawing/2014/main" xmlns="" id="{62DDF460-8AF3-FF41-B885-D46ADE63CCE7}"/>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95" name="Rectangle 177">
              <a:extLst>
                <a:ext uri="{FF2B5EF4-FFF2-40B4-BE49-F238E27FC236}">
                  <a16:creationId xmlns:a16="http://schemas.microsoft.com/office/drawing/2014/main" xmlns="" id="{C24947D6-AADC-9A47-95C8-7A2CCE910DBE}"/>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396" name="Group 178">
              <a:extLst>
                <a:ext uri="{FF2B5EF4-FFF2-40B4-BE49-F238E27FC236}">
                  <a16:creationId xmlns:a16="http://schemas.microsoft.com/office/drawing/2014/main" xmlns="" id="{51A2B0F1-DE5B-9C44-A881-C4B542B6B50A}"/>
                </a:ext>
              </a:extLst>
            </p:cNvPr>
            <p:cNvGrpSpPr>
              <a:grpSpLocks/>
            </p:cNvGrpSpPr>
            <p:nvPr/>
          </p:nvGrpSpPr>
          <p:grpSpPr bwMode="auto">
            <a:xfrm>
              <a:off x="4735" y="1627"/>
              <a:ext cx="582" cy="151"/>
              <a:chOff x="614" y="2568"/>
              <a:chExt cx="725" cy="139"/>
            </a:xfrm>
          </p:grpSpPr>
          <p:sp>
            <p:nvSpPr>
              <p:cNvPr id="412" name="AutoShape 179">
                <a:extLst>
                  <a:ext uri="{FF2B5EF4-FFF2-40B4-BE49-F238E27FC236}">
                    <a16:creationId xmlns:a16="http://schemas.microsoft.com/office/drawing/2014/main" xmlns="" id="{FF26D077-4EA3-2342-837F-8A5D5BE98408}"/>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3" name="AutoShape 180">
                <a:extLst>
                  <a:ext uri="{FF2B5EF4-FFF2-40B4-BE49-F238E27FC236}">
                    <a16:creationId xmlns:a16="http://schemas.microsoft.com/office/drawing/2014/main" xmlns="" id="{6938491D-ACC4-D247-A174-ED9E63955920}"/>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7" name="Freeform 181">
              <a:extLst>
                <a:ext uri="{FF2B5EF4-FFF2-40B4-BE49-F238E27FC236}">
                  <a16:creationId xmlns:a16="http://schemas.microsoft.com/office/drawing/2014/main" xmlns="" id="{8347DBD3-007C-5347-8074-BC4893481902}"/>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98" name="Group 182">
              <a:extLst>
                <a:ext uri="{FF2B5EF4-FFF2-40B4-BE49-F238E27FC236}">
                  <a16:creationId xmlns:a16="http://schemas.microsoft.com/office/drawing/2014/main" xmlns="" id="{97B09700-0634-FF4D-98CD-FC999C9A388E}"/>
                </a:ext>
              </a:extLst>
            </p:cNvPr>
            <p:cNvGrpSpPr>
              <a:grpSpLocks/>
            </p:cNvGrpSpPr>
            <p:nvPr/>
          </p:nvGrpSpPr>
          <p:grpSpPr bwMode="auto">
            <a:xfrm>
              <a:off x="4739" y="1327"/>
              <a:ext cx="582" cy="139"/>
              <a:chOff x="614" y="2568"/>
              <a:chExt cx="725" cy="139"/>
            </a:xfrm>
          </p:grpSpPr>
          <p:sp>
            <p:nvSpPr>
              <p:cNvPr id="410" name="AutoShape 183">
                <a:extLst>
                  <a:ext uri="{FF2B5EF4-FFF2-40B4-BE49-F238E27FC236}">
                    <a16:creationId xmlns:a16="http://schemas.microsoft.com/office/drawing/2014/main" xmlns="" id="{CAE14D82-2E48-404E-B50D-02636745A8F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11" name="AutoShape 184">
                <a:extLst>
                  <a:ext uri="{FF2B5EF4-FFF2-40B4-BE49-F238E27FC236}">
                    <a16:creationId xmlns:a16="http://schemas.microsoft.com/office/drawing/2014/main" xmlns="" id="{51BBC259-2416-1447-ADC8-FFADEB6DBB8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99" name="Rectangle 185">
              <a:extLst>
                <a:ext uri="{FF2B5EF4-FFF2-40B4-BE49-F238E27FC236}">
                  <a16:creationId xmlns:a16="http://schemas.microsoft.com/office/drawing/2014/main" xmlns="" id="{1064C0C2-840D-B947-9570-7D79A80EF584}"/>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0" name="Freeform 186">
              <a:extLst>
                <a:ext uri="{FF2B5EF4-FFF2-40B4-BE49-F238E27FC236}">
                  <a16:creationId xmlns:a16="http://schemas.microsoft.com/office/drawing/2014/main" xmlns="" id="{B6468F87-96EF-784A-B97A-D7EA2DEA79D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1" name="Freeform 187">
              <a:extLst>
                <a:ext uri="{FF2B5EF4-FFF2-40B4-BE49-F238E27FC236}">
                  <a16:creationId xmlns:a16="http://schemas.microsoft.com/office/drawing/2014/main" xmlns="" id="{F24072E3-E21E-3D47-83FF-6B5B3B03683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2" name="Oval 188">
              <a:extLst>
                <a:ext uri="{FF2B5EF4-FFF2-40B4-BE49-F238E27FC236}">
                  <a16:creationId xmlns:a16="http://schemas.microsoft.com/office/drawing/2014/main" xmlns="" id="{C2FDEF67-F14F-2A4C-A3BF-0529D843B8F4}"/>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3" name="Freeform 189">
              <a:extLst>
                <a:ext uri="{FF2B5EF4-FFF2-40B4-BE49-F238E27FC236}">
                  <a16:creationId xmlns:a16="http://schemas.microsoft.com/office/drawing/2014/main" xmlns="" id="{E396FECC-6A5D-DA40-A4D0-B93DFA225851}"/>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404" name="AutoShape 190">
              <a:extLst>
                <a:ext uri="{FF2B5EF4-FFF2-40B4-BE49-F238E27FC236}">
                  <a16:creationId xmlns:a16="http://schemas.microsoft.com/office/drawing/2014/main" xmlns="" id="{AF73C4B3-874F-8945-8C8A-3D07D6B2FDB1}"/>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5" name="AutoShape 191">
              <a:extLst>
                <a:ext uri="{FF2B5EF4-FFF2-40B4-BE49-F238E27FC236}">
                  <a16:creationId xmlns:a16="http://schemas.microsoft.com/office/drawing/2014/main" xmlns="" id="{7B3616E9-0E1D-0F4A-B64E-333A0E782AEB}"/>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6" name="Oval 192">
              <a:extLst>
                <a:ext uri="{FF2B5EF4-FFF2-40B4-BE49-F238E27FC236}">
                  <a16:creationId xmlns:a16="http://schemas.microsoft.com/office/drawing/2014/main" xmlns="" id="{B6D080BF-90A6-B144-BB0F-B017C8FC32D0}"/>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7" name="Oval 193">
              <a:extLst>
                <a:ext uri="{FF2B5EF4-FFF2-40B4-BE49-F238E27FC236}">
                  <a16:creationId xmlns:a16="http://schemas.microsoft.com/office/drawing/2014/main" xmlns="" id="{476EDDEF-CE6F-4042-81DC-768C18CD64B1}"/>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408" name="Oval 194">
              <a:extLst>
                <a:ext uri="{FF2B5EF4-FFF2-40B4-BE49-F238E27FC236}">
                  <a16:creationId xmlns:a16="http://schemas.microsoft.com/office/drawing/2014/main" xmlns="" id="{D38E2869-2274-384D-8E48-0AED4D69634B}"/>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09" name="Rectangle 195">
              <a:extLst>
                <a:ext uri="{FF2B5EF4-FFF2-40B4-BE49-F238E27FC236}">
                  <a16:creationId xmlns:a16="http://schemas.microsoft.com/office/drawing/2014/main" xmlns="" id="{E207AF41-FA65-C248-905D-7770F218B047}"/>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359" name="Line 57">
            <a:extLst>
              <a:ext uri="{FF2B5EF4-FFF2-40B4-BE49-F238E27FC236}">
                <a16:creationId xmlns:a16="http://schemas.microsoft.com/office/drawing/2014/main" xmlns="" id="{63DE0F1D-A9CF-3B47-9DBF-096FE0F6708D}"/>
              </a:ext>
            </a:extLst>
          </p:cNvPr>
          <p:cNvSpPr>
            <a:spLocks noChangeShapeType="1"/>
          </p:cNvSpPr>
          <p:nvPr/>
        </p:nvSpPr>
        <p:spPr bwMode="auto">
          <a:xfrm flipH="1">
            <a:off x="3866527" y="4491277"/>
            <a:ext cx="7574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60" name="Line 57">
            <a:extLst>
              <a:ext uri="{FF2B5EF4-FFF2-40B4-BE49-F238E27FC236}">
                <a16:creationId xmlns:a16="http://schemas.microsoft.com/office/drawing/2014/main" xmlns="" id="{46D01C7A-CEF1-E346-AF5D-2CCF20987B53}"/>
              </a:ext>
            </a:extLst>
          </p:cNvPr>
          <p:cNvSpPr>
            <a:spLocks noChangeShapeType="1"/>
          </p:cNvSpPr>
          <p:nvPr/>
        </p:nvSpPr>
        <p:spPr bwMode="auto">
          <a:xfrm flipH="1">
            <a:off x="2250897" y="3639916"/>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61" name="Line 57">
            <a:extLst>
              <a:ext uri="{FF2B5EF4-FFF2-40B4-BE49-F238E27FC236}">
                <a16:creationId xmlns:a16="http://schemas.microsoft.com/office/drawing/2014/main" xmlns="" id="{FC5AF6D5-FBFA-504B-A634-B5D18FA55859}"/>
              </a:ext>
            </a:extLst>
          </p:cNvPr>
          <p:cNvSpPr>
            <a:spLocks noChangeShapeType="1"/>
          </p:cNvSpPr>
          <p:nvPr/>
        </p:nvSpPr>
        <p:spPr bwMode="auto">
          <a:xfrm flipH="1">
            <a:off x="1402043" y="4493579"/>
            <a:ext cx="405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62" name="Group 361">
            <a:extLst>
              <a:ext uri="{FF2B5EF4-FFF2-40B4-BE49-F238E27FC236}">
                <a16:creationId xmlns:a16="http://schemas.microsoft.com/office/drawing/2014/main" xmlns="" id="{A8476EBE-514C-F24A-9934-50A3E251CCB0}"/>
              </a:ext>
            </a:extLst>
          </p:cNvPr>
          <p:cNvGrpSpPr/>
          <p:nvPr/>
        </p:nvGrpSpPr>
        <p:grpSpPr>
          <a:xfrm>
            <a:off x="2061817" y="2570560"/>
            <a:ext cx="2138708" cy="709613"/>
            <a:chOff x="2749090" y="3427413"/>
            <a:chExt cx="2851610" cy="946150"/>
          </a:xfrm>
        </p:grpSpPr>
        <p:sp>
          <p:nvSpPr>
            <p:cNvPr id="379" name="Text Box 68">
              <a:extLst>
                <a:ext uri="{FF2B5EF4-FFF2-40B4-BE49-F238E27FC236}">
                  <a16:creationId xmlns:a16="http://schemas.microsoft.com/office/drawing/2014/main" xmlns="" id="{8AF39E71-B088-4C43-899B-2F5F1867554D}"/>
                </a:ext>
              </a:extLst>
            </p:cNvPr>
            <p:cNvSpPr txBox="1">
              <a:spLocks noChangeArrowheads="1"/>
            </p:cNvSpPr>
            <p:nvPr/>
          </p:nvSpPr>
          <p:spPr bwMode="auto">
            <a:xfrm>
              <a:off x="3368675" y="3427413"/>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original data</a:t>
              </a:r>
              <a:endParaRPr lang="en-US" altLang="en-US" sz="1200" kern="1200" dirty="0">
                <a:solidFill>
                  <a:srgbClr val="C00000"/>
                </a:solidFill>
                <a:latin typeface="Comic Sans MS" panose="030F0902030302020204" pitchFamily="66" charset="0"/>
                <a:cs typeface="+mn-cs"/>
              </a:endParaRPr>
            </a:p>
          </p:txBody>
        </p:sp>
        <p:sp>
          <p:nvSpPr>
            <p:cNvPr id="380" name="Oval 217">
              <a:extLst>
                <a:ext uri="{FF2B5EF4-FFF2-40B4-BE49-F238E27FC236}">
                  <a16:creationId xmlns:a16="http://schemas.microsoft.com/office/drawing/2014/main" xmlns="" id="{11DE1202-9705-C244-9A3F-E44B4A0C0C53}"/>
                </a:ext>
              </a:extLst>
            </p:cNvPr>
            <p:cNvSpPr>
              <a:spLocks noChangeArrowheads="1"/>
            </p:cNvSpPr>
            <p:nvPr/>
          </p:nvSpPr>
          <p:spPr bwMode="auto">
            <a:xfrm>
              <a:off x="2749090" y="3616325"/>
              <a:ext cx="112712" cy="11588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81" name="Line 229">
              <a:extLst>
                <a:ext uri="{FF2B5EF4-FFF2-40B4-BE49-F238E27FC236}">
                  <a16:creationId xmlns:a16="http://schemas.microsoft.com/office/drawing/2014/main" xmlns="" id="{429846E6-D021-D048-B531-E1D9B4772D1D}"/>
                </a:ext>
              </a:extLst>
            </p:cNvPr>
            <p:cNvSpPr>
              <a:spLocks noChangeShapeType="1"/>
            </p:cNvSpPr>
            <p:nvPr/>
          </p:nvSpPr>
          <p:spPr bwMode="auto">
            <a:xfrm>
              <a:off x="4845050" y="3995738"/>
              <a:ext cx="339725"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382" name="Oval 232">
              <a:extLst>
                <a:ext uri="{FF2B5EF4-FFF2-40B4-BE49-F238E27FC236}">
                  <a16:creationId xmlns:a16="http://schemas.microsoft.com/office/drawing/2014/main" xmlns="" id="{C1A4B9C1-E455-364D-9F70-13A0F3F4D365}"/>
                </a:ext>
              </a:extLst>
            </p:cNvPr>
            <p:cNvSpPr>
              <a:spLocks noChangeArrowheads="1"/>
            </p:cNvSpPr>
            <p:nvPr/>
          </p:nvSpPr>
          <p:spPr bwMode="auto">
            <a:xfrm>
              <a:off x="2749606" y="3849688"/>
              <a:ext cx="112712" cy="115887"/>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83" name="Text Box 233">
              <a:extLst>
                <a:ext uri="{FF2B5EF4-FFF2-40B4-BE49-F238E27FC236}">
                  <a16:creationId xmlns:a16="http://schemas.microsoft.com/office/drawing/2014/main" xmlns="" id="{580E2367-A745-E345-BB8F-41D6212780AD}"/>
                </a:ext>
              </a:extLst>
            </p:cNvPr>
            <p:cNvSpPr txBox="1">
              <a:spLocks noChangeArrowheads="1"/>
            </p:cNvSpPr>
            <p:nvPr/>
          </p:nvSpPr>
          <p:spPr bwMode="auto">
            <a:xfrm>
              <a:off x="3251200" y="3756025"/>
              <a:ext cx="2349500"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original data, </a:t>
              </a:r>
              <a:r>
                <a:rPr lang="en-US" altLang="en-US" sz="1200" i="1" kern="1200" dirty="0">
                  <a:solidFill>
                    <a:srgbClr val="C00000"/>
                  </a:solidFill>
                  <a:latin typeface="Arial" panose="020B0604020202020204" pitchFamily="34" charset="0"/>
                  <a:cs typeface="+mn-cs"/>
                </a:rPr>
                <a:t>plus</a:t>
              </a:r>
              <a:r>
                <a:rPr lang="en-US" altLang="en-US" sz="1200" kern="1200" dirty="0">
                  <a:solidFill>
                    <a:srgbClr val="C00000"/>
                  </a:solidFill>
                  <a:latin typeface="Arial" panose="020B0604020202020204" pitchFamily="34" charset="0"/>
                  <a:cs typeface="+mn-cs"/>
                </a:rPr>
                <a:t> retransmitted data</a:t>
              </a:r>
              <a:endParaRPr lang="en-US" altLang="en-US" sz="1200" kern="1200" dirty="0">
                <a:solidFill>
                  <a:srgbClr val="C00000"/>
                </a:solidFill>
                <a:latin typeface="Comic Sans MS" panose="030F0902030302020204" pitchFamily="66" charset="0"/>
                <a:cs typeface="+mn-cs"/>
              </a:endParaRPr>
            </a:p>
          </p:txBody>
        </p:sp>
        <p:sp>
          <p:nvSpPr>
            <p:cNvPr id="384" name="Line 234">
              <a:extLst>
                <a:ext uri="{FF2B5EF4-FFF2-40B4-BE49-F238E27FC236}">
                  <a16:creationId xmlns:a16="http://schemas.microsoft.com/office/drawing/2014/main" xmlns="" id="{461900DA-408C-DE4C-AE3A-7C59E17053E7}"/>
                </a:ext>
              </a:extLst>
            </p:cNvPr>
            <p:cNvSpPr>
              <a:spLocks noChangeShapeType="1"/>
            </p:cNvSpPr>
            <p:nvPr/>
          </p:nvSpPr>
          <p:spPr bwMode="auto">
            <a:xfrm>
              <a:off x="2909888" y="3916363"/>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385" name="Line 235">
              <a:extLst>
                <a:ext uri="{FF2B5EF4-FFF2-40B4-BE49-F238E27FC236}">
                  <a16:creationId xmlns:a16="http://schemas.microsoft.com/office/drawing/2014/main" xmlns="" id="{9AE41AE9-2E2C-A94C-8563-FA0EF6DB2493}"/>
                </a:ext>
              </a:extLst>
            </p:cNvPr>
            <p:cNvSpPr>
              <a:spLocks noChangeShapeType="1"/>
            </p:cNvSpPr>
            <p:nvPr/>
          </p:nvSpPr>
          <p:spPr bwMode="auto">
            <a:xfrm>
              <a:off x="2905125" y="3683000"/>
              <a:ext cx="514350" cy="0"/>
            </a:xfrm>
            <a:prstGeom prst="line">
              <a:avLst/>
            </a:prstGeom>
            <a:noFill/>
            <a:ln w="12700">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63" name="Group 362">
            <a:extLst>
              <a:ext uri="{FF2B5EF4-FFF2-40B4-BE49-F238E27FC236}">
                <a16:creationId xmlns:a16="http://schemas.microsoft.com/office/drawing/2014/main" xmlns="" id="{EF024339-16A9-2940-84AC-8D5FD6D530DC}"/>
              </a:ext>
            </a:extLst>
          </p:cNvPr>
          <p:cNvGrpSpPr/>
          <p:nvPr/>
        </p:nvGrpSpPr>
        <p:grpSpPr>
          <a:xfrm>
            <a:off x="2185117" y="3914215"/>
            <a:ext cx="1454048" cy="975136"/>
            <a:chOff x="2913490" y="5218953"/>
            <a:chExt cx="1938730" cy="1300181"/>
          </a:xfrm>
        </p:grpSpPr>
        <p:sp>
          <p:nvSpPr>
            <p:cNvPr id="368" name="Text Box 32">
              <a:extLst>
                <a:ext uri="{FF2B5EF4-FFF2-40B4-BE49-F238E27FC236}">
                  <a16:creationId xmlns:a16="http://schemas.microsoft.com/office/drawing/2014/main" xmlns="" id="{5AAD3E18-5D61-9A4F-A8C6-DA15D5F6E8C8}"/>
                </a:ext>
              </a:extLst>
            </p:cNvPr>
            <p:cNvSpPr txBox="1">
              <a:spLocks noChangeArrowheads="1"/>
            </p:cNvSpPr>
            <p:nvPr/>
          </p:nvSpPr>
          <p:spPr bwMode="auto">
            <a:xfrm>
              <a:off x="2913490" y="6001893"/>
              <a:ext cx="1749096" cy="517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spcBef>
                  <a:spcPct val="0"/>
                </a:spcBef>
                <a:spcAft>
                  <a:spcPct val="0"/>
                </a:spcAft>
                <a:defRPr/>
              </a:pPr>
              <a:r>
                <a:rPr lang="en-US" altLang="en-US" sz="1200" b="1" i="1" kern="1200" dirty="0">
                  <a:solidFill>
                    <a:srgbClr val="C00000"/>
                  </a:solidFill>
                  <a:latin typeface="Arial" panose="020B0604020202020204" pitchFamily="34" charset="0"/>
                  <a:cs typeface="+mn-cs"/>
                </a:rPr>
                <a:t>finite</a:t>
              </a:r>
              <a:r>
                <a:rPr lang="en-US" altLang="en-US" sz="900" kern="1200" dirty="0">
                  <a:solidFill>
                    <a:srgbClr val="000000"/>
                  </a:solidFill>
                  <a:latin typeface="Arial" panose="020B0604020202020204" pitchFamily="34" charset="0"/>
                  <a:cs typeface="+mn-cs"/>
                </a:rPr>
                <a:t> shared output link buffers</a:t>
              </a:r>
            </a:p>
          </p:txBody>
        </p:sp>
        <p:sp>
          <p:nvSpPr>
            <p:cNvPr id="369" name="Line 77">
              <a:extLst>
                <a:ext uri="{FF2B5EF4-FFF2-40B4-BE49-F238E27FC236}">
                  <a16:creationId xmlns:a16="http://schemas.microsoft.com/office/drawing/2014/main" xmlns="" id="{9C4905E3-CC67-3F4F-9F6E-3576D662FE1F}"/>
                </a:ext>
              </a:extLst>
            </p:cNvPr>
            <p:cNvSpPr>
              <a:spLocks noChangeShapeType="1"/>
            </p:cNvSpPr>
            <p:nvPr/>
          </p:nvSpPr>
          <p:spPr bwMode="auto">
            <a:xfrm flipH="1">
              <a:off x="4292190" y="5608320"/>
              <a:ext cx="295050" cy="508454"/>
            </a:xfrm>
            <a:prstGeom prst="line">
              <a:avLst/>
            </a:prstGeom>
            <a:noFill/>
            <a:ln w="9525">
              <a:solidFill>
                <a:srgbClr val="000000"/>
              </a:solidFill>
              <a:round/>
              <a:headEnd/>
              <a:tailEnd type="non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70" name="Group 369">
              <a:extLst>
                <a:ext uri="{FF2B5EF4-FFF2-40B4-BE49-F238E27FC236}">
                  <a16:creationId xmlns:a16="http://schemas.microsoft.com/office/drawing/2014/main" xmlns="" id="{642EEE98-D955-2645-BCEA-6CFA28F8CF58}"/>
                </a:ext>
              </a:extLst>
            </p:cNvPr>
            <p:cNvGrpSpPr/>
            <p:nvPr/>
          </p:nvGrpSpPr>
          <p:grpSpPr>
            <a:xfrm>
              <a:off x="4030362" y="5218953"/>
              <a:ext cx="821858" cy="355937"/>
              <a:chOff x="6859123" y="5156933"/>
              <a:chExt cx="456701" cy="226548"/>
            </a:xfrm>
          </p:grpSpPr>
          <p:sp>
            <p:nvSpPr>
              <p:cNvPr id="371" name="Rectangle 370">
                <a:extLst>
                  <a:ext uri="{FF2B5EF4-FFF2-40B4-BE49-F238E27FC236}">
                    <a16:creationId xmlns:a16="http://schemas.microsoft.com/office/drawing/2014/main" xmlns="" id="{BF29C153-2860-A047-B353-EB834110B516}"/>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72" name="Straight Connector 371">
                <a:extLst>
                  <a:ext uri="{FF2B5EF4-FFF2-40B4-BE49-F238E27FC236}">
                    <a16:creationId xmlns:a16="http://schemas.microsoft.com/office/drawing/2014/main" xmlns="" id="{0F94F15C-CB01-2343-8BA9-D6A7A5F3E921}"/>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xmlns="" id="{13BCDCB2-682E-8A47-B5AA-751DCC383167}"/>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xmlns="" id="{4EC6D7F8-6E55-114F-BBD8-DF2048FBDBD4}"/>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xmlns="" id="{0DA34588-6E4E-E843-9815-D17EF78C07C8}"/>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xmlns="" id="{EDC81EAA-11E7-204C-B32D-EF46B8EA047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xmlns="" id="{BB2D8E63-0217-464C-AF6F-C583D47A94FB}"/>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xmlns="" id="{1DC8A4E4-9140-9846-AE4D-F6F7180594C0}"/>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364" name="Freeform 91">
            <a:extLst>
              <a:ext uri="{FF2B5EF4-FFF2-40B4-BE49-F238E27FC236}">
                <a16:creationId xmlns:a16="http://schemas.microsoft.com/office/drawing/2014/main" xmlns="" id="{6A998D77-E674-4C42-8116-BFA762D73522}"/>
              </a:ext>
            </a:extLst>
          </p:cNvPr>
          <p:cNvSpPr>
            <a:spLocks/>
          </p:cNvSpPr>
          <p:nvPr/>
        </p:nvSpPr>
        <p:spPr bwMode="auto">
          <a:xfrm>
            <a:off x="2102515" y="2744691"/>
            <a:ext cx="3158903" cy="1252595"/>
          </a:xfrm>
          <a:custGeom>
            <a:avLst/>
            <a:gdLst>
              <a:gd name="T0" fmla="*/ 0 w 2160"/>
              <a:gd name="T1" fmla="*/ 0 h 804"/>
              <a:gd name="T2" fmla="*/ 0 w 2160"/>
              <a:gd name="T3" fmla="*/ 2147483647 h 804"/>
              <a:gd name="T4" fmla="*/ 2147483647 w 2160"/>
              <a:gd name="T5" fmla="*/ 2147483647 h 804"/>
              <a:gd name="T6" fmla="*/ 2147483647 w 2160"/>
              <a:gd name="T7" fmla="*/ 2147483647 h 804"/>
              <a:gd name="T8" fmla="*/ 2147483647 w 2160"/>
              <a:gd name="T9" fmla="*/ 2147483647 h 804"/>
              <a:gd name="T10" fmla="*/ 2147483647 w 2160"/>
              <a:gd name="T11" fmla="*/ 2147483647 h 804"/>
              <a:gd name="T12" fmla="*/ 2147483647 w 2160"/>
              <a:gd name="T13" fmla="*/ 2147483647 h 804"/>
              <a:gd name="T14" fmla="*/ 2147483647 w 2160"/>
              <a:gd name="T15" fmla="*/ 2147483647 h 8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 h="804">
                <a:moveTo>
                  <a:pt x="0" y="0"/>
                </a:moveTo>
                <a:lnTo>
                  <a:pt x="0" y="594"/>
                </a:lnTo>
                <a:lnTo>
                  <a:pt x="402" y="600"/>
                </a:lnTo>
                <a:lnTo>
                  <a:pt x="216" y="804"/>
                </a:lnTo>
                <a:lnTo>
                  <a:pt x="1446" y="804"/>
                </a:lnTo>
                <a:lnTo>
                  <a:pt x="1770" y="524"/>
                </a:lnTo>
                <a:lnTo>
                  <a:pt x="2160" y="516"/>
                </a:lnTo>
                <a:lnTo>
                  <a:pt x="2160" y="48"/>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65" name="Group 364">
            <a:extLst>
              <a:ext uri="{FF2B5EF4-FFF2-40B4-BE49-F238E27FC236}">
                <a16:creationId xmlns:a16="http://schemas.microsoft.com/office/drawing/2014/main" xmlns="" id="{7181676C-F21F-FA45-B687-4F604B6D6AB0}"/>
              </a:ext>
            </a:extLst>
          </p:cNvPr>
          <p:cNvGrpSpPr/>
          <p:nvPr/>
        </p:nvGrpSpPr>
        <p:grpSpPr>
          <a:xfrm>
            <a:off x="1189944" y="3557943"/>
            <a:ext cx="3685387" cy="1009554"/>
            <a:chOff x="5641439" y="2685215"/>
            <a:chExt cx="4000500" cy="1028700"/>
          </a:xfrm>
        </p:grpSpPr>
        <p:sp>
          <p:nvSpPr>
            <p:cNvPr id="366" name="Oval 73">
              <a:extLst>
                <a:ext uri="{FF2B5EF4-FFF2-40B4-BE49-F238E27FC236}">
                  <a16:creationId xmlns:a16="http://schemas.microsoft.com/office/drawing/2014/main" xmlns="" id="{35053334-4D7F-4847-80B3-6F40D7B23AB8}"/>
                </a:ext>
              </a:extLst>
            </p:cNvPr>
            <p:cNvSpPr>
              <a:spLocks noChangeArrowheads="1"/>
            </p:cNvSpPr>
            <p:nvPr/>
          </p:nvSpPr>
          <p:spPr bwMode="auto">
            <a:xfrm>
              <a:off x="5641439" y="2685215"/>
              <a:ext cx="92075" cy="90487"/>
            </a:xfrm>
            <a:prstGeom prst="ellipse">
              <a:avLst/>
            </a:prstGeom>
            <a:solidFill>
              <a:srgbClr val="0013A3"/>
            </a:solidFill>
            <a:ln w="9525">
              <a:solidFill>
                <a:srgbClr val="0013A3"/>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367" name="Freeform 90">
              <a:extLst>
                <a:ext uri="{FF2B5EF4-FFF2-40B4-BE49-F238E27FC236}">
                  <a16:creationId xmlns:a16="http://schemas.microsoft.com/office/drawing/2014/main" xmlns="" id="{95104C9F-4620-634A-B9AC-1FD27521ED0A}"/>
                </a:ext>
              </a:extLst>
            </p:cNvPr>
            <p:cNvSpPr>
              <a:spLocks/>
            </p:cNvSpPr>
            <p:nvPr/>
          </p:nvSpPr>
          <p:spPr bwMode="auto">
            <a:xfrm>
              <a:off x="5689064" y="2761415"/>
              <a:ext cx="3952875" cy="952500"/>
            </a:xfrm>
            <a:custGeom>
              <a:avLst/>
              <a:gdLst>
                <a:gd name="T0" fmla="*/ 0 w 6225"/>
                <a:gd name="T1" fmla="*/ 0 h 1501"/>
                <a:gd name="T2" fmla="*/ 0 w 6225"/>
                <a:gd name="T3" fmla="*/ 2147483647 h 1501"/>
                <a:gd name="T4" fmla="*/ 2147483647 w 6225"/>
                <a:gd name="T5" fmla="*/ 2147483647 h 1501"/>
                <a:gd name="T6" fmla="*/ 2147483647 w 6225"/>
                <a:gd name="T7" fmla="*/ 2147483647 h 1501"/>
                <a:gd name="T8" fmla="*/ 2147483647 w 6225"/>
                <a:gd name="T9" fmla="*/ 2147483647 h 1501"/>
                <a:gd name="T10" fmla="*/ 2147483647 w 6225"/>
                <a:gd name="T11" fmla="*/ 2147483647 h 1501"/>
                <a:gd name="T12" fmla="*/ 2147483647 w 6225"/>
                <a:gd name="T13" fmla="*/ 2147483647 h 1501"/>
                <a:gd name="T14" fmla="*/ 2147483647 w 6225"/>
                <a:gd name="T15" fmla="*/ 2147483647 h 150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0013A3"/>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482" name="Group 481">
            <a:extLst>
              <a:ext uri="{FF2B5EF4-FFF2-40B4-BE49-F238E27FC236}">
                <a16:creationId xmlns:a16="http://schemas.microsoft.com/office/drawing/2014/main" xmlns="" id="{5013778A-FC3E-6147-B237-2E421A578596}"/>
              </a:ext>
            </a:extLst>
          </p:cNvPr>
          <p:cNvGrpSpPr/>
          <p:nvPr/>
        </p:nvGrpSpPr>
        <p:grpSpPr>
          <a:xfrm>
            <a:off x="2421069" y="4002586"/>
            <a:ext cx="1639465" cy="380565"/>
            <a:chOff x="3228093" y="5336775"/>
            <a:chExt cx="2185953" cy="507419"/>
          </a:xfrm>
        </p:grpSpPr>
        <p:sp>
          <p:nvSpPr>
            <p:cNvPr id="483" name="TextBox 482">
              <a:extLst>
                <a:ext uri="{FF2B5EF4-FFF2-40B4-BE49-F238E27FC236}">
                  <a16:creationId xmlns:a16="http://schemas.microsoft.com/office/drawing/2014/main" xmlns="" id="{79802D0E-17EA-E149-8E57-45B459B30699}"/>
                </a:ext>
              </a:extLst>
            </p:cNvPr>
            <p:cNvSpPr txBox="1"/>
            <p:nvPr/>
          </p:nvSpPr>
          <p:spPr>
            <a:xfrm>
              <a:off x="5001111" y="5336775"/>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sp>
          <p:nvSpPr>
            <p:cNvPr id="484" name="TextBox 483">
              <a:extLst>
                <a:ext uri="{FF2B5EF4-FFF2-40B4-BE49-F238E27FC236}">
                  <a16:creationId xmlns:a16="http://schemas.microsoft.com/office/drawing/2014/main" xmlns="" id="{18161CA6-5140-A442-9496-A8022DF846CA}"/>
                </a:ext>
              </a:extLst>
            </p:cNvPr>
            <p:cNvSpPr txBox="1"/>
            <p:nvPr/>
          </p:nvSpPr>
          <p:spPr>
            <a:xfrm>
              <a:off x="3228093" y="5351752"/>
              <a:ext cx="412935" cy="492442"/>
            </a:xfrm>
            <a:prstGeom prst="rect">
              <a:avLst/>
            </a:prstGeom>
            <a:noFill/>
          </p:spPr>
          <p:txBody>
            <a:bodyPr wrap="none" rtlCol="0">
              <a:spAutoFit/>
            </a:bodyPr>
            <a:lstStyle/>
            <a:p>
              <a:pPr algn="r" defTabSz="685800" rtl="0">
                <a:defRPr/>
              </a:pPr>
              <a:r>
                <a:rPr lang="en-US" kern="1200" dirty="0">
                  <a:solidFill>
                    <a:prstClr val="black"/>
                  </a:solidFill>
                  <a:latin typeface="Calibri"/>
                  <a:ea typeface="+mn-ea"/>
                  <a:cs typeface="+mn-cs"/>
                </a:rPr>
                <a:t>R</a:t>
              </a:r>
            </a:p>
          </p:txBody>
        </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49891"/>
            <a:ext cx="8545512" cy="669925"/>
          </a:xfrm>
        </p:spPr>
        <p:txBody>
          <a:bodyPr>
            <a:normAutofit/>
          </a:bodyPr>
          <a:lstStyle/>
          <a:p>
            <a:r>
              <a:rPr lang="en-US" sz="4000" b="1" dirty="0"/>
              <a:t>Causes/costs of congestion: scenario 2</a:t>
            </a:r>
          </a:p>
        </p:txBody>
      </p:sp>
      <p:sp>
        <p:nvSpPr>
          <p:cNvPr id="179" name="Line 17">
            <a:extLst>
              <a:ext uri="{FF2B5EF4-FFF2-40B4-BE49-F238E27FC236}">
                <a16:creationId xmlns:a16="http://schemas.microsoft.com/office/drawing/2014/main" xmlns="" id="{D36515D0-132A-8F4C-B7B9-1155DF48878C}"/>
              </a:ext>
            </a:extLst>
          </p:cNvPr>
          <p:cNvSpPr>
            <a:spLocks noChangeShapeType="1"/>
          </p:cNvSpPr>
          <p:nvPr/>
        </p:nvSpPr>
        <p:spPr bwMode="auto">
          <a:xfrm flipH="1">
            <a:off x="2265760" y="3658792"/>
            <a:ext cx="403622" cy="11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16" name="Oval 215">
            <a:extLst>
              <a:ext uri="{FF2B5EF4-FFF2-40B4-BE49-F238E27FC236}">
                <a16:creationId xmlns:a16="http://schemas.microsoft.com/office/drawing/2014/main" xmlns="" id="{1C4268F0-E551-D24B-9519-6A260937A6C3}"/>
              </a:ext>
            </a:extLst>
          </p:cNvPr>
          <p:cNvSpPr>
            <a:spLocks noChangeArrowheads="1"/>
          </p:cNvSpPr>
          <p:nvPr/>
        </p:nvSpPr>
        <p:spPr bwMode="auto">
          <a:xfrm>
            <a:off x="2072879" y="2728913"/>
            <a:ext cx="84534" cy="86916"/>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29" name="Freeform 228">
            <a:extLst>
              <a:ext uri="{FF2B5EF4-FFF2-40B4-BE49-F238E27FC236}">
                <a16:creationId xmlns:a16="http://schemas.microsoft.com/office/drawing/2014/main" xmlns="" id="{63D52C34-ADA8-824F-BFD8-D4746FEC885A}"/>
              </a:ext>
            </a:extLst>
          </p:cNvPr>
          <p:cNvSpPr>
            <a:spLocks/>
          </p:cNvSpPr>
          <p:nvPr/>
        </p:nvSpPr>
        <p:spPr bwMode="auto">
          <a:xfrm>
            <a:off x="2116931" y="2774156"/>
            <a:ext cx="3157538" cy="1234679"/>
          </a:xfrm>
          <a:custGeom>
            <a:avLst/>
            <a:gdLst>
              <a:gd name="T0" fmla="*/ 0 w 5400"/>
              <a:gd name="T1" fmla="*/ 0 h 2010"/>
              <a:gd name="T2" fmla="*/ 0 w 5400"/>
              <a:gd name="T3" fmla="*/ 2147483647 h 2010"/>
              <a:gd name="T4" fmla="*/ 2147483647 w 5400"/>
              <a:gd name="T5" fmla="*/ 2147483647 h 2010"/>
              <a:gd name="T6" fmla="*/ 2147483647 w 5400"/>
              <a:gd name="T7" fmla="*/ 2147483647 h 2010"/>
              <a:gd name="T8" fmla="*/ 2147483647 w 5400"/>
              <a:gd name="T9" fmla="*/ 2147483647 h 2010"/>
              <a:gd name="T10" fmla="*/ 2147483647 w 5400"/>
              <a:gd name="T11" fmla="*/ 2147483647 h 2010"/>
              <a:gd name="T12" fmla="*/ 2147483647 w 5400"/>
              <a:gd name="T13" fmla="*/ 2147483647 h 2010"/>
              <a:gd name="T14" fmla="*/ 2147483647 w 5400"/>
              <a:gd name="T15" fmla="*/ 2147483647 h 201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230" name="Oval 229">
            <a:extLst>
              <a:ext uri="{FF2B5EF4-FFF2-40B4-BE49-F238E27FC236}">
                <a16:creationId xmlns:a16="http://schemas.microsoft.com/office/drawing/2014/main" xmlns="" id="{2699F953-20DB-2F48-91B4-9336D6A63ABD}"/>
              </a:ext>
            </a:extLst>
          </p:cNvPr>
          <p:cNvSpPr>
            <a:spLocks noChangeArrowheads="1"/>
          </p:cNvSpPr>
          <p:nvPr/>
        </p:nvSpPr>
        <p:spPr bwMode="auto">
          <a:xfrm>
            <a:off x="2072879" y="2903935"/>
            <a:ext cx="84534" cy="86915"/>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235" name="Rectangle 234">
            <a:extLst>
              <a:ext uri="{FF2B5EF4-FFF2-40B4-BE49-F238E27FC236}">
                <a16:creationId xmlns:a16="http://schemas.microsoft.com/office/drawing/2014/main" xmlns="" id="{52CAA5BF-C505-6847-BAF8-A75587362EE3}"/>
              </a:ext>
            </a:extLst>
          </p:cNvPr>
          <p:cNvSpPr>
            <a:spLocks noChangeArrowheads="1"/>
          </p:cNvSpPr>
          <p:nvPr/>
        </p:nvSpPr>
        <p:spPr bwMode="auto">
          <a:xfrm>
            <a:off x="2033588" y="2709863"/>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6" name="Rectangle 235">
            <a:extLst>
              <a:ext uri="{FF2B5EF4-FFF2-40B4-BE49-F238E27FC236}">
                <a16:creationId xmlns:a16="http://schemas.microsoft.com/office/drawing/2014/main" xmlns="" id="{6EBFCC57-DC97-C441-897D-9E4916F1E725}"/>
              </a:ext>
            </a:extLst>
          </p:cNvPr>
          <p:cNvSpPr>
            <a:spLocks noChangeArrowheads="1"/>
          </p:cNvSpPr>
          <p:nvPr/>
        </p:nvSpPr>
        <p:spPr bwMode="auto">
          <a:xfrm>
            <a:off x="1785938" y="2884885"/>
            <a:ext cx="183356" cy="116681"/>
          </a:xfrm>
          <a:prstGeom prst="rect">
            <a:avLst/>
          </a:prstGeom>
          <a:solidFill>
            <a:srgbClr val="00CC99"/>
          </a:solidFill>
          <a:ln w="9525">
            <a:solidFill>
              <a:srgbClr val="0066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7" name="Text Box 236">
            <a:extLst>
              <a:ext uri="{FF2B5EF4-FFF2-40B4-BE49-F238E27FC236}">
                <a16:creationId xmlns:a16="http://schemas.microsoft.com/office/drawing/2014/main" xmlns="" id="{2385057C-CC2A-904D-B477-1A4E091EC574}"/>
              </a:ext>
            </a:extLst>
          </p:cNvPr>
          <p:cNvSpPr txBox="1">
            <a:spLocks noChangeArrowheads="1"/>
          </p:cNvSpPr>
          <p:nvPr/>
        </p:nvSpPr>
        <p:spPr bwMode="auto">
          <a:xfrm>
            <a:off x="1293577" y="2802732"/>
            <a:ext cx="508473"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kern="1200" dirty="0">
                <a:solidFill>
                  <a:srgbClr val="006600"/>
                </a:solidFill>
                <a:latin typeface="Arial" charset="0"/>
                <a:cs typeface="+mn-cs"/>
              </a:rPr>
              <a:t>copy</a:t>
            </a:r>
          </a:p>
        </p:txBody>
      </p:sp>
      <p:grpSp>
        <p:nvGrpSpPr>
          <p:cNvPr id="239" name="Group 240">
            <a:extLst>
              <a:ext uri="{FF2B5EF4-FFF2-40B4-BE49-F238E27FC236}">
                <a16:creationId xmlns:a16="http://schemas.microsoft.com/office/drawing/2014/main" xmlns="" id="{3C099EA3-4C76-8E43-A8FA-DA69E23B587D}"/>
              </a:ext>
            </a:extLst>
          </p:cNvPr>
          <p:cNvGrpSpPr>
            <a:grpSpLocks/>
          </p:cNvGrpSpPr>
          <p:nvPr/>
        </p:nvGrpSpPr>
        <p:grpSpPr bwMode="auto">
          <a:xfrm>
            <a:off x="1032273" y="2475312"/>
            <a:ext cx="710803" cy="695326"/>
            <a:chOff x="3283" y="2142"/>
            <a:chExt cx="597" cy="584"/>
          </a:xfrm>
        </p:grpSpPr>
        <p:grpSp>
          <p:nvGrpSpPr>
            <p:cNvPr id="240" name="Group 241">
              <a:extLst>
                <a:ext uri="{FF2B5EF4-FFF2-40B4-BE49-F238E27FC236}">
                  <a16:creationId xmlns:a16="http://schemas.microsoft.com/office/drawing/2014/main" xmlns="" id="{B0C67642-FA77-3248-BB94-4C12B33DABEB}"/>
                </a:ext>
              </a:extLst>
            </p:cNvPr>
            <p:cNvGrpSpPr>
              <a:grpSpLocks/>
            </p:cNvGrpSpPr>
            <p:nvPr/>
          </p:nvGrpSpPr>
          <p:grpSpPr bwMode="auto">
            <a:xfrm>
              <a:off x="3283" y="2387"/>
              <a:ext cx="597" cy="303"/>
              <a:chOff x="990" y="4570"/>
              <a:chExt cx="597" cy="380"/>
            </a:xfrm>
          </p:grpSpPr>
          <p:pic>
            <p:nvPicPr>
              <p:cNvPr id="243" name="Picture 242">
                <a:extLst>
                  <a:ext uri="{FF2B5EF4-FFF2-40B4-BE49-F238E27FC236}">
                    <a16:creationId xmlns:a16="http://schemas.microsoft.com/office/drawing/2014/main" xmlns="" id="{67A85C0C-4A8A-6B47-B09B-B8DCC27068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44" name="Rectangle 243">
                <a:extLst>
                  <a:ext uri="{FF2B5EF4-FFF2-40B4-BE49-F238E27FC236}">
                    <a16:creationId xmlns:a16="http://schemas.microsoft.com/office/drawing/2014/main" xmlns="" id="{1BE93BC6-21EB-E345-A354-EC1A31A9313F}"/>
                  </a:ext>
                </a:extLst>
              </p:cNvPr>
              <p:cNvSpPr>
                <a:spLocks noChangeArrowheads="1"/>
              </p:cNvSpPr>
              <p:nvPr/>
            </p:nvSpPr>
            <p:spPr bwMode="auto">
              <a:xfrm>
                <a:off x="1124" y="4679"/>
                <a:ext cx="360" cy="148"/>
              </a:xfrm>
              <a:prstGeom prst="rect">
                <a:avLst/>
              </a:prstGeom>
              <a:solidFill>
                <a:srgbClr val="FFFF00"/>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grpSp>
        <p:sp>
          <p:nvSpPr>
            <p:cNvPr id="241" name="Text Box 244">
              <a:extLst>
                <a:ext uri="{FF2B5EF4-FFF2-40B4-BE49-F238E27FC236}">
                  <a16:creationId xmlns:a16="http://schemas.microsoft.com/office/drawing/2014/main" xmlns="" id="{057976BB-0F9A-9941-9597-91496E327B0E}"/>
                </a:ext>
              </a:extLst>
            </p:cNvPr>
            <p:cNvSpPr txBox="1">
              <a:spLocks noChangeArrowheads="1"/>
            </p:cNvSpPr>
            <p:nvPr/>
          </p:nvSpPr>
          <p:spPr bwMode="auto">
            <a:xfrm>
              <a:off x="3343" y="2461"/>
              <a:ext cx="479"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lnSpc>
                  <a:spcPct val="80000"/>
                </a:lnSpc>
                <a:spcBef>
                  <a:spcPct val="0"/>
                </a:spcBef>
                <a:spcAft>
                  <a:spcPct val="0"/>
                </a:spcAft>
                <a:defRPr/>
              </a:pPr>
              <a:r>
                <a:rPr lang="en-US" sz="900" b="1" i="1" kern="1200" dirty="0">
                  <a:solidFill>
                    <a:srgbClr val="3333CC"/>
                  </a:solidFill>
                  <a:latin typeface="Comic Sans MS" charset="0"/>
                  <a:cs typeface="+mn-cs"/>
                </a:rPr>
                <a:t>timeout</a:t>
              </a:r>
            </a:p>
          </p:txBody>
        </p:sp>
        <p:pic>
          <p:nvPicPr>
            <p:cNvPr id="242" name="Picture 245">
              <a:extLst>
                <a:ext uri="{FF2B5EF4-FFF2-40B4-BE49-F238E27FC236}">
                  <a16:creationId xmlns:a16="http://schemas.microsoft.com/office/drawing/2014/main" xmlns="" id="{18023B91-60B5-4147-A0EC-197B454FEC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419" y="2142"/>
              <a:ext cx="262" cy="2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sp>
        <p:nvSpPr>
          <p:cNvPr id="342" name="Rectangle 281">
            <a:extLst>
              <a:ext uri="{FF2B5EF4-FFF2-40B4-BE49-F238E27FC236}">
                <a16:creationId xmlns:a16="http://schemas.microsoft.com/office/drawing/2014/main" xmlns="" id="{3D39CBCD-019A-0349-BB68-948FE706EC0C}"/>
              </a:ext>
            </a:extLst>
          </p:cNvPr>
          <p:cNvSpPr>
            <a:spLocks noChangeArrowheads="1"/>
          </p:cNvSpPr>
          <p:nvPr/>
        </p:nvSpPr>
        <p:spPr bwMode="auto">
          <a:xfrm>
            <a:off x="482171" y="1076456"/>
            <a:ext cx="4865038" cy="15655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57175" indent="-257175" algn="l" defTabSz="685800" rtl="0">
              <a:lnSpc>
                <a:spcPct val="85000"/>
              </a:lnSpc>
              <a:spcBef>
                <a:spcPct val="20000"/>
              </a:spcBef>
              <a:buClr>
                <a:srgbClr val="000099"/>
              </a:buClr>
              <a:buSzPct val="65000"/>
              <a:defRPr/>
            </a:pPr>
            <a:r>
              <a:rPr lang="en-US" sz="2100" kern="1200" dirty="0">
                <a:solidFill>
                  <a:srgbClr val="000099"/>
                </a:solidFill>
                <a:latin typeface="Calibri" panose="020F0502020204030204"/>
                <a:ea typeface="ＭＳ Ｐゴシック" charset="0"/>
                <a:cs typeface="+mn-cs"/>
              </a:rPr>
              <a:t>Realistic scenario: </a:t>
            </a:r>
            <a:r>
              <a:rPr lang="en-US" sz="2100" i="1" kern="1200" dirty="0">
                <a:solidFill>
                  <a:srgbClr val="C00000"/>
                </a:solidFill>
                <a:latin typeface="Calibri" panose="020F0502020204030204"/>
                <a:ea typeface="ＭＳ Ｐゴシック" charset="0"/>
                <a:cs typeface="+mn-cs"/>
              </a:rPr>
              <a:t>un-needed</a:t>
            </a:r>
            <a:r>
              <a:rPr lang="en-US" sz="2100" kern="1200" dirty="0">
                <a:solidFill>
                  <a:srgbClr val="000099"/>
                </a:solidFill>
                <a:latin typeface="Calibri" panose="020F0502020204030204"/>
                <a:ea typeface="ＭＳ Ｐゴシック" charset="0"/>
                <a:cs typeface="+mn-cs"/>
              </a:rPr>
              <a:t> </a:t>
            </a:r>
            <a:r>
              <a:rPr lang="en-US" sz="2100" i="1" kern="1200" dirty="0">
                <a:solidFill>
                  <a:srgbClr val="CC0000"/>
                </a:solidFill>
                <a:latin typeface="Calibri" panose="020F0502020204030204"/>
                <a:ea typeface="ＭＳ Ｐゴシック" charset="0"/>
                <a:cs typeface="+mn-cs"/>
              </a:rPr>
              <a:t>duplicates</a:t>
            </a:r>
            <a:endParaRPr lang="en-US" sz="1500" kern="1200" dirty="0">
              <a:solidFill>
                <a:prstClr val="black"/>
              </a:solidFill>
              <a:latin typeface="Calibri" panose="020F0502020204030204"/>
              <a:ea typeface="ＭＳ Ｐゴシック" charset="0"/>
              <a:cs typeface="+mn-cs"/>
            </a:endParaRPr>
          </a:p>
          <a:p>
            <a:pPr marL="219075" indent="-180975" algn="l" defTabSz="685800" rtl="0">
              <a:lnSpc>
                <a:spcPct val="85000"/>
              </a:lnSpc>
              <a:spcBef>
                <a:spcPct val="20000"/>
              </a:spcBef>
              <a:buClr>
                <a:srgbClr val="000099"/>
              </a:buClr>
              <a:buSzPct val="100000"/>
              <a:buFont typeface="Wingdings" charset="2"/>
              <a:buChar char="§"/>
              <a:defRPr/>
            </a:pPr>
            <a:r>
              <a:rPr lang="en-US" sz="1650" kern="1200" dirty="0">
                <a:solidFill>
                  <a:prstClr val="black"/>
                </a:solidFill>
                <a:latin typeface="Calibri" panose="020F0502020204030204"/>
                <a:ea typeface="ＭＳ Ｐゴシック" charset="0"/>
                <a:cs typeface="+mn-cs"/>
              </a:rPr>
              <a:t>packets can be lost, dropped at router due  to full buffers – requiring retransmissions</a:t>
            </a:r>
          </a:p>
          <a:p>
            <a:pPr marL="219075" indent="-180975" algn="l" defTabSz="685800" rtl="0">
              <a:lnSpc>
                <a:spcPct val="85000"/>
              </a:lnSpc>
              <a:spcBef>
                <a:spcPct val="20000"/>
              </a:spcBef>
              <a:buClr>
                <a:srgbClr val="000099"/>
              </a:buClr>
              <a:buSzPct val="100000"/>
              <a:buFont typeface="Wingdings" charset="2"/>
              <a:buChar char="§"/>
              <a:defRPr/>
            </a:pPr>
            <a:r>
              <a:rPr lang="en-US" sz="1650" kern="1200" dirty="0">
                <a:solidFill>
                  <a:prstClr val="black"/>
                </a:solidFill>
                <a:latin typeface="Calibri" panose="020F0502020204030204"/>
                <a:ea typeface="ＭＳ Ｐゴシック" charset="0"/>
                <a:cs typeface="+mn-cs"/>
              </a:rPr>
              <a:t>but sender times can time out prematurely, sending </a:t>
            </a:r>
            <a:r>
              <a:rPr lang="en-US" sz="1650" i="1" kern="1200" dirty="0">
                <a:solidFill>
                  <a:srgbClr val="000099"/>
                </a:solidFill>
                <a:latin typeface="Calibri" panose="020F0502020204030204"/>
                <a:ea typeface="ＭＳ Ｐゴシック" charset="0"/>
                <a:cs typeface="+mn-cs"/>
              </a:rPr>
              <a:t>two</a:t>
            </a:r>
            <a:r>
              <a:rPr lang="en-US" sz="1650" i="1" kern="1200" dirty="0">
                <a:solidFill>
                  <a:prstClr val="black"/>
                </a:solidFill>
                <a:latin typeface="Calibri" panose="020F0502020204030204"/>
                <a:ea typeface="ＭＳ Ｐゴシック" charset="0"/>
                <a:cs typeface="+mn-cs"/>
              </a:rPr>
              <a:t> </a:t>
            </a:r>
            <a:r>
              <a:rPr lang="en-US" sz="1650" kern="1200" dirty="0">
                <a:solidFill>
                  <a:prstClr val="black"/>
                </a:solidFill>
                <a:latin typeface="Calibri" panose="020F0502020204030204"/>
                <a:ea typeface="ＭＳ Ｐゴシック" charset="0"/>
                <a:cs typeface="+mn-cs"/>
              </a:rPr>
              <a:t>copies, </a:t>
            </a:r>
            <a:r>
              <a:rPr lang="en-US" sz="1650" i="1" kern="1200" dirty="0">
                <a:solidFill>
                  <a:srgbClr val="0013A3"/>
                </a:solidFill>
                <a:latin typeface="Calibri" panose="020F0502020204030204"/>
                <a:ea typeface="ＭＳ Ｐゴシック" charset="0"/>
                <a:cs typeface="+mn-cs"/>
              </a:rPr>
              <a:t>both</a:t>
            </a:r>
            <a:r>
              <a:rPr lang="en-US" sz="1650" kern="1200" dirty="0">
                <a:solidFill>
                  <a:prstClr val="black"/>
                </a:solidFill>
                <a:latin typeface="Calibri" panose="020F0502020204030204"/>
                <a:ea typeface="ＭＳ Ｐゴシック" charset="0"/>
                <a:cs typeface="+mn-cs"/>
              </a:rPr>
              <a:t> of which are delivered</a:t>
            </a:r>
          </a:p>
          <a:p>
            <a:pPr marL="257175" indent="-257175" algn="l" defTabSz="685800" rtl="0">
              <a:lnSpc>
                <a:spcPct val="85000"/>
              </a:lnSpc>
              <a:spcBef>
                <a:spcPct val="20000"/>
              </a:spcBef>
              <a:buClr>
                <a:srgbClr val="000099"/>
              </a:buClr>
              <a:buSzPct val="65000"/>
              <a:buFont typeface="Wingdings" charset="0"/>
              <a:buChar char="v"/>
              <a:defRPr/>
            </a:pPr>
            <a:endParaRPr lang="en-US" sz="2100" kern="1200" dirty="0">
              <a:solidFill>
                <a:prstClr val="black"/>
              </a:solidFill>
              <a:latin typeface="Gill Sans MT" charset="0"/>
              <a:ea typeface="ＭＳ Ｐゴシック" charset="0"/>
              <a:cs typeface="+mn-cs"/>
            </a:endParaRPr>
          </a:p>
        </p:txBody>
      </p:sp>
      <p:sp>
        <p:nvSpPr>
          <p:cNvPr id="238" name="Text Box 237">
            <a:extLst>
              <a:ext uri="{FF2B5EF4-FFF2-40B4-BE49-F238E27FC236}">
                <a16:creationId xmlns:a16="http://schemas.microsoft.com/office/drawing/2014/main" xmlns="" id="{147D48B6-6F9D-A040-89CB-089EAC406DE6}"/>
              </a:ext>
            </a:extLst>
          </p:cNvPr>
          <p:cNvSpPr txBox="1">
            <a:spLocks noChangeArrowheads="1"/>
          </p:cNvSpPr>
          <p:nvPr/>
        </p:nvSpPr>
        <p:spPr bwMode="auto">
          <a:xfrm>
            <a:off x="2766131" y="3570840"/>
            <a:ext cx="138050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i="1" kern="1200" dirty="0">
                <a:solidFill>
                  <a:srgbClr val="006600"/>
                </a:solidFill>
                <a:latin typeface="Arial" charset="0"/>
                <a:cs typeface="+mn-cs"/>
              </a:rPr>
              <a:t>free buffer space!</a:t>
            </a:r>
          </a:p>
        </p:txBody>
      </p:sp>
      <p:grpSp>
        <p:nvGrpSpPr>
          <p:cNvPr id="7" name="Group 6">
            <a:extLst>
              <a:ext uri="{FF2B5EF4-FFF2-40B4-BE49-F238E27FC236}">
                <a16:creationId xmlns:a16="http://schemas.microsoft.com/office/drawing/2014/main" xmlns="" id="{567624B7-6B20-F845-9C41-4CC182257E49}"/>
              </a:ext>
            </a:extLst>
          </p:cNvPr>
          <p:cNvGrpSpPr/>
          <p:nvPr/>
        </p:nvGrpSpPr>
        <p:grpSpPr>
          <a:xfrm>
            <a:off x="7516708" y="1692227"/>
            <a:ext cx="1514195" cy="1613442"/>
            <a:chOff x="10022277" y="2034920"/>
            <a:chExt cx="2018927" cy="2151256"/>
          </a:xfrm>
        </p:grpSpPr>
        <p:sp>
          <p:nvSpPr>
            <p:cNvPr id="198" name="Text Box 259">
              <a:extLst>
                <a:ext uri="{FF2B5EF4-FFF2-40B4-BE49-F238E27FC236}">
                  <a16:creationId xmlns:a16="http://schemas.microsoft.com/office/drawing/2014/main" xmlns="" id="{9EDD7432-CD42-3343-A35C-16F063B6C25E}"/>
                </a:ext>
              </a:extLst>
            </p:cNvPr>
            <p:cNvSpPr txBox="1">
              <a:spLocks noChangeArrowheads="1"/>
            </p:cNvSpPr>
            <p:nvPr/>
          </p:nvSpPr>
          <p:spPr bwMode="auto">
            <a:xfrm>
              <a:off x="10241280" y="2339516"/>
              <a:ext cx="1799924" cy="1846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latin typeface="Arial" charset="0"/>
                  <a:cs typeface="+mn-cs"/>
                </a:rPr>
                <a:t>when sending at R/2, some packets are retransmissions, including needed and </a:t>
              </a:r>
              <a:r>
                <a:rPr lang="en-US" sz="1050" i="1" kern="1200" dirty="0">
                  <a:solidFill>
                    <a:srgbClr val="C00000"/>
                  </a:solidFill>
                  <a:latin typeface="Arial" charset="0"/>
                  <a:cs typeface="+mn-cs"/>
                </a:rPr>
                <a:t>un-needed</a:t>
              </a:r>
              <a:r>
                <a:rPr lang="en-US" sz="1050" kern="1200" dirty="0">
                  <a:solidFill>
                    <a:prstClr val="black"/>
                  </a:solidFill>
                  <a:latin typeface="Arial" charset="0"/>
                  <a:cs typeface="+mn-cs"/>
                </a:rPr>
                <a:t> duplicates, that are delivered!</a:t>
              </a:r>
            </a:p>
          </p:txBody>
        </p:sp>
        <p:sp>
          <p:nvSpPr>
            <p:cNvPr id="202" name="Line 253">
              <a:extLst>
                <a:ext uri="{FF2B5EF4-FFF2-40B4-BE49-F238E27FC236}">
                  <a16:creationId xmlns:a16="http://schemas.microsoft.com/office/drawing/2014/main" xmlns="" id="{D5AB995F-B247-6F4B-BEAE-3191BFB3D4E9}"/>
                </a:ext>
              </a:extLst>
            </p:cNvPr>
            <p:cNvSpPr>
              <a:spLocks noChangeShapeType="1"/>
            </p:cNvSpPr>
            <p:nvPr/>
          </p:nvSpPr>
          <p:spPr bwMode="auto">
            <a:xfrm flipH="1" flipV="1">
              <a:off x="10022277" y="2034920"/>
              <a:ext cx="423050" cy="35515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xmlns="" id="{BEA05CA9-3FA3-BF4C-A8E9-55EEC0008877}"/>
              </a:ext>
            </a:extLst>
          </p:cNvPr>
          <p:cNvGrpSpPr/>
          <p:nvPr/>
        </p:nvGrpSpPr>
        <p:grpSpPr>
          <a:xfrm>
            <a:off x="7530082" y="1313635"/>
            <a:ext cx="1428325" cy="528606"/>
            <a:chOff x="10040109" y="1530131"/>
            <a:chExt cx="1904433" cy="704807"/>
          </a:xfrm>
        </p:grpSpPr>
        <p:sp>
          <p:nvSpPr>
            <p:cNvPr id="224" name="Text Box 252">
              <a:extLst>
                <a:ext uri="{FF2B5EF4-FFF2-40B4-BE49-F238E27FC236}">
                  <a16:creationId xmlns:a16="http://schemas.microsoft.com/office/drawing/2014/main" xmlns="" id="{14DBF64B-0F2A-564A-8608-15D68B07DB02}"/>
                </a:ext>
              </a:extLst>
            </p:cNvPr>
            <p:cNvSpPr txBox="1">
              <a:spLocks noChangeArrowheads="1"/>
            </p:cNvSpPr>
            <p:nvPr/>
          </p:nvSpPr>
          <p:spPr bwMode="auto">
            <a:xfrm>
              <a:off x="10128952" y="1530131"/>
              <a:ext cx="1815590" cy="7048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lnSpc>
                  <a:spcPct val="90000"/>
                </a:lnSpc>
                <a:defRPr/>
              </a:pPr>
              <a:r>
                <a:rPr lang="en-US" sz="1050" kern="1200" dirty="0">
                  <a:solidFill>
                    <a:prstClr val="black"/>
                  </a:solidFill>
                  <a:latin typeface="Calibri" panose="020F0502020204030204"/>
                  <a:cs typeface="+mn-cs"/>
                </a:rPr>
                <a:t>“wasted” capacity due to un-needed retransmissions</a:t>
              </a:r>
            </a:p>
          </p:txBody>
        </p:sp>
        <p:sp>
          <p:nvSpPr>
            <p:cNvPr id="225" name="Right Brace 224">
              <a:extLst>
                <a:ext uri="{FF2B5EF4-FFF2-40B4-BE49-F238E27FC236}">
                  <a16:creationId xmlns:a16="http://schemas.microsoft.com/office/drawing/2014/main" xmlns="" id="{2533B29F-81E1-3C4A-A26B-AFF9EC5694E3}"/>
                </a:ext>
              </a:extLst>
            </p:cNvPr>
            <p:cNvSpPr/>
            <p:nvPr/>
          </p:nvSpPr>
          <p:spPr>
            <a:xfrm>
              <a:off x="10040109" y="1765940"/>
              <a:ext cx="144379" cy="223205"/>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rtl="0">
                <a:defRPr/>
              </a:pPr>
              <a:endParaRPr lang="en-US" sz="1350" kern="1200" dirty="0">
                <a:solidFill>
                  <a:prstClr val="black"/>
                </a:solidFill>
                <a:latin typeface="Calibri"/>
              </a:endParaRPr>
            </a:p>
          </p:txBody>
        </p:sp>
      </p:grpSp>
      <p:grpSp>
        <p:nvGrpSpPr>
          <p:cNvPr id="8" name="Group 7">
            <a:extLst>
              <a:ext uri="{FF2B5EF4-FFF2-40B4-BE49-F238E27FC236}">
                <a16:creationId xmlns:a16="http://schemas.microsoft.com/office/drawing/2014/main" xmlns="" id="{12B126A1-4A79-F34D-A071-BDA969124FB9}"/>
              </a:ext>
            </a:extLst>
          </p:cNvPr>
          <p:cNvGrpSpPr/>
          <p:nvPr/>
        </p:nvGrpSpPr>
        <p:grpSpPr>
          <a:xfrm>
            <a:off x="5521089" y="1066172"/>
            <a:ext cx="2107003" cy="1960824"/>
            <a:chOff x="7361453" y="1200180"/>
            <a:chExt cx="2809338" cy="2614432"/>
          </a:xfrm>
        </p:grpSpPr>
        <p:sp>
          <p:nvSpPr>
            <p:cNvPr id="204" name="Freeform 245">
              <a:extLst>
                <a:ext uri="{FF2B5EF4-FFF2-40B4-BE49-F238E27FC236}">
                  <a16:creationId xmlns:a16="http://schemas.microsoft.com/office/drawing/2014/main" xmlns="" id="{B3460BD7-A5F9-BE49-9E86-1F8442B74C7E}"/>
                </a:ext>
              </a:extLst>
            </p:cNvPr>
            <p:cNvSpPr>
              <a:spLocks/>
            </p:cNvSpPr>
            <p:nvPr/>
          </p:nvSpPr>
          <p:spPr bwMode="auto">
            <a:xfrm>
              <a:off x="7958715" y="1967477"/>
              <a:ext cx="2024019" cy="1384114"/>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536 w 10000"/>
                <a:gd name="connsiteY1" fmla="*/ 1223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4789" y="3077"/>
                    <a:pt x="6536" y="1223"/>
                  </a:cubicBezTo>
                  <a:cubicBezTo>
                    <a:pt x="7406" y="549"/>
                    <a:pt x="8333" y="126"/>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a:defRPr/>
              </a:pPr>
              <a:endParaRPr lang="en-US" sz="1350" kern="1200" dirty="0">
                <a:solidFill>
                  <a:prstClr val="black"/>
                </a:solidFill>
                <a:latin typeface="Calibri" panose="020F0502020204030204"/>
                <a:ea typeface="+mn-ea"/>
                <a:cs typeface="+mn-cs"/>
              </a:endParaRPr>
            </a:p>
          </p:txBody>
        </p:sp>
        <p:grpSp>
          <p:nvGrpSpPr>
            <p:cNvPr id="205" name="Group 246">
              <a:extLst>
                <a:ext uri="{FF2B5EF4-FFF2-40B4-BE49-F238E27FC236}">
                  <a16:creationId xmlns:a16="http://schemas.microsoft.com/office/drawing/2014/main" xmlns="" id="{5E08E7AA-3C32-114D-AB01-2054FE7FF68F}"/>
                </a:ext>
              </a:extLst>
            </p:cNvPr>
            <p:cNvGrpSpPr>
              <a:grpSpLocks/>
            </p:cNvGrpSpPr>
            <p:nvPr/>
          </p:nvGrpSpPr>
          <p:grpSpPr bwMode="auto">
            <a:xfrm>
              <a:off x="8776234" y="3317991"/>
              <a:ext cx="519113" cy="430214"/>
              <a:chOff x="3583" y="1761"/>
              <a:chExt cx="327" cy="271"/>
            </a:xfrm>
          </p:grpSpPr>
          <p:sp>
            <p:nvSpPr>
              <p:cNvPr id="221" name="Text Box 247">
                <a:extLst>
                  <a:ext uri="{FF2B5EF4-FFF2-40B4-BE49-F238E27FC236}">
                    <a16:creationId xmlns:a16="http://schemas.microsoft.com/office/drawing/2014/main" xmlns="" id="{1B32B252-D75C-EE47-9DF7-3388AC1F3230}"/>
                  </a:ext>
                </a:extLst>
              </p:cNvPr>
              <p:cNvSpPr txBox="1">
                <a:spLocks noChangeArrowheads="1"/>
              </p:cNvSpPr>
              <p:nvPr/>
            </p:nvSpPr>
            <p:spPr bwMode="auto">
              <a:xfrm>
                <a:off x="3583" y="1761"/>
                <a:ext cx="327"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Arial" charset="0"/>
                  </a:rPr>
                  <a:t>l</a:t>
                </a:r>
                <a:r>
                  <a:rPr lang="en-US" sz="1500" kern="1200" baseline="-25000" dirty="0">
                    <a:solidFill>
                      <a:prstClr val="black"/>
                    </a:solidFill>
                    <a:latin typeface="Arial" charset="0"/>
                    <a:cs typeface="Arial" charset="0"/>
                  </a:rPr>
                  <a:t>in</a:t>
                </a:r>
              </a:p>
            </p:txBody>
          </p:sp>
          <p:sp>
            <p:nvSpPr>
              <p:cNvPr id="222" name="Line 248">
                <a:extLst>
                  <a:ext uri="{FF2B5EF4-FFF2-40B4-BE49-F238E27FC236}">
                    <a16:creationId xmlns:a16="http://schemas.microsoft.com/office/drawing/2014/main" xmlns="" id="{069831FC-8BE0-BA42-967D-6C06BFB98533}"/>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l" defTabSz="685800" rtl="0">
                  <a:defRPr/>
                </a:pPr>
                <a:endParaRPr lang="en-US" sz="1350" kern="1200" dirty="0">
                  <a:solidFill>
                    <a:prstClr val="black"/>
                  </a:solidFill>
                  <a:latin typeface="Tahoma" charset="0"/>
                  <a:ea typeface="ＭＳ Ｐゴシック" charset="0"/>
                  <a:cs typeface="+mn-cs"/>
                </a:endParaRPr>
              </a:p>
            </p:txBody>
          </p:sp>
        </p:grpSp>
        <p:sp>
          <p:nvSpPr>
            <p:cNvPr id="206" name="Line 278">
              <a:extLst>
                <a:ext uri="{FF2B5EF4-FFF2-40B4-BE49-F238E27FC236}">
                  <a16:creationId xmlns:a16="http://schemas.microsoft.com/office/drawing/2014/main" xmlns="" id="{79D305B3-2BB2-D449-B462-DEAABA8BAFCB}"/>
                </a:ext>
              </a:extLst>
            </p:cNvPr>
            <p:cNvSpPr>
              <a:spLocks noChangeShapeType="1"/>
            </p:cNvSpPr>
            <p:nvPr/>
          </p:nvSpPr>
          <p:spPr bwMode="auto">
            <a:xfrm>
              <a:off x="7965669" y="1200180"/>
              <a:ext cx="0" cy="215904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207" name="Line 280">
              <a:extLst>
                <a:ext uri="{FF2B5EF4-FFF2-40B4-BE49-F238E27FC236}">
                  <a16:creationId xmlns:a16="http://schemas.microsoft.com/office/drawing/2014/main" xmlns="" id="{06048882-9574-FC44-B8CF-F1DAC2D70473}"/>
                </a:ext>
              </a:extLst>
            </p:cNvPr>
            <p:cNvSpPr>
              <a:spLocks noChangeShapeType="1"/>
            </p:cNvSpPr>
            <p:nvPr/>
          </p:nvSpPr>
          <p:spPr bwMode="auto">
            <a:xfrm>
              <a:off x="9972557" y="1436494"/>
              <a:ext cx="0" cy="1869027"/>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208" name="Freeform 281">
              <a:extLst>
                <a:ext uri="{FF2B5EF4-FFF2-40B4-BE49-F238E27FC236}">
                  <a16:creationId xmlns:a16="http://schemas.microsoft.com/office/drawing/2014/main" xmlns="" id="{BF1363B2-F686-8742-8291-A19A05138F45}"/>
                </a:ext>
              </a:extLst>
            </p:cNvPr>
            <p:cNvSpPr>
              <a:spLocks/>
            </p:cNvSpPr>
            <p:nvPr/>
          </p:nvSpPr>
          <p:spPr bwMode="auto">
            <a:xfrm>
              <a:off x="7954426" y="1377415"/>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a:defRPr/>
              </a:pPr>
              <a:endParaRPr lang="en-US" sz="1350" kern="1200" dirty="0">
                <a:solidFill>
                  <a:prstClr val="black"/>
                </a:solidFill>
                <a:latin typeface="Calibri" panose="020F0502020204030204"/>
                <a:ea typeface="+mn-ea"/>
                <a:cs typeface="+mn-cs"/>
              </a:endParaRPr>
            </a:p>
          </p:txBody>
        </p:sp>
        <p:sp>
          <p:nvSpPr>
            <p:cNvPr id="209" name="Line 282">
              <a:extLst>
                <a:ext uri="{FF2B5EF4-FFF2-40B4-BE49-F238E27FC236}">
                  <a16:creationId xmlns:a16="http://schemas.microsoft.com/office/drawing/2014/main" xmlns="" id="{F026FEA1-5290-6345-BCE2-778BE3958BA2}"/>
                </a:ext>
              </a:extLst>
            </p:cNvPr>
            <p:cNvSpPr>
              <a:spLocks noChangeShapeType="1"/>
            </p:cNvSpPr>
            <p:nvPr/>
          </p:nvSpPr>
          <p:spPr bwMode="auto">
            <a:xfrm>
              <a:off x="7819509" y="1377415"/>
              <a:ext cx="140538"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210" name="Line 283">
              <a:extLst>
                <a:ext uri="{FF2B5EF4-FFF2-40B4-BE49-F238E27FC236}">
                  <a16:creationId xmlns:a16="http://schemas.microsoft.com/office/drawing/2014/main" xmlns="" id="{6915514F-CA67-4B49-A03C-EFE57672B7F1}"/>
                </a:ext>
              </a:extLst>
            </p:cNvPr>
            <p:cNvSpPr>
              <a:spLocks noChangeShapeType="1"/>
            </p:cNvSpPr>
            <p:nvPr/>
          </p:nvSpPr>
          <p:spPr bwMode="auto">
            <a:xfrm>
              <a:off x="9966936" y="3359228"/>
              <a:ext cx="0" cy="15575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211" name="Text Box 284">
              <a:extLst>
                <a:ext uri="{FF2B5EF4-FFF2-40B4-BE49-F238E27FC236}">
                  <a16:creationId xmlns:a16="http://schemas.microsoft.com/office/drawing/2014/main" xmlns="" id="{28C1A511-7077-0445-8960-2561706C38B7}"/>
                </a:ext>
              </a:extLst>
            </p:cNvPr>
            <p:cNvSpPr txBox="1">
              <a:spLocks noChangeArrowheads="1"/>
            </p:cNvSpPr>
            <p:nvPr/>
          </p:nvSpPr>
          <p:spPr bwMode="auto">
            <a:xfrm>
              <a:off x="7361453" y="1202895"/>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212" name="Text Box 286">
              <a:extLst>
                <a:ext uri="{FF2B5EF4-FFF2-40B4-BE49-F238E27FC236}">
                  <a16:creationId xmlns:a16="http://schemas.microsoft.com/office/drawing/2014/main" xmlns="" id="{4E3E2B16-E915-2341-A1DD-6D63A903AE3C}"/>
                </a:ext>
              </a:extLst>
            </p:cNvPr>
            <p:cNvSpPr txBox="1">
              <a:spLocks noChangeArrowheads="1"/>
            </p:cNvSpPr>
            <p:nvPr/>
          </p:nvSpPr>
          <p:spPr bwMode="auto">
            <a:xfrm rot="16200000">
              <a:off x="7398161" y="1563377"/>
              <a:ext cx="622392"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mn-cs"/>
                </a:rPr>
                <a:t>l</a:t>
              </a:r>
              <a:r>
                <a:rPr lang="en-US" sz="1500" kern="1200" baseline="-25000" dirty="0">
                  <a:solidFill>
                    <a:prstClr val="black"/>
                  </a:solidFill>
                  <a:latin typeface="Arial" charset="0"/>
                  <a:cs typeface="+mn-cs"/>
                </a:rPr>
                <a:t>out</a:t>
              </a:r>
            </a:p>
          </p:txBody>
        </p:sp>
        <p:sp>
          <p:nvSpPr>
            <p:cNvPr id="213" name="Line 288">
              <a:extLst>
                <a:ext uri="{FF2B5EF4-FFF2-40B4-BE49-F238E27FC236}">
                  <a16:creationId xmlns:a16="http://schemas.microsoft.com/office/drawing/2014/main" xmlns="" id="{3DD586CE-CDF2-2743-B1D7-9277A7808AEB}"/>
                </a:ext>
              </a:extLst>
            </p:cNvPr>
            <p:cNvSpPr>
              <a:spLocks noChangeShapeType="1"/>
            </p:cNvSpPr>
            <p:nvPr/>
          </p:nvSpPr>
          <p:spPr bwMode="auto">
            <a:xfrm>
              <a:off x="7999399" y="1380101"/>
              <a:ext cx="1841053" cy="0"/>
            </a:xfrm>
            <a:prstGeom prst="line">
              <a:avLst/>
            </a:prstGeom>
            <a:noFill/>
            <a:ln w="12700">
              <a:solidFill>
                <a:schemeClr val="bg1">
                  <a:lumMod val="75000"/>
                </a:schemeClr>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cxnSp>
          <p:nvCxnSpPr>
            <p:cNvPr id="214" name="Straight Connector 213">
              <a:extLst>
                <a:ext uri="{FF2B5EF4-FFF2-40B4-BE49-F238E27FC236}">
                  <a16:creationId xmlns:a16="http://schemas.microsoft.com/office/drawing/2014/main" xmlns="" id="{E3464261-F9AD-6F4C-A531-9BA3554E8509}"/>
                </a:ext>
              </a:extLst>
            </p:cNvPr>
            <p:cNvCxnSpPr>
              <a:cxnSpLocks/>
            </p:cNvCxnSpPr>
            <p:nvPr/>
          </p:nvCxnSpPr>
          <p:spPr>
            <a:xfrm>
              <a:off x="7976136" y="3337560"/>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5" name="TextBox 214">
              <a:extLst>
                <a:ext uri="{FF2B5EF4-FFF2-40B4-BE49-F238E27FC236}">
                  <a16:creationId xmlns:a16="http://schemas.microsoft.com/office/drawing/2014/main" xmlns="" id="{9848139A-43C0-0442-A722-9A7D460705EC}"/>
                </a:ext>
              </a:extLst>
            </p:cNvPr>
            <p:cNvSpPr txBox="1"/>
            <p:nvPr/>
          </p:nvSpPr>
          <p:spPr>
            <a:xfrm rot="16200000">
              <a:off x="7110390" y="2403910"/>
              <a:ext cx="1292320" cy="369332"/>
            </a:xfrm>
            <a:prstGeom prst="rect">
              <a:avLst/>
            </a:prstGeom>
            <a:noFill/>
          </p:spPr>
          <p:txBody>
            <a:bodyPr wrap="none" rtlCol="0">
              <a:spAutoFit/>
            </a:bodyPr>
            <a:lstStyle/>
            <a:p>
              <a:pPr algn="l" defTabSz="685800" rtl="0">
                <a:defRPr/>
              </a:pPr>
              <a:r>
                <a:rPr lang="en-US" sz="1200" kern="1200" dirty="0">
                  <a:solidFill>
                    <a:prstClr val="black"/>
                  </a:solidFill>
                  <a:latin typeface="Calibri"/>
                  <a:ea typeface="+mn-ea"/>
                  <a:cs typeface="+mn-cs"/>
                </a:rPr>
                <a:t>throughput: </a:t>
              </a:r>
            </a:p>
          </p:txBody>
        </p:sp>
        <p:sp>
          <p:nvSpPr>
            <p:cNvPr id="217" name="Oval 216">
              <a:extLst>
                <a:ext uri="{FF2B5EF4-FFF2-40B4-BE49-F238E27FC236}">
                  <a16:creationId xmlns:a16="http://schemas.microsoft.com/office/drawing/2014/main" xmlns="" id="{8833EE11-7254-0440-A469-F4B411A23097}"/>
                </a:ext>
              </a:extLst>
            </p:cNvPr>
            <p:cNvSpPr/>
            <p:nvPr/>
          </p:nvSpPr>
          <p:spPr>
            <a:xfrm>
              <a:off x="9893835" y="1336842"/>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18" name="Text Box 285">
              <a:extLst>
                <a:ext uri="{FF2B5EF4-FFF2-40B4-BE49-F238E27FC236}">
                  <a16:creationId xmlns:a16="http://schemas.microsoft.com/office/drawing/2014/main" xmlns="" id="{A6A2982E-D69C-954A-AC9A-D8235E843BA1}"/>
                </a:ext>
              </a:extLst>
            </p:cNvPr>
            <p:cNvSpPr txBox="1">
              <a:spLocks noChangeArrowheads="1"/>
            </p:cNvSpPr>
            <p:nvPr/>
          </p:nvSpPr>
          <p:spPr bwMode="auto">
            <a:xfrm>
              <a:off x="9646716" y="3476057"/>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219" name="Oval 218">
              <a:extLst>
                <a:ext uri="{FF2B5EF4-FFF2-40B4-BE49-F238E27FC236}">
                  <a16:creationId xmlns:a16="http://schemas.microsoft.com/office/drawing/2014/main" xmlns="" id="{25F13CA3-6FA8-E041-9F3C-DDDB5B06C49D}"/>
                </a:ext>
              </a:extLst>
            </p:cNvPr>
            <p:cNvSpPr/>
            <p:nvPr/>
          </p:nvSpPr>
          <p:spPr>
            <a:xfrm>
              <a:off x="9912327" y="1689923"/>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20" name="Line 288">
              <a:extLst>
                <a:ext uri="{FF2B5EF4-FFF2-40B4-BE49-F238E27FC236}">
                  <a16:creationId xmlns:a16="http://schemas.microsoft.com/office/drawing/2014/main" xmlns="" id="{B5526BBD-BE65-A44F-AFCC-B97E4A3E4C6E}"/>
                </a:ext>
              </a:extLst>
            </p:cNvPr>
            <p:cNvSpPr>
              <a:spLocks noChangeShapeType="1"/>
            </p:cNvSpPr>
            <p:nvPr/>
          </p:nvSpPr>
          <p:spPr bwMode="auto">
            <a:xfrm>
              <a:off x="7960093" y="1773132"/>
              <a:ext cx="1975007" cy="0"/>
            </a:xfrm>
            <a:prstGeom prst="line">
              <a:avLst/>
            </a:prstGeom>
            <a:noFill/>
            <a:ln w="12700">
              <a:solidFill>
                <a:schemeClr val="bg1">
                  <a:lumMod val="75000"/>
                </a:schemeClr>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226" name="Oval 225">
              <a:extLst>
                <a:ext uri="{FF2B5EF4-FFF2-40B4-BE49-F238E27FC236}">
                  <a16:creationId xmlns:a16="http://schemas.microsoft.com/office/drawing/2014/main" xmlns="" id="{64497D25-845D-1D48-B421-413BFD02AFEB}"/>
                </a:ext>
              </a:extLst>
            </p:cNvPr>
            <p:cNvSpPr/>
            <p:nvPr/>
          </p:nvSpPr>
          <p:spPr>
            <a:xfrm>
              <a:off x="9908716" y="1920329"/>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27" name="Line 288">
              <a:extLst>
                <a:ext uri="{FF2B5EF4-FFF2-40B4-BE49-F238E27FC236}">
                  <a16:creationId xmlns:a16="http://schemas.microsoft.com/office/drawing/2014/main" xmlns="" id="{32428ACB-96BC-1046-A240-3A7DD1957B64}"/>
                </a:ext>
              </a:extLst>
            </p:cNvPr>
            <p:cNvSpPr>
              <a:spLocks noChangeShapeType="1"/>
            </p:cNvSpPr>
            <p:nvPr/>
          </p:nvSpPr>
          <p:spPr bwMode="auto">
            <a:xfrm>
              <a:off x="7995485" y="1986203"/>
              <a:ext cx="1975007" cy="0"/>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spTree>
    <p:extLst>
      <p:ext uri="{BB962C8B-B14F-4D97-AF65-F5344CB8AC3E}">
        <p14:creationId xmlns:p14="http://schemas.microsoft.com/office/powerpoint/2010/main" val="95739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dissolve">
                                      <p:cBhvr>
                                        <p:cTn id="7" dur="500"/>
                                        <p:tgtEl>
                                          <p:spTgt spid="235"/>
                                        </p:tgtEl>
                                      </p:cBhvr>
                                    </p:animEffect>
                                  </p:childTnLst>
                                </p:cTn>
                              </p:par>
                            </p:childTnLst>
                          </p:cTn>
                        </p:par>
                        <p:par>
                          <p:cTn id="8" fill="hold">
                            <p:stCondLst>
                              <p:cond delay="500"/>
                            </p:stCondLst>
                            <p:childTnLst>
                              <p:par>
                                <p:cTn id="9" presetID="42" presetClass="path" presetSubtype="0" accel="50000" decel="50000" fill="hold" grpId="1" nodeType="afterEffect">
                                  <p:stCondLst>
                                    <p:cond delay="0"/>
                                  </p:stCondLst>
                                  <p:childTnLst>
                                    <p:animMotion origin="layout" path="M -0.00017 0.00255 L -5.55556E-7 0.03542 " pathEditMode="relative" rAng="0" ptsTypes="AA">
                                      <p:cBhvr>
                                        <p:cTn id="10" dur="2000" fill="hold"/>
                                        <p:tgtEl>
                                          <p:spTgt spid="235"/>
                                        </p:tgtEl>
                                        <p:attrNameLst>
                                          <p:attrName>ppt_x</p:attrName>
                                          <p:attrName>ppt_y</p:attrName>
                                        </p:attrNameLst>
                                      </p:cBhvr>
                                      <p:rCtr x="0" y="1644"/>
                                    </p:animMotion>
                                  </p:childTnLst>
                                </p:cTn>
                              </p:par>
                            </p:childTnLst>
                          </p:cTn>
                        </p:par>
                        <p:par>
                          <p:cTn id="11" fill="hold">
                            <p:stCondLst>
                              <p:cond delay="2500"/>
                            </p:stCondLst>
                            <p:childTnLst>
                              <p:par>
                                <p:cTn id="12" presetID="9" presetClass="entr" presetSubtype="0" fill="hold" grpId="0" nodeType="afterEffect">
                                  <p:stCondLst>
                                    <p:cond delay="0"/>
                                  </p:stCondLst>
                                  <p:childTnLst>
                                    <p:set>
                                      <p:cBhvr>
                                        <p:cTn id="13" dur="1" fill="hold">
                                          <p:stCondLst>
                                            <p:cond delay="0"/>
                                          </p:stCondLst>
                                        </p:cTn>
                                        <p:tgtEl>
                                          <p:spTgt spid="236"/>
                                        </p:tgtEl>
                                        <p:attrNameLst>
                                          <p:attrName>style.visibility</p:attrName>
                                        </p:attrNameLst>
                                      </p:cBhvr>
                                      <p:to>
                                        <p:strVal val="visible"/>
                                      </p:to>
                                    </p:set>
                                    <p:animEffect transition="in" filter="dissolve">
                                      <p:cBhvr>
                                        <p:cTn id="14" dur="500"/>
                                        <p:tgtEl>
                                          <p:spTgt spid="23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dissolve">
                                      <p:cBhvr>
                                        <p:cTn id="17" dur="500"/>
                                        <p:tgtEl>
                                          <p:spTgt spid="237"/>
                                        </p:tgtEl>
                                      </p:cBhvr>
                                    </p:animEffect>
                                  </p:childTnLst>
                                </p:cTn>
                              </p:par>
                            </p:childTnLst>
                          </p:cTn>
                        </p:par>
                        <p:par>
                          <p:cTn id="18" fill="hold">
                            <p:stCondLst>
                              <p:cond delay="3000"/>
                            </p:stCondLst>
                            <p:childTnLst>
                              <p:par>
                                <p:cTn id="19" presetID="0" presetClass="path" presetSubtype="0" accel="50000" decel="50000" fill="hold" grpId="2" nodeType="afterEffect">
                                  <p:stCondLst>
                                    <p:cond delay="0"/>
                                  </p:stCondLst>
                                  <p:childTnLst>
                                    <p:animMotion origin="layout" path="M -1.875E-6 0.03542 L 0.00039 0.17732 L 0.06446 0.17825 L 0.03503 0.24121 L 0.14544 0.24121 " pathEditMode="relative" rAng="0" ptsTypes="AAAAA">
                                      <p:cBhvr>
                                        <p:cTn id="20" dur="2000" fill="hold"/>
                                        <p:tgtEl>
                                          <p:spTgt spid="235"/>
                                        </p:tgtEl>
                                        <p:attrNameLst>
                                          <p:attrName>ppt_x</p:attrName>
                                          <p:attrName>ppt_y</p:attrName>
                                        </p:attrNameLst>
                                      </p:cBhvr>
                                      <p:rCtr x="7266" y="10278"/>
                                    </p:animMotion>
                                  </p:childTnLst>
                                </p:cTn>
                              </p:par>
                              <p:par>
                                <p:cTn id="21" presetID="9" presetClass="exit" presetSubtype="0" fill="hold" grpId="1" nodeType="withEffect">
                                  <p:stCondLst>
                                    <p:cond delay="0"/>
                                  </p:stCondLst>
                                  <p:childTnLst>
                                    <p:animEffect transition="out" filter="dissolve">
                                      <p:cBhvr>
                                        <p:cTn id="22" dur="500"/>
                                        <p:tgtEl>
                                          <p:spTgt spid="237"/>
                                        </p:tgtEl>
                                      </p:cBhvr>
                                    </p:animEffect>
                                    <p:set>
                                      <p:cBhvr>
                                        <p:cTn id="23" dur="1" fill="hold">
                                          <p:stCondLst>
                                            <p:cond delay="499"/>
                                          </p:stCondLst>
                                        </p:cTn>
                                        <p:tgtEl>
                                          <p:spTgt spid="237"/>
                                        </p:tgtEl>
                                        <p:attrNameLst>
                                          <p:attrName>style.visibility</p:attrName>
                                        </p:attrNameLst>
                                      </p:cBhvr>
                                      <p:to>
                                        <p:strVal val="hidden"/>
                                      </p:to>
                                    </p:set>
                                  </p:childTnLst>
                                </p:cTn>
                              </p:par>
                            </p:childTnLst>
                          </p:cTn>
                        </p:par>
                        <p:par>
                          <p:cTn id="24" fill="hold">
                            <p:stCondLst>
                              <p:cond delay="5000"/>
                            </p:stCondLst>
                            <p:childTnLst>
                              <p:par>
                                <p:cTn id="25" presetID="9" presetClass="entr" presetSubtype="0" fill="hold" grpId="0" nodeType="afterEffect">
                                  <p:stCondLst>
                                    <p:cond delay="0"/>
                                  </p:stCondLst>
                                  <p:childTnLst>
                                    <p:set>
                                      <p:cBhvr>
                                        <p:cTn id="26" dur="1" fill="hold">
                                          <p:stCondLst>
                                            <p:cond delay="0"/>
                                          </p:stCondLst>
                                        </p:cTn>
                                        <p:tgtEl>
                                          <p:spTgt spid="238"/>
                                        </p:tgtEl>
                                        <p:attrNameLst>
                                          <p:attrName>style.visibility</p:attrName>
                                        </p:attrNameLst>
                                      </p:cBhvr>
                                      <p:to>
                                        <p:strVal val="visible"/>
                                      </p:to>
                                    </p:set>
                                    <p:animEffect transition="in" filter="dissolve">
                                      <p:cBhvr>
                                        <p:cTn id="27" dur="500"/>
                                        <p:tgtEl>
                                          <p:spTgt spid="238"/>
                                        </p:tgtEl>
                                      </p:cBhvr>
                                    </p:animEffect>
                                  </p:childTnLst>
                                </p:cTn>
                              </p:par>
                            </p:childTnLst>
                          </p:cTn>
                        </p:par>
                        <p:par>
                          <p:cTn id="28" fill="hold">
                            <p:stCondLst>
                              <p:cond delay="5500"/>
                            </p:stCondLst>
                            <p:childTnLst>
                              <p:par>
                                <p:cTn id="29" presetID="0" presetClass="path" presetSubtype="0" accel="50000" decel="50000" fill="hold" grpId="3" nodeType="afterEffect">
                                  <p:stCondLst>
                                    <p:cond delay="0"/>
                                  </p:stCondLst>
                                  <p:childTnLst>
                                    <p:animMotion origin="layout" path="M 0.14544 0.24121 L 0.16641 0.24121 " pathEditMode="relative" rAng="0" ptsTypes="AA">
                                      <p:cBhvr>
                                        <p:cTn id="30" dur="3000" fill="hold"/>
                                        <p:tgtEl>
                                          <p:spTgt spid="235"/>
                                        </p:tgtEl>
                                        <p:attrNameLst>
                                          <p:attrName>ppt_x</p:attrName>
                                          <p:attrName>ppt_y</p:attrName>
                                        </p:attrNameLst>
                                      </p:cBhvr>
                                      <p:rCtr x="1042" y="0"/>
                                    </p:animMotion>
                                  </p:childTnLst>
                                </p:cTn>
                              </p:par>
                            </p:childTnLst>
                          </p:cTn>
                        </p:par>
                        <p:par>
                          <p:cTn id="31" fill="hold">
                            <p:stCondLst>
                              <p:cond delay="8500"/>
                            </p:stCondLst>
                            <p:childTnLst>
                              <p:par>
                                <p:cTn id="32" presetID="0" presetClass="path" presetSubtype="0" accel="50000" decel="50000" fill="hold" grpId="4" nodeType="afterEffect">
                                  <p:stCondLst>
                                    <p:cond delay="0"/>
                                  </p:stCondLst>
                                  <p:childTnLst>
                                    <p:animMotion origin="layout" path="M 0.18086 0.24051 L 0.23542 0.24051 L 0.26641 0.18125 " pathEditMode="relative" rAng="0" ptsTypes="AAA">
                                      <p:cBhvr>
                                        <p:cTn id="33" dur="2000" fill="hold"/>
                                        <p:tgtEl>
                                          <p:spTgt spid="235"/>
                                        </p:tgtEl>
                                        <p:attrNameLst>
                                          <p:attrName>ppt_x</p:attrName>
                                          <p:attrName>ppt_y</p:attrName>
                                        </p:attrNameLst>
                                      </p:cBhvr>
                                      <p:rCtr x="4271" y="-2963"/>
                                    </p:animMotion>
                                  </p:childTnLst>
                                </p:cTn>
                              </p:par>
                              <p:par>
                                <p:cTn id="34" presetID="9" presetClass="exit" presetSubtype="0" fill="hold" grpId="1" nodeType="withEffect">
                                  <p:stCondLst>
                                    <p:cond delay="0"/>
                                  </p:stCondLst>
                                  <p:childTnLst>
                                    <p:animEffect transition="out" filter="dissolve">
                                      <p:cBhvr>
                                        <p:cTn id="35" dur="500"/>
                                        <p:tgtEl>
                                          <p:spTgt spid="238"/>
                                        </p:tgtEl>
                                      </p:cBhvr>
                                    </p:animEffect>
                                    <p:set>
                                      <p:cBhvr>
                                        <p:cTn id="36" dur="1" fill="hold">
                                          <p:stCondLst>
                                            <p:cond delay="499"/>
                                          </p:stCondLst>
                                        </p:cTn>
                                        <p:tgtEl>
                                          <p:spTgt spid="238"/>
                                        </p:tgtEl>
                                        <p:attrNameLst>
                                          <p:attrName>style.visibility</p:attrName>
                                        </p:attrNameLst>
                                      </p:cBhvr>
                                      <p:to>
                                        <p:strVal val="hidden"/>
                                      </p:to>
                                    </p:set>
                                  </p:childTnLst>
                                </p:cTn>
                              </p:par>
                            </p:childTnLst>
                          </p:cTn>
                        </p:par>
                        <p:par>
                          <p:cTn id="37" fill="hold">
                            <p:stCondLst>
                              <p:cond delay="10500"/>
                            </p:stCondLst>
                            <p:childTnLst>
                              <p:par>
                                <p:cTn id="38" presetID="9" presetClass="entr" presetSubtype="0" fill="hold" nodeType="afterEffect">
                                  <p:stCondLst>
                                    <p:cond delay="0"/>
                                  </p:stCondLst>
                                  <p:childTnLst>
                                    <p:set>
                                      <p:cBhvr>
                                        <p:cTn id="39" dur="1" fill="hold">
                                          <p:stCondLst>
                                            <p:cond delay="0"/>
                                          </p:stCondLst>
                                        </p:cTn>
                                        <p:tgtEl>
                                          <p:spTgt spid="239"/>
                                        </p:tgtEl>
                                        <p:attrNameLst>
                                          <p:attrName>style.visibility</p:attrName>
                                        </p:attrNameLst>
                                      </p:cBhvr>
                                      <p:to>
                                        <p:strVal val="visible"/>
                                      </p:to>
                                    </p:set>
                                    <p:animEffect transition="in" filter="dissolve">
                                      <p:cBhvr>
                                        <p:cTn id="40" dur="500"/>
                                        <p:tgtEl>
                                          <p:spTgt spid="239"/>
                                        </p:tgtEl>
                                      </p:cBhvr>
                                    </p:animEffect>
                                  </p:childTnLst>
                                </p:cTn>
                              </p:par>
                            </p:childTnLst>
                          </p:cTn>
                        </p:par>
                        <p:par>
                          <p:cTn id="41" fill="hold">
                            <p:stCondLst>
                              <p:cond delay="11000"/>
                            </p:stCondLst>
                            <p:childTnLst>
                              <p:par>
                                <p:cTn id="42" presetID="0" presetClass="path" presetSubtype="0" accel="50000" decel="50000" fill="hold" grpId="5" nodeType="afterEffect">
                                  <p:stCondLst>
                                    <p:cond delay="0"/>
                                  </p:stCondLst>
                                  <p:childTnLst>
                                    <p:animMotion origin="layout" path="M 0.26641 0.18125 L 0.2806 0.15348 L 0.33229 0.15348 L 0.33138 0.0169 " pathEditMode="relative" rAng="0" ptsTypes="AAAA">
                                      <p:cBhvr>
                                        <p:cTn id="43" dur="2000" fill="hold"/>
                                        <p:tgtEl>
                                          <p:spTgt spid="235"/>
                                        </p:tgtEl>
                                        <p:attrNameLst>
                                          <p:attrName>ppt_x</p:attrName>
                                          <p:attrName>ppt_y</p:attrName>
                                        </p:attrNameLst>
                                      </p:cBhvr>
                                      <p:rCtr x="3294" y="-8218"/>
                                    </p:animMotion>
                                  </p:childTnLst>
                                </p:cTn>
                              </p:par>
                              <p:par>
                                <p:cTn id="44" presetID="9" presetClass="exit" presetSubtype="0" fill="hold" nodeType="withEffect">
                                  <p:stCondLst>
                                    <p:cond delay="0"/>
                                  </p:stCondLst>
                                  <p:childTnLst>
                                    <p:animEffect transition="out" filter="dissolve">
                                      <p:cBhvr>
                                        <p:cTn id="45" dur="500"/>
                                        <p:tgtEl>
                                          <p:spTgt spid="239"/>
                                        </p:tgtEl>
                                      </p:cBhvr>
                                    </p:animEffect>
                                    <p:set>
                                      <p:cBhvr>
                                        <p:cTn id="46" dur="1" fill="hold">
                                          <p:stCondLst>
                                            <p:cond delay="499"/>
                                          </p:stCondLst>
                                        </p:cTn>
                                        <p:tgtEl>
                                          <p:spTgt spid="239"/>
                                        </p:tgtEl>
                                        <p:attrNameLst>
                                          <p:attrName>style.visibility</p:attrName>
                                        </p:attrNameLst>
                                      </p:cBhvr>
                                      <p:to>
                                        <p:strVal val="hidden"/>
                                      </p:to>
                                    </p:set>
                                  </p:childTnLst>
                                </p:cTn>
                              </p:par>
                              <p:par>
                                <p:cTn id="47" presetID="0" presetClass="path" presetSubtype="0" accel="50000" decel="50000" fill="hold" grpId="1" nodeType="withEffect">
                                  <p:stCondLst>
                                    <p:cond delay="0"/>
                                  </p:stCondLst>
                                  <p:childTnLst>
                                    <p:animMotion origin="layout" path="M 1.45833E-6 -2.22222E-6 L 0.02565 -2.22222E-6 L 0.02734 0.14306 L 0.08476 0.14468 L 0.06094 0.20648 L 0.24844 0.20648 L 0.297 0.1169 L 0.35989 0.11852 L 0.35989 -0.01805 " pathEditMode="relative" rAng="0" ptsTypes="AAAAAAAAA">
                                      <p:cBhvr>
                                        <p:cTn id="48" dur="2000" fill="hold"/>
                                        <p:tgtEl>
                                          <p:spTgt spid="236"/>
                                        </p:tgtEl>
                                        <p:attrNameLst>
                                          <p:attrName>ppt_x</p:attrName>
                                          <p:attrName>ppt_y</p:attrName>
                                        </p:attrNameLst>
                                      </p:cBhvr>
                                      <p:rCtr x="17995" y="9421"/>
                                    </p:animMotion>
                                  </p:childTnLst>
                                </p:cTn>
                              </p:par>
                            </p:childTnLst>
                          </p:cTn>
                        </p:par>
                        <p:par>
                          <p:cTn id="49" fill="hold">
                            <p:stCondLst>
                              <p:cond delay="13000"/>
                            </p:stCondLst>
                            <p:childTnLst>
                              <p:par>
                                <p:cTn id="50" presetID="9" presetClass="exit" presetSubtype="0" fill="hold" grpId="6" nodeType="afterEffect">
                                  <p:stCondLst>
                                    <p:cond delay="0"/>
                                  </p:stCondLst>
                                  <p:childTnLst>
                                    <p:animEffect transition="out" filter="dissolve">
                                      <p:cBhvr>
                                        <p:cTn id="51" dur="500"/>
                                        <p:tgtEl>
                                          <p:spTgt spid="235"/>
                                        </p:tgtEl>
                                      </p:cBhvr>
                                    </p:animEffect>
                                    <p:set>
                                      <p:cBhvr>
                                        <p:cTn id="52" dur="1" fill="hold">
                                          <p:stCondLst>
                                            <p:cond delay="499"/>
                                          </p:stCondLst>
                                        </p:cTn>
                                        <p:tgtEl>
                                          <p:spTgt spid="23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dissolve">
                                      <p:cBhvr>
                                        <p:cTn id="57" dur="5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dissolve">
                                      <p:cBhvr>
                                        <p:cTn id="62" dur="500"/>
                                        <p:tgtEl>
                                          <p:spTgt spid="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dissolve">
                                      <p:cBhvr>
                                        <p:cTn id="6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 grpId="0" animBg="1"/>
      <p:bldP spid="235" grpId="1" animBg="1"/>
      <p:bldP spid="235" grpId="2" animBg="1"/>
      <p:bldP spid="235" grpId="3" animBg="1"/>
      <p:bldP spid="235" grpId="4" animBg="1"/>
      <p:bldP spid="235" grpId="5" animBg="1"/>
      <p:bldP spid="235" grpId="6" animBg="1"/>
      <p:bldP spid="236" grpId="0" animBg="1"/>
      <p:bldP spid="236" grpId="1" animBg="1"/>
      <p:bldP spid="237" grpId="0"/>
      <p:bldP spid="237" grpId="1"/>
      <p:bldP spid="238" grpId="0"/>
      <p:bldP spid="23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41709" y="279717"/>
            <a:ext cx="8545512" cy="669925"/>
          </a:xfrm>
        </p:spPr>
        <p:txBody>
          <a:bodyPr>
            <a:normAutofit/>
          </a:bodyPr>
          <a:lstStyle/>
          <a:p>
            <a:r>
              <a:rPr lang="en-US" sz="4000" b="1" dirty="0"/>
              <a:t>Causes/costs of congestion: scenario 2</a:t>
            </a:r>
          </a:p>
        </p:txBody>
      </p:sp>
      <p:sp>
        <p:nvSpPr>
          <p:cNvPr id="173" name="Rectangle 261">
            <a:extLst>
              <a:ext uri="{FF2B5EF4-FFF2-40B4-BE49-F238E27FC236}">
                <a16:creationId xmlns:a16="http://schemas.microsoft.com/office/drawing/2014/main" xmlns="" id="{6AE69D83-2632-D345-B492-5CABD2230391}"/>
              </a:ext>
            </a:extLst>
          </p:cNvPr>
          <p:cNvSpPr>
            <a:spLocks noChangeArrowheads="1"/>
          </p:cNvSpPr>
          <p:nvPr/>
        </p:nvSpPr>
        <p:spPr bwMode="auto">
          <a:xfrm>
            <a:off x="1105917" y="2994829"/>
            <a:ext cx="7040050" cy="1619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a:lnSpc>
                <a:spcPct val="85000"/>
              </a:lnSpc>
              <a:spcBef>
                <a:spcPct val="20000"/>
              </a:spcBef>
              <a:buClr>
                <a:srgbClr val="000099"/>
              </a:buClr>
              <a:buSzPct val="65000"/>
              <a:defRPr/>
            </a:pPr>
            <a:r>
              <a:rPr lang="en-US" altLang="ja-JP" sz="2100" kern="1200" dirty="0">
                <a:solidFill>
                  <a:srgbClr val="CC0000"/>
                </a:solidFill>
                <a:latin typeface="Calibri"/>
                <a:cs typeface="+mn-cs"/>
              </a:rPr>
              <a:t>“costs” of congestion:</a:t>
            </a:r>
            <a:r>
              <a:rPr lang="en-US" altLang="ja-JP" sz="2100" kern="1200" dirty="0">
                <a:solidFill>
                  <a:prstClr val="black"/>
                </a:solidFill>
                <a:latin typeface="Calibri"/>
                <a:cs typeface="+mn-cs"/>
              </a:rPr>
              <a:t> </a:t>
            </a:r>
          </a:p>
          <a:p>
            <a:pPr marL="257175" indent="-257175" algn="l" defTabSz="685800" rtl="0">
              <a:lnSpc>
                <a:spcPct val="85000"/>
              </a:lnSpc>
              <a:spcBef>
                <a:spcPct val="20000"/>
              </a:spcBef>
              <a:buClr>
                <a:srgbClr val="000099"/>
              </a:buClr>
              <a:buSzPct val="100000"/>
              <a:buFont typeface="Wingdings" pitchFamily="2" charset="2"/>
              <a:buChar char="§"/>
              <a:defRPr/>
            </a:pPr>
            <a:r>
              <a:rPr lang="en-US" altLang="en-US" sz="1800" kern="1200" dirty="0">
                <a:solidFill>
                  <a:prstClr val="black"/>
                </a:solidFill>
                <a:latin typeface="Calibri"/>
                <a:cs typeface="+mn-cs"/>
              </a:rPr>
              <a:t>more work (retransmission) for given receiver </a:t>
            </a:r>
            <a:r>
              <a:rPr lang="en-US" altLang="ja-JP" sz="1800" kern="1200" dirty="0">
                <a:solidFill>
                  <a:prstClr val="black"/>
                </a:solidFill>
                <a:latin typeface="Calibri"/>
                <a:cs typeface="+mn-cs"/>
              </a:rPr>
              <a:t>throughput</a:t>
            </a:r>
          </a:p>
          <a:p>
            <a:pPr marL="257175" indent="-257175" algn="l" defTabSz="685800" rtl="0">
              <a:lnSpc>
                <a:spcPct val="85000"/>
              </a:lnSpc>
              <a:spcBef>
                <a:spcPct val="20000"/>
              </a:spcBef>
              <a:buClr>
                <a:srgbClr val="000099"/>
              </a:buClr>
              <a:buSzPct val="100000"/>
              <a:buFont typeface="Wingdings" pitchFamily="2" charset="2"/>
              <a:buChar char="§"/>
              <a:defRPr/>
            </a:pPr>
            <a:r>
              <a:rPr lang="en-US" altLang="en-US" sz="1800" kern="1200" dirty="0">
                <a:solidFill>
                  <a:prstClr val="black"/>
                </a:solidFill>
                <a:latin typeface="Calibri"/>
                <a:cs typeface="+mn-cs"/>
              </a:rPr>
              <a:t>unneeded retransmissions: link carries multiple copies of a packet</a:t>
            </a:r>
          </a:p>
          <a:p>
            <a:pPr marL="514350" lvl="1" indent="-171450" algn="l" defTabSz="685800" rtl="0">
              <a:lnSpc>
                <a:spcPct val="85000"/>
              </a:lnSpc>
              <a:spcBef>
                <a:spcPct val="20000"/>
              </a:spcBef>
              <a:buClr>
                <a:srgbClr val="000099"/>
              </a:buClr>
              <a:buFont typeface="Arial" panose="020B0604020202020204" pitchFamily="34" charset="0"/>
              <a:buChar char="•"/>
              <a:defRPr/>
            </a:pPr>
            <a:r>
              <a:rPr lang="en-US" altLang="en-US" sz="1800" kern="1200" dirty="0">
                <a:solidFill>
                  <a:prstClr val="black"/>
                </a:solidFill>
                <a:latin typeface="Calibri"/>
                <a:cs typeface="+mn-cs"/>
              </a:rPr>
              <a:t>decreasing maximum achievable throughput</a:t>
            </a:r>
          </a:p>
          <a:p>
            <a:pPr marL="257175" indent="-257175" algn="l" defTabSz="685800" rtl="0">
              <a:lnSpc>
                <a:spcPct val="85000"/>
              </a:lnSpc>
              <a:spcBef>
                <a:spcPct val="20000"/>
              </a:spcBef>
              <a:buClr>
                <a:srgbClr val="000099"/>
              </a:buClr>
              <a:buSzPct val="65000"/>
              <a:buFont typeface="Wingdings" pitchFamily="2" charset="2"/>
              <a:buChar char="v"/>
              <a:defRPr/>
            </a:pPr>
            <a:endParaRPr lang="en-US" altLang="en-US" sz="1800" kern="1200" dirty="0">
              <a:solidFill>
                <a:prstClr val="black"/>
              </a:solidFill>
              <a:latin typeface="Gill Sans MT" panose="020B0502020104020203" pitchFamily="34" charset="77"/>
              <a:cs typeface="+mn-cs"/>
            </a:endParaRPr>
          </a:p>
        </p:txBody>
      </p:sp>
      <p:sp>
        <p:nvSpPr>
          <p:cNvPr id="40" name="Rectangle 281">
            <a:extLst>
              <a:ext uri="{FF2B5EF4-FFF2-40B4-BE49-F238E27FC236}">
                <a16:creationId xmlns:a16="http://schemas.microsoft.com/office/drawing/2014/main" xmlns="" id="{7AF2D119-126F-014B-83AA-56B122F05B2E}"/>
              </a:ext>
            </a:extLst>
          </p:cNvPr>
          <p:cNvSpPr>
            <a:spLocks noChangeArrowheads="1"/>
          </p:cNvSpPr>
          <p:nvPr/>
        </p:nvSpPr>
        <p:spPr bwMode="auto">
          <a:xfrm>
            <a:off x="241709" y="1176607"/>
            <a:ext cx="4825511" cy="156559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57175" indent="-257175" algn="l" defTabSz="685800" rtl="0">
              <a:lnSpc>
                <a:spcPct val="85000"/>
              </a:lnSpc>
              <a:spcBef>
                <a:spcPct val="20000"/>
              </a:spcBef>
              <a:buClr>
                <a:srgbClr val="000099"/>
              </a:buClr>
              <a:buSzPct val="65000"/>
              <a:defRPr/>
            </a:pPr>
            <a:r>
              <a:rPr lang="en-US" sz="2100" kern="1200" dirty="0">
                <a:solidFill>
                  <a:srgbClr val="000099"/>
                </a:solidFill>
                <a:latin typeface="Calibri" panose="020F0502020204030204"/>
                <a:ea typeface="ＭＳ Ｐゴシック" charset="0"/>
                <a:cs typeface="+mn-cs"/>
              </a:rPr>
              <a:t>Realistic scenario: </a:t>
            </a:r>
            <a:r>
              <a:rPr lang="en-US" sz="2100" i="1" kern="1200" dirty="0">
                <a:solidFill>
                  <a:srgbClr val="C00000"/>
                </a:solidFill>
                <a:latin typeface="Calibri" panose="020F0502020204030204"/>
                <a:ea typeface="ＭＳ Ｐゴシック" charset="0"/>
                <a:cs typeface="+mn-cs"/>
              </a:rPr>
              <a:t>un-needed</a:t>
            </a:r>
            <a:r>
              <a:rPr lang="en-US" sz="2100" kern="1200" dirty="0">
                <a:solidFill>
                  <a:srgbClr val="000099"/>
                </a:solidFill>
                <a:latin typeface="Calibri" panose="020F0502020204030204"/>
                <a:ea typeface="ＭＳ Ｐゴシック" charset="0"/>
                <a:cs typeface="+mn-cs"/>
              </a:rPr>
              <a:t> </a:t>
            </a:r>
            <a:r>
              <a:rPr lang="en-US" sz="2100" i="1" kern="1200" dirty="0">
                <a:solidFill>
                  <a:srgbClr val="CC0000"/>
                </a:solidFill>
                <a:latin typeface="Calibri" panose="020F0502020204030204"/>
                <a:ea typeface="ＭＳ Ｐゴシック" charset="0"/>
                <a:cs typeface="+mn-cs"/>
              </a:rPr>
              <a:t>duplicates</a:t>
            </a:r>
            <a:endParaRPr lang="en-US" sz="1500" kern="1200" dirty="0">
              <a:solidFill>
                <a:prstClr val="black"/>
              </a:solidFill>
              <a:latin typeface="Calibri" panose="020F0502020204030204"/>
              <a:ea typeface="ＭＳ Ｐゴシック" charset="0"/>
              <a:cs typeface="+mn-cs"/>
            </a:endParaRPr>
          </a:p>
          <a:p>
            <a:pPr marL="219075" indent="-180975" algn="l" defTabSz="685800" rtl="0">
              <a:lnSpc>
                <a:spcPct val="85000"/>
              </a:lnSpc>
              <a:spcBef>
                <a:spcPct val="20000"/>
              </a:spcBef>
              <a:buClr>
                <a:srgbClr val="000099"/>
              </a:buClr>
              <a:buSzPct val="100000"/>
              <a:buFont typeface="Wingdings" charset="2"/>
              <a:buChar char="§"/>
              <a:defRPr/>
            </a:pPr>
            <a:r>
              <a:rPr lang="en-US" sz="1650" kern="1200" dirty="0">
                <a:solidFill>
                  <a:prstClr val="black"/>
                </a:solidFill>
                <a:latin typeface="Calibri" panose="020F0502020204030204"/>
                <a:ea typeface="ＭＳ Ｐゴシック" charset="0"/>
                <a:cs typeface="+mn-cs"/>
              </a:rPr>
              <a:t>packets can be lost, dropped at router due  to full buffers – requiring retransmissions</a:t>
            </a:r>
          </a:p>
          <a:p>
            <a:pPr marL="219075" indent="-180975" algn="l" defTabSz="685800" rtl="0">
              <a:lnSpc>
                <a:spcPct val="85000"/>
              </a:lnSpc>
              <a:spcBef>
                <a:spcPct val="20000"/>
              </a:spcBef>
              <a:buClr>
                <a:srgbClr val="000099"/>
              </a:buClr>
              <a:buSzPct val="100000"/>
              <a:buFont typeface="Wingdings" charset="2"/>
              <a:buChar char="§"/>
              <a:defRPr/>
            </a:pPr>
            <a:r>
              <a:rPr lang="en-US" sz="1650" kern="1200" dirty="0">
                <a:solidFill>
                  <a:prstClr val="black"/>
                </a:solidFill>
                <a:latin typeface="Calibri" panose="020F0502020204030204"/>
                <a:ea typeface="ＭＳ Ｐゴシック" charset="0"/>
                <a:cs typeface="+mn-cs"/>
              </a:rPr>
              <a:t>but sender times can time out prematurely, sending </a:t>
            </a:r>
            <a:r>
              <a:rPr lang="en-US" sz="1650" i="1" kern="1200" dirty="0">
                <a:solidFill>
                  <a:srgbClr val="000099"/>
                </a:solidFill>
                <a:latin typeface="Calibri" panose="020F0502020204030204"/>
                <a:ea typeface="ＭＳ Ｐゴシック" charset="0"/>
                <a:cs typeface="+mn-cs"/>
              </a:rPr>
              <a:t>two</a:t>
            </a:r>
            <a:r>
              <a:rPr lang="en-US" sz="1650" i="1" kern="1200" dirty="0">
                <a:solidFill>
                  <a:prstClr val="black"/>
                </a:solidFill>
                <a:latin typeface="Calibri" panose="020F0502020204030204"/>
                <a:ea typeface="ＭＳ Ｐゴシック" charset="0"/>
                <a:cs typeface="+mn-cs"/>
              </a:rPr>
              <a:t> </a:t>
            </a:r>
            <a:r>
              <a:rPr lang="en-US" sz="1650" kern="1200" dirty="0">
                <a:solidFill>
                  <a:prstClr val="black"/>
                </a:solidFill>
                <a:latin typeface="Calibri" panose="020F0502020204030204"/>
                <a:ea typeface="ＭＳ Ｐゴシック" charset="0"/>
                <a:cs typeface="+mn-cs"/>
              </a:rPr>
              <a:t>copies, </a:t>
            </a:r>
            <a:r>
              <a:rPr lang="en-US" sz="1650" i="1" kern="1200" dirty="0">
                <a:solidFill>
                  <a:srgbClr val="0013A3"/>
                </a:solidFill>
                <a:latin typeface="Calibri" panose="020F0502020204030204"/>
                <a:ea typeface="ＭＳ Ｐゴシック" charset="0"/>
                <a:cs typeface="+mn-cs"/>
              </a:rPr>
              <a:t>both</a:t>
            </a:r>
            <a:r>
              <a:rPr lang="en-US" sz="1650" kern="1200" dirty="0">
                <a:solidFill>
                  <a:prstClr val="black"/>
                </a:solidFill>
                <a:latin typeface="Calibri" panose="020F0502020204030204"/>
                <a:ea typeface="ＭＳ Ｐゴシック" charset="0"/>
                <a:cs typeface="+mn-cs"/>
              </a:rPr>
              <a:t> of which are delivered</a:t>
            </a:r>
          </a:p>
          <a:p>
            <a:pPr marL="257175" indent="-257175" algn="l" defTabSz="685800" rtl="0">
              <a:lnSpc>
                <a:spcPct val="85000"/>
              </a:lnSpc>
              <a:spcBef>
                <a:spcPct val="20000"/>
              </a:spcBef>
              <a:buClr>
                <a:srgbClr val="000099"/>
              </a:buClr>
              <a:buSzPct val="65000"/>
              <a:buFont typeface="Wingdings" charset="0"/>
              <a:buChar char="v"/>
              <a:defRPr/>
            </a:pPr>
            <a:endParaRPr lang="en-US" sz="2100" kern="1200" dirty="0">
              <a:solidFill>
                <a:prstClr val="black"/>
              </a:solidFill>
              <a:latin typeface="Gill Sans MT" charset="0"/>
              <a:ea typeface="ＭＳ Ｐゴシック" charset="0"/>
              <a:cs typeface="+mn-cs"/>
            </a:endParaRPr>
          </a:p>
        </p:txBody>
      </p:sp>
      <p:grpSp>
        <p:nvGrpSpPr>
          <p:cNvPr id="41" name="Group 40">
            <a:extLst>
              <a:ext uri="{FF2B5EF4-FFF2-40B4-BE49-F238E27FC236}">
                <a16:creationId xmlns:a16="http://schemas.microsoft.com/office/drawing/2014/main" xmlns="" id="{6B7AE07C-3439-7545-A2C3-573952E4E75C}"/>
              </a:ext>
            </a:extLst>
          </p:cNvPr>
          <p:cNvGrpSpPr/>
          <p:nvPr/>
        </p:nvGrpSpPr>
        <p:grpSpPr>
          <a:xfrm>
            <a:off x="7516708" y="1692227"/>
            <a:ext cx="1514195" cy="1613442"/>
            <a:chOff x="10022277" y="2034920"/>
            <a:chExt cx="2018927" cy="2151256"/>
          </a:xfrm>
        </p:grpSpPr>
        <p:sp>
          <p:nvSpPr>
            <p:cNvPr id="42" name="Text Box 259">
              <a:extLst>
                <a:ext uri="{FF2B5EF4-FFF2-40B4-BE49-F238E27FC236}">
                  <a16:creationId xmlns:a16="http://schemas.microsoft.com/office/drawing/2014/main" xmlns="" id="{2AE9ED38-872D-1547-B74B-FA1C059CE888}"/>
                </a:ext>
              </a:extLst>
            </p:cNvPr>
            <p:cNvSpPr txBox="1">
              <a:spLocks noChangeArrowheads="1"/>
            </p:cNvSpPr>
            <p:nvPr/>
          </p:nvSpPr>
          <p:spPr bwMode="auto">
            <a:xfrm>
              <a:off x="10241280" y="2339516"/>
              <a:ext cx="1799924" cy="1846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latin typeface="Arial" charset="0"/>
                  <a:cs typeface="+mn-cs"/>
                </a:rPr>
                <a:t>when sending at R/2, some packets are retransmissions, including needed and </a:t>
              </a:r>
              <a:r>
                <a:rPr lang="en-US" sz="1050" i="1" kern="1200" dirty="0">
                  <a:solidFill>
                    <a:srgbClr val="C00000"/>
                  </a:solidFill>
                  <a:latin typeface="Arial" charset="0"/>
                  <a:cs typeface="+mn-cs"/>
                </a:rPr>
                <a:t>un-needed</a:t>
              </a:r>
              <a:r>
                <a:rPr lang="en-US" sz="1050" kern="1200" dirty="0">
                  <a:solidFill>
                    <a:prstClr val="black"/>
                  </a:solidFill>
                  <a:latin typeface="Arial" charset="0"/>
                  <a:cs typeface="+mn-cs"/>
                </a:rPr>
                <a:t> duplicates, that are delivered!</a:t>
              </a:r>
            </a:p>
          </p:txBody>
        </p:sp>
        <p:sp>
          <p:nvSpPr>
            <p:cNvPr id="43" name="Line 253">
              <a:extLst>
                <a:ext uri="{FF2B5EF4-FFF2-40B4-BE49-F238E27FC236}">
                  <a16:creationId xmlns:a16="http://schemas.microsoft.com/office/drawing/2014/main" xmlns="" id="{302372ED-29BD-194D-AEA3-543827366E80}"/>
                </a:ext>
              </a:extLst>
            </p:cNvPr>
            <p:cNvSpPr>
              <a:spLocks noChangeShapeType="1"/>
            </p:cNvSpPr>
            <p:nvPr/>
          </p:nvSpPr>
          <p:spPr bwMode="auto">
            <a:xfrm flipH="1" flipV="1">
              <a:off x="10022277" y="2034920"/>
              <a:ext cx="423050" cy="355155"/>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grpSp>
        <p:nvGrpSpPr>
          <p:cNvPr id="44" name="Group 43">
            <a:extLst>
              <a:ext uri="{FF2B5EF4-FFF2-40B4-BE49-F238E27FC236}">
                <a16:creationId xmlns:a16="http://schemas.microsoft.com/office/drawing/2014/main" xmlns="" id="{BE09E8EF-02E1-6F46-BE6F-8AF28BC68C97}"/>
              </a:ext>
            </a:extLst>
          </p:cNvPr>
          <p:cNvGrpSpPr/>
          <p:nvPr/>
        </p:nvGrpSpPr>
        <p:grpSpPr>
          <a:xfrm>
            <a:off x="7530082" y="1313635"/>
            <a:ext cx="1428325" cy="528606"/>
            <a:chOff x="10040109" y="1530131"/>
            <a:chExt cx="1904433" cy="704807"/>
          </a:xfrm>
        </p:grpSpPr>
        <p:sp>
          <p:nvSpPr>
            <p:cNvPr id="45" name="Text Box 252">
              <a:extLst>
                <a:ext uri="{FF2B5EF4-FFF2-40B4-BE49-F238E27FC236}">
                  <a16:creationId xmlns:a16="http://schemas.microsoft.com/office/drawing/2014/main" xmlns="" id="{6A8395FC-23AA-CB40-9968-49995B9FD415}"/>
                </a:ext>
              </a:extLst>
            </p:cNvPr>
            <p:cNvSpPr txBox="1">
              <a:spLocks noChangeArrowheads="1"/>
            </p:cNvSpPr>
            <p:nvPr/>
          </p:nvSpPr>
          <p:spPr bwMode="auto">
            <a:xfrm>
              <a:off x="10128952" y="1530131"/>
              <a:ext cx="1815590" cy="7048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lnSpc>
                  <a:spcPct val="90000"/>
                </a:lnSpc>
                <a:defRPr/>
              </a:pPr>
              <a:r>
                <a:rPr lang="en-US" sz="1050" kern="1200" dirty="0">
                  <a:solidFill>
                    <a:prstClr val="black"/>
                  </a:solidFill>
                  <a:latin typeface="Calibri" panose="020F0502020204030204"/>
                  <a:cs typeface="+mn-cs"/>
                </a:rPr>
                <a:t>“wasted” capacity due to un-needed retransmissions</a:t>
              </a:r>
            </a:p>
          </p:txBody>
        </p:sp>
        <p:sp>
          <p:nvSpPr>
            <p:cNvPr id="46" name="Right Brace 45">
              <a:extLst>
                <a:ext uri="{FF2B5EF4-FFF2-40B4-BE49-F238E27FC236}">
                  <a16:creationId xmlns:a16="http://schemas.microsoft.com/office/drawing/2014/main" xmlns="" id="{3BBD7799-5800-514D-86AF-59DCDFAD00C3}"/>
                </a:ext>
              </a:extLst>
            </p:cNvPr>
            <p:cNvSpPr/>
            <p:nvPr/>
          </p:nvSpPr>
          <p:spPr>
            <a:xfrm>
              <a:off x="10040109" y="1765940"/>
              <a:ext cx="144379" cy="223205"/>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rtl="0">
                <a:defRPr/>
              </a:pPr>
              <a:endParaRPr lang="en-US" sz="1350" kern="1200" dirty="0">
                <a:solidFill>
                  <a:prstClr val="black"/>
                </a:solidFill>
                <a:latin typeface="Calibri"/>
              </a:endParaRPr>
            </a:p>
          </p:txBody>
        </p:sp>
      </p:grpSp>
      <p:grpSp>
        <p:nvGrpSpPr>
          <p:cNvPr id="47" name="Group 46">
            <a:extLst>
              <a:ext uri="{FF2B5EF4-FFF2-40B4-BE49-F238E27FC236}">
                <a16:creationId xmlns:a16="http://schemas.microsoft.com/office/drawing/2014/main" xmlns="" id="{6D112B15-760C-5944-93D0-8A37C930F004}"/>
              </a:ext>
            </a:extLst>
          </p:cNvPr>
          <p:cNvGrpSpPr/>
          <p:nvPr/>
        </p:nvGrpSpPr>
        <p:grpSpPr>
          <a:xfrm>
            <a:off x="5521089" y="1066172"/>
            <a:ext cx="2107003" cy="1960824"/>
            <a:chOff x="7361453" y="1200180"/>
            <a:chExt cx="2809338" cy="2614432"/>
          </a:xfrm>
        </p:grpSpPr>
        <p:sp>
          <p:nvSpPr>
            <p:cNvPr id="48" name="Freeform 245">
              <a:extLst>
                <a:ext uri="{FF2B5EF4-FFF2-40B4-BE49-F238E27FC236}">
                  <a16:creationId xmlns:a16="http://schemas.microsoft.com/office/drawing/2014/main" xmlns="" id="{56604969-6E93-9D4E-BD54-3ABD094C7342}"/>
                </a:ext>
              </a:extLst>
            </p:cNvPr>
            <p:cNvSpPr>
              <a:spLocks/>
            </p:cNvSpPr>
            <p:nvPr/>
          </p:nvSpPr>
          <p:spPr bwMode="auto">
            <a:xfrm>
              <a:off x="7958715" y="1967477"/>
              <a:ext cx="2024019" cy="1384114"/>
            </a:xfrm>
            <a:custGeom>
              <a:avLst/>
              <a:gdLst>
                <a:gd name="T0" fmla="*/ 0 w 1636"/>
                <a:gd name="T1" fmla="*/ 955 h 955"/>
                <a:gd name="T2" fmla="*/ 758 w 1636"/>
                <a:gd name="T3" fmla="*/ 246 h 955"/>
                <a:gd name="T4" fmla="*/ 1636 w 1636"/>
                <a:gd name="T5" fmla="*/ 7 h 955"/>
                <a:gd name="T6" fmla="*/ 0 60000 65536"/>
                <a:gd name="T7" fmla="*/ 0 60000 65536"/>
                <a:gd name="T8" fmla="*/ 0 60000 65536"/>
                <a:gd name="connsiteX0" fmla="*/ 0 w 6072"/>
                <a:gd name="connsiteY0" fmla="*/ 8862 h 8862"/>
                <a:gd name="connsiteX1" fmla="*/ 4633 w 6072"/>
                <a:gd name="connsiteY1" fmla="*/ 1438 h 8862"/>
                <a:gd name="connsiteX2" fmla="*/ 6072 w 6072"/>
                <a:gd name="connsiteY2" fmla="*/ 120 h 8862"/>
                <a:gd name="connsiteX0" fmla="*/ 0 w 10000"/>
                <a:gd name="connsiteY0" fmla="*/ 9865 h 9865"/>
                <a:gd name="connsiteX1" fmla="*/ 7630 w 10000"/>
                <a:gd name="connsiteY1" fmla="*/ 1488 h 9865"/>
                <a:gd name="connsiteX2" fmla="*/ 10000 w 10000"/>
                <a:gd name="connsiteY2" fmla="*/ 0 h 9865"/>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630 w 10000"/>
                <a:gd name="connsiteY1" fmla="*/ 1508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7233 w 10000"/>
                <a:gd name="connsiteY1" fmla="*/ 1532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900 w 10000"/>
                <a:gd name="connsiteY1" fmla="*/ 753 h 10000"/>
                <a:gd name="connsiteX2" fmla="*/ 10000 w 10000"/>
                <a:gd name="connsiteY2" fmla="*/ 0 h 10000"/>
                <a:gd name="connsiteX0" fmla="*/ 0 w 10000"/>
                <a:gd name="connsiteY0" fmla="*/ 10000 h 10000"/>
                <a:gd name="connsiteX1" fmla="*/ 6536 w 10000"/>
                <a:gd name="connsiteY1" fmla="*/ 1223 h 10000"/>
                <a:gd name="connsiteX2" fmla="*/ 10000 w 10000"/>
                <a:gd name="connsiteY2" fmla="*/ 0 h 10000"/>
              </a:gdLst>
              <a:ahLst/>
              <a:cxnLst>
                <a:cxn ang="0">
                  <a:pos x="connsiteX0" y="connsiteY0"/>
                </a:cxn>
                <a:cxn ang="0">
                  <a:pos x="connsiteX1" y="connsiteY1"/>
                </a:cxn>
                <a:cxn ang="0">
                  <a:pos x="connsiteX2" y="connsiteY2"/>
                </a:cxn>
              </a:cxnLst>
              <a:rect l="l" t="t" r="r" b="b"/>
              <a:pathLst>
                <a:path w="10000" h="10000">
                  <a:moveTo>
                    <a:pt x="0" y="10000"/>
                  </a:moveTo>
                  <a:cubicBezTo>
                    <a:pt x="1268" y="8586"/>
                    <a:pt x="4789" y="3077"/>
                    <a:pt x="6536" y="1223"/>
                  </a:cubicBezTo>
                  <a:cubicBezTo>
                    <a:pt x="7406" y="549"/>
                    <a:pt x="8333" y="126"/>
                    <a:pt x="10000" y="0"/>
                  </a:cubicBezTo>
                </a:path>
              </a:pathLst>
            </a:custGeom>
            <a:noFill/>
            <a:ln w="28575"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a:defRPr/>
              </a:pPr>
              <a:endParaRPr lang="en-US" sz="1350" kern="1200" dirty="0">
                <a:solidFill>
                  <a:prstClr val="black"/>
                </a:solidFill>
                <a:latin typeface="Calibri" panose="020F0502020204030204"/>
                <a:ea typeface="+mn-ea"/>
                <a:cs typeface="+mn-cs"/>
              </a:endParaRPr>
            </a:p>
          </p:txBody>
        </p:sp>
        <p:grpSp>
          <p:nvGrpSpPr>
            <p:cNvPr id="49" name="Group 246">
              <a:extLst>
                <a:ext uri="{FF2B5EF4-FFF2-40B4-BE49-F238E27FC236}">
                  <a16:creationId xmlns:a16="http://schemas.microsoft.com/office/drawing/2014/main" xmlns="" id="{A189611D-8FA6-F342-BD61-72FA3E8C1B4F}"/>
                </a:ext>
              </a:extLst>
            </p:cNvPr>
            <p:cNvGrpSpPr>
              <a:grpSpLocks/>
            </p:cNvGrpSpPr>
            <p:nvPr/>
          </p:nvGrpSpPr>
          <p:grpSpPr bwMode="auto">
            <a:xfrm>
              <a:off x="8776234" y="3317991"/>
              <a:ext cx="519113" cy="430214"/>
              <a:chOff x="3583" y="1761"/>
              <a:chExt cx="327" cy="271"/>
            </a:xfrm>
          </p:grpSpPr>
          <p:sp>
            <p:nvSpPr>
              <p:cNvPr id="66" name="Text Box 247">
                <a:extLst>
                  <a:ext uri="{FF2B5EF4-FFF2-40B4-BE49-F238E27FC236}">
                    <a16:creationId xmlns:a16="http://schemas.microsoft.com/office/drawing/2014/main" xmlns="" id="{AC89A5F8-BCE7-8D47-A01F-9B344BD272D0}"/>
                  </a:ext>
                </a:extLst>
              </p:cNvPr>
              <p:cNvSpPr txBox="1">
                <a:spLocks noChangeArrowheads="1"/>
              </p:cNvSpPr>
              <p:nvPr/>
            </p:nvSpPr>
            <p:spPr bwMode="auto">
              <a:xfrm>
                <a:off x="3583" y="1761"/>
                <a:ext cx="327" cy="27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Arial" charset="0"/>
                  </a:rPr>
                  <a:t>l</a:t>
                </a:r>
                <a:r>
                  <a:rPr lang="en-US" sz="1500" kern="1200" baseline="-25000" dirty="0">
                    <a:solidFill>
                      <a:prstClr val="black"/>
                    </a:solidFill>
                    <a:latin typeface="Arial" charset="0"/>
                    <a:cs typeface="Arial" charset="0"/>
                  </a:rPr>
                  <a:t>in</a:t>
                </a:r>
              </a:p>
            </p:txBody>
          </p:sp>
          <p:sp>
            <p:nvSpPr>
              <p:cNvPr id="67" name="Line 248">
                <a:extLst>
                  <a:ext uri="{FF2B5EF4-FFF2-40B4-BE49-F238E27FC236}">
                    <a16:creationId xmlns:a16="http://schemas.microsoft.com/office/drawing/2014/main" xmlns="" id="{133A846F-DD32-BE46-BC1E-FCEF489756D4}"/>
                  </a:ext>
                </a:extLst>
              </p:cNvPr>
              <p:cNvSpPr>
                <a:spLocks noChangeShapeType="1"/>
              </p:cNvSpPr>
              <p:nvPr/>
            </p:nvSpPr>
            <p:spPr bwMode="auto">
              <a:xfrm flipV="1">
                <a:off x="3726" y="1834"/>
                <a:ext cx="24" cy="24"/>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gn="l" defTabSz="685800" rtl="0">
                  <a:defRPr/>
                </a:pPr>
                <a:endParaRPr lang="en-US" sz="1350" kern="1200" dirty="0">
                  <a:solidFill>
                    <a:prstClr val="black"/>
                  </a:solidFill>
                  <a:latin typeface="Tahoma" charset="0"/>
                  <a:ea typeface="ＭＳ Ｐゴシック" charset="0"/>
                  <a:cs typeface="+mn-cs"/>
                </a:endParaRPr>
              </a:p>
            </p:txBody>
          </p:sp>
        </p:grpSp>
        <p:sp>
          <p:nvSpPr>
            <p:cNvPr id="50" name="Line 278">
              <a:extLst>
                <a:ext uri="{FF2B5EF4-FFF2-40B4-BE49-F238E27FC236}">
                  <a16:creationId xmlns:a16="http://schemas.microsoft.com/office/drawing/2014/main" xmlns="" id="{B2180F82-DB0B-BA4F-B74F-C2A5839E0AEA}"/>
                </a:ext>
              </a:extLst>
            </p:cNvPr>
            <p:cNvSpPr>
              <a:spLocks noChangeShapeType="1"/>
            </p:cNvSpPr>
            <p:nvPr/>
          </p:nvSpPr>
          <p:spPr bwMode="auto">
            <a:xfrm>
              <a:off x="7965669" y="1200180"/>
              <a:ext cx="0" cy="215904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1" name="Line 280">
              <a:extLst>
                <a:ext uri="{FF2B5EF4-FFF2-40B4-BE49-F238E27FC236}">
                  <a16:creationId xmlns:a16="http://schemas.microsoft.com/office/drawing/2014/main" xmlns="" id="{1336F3E0-C2F4-B745-A742-6A3442BBC08E}"/>
                </a:ext>
              </a:extLst>
            </p:cNvPr>
            <p:cNvSpPr>
              <a:spLocks noChangeShapeType="1"/>
            </p:cNvSpPr>
            <p:nvPr/>
          </p:nvSpPr>
          <p:spPr bwMode="auto">
            <a:xfrm>
              <a:off x="9972557" y="1436494"/>
              <a:ext cx="0" cy="1869027"/>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2" name="Freeform 281">
              <a:extLst>
                <a:ext uri="{FF2B5EF4-FFF2-40B4-BE49-F238E27FC236}">
                  <a16:creationId xmlns:a16="http://schemas.microsoft.com/office/drawing/2014/main" xmlns="" id="{76483204-6679-0C46-979F-64F97B2FEA27}"/>
                </a:ext>
              </a:extLst>
            </p:cNvPr>
            <p:cNvSpPr>
              <a:spLocks/>
            </p:cNvSpPr>
            <p:nvPr/>
          </p:nvSpPr>
          <p:spPr bwMode="auto">
            <a:xfrm>
              <a:off x="7954426" y="1377415"/>
              <a:ext cx="2023753" cy="1965701"/>
            </a:xfrm>
            <a:custGeom>
              <a:avLst/>
              <a:gdLst>
                <a:gd name="T0" fmla="*/ 0 w 720"/>
                <a:gd name="T1" fmla="*/ 732 h 732"/>
                <a:gd name="T2" fmla="*/ 720 w 720"/>
                <a:gd name="T3" fmla="*/ 0 h 732"/>
                <a:gd name="T4" fmla="*/ 0 60000 65536"/>
                <a:gd name="T5" fmla="*/ 0 60000 65536"/>
              </a:gdLst>
              <a:ahLst/>
              <a:cxnLst>
                <a:cxn ang="T4">
                  <a:pos x="T0" y="T1"/>
                </a:cxn>
                <a:cxn ang="T5">
                  <a:pos x="T2" y="T3"/>
                </a:cxn>
              </a:cxnLst>
              <a:rect l="0" t="0" r="r" b="b"/>
              <a:pathLst>
                <a:path w="720" h="732">
                  <a:moveTo>
                    <a:pt x="0" y="732"/>
                  </a:moveTo>
                  <a:lnTo>
                    <a:pt x="720" y="0"/>
                  </a:lnTo>
                </a:path>
              </a:pathLst>
            </a:custGeom>
            <a:noFill/>
            <a:ln w="28575"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a:defRPr/>
              </a:pPr>
              <a:endParaRPr lang="en-US" sz="1350" kern="1200" dirty="0">
                <a:solidFill>
                  <a:prstClr val="black"/>
                </a:solidFill>
                <a:latin typeface="Calibri" panose="020F0502020204030204"/>
                <a:ea typeface="+mn-ea"/>
                <a:cs typeface="+mn-cs"/>
              </a:endParaRPr>
            </a:p>
          </p:txBody>
        </p:sp>
        <p:sp>
          <p:nvSpPr>
            <p:cNvPr id="53" name="Line 282">
              <a:extLst>
                <a:ext uri="{FF2B5EF4-FFF2-40B4-BE49-F238E27FC236}">
                  <a16:creationId xmlns:a16="http://schemas.microsoft.com/office/drawing/2014/main" xmlns="" id="{BEE9156E-74A8-6943-94B3-7700EC034FCE}"/>
                </a:ext>
              </a:extLst>
            </p:cNvPr>
            <p:cNvSpPr>
              <a:spLocks noChangeShapeType="1"/>
            </p:cNvSpPr>
            <p:nvPr/>
          </p:nvSpPr>
          <p:spPr bwMode="auto">
            <a:xfrm>
              <a:off x="7819509" y="1377415"/>
              <a:ext cx="140538" cy="0"/>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4" name="Line 283">
              <a:extLst>
                <a:ext uri="{FF2B5EF4-FFF2-40B4-BE49-F238E27FC236}">
                  <a16:creationId xmlns:a16="http://schemas.microsoft.com/office/drawing/2014/main" xmlns="" id="{5E6BFEC0-DE88-B94E-8423-A3D452830E31}"/>
                </a:ext>
              </a:extLst>
            </p:cNvPr>
            <p:cNvSpPr>
              <a:spLocks noChangeShapeType="1"/>
            </p:cNvSpPr>
            <p:nvPr/>
          </p:nvSpPr>
          <p:spPr bwMode="auto">
            <a:xfrm>
              <a:off x="9966936" y="3359228"/>
              <a:ext cx="0" cy="155752"/>
            </a:xfrm>
            <a:prstGeom prst="line">
              <a:avLst/>
            </a:prstGeom>
            <a:noFill/>
            <a:ln w="190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5" name="Text Box 284">
              <a:extLst>
                <a:ext uri="{FF2B5EF4-FFF2-40B4-BE49-F238E27FC236}">
                  <a16:creationId xmlns:a16="http://schemas.microsoft.com/office/drawing/2014/main" xmlns="" id="{100A63B1-F092-9049-BD5D-F838C3B7C4BE}"/>
                </a:ext>
              </a:extLst>
            </p:cNvPr>
            <p:cNvSpPr txBox="1">
              <a:spLocks noChangeArrowheads="1"/>
            </p:cNvSpPr>
            <p:nvPr/>
          </p:nvSpPr>
          <p:spPr bwMode="auto">
            <a:xfrm>
              <a:off x="7361453" y="1202895"/>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56" name="Text Box 286">
              <a:extLst>
                <a:ext uri="{FF2B5EF4-FFF2-40B4-BE49-F238E27FC236}">
                  <a16:creationId xmlns:a16="http://schemas.microsoft.com/office/drawing/2014/main" xmlns="" id="{7D1E47C8-D6ED-C94B-BC2F-5EAB5CEDE22F}"/>
                </a:ext>
              </a:extLst>
            </p:cNvPr>
            <p:cNvSpPr txBox="1">
              <a:spLocks noChangeArrowheads="1"/>
            </p:cNvSpPr>
            <p:nvPr/>
          </p:nvSpPr>
          <p:spPr bwMode="auto">
            <a:xfrm rot="16200000">
              <a:off x="7422649" y="1563377"/>
              <a:ext cx="622392"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500" kern="1200" dirty="0">
                  <a:solidFill>
                    <a:prstClr val="black"/>
                  </a:solidFill>
                  <a:latin typeface="Symbol" charset="0"/>
                  <a:cs typeface="+mn-cs"/>
                </a:rPr>
                <a:t>l</a:t>
              </a:r>
              <a:r>
                <a:rPr lang="en-US" sz="1500" kern="1200" baseline="-25000" dirty="0">
                  <a:solidFill>
                    <a:prstClr val="black"/>
                  </a:solidFill>
                  <a:latin typeface="Arial" charset="0"/>
                  <a:cs typeface="+mn-cs"/>
                </a:rPr>
                <a:t>out</a:t>
              </a:r>
            </a:p>
          </p:txBody>
        </p:sp>
        <p:sp>
          <p:nvSpPr>
            <p:cNvPr id="57" name="Line 288">
              <a:extLst>
                <a:ext uri="{FF2B5EF4-FFF2-40B4-BE49-F238E27FC236}">
                  <a16:creationId xmlns:a16="http://schemas.microsoft.com/office/drawing/2014/main" xmlns="" id="{0E2D5F21-D6F0-C540-A957-E688D74A8C7D}"/>
                </a:ext>
              </a:extLst>
            </p:cNvPr>
            <p:cNvSpPr>
              <a:spLocks noChangeShapeType="1"/>
            </p:cNvSpPr>
            <p:nvPr/>
          </p:nvSpPr>
          <p:spPr bwMode="auto">
            <a:xfrm>
              <a:off x="7999399" y="1380101"/>
              <a:ext cx="1841053" cy="0"/>
            </a:xfrm>
            <a:prstGeom prst="line">
              <a:avLst/>
            </a:prstGeom>
            <a:noFill/>
            <a:ln w="12700">
              <a:solidFill>
                <a:schemeClr val="bg1">
                  <a:lumMod val="75000"/>
                </a:schemeClr>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cxnSp>
          <p:nvCxnSpPr>
            <p:cNvPr id="58" name="Straight Connector 57">
              <a:extLst>
                <a:ext uri="{FF2B5EF4-FFF2-40B4-BE49-F238E27FC236}">
                  <a16:creationId xmlns:a16="http://schemas.microsoft.com/office/drawing/2014/main" xmlns="" id="{077CB1B6-2EC1-3F4E-98A5-C5243ED36777}"/>
                </a:ext>
              </a:extLst>
            </p:cNvPr>
            <p:cNvCxnSpPr>
              <a:cxnSpLocks/>
            </p:cNvCxnSpPr>
            <p:nvPr/>
          </p:nvCxnSpPr>
          <p:spPr>
            <a:xfrm>
              <a:off x="7976136" y="3337560"/>
              <a:ext cx="21656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xmlns="" id="{678BBF6F-1BF2-E34A-BB63-6CE7DC7FAFC6}"/>
                </a:ext>
              </a:extLst>
            </p:cNvPr>
            <p:cNvSpPr txBox="1"/>
            <p:nvPr/>
          </p:nvSpPr>
          <p:spPr>
            <a:xfrm rot="16200000">
              <a:off x="7110390" y="2403910"/>
              <a:ext cx="1292320" cy="369332"/>
            </a:xfrm>
            <a:prstGeom prst="rect">
              <a:avLst/>
            </a:prstGeom>
            <a:noFill/>
          </p:spPr>
          <p:txBody>
            <a:bodyPr wrap="none" rtlCol="0">
              <a:spAutoFit/>
            </a:bodyPr>
            <a:lstStyle/>
            <a:p>
              <a:pPr algn="l" defTabSz="685800" rtl="0">
                <a:defRPr/>
              </a:pPr>
              <a:r>
                <a:rPr lang="en-US" sz="1200" kern="1200" dirty="0">
                  <a:solidFill>
                    <a:prstClr val="black"/>
                  </a:solidFill>
                  <a:latin typeface="Calibri"/>
                  <a:ea typeface="+mn-ea"/>
                  <a:cs typeface="+mn-cs"/>
                </a:rPr>
                <a:t>throughput: </a:t>
              </a:r>
            </a:p>
          </p:txBody>
        </p:sp>
        <p:sp>
          <p:nvSpPr>
            <p:cNvPr id="60" name="Oval 59">
              <a:extLst>
                <a:ext uri="{FF2B5EF4-FFF2-40B4-BE49-F238E27FC236}">
                  <a16:creationId xmlns:a16="http://schemas.microsoft.com/office/drawing/2014/main" xmlns="" id="{8E09E356-3ED0-0441-85EB-9F2DD26A2A2E}"/>
                </a:ext>
              </a:extLst>
            </p:cNvPr>
            <p:cNvSpPr/>
            <p:nvPr/>
          </p:nvSpPr>
          <p:spPr>
            <a:xfrm>
              <a:off x="9893835" y="1336842"/>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61" name="Text Box 285">
              <a:extLst>
                <a:ext uri="{FF2B5EF4-FFF2-40B4-BE49-F238E27FC236}">
                  <a16:creationId xmlns:a16="http://schemas.microsoft.com/office/drawing/2014/main" xmlns="" id="{B150A84A-761E-204D-92C1-25DEA63EEABD}"/>
                </a:ext>
              </a:extLst>
            </p:cNvPr>
            <p:cNvSpPr txBox="1">
              <a:spLocks noChangeArrowheads="1"/>
            </p:cNvSpPr>
            <p:nvPr/>
          </p:nvSpPr>
          <p:spPr bwMode="auto">
            <a:xfrm>
              <a:off x="9646716" y="3476057"/>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cs typeface="+mn-cs"/>
                </a:rPr>
                <a:t>R/2</a:t>
              </a:r>
            </a:p>
          </p:txBody>
        </p:sp>
        <p:sp>
          <p:nvSpPr>
            <p:cNvPr id="62" name="Oval 61">
              <a:extLst>
                <a:ext uri="{FF2B5EF4-FFF2-40B4-BE49-F238E27FC236}">
                  <a16:creationId xmlns:a16="http://schemas.microsoft.com/office/drawing/2014/main" xmlns="" id="{966E84B0-D850-A24D-AE64-115C19BE83C3}"/>
                </a:ext>
              </a:extLst>
            </p:cNvPr>
            <p:cNvSpPr/>
            <p:nvPr/>
          </p:nvSpPr>
          <p:spPr>
            <a:xfrm>
              <a:off x="9912327" y="1689923"/>
              <a:ext cx="127000" cy="1270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63" name="Line 288">
              <a:extLst>
                <a:ext uri="{FF2B5EF4-FFF2-40B4-BE49-F238E27FC236}">
                  <a16:creationId xmlns:a16="http://schemas.microsoft.com/office/drawing/2014/main" xmlns="" id="{AC507C50-A700-6544-8A0E-A27D638B5553}"/>
                </a:ext>
              </a:extLst>
            </p:cNvPr>
            <p:cNvSpPr>
              <a:spLocks noChangeShapeType="1"/>
            </p:cNvSpPr>
            <p:nvPr/>
          </p:nvSpPr>
          <p:spPr bwMode="auto">
            <a:xfrm>
              <a:off x="7960093" y="1773132"/>
              <a:ext cx="1975007" cy="0"/>
            </a:xfrm>
            <a:prstGeom prst="line">
              <a:avLst/>
            </a:prstGeom>
            <a:noFill/>
            <a:ln w="12700">
              <a:solidFill>
                <a:schemeClr val="bg1">
                  <a:lumMod val="75000"/>
                </a:schemeClr>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64" name="Oval 63">
              <a:extLst>
                <a:ext uri="{FF2B5EF4-FFF2-40B4-BE49-F238E27FC236}">
                  <a16:creationId xmlns:a16="http://schemas.microsoft.com/office/drawing/2014/main" xmlns="" id="{B951CECB-9FA3-0543-B003-2298FE867A0A}"/>
                </a:ext>
              </a:extLst>
            </p:cNvPr>
            <p:cNvSpPr/>
            <p:nvPr/>
          </p:nvSpPr>
          <p:spPr>
            <a:xfrm>
              <a:off x="9908716" y="1920329"/>
              <a:ext cx="127000" cy="127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65" name="Line 288">
              <a:extLst>
                <a:ext uri="{FF2B5EF4-FFF2-40B4-BE49-F238E27FC236}">
                  <a16:creationId xmlns:a16="http://schemas.microsoft.com/office/drawing/2014/main" xmlns="" id="{EE8235DB-C263-4B47-8EDD-99EF35F83A65}"/>
                </a:ext>
              </a:extLst>
            </p:cNvPr>
            <p:cNvSpPr>
              <a:spLocks noChangeShapeType="1"/>
            </p:cNvSpPr>
            <p:nvPr/>
          </p:nvSpPr>
          <p:spPr bwMode="auto">
            <a:xfrm>
              <a:off x="7995485" y="1986203"/>
              <a:ext cx="1975007" cy="0"/>
            </a:xfrm>
            <a:prstGeom prst="line">
              <a:avLst/>
            </a:prstGeom>
            <a:noFill/>
            <a:ln w="12700">
              <a:solidFill>
                <a:schemeClr val="tx1"/>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spTree>
    <p:extLst>
      <p:ext uri="{BB962C8B-B14F-4D97-AF65-F5344CB8AC3E}">
        <p14:creationId xmlns:p14="http://schemas.microsoft.com/office/powerpoint/2010/main" val="105391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 name="Freeform 354">
            <a:extLst>
              <a:ext uri="{FF2B5EF4-FFF2-40B4-BE49-F238E27FC236}">
                <a16:creationId xmlns:a16="http://schemas.microsoft.com/office/drawing/2014/main" xmlns="" id="{FA3A6278-DB89-0C41-A34C-36879DB1B579}"/>
              </a:ext>
            </a:extLst>
          </p:cNvPr>
          <p:cNvSpPr>
            <a:spLocks/>
          </p:cNvSpPr>
          <p:nvPr/>
        </p:nvSpPr>
        <p:spPr bwMode="auto">
          <a:xfrm flipH="1">
            <a:off x="2927373" y="2345710"/>
            <a:ext cx="127092" cy="78204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153 h 9200"/>
              <a:gd name="connsiteX1" fmla="*/ 1373 w 10000"/>
              <a:gd name="connsiteY1" fmla="*/ 0 h 9200"/>
              <a:gd name="connsiteX2" fmla="*/ 0 w 10000"/>
              <a:gd name="connsiteY2" fmla="*/ 8733 h 9200"/>
              <a:gd name="connsiteX3" fmla="*/ 5082 w 10000"/>
              <a:gd name="connsiteY3" fmla="*/ 9200 h 9200"/>
              <a:gd name="connsiteX4" fmla="*/ 10000 w 10000"/>
              <a:gd name="connsiteY4" fmla="*/ 9153 h 9200"/>
              <a:gd name="connsiteX0" fmla="*/ 8955 w 8955"/>
              <a:gd name="connsiteY0" fmla="*/ 9949 h 10000"/>
              <a:gd name="connsiteX1" fmla="*/ 328 w 8955"/>
              <a:gd name="connsiteY1" fmla="*/ 0 h 10000"/>
              <a:gd name="connsiteX2" fmla="*/ 0 w 8955"/>
              <a:gd name="connsiteY2" fmla="*/ 9416 h 10000"/>
              <a:gd name="connsiteX3" fmla="*/ 4037 w 8955"/>
              <a:gd name="connsiteY3" fmla="*/ 10000 h 10000"/>
              <a:gd name="connsiteX4" fmla="*/ 8955 w 8955"/>
              <a:gd name="connsiteY4" fmla="*/ 9949 h 10000"/>
              <a:gd name="connsiteX0" fmla="*/ 8000 w 8000"/>
              <a:gd name="connsiteY0" fmla="*/ 6998 h 10000"/>
              <a:gd name="connsiteX1" fmla="*/ 366 w 8000"/>
              <a:gd name="connsiteY1" fmla="*/ 0 h 10000"/>
              <a:gd name="connsiteX2" fmla="*/ 0 w 8000"/>
              <a:gd name="connsiteY2" fmla="*/ 9416 h 10000"/>
              <a:gd name="connsiteX3" fmla="*/ 4508 w 8000"/>
              <a:gd name="connsiteY3" fmla="*/ 10000 h 10000"/>
              <a:gd name="connsiteX4" fmla="*/ 8000 w 8000"/>
              <a:gd name="connsiteY4" fmla="*/ 6998 h 10000"/>
              <a:gd name="connsiteX0" fmla="*/ 10000 w 10000"/>
              <a:gd name="connsiteY0" fmla="*/ 6998 h 11173"/>
              <a:gd name="connsiteX1" fmla="*/ 458 w 10000"/>
              <a:gd name="connsiteY1" fmla="*/ 0 h 11173"/>
              <a:gd name="connsiteX2" fmla="*/ 0 w 10000"/>
              <a:gd name="connsiteY2" fmla="*/ 9416 h 11173"/>
              <a:gd name="connsiteX3" fmla="*/ 9177 w 10000"/>
              <a:gd name="connsiteY3" fmla="*/ 11173 h 11173"/>
              <a:gd name="connsiteX4" fmla="*/ 10000 w 10000"/>
              <a:gd name="connsiteY4" fmla="*/ 6998 h 11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173">
                <a:moveTo>
                  <a:pt x="10000" y="6998"/>
                </a:moveTo>
                <a:lnTo>
                  <a:pt x="458" y="0"/>
                </a:lnTo>
                <a:cubicBezTo>
                  <a:pt x="306" y="3139"/>
                  <a:pt x="153" y="6277"/>
                  <a:pt x="0" y="9416"/>
                </a:cubicBezTo>
                <a:lnTo>
                  <a:pt x="9177" y="11173"/>
                </a:lnTo>
                <a:lnTo>
                  <a:pt x="10000" y="699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35" name="Group 334">
            <a:extLst>
              <a:ext uri="{FF2B5EF4-FFF2-40B4-BE49-F238E27FC236}">
                <a16:creationId xmlns:a16="http://schemas.microsoft.com/office/drawing/2014/main" xmlns="" id="{F857C4E7-5B60-F84D-8BB4-B434B73070E5}"/>
              </a:ext>
            </a:extLst>
          </p:cNvPr>
          <p:cNvGrpSpPr/>
          <p:nvPr/>
        </p:nvGrpSpPr>
        <p:grpSpPr>
          <a:xfrm>
            <a:off x="3043612" y="2344410"/>
            <a:ext cx="462212" cy="652040"/>
            <a:chOff x="10910964" y="2513124"/>
            <a:chExt cx="586769" cy="904023"/>
          </a:xfrm>
        </p:grpSpPr>
        <p:sp>
          <p:nvSpPr>
            <p:cNvPr id="336" name="Rectangle 335">
              <a:extLst>
                <a:ext uri="{FF2B5EF4-FFF2-40B4-BE49-F238E27FC236}">
                  <a16:creationId xmlns:a16="http://schemas.microsoft.com/office/drawing/2014/main" xmlns="" id="{610F1877-CB6B-9747-B11C-1D34E3952E75}"/>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37" name="Straight Connector 336">
              <a:extLst>
                <a:ext uri="{FF2B5EF4-FFF2-40B4-BE49-F238E27FC236}">
                  <a16:creationId xmlns:a16="http://schemas.microsoft.com/office/drawing/2014/main" xmlns="" id="{5B5CE757-ACFF-904B-89A6-4D678ED16A4A}"/>
                </a:ext>
              </a:extLst>
            </p:cNvPr>
            <p:cNvCxnSpPr/>
            <p:nvPr/>
          </p:nvCxnSpPr>
          <p:spPr>
            <a:xfrm>
              <a:off x="10910964"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xmlns="" id="{CC2F54B2-D68E-7042-8783-586E9687DE55}"/>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xmlns="" id="{4BBC8FE7-5D92-904A-AD63-57FFEB272C66}"/>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xmlns="" id="{397117FA-E151-5745-9EB1-3E245C911471}"/>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4" name="Freeform 350">
            <a:extLst>
              <a:ext uri="{FF2B5EF4-FFF2-40B4-BE49-F238E27FC236}">
                <a16:creationId xmlns:a16="http://schemas.microsoft.com/office/drawing/2014/main" xmlns="" id="{C5AF13C6-D475-8E42-B46E-37AE6E534B0E}"/>
              </a:ext>
            </a:extLst>
          </p:cNvPr>
          <p:cNvSpPr>
            <a:spLocks/>
          </p:cNvSpPr>
          <p:nvPr/>
        </p:nvSpPr>
        <p:spPr bwMode="auto">
          <a:xfrm flipH="1">
            <a:off x="1424043" y="3811269"/>
            <a:ext cx="146995" cy="754066"/>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953 h 10444"/>
              <a:gd name="connsiteX1" fmla="*/ 328 w 10000"/>
              <a:gd name="connsiteY1" fmla="*/ 0 h 10444"/>
              <a:gd name="connsiteX2" fmla="*/ 0 w 10000"/>
              <a:gd name="connsiteY2" fmla="*/ 9533 h 10444"/>
              <a:gd name="connsiteX3" fmla="*/ 7177 w 10000"/>
              <a:gd name="connsiteY3" fmla="*/ 10444 h 10444"/>
              <a:gd name="connsiteX4" fmla="*/ 10000 w 10000"/>
              <a:gd name="connsiteY4" fmla="*/ 9953 h 10444"/>
              <a:gd name="connsiteX0" fmla="*/ 7715 w 7715"/>
              <a:gd name="connsiteY0" fmla="*/ 7822 h 10444"/>
              <a:gd name="connsiteX1" fmla="*/ 328 w 7715"/>
              <a:gd name="connsiteY1" fmla="*/ 0 h 10444"/>
              <a:gd name="connsiteX2" fmla="*/ 0 w 7715"/>
              <a:gd name="connsiteY2" fmla="*/ 9533 h 10444"/>
              <a:gd name="connsiteX3" fmla="*/ 7177 w 7715"/>
              <a:gd name="connsiteY3" fmla="*/ 10444 h 10444"/>
              <a:gd name="connsiteX4" fmla="*/ 7715 w 7715"/>
              <a:gd name="connsiteY4" fmla="*/ 7822 h 10444"/>
              <a:gd name="connsiteX0" fmla="*/ 10740 w 10740"/>
              <a:gd name="connsiteY0" fmla="*/ 7489 h 10000"/>
              <a:gd name="connsiteX1" fmla="*/ 1165 w 10740"/>
              <a:gd name="connsiteY1" fmla="*/ 0 h 10000"/>
              <a:gd name="connsiteX2" fmla="*/ 0 w 10740"/>
              <a:gd name="connsiteY2" fmla="*/ 8788 h 10000"/>
              <a:gd name="connsiteX3" fmla="*/ 10043 w 10740"/>
              <a:gd name="connsiteY3" fmla="*/ 10000 h 10000"/>
              <a:gd name="connsiteX4" fmla="*/ 10740 w 10740"/>
              <a:gd name="connsiteY4" fmla="*/ 7489 h 10000"/>
              <a:gd name="connsiteX0" fmla="*/ 10740 w 10740"/>
              <a:gd name="connsiteY0" fmla="*/ 6979 h 9490"/>
              <a:gd name="connsiteX1" fmla="*/ 424 w 10740"/>
              <a:gd name="connsiteY1" fmla="*/ 0 h 9490"/>
              <a:gd name="connsiteX2" fmla="*/ 0 w 10740"/>
              <a:gd name="connsiteY2" fmla="*/ 8278 h 9490"/>
              <a:gd name="connsiteX3" fmla="*/ 10043 w 10740"/>
              <a:gd name="connsiteY3" fmla="*/ 9490 h 9490"/>
              <a:gd name="connsiteX4" fmla="*/ 10740 w 10740"/>
              <a:gd name="connsiteY4" fmla="*/ 6979 h 9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0" h="9490">
                <a:moveTo>
                  <a:pt x="10740" y="6979"/>
                </a:moveTo>
                <a:lnTo>
                  <a:pt x="424" y="0"/>
                </a:lnTo>
                <a:cubicBezTo>
                  <a:pt x="283" y="3043"/>
                  <a:pt x="141" y="5235"/>
                  <a:pt x="0" y="8278"/>
                </a:cubicBezTo>
                <a:lnTo>
                  <a:pt x="10043" y="9490"/>
                </a:lnTo>
                <a:lnTo>
                  <a:pt x="10740" y="6979"/>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29" name="Group 328">
            <a:extLst>
              <a:ext uri="{FF2B5EF4-FFF2-40B4-BE49-F238E27FC236}">
                <a16:creationId xmlns:a16="http://schemas.microsoft.com/office/drawing/2014/main" xmlns="" id="{2DB461A9-F46E-8749-BF51-45E92AA6339A}"/>
              </a:ext>
            </a:extLst>
          </p:cNvPr>
          <p:cNvGrpSpPr/>
          <p:nvPr/>
        </p:nvGrpSpPr>
        <p:grpSpPr>
          <a:xfrm>
            <a:off x="1560061" y="3813667"/>
            <a:ext cx="462212" cy="652040"/>
            <a:chOff x="10910964" y="2513124"/>
            <a:chExt cx="586769" cy="904023"/>
          </a:xfrm>
        </p:grpSpPr>
        <p:sp>
          <p:nvSpPr>
            <p:cNvPr id="330" name="Rectangle 329">
              <a:extLst>
                <a:ext uri="{FF2B5EF4-FFF2-40B4-BE49-F238E27FC236}">
                  <a16:creationId xmlns:a16="http://schemas.microsoft.com/office/drawing/2014/main" xmlns="" id="{7D39F858-8BB0-A642-89CC-2F019B33E697}"/>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31" name="Straight Connector 330">
              <a:extLst>
                <a:ext uri="{FF2B5EF4-FFF2-40B4-BE49-F238E27FC236}">
                  <a16:creationId xmlns:a16="http://schemas.microsoft.com/office/drawing/2014/main" xmlns="" id="{B201F6E9-50D4-2949-B445-79D78C6E2F8A}"/>
                </a:ext>
              </a:extLst>
            </p:cNvPr>
            <p:cNvCxnSpPr/>
            <p:nvPr/>
          </p:nvCxnSpPr>
          <p:spPr>
            <a:xfrm>
              <a:off x="10910964"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xmlns="" id="{CED38CC1-6A45-214C-BEAA-3AA92EF8440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xmlns="" id="{55F19835-EB3A-3D40-8C3C-0E365455DD32}"/>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xmlns="" id="{F1796FFE-1845-5840-8B13-398696D75E0E}"/>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5" name="Freeform 347">
            <a:extLst>
              <a:ext uri="{FF2B5EF4-FFF2-40B4-BE49-F238E27FC236}">
                <a16:creationId xmlns:a16="http://schemas.microsoft.com/office/drawing/2014/main" xmlns="" id="{84CB63DB-E546-6447-B0B5-8E43F3CC8290}"/>
              </a:ext>
            </a:extLst>
          </p:cNvPr>
          <p:cNvSpPr>
            <a:spLocks/>
          </p:cNvSpPr>
          <p:nvPr/>
        </p:nvSpPr>
        <p:spPr bwMode="auto">
          <a:xfrm>
            <a:off x="6076950" y="3919573"/>
            <a:ext cx="126737" cy="841911"/>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10000 w 10000"/>
              <a:gd name="connsiteY0" fmla="*/ 9953 h 11066"/>
              <a:gd name="connsiteX1" fmla="*/ 328 w 10000"/>
              <a:gd name="connsiteY1" fmla="*/ 0 h 11066"/>
              <a:gd name="connsiteX2" fmla="*/ 0 w 10000"/>
              <a:gd name="connsiteY2" fmla="*/ 9533 h 11066"/>
              <a:gd name="connsiteX3" fmla="*/ 6605 w 10000"/>
              <a:gd name="connsiteY3" fmla="*/ 11066 h 11066"/>
              <a:gd name="connsiteX4" fmla="*/ 10000 w 10000"/>
              <a:gd name="connsiteY4" fmla="*/ 9953 h 11066"/>
              <a:gd name="connsiteX0" fmla="*/ 7144 w 7144"/>
              <a:gd name="connsiteY0" fmla="*/ 7022 h 11066"/>
              <a:gd name="connsiteX1" fmla="*/ 328 w 7144"/>
              <a:gd name="connsiteY1" fmla="*/ 0 h 11066"/>
              <a:gd name="connsiteX2" fmla="*/ 0 w 7144"/>
              <a:gd name="connsiteY2" fmla="*/ 9533 h 11066"/>
              <a:gd name="connsiteX3" fmla="*/ 6605 w 7144"/>
              <a:gd name="connsiteY3" fmla="*/ 11066 h 11066"/>
              <a:gd name="connsiteX4" fmla="*/ 7144 w 7144"/>
              <a:gd name="connsiteY4" fmla="*/ 7022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4" h="11066">
                <a:moveTo>
                  <a:pt x="7144" y="7022"/>
                </a:moveTo>
                <a:lnTo>
                  <a:pt x="328" y="0"/>
                </a:lnTo>
                <a:cubicBezTo>
                  <a:pt x="219" y="3178"/>
                  <a:pt x="109" y="6355"/>
                  <a:pt x="0" y="9533"/>
                </a:cubicBezTo>
                <a:lnTo>
                  <a:pt x="6605" y="11066"/>
                </a:lnTo>
                <a:cubicBezTo>
                  <a:pt x="6785" y="9718"/>
                  <a:pt x="6964" y="8370"/>
                  <a:pt x="7144" y="7022"/>
                </a:cubicBez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323" name="Group 322">
            <a:extLst>
              <a:ext uri="{FF2B5EF4-FFF2-40B4-BE49-F238E27FC236}">
                <a16:creationId xmlns:a16="http://schemas.microsoft.com/office/drawing/2014/main" xmlns="" id="{EECEBAA5-183F-9943-8745-DBAE2D8B7061}"/>
              </a:ext>
            </a:extLst>
          </p:cNvPr>
          <p:cNvGrpSpPr/>
          <p:nvPr/>
        </p:nvGrpSpPr>
        <p:grpSpPr>
          <a:xfrm>
            <a:off x="5628132" y="3973009"/>
            <a:ext cx="462211" cy="652040"/>
            <a:chOff x="10910965" y="2513124"/>
            <a:chExt cx="586768" cy="904023"/>
          </a:xfrm>
        </p:grpSpPr>
        <p:sp>
          <p:nvSpPr>
            <p:cNvPr id="324" name="Rectangle 323">
              <a:extLst>
                <a:ext uri="{FF2B5EF4-FFF2-40B4-BE49-F238E27FC236}">
                  <a16:creationId xmlns:a16="http://schemas.microsoft.com/office/drawing/2014/main" xmlns="" id="{9D6A6B6B-5FD6-2346-A3EE-BD1582FAB00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25" name="Straight Connector 324">
              <a:extLst>
                <a:ext uri="{FF2B5EF4-FFF2-40B4-BE49-F238E27FC236}">
                  <a16:creationId xmlns:a16="http://schemas.microsoft.com/office/drawing/2014/main" xmlns="" id="{0F3D8B01-03BD-E34A-BAFB-7952B32F9270}"/>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xmlns="" id="{0BDB3107-533F-3542-94CF-BC06F61D2FD6}"/>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xmlns="" id="{64DC87E4-F7BE-8A4B-91C3-596857C5FB13}"/>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xmlns="" id="{77C12250-985A-8B45-B946-123BAC2C8B7B}"/>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6" name="Freeform 344">
            <a:extLst>
              <a:ext uri="{FF2B5EF4-FFF2-40B4-BE49-F238E27FC236}">
                <a16:creationId xmlns:a16="http://schemas.microsoft.com/office/drawing/2014/main" xmlns="" id="{F7EB3EDB-2BCE-F949-BF32-4926B0702E72}"/>
              </a:ext>
            </a:extLst>
          </p:cNvPr>
          <p:cNvSpPr>
            <a:spLocks/>
          </p:cNvSpPr>
          <p:nvPr/>
        </p:nvSpPr>
        <p:spPr bwMode="auto">
          <a:xfrm>
            <a:off x="6429018" y="2412048"/>
            <a:ext cx="167273" cy="933134"/>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 name="connsiteX0" fmla="*/ 9429 w 9429"/>
              <a:gd name="connsiteY0" fmla="*/ 8488 h 10000"/>
              <a:gd name="connsiteX1" fmla="*/ 328 w 9429"/>
              <a:gd name="connsiteY1" fmla="*/ 0 h 10000"/>
              <a:gd name="connsiteX2" fmla="*/ 0 w 9429"/>
              <a:gd name="connsiteY2" fmla="*/ 9533 h 10000"/>
              <a:gd name="connsiteX3" fmla="*/ 5082 w 9429"/>
              <a:gd name="connsiteY3" fmla="*/ 10000 h 10000"/>
              <a:gd name="connsiteX4" fmla="*/ 9429 w 9429"/>
              <a:gd name="connsiteY4" fmla="*/ 8488 h 10000"/>
              <a:gd name="connsiteX0" fmla="*/ 10000 w 10000"/>
              <a:gd name="connsiteY0" fmla="*/ 8488 h 12265"/>
              <a:gd name="connsiteX1" fmla="*/ 348 w 10000"/>
              <a:gd name="connsiteY1" fmla="*/ 0 h 12265"/>
              <a:gd name="connsiteX2" fmla="*/ 0 w 10000"/>
              <a:gd name="connsiteY2" fmla="*/ 9533 h 12265"/>
              <a:gd name="connsiteX3" fmla="*/ 9025 w 10000"/>
              <a:gd name="connsiteY3" fmla="*/ 12265 h 12265"/>
              <a:gd name="connsiteX4" fmla="*/ 10000 w 10000"/>
              <a:gd name="connsiteY4" fmla="*/ 8488 h 122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265">
                <a:moveTo>
                  <a:pt x="10000" y="8488"/>
                </a:moveTo>
                <a:lnTo>
                  <a:pt x="348" y="0"/>
                </a:lnTo>
                <a:lnTo>
                  <a:pt x="0" y="9533"/>
                </a:lnTo>
                <a:lnTo>
                  <a:pt x="9025" y="12265"/>
                </a:lnTo>
                <a:lnTo>
                  <a:pt x="10000" y="848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17091" y="279227"/>
            <a:ext cx="8545512" cy="669925"/>
          </a:xfrm>
        </p:spPr>
        <p:txBody>
          <a:bodyPr>
            <a:normAutofit/>
          </a:bodyPr>
          <a:lstStyle/>
          <a:p>
            <a:r>
              <a:rPr lang="en-US" sz="4000" b="1" dirty="0"/>
              <a:t>Causes/costs of congestion: scenario 3</a:t>
            </a:r>
          </a:p>
        </p:txBody>
      </p:sp>
      <p:sp>
        <p:nvSpPr>
          <p:cNvPr id="173" name="Rectangle 3">
            <a:extLst>
              <a:ext uri="{FF2B5EF4-FFF2-40B4-BE49-F238E27FC236}">
                <a16:creationId xmlns:a16="http://schemas.microsoft.com/office/drawing/2014/main" xmlns="" id="{99753E1D-5DEC-E947-8B37-6AF7D72D62A8}"/>
              </a:ext>
            </a:extLst>
          </p:cNvPr>
          <p:cNvSpPr txBox="1">
            <a:spLocks noChangeArrowheads="1"/>
          </p:cNvSpPr>
          <p:nvPr/>
        </p:nvSpPr>
        <p:spPr>
          <a:xfrm>
            <a:off x="702469" y="990600"/>
            <a:ext cx="2840831" cy="935831"/>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1800" i="1" dirty="0">
                <a:solidFill>
                  <a:prstClr val="black"/>
                </a:solidFill>
                <a:latin typeface="Calibri" panose="020F0502020204030204"/>
              </a:rPr>
              <a:t>four </a:t>
            </a:r>
            <a:r>
              <a:rPr lang="en-US" sz="1800" dirty="0">
                <a:solidFill>
                  <a:prstClr val="black"/>
                </a:solidFill>
                <a:latin typeface="Calibri" panose="020F0502020204030204"/>
              </a:rPr>
              <a:t>senders</a:t>
            </a:r>
          </a:p>
          <a:p>
            <a:pPr marL="264319" indent="-166688" defTabSz="685800">
              <a:spcBef>
                <a:spcPts val="750"/>
              </a:spcBef>
              <a:buFont typeface="Wingdings" charset="2"/>
              <a:buChar char="§"/>
              <a:defRPr/>
            </a:pPr>
            <a:r>
              <a:rPr lang="en-US" sz="1800" i="1" dirty="0">
                <a:solidFill>
                  <a:prstClr val="black"/>
                </a:solidFill>
                <a:latin typeface="Calibri" panose="020F0502020204030204"/>
              </a:rPr>
              <a:t>multi-hop</a:t>
            </a:r>
            <a:r>
              <a:rPr lang="en-US" sz="1800" dirty="0">
                <a:solidFill>
                  <a:prstClr val="black"/>
                </a:solidFill>
                <a:latin typeface="Calibri" panose="020F0502020204030204"/>
              </a:rPr>
              <a:t> paths</a:t>
            </a:r>
          </a:p>
          <a:p>
            <a:pPr marL="264319" indent="-166688" defTabSz="685800">
              <a:spcBef>
                <a:spcPts val="750"/>
              </a:spcBef>
              <a:buFont typeface="Wingdings" charset="2"/>
              <a:buChar char="§"/>
              <a:defRPr/>
            </a:pPr>
            <a:r>
              <a:rPr lang="en-US" sz="1800" dirty="0">
                <a:solidFill>
                  <a:prstClr val="black"/>
                </a:solidFill>
                <a:latin typeface="Calibri" panose="020F0502020204030204"/>
              </a:rPr>
              <a:t>timeout/retransmit</a:t>
            </a: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p:txBody>
      </p:sp>
      <p:sp>
        <p:nvSpPr>
          <p:cNvPr id="174" name="Rectangle 7">
            <a:extLst>
              <a:ext uri="{FF2B5EF4-FFF2-40B4-BE49-F238E27FC236}">
                <a16:creationId xmlns:a16="http://schemas.microsoft.com/office/drawing/2014/main" xmlns="" id="{2D1E8573-2F28-9941-A79E-BF2F04742572}"/>
              </a:ext>
            </a:extLst>
          </p:cNvPr>
          <p:cNvSpPr>
            <a:spLocks noChangeArrowheads="1"/>
          </p:cNvSpPr>
          <p:nvPr/>
        </p:nvSpPr>
        <p:spPr bwMode="auto">
          <a:xfrm>
            <a:off x="3550444" y="954881"/>
            <a:ext cx="4698206" cy="39459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a:lnSpc>
                <a:spcPct val="85000"/>
              </a:lnSpc>
              <a:spcBef>
                <a:spcPct val="20000"/>
              </a:spcBef>
              <a:buClr>
                <a:srgbClr val="000099"/>
              </a:buClr>
              <a:buSzPct val="65000"/>
              <a:defRPr/>
            </a:pPr>
            <a:r>
              <a:rPr lang="en-US" altLang="en-US" sz="2100" u="sng" kern="1200" dirty="0">
                <a:solidFill>
                  <a:srgbClr val="CC0000"/>
                </a:solidFill>
                <a:latin typeface="Calibri" panose="020F0502020204030204"/>
                <a:cs typeface="+mn-cs"/>
              </a:rPr>
              <a:t>Q:</a:t>
            </a:r>
            <a:r>
              <a:rPr lang="en-US" altLang="en-US" sz="1800" kern="1200" dirty="0">
                <a:solidFill>
                  <a:srgbClr val="FF0000"/>
                </a:solidFill>
                <a:latin typeface="Calibri" panose="020F0502020204030204"/>
                <a:cs typeface="+mn-cs"/>
              </a:rPr>
              <a:t> </a:t>
            </a:r>
            <a:r>
              <a:rPr lang="en-US" altLang="en-US" sz="1800" kern="1200" dirty="0">
                <a:solidFill>
                  <a:prstClr val="black"/>
                </a:solidFill>
                <a:latin typeface="Calibri" panose="020F0502020204030204"/>
                <a:cs typeface="+mn-cs"/>
              </a:rPr>
              <a:t>what happens as </a:t>
            </a:r>
            <a:r>
              <a:rPr lang="en-US" altLang="en-US" sz="1800" kern="1200" dirty="0">
                <a:solidFill>
                  <a:srgbClr val="CC0000"/>
                </a:solidFill>
                <a:latin typeface="Symbol" pitchFamily="2" charset="2"/>
                <a:cs typeface="+mn-cs"/>
              </a:rPr>
              <a:t>l</a:t>
            </a:r>
            <a:r>
              <a:rPr lang="en-US" altLang="en-US" sz="1800" kern="1200" baseline="-25000" dirty="0">
                <a:solidFill>
                  <a:srgbClr val="CC0000"/>
                </a:solidFill>
                <a:latin typeface="Gill Sans MT" panose="020B0502020104020203" pitchFamily="34" charset="77"/>
                <a:cs typeface="+mn-cs"/>
              </a:rPr>
              <a:t>in</a:t>
            </a:r>
            <a:r>
              <a:rPr lang="en-US" altLang="en-US" sz="1800" kern="1200" dirty="0">
                <a:solidFill>
                  <a:srgbClr val="CC0000"/>
                </a:solidFill>
                <a:latin typeface="Gill Sans MT" panose="020B0502020104020203" pitchFamily="34" charset="77"/>
                <a:cs typeface="+mn-cs"/>
              </a:rPr>
              <a:t> </a:t>
            </a:r>
            <a:r>
              <a:rPr lang="en-US" altLang="en-US" sz="1800" kern="1200" dirty="0">
                <a:solidFill>
                  <a:prstClr val="black"/>
                </a:solidFill>
                <a:latin typeface="Calibri" panose="020F0502020204030204"/>
                <a:cs typeface="+mn-cs"/>
              </a:rPr>
              <a:t>and</a:t>
            </a:r>
            <a:r>
              <a:rPr lang="en-US" altLang="en-US" sz="1800" kern="1200" dirty="0">
                <a:solidFill>
                  <a:prstClr val="black"/>
                </a:solidFill>
                <a:latin typeface="Gill Sans MT" panose="020B0502020104020203" pitchFamily="34" charset="77"/>
                <a:cs typeface="+mn-cs"/>
              </a:rPr>
              <a:t> </a:t>
            </a:r>
            <a:r>
              <a:rPr lang="en-US" altLang="en-US" sz="1800" kern="1200" dirty="0">
                <a:solidFill>
                  <a:srgbClr val="CC0000"/>
                </a:solidFill>
                <a:latin typeface="Symbol" pitchFamily="2" charset="2"/>
                <a:cs typeface="+mn-cs"/>
              </a:rPr>
              <a:t>l</a:t>
            </a:r>
            <a:r>
              <a:rPr lang="en-US" altLang="en-US" sz="1800" kern="1200" baseline="-25000" dirty="0">
                <a:solidFill>
                  <a:srgbClr val="CC0000"/>
                </a:solidFill>
                <a:latin typeface="Gill Sans MT" panose="020B0502020104020203" pitchFamily="34" charset="77"/>
                <a:cs typeface="+mn-cs"/>
              </a:rPr>
              <a:t>in</a:t>
            </a:r>
            <a:r>
              <a:rPr lang="ja-JP" altLang="en-US" sz="1800" b="1" kern="1200" baseline="30000">
                <a:solidFill>
                  <a:srgbClr val="CC0000"/>
                </a:solidFill>
                <a:latin typeface="Arial" panose="020B0604020202020204" pitchFamily="34" charset="0"/>
                <a:cs typeface="Arial" panose="020B0604020202020204" pitchFamily="34" charset="0"/>
              </a:rPr>
              <a:t>’</a:t>
            </a:r>
            <a:r>
              <a:rPr lang="en-US" altLang="ja-JP" sz="1800" kern="1200" dirty="0">
                <a:solidFill>
                  <a:prstClr val="black"/>
                </a:solidFill>
                <a:latin typeface="Gill Sans MT" panose="020B0502020104020203" pitchFamily="34" charset="77"/>
                <a:cs typeface="+mn-cs"/>
              </a:rPr>
              <a:t> </a:t>
            </a:r>
            <a:r>
              <a:rPr lang="en-US" altLang="ja-JP" sz="1800" kern="1200" dirty="0">
                <a:solidFill>
                  <a:prstClr val="black"/>
                </a:solidFill>
                <a:latin typeface="Calibri" panose="020F0502020204030204"/>
                <a:cs typeface="+mn-cs"/>
              </a:rPr>
              <a:t>increase ?</a:t>
            </a:r>
            <a:endParaRPr lang="en-US" altLang="en-US" sz="1800" kern="1200" dirty="0">
              <a:solidFill>
                <a:prstClr val="black"/>
              </a:solidFill>
              <a:latin typeface="Calibri" panose="020F0502020204030204"/>
              <a:cs typeface="+mn-cs"/>
            </a:endParaRPr>
          </a:p>
        </p:txBody>
      </p:sp>
      <p:sp>
        <p:nvSpPr>
          <p:cNvPr id="176" name="Rectangle 356">
            <a:extLst>
              <a:ext uri="{FF2B5EF4-FFF2-40B4-BE49-F238E27FC236}">
                <a16:creationId xmlns:a16="http://schemas.microsoft.com/office/drawing/2014/main" xmlns="" id="{F4C88F76-884B-3642-8A4C-9AF73E19454E}"/>
              </a:ext>
            </a:extLst>
          </p:cNvPr>
          <p:cNvSpPr>
            <a:spLocks noChangeArrowheads="1"/>
          </p:cNvSpPr>
          <p:nvPr/>
        </p:nvSpPr>
        <p:spPr bwMode="auto">
          <a:xfrm>
            <a:off x="3573196" y="1353705"/>
            <a:ext cx="5245894" cy="800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a:lnSpc>
                <a:spcPct val="85000"/>
              </a:lnSpc>
              <a:spcBef>
                <a:spcPct val="20000"/>
              </a:spcBef>
              <a:buClr>
                <a:srgbClr val="000099"/>
              </a:buClr>
              <a:buSzPct val="65000"/>
              <a:defRPr/>
            </a:pPr>
            <a:r>
              <a:rPr lang="en-US" altLang="en-US" sz="2100" u="sng" kern="1200" dirty="0">
                <a:solidFill>
                  <a:srgbClr val="CC0000"/>
                </a:solidFill>
                <a:latin typeface="Calibri" panose="020F0502020204030204"/>
                <a:cs typeface="+mn-cs"/>
              </a:rPr>
              <a:t>A:</a:t>
            </a:r>
            <a:r>
              <a:rPr lang="en-US" altLang="en-US" sz="1800" kern="1200" dirty="0">
                <a:solidFill>
                  <a:srgbClr val="FF0000"/>
                </a:solidFill>
                <a:latin typeface="Calibri" panose="020F0502020204030204"/>
                <a:cs typeface="+mn-cs"/>
              </a:rPr>
              <a:t> </a:t>
            </a:r>
            <a:r>
              <a:rPr lang="en-US" altLang="en-US" sz="1800" kern="1200" dirty="0">
                <a:solidFill>
                  <a:prstClr val="black"/>
                </a:solidFill>
                <a:latin typeface="Calibri" panose="020F0502020204030204"/>
                <a:cs typeface="+mn-cs"/>
              </a:rPr>
              <a:t>as red  </a:t>
            </a:r>
            <a:r>
              <a:rPr lang="en-US" altLang="en-US" sz="1800" kern="1200" dirty="0">
                <a:solidFill>
                  <a:srgbClr val="CC0000"/>
                </a:solidFill>
                <a:latin typeface="Symbol" pitchFamily="2" charset="2"/>
                <a:cs typeface="+mn-cs"/>
              </a:rPr>
              <a:t>l</a:t>
            </a:r>
            <a:r>
              <a:rPr lang="en-US" altLang="en-US" sz="1800" kern="1200" baseline="-25000" dirty="0">
                <a:solidFill>
                  <a:srgbClr val="CC0000"/>
                </a:solidFill>
                <a:latin typeface="Gill Sans MT" panose="020B0502020104020203" pitchFamily="34" charset="77"/>
                <a:cs typeface="+mn-cs"/>
              </a:rPr>
              <a:t>in</a:t>
            </a:r>
            <a:r>
              <a:rPr lang="ja-JP" altLang="en-US" sz="1800" kern="1200" baseline="30000">
                <a:solidFill>
                  <a:srgbClr val="CC0000"/>
                </a:solidFill>
                <a:latin typeface="Arial" panose="020B0604020202020204" pitchFamily="34" charset="0"/>
                <a:cs typeface="Arial" panose="020B0604020202020204" pitchFamily="34" charset="0"/>
              </a:rPr>
              <a:t>’</a:t>
            </a:r>
            <a:r>
              <a:rPr lang="en-US" altLang="ja-JP" sz="1800" kern="1200" dirty="0">
                <a:solidFill>
                  <a:prstClr val="black"/>
                </a:solidFill>
                <a:latin typeface="Arial" panose="020B0604020202020204" pitchFamily="34" charset="0"/>
                <a:cs typeface="Arial" panose="020B0604020202020204" pitchFamily="34" charset="0"/>
              </a:rPr>
              <a:t> </a:t>
            </a:r>
            <a:r>
              <a:rPr lang="en-US" altLang="ja-JP" sz="1800" kern="1200" dirty="0">
                <a:solidFill>
                  <a:prstClr val="black"/>
                </a:solidFill>
                <a:latin typeface="Calibri" panose="020F0502020204030204"/>
                <a:cs typeface="+mn-cs"/>
              </a:rPr>
              <a:t>increases, all arriving blue pkts at upper queue are dropped, blue throughput </a:t>
            </a:r>
            <a:r>
              <a:rPr lang="en-US" altLang="ja-JP" sz="1800" kern="1200" dirty="0">
                <a:solidFill>
                  <a:prstClr val="black"/>
                </a:solidFill>
                <a:latin typeface="Wingdings 3" pitchFamily="2" charset="2"/>
                <a:cs typeface="+mn-cs"/>
              </a:rPr>
              <a:t>g</a:t>
            </a:r>
            <a:r>
              <a:rPr lang="en-US" altLang="ja-JP" sz="1800" kern="1200" dirty="0">
                <a:solidFill>
                  <a:prstClr val="black"/>
                </a:solidFill>
                <a:latin typeface="Gill Sans MT" panose="020B0502020104020203" pitchFamily="34" charset="77"/>
                <a:cs typeface="+mn-cs"/>
              </a:rPr>
              <a:t> </a:t>
            </a:r>
            <a:r>
              <a:rPr lang="en-US" altLang="ja-JP" sz="1800" kern="1200" dirty="0">
                <a:solidFill>
                  <a:prstClr val="black"/>
                </a:solidFill>
                <a:latin typeface="Calibri" panose="020F0502020204030204"/>
                <a:cs typeface="+mn-cs"/>
              </a:rPr>
              <a:t>0</a:t>
            </a:r>
            <a:endParaRPr lang="en-US" altLang="en-US" sz="1800" kern="1200" dirty="0">
              <a:solidFill>
                <a:prstClr val="black"/>
              </a:solidFill>
              <a:latin typeface="Calibri" panose="020F0502020204030204"/>
              <a:cs typeface="+mn-cs"/>
            </a:endParaRPr>
          </a:p>
        </p:txBody>
      </p:sp>
      <p:grpSp>
        <p:nvGrpSpPr>
          <p:cNvPr id="1036" name="Group 1035">
            <a:extLst>
              <a:ext uri="{FF2B5EF4-FFF2-40B4-BE49-F238E27FC236}">
                <a16:creationId xmlns:a16="http://schemas.microsoft.com/office/drawing/2014/main" xmlns="" id="{1590867D-F685-4246-ABDB-FB690B552C22}"/>
              </a:ext>
            </a:extLst>
          </p:cNvPr>
          <p:cNvGrpSpPr/>
          <p:nvPr/>
        </p:nvGrpSpPr>
        <p:grpSpPr>
          <a:xfrm>
            <a:off x="4261639" y="3292458"/>
            <a:ext cx="761739" cy="342211"/>
            <a:chOff x="7493876" y="2774731"/>
            <a:chExt cx="1481958" cy="894622"/>
          </a:xfrm>
        </p:grpSpPr>
        <p:sp>
          <p:nvSpPr>
            <p:cNvPr id="1037" name="Freeform 1036">
              <a:extLst>
                <a:ext uri="{FF2B5EF4-FFF2-40B4-BE49-F238E27FC236}">
                  <a16:creationId xmlns:a16="http://schemas.microsoft.com/office/drawing/2014/main" xmlns="" id="{7E35F043-BF45-9F46-96E3-BB3ADBEDD6E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1038" name="Oval 1037">
              <a:extLst>
                <a:ext uri="{FF2B5EF4-FFF2-40B4-BE49-F238E27FC236}">
                  <a16:creationId xmlns:a16="http://schemas.microsoft.com/office/drawing/2014/main" xmlns="" id="{A5ADF05E-2312-1D4F-9BE0-1759E9B9353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1039" name="Group 1038">
              <a:extLst>
                <a:ext uri="{FF2B5EF4-FFF2-40B4-BE49-F238E27FC236}">
                  <a16:creationId xmlns:a16="http://schemas.microsoft.com/office/drawing/2014/main" xmlns="" id="{7FACC5C7-906C-2B46-A172-006761C86F1E}"/>
                </a:ext>
              </a:extLst>
            </p:cNvPr>
            <p:cNvGrpSpPr/>
            <p:nvPr/>
          </p:nvGrpSpPr>
          <p:grpSpPr>
            <a:xfrm>
              <a:off x="7713663" y="2848339"/>
              <a:ext cx="1042107" cy="425543"/>
              <a:chOff x="7786941" y="2884917"/>
              <a:chExt cx="897649" cy="353919"/>
            </a:xfrm>
          </p:grpSpPr>
          <p:sp>
            <p:nvSpPr>
              <p:cNvPr id="1040" name="Freeform 1039">
                <a:extLst>
                  <a:ext uri="{FF2B5EF4-FFF2-40B4-BE49-F238E27FC236}">
                    <a16:creationId xmlns:a16="http://schemas.microsoft.com/office/drawing/2014/main" xmlns="" id="{9AAEEAEF-FEE3-4C4F-A60E-ECD453E41A3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41" name="Freeform 1040">
                <a:extLst>
                  <a:ext uri="{FF2B5EF4-FFF2-40B4-BE49-F238E27FC236}">
                    <a16:creationId xmlns:a16="http://schemas.microsoft.com/office/drawing/2014/main" xmlns="" id="{848C9694-3AFB-E942-B20A-3BD722A410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42" name="Freeform 1041">
                <a:extLst>
                  <a:ext uri="{FF2B5EF4-FFF2-40B4-BE49-F238E27FC236}">
                    <a16:creationId xmlns:a16="http://schemas.microsoft.com/office/drawing/2014/main" xmlns="" id="{17CFC228-2824-994D-9EA7-CCABCA1A5AD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43" name="Freeform 1042">
                <a:extLst>
                  <a:ext uri="{FF2B5EF4-FFF2-40B4-BE49-F238E27FC236}">
                    <a16:creationId xmlns:a16="http://schemas.microsoft.com/office/drawing/2014/main" xmlns="" id="{A7328784-CE2A-0440-8AE9-F80D315E67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1028" name="Group 1027">
            <a:extLst>
              <a:ext uri="{FF2B5EF4-FFF2-40B4-BE49-F238E27FC236}">
                <a16:creationId xmlns:a16="http://schemas.microsoft.com/office/drawing/2014/main" xmlns="" id="{D5682828-EA87-794F-BF60-819D7667E9EF}"/>
              </a:ext>
            </a:extLst>
          </p:cNvPr>
          <p:cNvGrpSpPr/>
          <p:nvPr/>
        </p:nvGrpSpPr>
        <p:grpSpPr>
          <a:xfrm>
            <a:off x="4472119" y="3842337"/>
            <a:ext cx="761739" cy="342211"/>
            <a:chOff x="7493876" y="2774731"/>
            <a:chExt cx="1481958" cy="894622"/>
          </a:xfrm>
        </p:grpSpPr>
        <p:sp>
          <p:nvSpPr>
            <p:cNvPr id="1029" name="Freeform 1028">
              <a:extLst>
                <a:ext uri="{FF2B5EF4-FFF2-40B4-BE49-F238E27FC236}">
                  <a16:creationId xmlns:a16="http://schemas.microsoft.com/office/drawing/2014/main" xmlns="" id="{2056B1E8-7373-0941-8FA2-77B0D784D6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1030" name="Oval 1029">
              <a:extLst>
                <a:ext uri="{FF2B5EF4-FFF2-40B4-BE49-F238E27FC236}">
                  <a16:creationId xmlns:a16="http://schemas.microsoft.com/office/drawing/2014/main" xmlns="" id="{9FDCC5D4-EA9B-9746-A480-2CC5325E9B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1031" name="Group 1030">
              <a:extLst>
                <a:ext uri="{FF2B5EF4-FFF2-40B4-BE49-F238E27FC236}">
                  <a16:creationId xmlns:a16="http://schemas.microsoft.com/office/drawing/2014/main" xmlns="" id="{570F0FCB-D968-1148-B306-F399F70F821D}"/>
                </a:ext>
              </a:extLst>
            </p:cNvPr>
            <p:cNvGrpSpPr/>
            <p:nvPr/>
          </p:nvGrpSpPr>
          <p:grpSpPr>
            <a:xfrm>
              <a:off x="7713663" y="2848339"/>
              <a:ext cx="1042107" cy="425543"/>
              <a:chOff x="7786941" y="2884917"/>
              <a:chExt cx="897649" cy="353919"/>
            </a:xfrm>
          </p:grpSpPr>
          <p:sp>
            <p:nvSpPr>
              <p:cNvPr id="1032" name="Freeform 1031">
                <a:extLst>
                  <a:ext uri="{FF2B5EF4-FFF2-40B4-BE49-F238E27FC236}">
                    <a16:creationId xmlns:a16="http://schemas.microsoft.com/office/drawing/2014/main" xmlns="" id="{418B1C5D-5D51-3B49-BAC8-5A977E7BF6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33" name="Freeform 1032">
                <a:extLst>
                  <a:ext uri="{FF2B5EF4-FFF2-40B4-BE49-F238E27FC236}">
                    <a16:creationId xmlns:a16="http://schemas.microsoft.com/office/drawing/2014/main" xmlns="" id="{D6476B65-5B26-6F41-9399-FA6E2A0A771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34" name="Freeform 1033">
                <a:extLst>
                  <a:ext uri="{FF2B5EF4-FFF2-40B4-BE49-F238E27FC236}">
                    <a16:creationId xmlns:a16="http://schemas.microsoft.com/office/drawing/2014/main" xmlns="" id="{3336FA20-F9EA-F640-8683-B36DE04C42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35" name="Freeform 1034">
                <a:extLst>
                  <a:ext uri="{FF2B5EF4-FFF2-40B4-BE49-F238E27FC236}">
                    <a16:creationId xmlns:a16="http://schemas.microsoft.com/office/drawing/2014/main" xmlns="" id="{F1C9D141-A007-CC4B-AC95-C03639BD621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1004" name="Group 1003">
            <a:extLst>
              <a:ext uri="{FF2B5EF4-FFF2-40B4-BE49-F238E27FC236}">
                <a16:creationId xmlns:a16="http://schemas.microsoft.com/office/drawing/2014/main" xmlns="" id="{1972653F-0F1B-604A-B76F-A5AB75CE116D}"/>
              </a:ext>
            </a:extLst>
          </p:cNvPr>
          <p:cNvGrpSpPr/>
          <p:nvPr/>
        </p:nvGrpSpPr>
        <p:grpSpPr>
          <a:xfrm>
            <a:off x="2687967" y="3633198"/>
            <a:ext cx="761739" cy="342211"/>
            <a:chOff x="7493876" y="2774731"/>
            <a:chExt cx="1481958" cy="894622"/>
          </a:xfrm>
        </p:grpSpPr>
        <p:sp>
          <p:nvSpPr>
            <p:cNvPr id="1005" name="Freeform 1004">
              <a:extLst>
                <a:ext uri="{FF2B5EF4-FFF2-40B4-BE49-F238E27FC236}">
                  <a16:creationId xmlns:a16="http://schemas.microsoft.com/office/drawing/2014/main" xmlns="" id="{14F756BD-3FD8-EF4A-ACB9-4374306B14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1006" name="Oval 1005">
              <a:extLst>
                <a:ext uri="{FF2B5EF4-FFF2-40B4-BE49-F238E27FC236}">
                  <a16:creationId xmlns:a16="http://schemas.microsoft.com/office/drawing/2014/main" xmlns="" id="{8C7BD2BF-04E8-E048-B37B-2EF4588E9F8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1007" name="Group 1006">
              <a:extLst>
                <a:ext uri="{FF2B5EF4-FFF2-40B4-BE49-F238E27FC236}">
                  <a16:creationId xmlns:a16="http://schemas.microsoft.com/office/drawing/2014/main" xmlns="" id="{2F0EBD81-A812-B54E-87D7-F2A2A0F73598}"/>
                </a:ext>
              </a:extLst>
            </p:cNvPr>
            <p:cNvGrpSpPr/>
            <p:nvPr/>
          </p:nvGrpSpPr>
          <p:grpSpPr>
            <a:xfrm>
              <a:off x="7713663" y="2848339"/>
              <a:ext cx="1042107" cy="425543"/>
              <a:chOff x="7786941" y="2884917"/>
              <a:chExt cx="897649" cy="353919"/>
            </a:xfrm>
          </p:grpSpPr>
          <p:sp>
            <p:nvSpPr>
              <p:cNvPr id="1008" name="Freeform 1007">
                <a:extLst>
                  <a:ext uri="{FF2B5EF4-FFF2-40B4-BE49-F238E27FC236}">
                    <a16:creationId xmlns:a16="http://schemas.microsoft.com/office/drawing/2014/main" xmlns="" id="{DA0350AD-6BDD-8742-AD54-D31903BFFBC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09" name="Freeform 1008">
                <a:extLst>
                  <a:ext uri="{FF2B5EF4-FFF2-40B4-BE49-F238E27FC236}">
                    <a16:creationId xmlns:a16="http://schemas.microsoft.com/office/drawing/2014/main" xmlns="" id="{3882FE62-2EF4-8345-A049-B867546B974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10" name="Freeform 1009">
                <a:extLst>
                  <a:ext uri="{FF2B5EF4-FFF2-40B4-BE49-F238E27FC236}">
                    <a16:creationId xmlns:a16="http://schemas.microsoft.com/office/drawing/2014/main" xmlns="" id="{323E0DB7-EDAB-4B44-8CD0-AA680735E84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11" name="Freeform 1010">
                <a:extLst>
                  <a:ext uri="{FF2B5EF4-FFF2-40B4-BE49-F238E27FC236}">
                    <a16:creationId xmlns:a16="http://schemas.microsoft.com/office/drawing/2014/main" xmlns="" id="{859E3ACC-40C8-9E4B-909F-00901CF258D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sp>
        <p:nvSpPr>
          <p:cNvPr id="677" name="Text Box 14">
            <a:extLst>
              <a:ext uri="{FF2B5EF4-FFF2-40B4-BE49-F238E27FC236}">
                <a16:creationId xmlns:a16="http://schemas.microsoft.com/office/drawing/2014/main" xmlns="" id="{A3C80523-A3C7-5A48-AF35-91A54191B320}"/>
              </a:ext>
            </a:extLst>
          </p:cNvPr>
          <p:cNvSpPr txBox="1">
            <a:spLocks noChangeArrowheads="1"/>
          </p:cNvSpPr>
          <p:nvPr/>
        </p:nvSpPr>
        <p:spPr bwMode="auto">
          <a:xfrm>
            <a:off x="4127896" y="2647950"/>
            <a:ext cx="1434704" cy="296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fontAlgn="base">
              <a:lnSpc>
                <a:spcPct val="90000"/>
              </a:lnSpc>
              <a:spcBef>
                <a:spcPct val="0"/>
              </a:spcBef>
              <a:spcAft>
                <a:spcPct val="0"/>
              </a:spcAft>
              <a:defRPr/>
            </a:pPr>
            <a:r>
              <a:rPr lang="en-US" altLang="en-US" sz="1350" kern="1200" dirty="0">
                <a:solidFill>
                  <a:srgbClr val="000000"/>
                </a:solidFill>
                <a:latin typeface="Calibri" panose="020F0502020204030204"/>
                <a:cs typeface="+mn-cs"/>
              </a:rPr>
              <a:t>finite shared output link buffers</a:t>
            </a:r>
          </a:p>
        </p:txBody>
      </p:sp>
      <p:sp>
        <p:nvSpPr>
          <p:cNvPr id="678" name="Line 15">
            <a:extLst>
              <a:ext uri="{FF2B5EF4-FFF2-40B4-BE49-F238E27FC236}">
                <a16:creationId xmlns:a16="http://schemas.microsoft.com/office/drawing/2014/main" xmlns="" id="{A54ED1D9-7AF8-1C46-92BF-64AB53B44E8A}"/>
              </a:ext>
            </a:extLst>
          </p:cNvPr>
          <p:cNvSpPr>
            <a:spLocks noChangeShapeType="1"/>
          </p:cNvSpPr>
          <p:nvPr/>
        </p:nvSpPr>
        <p:spPr bwMode="auto">
          <a:xfrm flipH="1">
            <a:off x="3113485" y="3084945"/>
            <a:ext cx="692944" cy="6500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87" name="Text Box 65">
            <a:extLst>
              <a:ext uri="{FF2B5EF4-FFF2-40B4-BE49-F238E27FC236}">
                <a16:creationId xmlns:a16="http://schemas.microsoft.com/office/drawing/2014/main" xmlns="" id="{A6D6C3CB-B52A-B540-B712-B3A1C6545B8B}"/>
              </a:ext>
            </a:extLst>
          </p:cNvPr>
          <p:cNvSpPr txBox="1">
            <a:spLocks noChangeArrowheads="1"/>
          </p:cNvSpPr>
          <p:nvPr/>
        </p:nvSpPr>
        <p:spPr bwMode="auto">
          <a:xfrm>
            <a:off x="2852738" y="2084821"/>
            <a:ext cx="692943" cy="13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050" kern="1200" dirty="0">
                <a:solidFill>
                  <a:srgbClr val="000000"/>
                </a:solidFill>
                <a:latin typeface="Arial" panose="020B0604020202020204" pitchFamily="34" charset="0"/>
                <a:cs typeface="+mn-cs"/>
              </a:rPr>
              <a:t>Host A</a:t>
            </a:r>
          </a:p>
        </p:txBody>
      </p:sp>
      <p:sp>
        <p:nvSpPr>
          <p:cNvPr id="688" name="Line 67">
            <a:extLst>
              <a:ext uri="{FF2B5EF4-FFF2-40B4-BE49-F238E27FC236}">
                <a16:creationId xmlns:a16="http://schemas.microsoft.com/office/drawing/2014/main" xmlns="" id="{4C1968E6-EC62-094F-BD83-D9CA6A530514}"/>
              </a:ext>
            </a:extLst>
          </p:cNvPr>
          <p:cNvSpPr>
            <a:spLocks noChangeShapeType="1"/>
          </p:cNvSpPr>
          <p:nvPr/>
        </p:nvSpPr>
        <p:spPr bwMode="auto">
          <a:xfrm flipH="1">
            <a:off x="1401097" y="4577987"/>
            <a:ext cx="184692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96" name="Line 117">
            <a:extLst>
              <a:ext uri="{FF2B5EF4-FFF2-40B4-BE49-F238E27FC236}">
                <a16:creationId xmlns:a16="http://schemas.microsoft.com/office/drawing/2014/main" xmlns="" id="{52940752-F616-324B-80EA-ECAB405BF34E}"/>
              </a:ext>
            </a:extLst>
          </p:cNvPr>
          <p:cNvSpPr>
            <a:spLocks noChangeShapeType="1"/>
          </p:cNvSpPr>
          <p:nvPr/>
        </p:nvSpPr>
        <p:spPr bwMode="auto">
          <a:xfrm flipH="1" flipV="1">
            <a:off x="3477816" y="3407604"/>
            <a:ext cx="1017984" cy="130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97" name="Line 118">
            <a:extLst>
              <a:ext uri="{FF2B5EF4-FFF2-40B4-BE49-F238E27FC236}">
                <a16:creationId xmlns:a16="http://schemas.microsoft.com/office/drawing/2014/main" xmlns="" id="{C9FD2B0B-C893-774C-980F-8CD9C6DDBAA3}"/>
              </a:ext>
            </a:extLst>
          </p:cNvPr>
          <p:cNvSpPr>
            <a:spLocks noChangeShapeType="1"/>
          </p:cNvSpPr>
          <p:nvPr/>
        </p:nvSpPr>
        <p:spPr bwMode="auto">
          <a:xfrm flipH="1" flipV="1">
            <a:off x="4726781" y="3420700"/>
            <a:ext cx="671513" cy="714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98" name="Line 119">
            <a:extLst>
              <a:ext uri="{FF2B5EF4-FFF2-40B4-BE49-F238E27FC236}">
                <a16:creationId xmlns:a16="http://schemas.microsoft.com/office/drawing/2014/main" xmlns="" id="{6C25B7AE-261A-0646-8C1E-3F48F28CCE36}"/>
              </a:ext>
            </a:extLst>
          </p:cNvPr>
          <p:cNvSpPr>
            <a:spLocks noChangeShapeType="1"/>
          </p:cNvSpPr>
          <p:nvPr/>
        </p:nvSpPr>
        <p:spPr bwMode="auto">
          <a:xfrm flipH="1">
            <a:off x="4770834" y="3055374"/>
            <a:ext cx="1003159" cy="101540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99" name="Line 120">
            <a:extLst>
              <a:ext uri="{FF2B5EF4-FFF2-40B4-BE49-F238E27FC236}">
                <a16:creationId xmlns:a16="http://schemas.microsoft.com/office/drawing/2014/main" xmlns="" id="{323341B4-BD94-8040-82E9-99EC24A84587}"/>
              </a:ext>
            </a:extLst>
          </p:cNvPr>
          <p:cNvSpPr>
            <a:spLocks noChangeShapeType="1"/>
          </p:cNvSpPr>
          <p:nvPr/>
        </p:nvSpPr>
        <p:spPr bwMode="auto">
          <a:xfrm flipH="1">
            <a:off x="5765764" y="3058220"/>
            <a:ext cx="32980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6" name="Group 5">
            <a:extLst>
              <a:ext uri="{FF2B5EF4-FFF2-40B4-BE49-F238E27FC236}">
                <a16:creationId xmlns:a16="http://schemas.microsoft.com/office/drawing/2014/main" xmlns="" id="{D478B0D0-619F-7349-B4E5-DCEC3A9A7101}"/>
              </a:ext>
            </a:extLst>
          </p:cNvPr>
          <p:cNvGrpSpPr/>
          <p:nvPr/>
        </p:nvGrpSpPr>
        <p:grpSpPr>
          <a:xfrm>
            <a:off x="5270305" y="3609174"/>
            <a:ext cx="478457" cy="451816"/>
            <a:chOff x="7027073" y="4812231"/>
            <a:chExt cx="637943" cy="602421"/>
          </a:xfrm>
        </p:grpSpPr>
        <p:sp>
          <p:nvSpPr>
            <p:cNvPr id="753" name="Text Box 216">
              <a:extLst>
                <a:ext uri="{FF2B5EF4-FFF2-40B4-BE49-F238E27FC236}">
                  <a16:creationId xmlns:a16="http://schemas.microsoft.com/office/drawing/2014/main" xmlns="" id="{586CD15E-9DCF-2242-ADC7-0EBB063D0983}"/>
                </a:ext>
              </a:extLst>
            </p:cNvPr>
            <p:cNvSpPr txBox="1">
              <a:spLocks noChangeArrowheads="1"/>
            </p:cNvSpPr>
            <p:nvPr/>
          </p:nvSpPr>
          <p:spPr bwMode="auto">
            <a:xfrm>
              <a:off x="7027073" y="4812231"/>
              <a:ext cx="6175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out</a:t>
              </a:r>
              <a:endParaRPr lang="en-US" altLang="en-US" sz="1500" kern="1200" dirty="0">
                <a:solidFill>
                  <a:srgbClr val="C00000"/>
                </a:solidFill>
                <a:latin typeface="Comic Sans MS" panose="030F0902030302020204" pitchFamily="66" charset="0"/>
                <a:cs typeface="+mn-cs"/>
              </a:endParaRPr>
            </a:p>
          </p:txBody>
        </p:sp>
        <p:sp>
          <p:nvSpPr>
            <p:cNvPr id="754" name="Line 217">
              <a:extLst>
                <a:ext uri="{FF2B5EF4-FFF2-40B4-BE49-F238E27FC236}">
                  <a16:creationId xmlns:a16="http://schemas.microsoft.com/office/drawing/2014/main" xmlns="" id="{676E6049-2186-D442-B4B2-91F3161EB300}"/>
                </a:ext>
              </a:extLst>
            </p:cNvPr>
            <p:cNvSpPr>
              <a:spLocks noChangeShapeType="1"/>
            </p:cNvSpPr>
            <p:nvPr/>
          </p:nvSpPr>
          <p:spPr bwMode="auto">
            <a:xfrm>
              <a:off x="7464991" y="5195577"/>
              <a:ext cx="200025" cy="2190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755" name="Line 218">
            <a:extLst>
              <a:ext uri="{FF2B5EF4-FFF2-40B4-BE49-F238E27FC236}">
                <a16:creationId xmlns:a16="http://schemas.microsoft.com/office/drawing/2014/main" xmlns="" id="{9FC0E2B7-EE1C-0D41-8103-C8FCB3F9E514}"/>
              </a:ext>
            </a:extLst>
          </p:cNvPr>
          <p:cNvSpPr>
            <a:spLocks noChangeShapeType="1"/>
          </p:cNvSpPr>
          <p:nvPr/>
        </p:nvSpPr>
        <p:spPr bwMode="auto">
          <a:xfrm flipH="1">
            <a:off x="4489847" y="3105150"/>
            <a:ext cx="5953" cy="18251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779" name="Line 242">
            <a:extLst>
              <a:ext uri="{FF2B5EF4-FFF2-40B4-BE49-F238E27FC236}">
                <a16:creationId xmlns:a16="http://schemas.microsoft.com/office/drawing/2014/main" xmlns="" id="{064F47BF-3B0B-DE43-9F0E-D139AF6115EB}"/>
              </a:ext>
            </a:extLst>
          </p:cNvPr>
          <p:cNvSpPr>
            <a:spLocks noChangeShapeType="1"/>
          </p:cNvSpPr>
          <p:nvPr/>
        </p:nvSpPr>
        <p:spPr bwMode="auto">
          <a:xfrm>
            <a:off x="4849416" y="2606313"/>
            <a:ext cx="207169" cy="1191"/>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06" name="Line 270">
            <a:extLst>
              <a:ext uri="{FF2B5EF4-FFF2-40B4-BE49-F238E27FC236}">
                <a16:creationId xmlns:a16="http://schemas.microsoft.com/office/drawing/2014/main" xmlns="" id="{E95CA478-DC80-E94D-871D-F0A47C37057C}"/>
              </a:ext>
            </a:extLst>
          </p:cNvPr>
          <p:cNvSpPr>
            <a:spLocks noChangeShapeType="1"/>
          </p:cNvSpPr>
          <p:nvPr/>
        </p:nvSpPr>
        <p:spPr bwMode="auto">
          <a:xfrm flipH="1" flipV="1">
            <a:off x="3477816" y="4563699"/>
            <a:ext cx="2157230" cy="1686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07" name="Line 271">
            <a:extLst>
              <a:ext uri="{FF2B5EF4-FFF2-40B4-BE49-F238E27FC236}">
                <a16:creationId xmlns:a16="http://schemas.microsoft.com/office/drawing/2014/main" xmlns="" id="{27AA192C-A882-6942-AFC6-B10AE7C0042D}"/>
              </a:ext>
            </a:extLst>
          </p:cNvPr>
          <p:cNvSpPr>
            <a:spLocks noChangeShapeType="1"/>
          </p:cNvSpPr>
          <p:nvPr/>
        </p:nvSpPr>
        <p:spPr bwMode="auto">
          <a:xfrm flipH="1">
            <a:off x="4283869" y="4096378"/>
            <a:ext cx="453132" cy="47446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020" name="Group 1019">
            <a:extLst>
              <a:ext uri="{FF2B5EF4-FFF2-40B4-BE49-F238E27FC236}">
                <a16:creationId xmlns:a16="http://schemas.microsoft.com/office/drawing/2014/main" xmlns="" id="{B351B890-D7B2-6B4A-A54F-9A17DCD4F2A5}"/>
              </a:ext>
            </a:extLst>
          </p:cNvPr>
          <p:cNvGrpSpPr/>
          <p:nvPr/>
        </p:nvGrpSpPr>
        <p:grpSpPr>
          <a:xfrm>
            <a:off x="3086857" y="4433639"/>
            <a:ext cx="692944" cy="319934"/>
            <a:chOff x="7493876" y="2774731"/>
            <a:chExt cx="1481958" cy="894622"/>
          </a:xfrm>
        </p:grpSpPr>
        <p:sp>
          <p:nvSpPr>
            <p:cNvPr id="1021" name="Freeform 1020">
              <a:extLst>
                <a:ext uri="{FF2B5EF4-FFF2-40B4-BE49-F238E27FC236}">
                  <a16:creationId xmlns:a16="http://schemas.microsoft.com/office/drawing/2014/main" xmlns="" id="{BFA1621A-7C33-1442-AABC-8CA9989EF86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1022" name="Oval 1021">
              <a:extLst>
                <a:ext uri="{FF2B5EF4-FFF2-40B4-BE49-F238E27FC236}">
                  <a16:creationId xmlns:a16="http://schemas.microsoft.com/office/drawing/2014/main" xmlns="" id="{B432F96D-DCEA-1940-B3EB-10DC273627D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1023" name="Group 1022">
              <a:extLst>
                <a:ext uri="{FF2B5EF4-FFF2-40B4-BE49-F238E27FC236}">
                  <a16:creationId xmlns:a16="http://schemas.microsoft.com/office/drawing/2014/main" xmlns="" id="{445733B0-C200-7443-B614-F3CE56262D57}"/>
                </a:ext>
              </a:extLst>
            </p:cNvPr>
            <p:cNvGrpSpPr/>
            <p:nvPr/>
          </p:nvGrpSpPr>
          <p:grpSpPr>
            <a:xfrm>
              <a:off x="7713663" y="2848339"/>
              <a:ext cx="1042107" cy="425543"/>
              <a:chOff x="7786941" y="2884917"/>
              <a:chExt cx="897649" cy="353919"/>
            </a:xfrm>
          </p:grpSpPr>
          <p:sp>
            <p:nvSpPr>
              <p:cNvPr id="1024" name="Freeform 1023">
                <a:extLst>
                  <a:ext uri="{FF2B5EF4-FFF2-40B4-BE49-F238E27FC236}">
                    <a16:creationId xmlns:a16="http://schemas.microsoft.com/office/drawing/2014/main" xmlns="" id="{0B7AFB59-A6AA-4745-8FFB-C21D0E37EE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25" name="Freeform 1024">
                <a:extLst>
                  <a:ext uri="{FF2B5EF4-FFF2-40B4-BE49-F238E27FC236}">
                    <a16:creationId xmlns:a16="http://schemas.microsoft.com/office/drawing/2014/main" xmlns="" id="{8F342913-D690-FA46-9B73-C46C2CD3D5F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26" name="Freeform 1025">
                <a:extLst>
                  <a:ext uri="{FF2B5EF4-FFF2-40B4-BE49-F238E27FC236}">
                    <a16:creationId xmlns:a16="http://schemas.microsoft.com/office/drawing/2014/main" xmlns="" id="{743F90F2-19F8-FC4B-B6BF-DAAA5DD031B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27" name="Freeform 1026">
                <a:extLst>
                  <a:ext uri="{FF2B5EF4-FFF2-40B4-BE49-F238E27FC236}">
                    <a16:creationId xmlns:a16="http://schemas.microsoft.com/office/drawing/2014/main" xmlns="" id="{75CD2DB9-85B3-D94B-BA98-81974DA70D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sp>
        <p:nvSpPr>
          <p:cNvPr id="844" name="Line 308">
            <a:extLst>
              <a:ext uri="{FF2B5EF4-FFF2-40B4-BE49-F238E27FC236}">
                <a16:creationId xmlns:a16="http://schemas.microsoft.com/office/drawing/2014/main" xmlns="" id="{A454DE4E-2142-C540-BF6A-3FF871591668}"/>
              </a:ext>
            </a:extLst>
          </p:cNvPr>
          <p:cNvSpPr>
            <a:spLocks noChangeShapeType="1"/>
          </p:cNvSpPr>
          <p:nvPr/>
        </p:nvSpPr>
        <p:spPr bwMode="auto">
          <a:xfrm flipV="1">
            <a:off x="3035797" y="3718357"/>
            <a:ext cx="146378" cy="116633"/>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45" name="Line 309">
            <a:extLst>
              <a:ext uri="{FF2B5EF4-FFF2-40B4-BE49-F238E27FC236}">
                <a16:creationId xmlns:a16="http://schemas.microsoft.com/office/drawing/2014/main" xmlns="" id="{F565347B-4B50-EE43-8424-7BD5F89E83C8}"/>
              </a:ext>
            </a:extLst>
          </p:cNvPr>
          <p:cNvSpPr>
            <a:spLocks noChangeShapeType="1"/>
          </p:cNvSpPr>
          <p:nvPr/>
        </p:nvSpPr>
        <p:spPr bwMode="auto">
          <a:xfrm flipH="1">
            <a:off x="2240756" y="3834990"/>
            <a:ext cx="773906" cy="73704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66" name="Text Box 335">
            <a:extLst>
              <a:ext uri="{FF2B5EF4-FFF2-40B4-BE49-F238E27FC236}">
                <a16:creationId xmlns:a16="http://schemas.microsoft.com/office/drawing/2014/main" xmlns="" id="{EC1F708A-2D5F-F542-854C-75A1D11D8280}"/>
              </a:ext>
            </a:extLst>
          </p:cNvPr>
          <p:cNvSpPr txBox="1">
            <a:spLocks noChangeArrowheads="1"/>
          </p:cNvSpPr>
          <p:nvPr/>
        </p:nvSpPr>
        <p:spPr bwMode="auto">
          <a:xfrm>
            <a:off x="5879307" y="2224123"/>
            <a:ext cx="692943" cy="219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050" kern="1200" dirty="0">
                <a:solidFill>
                  <a:srgbClr val="000000"/>
                </a:solidFill>
                <a:latin typeface="Arial" panose="020B0604020202020204" pitchFamily="34" charset="0"/>
                <a:cs typeface="+mn-cs"/>
              </a:rPr>
              <a:t>Host B</a:t>
            </a:r>
          </a:p>
        </p:txBody>
      </p:sp>
      <p:sp>
        <p:nvSpPr>
          <p:cNvPr id="867" name="Text Box 336">
            <a:extLst>
              <a:ext uri="{FF2B5EF4-FFF2-40B4-BE49-F238E27FC236}">
                <a16:creationId xmlns:a16="http://schemas.microsoft.com/office/drawing/2014/main" xmlns="" id="{F2F32402-4562-6C48-A689-4C8257513152}"/>
              </a:ext>
            </a:extLst>
          </p:cNvPr>
          <p:cNvSpPr txBox="1">
            <a:spLocks noChangeArrowheads="1"/>
          </p:cNvSpPr>
          <p:nvPr/>
        </p:nvSpPr>
        <p:spPr bwMode="auto">
          <a:xfrm>
            <a:off x="5610224" y="3769555"/>
            <a:ext cx="640531" cy="19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050" kern="1200" dirty="0">
                <a:solidFill>
                  <a:srgbClr val="000000"/>
                </a:solidFill>
                <a:latin typeface="Arial" panose="020B0604020202020204" pitchFamily="34" charset="0"/>
                <a:cs typeface="+mn-cs"/>
              </a:rPr>
              <a:t>Host C</a:t>
            </a:r>
          </a:p>
        </p:txBody>
      </p:sp>
      <p:sp>
        <p:nvSpPr>
          <p:cNvPr id="868" name="Text Box 337">
            <a:extLst>
              <a:ext uri="{FF2B5EF4-FFF2-40B4-BE49-F238E27FC236}">
                <a16:creationId xmlns:a16="http://schemas.microsoft.com/office/drawing/2014/main" xmlns="" id="{A4EB824E-664E-C940-8134-7071C617DE94}"/>
              </a:ext>
            </a:extLst>
          </p:cNvPr>
          <p:cNvSpPr txBox="1">
            <a:spLocks noChangeArrowheads="1"/>
          </p:cNvSpPr>
          <p:nvPr/>
        </p:nvSpPr>
        <p:spPr bwMode="auto">
          <a:xfrm>
            <a:off x="1401097" y="3587389"/>
            <a:ext cx="682497" cy="18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050" kern="1200" dirty="0">
                <a:solidFill>
                  <a:srgbClr val="000000"/>
                </a:solidFill>
                <a:latin typeface="Arial" panose="020B0604020202020204" pitchFamily="34" charset="0"/>
                <a:cs typeface="+mn-cs"/>
              </a:rPr>
              <a:t>Host D</a:t>
            </a:r>
          </a:p>
        </p:txBody>
      </p:sp>
      <p:grpSp>
        <p:nvGrpSpPr>
          <p:cNvPr id="4" name="Group 3">
            <a:extLst>
              <a:ext uri="{FF2B5EF4-FFF2-40B4-BE49-F238E27FC236}">
                <a16:creationId xmlns:a16="http://schemas.microsoft.com/office/drawing/2014/main" xmlns="" id="{BD4E31C0-E9C7-C340-B3B9-4C96C464E2BC}"/>
              </a:ext>
            </a:extLst>
          </p:cNvPr>
          <p:cNvGrpSpPr/>
          <p:nvPr/>
        </p:nvGrpSpPr>
        <p:grpSpPr>
          <a:xfrm>
            <a:off x="3306819" y="2055791"/>
            <a:ext cx="1704379" cy="382686"/>
            <a:chOff x="4418013" y="2732134"/>
            <a:chExt cx="2272505" cy="510248"/>
          </a:xfrm>
        </p:grpSpPr>
        <p:sp>
          <p:nvSpPr>
            <p:cNvPr id="752" name="Line 215">
              <a:extLst>
                <a:ext uri="{FF2B5EF4-FFF2-40B4-BE49-F238E27FC236}">
                  <a16:creationId xmlns:a16="http://schemas.microsoft.com/office/drawing/2014/main" xmlns="" id="{EFFD9886-71D4-BB4B-8AB0-19FA954C4965}"/>
                </a:ext>
              </a:extLst>
            </p:cNvPr>
            <p:cNvSpPr>
              <a:spLocks noChangeShapeType="1"/>
            </p:cNvSpPr>
            <p:nvPr/>
          </p:nvSpPr>
          <p:spPr bwMode="auto">
            <a:xfrm flipH="1">
              <a:off x="4541838" y="3055984"/>
              <a:ext cx="295275" cy="1047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C00000"/>
                </a:solidFill>
                <a:latin typeface="Tahoma" panose="020B0604030504040204" pitchFamily="34" charset="0"/>
                <a:ea typeface="ＭＳ Ｐゴシック" panose="020B0600070205080204" pitchFamily="34" charset="-128"/>
                <a:cs typeface="+mn-cs"/>
              </a:endParaRPr>
            </a:p>
          </p:txBody>
        </p:sp>
        <p:sp>
          <p:nvSpPr>
            <p:cNvPr id="781" name="Oval 244">
              <a:extLst>
                <a:ext uri="{FF2B5EF4-FFF2-40B4-BE49-F238E27FC236}">
                  <a16:creationId xmlns:a16="http://schemas.microsoft.com/office/drawing/2014/main" xmlns="" id="{51FAD07D-0B83-F54B-8BC2-AFE24FF0F1A2}"/>
                </a:ext>
              </a:extLst>
            </p:cNvPr>
            <p:cNvSpPr>
              <a:spLocks noChangeArrowheads="1"/>
            </p:cNvSpPr>
            <p:nvPr/>
          </p:nvSpPr>
          <p:spPr bwMode="auto">
            <a:xfrm>
              <a:off x="4418013" y="3151234"/>
              <a:ext cx="90487" cy="9114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C00000"/>
                </a:solidFill>
                <a:cs typeface="+mn-cs"/>
              </a:endParaRPr>
            </a:p>
          </p:txBody>
        </p:sp>
        <p:sp>
          <p:nvSpPr>
            <p:cNvPr id="869" name="Text Box 338">
              <a:extLst>
                <a:ext uri="{FF2B5EF4-FFF2-40B4-BE49-F238E27FC236}">
                  <a16:creationId xmlns:a16="http://schemas.microsoft.com/office/drawing/2014/main" xmlns="" id="{5AE7EEB2-443D-C74D-9FE2-48E45B97BE42}"/>
                </a:ext>
              </a:extLst>
            </p:cNvPr>
            <p:cNvSpPr txBox="1">
              <a:spLocks noChangeArrowheads="1"/>
            </p:cNvSpPr>
            <p:nvPr/>
          </p:nvSpPr>
          <p:spPr bwMode="auto">
            <a:xfrm>
              <a:off x="4809330" y="2732134"/>
              <a:ext cx="18811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fontAlgn="base">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baseline="-25000" dirty="0">
                  <a:solidFill>
                    <a:srgbClr val="C00000"/>
                  </a:solidFill>
                  <a:latin typeface="Arial" panose="020B0604020202020204" pitchFamily="34" charset="0"/>
                  <a:cs typeface="+mn-cs"/>
                </a:rPr>
                <a:t>in</a:t>
              </a:r>
              <a:r>
                <a:rPr lang="en-US" altLang="en-US" sz="1200" kern="1200" baseline="-25000" dirty="0">
                  <a:solidFill>
                    <a:srgbClr val="C00000"/>
                  </a:solidFill>
                  <a:latin typeface="Arial" panose="020B0604020202020204" pitchFamily="34" charset="0"/>
                  <a:cs typeface="+mn-cs"/>
                </a:rPr>
                <a:t> </a:t>
              </a:r>
              <a:r>
                <a:rPr lang="en-US" altLang="en-US" sz="1200" kern="1200" dirty="0">
                  <a:solidFill>
                    <a:srgbClr val="C00000"/>
                  </a:solidFill>
                  <a:latin typeface="Arial" panose="020B0604020202020204" pitchFamily="34" charset="0"/>
                  <a:cs typeface="+mn-cs"/>
                </a:rPr>
                <a:t>: </a:t>
              </a:r>
              <a:r>
                <a:rPr lang="en-US" altLang="en-US" sz="1200" kern="1200" dirty="0">
                  <a:solidFill>
                    <a:srgbClr val="C00000"/>
                  </a:solidFill>
                  <a:latin typeface="Calibri" panose="020F0502020204030204"/>
                  <a:cs typeface="+mn-cs"/>
                </a:rPr>
                <a:t>original data</a:t>
              </a:r>
            </a:p>
          </p:txBody>
        </p:sp>
      </p:grpSp>
      <p:sp>
        <p:nvSpPr>
          <p:cNvPr id="870" name="Line 340">
            <a:extLst>
              <a:ext uri="{FF2B5EF4-FFF2-40B4-BE49-F238E27FC236}">
                <a16:creationId xmlns:a16="http://schemas.microsoft.com/office/drawing/2014/main" xmlns="" id="{F7B1FC1D-7510-1C49-AE6A-C7F69308C1C3}"/>
              </a:ext>
            </a:extLst>
          </p:cNvPr>
          <p:cNvSpPr>
            <a:spLocks noChangeShapeType="1"/>
          </p:cNvSpPr>
          <p:nvPr/>
        </p:nvSpPr>
        <p:spPr bwMode="auto">
          <a:xfrm>
            <a:off x="4729163" y="2542019"/>
            <a:ext cx="254794"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xmlns="" id="{FD507231-6EFD-6A42-9136-D71365EF63D2}"/>
              </a:ext>
            </a:extLst>
          </p:cNvPr>
          <p:cNvGrpSpPr/>
          <p:nvPr/>
        </p:nvGrpSpPr>
        <p:grpSpPr>
          <a:xfrm>
            <a:off x="3310164" y="2312371"/>
            <a:ext cx="1862138" cy="463153"/>
            <a:chOff x="4418013" y="3074240"/>
            <a:chExt cx="2482850" cy="617537"/>
          </a:xfrm>
        </p:grpSpPr>
        <p:sp>
          <p:nvSpPr>
            <p:cNvPr id="782" name="Oval 245">
              <a:extLst>
                <a:ext uri="{FF2B5EF4-FFF2-40B4-BE49-F238E27FC236}">
                  <a16:creationId xmlns:a16="http://schemas.microsoft.com/office/drawing/2014/main" xmlns="" id="{54248ED4-7799-AC43-BD75-DD6C5002CF73}"/>
                </a:ext>
              </a:extLst>
            </p:cNvPr>
            <p:cNvSpPr>
              <a:spLocks noChangeArrowheads="1"/>
            </p:cNvSpPr>
            <p:nvPr/>
          </p:nvSpPr>
          <p:spPr bwMode="auto">
            <a:xfrm>
              <a:off x="4418013" y="3331549"/>
              <a:ext cx="90487" cy="9114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783" name="Line 247">
              <a:extLst>
                <a:ext uri="{FF2B5EF4-FFF2-40B4-BE49-F238E27FC236}">
                  <a16:creationId xmlns:a16="http://schemas.microsoft.com/office/drawing/2014/main" xmlns="" id="{E59D074B-1F6E-C14E-AD81-B0177A7E8C41}"/>
                </a:ext>
              </a:extLst>
            </p:cNvPr>
            <p:cNvSpPr>
              <a:spLocks noChangeShapeType="1"/>
            </p:cNvSpPr>
            <p:nvPr/>
          </p:nvSpPr>
          <p:spPr bwMode="auto">
            <a:xfrm flipH="1">
              <a:off x="4551363" y="3322684"/>
              <a:ext cx="304800" cy="38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871" name="Text Box 341">
              <a:extLst>
                <a:ext uri="{FF2B5EF4-FFF2-40B4-BE49-F238E27FC236}">
                  <a16:creationId xmlns:a16="http://schemas.microsoft.com/office/drawing/2014/main" xmlns="" id="{7BFEC39C-D433-1D4D-A184-DDA258B9A623}"/>
                </a:ext>
              </a:extLst>
            </p:cNvPr>
            <p:cNvSpPr txBox="1">
              <a:spLocks noChangeArrowheads="1"/>
            </p:cNvSpPr>
            <p:nvPr/>
          </p:nvSpPr>
          <p:spPr bwMode="auto">
            <a:xfrm>
              <a:off x="4551363" y="3074240"/>
              <a:ext cx="2349500"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rtl="0" fontAlgn="base">
                <a:lnSpc>
                  <a:spcPct val="90000"/>
                </a:lnSpc>
                <a:spcBef>
                  <a:spcPct val="0"/>
                </a:spcBef>
                <a:spcAft>
                  <a:spcPct val="0"/>
                </a:spcAft>
                <a:defRPr/>
              </a:pPr>
              <a:r>
                <a:rPr lang="en-US" altLang="en-US" sz="1500" kern="1200" dirty="0">
                  <a:solidFill>
                    <a:srgbClr val="C00000"/>
                  </a:solidFill>
                  <a:latin typeface="Symbol" pitchFamily="2" charset="2"/>
                  <a:cs typeface="+mn-cs"/>
                </a:rPr>
                <a:t>l</a:t>
              </a:r>
              <a:r>
                <a:rPr lang="en-US" altLang="en-US" sz="1500" kern="1200" dirty="0">
                  <a:solidFill>
                    <a:srgbClr val="C00000"/>
                  </a:solidFill>
                  <a:latin typeface="Arial" panose="020B0604020202020204" pitchFamily="34" charset="0"/>
                  <a:cs typeface="+mn-cs"/>
                </a:rPr>
                <a:t>'</a:t>
              </a:r>
              <a:r>
                <a:rPr lang="en-US" altLang="en-US" sz="1500" kern="1200" baseline="-25000" dirty="0">
                  <a:solidFill>
                    <a:srgbClr val="C00000"/>
                  </a:solidFill>
                  <a:latin typeface="Arial" panose="020B0604020202020204" pitchFamily="34" charset="0"/>
                  <a:cs typeface="+mn-cs"/>
                </a:rPr>
                <a:t>in</a:t>
              </a:r>
              <a:r>
                <a:rPr lang="en-US" altLang="en-US" sz="1350" kern="1200" dirty="0">
                  <a:solidFill>
                    <a:srgbClr val="C00000"/>
                  </a:solidFill>
                  <a:latin typeface="Arial" panose="020B0604020202020204" pitchFamily="34" charset="0"/>
                  <a:cs typeface="+mn-cs"/>
                </a:rPr>
                <a:t>:</a:t>
              </a:r>
              <a:r>
                <a:rPr lang="en-US" altLang="en-US" sz="1050" kern="1200" dirty="0">
                  <a:solidFill>
                    <a:srgbClr val="C00000"/>
                  </a:solidFill>
                  <a:latin typeface="Arial" panose="020B0604020202020204" pitchFamily="34" charset="0"/>
                  <a:cs typeface="+mn-cs"/>
                </a:rPr>
                <a:t> </a:t>
              </a:r>
              <a:r>
                <a:rPr lang="en-US" altLang="en-US" sz="1200" kern="1200" dirty="0">
                  <a:solidFill>
                    <a:srgbClr val="C00000"/>
                  </a:solidFill>
                  <a:latin typeface="Calibri" panose="020F0502020204030204"/>
                  <a:cs typeface="+mn-cs"/>
                </a:rPr>
                <a:t>original data, </a:t>
              </a:r>
              <a:r>
                <a:rPr lang="en-US" altLang="en-US" sz="1200" i="1" kern="1200" dirty="0">
                  <a:solidFill>
                    <a:srgbClr val="C00000"/>
                  </a:solidFill>
                  <a:latin typeface="Calibri" panose="020F0502020204030204"/>
                  <a:cs typeface="+mn-cs"/>
                </a:rPr>
                <a:t>plus</a:t>
              </a:r>
              <a:r>
                <a:rPr lang="en-US" altLang="en-US" sz="1200" kern="1200" dirty="0">
                  <a:solidFill>
                    <a:srgbClr val="C00000"/>
                  </a:solidFill>
                  <a:latin typeface="Calibri" panose="020F0502020204030204"/>
                  <a:cs typeface="+mn-cs"/>
                </a:rPr>
                <a:t> retransmitted data</a:t>
              </a:r>
            </a:p>
          </p:txBody>
        </p:sp>
      </p:grpSp>
      <p:grpSp>
        <p:nvGrpSpPr>
          <p:cNvPr id="872" name="Group 358">
            <a:extLst>
              <a:ext uri="{FF2B5EF4-FFF2-40B4-BE49-F238E27FC236}">
                <a16:creationId xmlns:a16="http://schemas.microsoft.com/office/drawing/2014/main" xmlns="" id="{B102A184-15F6-9D48-BA25-6DCAD4F95232}"/>
              </a:ext>
            </a:extLst>
          </p:cNvPr>
          <p:cNvGrpSpPr>
            <a:grpSpLocks/>
          </p:cNvGrpSpPr>
          <p:nvPr/>
        </p:nvGrpSpPr>
        <p:grpSpPr bwMode="auto">
          <a:xfrm>
            <a:off x="6541294" y="3042082"/>
            <a:ext cx="173831" cy="330994"/>
            <a:chOff x="4140" y="429"/>
            <a:chExt cx="1425" cy="2396"/>
          </a:xfrm>
        </p:grpSpPr>
        <p:sp>
          <p:nvSpPr>
            <p:cNvPr id="873" name="Freeform 359">
              <a:extLst>
                <a:ext uri="{FF2B5EF4-FFF2-40B4-BE49-F238E27FC236}">
                  <a16:creationId xmlns:a16="http://schemas.microsoft.com/office/drawing/2014/main" xmlns="" id="{401A19BA-93A0-5948-83A2-34413A31DCF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74" name="Rectangle 360">
              <a:extLst>
                <a:ext uri="{FF2B5EF4-FFF2-40B4-BE49-F238E27FC236}">
                  <a16:creationId xmlns:a16="http://schemas.microsoft.com/office/drawing/2014/main" xmlns="" id="{29C3A899-DA55-CB48-9E5B-0A9EA5B7F139}"/>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75" name="Freeform 361">
              <a:extLst>
                <a:ext uri="{FF2B5EF4-FFF2-40B4-BE49-F238E27FC236}">
                  <a16:creationId xmlns:a16="http://schemas.microsoft.com/office/drawing/2014/main" xmlns="" id="{92BBA9EA-E1EC-9642-BC6C-1195963D1CA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76" name="Freeform 362">
              <a:extLst>
                <a:ext uri="{FF2B5EF4-FFF2-40B4-BE49-F238E27FC236}">
                  <a16:creationId xmlns:a16="http://schemas.microsoft.com/office/drawing/2014/main" xmlns="" id="{F5DE54CC-1A21-7242-893E-5B0F34DDF569}"/>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77" name="Rectangle 363">
              <a:extLst>
                <a:ext uri="{FF2B5EF4-FFF2-40B4-BE49-F238E27FC236}">
                  <a16:creationId xmlns:a16="http://schemas.microsoft.com/office/drawing/2014/main" xmlns="" id="{AFD98E37-52B9-2A4A-9280-8985F3AB853C}"/>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878" name="Group 364">
              <a:extLst>
                <a:ext uri="{FF2B5EF4-FFF2-40B4-BE49-F238E27FC236}">
                  <a16:creationId xmlns:a16="http://schemas.microsoft.com/office/drawing/2014/main" xmlns="" id="{42B390A1-1CE1-8A44-98E6-EC785C7E804D}"/>
                </a:ext>
              </a:extLst>
            </p:cNvPr>
            <p:cNvGrpSpPr>
              <a:grpSpLocks/>
            </p:cNvGrpSpPr>
            <p:nvPr/>
          </p:nvGrpSpPr>
          <p:grpSpPr bwMode="auto">
            <a:xfrm>
              <a:off x="4749" y="668"/>
              <a:ext cx="581" cy="145"/>
              <a:chOff x="614" y="2568"/>
              <a:chExt cx="725" cy="139"/>
            </a:xfrm>
          </p:grpSpPr>
          <p:sp>
            <p:nvSpPr>
              <p:cNvPr id="903" name="AutoShape 365">
                <a:extLst>
                  <a:ext uri="{FF2B5EF4-FFF2-40B4-BE49-F238E27FC236}">
                    <a16:creationId xmlns:a16="http://schemas.microsoft.com/office/drawing/2014/main" xmlns="" id="{A81F4F9D-A24D-994F-987A-B13859CE60E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04" name="AutoShape 366">
                <a:extLst>
                  <a:ext uri="{FF2B5EF4-FFF2-40B4-BE49-F238E27FC236}">
                    <a16:creationId xmlns:a16="http://schemas.microsoft.com/office/drawing/2014/main" xmlns="" id="{9A450662-B29B-9A47-8273-B52413BF16F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879" name="Rectangle 367">
              <a:extLst>
                <a:ext uri="{FF2B5EF4-FFF2-40B4-BE49-F238E27FC236}">
                  <a16:creationId xmlns:a16="http://schemas.microsoft.com/office/drawing/2014/main" xmlns="" id="{28F33A87-EA9F-9646-8926-755174B82B45}"/>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880" name="Group 368">
              <a:extLst>
                <a:ext uri="{FF2B5EF4-FFF2-40B4-BE49-F238E27FC236}">
                  <a16:creationId xmlns:a16="http://schemas.microsoft.com/office/drawing/2014/main" xmlns="" id="{F712878E-6028-734C-9CF4-9ED3F9563904}"/>
                </a:ext>
              </a:extLst>
            </p:cNvPr>
            <p:cNvGrpSpPr>
              <a:grpSpLocks/>
            </p:cNvGrpSpPr>
            <p:nvPr/>
          </p:nvGrpSpPr>
          <p:grpSpPr bwMode="auto">
            <a:xfrm>
              <a:off x="4747" y="994"/>
              <a:ext cx="581" cy="134"/>
              <a:chOff x="614" y="2568"/>
              <a:chExt cx="725" cy="139"/>
            </a:xfrm>
          </p:grpSpPr>
          <p:sp>
            <p:nvSpPr>
              <p:cNvPr id="901" name="AutoShape 369">
                <a:extLst>
                  <a:ext uri="{FF2B5EF4-FFF2-40B4-BE49-F238E27FC236}">
                    <a16:creationId xmlns:a16="http://schemas.microsoft.com/office/drawing/2014/main" xmlns="" id="{D9A0700F-287C-924F-926C-F65682B21625}"/>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02" name="AutoShape 370">
                <a:extLst>
                  <a:ext uri="{FF2B5EF4-FFF2-40B4-BE49-F238E27FC236}">
                    <a16:creationId xmlns:a16="http://schemas.microsoft.com/office/drawing/2014/main" xmlns="" id="{69D0E01F-131B-AE4E-9FA9-4DEAD09EBE4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881" name="Rectangle 371">
              <a:extLst>
                <a:ext uri="{FF2B5EF4-FFF2-40B4-BE49-F238E27FC236}">
                  <a16:creationId xmlns:a16="http://schemas.microsoft.com/office/drawing/2014/main" xmlns="" id="{2B5B8250-6B47-8640-9BE0-E536E9BEB84D}"/>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82" name="Rectangle 372">
              <a:extLst>
                <a:ext uri="{FF2B5EF4-FFF2-40B4-BE49-F238E27FC236}">
                  <a16:creationId xmlns:a16="http://schemas.microsoft.com/office/drawing/2014/main" xmlns="" id="{4F3ADC46-A0C7-4D41-81C6-E9FEF3D22996}"/>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883" name="Group 373">
              <a:extLst>
                <a:ext uri="{FF2B5EF4-FFF2-40B4-BE49-F238E27FC236}">
                  <a16:creationId xmlns:a16="http://schemas.microsoft.com/office/drawing/2014/main" xmlns="" id="{DBB62302-BA22-EB43-9800-FDE6BC60AEC2}"/>
                </a:ext>
              </a:extLst>
            </p:cNvPr>
            <p:cNvGrpSpPr>
              <a:grpSpLocks/>
            </p:cNvGrpSpPr>
            <p:nvPr/>
          </p:nvGrpSpPr>
          <p:grpSpPr bwMode="auto">
            <a:xfrm>
              <a:off x="4735" y="1627"/>
              <a:ext cx="582" cy="151"/>
              <a:chOff x="614" y="2568"/>
              <a:chExt cx="725" cy="139"/>
            </a:xfrm>
          </p:grpSpPr>
          <p:sp>
            <p:nvSpPr>
              <p:cNvPr id="899" name="AutoShape 374">
                <a:extLst>
                  <a:ext uri="{FF2B5EF4-FFF2-40B4-BE49-F238E27FC236}">
                    <a16:creationId xmlns:a16="http://schemas.microsoft.com/office/drawing/2014/main" xmlns="" id="{073B7F63-6B8F-3C47-98E4-91D899F23EA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00" name="AutoShape 375">
                <a:extLst>
                  <a:ext uri="{FF2B5EF4-FFF2-40B4-BE49-F238E27FC236}">
                    <a16:creationId xmlns:a16="http://schemas.microsoft.com/office/drawing/2014/main" xmlns="" id="{341A6BBC-F5C1-4A4B-B98C-F7FBC232C09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884" name="Freeform 376">
              <a:extLst>
                <a:ext uri="{FF2B5EF4-FFF2-40B4-BE49-F238E27FC236}">
                  <a16:creationId xmlns:a16="http://schemas.microsoft.com/office/drawing/2014/main" xmlns="" id="{FD7BA052-11AD-0746-9E1F-ED093C0C7F5F}"/>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885" name="Group 377">
              <a:extLst>
                <a:ext uri="{FF2B5EF4-FFF2-40B4-BE49-F238E27FC236}">
                  <a16:creationId xmlns:a16="http://schemas.microsoft.com/office/drawing/2014/main" xmlns="" id="{94849104-ED73-4A4E-9499-FE17A0BEEADF}"/>
                </a:ext>
              </a:extLst>
            </p:cNvPr>
            <p:cNvGrpSpPr>
              <a:grpSpLocks/>
            </p:cNvGrpSpPr>
            <p:nvPr/>
          </p:nvGrpSpPr>
          <p:grpSpPr bwMode="auto">
            <a:xfrm>
              <a:off x="4739" y="1327"/>
              <a:ext cx="582" cy="139"/>
              <a:chOff x="614" y="2568"/>
              <a:chExt cx="725" cy="139"/>
            </a:xfrm>
          </p:grpSpPr>
          <p:sp>
            <p:nvSpPr>
              <p:cNvPr id="897" name="AutoShape 378">
                <a:extLst>
                  <a:ext uri="{FF2B5EF4-FFF2-40B4-BE49-F238E27FC236}">
                    <a16:creationId xmlns:a16="http://schemas.microsoft.com/office/drawing/2014/main" xmlns="" id="{6AF22F59-81FC-284E-9ED3-B8543A67EC4A}"/>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8" name="AutoShape 379">
                <a:extLst>
                  <a:ext uri="{FF2B5EF4-FFF2-40B4-BE49-F238E27FC236}">
                    <a16:creationId xmlns:a16="http://schemas.microsoft.com/office/drawing/2014/main" xmlns="" id="{59F0C798-93FE-2E49-A5BB-F37B2B375CA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886" name="Rectangle 380">
              <a:extLst>
                <a:ext uri="{FF2B5EF4-FFF2-40B4-BE49-F238E27FC236}">
                  <a16:creationId xmlns:a16="http://schemas.microsoft.com/office/drawing/2014/main" xmlns="" id="{D7204B38-E79D-704F-9D1A-7946FE0F7A1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87" name="Freeform 381">
              <a:extLst>
                <a:ext uri="{FF2B5EF4-FFF2-40B4-BE49-F238E27FC236}">
                  <a16:creationId xmlns:a16="http://schemas.microsoft.com/office/drawing/2014/main" xmlns="" id="{B297E38E-B1EF-904E-B58B-D3DB570632A7}"/>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88" name="Freeform 382">
              <a:extLst>
                <a:ext uri="{FF2B5EF4-FFF2-40B4-BE49-F238E27FC236}">
                  <a16:creationId xmlns:a16="http://schemas.microsoft.com/office/drawing/2014/main" xmlns="" id="{D9CB8A91-EFB4-EF48-9D5A-800AA7662CE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89" name="Oval 383">
              <a:extLst>
                <a:ext uri="{FF2B5EF4-FFF2-40B4-BE49-F238E27FC236}">
                  <a16:creationId xmlns:a16="http://schemas.microsoft.com/office/drawing/2014/main" xmlns="" id="{8987F49C-0A2B-AD46-A559-3662A0989013}"/>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0" name="Freeform 384">
              <a:extLst>
                <a:ext uri="{FF2B5EF4-FFF2-40B4-BE49-F238E27FC236}">
                  <a16:creationId xmlns:a16="http://schemas.microsoft.com/office/drawing/2014/main" xmlns="" id="{56272E2A-B37E-7040-8FE7-B9446851752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891" name="AutoShape 385">
              <a:extLst>
                <a:ext uri="{FF2B5EF4-FFF2-40B4-BE49-F238E27FC236}">
                  <a16:creationId xmlns:a16="http://schemas.microsoft.com/office/drawing/2014/main" xmlns="" id="{265AE34B-C24C-4244-B2E1-823D47AD4343}"/>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2" name="AutoShape 386">
              <a:extLst>
                <a:ext uri="{FF2B5EF4-FFF2-40B4-BE49-F238E27FC236}">
                  <a16:creationId xmlns:a16="http://schemas.microsoft.com/office/drawing/2014/main" xmlns="" id="{10E44DC8-F69D-5545-9E57-740FE4383A04}"/>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3" name="Oval 387">
              <a:extLst>
                <a:ext uri="{FF2B5EF4-FFF2-40B4-BE49-F238E27FC236}">
                  <a16:creationId xmlns:a16="http://schemas.microsoft.com/office/drawing/2014/main" xmlns="" id="{FD342163-1DC9-1B48-BEA0-1620ABB4E923}"/>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4" name="Oval 388">
              <a:extLst>
                <a:ext uri="{FF2B5EF4-FFF2-40B4-BE49-F238E27FC236}">
                  <a16:creationId xmlns:a16="http://schemas.microsoft.com/office/drawing/2014/main" xmlns="" id="{CA07F370-4D95-0740-89A3-264118D23696}"/>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895" name="Oval 389">
              <a:extLst>
                <a:ext uri="{FF2B5EF4-FFF2-40B4-BE49-F238E27FC236}">
                  <a16:creationId xmlns:a16="http://schemas.microsoft.com/office/drawing/2014/main" xmlns="" id="{7A871C45-6926-0144-A9DA-1CB846474E19}"/>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896" name="Rectangle 390">
              <a:extLst>
                <a:ext uri="{FF2B5EF4-FFF2-40B4-BE49-F238E27FC236}">
                  <a16:creationId xmlns:a16="http://schemas.microsoft.com/office/drawing/2014/main" xmlns="" id="{93478FB3-BB83-904F-BDCC-D9C78F5D8467}"/>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905" name="Group 391">
            <a:extLst>
              <a:ext uri="{FF2B5EF4-FFF2-40B4-BE49-F238E27FC236}">
                <a16:creationId xmlns:a16="http://schemas.microsoft.com/office/drawing/2014/main" xmlns="" id="{B94C15E5-CBA5-2940-8689-484338C5321F}"/>
              </a:ext>
            </a:extLst>
          </p:cNvPr>
          <p:cNvGrpSpPr>
            <a:grpSpLocks/>
          </p:cNvGrpSpPr>
          <p:nvPr/>
        </p:nvGrpSpPr>
        <p:grpSpPr bwMode="auto">
          <a:xfrm>
            <a:off x="6181726" y="4435113"/>
            <a:ext cx="173831" cy="330994"/>
            <a:chOff x="4140" y="429"/>
            <a:chExt cx="1425" cy="2396"/>
          </a:xfrm>
        </p:grpSpPr>
        <p:sp>
          <p:nvSpPr>
            <p:cNvPr id="906" name="Freeform 392">
              <a:extLst>
                <a:ext uri="{FF2B5EF4-FFF2-40B4-BE49-F238E27FC236}">
                  <a16:creationId xmlns:a16="http://schemas.microsoft.com/office/drawing/2014/main" xmlns="" id="{4F66A60C-4523-1247-B22F-E614C232321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07" name="Rectangle 393">
              <a:extLst>
                <a:ext uri="{FF2B5EF4-FFF2-40B4-BE49-F238E27FC236}">
                  <a16:creationId xmlns:a16="http://schemas.microsoft.com/office/drawing/2014/main" xmlns="" id="{61D620F7-773E-9447-BBE9-EADB205BA352}"/>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08" name="Freeform 394">
              <a:extLst>
                <a:ext uri="{FF2B5EF4-FFF2-40B4-BE49-F238E27FC236}">
                  <a16:creationId xmlns:a16="http://schemas.microsoft.com/office/drawing/2014/main" xmlns="" id="{68051943-1F78-7D4F-9003-02B33D5103D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09" name="Freeform 395">
              <a:extLst>
                <a:ext uri="{FF2B5EF4-FFF2-40B4-BE49-F238E27FC236}">
                  <a16:creationId xmlns:a16="http://schemas.microsoft.com/office/drawing/2014/main" xmlns="" id="{CFD52F3A-7D38-814B-ACF7-C2DABDAC01F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10" name="Rectangle 396">
              <a:extLst>
                <a:ext uri="{FF2B5EF4-FFF2-40B4-BE49-F238E27FC236}">
                  <a16:creationId xmlns:a16="http://schemas.microsoft.com/office/drawing/2014/main" xmlns="" id="{ED4FE6BC-E863-0A40-A1BF-59B1EE6E65F0}"/>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11" name="Group 397">
              <a:extLst>
                <a:ext uri="{FF2B5EF4-FFF2-40B4-BE49-F238E27FC236}">
                  <a16:creationId xmlns:a16="http://schemas.microsoft.com/office/drawing/2014/main" xmlns="" id="{B0820A9D-B93E-724D-B70E-1CA866696055}"/>
                </a:ext>
              </a:extLst>
            </p:cNvPr>
            <p:cNvGrpSpPr>
              <a:grpSpLocks/>
            </p:cNvGrpSpPr>
            <p:nvPr/>
          </p:nvGrpSpPr>
          <p:grpSpPr bwMode="auto">
            <a:xfrm>
              <a:off x="4749" y="668"/>
              <a:ext cx="581" cy="145"/>
              <a:chOff x="614" y="2568"/>
              <a:chExt cx="725" cy="139"/>
            </a:xfrm>
          </p:grpSpPr>
          <p:sp>
            <p:nvSpPr>
              <p:cNvPr id="936" name="AutoShape 398">
                <a:extLst>
                  <a:ext uri="{FF2B5EF4-FFF2-40B4-BE49-F238E27FC236}">
                    <a16:creationId xmlns:a16="http://schemas.microsoft.com/office/drawing/2014/main" xmlns="" id="{C731DD29-B1AF-B140-BF66-9AA1704AA0DA}"/>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37" name="AutoShape 399">
                <a:extLst>
                  <a:ext uri="{FF2B5EF4-FFF2-40B4-BE49-F238E27FC236}">
                    <a16:creationId xmlns:a16="http://schemas.microsoft.com/office/drawing/2014/main" xmlns="" id="{69450BC6-9D04-5E41-AAFA-3248B29893B9}"/>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12" name="Rectangle 400">
              <a:extLst>
                <a:ext uri="{FF2B5EF4-FFF2-40B4-BE49-F238E27FC236}">
                  <a16:creationId xmlns:a16="http://schemas.microsoft.com/office/drawing/2014/main" xmlns="" id="{1E68D328-8CD6-494C-8980-4A62098558E2}"/>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13" name="Group 401">
              <a:extLst>
                <a:ext uri="{FF2B5EF4-FFF2-40B4-BE49-F238E27FC236}">
                  <a16:creationId xmlns:a16="http://schemas.microsoft.com/office/drawing/2014/main" xmlns="" id="{80ABD857-57C1-6042-8F03-E798080B040D}"/>
                </a:ext>
              </a:extLst>
            </p:cNvPr>
            <p:cNvGrpSpPr>
              <a:grpSpLocks/>
            </p:cNvGrpSpPr>
            <p:nvPr/>
          </p:nvGrpSpPr>
          <p:grpSpPr bwMode="auto">
            <a:xfrm>
              <a:off x="4747" y="994"/>
              <a:ext cx="581" cy="134"/>
              <a:chOff x="614" y="2568"/>
              <a:chExt cx="725" cy="139"/>
            </a:xfrm>
          </p:grpSpPr>
          <p:sp>
            <p:nvSpPr>
              <p:cNvPr id="934" name="AutoShape 402">
                <a:extLst>
                  <a:ext uri="{FF2B5EF4-FFF2-40B4-BE49-F238E27FC236}">
                    <a16:creationId xmlns:a16="http://schemas.microsoft.com/office/drawing/2014/main" xmlns="" id="{F3B87B92-FEB0-5347-AD64-CA0F25689BD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35" name="AutoShape 403">
                <a:extLst>
                  <a:ext uri="{FF2B5EF4-FFF2-40B4-BE49-F238E27FC236}">
                    <a16:creationId xmlns:a16="http://schemas.microsoft.com/office/drawing/2014/main" xmlns="" id="{9936A920-B1F4-C14C-B5C6-409A7AFE847A}"/>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14" name="Rectangle 404">
              <a:extLst>
                <a:ext uri="{FF2B5EF4-FFF2-40B4-BE49-F238E27FC236}">
                  <a16:creationId xmlns:a16="http://schemas.microsoft.com/office/drawing/2014/main" xmlns="" id="{0F04EEB4-7896-7D4A-BCDA-62B0C7B9FA3E}"/>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15" name="Rectangle 405">
              <a:extLst>
                <a:ext uri="{FF2B5EF4-FFF2-40B4-BE49-F238E27FC236}">
                  <a16:creationId xmlns:a16="http://schemas.microsoft.com/office/drawing/2014/main" xmlns="" id="{5909BD1D-CACF-D748-A5B9-4C7904EECC44}"/>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16" name="Group 406">
              <a:extLst>
                <a:ext uri="{FF2B5EF4-FFF2-40B4-BE49-F238E27FC236}">
                  <a16:creationId xmlns:a16="http://schemas.microsoft.com/office/drawing/2014/main" xmlns="" id="{F985F348-C548-C043-912F-5350B438D3C0}"/>
                </a:ext>
              </a:extLst>
            </p:cNvPr>
            <p:cNvGrpSpPr>
              <a:grpSpLocks/>
            </p:cNvGrpSpPr>
            <p:nvPr/>
          </p:nvGrpSpPr>
          <p:grpSpPr bwMode="auto">
            <a:xfrm>
              <a:off x="4735" y="1627"/>
              <a:ext cx="582" cy="151"/>
              <a:chOff x="614" y="2568"/>
              <a:chExt cx="725" cy="139"/>
            </a:xfrm>
          </p:grpSpPr>
          <p:sp>
            <p:nvSpPr>
              <p:cNvPr id="932" name="AutoShape 407">
                <a:extLst>
                  <a:ext uri="{FF2B5EF4-FFF2-40B4-BE49-F238E27FC236}">
                    <a16:creationId xmlns:a16="http://schemas.microsoft.com/office/drawing/2014/main" xmlns="" id="{F70F083E-0DB4-B64D-BC78-036B8F2D460F}"/>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33" name="AutoShape 408">
                <a:extLst>
                  <a:ext uri="{FF2B5EF4-FFF2-40B4-BE49-F238E27FC236}">
                    <a16:creationId xmlns:a16="http://schemas.microsoft.com/office/drawing/2014/main" xmlns="" id="{EDA150B8-1FBA-3A43-8152-77EF2D3FD36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17" name="Freeform 409">
              <a:extLst>
                <a:ext uri="{FF2B5EF4-FFF2-40B4-BE49-F238E27FC236}">
                  <a16:creationId xmlns:a16="http://schemas.microsoft.com/office/drawing/2014/main" xmlns="" id="{A4EE2C33-4CEF-F64E-8D2C-C9DFC11B0CF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918" name="Group 410">
              <a:extLst>
                <a:ext uri="{FF2B5EF4-FFF2-40B4-BE49-F238E27FC236}">
                  <a16:creationId xmlns:a16="http://schemas.microsoft.com/office/drawing/2014/main" xmlns="" id="{D5237434-45E3-9B43-B435-70ECE4BC17C6}"/>
                </a:ext>
              </a:extLst>
            </p:cNvPr>
            <p:cNvGrpSpPr>
              <a:grpSpLocks/>
            </p:cNvGrpSpPr>
            <p:nvPr/>
          </p:nvGrpSpPr>
          <p:grpSpPr bwMode="auto">
            <a:xfrm>
              <a:off x="4739" y="1327"/>
              <a:ext cx="582" cy="139"/>
              <a:chOff x="614" y="2568"/>
              <a:chExt cx="725" cy="139"/>
            </a:xfrm>
          </p:grpSpPr>
          <p:sp>
            <p:nvSpPr>
              <p:cNvPr id="930" name="AutoShape 411">
                <a:extLst>
                  <a:ext uri="{FF2B5EF4-FFF2-40B4-BE49-F238E27FC236}">
                    <a16:creationId xmlns:a16="http://schemas.microsoft.com/office/drawing/2014/main" xmlns="" id="{FE241821-A07C-5E45-9536-5C4C0DCB2EE2}"/>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31" name="AutoShape 412">
                <a:extLst>
                  <a:ext uri="{FF2B5EF4-FFF2-40B4-BE49-F238E27FC236}">
                    <a16:creationId xmlns:a16="http://schemas.microsoft.com/office/drawing/2014/main" xmlns="" id="{A291E061-47B5-8B40-B857-3700BEC1CF92}"/>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19" name="Rectangle 413">
              <a:extLst>
                <a:ext uri="{FF2B5EF4-FFF2-40B4-BE49-F238E27FC236}">
                  <a16:creationId xmlns:a16="http://schemas.microsoft.com/office/drawing/2014/main" xmlns="" id="{DD501FF1-6533-124E-B747-F46FD4739AA5}"/>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0" name="Freeform 414">
              <a:extLst>
                <a:ext uri="{FF2B5EF4-FFF2-40B4-BE49-F238E27FC236}">
                  <a16:creationId xmlns:a16="http://schemas.microsoft.com/office/drawing/2014/main" xmlns="" id="{DCD7A571-3F8E-5B4C-AE78-445B1D4AE2C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21" name="Freeform 415">
              <a:extLst>
                <a:ext uri="{FF2B5EF4-FFF2-40B4-BE49-F238E27FC236}">
                  <a16:creationId xmlns:a16="http://schemas.microsoft.com/office/drawing/2014/main" xmlns="" id="{938BC4F2-A426-3F45-8FD9-7FA2DBEC0307}"/>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22" name="Oval 416">
              <a:extLst>
                <a:ext uri="{FF2B5EF4-FFF2-40B4-BE49-F238E27FC236}">
                  <a16:creationId xmlns:a16="http://schemas.microsoft.com/office/drawing/2014/main" xmlns="" id="{AF98DFA3-988A-EC49-B271-BC58A8724ED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3" name="Freeform 417">
              <a:extLst>
                <a:ext uri="{FF2B5EF4-FFF2-40B4-BE49-F238E27FC236}">
                  <a16:creationId xmlns:a16="http://schemas.microsoft.com/office/drawing/2014/main" xmlns="" id="{A196ACD0-B52A-594C-BD08-5F7FA59EA3F8}"/>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24" name="AutoShape 418">
              <a:extLst>
                <a:ext uri="{FF2B5EF4-FFF2-40B4-BE49-F238E27FC236}">
                  <a16:creationId xmlns:a16="http://schemas.microsoft.com/office/drawing/2014/main" xmlns="" id="{31CD3BB6-E02C-FF4B-963F-83FAE08F49B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5" name="AutoShape 419">
              <a:extLst>
                <a:ext uri="{FF2B5EF4-FFF2-40B4-BE49-F238E27FC236}">
                  <a16:creationId xmlns:a16="http://schemas.microsoft.com/office/drawing/2014/main" xmlns="" id="{348C19C6-E3E4-6244-86AE-3030DDC92A47}"/>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6" name="Oval 420">
              <a:extLst>
                <a:ext uri="{FF2B5EF4-FFF2-40B4-BE49-F238E27FC236}">
                  <a16:creationId xmlns:a16="http://schemas.microsoft.com/office/drawing/2014/main" xmlns="" id="{427211E2-1972-7141-998C-496F47DB8C74}"/>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7" name="Oval 421">
              <a:extLst>
                <a:ext uri="{FF2B5EF4-FFF2-40B4-BE49-F238E27FC236}">
                  <a16:creationId xmlns:a16="http://schemas.microsoft.com/office/drawing/2014/main" xmlns="" id="{A4986518-BD9B-5B44-985C-6F2FB20BB7B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928" name="Oval 422">
              <a:extLst>
                <a:ext uri="{FF2B5EF4-FFF2-40B4-BE49-F238E27FC236}">
                  <a16:creationId xmlns:a16="http://schemas.microsoft.com/office/drawing/2014/main" xmlns="" id="{410B6E44-7449-9E43-AFBD-60C7C42E260D}"/>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29" name="Rectangle 423">
              <a:extLst>
                <a:ext uri="{FF2B5EF4-FFF2-40B4-BE49-F238E27FC236}">
                  <a16:creationId xmlns:a16="http://schemas.microsoft.com/office/drawing/2014/main" xmlns="" id="{B13CD25C-C312-244E-B0BF-CD83F0BBA536}"/>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938" name="Group 424">
            <a:extLst>
              <a:ext uri="{FF2B5EF4-FFF2-40B4-BE49-F238E27FC236}">
                <a16:creationId xmlns:a16="http://schemas.microsoft.com/office/drawing/2014/main" xmlns="" id="{E9EBF6A3-E9F0-8746-A258-7B6F1E3DA995}"/>
              </a:ext>
            </a:extLst>
          </p:cNvPr>
          <p:cNvGrpSpPr>
            <a:grpSpLocks/>
          </p:cNvGrpSpPr>
          <p:nvPr/>
        </p:nvGrpSpPr>
        <p:grpSpPr bwMode="auto">
          <a:xfrm>
            <a:off x="1266826" y="4312479"/>
            <a:ext cx="173831" cy="330994"/>
            <a:chOff x="4140" y="429"/>
            <a:chExt cx="1425" cy="2396"/>
          </a:xfrm>
        </p:grpSpPr>
        <p:sp>
          <p:nvSpPr>
            <p:cNvPr id="939" name="Freeform 425">
              <a:extLst>
                <a:ext uri="{FF2B5EF4-FFF2-40B4-BE49-F238E27FC236}">
                  <a16:creationId xmlns:a16="http://schemas.microsoft.com/office/drawing/2014/main" xmlns="" id="{317EF1EB-033C-B541-875F-F971EF4C96A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40" name="Rectangle 426">
              <a:extLst>
                <a:ext uri="{FF2B5EF4-FFF2-40B4-BE49-F238E27FC236}">
                  <a16:creationId xmlns:a16="http://schemas.microsoft.com/office/drawing/2014/main" xmlns="" id="{7DE336F4-7D1A-AD4C-B804-3C17B5FDDBE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41" name="Freeform 427">
              <a:extLst>
                <a:ext uri="{FF2B5EF4-FFF2-40B4-BE49-F238E27FC236}">
                  <a16:creationId xmlns:a16="http://schemas.microsoft.com/office/drawing/2014/main" xmlns="" id="{2EF9F335-3899-2649-A235-1B2F287E3EA2}"/>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42" name="Freeform 428">
              <a:extLst>
                <a:ext uri="{FF2B5EF4-FFF2-40B4-BE49-F238E27FC236}">
                  <a16:creationId xmlns:a16="http://schemas.microsoft.com/office/drawing/2014/main" xmlns="" id="{38F111C0-EACA-674A-B70B-E58450D355E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43" name="Rectangle 429">
              <a:extLst>
                <a:ext uri="{FF2B5EF4-FFF2-40B4-BE49-F238E27FC236}">
                  <a16:creationId xmlns:a16="http://schemas.microsoft.com/office/drawing/2014/main" xmlns="" id="{8FAFAE77-82D3-6944-9183-612E8FADA366}"/>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44" name="Group 430">
              <a:extLst>
                <a:ext uri="{FF2B5EF4-FFF2-40B4-BE49-F238E27FC236}">
                  <a16:creationId xmlns:a16="http://schemas.microsoft.com/office/drawing/2014/main" xmlns="" id="{C9C3B06D-1446-984E-8533-C1D0EC6B486C}"/>
                </a:ext>
              </a:extLst>
            </p:cNvPr>
            <p:cNvGrpSpPr>
              <a:grpSpLocks/>
            </p:cNvGrpSpPr>
            <p:nvPr/>
          </p:nvGrpSpPr>
          <p:grpSpPr bwMode="auto">
            <a:xfrm>
              <a:off x="4749" y="668"/>
              <a:ext cx="581" cy="145"/>
              <a:chOff x="614" y="2568"/>
              <a:chExt cx="725" cy="139"/>
            </a:xfrm>
          </p:grpSpPr>
          <p:sp>
            <p:nvSpPr>
              <p:cNvPr id="969" name="AutoShape 431">
                <a:extLst>
                  <a:ext uri="{FF2B5EF4-FFF2-40B4-BE49-F238E27FC236}">
                    <a16:creationId xmlns:a16="http://schemas.microsoft.com/office/drawing/2014/main" xmlns="" id="{B80496C4-049D-954C-A5E2-DFF3BE40A452}"/>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70" name="AutoShape 432">
                <a:extLst>
                  <a:ext uri="{FF2B5EF4-FFF2-40B4-BE49-F238E27FC236}">
                    <a16:creationId xmlns:a16="http://schemas.microsoft.com/office/drawing/2014/main" xmlns="" id="{E94FA028-F9BF-5049-A877-C2D7FDCD9015}"/>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45" name="Rectangle 433">
              <a:extLst>
                <a:ext uri="{FF2B5EF4-FFF2-40B4-BE49-F238E27FC236}">
                  <a16:creationId xmlns:a16="http://schemas.microsoft.com/office/drawing/2014/main" xmlns="" id="{1C7D30E0-62C3-8547-BC1B-55D6857A2A8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46" name="Group 434">
              <a:extLst>
                <a:ext uri="{FF2B5EF4-FFF2-40B4-BE49-F238E27FC236}">
                  <a16:creationId xmlns:a16="http://schemas.microsoft.com/office/drawing/2014/main" xmlns="" id="{CAA280D4-E674-2E4D-847F-F365F1274CA6}"/>
                </a:ext>
              </a:extLst>
            </p:cNvPr>
            <p:cNvGrpSpPr>
              <a:grpSpLocks/>
            </p:cNvGrpSpPr>
            <p:nvPr/>
          </p:nvGrpSpPr>
          <p:grpSpPr bwMode="auto">
            <a:xfrm>
              <a:off x="4747" y="994"/>
              <a:ext cx="581" cy="134"/>
              <a:chOff x="614" y="2568"/>
              <a:chExt cx="725" cy="139"/>
            </a:xfrm>
          </p:grpSpPr>
          <p:sp>
            <p:nvSpPr>
              <p:cNvPr id="967" name="AutoShape 435">
                <a:extLst>
                  <a:ext uri="{FF2B5EF4-FFF2-40B4-BE49-F238E27FC236}">
                    <a16:creationId xmlns:a16="http://schemas.microsoft.com/office/drawing/2014/main" xmlns="" id="{738D85AC-043C-754D-A78E-BACC8A48207E}"/>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68" name="AutoShape 436">
                <a:extLst>
                  <a:ext uri="{FF2B5EF4-FFF2-40B4-BE49-F238E27FC236}">
                    <a16:creationId xmlns:a16="http://schemas.microsoft.com/office/drawing/2014/main" xmlns="" id="{B76D4B9D-F7C8-E14E-9522-B51842A2DCD7}"/>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47" name="Rectangle 437">
              <a:extLst>
                <a:ext uri="{FF2B5EF4-FFF2-40B4-BE49-F238E27FC236}">
                  <a16:creationId xmlns:a16="http://schemas.microsoft.com/office/drawing/2014/main" xmlns="" id="{A121AF39-D190-9942-9112-F9B7373DD92F}"/>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48" name="Rectangle 438">
              <a:extLst>
                <a:ext uri="{FF2B5EF4-FFF2-40B4-BE49-F238E27FC236}">
                  <a16:creationId xmlns:a16="http://schemas.microsoft.com/office/drawing/2014/main" xmlns="" id="{9946FEDB-0B41-A441-8DFF-6C8F29D596E3}"/>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49" name="Group 439">
              <a:extLst>
                <a:ext uri="{FF2B5EF4-FFF2-40B4-BE49-F238E27FC236}">
                  <a16:creationId xmlns:a16="http://schemas.microsoft.com/office/drawing/2014/main" xmlns="" id="{087E5FE7-6DA0-E046-A8AD-270F21B72F4B}"/>
                </a:ext>
              </a:extLst>
            </p:cNvPr>
            <p:cNvGrpSpPr>
              <a:grpSpLocks/>
            </p:cNvGrpSpPr>
            <p:nvPr/>
          </p:nvGrpSpPr>
          <p:grpSpPr bwMode="auto">
            <a:xfrm>
              <a:off x="4735" y="1627"/>
              <a:ext cx="582" cy="151"/>
              <a:chOff x="614" y="2568"/>
              <a:chExt cx="725" cy="139"/>
            </a:xfrm>
          </p:grpSpPr>
          <p:sp>
            <p:nvSpPr>
              <p:cNvPr id="965" name="AutoShape 440">
                <a:extLst>
                  <a:ext uri="{FF2B5EF4-FFF2-40B4-BE49-F238E27FC236}">
                    <a16:creationId xmlns:a16="http://schemas.microsoft.com/office/drawing/2014/main" xmlns="" id="{039CD5C6-4A2D-F248-8B0E-32167F37202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66" name="AutoShape 441">
                <a:extLst>
                  <a:ext uri="{FF2B5EF4-FFF2-40B4-BE49-F238E27FC236}">
                    <a16:creationId xmlns:a16="http://schemas.microsoft.com/office/drawing/2014/main" xmlns="" id="{E70B0960-3C6E-5040-8F34-E0B99EDAF366}"/>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50" name="Freeform 442">
              <a:extLst>
                <a:ext uri="{FF2B5EF4-FFF2-40B4-BE49-F238E27FC236}">
                  <a16:creationId xmlns:a16="http://schemas.microsoft.com/office/drawing/2014/main" xmlns="" id="{17BD7AC4-5373-C941-88AB-B26440D32685}"/>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951" name="Group 443">
              <a:extLst>
                <a:ext uri="{FF2B5EF4-FFF2-40B4-BE49-F238E27FC236}">
                  <a16:creationId xmlns:a16="http://schemas.microsoft.com/office/drawing/2014/main" xmlns="" id="{C7BD3591-3619-7E4C-9B6A-55A758416E82}"/>
                </a:ext>
              </a:extLst>
            </p:cNvPr>
            <p:cNvGrpSpPr>
              <a:grpSpLocks/>
            </p:cNvGrpSpPr>
            <p:nvPr/>
          </p:nvGrpSpPr>
          <p:grpSpPr bwMode="auto">
            <a:xfrm>
              <a:off x="4739" y="1327"/>
              <a:ext cx="582" cy="139"/>
              <a:chOff x="614" y="2568"/>
              <a:chExt cx="725" cy="139"/>
            </a:xfrm>
          </p:grpSpPr>
          <p:sp>
            <p:nvSpPr>
              <p:cNvPr id="963" name="AutoShape 444">
                <a:extLst>
                  <a:ext uri="{FF2B5EF4-FFF2-40B4-BE49-F238E27FC236}">
                    <a16:creationId xmlns:a16="http://schemas.microsoft.com/office/drawing/2014/main" xmlns="" id="{C694EDB9-4E43-7042-9083-DC97B66DE3A3}"/>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64" name="AutoShape 445">
                <a:extLst>
                  <a:ext uri="{FF2B5EF4-FFF2-40B4-BE49-F238E27FC236}">
                    <a16:creationId xmlns:a16="http://schemas.microsoft.com/office/drawing/2014/main" xmlns="" id="{2AB5642F-0A02-6B42-AF90-50B0A18117A6}"/>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52" name="Rectangle 446">
              <a:extLst>
                <a:ext uri="{FF2B5EF4-FFF2-40B4-BE49-F238E27FC236}">
                  <a16:creationId xmlns:a16="http://schemas.microsoft.com/office/drawing/2014/main" xmlns="" id="{2AFCC6E7-BFA9-B440-8D4B-84D103A08926}"/>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53" name="Freeform 447">
              <a:extLst>
                <a:ext uri="{FF2B5EF4-FFF2-40B4-BE49-F238E27FC236}">
                  <a16:creationId xmlns:a16="http://schemas.microsoft.com/office/drawing/2014/main" xmlns="" id="{82204651-13E9-F04B-82D6-6A223B2E11E9}"/>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54" name="Freeform 448">
              <a:extLst>
                <a:ext uri="{FF2B5EF4-FFF2-40B4-BE49-F238E27FC236}">
                  <a16:creationId xmlns:a16="http://schemas.microsoft.com/office/drawing/2014/main" xmlns="" id="{6922DA35-3C04-774C-8ACF-153A173C658F}"/>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55" name="Oval 449">
              <a:extLst>
                <a:ext uri="{FF2B5EF4-FFF2-40B4-BE49-F238E27FC236}">
                  <a16:creationId xmlns:a16="http://schemas.microsoft.com/office/drawing/2014/main" xmlns="" id="{C23E4235-11FF-984D-A57A-C75AD14601A9}"/>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56" name="Freeform 450">
              <a:extLst>
                <a:ext uri="{FF2B5EF4-FFF2-40B4-BE49-F238E27FC236}">
                  <a16:creationId xmlns:a16="http://schemas.microsoft.com/office/drawing/2014/main" xmlns="" id="{59166102-C946-C84E-A8E6-A50DC889B2E2}"/>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57" name="AutoShape 451">
              <a:extLst>
                <a:ext uri="{FF2B5EF4-FFF2-40B4-BE49-F238E27FC236}">
                  <a16:creationId xmlns:a16="http://schemas.microsoft.com/office/drawing/2014/main" xmlns="" id="{DB6EAA21-8AC6-7643-85FF-FFC300E9E71D}"/>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58" name="AutoShape 452">
              <a:extLst>
                <a:ext uri="{FF2B5EF4-FFF2-40B4-BE49-F238E27FC236}">
                  <a16:creationId xmlns:a16="http://schemas.microsoft.com/office/drawing/2014/main" xmlns="" id="{15D9F3D2-6ED8-4C4F-BB56-E545BDE0C428}"/>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59" name="Oval 453">
              <a:extLst>
                <a:ext uri="{FF2B5EF4-FFF2-40B4-BE49-F238E27FC236}">
                  <a16:creationId xmlns:a16="http://schemas.microsoft.com/office/drawing/2014/main" xmlns="" id="{D05548EE-6B5D-D146-AE13-3B37C643B54E}"/>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60" name="Oval 454">
              <a:extLst>
                <a:ext uri="{FF2B5EF4-FFF2-40B4-BE49-F238E27FC236}">
                  <a16:creationId xmlns:a16="http://schemas.microsoft.com/office/drawing/2014/main" xmlns="" id="{BA9CDE26-F880-424F-ACDF-5A5386DB0843}"/>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961" name="Oval 455">
              <a:extLst>
                <a:ext uri="{FF2B5EF4-FFF2-40B4-BE49-F238E27FC236}">
                  <a16:creationId xmlns:a16="http://schemas.microsoft.com/office/drawing/2014/main" xmlns="" id="{ADD01E69-6DBA-9443-B258-925348F541E2}"/>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62" name="Rectangle 456">
              <a:extLst>
                <a:ext uri="{FF2B5EF4-FFF2-40B4-BE49-F238E27FC236}">
                  <a16:creationId xmlns:a16="http://schemas.microsoft.com/office/drawing/2014/main" xmlns="" id="{60515F24-76C5-D241-9374-EDF990578674}"/>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17" name="Group 316">
            <a:extLst>
              <a:ext uri="{FF2B5EF4-FFF2-40B4-BE49-F238E27FC236}">
                <a16:creationId xmlns:a16="http://schemas.microsoft.com/office/drawing/2014/main" xmlns="" id="{C425A84F-46B8-754A-9724-6E2F7CE21E32}"/>
              </a:ext>
            </a:extLst>
          </p:cNvPr>
          <p:cNvGrpSpPr/>
          <p:nvPr/>
        </p:nvGrpSpPr>
        <p:grpSpPr>
          <a:xfrm>
            <a:off x="5946258" y="2439812"/>
            <a:ext cx="462211" cy="652040"/>
            <a:chOff x="10910965" y="2513124"/>
            <a:chExt cx="586768" cy="904023"/>
          </a:xfrm>
        </p:grpSpPr>
        <p:sp>
          <p:nvSpPr>
            <p:cNvPr id="318" name="Rectangle 317">
              <a:extLst>
                <a:ext uri="{FF2B5EF4-FFF2-40B4-BE49-F238E27FC236}">
                  <a16:creationId xmlns:a16="http://schemas.microsoft.com/office/drawing/2014/main" xmlns="" id="{8936A3DE-03D8-EE46-B893-03954ECF8D91}"/>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19" name="Straight Connector 318">
              <a:extLst>
                <a:ext uri="{FF2B5EF4-FFF2-40B4-BE49-F238E27FC236}">
                  <a16:creationId xmlns:a16="http://schemas.microsoft.com/office/drawing/2014/main" xmlns="" id="{6D7E9975-BFAD-8342-A28D-A44C4EE2D551}"/>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xmlns="" id="{EA99EF4C-F055-BE41-BC0C-7222F834FC82}"/>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xmlns="" id="{62BE39BD-E7EF-F549-B80A-D6DB578AC9F3}"/>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xmlns="" id="{263E7FDF-996A-D047-B0F4-86BAA87A454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xmlns="" id="{E5D22A11-B9BD-7D47-BC69-0B40AFC1DDE5}"/>
              </a:ext>
            </a:extLst>
          </p:cNvPr>
          <p:cNvCxnSpPr>
            <a:cxnSpLocks/>
          </p:cNvCxnSpPr>
          <p:nvPr/>
        </p:nvCxnSpPr>
        <p:spPr>
          <a:xfrm>
            <a:off x="2826774" y="3089788"/>
            <a:ext cx="98076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71" name="Group 457">
            <a:extLst>
              <a:ext uri="{FF2B5EF4-FFF2-40B4-BE49-F238E27FC236}">
                <a16:creationId xmlns:a16="http://schemas.microsoft.com/office/drawing/2014/main" xmlns="" id="{C6E45B59-E267-7B45-B2BC-74C688AEE131}"/>
              </a:ext>
            </a:extLst>
          </p:cNvPr>
          <p:cNvGrpSpPr>
            <a:grpSpLocks/>
          </p:cNvGrpSpPr>
          <p:nvPr/>
        </p:nvGrpSpPr>
        <p:grpSpPr bwMode="auto">
          <a:xfrm>
            <a:off x="2777729" y="2808720"/>
            <a:ext cx="173831" cy="330994"/>
            <a:chOff x="4140" y="429"/>
            <a:chExt cx="1425" cy="2396"/>
          </a:xfrm>
        </p:grpSpPr>
        <p:sp>
          <p:nvSpPr>
            <p:cNvPr id="972" name="Freeform 458">
              <a:extLst>
                <a:ext uri="{FF2B5EF4-FFF2-40B4-BE49-F238E27FC236}">
                  <a16:creationId xmlns:a16="http://schemas.microsoft.com/office/drawing/2014/main" xmlns="" id="{7DD04F7D-0DF7-5F46-95E0-951160D158F9}"/>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73" name="Rectangle 459">
              <a:extLst>
                <a:ext uri="{FF2B5EF4-FFF2-40B4-BE49-F238E27FC236}">
                  <a16:creationId xmlns:a16="http://schemas.microsoft.com/office/drawing/2014/main" xmlns="" id="{A482EC7C-40E6-5541-87E2-CC0AD47E1583}"/>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74" name="Freeform 460">
              <a:extLst>
                <a:ext uri="{FF2B5EF4-FFF2-40B4-BE49-F238E27FC236}">
                  <a16:creationId xmlns:a16="http://schemas.microsoft.com/office/drawing/2014/main" xmlns="" id="{09B2489F-DA46-8142-BD8E-C1442F2160ED}"/>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75" name="Freeform 461">
              <a:extLst>
                <a:ext uri="{FF2B5EF4-FFF2-40B4-BE49-F238E27FC236}">
                  <a16:creationId xmlns:a16="http://schemas.microsoft.com/office/drawing/2014/main" xmlns="" id="{8560579B-50AA-8744-885F-62D076AE41F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76" name="Rectangle 462">
              <a:extLst>
                <a:ext uri="{FF2B5EF4-FFF2-40B4-BE49-F238E27FC236}">
                  <a16:creationId xmlns:a16="http://schemas.microsoft.com/office/drawing/2014/main" xmlns="" id="{981079A7-2423-4D45-ABF9-335D31DA3224}"/>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77" name="Group 463">
              <a:extLst>
                <a:ext uri="{FF2B5EF4-FFF2-40B4-BE49-F238E27FC236}">
                  <a16:creationId xmlns:a16="http://schemas.microsoft.com/office/drawing/2014/main" xmlns="" id="{F60D08F5-01A8-1B47-9530-A60B84910B0F}"/>
                </a:ext>
              </a:extLst>
            </p:cNvPr>
            <p:cNvGrpSpPr>
              <a:grpSpLocks/>
            </p:cNvGrpSpPr>
            <p:nvPr/>
          </p:nvGrpSpPr>
          <p:grpSpPr bwMode="auto">
            <a:xfrm>
              <a:off x="4749" y="668"/>
              <a:ext cx="581" cy="145"/>
              <a:chOff x="614" y="2568"/>
              <a:chExt cx="725" cy="139"/>
            </a:xfrm>
          </p:grpSpPr>
          <p:sp>
            <p:nvSpPr>
              <p:cNvPr id="1002" name="AutoShape 464">
                <a:extLst>
                  <a:ext uri="{FF2B5EF4-FFF2-40B4-BE49-F238E27FC236}">
                    <a16:creationId xmlns:a16="http://schemas.microsoft.com/office/drawing/2014/main" xmlns="" id="{3FACCA5F-6077-7140-A10F-814A4CEC8338}"/>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003" name="AutoShape 465">
                <a:extLst>
                  <a:ext uri="{FF2B5EF4-FFF2-40B4-BE49-F238E27FC236}">
                    <a16:creationId xmlns:a16="http://schemas.microsoft.com/office/drawing/2014/main" xmlns="" id="{F7CA1427-C3CB-EB4A-9376-38E19F4B8442}"/>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78" name="Rectangle 466">
              <a:extLst>
                <a:ext uri="{FF2B5EF4-FFF2-40B4-BE49-F238E27FC236}">
                  <a16:creationId xmlns:a16="http://schemas.microsoft.com/office/drawing/2014/main" xmlns="" id="{837C26C6-C274-5F4E-89AD-0D0A0063C5DB}"/>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79" name="Group 467">
              <a:extLst>
                <a:ext uri="{FF2B5EF4-FFF2-40B4-BE49-F238E27FC236}">
                  <a16:creationId xmlns:a16="http://schemas.microsoft.com/office/drawing/2014/main" xmlns="" id="{866E97C1-381B-D941-9CAC-1F7B64147C85}"/>
                </a:ext>
              </a:extLst>
            </p:cNvPr>
            <p:cNvGrpSpPr>
              <a:grpSpLocks/>
            </p:cNvGrpSpPr>
            <p:nvPr/>
          </p:nvGrpSpPr>
          <p:grpSpPr bwMode="auto">
            <a:xfrm>
              <a:off x="4747" y="994"/>
              <a:ext cx="581" cy="134"/>
              <a:chOff x="614" y="2568"/>
              <a:chExt cx="725" cy="139"/>
            </a:xfrm>
          </p:grpSpPr>
          <p:sp>
            <p:nvSpPr>
              <p:cNvPr id="1000" name="AutoShape 468">
                <a:extLst>
                  <a:ext uri="{FF2B5EF4-FFF2-40B4-BE49-F238E27FC236}">
                    <a16:creationId xmlns:a16="http://schemas.microsoft.com/office/drawing/2014/main" xmlns="" id="{089E79CA-EA5F-F845-8135-381DDCE2B7F6}"/>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001" name="AutoShape 469">
                <a:extLst>
                  <a:ext uri="{FF2B5EF4-FFF2-40B4-BE49-F238E27FC236}">
                    <a16:creationId xmlns:a16="http://schemas.microsoft.com/office/drawing/2014/main" xmlns="" id="{CEC382CF-D42E-C148-B554-D931AF3DAF63}"/>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80" name="Rectangle 470">
              <a:extLst>
                <a:ext uri="{FF2B5EF4-FFF2-40B4-BE49-F238E27FC236}">
                  <a16:creationId xmlns:a16="http://schemas.microsoft.com/office/drawing/2014/main" xmlns="" id="{39C56472-C924-2940-B17A-5BD33A2B256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81" name="Rectangle 471">
              <a:extLst>
                <a:ext uri="{FF2B5EF4-FFF2-40B4-BE49-F238E27FC236}">
                  <a16:creationId xmlns:a16="http://schemas.microsoft.com/office/drawing/2014/main" xmlns="" id="{48693300-7BC2-F24F-A5EA-5EFC928E335A}"/>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982" name="Group 472">
              <a:extLst>
                <a:ext uri="{FF2B5EF4-FFF2-40B4-BE49-F238E27FC236}">
                  <a16:creationId xmlns:a16="http://schemas.microsoft.com/office/drawing/2014/main" xmlns="" id="{1BF7C429-6C5C-D54E-BD8C-1990AE08D8B1}"/>
                </a:ext>
              </a:extLst>
            </p:cNvPr>
            <p:cNvGrpSpPr>
              <a:grpSpLocks/>
            </p:cNvGrpSpPr>
            <p:nvPr/>
          </p:nvGrpSpPr>
          <p:grpSpPr bwMode="auto">
            <a:xfrm>
              <a:off x="4735" y="1627"/>
              <a:ext cx="582" cy="151"/>
              <a:chOff x="614" y="2568"/>
              <a:chExt cx="725" cy="139"/>
            </a:xfrm>
          </p:grpSpPr>
          <p:sp>
            <p:nvSpPr>
              <p:cNvPr id="998" name="AutoShape 473">
                <a:extLst>
                  <a:ext uri="{FF2B5EF4-FFF2-40B4-BE49-F238E27FC236}">
                    <a16:creationId xmlns:a16="http://schemas.microsoft.com/office/drawing/2014/main" xmlns="" id="{E12DA08F-762F-8A42-B411-55A6A73043E6}"/>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9" name="AutoShape 474">
                <a:extLst>
                  <a:ext uri="{FF2B5EF4-FFF2-40B4-BE49-F238E27FC236}">
                    <a16:creationId xmlns:a16="http://schemas.microsoft.com/office/drawing/2014/main" xmlns="" id="{4E5DD8A3-DB1E-5E48-9B40-9CDB93E2F533}"/>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83" name="Freeform 475">
              <a:extLst>
                <a:ext uri="{FF2B5EF4-FFF2-40B4-BE49-F238E27FC236}">
                  <a16:creationId xmlns:a16="http://schemas.microsoft.com/office/drawing/2014/main" xmlns="" id="{6338E658-2064-FE4D-8C90-608F5603D1B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984" name="Group 476">
              <a:extLst>
                <a:ext uri="{FF2B5EF4-FFF2-40B4-BE49-F238E27FC236}">
                  <a16:creationId xmlns:a16="http://schemas.microsoft.com/office/drawing/2014/main" xmlns="" id="{F51EBDA0-8B91-7542-8465-DBEA299056D6}"/>
                </a:ext>
              </a:extLst>
            </p:cNvPr>
            <p:cNvGrpSpPr>
              <a:grpSpLocks/>
            </p:cNvGrpSpPr>
            <p:nvPr/>
          </p:nvGrpSpPr>
          <p:grpSpPr bwMode="auto">
            <a:xfrm>
              <a:off x="4739" y="1327"/>
              <a:ext cx="582" cy="139"/>
              <a:chOff x="614" y="2568"/>
              <a:chExt cx="725" cy="139"/>
            </a:xfrm>
          </p:grpSpPr>
          <p:sp>
            <p:nvSpPr>
              <p:cNvPr id="996" name="AutoShape 477">
                <a:extLst>
                  <a:ext uri="{FF2B5EF4-FFF2-40B4-BE49-F238E27FC236}">
                    <a16:creationId xmlns:a16="http://schemas.microsoft.com/office/drawing/2014/main" xmlns="" id="{EF24BF5B-102B-C340-948F-D8918718BC85}"/>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7" name="AutoShape 478">
                <a:extLst>
                  <a:ext uri="{FF2B5EF4-FFF2-40B4-BE49-F238E27FC236}">
                    <a16:creationId xmlns:a16="http://schemas.microsoft.com/office/drawing/2014/main" xmlns="" id="{140E04CF-3812-F045-8D17-168F7B463C01}"/>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985" name="Rectangle 479">
              <a:extLst>
                <a:ext uri="{FF2B5EF4-FFF2-40B4-BE49-F238E27FC236}">
                  <a16:creationId xmlns:a16="http://schemas.microsoft.com/office/drawing/2014/main" xmlns="" id="{A84A63E1-DEDD-8D48-9DE3-A238F90EAF8E}"/>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86" name="Freeform 480">
              <a:extLst>
                <a:ext uri="{FF2B5EF4-FFF2-40B4-BE49-F238E27FC236}">
                  <a16:creationId xmlns:a16="http://schemas.microsoft.com/office/drawing/2014/main" xmlns="" id="{AA0561AD-7E9C-4449-BC28-22FE95411EC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87" name="Freeform 481">
              <a:extLst>
                <a:ext uri="{FF2B5EF4-FFF2-40B4-BE49-F238E27FC236}">
                  <a16:creationId xmlns:a16="http://schemas.microsoft.com/office/drawing/2014/main" xmlns="" id="{4CD36BC2-CE3A-8647-BA74-07860429897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88" name="Oval 482">
              <a:extLst>
                <a:ext uri="{FF2B5EF4-FFF2-40B4-BE49-F238E27FC236}">
                  <a16:creationId xmlns:a16="http://schemas.microsoft.com/office/drawing/2014/main" xmlns="" id="{20A57E2B-584E-DA4B-8D86-672777B3E25D}"/>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89" name="Freeform 483">
              <a:extLst>
                <a:ext uri="{FF2B5EF4-FFF2-40B4-BE49-F238E27FC236}">
                  <a16:creationId xmlns:a16="http://schemas.microsoft.com/office/drawing/2014/main" xmlns="" id="{6FEFA449-FBC8-864C-B7D9-6DED5AB0CBD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990" name="AutoShape 484">
              <a:extLst>
                <a:ext uri="{FF2B5EF4-FFF2-40B4-BE49-F238E27FC236}">
                  <a16:creationId xmlns:a16="http://schemas.microsoft.com/office/drawing/2014/main" xmlns="" id="{4546C8B6-EBDA-5247-B1B0-B48DEBAFF978}"/>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1" name="AutoShape 485">
              <a:extLst>
                <a:ext uri="{FF2B5EF4-FFF2-40B4-BE49-F238E27FC236}">
                  <a16:creationId xmlns:a16="http://schemas.microsoft.com/office/drawing/2014/main" xmlns="" id="{C05FEF15-30BC-3D4D-8D0F-14F59AB04084}"/>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2" name="Oval 486">
              <a:extLst>
                <a:ext uri="{FF2B5EF4-FFF2-40B4-BE49-F238E27FC236}">
                  <a16:creationId xmlns:a16="http://schemas.microsoft.com/office/drawing/2014/main" xmlns="" id="{ECF2AD08-E62F-C24F-A0CB-5677D25F05B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3" name="Oval 487">
              <a:extLst>
                <a:ext uri="{FF2B5EF4-FFF2-40B4-BE49-F238E27FC236}">
                  <a16:creationId xmlns:a16="http://schemas.microsoft.com/office/drawing/2014/main" xmlns="" id="{CDAFBE24-E2D4-6545-BA87-78A5C4DCA02D}"/>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994" name="Oval 488">
              <a:extLst>
                <a:ext uri="{FF2B5EF4-FFF2-40B4-BE49-F238E27FC236}">
                  <a16:creationId xmlns:a16="http://schemas.microsoft.com/office/drawing/2014/main" xmlns="" id="{023AD650-7400-B34D-A1C1-EABEFBFD9C06}"/>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995" name="Rectangle 489">
              <a:extLst>
                <a:ext uri="{FF2B5EF4-FFF2-40B4-BE49-F238E27FC236}">
                  <a16:creationId xmlns:a16="http://schemas.microsoft.com/office/drawing/2014/main" xmlns="" id="{114EA38E-5873-E449-9C8C-82E6AEF3B7A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345" name="Group 344">
            <a:extLst>
              <a:ext uri="{FF2B5EF4-FFF2-40B4-BE49-F238E27FC236}">
                <a16:creationId xmlns:a16="http://schemas.microsoft.com/office/drawing/2014/main" xmlns="" id="{4B59543D-C5BA-F140-B187-9B5CD42038E3}"/>
              </a:ext>
            </a:extLst>
          </p:cNvPr>
          <p:cNvGrpSpPr/>
          <p:nvPr/>
        </p:nvGrpSpPr>
        <p:grpSpPr>
          <a:xfrm>
            <a:off x="3193526" y="4476635"/>
            <a:ext cx="357648" cy="191729"/>
            <a:chOff x="6859123" y="5156933"/>
            <a:chExt cx="456701" cy="226548"/>
          </a:xfrm>
        </p:grpSpPr>
        <p:sp>
          <p:nvSpPr>
            <p:cNvPr id="346" name="Rectangle 345">
              <a:extLst>
                <a:ext uri="{FF2B5EF4-FFF2-40B4-BE49-F238E27FC236}">
                  <a16:creationId xmlns:a16="http://schemas.microsoft.com/office/drawing/2014/main" xmlns="" id="{658633B4-7F85-9649-9D29-D4685E4D8FCE}"/>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47" name="Straight Connector 346">
              <a:extLst>
                <a:ext uri="{FF2B5EF4-FFF2-40B4-BE49-F238E27FC236}">
                  <a16:creationId xmlns:a16="http://schemas.microsoft.com/office/drawing/2014/main" xmlns="" id="{4AEFBFC0-69F4-0442-A5A5-AA6B13A5C54B}"/>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xmlns="" id="{72565081-DC08-D043-A503-2FB6F949E0F0}"/>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xmlns="" id="{DEA8E45E-B3F3-194A-8A6B-678BE5CEA477}"/>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xmlns="" id="{85A94CF9-243E-0C4E-A010-AF25D658F77B}"/>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xmlns="" id="{AFCDC61C-4A1A-624B-86AF-7EC5B97EAFEE}"/>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xmlns="" id="{CA58E5DA-8966-1E4E-B9CC-4D9206B74168}"/>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xmlns="" id="{40B4CE1B-77BF-D040-87C6-2BE4B75297B8}"/>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4" name="Group 353">
            <a:extLst>
              <a:ext uri="{FF2B5EF4-FFF2-40B4-BE49-F238E27FC236}">
                <a16:creationId xmlns:a16="http://schemas.microsoft.com/office/drawing/2014/main" xmlns="" id="{1516B822-274C-9142-A594-3C026C13E15A}"/>
              </a:ext>
            </a:extLst>
          </p:cNvPr>
          <p:cNvGrpSpPr/>
          <p:nvPr/>
        </p:nvGrpSpPr>
        <p:grpSpPr>
          <a:xfrm rot="18977820">
            <a:off x="2970738" y="3631978"/>
            <a:ext cx="357648" cy="191729"/>
            <a:chOff x="6859123" y="5156933"/>
            <a:chExt cx="456701" cy="226548"/>
          </a:xfrm>
        </p:grpSpPr>
        <p:sp>
          <p:nvSpPr>
            <p:cNvPr id="355" name="Rectangle 354">
              <a:extLst>
                <a:ext uri="{FF2B5EF4-FFF2-40B4-BE49-F238E27FC236}">
                  <a16:creationId xmlns:a16="http://schemas.microsoft.com/office/drawing/2014/main" xmlns="" id="{FE73F339-8370-854D-865A-1DA3D42F8615}"/>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56" name="Straight Connector 355">
              <a:extLst>
                <a:ext uri="{FF2B5EF4-FFF2-40B4-BE49-F238E27FC236}">
                  <a16:creationId xmlns:a16="http://schemas.microsoft.com/office/drawing/2014/main" xmlns="" id="{25FCEF18-6C08-1D44-8B43-B9FEC5A1CF34}"/>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xmlns="" id="{69609594-6D6C-CE4D-8793-7FF98E89AD96}"/>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xmlns="" id="{CA747F05-33BD-0A44-8A65-3557ACA73F90}"/>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xmlns="" id="{E37B61E4-4606-D744-BD80-B5276B042207}"/>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xmlns="" id="{A86704E3-8936-8944-BEA9-BB9821A64A8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xmlns="" id="{60BA1282-3FA8-494B-AA57-9F64ED26BC74}"/>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xmlns="" id="{7D842007-7272-0E4C-9DDC-59436F73AB80}"/>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63" name="Group 362">
            <a:extLst>
              <a:ext uri="{FF2B5EF4-FFF2-40B4-BE49-F238E27FC236}">
                <a16:creationId xmlns:a16="http://schemas.microsoft.com/office/drawing/2014/main" xmlns="" id="{5D4499A7-8331-374E-915F-6FB1150582B0}"/>
              </a:ext>
            </a:extLst>
          </p:cNvPr>
          <p:cNvGrpSpPr/>
          <p:nvPr/>
        </p:nvGrpSpPr>
        <p:grpSpPr>
          <a:xfrm>
            <a:off x="4590312" y="3348166"/>
            <a:ext cx="357648" cy="191729"/>
            <a:chOff x="6859123" y="5156933"/>
            <a:chExt cx="456701" cy="226548"/>
          </a:xfrm>
        </p:grpSpPr>
        <p:sp>
          <p:nvSpPr>
            <p:cNvPr id="364" name="Rectangle 363">
              <a:extLst>
                <a:ext uri="{FF2B5EF4-FFF2-40B4-BE49-F238E27FC236}">
                  <a16:creationId xmlns:a16="http://schemas.microsoft.com/office/drawing/2014/main" xmlns="" id="{9DDEEE95-0C6B-F045-B62F-C3DAD3AD7FF1}"/>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65" name="Straight Connector 364">
              <a:extLst>
                <a:ext uri="{FF2B5EF4-FFF2-40B4-BE49-F238E27FC236}">
                  <a16:creationId xmlns:a16="http://schemas.microsoft.com/office/drawing/2014/main" xmlns="" id="{5B7AA8AC-B89C-5B40-B520-2EC3B1B81D47}"/>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xmlns="" id="{3EC321B7-E2DC-344E-9763-169EF6E841EF}"/>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xmlns="" id="{3C94C832-11CE-A645-9806-C75AAA76D484}"/>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xmlns="" id="{E60FF87F-4770-CA45-B8F3-84AAC6B9A4B3}"/>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xmlns="" id="{43B3B5EF-ECA9-B64A-93C4-85466210C7F4}"/>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xmlns="" id="{113028A7-6DC0-CF47-8C1B-CEF037BDA1AC}"/>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xmlns="" id="{5F1AD6B8-9E8D-D448-AA1C-C19CC1452529}"/>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72" name="Group 371">
            <a:extLst>
              <a:ext uri="{FF2B5EF4-FFF2-40B4-BE49-F238E27FC236}">
                <a16:creationId xmlns:a16="http://schemas.microsoft.com/office/drawing/2014/main" xmlns="" id="{BC753510-FFCF-4444-A7BB-044870E26DD3}"/>
              </a:ext>
            </a:extLst>
          </p:cNvPr>
          <p:cNvGrpSpPr/>
          <p:nvPr/>
        </p:nvGrpSpPr>
        <p:grpSpPr>
          <a:xfrm rot="18857641">
            <a:off x="4582562" y="3988440"/>
            <a:ext cx="357648" cy="191729"/>
            <a:chOff x="6859123" y="5156933"/>
            <a:chExt cx="456701" cy="226548"/>
          </a:xfrm>
        </p:grpSpPr>
        <p:sp>
          <p:nvSpPr>
            <p:cNvPr id="373" name="Rectangle 372">
              <a:extLst>
                <a:ext uri="{FF2B5EF4-FFF2-40B4-BE49-F238E27FC236}">
                  <a16:creationId xmlns:a16="http://schemas.microsoft.com/office/drawing/2014/main" xmlns="" id="{A08E0DBC-4F5A-1745-BA9E-B4688EEBE8B2}"/>
                </a:ext>
              </a:extLst>
            </p:cNvPr>
            <p:cNvSpPr/>
            <p:nvPr/>
          </p:nvSpPr>
          <p:spPr>
            <a:xfrm>
              <a:off x="6859123" y="5156933"/>
              <a:ext cx="456701" cy="226548"/>
            </a:xfrm>
            <a:prstGeom prst="rect">
              <a:avLst/>
            </a:prstGeom>
            <a:solidFill>
              <a:srgbClr val="F989B2"/>
            </a:solid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374" name="Straight Connector 373">
              <a:extLst>
                <a:ext uri="{FF2B5EF4-FFF2-40B4-BE49-F238E27FC236}">
                  <a16:creationId xmlns:a16="http://schemas.microsoft.com/office/drawing/2014/main" xmlns="" id="{86CCF497-BBF5-1847-A54B-1D274EC1FBF2}"/>
                </a:ext>
              </a:extLst>
            </p:cNvPr>
            <p:cNvCxnSpPr/>
            <p:nvPr/>
          </p:nvCxnSpPr>
          <p:spPr>
            <a:xfrm flipV="1">
              <a:off x="724911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xmlns="" id="{44666C01-A459-0044-A0B0-3D22A107A0E3}"/>
                </a:ext>
              </a:extLst>
            </p:cNvPr>
            <p:cNvCxnSpPr/>
            <p:nvPr/>
          </p:nvCxnSpPr>
          <p:spPr>
            <a:xfrm flipV="1">
              <a:off x="7197800"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xmlns="" id="{75D8ECE7-4B34-8F48-B62B-54865BA7462D}"/>
                </a:ext>
              </a:extLst>
            </p:cNvPr>
            <p:cNvCxnSpPr/>
            <p:nvPr/>
          </p:nvCxnSpPr>
          <p:spPr>
            <a:xfrm flipV="1">
              <a:off x="7146485"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xmlns="" id="{85079C21-AA1B-2545-9071-BEE571A459AD}"/>
                </a:ext>
              </a:extLst>
            </p:cNvPr>
            <p:cNvCxnSpPr/>
            <p:nvPr/>
          </p:nvCxnSpPr>
          <p:spPr>
            <a:xfrm flipV="1">
              <a:off x="709517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xmlns="" id="{2D916BAD-87C0-6146-AB10-6650F08C5C71}"/>
                </a:ext>
              </a:extLst>
            </p:cNvPr>
            <p:cNvCxnSpPr/>
            <p:nvPr/>
          </p:nvCxnSpPr>
          <p:spPr>
            <a:xfrm flipV="1">
              <a:off x="7043856"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xmlns="" id="{3F49550F-F63A-B945-A97E-B7A0741AB278}"/>
                </a:ext>
              </a:extLst>
            </p:cNvPr>
            <p:cNvCxnSpPr/>
            <p:nvPr/>
          </p:nvCxnSpPr>
          <p:spPr>
            <a:xfrm flipV="1">
              <a:off x="6992541"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xmlns="" id="{2FDE63AE-3F8B-3D44-969E-074AE7DEAA97}"/>
                </a:ext>
              </a:extLst>
            </p:cNvPr>
            <p:cNvCxnSpPr/>
            <p:nvPr/>
          </p:nvCxnSpPr>
          <p:spPr>
            <a:xfrm flipV="1">
              <a:off x="6941227" y="5189971"/>
              <a:ext cx="0" cy="15575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808" name="Freeform 272">
            <a:extLst>
              <a:ext uri="{FF2B5EF4-FFF2-40B4-BE49-F238E27FC236}">
                <a16:creationId xmlns:a16="http://schemas.microsoft.com/office/drawing/2014/main" xmlns="" id="{CAFA60B5-CA3B-CE47-99B6-49C8AA15A522}"/>
              </a:ext>
            </a:extLst>
          </p:cNvPr>
          <p:cNvSpPr>
            <a:spLocks/>
          </p:cNvSpPr>
          <p:nvPr/>
        </p:nvSpPr>
        <p:spPr bwMode="auto">
          <a:xfrm>
            <a:off x="3341347" y="2398691"/>
            <a:ext cx="2478881" cy="2143125"/>
          </a:xfrm>
          <a:custGeom>
            <a:avLst/>
            <a:gdLst>
              <a:gd name="T0" fmla="*/ 0 w 5205"/>
              <a:gd name="T1" fmla="*/ 0 h 4500"/>
              <a:gd name="T2" fmla="*/ 0 w 5205"/>
              <a:gd name="T3" fmla="*/ 2147483647 h 4500"/>
              <a:gd name="T4" fmla="*/ 2147483647 w 5205"/>
              <a:gd name="T5" fmla="*/ 2147483647 h 4500"/>
              <a:gd name="T6" fmla="*/ 2147483647 w 5205"/>
              <a:gd name="T7" fmla="*/ 2147483647 h 4500"/>
              <a:gd name="T8" fmla="*/ 2147483647 w 5205"/>
              <a:gd name="T9" fmla="*/ 2147483647 h 4500"/>
              <a:gd name="T10" fmla="*/ 2147483647 w 5205"/>
              <a:gd name="T11" fmla="*/ 2147483647 h 4500"/>
              <a:gd name="T12" fmla="*/ 2147483647 w 5205"/>
              <a:gd name="T13" fmla="*/ 2147483647 h 4500"/>
              <a:gd name="T14" fmla="*/ 2147483647 w 5205"/>
              <a:gd name="T15" fmla="*/ 2147483647 h 4500"/>
              <a:gd name="T16" fmla="*/ 0 60000 65536"/>
              <a:gd name="T17" fmla="*/ 0 60000 65536"/>
              <a:gd name="T18" fmla="*/ 0 60000 65536"/>
              <a:gd name="T19" fmla="*/ 0 60000 65536"/>
              <a:gd name="T20" fmla="*/ 0 60000 65536"/>
              <a:gd name="T21" fmla="*/ 0 60000 65536"/>
              <a:gd name="T22" fmla="*/ 0 60000 65536"/>
              <a:gd name="T23" fmla="*/ 0 60000 65536"/>
              <a:gd name="connsiteX0" fmla="*/ 0 w 10000"/>
              <a:gd name="connsiteY0" fmla="*/ 0 h 10000"/>
              <a:gd name="connsiteX1" fmla="*/ 0 w 10000"/>
              <a:gd name="connsiteY1" fmla="*/ 2933 h 10000"/>
              <a:gd name="connsiteX2" fmla="*/ 2374 w 10000"/>
              <a:gd name="connsiteY2" fmla="*/ 2938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 name="connsiteX0" fmla="*/ 0 w 10000"/>
              <a:gd name="connsiteY0" fmla="*/ 0 h 10000"/>
              <a:gd name="connsiteX1" fmla="*/ 11 w 10000"/>
              <a:gd name="connsiteY1" fmla="*/ 2958 h 10000"/>
              <a:gd name="connsiteX2" fmla="*/ 2374 w 10000"/>
              <a:gd name="connsiteY2" fmla="*/ 2938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 name="connsiteX0" fmla="*/ 0 w 10000"/>
              <a:gd name="connsiteY0" fmla="*/ 0 h 10000"/>
              <a:gd name="connsiteX1" fmla="*/ 11 w 10000"/>
              <a:gd name="connsiteY1" fmla="*/ 2958 h 10000"/>
              <a:gd name="connsiteX2" fmla="*/ 2299 w 10000"/>
              <a:gd name="connsiteY2" fmla="*/ 2963 h 10000"/>
              <a:gd name="connsiteX3" fmla="*/ 951 w 10000"/>
              <a:gd name="connsiteY3" fmla="*/ 4533 h 10000"/>
              <a:gd name="connsiteX4" fmla="*/ 8674 w 10000"/>
              <a:gd name="connsiteY4" fmla="*/ 4700 h 10000"/>
              <a:gd name="connsiteX5" fmla="*/ 4265 w 10000"/>
              <a:gd name="connsiteY5" fmla="*/ 10000 h 10000"/>
              <a:gd name="connsiteX6" fmla="*/ 10000 w 10000"/>
              <a:gd name="connsiteY6" fmla="*/ 10000 h 10000"/>
              <a:gd name="connsiteX7" fmla="*/ 10000 w 10000"/>
              <a:gd name="connsiteY7" fmla="*/ 7567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0"/>
                </a:moveTo>
                <a:cubicBezTo>
                  <a:pt x="4" y="986"/>
                  <a:pt x="7" y="1972"/>
                  <a:pt x="11" y="2958"/>
                </a:cubicBezTo>
                <a:lnTo>
                  <a:pt x="2299" y="2963"/>
                </a:lnTo>
                <a:lnTo>
                  <a:pt x="951" y="4533"/>
                </a:lnTo>
                <a:lnTo>
                  <a:pt x="8674" y="4700"/>
                </a:lnTo>
                <a:lnTo>
                  <a:pt x="4265" y="10000"/>
                </a:lnTo>
                <a:lnTo>
                  <a:pt x="10000" y="10000"/>
                </a:lnTo>
                <a:lnTo>
                  <a:pt x="10000" y="7567"/>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1" name="Group 10">
            <a:extLst>
              <a:ext uri="{FF2B5EF4-FFF2-40B4-BE49-F238E27FC236}">
                <a16:creationId xmlns:a16="http://schemas.microsoft.com/office/drawing/2014/main" xmlns="" id="{124C2353-8341-1E42-98B2-810BFB992383}"/>
              </a:ext>
            </a:extLst>
          </p:cNvPr>
          <p:cNvGrpSpPr/>
          <p:nvPr/>
        </p:nvGrpSpPr>
        <p:grpSpPr>
          <a:xfrm>
            <a:off x="2119313" y="2420576"/>
            <a:ext cx="3833359" cy="2200275"/>
            <a:chOff x="2825750" y="3227434"/>
            <a:chExt cx="5111145" cy="2933700"/>
          </a:xfrm>
        </p:grpSpPr>
        <p:grpSp>
          <p:nvGrpSpPr>
            <p:cNvPr id="860" name="Group 324">
              <a:extLst>
                <a:ext uri="{FF2B5EF4-FFF2-40B4-BE49-F238E27FC236}">
                  <a16:creationId xmlns:a16="http://schemas.microsoft.com/office/drawing/2014/main" xmlns="" id="{407BA615-EDD2-8A40-BE5B-0B090D092746}"/>
                </a:ext>
              </a:extLst>
            </p:cNvPr>
            <p:cNvGrpSpPr>
              <a:grpSpLocks/>
            </p:cNvGrpSpPr>
            <p:nvPr/>
          </p:nvGrpSpPr>
          <p:grpSpPr bwMode="auto">
            <a:xfrm>
              <a:off x="7844820" y="5350527"/>
              <a:ext cx="92075" cy="271462"/>
              <a:chOff x="10104" y="10005"/>
              <a:chExt cx="137" cy="411"/>
            </a:xfrm>
          </p:grpSpPr>
          <p:sp>
            <p:nvSpPr>
              <p:cNvPr id="861" name="Oval 325">
                <a:extLst>
                  <a:ext uri="{FF2B5EF4-FFF2-40B4-BE49-F238E27FC236}">
                    <a16:creationId xmlns:a16="http://schemas.microsoft.com/office/drawing/2014/main" xmlns="" id="{8B751E56-0C4B-D14C-945C-749546AA535F}"/>
                  </a:ext>
                </a:extLst>
              </p:cNvPr>
              <p:cNvSpPr>
                <a:spLocks noChangeArrowheads="1"/>
              </p:cNvSpPr>
              <p:nvPr/>
            </p:nvSpPr>
            <p:spPr bwMode="auto">
              <a:xfrm>
                <a:off x="10104" y="10005"/>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862" name="Oval 326">
                <a:extLst>
                  <a:ext uri="{FF2B5EF4-FFF2-40B4-BE49-F238E27FC236}">
                    <a16:creationId xmlns:a16="http://schemas.microsoft.com/office/drawing/2014/main" xmlns="" id="{342DEC42-734D-D54D-A9B5-89D44C4674AF}"/>
                  </a:ext>
                </a:extLst>
              </p:cNvPr>
              <p:cNvSpPr>
                <a:spLocks noChangeArrowheads="1"/>
              </p:cNvSpPr>
              <p:nvPr/>
            </p:nvSpPr>
            <p:spPr bwMode="auto">
              <a:xfrm>
                <a:off x="10104" y="10278"/>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sp>
          <p:nvSpPr>
            <p:cNvPr id="854" name="Freeform 318">
              <a:extLst>
                <a:ext uri="{FF2B5EF4-FFF2-40B4-BE49-F238E27FC236}">
                  <a16:creationId xmlns:a16="http://schemas.microsoft.com/office/drawing/2014/main" xmlns="" id="{07189EA4-F824-494B-B957-3F54E942D2D2}"/>
                </a:ext>
              </a:extLst>
            </p:cNvPr>
            <p:cNvSpPr>
              <a:spLocks/>
            </p:cNvSpPr>
            <p:nvPr/>
          </p:nvSpPr>
          <p:spPr bwMode="auto">
            <a:xfrm>
              <a:off x="2825750" y="3227434"/>
              <a:ext cx="5067300" cy="2933700"/>
            </a:xfrm>
            <a:custGeom>
              <a:avLst/>
              <a:gdLst>
                <a:gd name="T0" fmla="*/ 2147483647 w 7980"/>
                <a:gd name="T1" fmla="*/ 2147483647 h 4620"/>
                <a:gd name="T2" fmla="*/ 2147483647 w 7980"/>
                <a:gd name="T3" fmla="*/ 2147483647 h 4620"/>
                <a:gd name="T4" fmla="*/ 0 w 7980"/>
                <a:gd name="T5" fmla="*/ 2147483647 h 4620"/>
                <a:gd name="T6" fmla="*/ 2147483647 w 7980"/>
                <a:gd name="T7" fmla="*/ 2147483647 h 4620"/>
                <a:gd name="T8" fmla="*/ 2147483647 w 7980"/>
                <a:gd name="T9" fmla="*/ 2147483647 h 4620"/>
                <a:gd name="T10" fmla="*/ 2147483647 w 7980"/>
                <a:gd name="T11" fmla="*/ 0 h 4620"/>
                <a:gd name="T12" fmla="*/ 0 60000 65536"/>
                <a:gd name="T13" fmla="*/ 0 60000 65536"/>
                <a:gd name="T14" fmla="*/ 0 60000 65536"/>
                <a:gd name="T15" fmla="*/ 0 60000 65536"/>
                <a:gd name="T16" fmla="*/ 0 60000 65536"/>
                <a:gd name="T17" fmla="*/ 0 60000 65536"/>
                <a:gd name="connsiteX0" fmla="*/ 9981 w 10000"/>
                <a:gd name="connsiteY0" fmla="*/ 7403 h 10000"/>
                <a:gd name="connsiteX1" fmla="*/ 10000 w 10000"/>
                <a:gd name="connsiteY1" fmla="*/ 10000 h 10000"/>
                <a:gd name="connsiteX2" fmla="*/ 0 w 10000"/>
                <a:gd name="connsiteY2" fmla="*/ 9968 h 10000"/>
                <a:gd name="connsiteX3" fmla="*/ 4154 w 10000"/>
                <a:gd name="connsiteY3" fmla="*/ 3214 h 10000"/>
                <a:gd name="connsiteX4" fmla="*/ 2965 w 10000"/>
                <a:gd name="connsiteY4" fmla="*/ 3221 h 10000"/>
                <a:gd name="connsiteX5" fmla="*/ 2951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981" y="7403"/>
                  </a:moveTo>
                  <a:cubicBezTo>
                    <a:pt x="9987" y="8269"/>
                    <a:pt x="9994" y="9134"/>
                    <a:pt x="10000" y="10000"/>
                  </a:cubicBezTo>
                  <a:lnTo>
                    <a:pt x="0" y="9968"/>
                  </a:lnTo>
                  <a:lnTo>
                    <a:pt x="4154" y="3214"/>
                  </a:lnTo>
                  <a:lnTo>
                    <a:pt x="2965" y="3221"/>
                  </a:lnTo>
                  <a:cubicBezTo>
                    <a:pt x="2965" y="2171"/>
                    <a:pt x="2951" y="1050"/>
                    <a:pt x="2951" y="0"/>
                  </a:cubicBezTo>
                </a:path>
              </a:pathLst>
            </a:custGeom>
            <a:noFill/>
            <a:ln w="38100" cmpd="sng">
              <a:solidFill>
                <a:srgbClr val="FF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12" name="Group 11">
            <a:extLst>
              <a:ext uri="{FF2B5EF4-FFF2-40B4-BE49-F238E27FC236}">
                <a16:creationId xmlns:a16="http://schemas.microsoft.com/office/drawing/2014/main" xmlns="" id="{29A84814-4EB2-8F4D-8E06-375531045ECD}"/>
              </a:ext>
            </a:extLst>
          </p:cNvPr>
          <p:cNvGrpSpPr/>
          <p:nvPr/>
        </p:nvGrpSpPr>
        <p:grpSpPr>
          <a:xfrm>
            <a:off x="1764589" y="2492013"/>
            <a:ext cx="4338950" cy="2168020"/>
            <a:chOff x="2437534" y="3327145"/>
            <a:chExt cx="5785267" cy="2890693"/>
          </a:xfrm>
        </p:grpSpPr>
        <p:grpSp>
          <p:nvGrpSpPr>
            <p:cNvPr id="857" name="Group 321">
              <a:extLst>
                <a:ext uri="{FF2B5EF4-FFF2-40B4-BE49-F238E27FC236}">
                  <a16:creationId xmlns:a16="http://schemas.microsoft.com/office/drawing/2014/main" xmlns="" id="{96A8E8FE-EFA0-384B-BEBD-786291E65751}"/>
                </a:ext>
              </a:extLst>
            </p:cNvPr>
            <p:cNvGrpSpPr>
              <a:grpSpLocks/>
            </p:cNvGrpSpPr>
            <p:nvPr/>
          </p:nvGrpSpPr>
          <p:grpSpPr bwMode="auto">
            <a:xfrm>
              <a:off x="2437534" y="5122909"/>
              <a:ext cx="92465" cy="271463"/>
              <a:chOff x="10192" y="10005"/>
              <a:chExt cx="140" cy="411"/>
            </a:xfrm>
          </p:grpSpPr>
          <p:sp>
            <p:nvSpPr>
              <p:cNvPr id="858" name="Oval 322">
                <a:extLst>
                  <a:ext uri="{FF2B5EF4-FFF2-40B4-BE49-F238E27FC236}">
                    <a16:creationId xmlns:a16="http://schemas.microsoft.com/office/drawing/2014/main" xmlns="" id="{657A2D62-DEBC-024A-A3D2-BBFF1F270141}"/>
                  </a:ext>
                </a:extLst>
              </p:cNvPr>
              <p:cNvSpPr>
                <a:spLocks noChangeArrowheads="1"/>
              </p:cNvSpPr>
              <p:nvPr/>
            </p:nvSpPr>
            <p:spPr bwMode="auto">
              <a:xfrm>
                <a:off x="10195" y="10005"/>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859" name="Oval 323">
                <a:extLst>
                  <a:ext uri="{FF2B5EF4-FFF2-40B4-BE49-F238E27FC236}">
                    <a16:creationId xmlns:a16="http://schemas.microsoft.com/office/drawing/2014/main" xmlns="" id="{BE20FDB8-C5B5-B94B-A64D-36960F83238A}"/>
                  </a:ext>
                </a:extLst>
              </p:cNvPr>
              <p:cNvSpPr>
                <a:spLocks noChangeArrowheads="1"/>
              </p:cNvSpPr>
              <p:nvPr/>
            </p:nvSpPr>
            <p:spPr bwMode="auto">
              <a:xfrm>
                <a:off x="10192" y="10278"/>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sp>
          <p:nvSpPr>
            <p:cNvPr id="855" name="Freeform 319">
              <a:extLst>
                <a:ext uri="{FF2B5EF4-FFF2-40B4-BE49-F238E27FC236}">
                  <a16:creationId xmlns:a16="http://schemas.microsoft.com/office/drawing/2014/main" xmlns="" id="{EAE73056-B5F0-9442-A833-AEE6F289ABD3}"/>
                </a:ext>
              </a:extLst>
            </p:cNvPr>
            <p:cNvSpPr>
              <a:spLocks/>
            </p:cNvSpPr>
            <p:nvPr/>
          </p:nvSpPr>
          <p:spPr bwMode="auto">
            <a:xfrm>
              <a:off x="2479226" y="3327145"/>
              <a:ext cx="5743575" cy="2890693"/>
            </a:xfrm>
            <a:custGeom>
              <a:avLst/>
              <a:gdLst>
                <a:gd name="T0" fmla="*/ 0 w 9045"/>
                <a:gd name="T1" fmla="*/ 2147483647 h 4545"/>
                <a:gd name="T2" fmla="*/ 0 w 9045"/>
                <a:gd name="T3" fmla="*/ 2147483647 h 4545"/>
                <a:gd name="T4" fmla="*/ 2147483647 w 9045"/>
                <a:gd name="T5" fmla="*/ 2147483647 h 4545"/>
                <a:gd name="T6" fmla="*/ 2147483647 w 9045"/>
                <a:gd name="T7" fmla="*/ 2147483647 h 4545"/>
                <a:gd name="T8" fmla="*/ 2147483647 w 9045"/>
                <a:gd name="T9" fmla="*/ 2147483647 h 4545"/>
                <a:gd name="T10" fmla="*/ 2147483647 w 9045"/>
                <a:gd name="T11" fmla="*/ 2147483647 h 4545"/>
                <a:gd name="T12" fmla="*/ 2147483647 w 9045"/>
                <a:gd name="T13" fmla="*/ 2147483647 h 4545"/>
                <a:gd name="T14" fmla="*/ 2147483647 w 9045"/>
                <a:gd name="T15" fmla="*/ 0 h 4545"/>
                <a:gd name="T16" fmla="*/ 0 60000 65536"/>
                <a:gd name="T17" fmla="*/ 0 60000 65536"/>
                <a:gd name="T18" fmla="*/ 0 60000 65536"/>
                <a:gd name="T19" fmla="*/ 0 60000 65536"/>
                <a:gd name="T20" fmla="*/ 0 60000 65536"/>
                <a:gd name="T21" fmla="*/ 0 60000 65536"/>
                <a:gd name="T22" fmla="*/ 0 60000 65536"/>
                <a:gd name="T23" fmla="*/ 0 60000 65536"/>
                <a:gd name="connsiteX0" fmla="*/ 0 w 10000"/>
                <a:gd name="connsiteY0" fmla="*/ 6337 h 10028"/>
                <a:gd name="connsiteX1" fmla="*/ 0 w 10000"/>
                <a:gd name="connsiteY1" fmla="*/ 10028 h 10028"/>
                <a:gd name="connsiteX2" fmla="*/ 978 w 10000"/>
                <a:gd name="connsiteY2" fmla="*/ 10000 h 10028"/>
                <a:gd name="connsiteX3" fmla="*/ 3881 w 10000"/>
                <a:gd name="connsiteY3" fmla="*/ 4422 h 10028"/>
                <a:gd name="connsiteX4" fmla="*/ 7894 w 10000"/>
                <a:gd name="connsiteY4" fmla="*/ 4521 h 10028"/>
                <a:gd name="connsiteX5" fmla="*/ 9005 w 10000"/>
                <a:gd name="connsiteY5" fmla="*/ 2244 h 10028"/>
                <a:gd name="connsiteX6" fmla="*/ 10000 w 10000"/>
                <a:gd name="connsiteY6" fmla="*/ 2244 h 10028"/>
                <a:gd name="connsiteX7" fmla="*/ 9967 w 10000"/>
                <a:gd name="connsiteY7" fmla="*/ 0 h 10028"/>
                <a:gd name="connsiteX0" fmla="*/ 0 w 10000"/>
                <a:gd name="connsiteY0" fmla="*/ 6337 h 10000"/>
                <a:gd name="connsiteX1" fmla="*/ 6 w 10000"/>
                <a:gd name="connsiteY1" fmla="*/ 9979 h 10000"/>
                <a:gd name="connsiteX2" fmla="*/ 978 w 10000"/>
                <a:gd name="connsiteY2" fmla="*/ 10000 h 10000"/>
                <a:gd name="connsiteX3" fmla="*/ 3881 w 10000"/>
                <a:gd name="connsiteY3" fmla="*/ 4422 h 10000"/>
                <a:gd name="connsiteX4" fmla="*/ 7894 w 10000"/>
                <a:gd name="connsiteY4" fmla="*/ 4521 h 10000"/>
                <a:gd name="connsiteX5" fmla="*/ 9005 w 10000"/>
                <a:gd name="connsiteY5" fmla="*/ 2244 h 10000"/>
                <a:gd name="connsiteX6" fmla="*/ 10000 w 10000"/>
                <a:gd name="connsiteY6" fmla="*/ 2244 h 10000"/>
                <a:gd name="connsiteX7" fmla="*/ 9967 w 10000"/>
                <a:gd name="connsiteY7" fmla="*/ 0 h 10000"/>
                <a:gd name="connsiteX0" fmla="*/ 0 w 10000"/>
                <a:gd name="connsiteY0" fmla="*/ 6337 h 10016"/>
                <a:gd name="connsiteX1" fmla="*/ 0 w 10000"/>
                <a:gd name="connsiteY1" fmla="*/ 10016 h 10016"/>
                <a:gd name="connsiteX2" fmla="*/ 978 w 10000"/>
                <a:gd name="connsiteY2" fmla="*/ 10000 h 10016"/>
                <a:gd name="connsiteX3" fmla="*/ 3881 w 10000"/>
                <a:gd name="connsiteY3" fmla="*/ 4422 h 10016"/>
                <a:gd name="connsiteX4" fmla="*/ 7894 w 10000"/>
                <a:gd name="connsiteY4" fmla="*/ 4521 h 10016"/>
                <a:gd name="connsiteX5" fmla="*/ 9005 w 10000"/>
                <a:gd name="connsiteY5" fmla="*/ 2244 h 10016"/>
                <a:gd name="connsiteX6" fmla="*/ 10000 w 10000"/>
                <a:gd name="connsiteY6" fmla="*/ 2244 h 10016"/>
                <a:gd name="connsiteX7" fmla="*/ 9967 w 10000"/>
                <a:gd name="connsiteY7" fmla="*/ 0 h 1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16">
                  <a:moveTo>
                    <a:pt x="0" y="6337"/>
                  </a:moveTo>
                  <a:lnTo>
                    <a:pt x="0" y="10016"/>
                  </a:lnTo>
                  <a:lnTo>
                    <a:pt x="978" y="10000"/>
                  </a:lnTo>
                  <a:lnTo>
                    <a:pt x="3881" y="4422"/>
                  </a:lnTo>
                  <a:lnTo>
                    <a:pt x="7894" y="4521"/>
                  </a:lnTo>
                  <a:lnTo>
                    <a:pt x="9005" y="2244"/>
                  </a:lnTo>
                  <a:lnTo>
                    <a:pt x="10000" y="2244"/>
                  </a:lnTo>
                  <a:lnTo>
                    <a:pt x="9967" y="0"/>
                  </a:lnTo>
                </a:path>
              </a:pathLst>
            </a:custGeom>
            <a:noFill/>
            <a:ln w="38100" cmpd="sng">
              <a:solidFill>
                <a:srgbClr val="00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14" name="Group 13">
            <a:extLst>
              <a:ext uri="{FF2B5EF4-FFF2-40B4-BE49-F238E27FC236}">
                <a16:creationId xmlns:a16="http://schemas.microsoft.com/office/drawing/2014/main" xmlns="" id="{2D26D03E-1B92-E348-844D-C23EB11A6728}"/>
              </a:ext>
            </a:extLst>
          </p:cNvPr>
          <p:cNvGrpSpPr/>
          <p:nvPr/>
        </p:nvGrpSpPr>
        <p:grpSpPr>
          <a:xfrm>
            <a:off x="1912143" y="2481060"/>
            <a:ext cx="4371709" cy="2046922"/>
            <a:chOff x="2549524" y="3308080"/>
            <a:chExt cx="5828945" cy="2729229"/>
          </a:xfrm>
        </p:grpSpPr>
        <p:sp>
          <p:nvSpPr>
            <p:cNvPr id="856" name="Freeform 320">
              <a:extLst>
                <a:ext uri="{FF2B5EF4-FFF2-40B4-BE49-F238E27FC236}">
                  <a16:creationId xmlns:a16="http://schemas.microsoft.com/office/drawing/2014/main" xmlns="" id="{80105AF2-C1A5-E84F-BA91-D808D14D1904}"/>
                </a:ext>
              </a:extLst>
            </p:cNvPr>
            <p:cNvSpPr>
              <a:spLocks/>
            </p:cNvSpPr>
            <p:nvPr/>
          </p:nvSpPr>
          <p:spPr bwMode="auto">
            <a:xfrm>
              <a:off x="2549524" y="3370309"/>
              <a:ext cx="5787725" cy="2667000"/>
            </a:xfrm>
            <a:custGeom>
              <a:avLst/>
              <a:gdLst>
                <a:gd name="T0" fmla="*/ 0 w 9120"/>
                <a:gd name="T1" fmla="*/ 2147483647 h 4201"/>
                <a:gd name="T2" fmla="*/ 0 w 9120"/>
                <a:gd name="T3" fmla="*/ 2147483647 h 4201"/>
                <a:gd name="T4" fmla="*/ 2147483647 w 9120"/>
                <a:gd name="T5" fmla="*/ 2147483647 h 4201"/>
                <a:gd name="T6" fmla="*/ 2147483647 w 9120"/>
                <a:gd name="T7" fmla="*/ 2147483647 h 4201"/>
                <a:gd name="T8" fmla="*/ 2147483647 w 9120"/>
                <a:gd name="T9" fmla="*/ 2147483647 h 4201"/>
                <a:gd name="T10" fmla="*/ 2147483647 w 9120"/>
                <a:gd name="T11" fmla="*/ 0 h 4201"/>
                <a:gd name="T12" fmla="*/ 0 60000 65536"/>
                <a:gd name="T13" fmla="*/ 0 60000 65536"/>
                <a:gd name="T14" fmla="*/ 0 60000 65536"/>
                <a:gd name="T15" fmla="*/ 0 60000 65536"/>
                <a:gd name="T16" fmla="*/ 0 60000 65536"/>
                <a:gd name="T17" fmla="*/ 0 60000 65536"/>
                <a:gd name="connsiteX0" fmla="*/ 0 w 9994"/>
                <a:gd name="connsiteY0" fmla="*/ 6715 h 10000"/>
                <a:gd name="connsiteX1" fmla="*/ 0 w 9994"/>
                <a:gd name="connsiteY1" fmla="*/ 10000 h 10000"/>
                <a:gd name="connsiteX2" fmla="*/ 5362 w 9994"/>
                <a:gd name="connsiteY2" fmla="*/ 10000 h 10000"/>
                <a:gd name="connsiteX3" fmla="*/ 8832 w 9994"/>
                <a:gd name="connsiteY3" fmla="*/ 2502 h 10000"/>
                <a:gd name="connsiteX4" fmla="*/ 9994 w 9994"/>
                <a:gd name="connsiteY4" fmla="*/ 2505 h 10000"/>
                <a:gd name="connsiteX5" fmla="*/ 9984 w 9994"/>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4" h="10000">
                  <a:moveTo>
                    <a:pt x="0" y="6715"/>
                  </a:moveTo>
                  <a:lnTo>
                    <a:pt x="0" y="10000"/>
                  </a:lnTo>
                  <a:lnTo>
                    <a:pt x="5362" y="10000"/>
                  </a:lnTo>
                  <a:lnTo>
                    <a:pt x="8832" y="2502"/>
                  </a:lnTo>
                  <a:lnTo>
                    <a:pt x="9994" y="2505"/>
                  </a:lnTo>
                  <a:cubicBezTo>
                    <a:pt x="9989" y="1648"/>
                    <a:pt x="9989" y="857"/>
                    <a:pt x="9984" y="0"/>
                  </a:cubicBezTo>
                </a:path>
              </a:pathLst>
            </a:custGeom>
            <a:noFill/>
            <a:ln w="38100" cmpd="sng">
              <a:solidFill>
                <a:srgbClr val="00B05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3" name="Oval 12">
              <a:extLst>
                <a:ext uri="{FF2B5EF4-FFF2-40B4-BE49-F238E27FC236}">
                  <a16:creationId xmlns:a16="http://schemas.microsoft.com/office/drawing/2014/main" xmlns="" id="{D6207C71-6CD5-544B-8519-3A3DCC4703F2}"/>
                </a:ext>
              </a:extLst>
            </p:cNvPr>
            <p:cNvSpPr/>
            <p:nvPr/>
          </p:nvSpPr>
          <p:spPr>
            <a:xfrm>
              <a:off x="8286088" y="3308080"/>
              <a:ext cx="88262" cy="8826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84" name="Oval 383">
              <a:extLst>
                <a:ext uri="{FF2B5EF4-FFF2-40B4-BE49-F238E27FC236}">
                  <a16:creationId xmlns:a16="http://schemas.microsoft.com/office/drawing/2014/main" xmlns="" id="{9652FEC3-4BD4-274E-A52B-3C77A8ED251B}"/>
                </a:ext>
              </a:extLst>
            </p:cNvPr>
            <p:cNvSpPr/>
            <p:nvPr/>
          </p:nvSpPr>
          <p:spPr>
            <a:xfrm>
              <a:off x="8290207" y="3467541"/>
              <a:ext cx="88262" cy="8826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sp>
        <p:nvSpPr>
          <p:cNvPr id="3" name="Oval 2">
            <a:extLst>
              <a:ext uri="{FF2B5EF4-FFF2-40B4-BE49-F238E27FC236}">
                <a16:creationId xmlns:a16="http://schemas.microsoft.com/office/drawing/2014/main" xmlns="" id="{530F87D0-D169-7740-904C-F6E74D29E96F}"/>
              </a:ext>
            </a:extLst>
          </p:cNvPr>
          <p:cNvSpPr/>
          <p:nvPr/>
        </p:nvSpPr>
        <p:spPr>
          <a:xfrm>
            <a:off x="4107582" y="3161900"/>
            <a:ext cx="1147813" cy="59195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80" name="Oval 279">
            <a:extLst>
              <a:ext uri="{FF2B5EF4-FFF2-40B4-BE49-F238E27FC236}">
                <a16:creationId xmlns:a16="http://schemas.microsoft.com/office/drawing/2014/main" xmlns="" id="{B439597C-D72F-F94A-933D-5ED9634D8F28}"/>
              </a:ext>
            </a:extLst>
          </p:cNvPr>
          <p:cNvSpPr/>
          <p:nvPr/>
        </p:nvSpPr>
        <p:spPr>
          <a:xfrm>
            <a:off x="4294071" y="3723775"/>
            <a:ext cx="1147813" cy="591953"/>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Tree>
    <p:extLst>
      <p:ext uri="{BB962C8B-B14F-4D97-AF65-F5344CB8AC3E}">
        <p14:creationId xmlns:p14="http://schemas.microsoft.com/office/powerpoint/2010/main" val="206785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8"/>
                                        </p:tgtEl>
                                        <p:attrNameLst>
                                          <p:attrName>style.visibility</p:attrName>
                                        </p:attrNameLst>
                                      </p:cBhvr>
                                      <p:to>
                                        <p:strVal val="visible"/>
                                      </p:to>
                                    </p:set>
                                    <p:animEffect transition="in" filter="dissolve">
                                      <p:cBhvr>
                                        <p:cTn id="7" dur="500"/>
                                        <p:tgtEl>
                                          <p:spTgt spid="8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dissolv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dissolve">
                                      <p:cBhvr>
                                        <p:cTn id="40" dur="500"/>
                                        <p:tgtEl>
                                          <p:spTgt spid="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280"/>
                                        </p:tgtEl>
                                        <p:attrNameLst>
                                          <p:attrName>style.visibility</p:attrName>
                                        </p:attrNameLst>
                                      </p:cBhvr>
                                      <p:to>
                                        <p:strVal val="visible"/>
                                      </p:to>
                                    </p:set>
                                    <p:animEffect transition="in" filter="dissolve">
                                      <p:cBhvr>
                                        <p:cTn id="45" dur="500"/>
                                        <p:tgtEl>
                                          <p:spTgt spid="280"/>
                                        </p:tgtEl>
                                      </p:cBhvr>
                                    </p:animEffect>
                                  </p:childTnLst>
                                </p:cTn>
                              </p:par>
                              <p:par>
                                <p:cTn id="46" presetID="9" presetClass="exit" presetSubtype="0" fill="hold" grpId="1" nodeType="withEffect">
                                  <p:stCondLst>
                                    <p:cond delay="0"/>
                                  </p:stCondLst>
                                  <p:childTnLst>
                                    <p:animEffect transition="out" filter="dissolve">
                                      <p:cBhvr>
                                        <p:cTn id="47" dur="500"/>
                                        <p:tgtEl>
                                          <p:spTgt spid="3"/>
                                        </p:tgtEl>
                                      </p:cBhvr>
                                    </p:animEffect>
                                    <p:set>
                                      <p:cBhvr>
                                        <p:cTn id="48" dur="1" fill="hold">
                                          <p:stCondLst>
                                            <p:cond delay="499"/>
                                          </p:stCondLst>
                                        </p:cTn>
                                        <p:tgtEl>
                                          <p:spTgt spid="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9" presetClass="exit" presetSubtype="0" fill="hold" grpId="1" nodeType="clickEffect">
                                  <p:stCondLst>
                                    <p:cond delay="0"/>
                                  </p:stCondLst>
                                  <p:childTnLst>
                                    <p:animEffect transition="out" filter="dissolve">
                                      <p:cBhvr>
                                        <p:cTn id="52" dur="500"/>
                                        <p:tgtEl>
                                          <p:spTgt spid="280"/>
                                        </p:tgtEl>
                                      </p:cBhvr>
                                    </p:animEffect>
                                    <p:set>
                                      <p:cBhvr>
                                        <p:cTn id="53" dur="1" fill="hold">
                                          <p:stCondLst>
                                            <p:cond delay="499"/>
                                          </p:stCondLst>
                                        </p:cTn>
                                        <p:tgtEl>
                                          <p:spTgt spid="280"/>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74"/>
                                        </p:tgtEl>
                                        <p:attrNameLst>
                                          <p:attrName>style.visibility</p:attrName>
                                        </p:attrNameLst>
                                      </p:cBhvr>
                                      <p:to>
                                        <p:strVal val="visible"/>
                                      </p:to>
                                    </p:set>
                                    <p:animEffect transition="in" filter="dissolve">
                                      <p:cBhvr>
                                        <p:cTn id="58" dur="500"/>
                                        <p:tgtEl>
                                          <p:spTgt spid="174"/>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76"/>
                                        </p:tgtEl>
                                        <p:attrNameLst>
                                          <p:attrName>style.visibility</p:attrName>
                                        </p:attrNameLst>
                                      </p:cBhvr>
                                      <p:to>
                                        <p:strVal val="visible"/>
                                      </p:to>
                                    </p:set>
                                    <p:animEffect transition="in" filter="dissolve">
                                      <p:cBhvr>
                                        <p:cTn id="63"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p:bldP spid="176" grpId="0"/>
      <p:bldP spid="808" grpId="0" animBg="1"/>
      <p:bldP spid="3" grpId="0" animBg="1"/>
      <p:bldP spid="3" grpId="1" animBg="1"/>
      <p:bldP spid="280" grpId="0" animBg="1"/>
      <p:bldP spid="280"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1" name="Group 140">
            <a:extLst>
              <a:ext uri="{FF2B5EF4-FFF2-40B4-BE49-F238E27FC236}">
                <a16:creationId xmlns:a16="http://schemas.microsoft.com/office/drawing/2014/main" xmlns="" id="{5C333110-16C5-1F49-87A1-51E13B44D652}"/>
              </a:ext>
            </a:extLst>
          </p:cNvPr>
          <p:cNvGrpSpPr/>
          <p:nvPr/>
        </p:nvGrpSpPr>
        <p:grpSpPr>
          <a:xfrm>
            <a:off x="6894871" y="2238067"/>
            <a:ext cx="268200" cy="475637"/>
            <a:chOff x="10910965" y="2513124"/>
            <a:chExt cx="586768" cy="904023"/>
          </a:xfrm>
        </p:grpSpPr>
        <p:sp>
          <p:nvSpPr>
            <p:cNvPr id="142" name="Rectangle 141">
              <a:extLst>
                <a:ext uri="{FF2B5EF4-FFF2-40B4-BE49-F238E27FC236}">
                  <a16:creationId xmlns:a16="http://schemas.microsoft.com/office/drawing/2014/main" xmlns="" id="{D39C72B5-C664-444F-8783-AE333F94F966}"/>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43" name="Straight Connector 142">
              <a:extLst>
                <a:ext uri="{FF2B5EF4-FFF2-40B4-BE49-F238E27FC236}">
                  <a16:creationId xmlns:a16="http://schemas.microsoft.com/office/drawing/2014/main" xmlns="" id="{CE55ED2F-C650-8E4E-9989-622310E7946A}"/>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xmlns="" id="{4F1AA6DE-FC27-734F-AC8C-66592ADC486C}"/>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xmlns="" id="{A0C86220-936C-4748-A868-3C32EF039680}"/>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xmlns="" id="{6D04054C-E979-0042-B411-8DB50C4331E3}"/>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Group 146">
            <a:extLst>
              <a:ext uri="{FF2B5EF4-FFF2-40B4-BE49-F238E27FC236}">
                <a16:creationId xmlns:a16="http://schemas.microsoft.com/office/drawing/2014/main" xmlns="" id="{B8BDB9D2-287F-754F-8C7F-712CB3612986}"/>
              </a:ext>
            </a:extLst>
          </p:cNvPr>
          <p:cNvGrpSpPr/>
          <p:nvPr/>
        </p:nvGrpSpPr>
        <p:grpSpPr>
          <a:xfrm>
            <a:off x="4535259" y="2115069"/>
            <a:ext cx="268200" cy="475637"/>
            <a:chOff x="10910965" y="2513124"/>
            <a:chExt cx="586768" cy="904023"/>
          </a:xfrm>
        </p:grpSpPr>
        <p:sp>
          <p:nvSpPr>
            <p:cNvPr id="148" name="Rectangle 147">
              <a:extLst>
                <a:ext uri="{FF2B5EF4-FFF2-40B4-BE49-F238E27FC236}">
                  <a16:creationId xmlns:a16="http://schemas.microsoft.com/office/drawing/2014/main" xmlns="" id="{EE3BC656-1F15-3541-918F-24CF2A2E071D}"/>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49" name="Straight Connector 148">
              <a:extLst>
                <a:ext uri="{FF2B5EF4-FFF2-40B4-BE49-F238E27FC236}">
                  <a16:creationId xmlns:a16="http://schemas.microsoft.com/office/drawing/2014/main" xmlns="" id="{853E85B6-B0C8-D24B-BE44-7D9478E30C38}"/>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xmlns="" id="{9A45F3A6-BF61-9045-BFD6-D3A2D0CD2A98}"/>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xmlns="" id="{52530D69-F493-4E48-8140-12C10649D561}"/>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xmlns="" id="{CF1EE9AD-9FC6-B545-993A-ACB9A560CEC4}"/>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3" name="Group 152">
            <a:extLst>
              <a:ext uri="{FF2B5EF4-FFF2-40B4-BE49-F238E27FC236}">
                <a16:creationId xmlns:a16="http://schemas.microsoft.com/office/drawing/2014/main" xmlns="" id="{DF0637CA-B847-8F48-B8C9-B75401E386A2}"/>
              </a:ext>
            </a:extLst>
          </p:cNvPr>
          <p:cNvGrpSpPr/>
          <p:nvPr/>
        </p:nvGrpSpPr>
        <p:grpSpPr>
          <a:xfrm>
            <a:off x="5374671" y="1184990"/>
            <a:ext cx="268200" cy="475637"/>
            <a:chOff x="10910965" y="2513124"/>
            <a:chExt cx="586768" cy="904023"/>
          </a:xfrm>
        </p:grpSpPr>
        <p:sp>
          <p:nvSpPr>
            <p:cNvPr id="154" name="Rectangle 153">
              <a:extLst>
                <a:ext uri="{FF2B5EF4-FFF2-40B4-BE49-F238E27FC236}">
                  <a16:creationId xmlns:a16="http://schemas.microsoft.com/office/drawing/2014/main" xmlns="" id="{25C5448A-6ED9-EE42-9728-2323C1ED468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55" name="Straight Connector 154">
              <a:extLst>
                <a:ext uri="{FF2B5EF4-FFF2-40B4-BE49-F238E27FC236}">
                  <a16:creationId xmlns:a16="http://schemas.microsoft.com/office/drawing/2014/main" xmlns="" id="{3FC0DCC4-367A-2146-B613-0903C21C5BD6}"/>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xmlns="" id="{B280A75E-CB9B-DC4F-8F63-B45DE54CC164}"/>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xmlns="" id="{2F34DC55-4A05-B149-B892-06B268742368}"/>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xmlns="" id="{403A8014-0C89-5D42-802F-09680D5C4DF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2" name="Line 113">
            <a:extLst>
              <a:ext uri="{FF2B5EF4-FFF2-40B4-BE49-F238E27FC236}">
                <a16:creationId xmlns:a16="http://schemas.microsoft.com/office/drawing/2014/main" xmlns="" id="{8838B4E2-A532-6E47-AEF4-14729C32AA16}"/>
              </a:ext>
            </a:extLst>
          </p:cNvPr>
          <p:cNvSpPr>
            <a:spLocks noChangeShapeType="1"/>
          </p:cNvSpPr>
          <p:nvPr/>
        </p:nvSpPr>
        <p:spPr bwMode="auto">
          <a:xfrm flipH="1">
            <a:off x="6943049" y="1681733"/>
            <a:ext cx="19528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35" name="Group 134">
            <a:extLst>
              <a:ext uri="{FF2B5EF4-FFF2-40B4-BE49-F238E27FC236}">
                <a16:creationId xmlns:a16="http://schemas.microsoft.com/office/drawing/2014/main" xmlns="" id="{DEE32A2E-E3E8-974C-B050-845CA4991CE8}"/>
              </a:ext>
            </a:extLst>
          </p:cNvPr>
          <p:cNvGrpSpPr/>
          <p:nvPr/>
        </p:nvGrpSpPr>
        <p:grpSpPr>
          <a:xfrm>
            <a:off x="7090287" y="1227802"/>
            <a:ext cx="268200" cy="475637"/>
            <a:chOff x="10910965" y="2513124"/>
            <a:chExt cx="586768" cy="904023"/>
          </a:xfrm>
        </p:grpSpPr>
        <p:sp>
          <p:nvSpPr>
            <p:cNvPr id="136" name="Rectangle 135">
              <a:extLst>
                <a:ext uri="{FF2B5EF4-FFF2-40B4-BE49-F238E27FC236}">
                  <a16:creationId xmlns:a16="http://schemas.microsoft.com/office/drawing/2014/main" xmlns="" id="{36EA49ED-3E71-C441-8297-25F11265AF54}"/>
                </a:ext>
              </a:extLst>
            </p:cNvPr>
            <p:cNvSpPr/>
            <p:nvPr/>
          </p:nvSpPr>
          <p:spPr>
            <a:xfrm>
              <a:off x="10916736" y="2513124"/>
              <a:ext cx="574264" cy="904023"/>
            </a:xfrm>
            <a:prstGeom prst="rect">
              <a:avLst/>
            </a:prstGeom>
            <a:solidFill>
              <a:schemeClr val="bg1"/>
            </a:solidFill>
            <a:ln w="19050">
              <a:solidFill>
                <a:schemeClr val="tx1"/>
              </a:solidFill>
            </a:ln>
            <a:effectLst>
              <a:outerShdw blurRad="50800" dist="38100" dir="2700000" algn="tl"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37" name="Straight Connector 136">
              <a:extLst>
                <a:ext uri="{FF2B5EF4-FFF2-40B4-BE49-F238E27FC236}">
                  <a16:creationId xmlns:a16="http://schemas.microsoft.com/office/drawing/2014/main" xmlns="" id="{DF0F817C-C846-4644-98B9-F36EADACB99F}"/>
                </a:ext>
              </a:extLst>
            </p:cNvPr>
            <p:cNvCxnSpPr/>
            <p:nvPr/>
          </p:nvCxnSpPr>
          <p:spPr>
            <a:xfrm>
              <a:off x="10910965" y="2696064"/>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xmlns="" id="{61F970CA-AFE5-E347-9CDE-8D770C9134A3}"/>
                </a:ext>
              </a:extLst>
            </p:cNvPr>
            <p:cNvCxnSpPr/>
            <p:nvPr/>
          </p:nvCxnSpPr>
          <p:spPr>
            <a:xfrm>
              <a:off x="10914332" y="288175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xmlns="" id="{E77C5D55-32C2-4046-A869-1FCF51BBAAC7}"/>
                </a:ext>
              </a:extLst>
            </p:cNvPr>
            <p:cNvCxnSpPr/>
            <p:nvPr/>
          </p:nvCxnSpPr>
          <p:spPr>
            <a:xfrm>
              <a:off x="10923469" y="3064677"/>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xmlns="" id="{F0E802AC-6B6D-7B4A-99A0-CADB71BF6C3C}"/>
                </a:ext>
              </a:extLst>
            </p:cNvPr>
            <p:cNvCxnSpPr/>
            <p:nvPr/>
          </p:nvCxnSpPr>
          <p:spPr>
            <a:xfrm>
              <a:off x="10915293" y="3242073"/>
              <a:ext cx="57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0" name="Group 649">
            <a:extLst>
              <a:ext uri="{FF2B5EF4-FFF2-40B4-BE49-F238E27FC236}">
                <a16:creationId xmlns:a16="http://schemas.microsoft.com/office/drawing/2014/main" xmlns="" id="{442D49DD-B625-2044-ABE8-08653B990DD9}"/>
              </a:ext>
            </a:extLst>
          </p:cNvPr>
          <p:cNvGrpSpPr/>
          <p:nvPr/>
        </p:nvGrpSpPr>
        <p:grpSpPr>
          <a:xfrm>
            <a:off x="5152370" y="2003574"/>
            <a:ext cx="495169" cy="217574"/>
            <a:chOff x="7493876" y="2774731"/>
            <a:chExt cx="1481958" cy="894622"/>
          </a:xfrm>
        </p:grpSpPr>
        <p:sp>
          <p:nvSpPr>
            <p:cNvPr id="651" name="Freeform 650">
              <a:extLst>
                <a:ext uri="{FF2B5EF4-FFF2-40B4-BE49-F238E27FC236}">
                  <a16:creationId xmlns:a16="http://schemas.microsoft.com/office/drawing/2014/main" xmlns="" id="{781B9C8F-C42E-ED4B-9E19-C8CBB56BEB8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652" name="Oval 651">
              <a:extLst>
                <a:ext uri="{FF2B5EF4-FFF2-40B4-BE49-F238E27FC236}">
                  <a16:creationId xmlns:a16="http://schemas.microsoft.com/office/drawing/2014/main" xmlns="" id="{0E0D9018-D5B2-7742-90EB-23615AD8382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653" name="Group 652">
              <a:extLst>
                <a:ext uri="{FF2B5EF4-FFF2-40B4-BE49-F238E27FC236}">
                  <a16:creationId xmlns:a16="http://schemas.microsoft.com/office/drawing/2014/main" xmlns="" id="{C96D0382-34DE-5449-8232-4288C333AAE8}"/>
                </a:ext>
              </a:extLst>
            </p:cNvPr>
            <p:cNvGrpSpPr/>
            <p:nvPr/>
          </p:nvGrpSpPr>
          <p:grpSpPr>
            <a:xfrm>
              <a:off x="7713663" y="2848339"/>
              <a:ext cx="1042107" cy="425543"/>
              <a:chOff x="7786941" y="2884917"/>
              <a:chExt cx="897649" cy="353919"/>
            </a:xfrm>
          </p:grpSpPr>
          <p:sp>
            <p:nvSpPr>
              <p:cNvPr id="654" name="Freeform 653">
                <a:extLst>
                  <a:ext uri="{FF2B5EF4-FFF2-40B4-BE49-F238E27FC236}">
                    <a16:creationId xmlns:a16="http://schemas.microsoft.com/office/drawing/2014/main" xmlns="" id="{70D03A71-40DE-3E45-9F13-8165D05F018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55" name="Freeform 654">
                <a:extLst>
                  <a:ext uri="{FF2B5EF4-FFF2-40B4-BE49-F238E27FC236}">
                    <a16:creationId xmlns:a16="http://schemas.microsoft.com/office/drawing/2014/main" xmlns="" id="{B53D6BC3-8B2A-9E43-8D61-E57784BA4A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56" name="Freeform 655">
                <a:extLst>
                  <a:ext uri="{FF2B5EF4-FFF2-40B4-BE49-F238E27FC236}">
                    <a16:creationId xmlns:a16="http://schemas.microsoft.com/office/drawing/2014/main" xmlns="" id="{164ECF6A-F4B9-DF4F-BF3F-242C8FCB06F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57" name="Freeform 656">
                <a:extLst>
                  <a:ext uri="{FF2B5EF4-FFF2-40B4-BE49-F238E27FC236}">
                    <a16:creationId xmlns:a16="http://schemas.microsoft.com/office/drawing/2014/main" xmlns="" id="{E70C37A1-A0CF-3241-B2FE-E09E92D6CF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642" name="Group 641">
            <a:extLst>
              <a:ext uri="{FF2B5EF4-FFF2-40B4-BE49-F238E27FC236}">
                <a16:creationId xmlns:a16="http://schemas.microsoft.com/office/drawing/2014/main" xmlns="" id="{AD4E15D3-6EC7-F447-8715-221D41005AD8}"/>
              </a:ext>
            </a:extLst>
          </p:cNvPr>
          <p:cNvGrpSpPr/>
          <p:nvPr/>
        </p:nvGrpSpPr>
        <p:grpSpPr>
          <a:xfrm>
            <a:off x="5946510" y="1767571"/>
            <a:ext cx="495169" cy="217574"/>
            <a:chOff x="7493876" y="2774731"/>
            <a:chExt cx="1481958" cy="894622"/>
          </a:xfrm>
        </p:grpSpPr>
        <p:sp>
          <p:nvSpPr>
            <p:cNvPr id="643" name="Freeform 642">
              <a:extLst>
                <a:ext uri="{FF2B5EF4-FFF2-40B4-BE49-F238E27FC236}">
                  <a16:creationId xmlns:a16="http://schemas.microsoft.com/office/drawing/2014/main" xmlns="" id="{C2E154AC-5367-E44D-9F74-38EDFB2ED30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644" name="Oval 643">
              <a:extLst>
                <a:ext uri="{FF2B5EF4-FFF2-40B4-BE49-F238E27FC236}">
                  <a16:creationId xmlns:a16="http://schemas.microsoft.com/office/drawing/2014/main" xmlns="" id="{8DD3EE1C-49D5-524C-93C0-63A60B66E8F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645" name="Group 644">
              <a:extLst>
                <a:ext uri="{FF2B5EF4-FFF2-40B4-BE49-F238E27FC236}">
                  <a16:creationId xmlns:a16="http://schemas.microsoft.com/office/drawing/2014/main" xmlns="" id="{90B4AB50-5DF3-044D-A589-BE7AA79D5980}"/>
                </a:ext>
              </a:extLst>
            </p:cNvPr>
            <p:cNvGrpSpPr/>
            <p:nvPr/>
          </p:nvGrpSpPr>
          <p:grpSpPr>
            <a:xfrm>
              <a:off x="7713663" y="2848339"/>
              <a:ext cx="1042107" cy="425543"/>
              <a:chOff x="7786941" y="2884917"/>
              <a:chExt cx="897649" cy="353919"/>
            </a:xfrm>
          </p:grpSpPr>
          <p:sp>
            <p:nvSpPr>
              <p:cNvPr id="646" name="Freeform 645">
                <a:extLst>
                  <a:ext uri="{FF2B5EF4-FFF2-40B4-BE49-F238E27FC236}">
                    <a16:creationId xmlns:a16="http://schemas.microsoft.com/office/drawing/2014/main" xmlns="" id="{E4E59325-7458-9D4F-8AB8-BD8A22B5AE4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47" name="Freeform 646">
                <a:extLst>
                  <a:ext uri="{FF2B5EF4-FFF2-40B4-BE49-F238E27FC236}">
                    <a16:creationId xmlns:a16="http://schemas.microsoft.com/office/drawing/2014/main" xmlns="" id="{B3D13B56-8A0D-4B4A-8192-AF51A57C2E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48" name="Freeform 647">
                <a:extLst>
                  <a:ext uri="{FF2B5EF4-FFF2-40B4-BE49-F238E27FC236}">
                    <a16:creationId xmlns:a16="http://schemas.microsoft.com/office/drawing/2014/main" xmlns="" id="{2C8E2625-2E7C-F743-B981-73684DBE633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49" name="Freeform 648">
                <a:extLst>
                  <a:ext uri="{FF2B5EF4-FFF2-40B4-BE49-F238E27FC236}">
                    <a16:creationId xmlns:a16="http://schemas.microsoft.com/office/drawing/2014/main" xmlns="" id="{2A860CE2-3114-8741-8DB0-78E922B0428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634" name="Group 633">
            <a:extLst>
              <a:ext uri="{FF2B5EF4-FFF2-40B4-BE49-F238E27FC236}">
                <a16:creationId xmlns:a16="http://schemas.microsoft.com/office/drawing/2014/main" xmlns="" id="{3BA91B66-EDC3-974E-B9D9-8E4503135515}"/>
              </a:ext>
            </a:extLst>
          </p:cNvPr>
          <p:cNvGrpSpPr/>
          <p:nvPr/>
        </p:nvGrpSpPr>
        <p:grpSpPr>
          <a:xfrm>
            <a:off x="6185247" y="2161608"/>
            <a:ext cx="495169" cy="217574"/>
            <a:chOff x="7493876" y="2774731"/>
            <a:chExt cx="1481958" cy="894622"/>
          </a:xfrm>
        </p:grpSpPr>
        <p:sp>
          <p:nvSpPr>
            <p:cNvPr id="635" name="Freeform 634">
              <a:extLst>
                <a:ext uri="{FF2B5EF4-FFF2-40B4-BE49-F238E27FC236}">
                  <a16:creationId xmlns:a16="http://schemas.microsoft.com/office/drawing/2014/main" xmlns="" id="{5B8B67F8-FC77-7B4B-86F0-B0D0CD4C19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636" name="Oval 635">
              <a:extLst>
                <a:ext uri="{FF2B5EF4-FFF2-40B4-BE49-F238E27FC236}">
                  <a16:creationId xmlns:a16="http://schemas.microsoft.com/office/drawing/2014/main" xmlns="" id="{24DB41F0-B458-2740-8144-D8993DA5DFD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637" name="Group 636">
              <a:extLst>
                <a:ext uri="{FF2B5EF4-FFF2-40B4-BE49-F238E27FC236}">
                  <a16:creationId xmlns:a16="http://schemas.microsoft.com/office/drawing/2014/main" xmlns="" id="{2A22D03D-2357-944F-A71A-94B46AED72BE}"/>
                </a:ext>
              </a:extLst>
            </p:cNvPr>
            <p:cNvGrpSpPr/>
            <p:nvPr/>
          </p:nvGrpSpPr>
          <p:grpSpPr>
            <a:xfrm>
              <a:off x="7713663" y="2848339"/>
              <a:ext cx="1042107" cy="425543"/>
              <a:chOff x="7786941" y="2884917"/>
              <a:chExt cx="897649" cy="353919"/>
            </a:xfrm>
          </p:grpSpPr>
          <p:sp>
            <p:nvSpPr>
              <p:cNvPr id="638" name="Freeform 637">
                <a:extLst>
                  <a:ext uri="{FF2B5EF4-FFF2-40B4-BE49-F238E27FC236}">
                    <a16:creationId xmlns:a16="http://schemas.microsoft.com/office/drawing/2014/main" xmlns="" id="{E4CD4DE0-BD74-6742-9AB5-70B9AAC5E0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39" name="Freeform 638">
                <a:extLst>
                  <a:ext uri="{FF2B5EF4-FFF2-40B4-BE49-F238E27FC236}">
                    <a16:creationId xmlns:a16="http://schemas.microsoft.com/office/drawing/2014/main" xmlns="" id="{888F54AE-EE96-1643-8D6C-7B9B965689F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40" name="Freeform 639">
                <a:extLst>
                  <a:ext uri="{FF2B5EF4-FFF2-40B4-BE49-F238E27FC236}">
                    <a16:creationId xmlns:a16="http://schemas.microsoft.com/office/drawing/2014/main" xmlns="" id="{A9967105-8A41-8646-A119-3F7E30AAD3E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41" name="Freeform 640">
                <a:extLst>
                  <a:ext uri="{FF2B5EF4-FFF2-40B4-BE49-F238E27FC236}">
                    <a16:creationId xmlns:a16="http://schemas.microsoft.com/office/drawing/2014/main" xmlns="" id="{F0349917-BFEB-DD4E-95A0-2C5BFAD63B1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grpSp>
        <p:nvGrpSpPr>
          <p:cNvPr id="626" name="Group 625">
            <a:extLst>
              <a:ext uri="{FF2B5EF4-FFF2-40B4-BE49-F238E27FC236}">
                <a16:creationId xmlns:a16="http://schemas.microsoft.com/office/drawing/2014/main" xmlns="" id="{0556E247-D59A-2842-82DE-FE8E6F79E019}"/>
              </a:ext>
            </a:extLst>
          </p:cNvPr>
          <p:cNvGrpSpPr/>
          <p:nvPr/>
        </p:nvGrpSpPr>
        <p:grpSpPr>
          <a:xfrm>
            <a:off x="5402733" y="2525711"/>
            <a:ext cx="495169" cy="217574"/>
            <a:chOff x="7493876" y="2774731"/>
            <a:chExt cx="1481958" cy="894622"/>
          </a:xfrm>
        </p:grpSpPr>
        <p:sp>
          <p:nvSpPr>
            <p:cNvPr id="627" name="Freeform 626">
              <a:extLst>
                <a:ext uri="{FF2B5EF4-FFF2-40B4-BE49-F238E27FC236}">
                  <a16:creationId xmlns:a16="http://schemas.microsoft.com/office/drawing/2014/main" xmlns="" id="{445667BF-2880-A44B-92FF-0150E2B89E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sp>
          <p:nvSpPr>
            <p:cNvPr id="628" name="Oval 627">
              <a:extLst>
                <a:ext uri="{FF2B5EF4-FFF2-40B4-BE49-F238E27FC236}">
                  <a16:creationId xmlns:a16="http://schemas.microsoft.com/office/drawing/2014/main" xmlns="" id="{8FE549B8-413C-AB43-AED4-55FEDF4BD68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panose="020F0502020204030204"/>
                </a:rPr>
                <a:t>              </a:t>
              </a:r>
            </a:p>
          </p:txBody>
        </p:sp>
        <p:grpSp>
          <p:nvGrpSpPr>
            <p:cNvPr id="629" name="Group 628">
              <a:extLst>
                <a:ext uri="{FF2B5EF4-FFF2-40B4-BE49-F238E27FC236}">
                  <a16:creationId xmlns:a16="http://schemas.microsoft.com/office/drawing/2014/main" xmlns="" id="{6310970C-CD76-5940-AC70-64BBFBC43C82}"/>
                </a:ext>
              </a:extLst>
            </p:cNvPr>
            <p:cNvGrpSpPr/>
            <p:nvPr/>
          </p:nvGrpSpPr>
          <p:grpSpPr>
            <a:xfrm>
              <a:off x="7713663" y="2848339"/>
              <a:ext cx="1042107" cy="425543"/>
              <a:chOff x="7786941" y="2884917"/>
              <a:chExt cx="897649" cy="353919"/>
            </a:xfrm>
          </p:grpSpPr>
          <p:sp>
            <p:nvSpPr>
              <p:cNvPr id="630" name="Freeform 629">
                <a:extLst>
                  <a:ext uri="{FF2B5EF4-FFF2-40B4-BE49-F238E27FC236}">
                    <a16:creationId xmlns:a16="http://schemas.microsoft.com/office/drawing/2014/main" xmlns="" id="{5FD9D70B-CD96-5747-B734-9870835D7C5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31" name="Freeform 630">
                <a:extLst>
                  <a:ext uri="{FF2B5EF4-FFF2-40B4-BE49-F238E27FC236}">
                    <a16:creationId xmlns:a16="http://schemas.microsoft.com/office/drawing/2014/main" xmlns="" id="{06B65913-DCAC-AD4F-9F10-966CCC1448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32" name="Freeform 631">
                <a:extLst>
                  <a:ext uri="{FF2B5EF4-FFF2-40B4-BE49-F238E27FC236}">
                    <a16:creationId xmlns:a16="http://schemas.microsoft.com/office/drawing/2014/main" xmlns="" id="{EF0534C2-36B5-7849-AFFA-5AC31B60CA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633" name="Freeform 632">
                <a:extLst>
                  <a:ext uri="{FF2B5EF4-FFF2-40B4-BE49-F238E27FC236}">
                    <a16:creationId xmlns:a16="http://schemas.microsoft.com/office/drawing/2014/main" xmlns="" id="{3361B307-3719-A84A-8AD5-A3B61CE63C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365648" y="186981"/>
            <a:ext cx="8545512" cy="669925"/>
          </a:xfrm>
        </p:spPr>
        <p:txBody>
          <a:bodyPr>
            <a:normAutofit/>
          </a:bodyPr>
          <a:lstStyle/>
          <a:p>
            <a:r>
              <a:rPr lang="en-US" sz="4000" b="1" dirty="0"/>
              <a:t>Causes/costs of congestion: scenario 3</a:t>
            </a:r>
          </a:p>
        </p:txBody>
      </p:sp>
      <p:sp>
        <p:nvSpPr>
          <p:cNvPr id="470" name="Rectangle 3">
            <a:extLst>
              <a:ext uri="{FF2B5EF4-FFF2-40B4-BE49-F238E27FC236}">
                <a16:creationId xmlns:a16="http://schemas.microsoft.com/office/drawing/2014/main" xmlns="" id="{B3E01DA9-25FD-B546-AB8A-84DD037548D3}"/>
              </a:ext>
            </a:extLst>
          </p:cNvPr>
          <p:cNvSpPr>
            <a:spLocks noChangeArrowheads="1"/>
          </p:cNvSpPr>
          <p:nvPr/>
        </p:nvSpPr>
        <p:spPr bwMode="auto">
          <a:xfrm>
            <a:off x="904875" y="3836194"/>
            <a:ext cx="6200775" cy="30718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471" name="Rectangle 4">
            <a:extLst>
              <a:ext uri="{FF2B5EF4-FFF2-40B4-BE49-F238E27FC236}">
                <a16:creationId xmlns:a16="http://schemas.microsoft.com/office/drawing/2014/main" xmlns="" id="{50204642-54CB-0C46-8699-863901641A9F}"/>
              </a:ext>
            </a:extLst>
          </p:cNvPr>
          <p:cNvSpPr>
            <a:spLocks noChangeArrowheads="1"/>
          </p:cNvSpPr>
          <p:nvPr/>
        </p:nvSpPr>
        <p:spPr bwMode="auto">
          <a:xfrm>
            <a:off x="1229916" y="3246835"/>
            <a:ext cx="7237807" cy="7429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65000"/>
              <a:defRPr/>
            </a:pPr>
            <a:r>
              <a:rPr lang="en-US" altLang="en-US" sz="2400" kern="1200" dirty="0">
                <a:solidFill>
                  <a:srgbClr val="C00000"/>
                </a:solidFill>
                <a:latin typeface="Calibri" panose="020F0502020204030204"/>
                <a:cs typeface="+mn-cs"/>
              </a:rPr>
              <a:t>another “</a:t>
            </a:r>
            <a:r>
              <a:rPr lang="en-US" altLang="ja-JP" sz="2400" kern="1200" dirty="0">
                <a:solidFill>
                  <a:srgbClr val="C00000"/>
                </a:solidFill>
                <a:latin typeface="Calibri" panose="020F0502020204030204"/>
                <a:cs typeface="+mn-cs"/>
              </a:rPr>
              <a:t>cost” of congestion: </a:t>
            </a:r>
          </a:p>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en-US" sz="2100" kern="1200" dirty="0">
                <a:solidFill>
                  <a:srgbClr val="000000"/>
                </a:solidFill>
                <a:latin typeface="Calibri" panose="020F0502020204030204"/>
                <a:cs typeface="+mn-cs"/>
              </a:rPr>
              <a:t>when packet dropped, any </a:t>
            </a:r>
            <a:r>
              <a:rPr lang="en-US" altLang="ja-JP" sz="2100" kern="1200" dirty="0">
                <a:solidFill>
                  <a:srgbClr val="000000"/>
                </a:solidFill>
                <a:latin typeface="Calibri" panose="020F0502020204030204"/>
                <a:cs typeface="+mn-cs"/>
              </a:rPr>
              <a:t>upstream transmission capacity and buffering used for that packet was wasted!</a:t>
            </a:r>
            <a:endParaRPr lang="en-US" altLang="en-US" sz="2100" kern="1200" dirty="0">
              <a:solidFill>
                <a:srgbClr val="000000"/>
              </a:solidFill>
              <a:latin typeface="Calibri" panose="020F0502020204030204"/>
              <a:cs typeface="+mn-cs"/>
            </a:endParaRPr>
          </a:p>
        </p:txBody>
      </p:sp>
      <p:sp>
        <p:nvSpPr>
          <p:cNvPr id="472" name="Line 8">
            <a:extLst>
              <a:ext uri="{FF2B5EF4-FFF2-40B4-BE49-F238E27FC236}">
                <a16:creationId xmlns:a16="http://schemas.microsoft.com/office/drawing/2014/main" xmlns="" id="{54B69D69-DB5C-FF44-9A78-3EF27FA8D5BE}"/>
              </a:ext>
            </a:extLst>
          </p:cNvPr>
          <p:cNvSpPr>
            <a:spLocks noChangeShapeType="1"/>
          </p:cNvSpPr>
          <p:nvPr/>
        </p:nvSpPr>
        <p:spPr bwMode="auto">
          <a:xfrm flipH="1">
            <a:off x="5405007" y="1664338"/>
            <a:ext cx="409930" cy="4131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473" name="Line 9">
            <a:extLst>
              <a:ext uri="{FF2B5EF4-FFF2-40B4-BE49-F238E27FC236}">
                <a16:creationId xmlns:a16="http://schemas.microsoft.com/office/drawing/2014/main" xmlns="" id="{17302533-B643-1D44-BB74-F2288C9D8A65}"/>
              </a:ext>
            </a:extLst>
          </p:cNvPr>
          <p:cNvSpPr>
            <a:spLocks noChangeShapeType="1"/>
          </p:cNvSpPr>
          <p:nvPr/>
        </p:nvSpPr>
        <p:spPr bwMode="auto">
          <a:xfrm flipH="1">
            <a:off x="5619654" y="1664338"/>
            <a:ext cx="19528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481" name="Line 60">
            <a:extLst>
              <a:ext uri="{FF2B5EF4-FFF2-40B4-BE49-F238E27FC236}">
                <a16:creationId xmlns:a16="http://schemas.microsoft.com/office/drawing/2014/main" xmlns="" id="{8E9B5F3E-D7D4-784B-A561-225983C51D20}"/>
              </a:ext>
            </a:extLst>
          </p:cNvPr>
          <p:cNvSpPr>
            <a:spLocks noChangeShapeType="1"/>
          </p:cNvSpPr>
          <p:nvPr/>
        </p:nvSpPr>
        <p:spPr bwMode="auto">
          <a:xfrm flipH="1">
            <a:off x="4803022" y="2608032"/>
            <a:ext cx="648787" cy="57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489" name="Line 110">
            <a:extLst>
              <a:ext uri="{FF2B5EF4-FFF2-40B4-BE49-F238E27FC236}">
                <a16:creationId xmlns:a16="http://schemas.microsoft.com/office/drawing/2014/main" xmlns="" id="{81308001-6AF2-8841-BE13-23C6875DBD2A}"/>
              </a:ext>
            </a:extLst>
          </p:cNvPr>
          <p:cNvSpPr>
            <a:spLocks noChangeShapeType="1"/>
          </p:cNvSpPr>
          <p:nvPr/>
        </p:nvSpPr>
        <p:spPr bwMode="auto">
          <a:xfrm flipH="1">
            <a:off x="5619654" y="1868732"/>
            <a:ext cx="32277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490" name="Line 111">
            <a:extLst>
              <a:ext uri="{FF2B5EF4-FFF2-40B4-BE49-F238E27FC236}">
                <a16:creationId xmlns:a16="http://schemas.microsoft.com/office/drawing/2014/main" xmlns="" id="{E766695C-AC11-DB4D-88D9-ADEE97B162B4}"/>
              </a:ext>
            </a:extLst>
          </p:cNvPr>
          <p:cNvSpPr>
            <a:spLocks noChangeShapeType="1"/>
          </p:cNvSpPr>
          <p:nvPr/>
        </p:nvSpPr>
        <p:spPr bwMode="auto">
          <a:xfrm flipH="1" flipV="1">
            <a:off x="6412078" y="1877430"/>
            <a:ext cx="345374" cy="434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491" name="Line 112">
            <a:extLst>
              <a:ext uri="{FF2B5EF4-FFF2-40B4-BE49-F238E27FC236}">
                <a16:creationId xmlns:a16="http://schemas.microsoft.com/office/drawing/2014/main" xmlns="" id="{3C681570-FA16-4C40-9E6E-770D751E77C3}"/>
              </a:ext>
            </a:extLst>
          </p:cNvPr>
          <p:cNvSpPr>
            <a:spLocks noChangeShapeType="1"/>
          </p:cNvSpPr>
          <p:nvPr/>
        </p:nvSpPr>
        <p:spPr bwMode="auto">
          <a:xfrm flipH="1">
            <a:off x="6386255" y="1673036"/>
            <a:ext cx="576161" cy="61753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516" name="Group 227">
            <a:extLst>
              <a:ext uri="{FF2B5EF4-FFF2-40B4-BE49-F238E27FC236}">
                <a16:creationId xmlns:a16="http://schemas.microsoft.com/office/drawing/2014/main" xmlns="" id="{C5844755-7AB4-394A-8C3D-0EAB4297B7CC}"/>
              </a:ext>
            </a:extLst>
          </p:cNvPr>
          <p:cNvGrpSpPr>
            <a:grpSpLocks/>
          </p:cNvGrpSpPr>
          <p:nvPr/>
        </p:nvGrpSpPr>
        <p:grpSpPr bwMode="auto">
          <a:xfrm>
            <a:off x="6221328" y="1805448"/>
            <a:ext cx="140020" cy="116902"/>
            <a:chOff x="11283" y="10423"/>
            <a:chExt cx="475" cy="374"/>
          </a:xfrm>
        </p:grpSpPr>
        <p:sp>
          <p:nvSpPr>
            <p:cNvPr id="517" name="Rectangle 228">
              <a:extLst>
                <a:ext uri="{FF2B5EF4-FFF2-40B4-BE49-F238E27FC236}">
                  <a16:creationId xmlns:a16="http://schemas.microsoft.com/office/drawing/2014/main" xmlns="" id="{F2C17F9B-7965-ED45-A4D3-EFFC3FD54295}"/>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518" name="Line 229">
              <a:extLst>
                <a:ext uri="{FF2B5EF4-FFF2-40B4-BE49-F238E27FC236}">
                  <a16:creationId xmlns:a16="http://schemas.microsoft.com/office/drawing/2014/main" xmlns="" id="{2A6B3E53-1684-DF43-A05E-A2C80EF94FD2}"/>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19" name="Line 230">
              <a:extLst>
                <a:ext uri="{FF2B5EF4-FFF2-40B4-BE49-F238E27FC236}">
                  <a16:creationId xmlns:a16="http://schemas.microsoft.com/office/drawing/2014/main" xmlns="" id="{D8396C95-BBB2-5D46-A8D2-775CD554A264}"/>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20" name="Line 231">
              <a:extLst>
                <a:ext uri="{FF2B5EF4-FFF2-40B4-BE49-F238E27FC236}">
                  <a16:creationId xmlns:a16="http://schemas.microsoft.com/office/drawing/2014/main" xmlns="" id="{C157781C-8502-014B-A415-7383087D3127}"/>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21" name="Line 232">
              <a:extLst>
                <a:ext uri="{FF2B5EF4-FFF2-40B4-BE49-F238E27FC236}">
                  <a16:creationId xmlns:a16="http://schemas.microsoft.com/office/drawing/2014/main" xmlns="" id="{11C3D78E-49BA-C343-B6BB-91EC56F70624}"/>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22" name="Line 233">
              <a:extLst>
                <a:ext uri="{FF2B5EF4-FFF2-40B4-BE49-F238E27FC236}">
                  <a16:creationId xmlns:a16="http://schemas.microsoft.com/office/drawing/2014/main" xmlns="" id="{18778F4C-DAAF-B04E-9D01-34E52E4B740E}"/>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23" name="Line 234">
              <a:extLst>
                <a:ext uri="{FF2B5EF4-FFF2-40B4-BE49-F238E27FC236}">
                  <a16:creationId xmlns:a16="http://schemas.microsoft.com/office/drawing/2014/main" xmlns="" id="{37A63491-BBEE-3E44-BBF3-79A4DB88BA10}"/>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530" name="Line 235">
            <a:extLst>
              <a:ext uri="{FF2B5EF4-FFF2-40B4-BE49-F238E27FC236}">
                <a16:creationId xmlns:a16="http://schemas.microsoft.com/office/drawing/2014/main" xmlns="" id="{502BD3B4-B453-4343-B3CD-F6AE3C5CA733}"/>
              </a:ext>
            </a:extLst>
          </p:cNvPr>
          <p:cNvSpPr>
            <a:spLocks noChangeShapeType="1"/>
          </p:cNvSpPr>
          <p:nvPr/>
        </p:nvSpPr>
        <p:spPr bwMode="auto">
          <a:xfrm>
            <a:off x="6433057" y="1359920"/>
            <a:ext cx="122657" cy="1449"/>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531" name="Group 236">
            <a:extLst>
              <a:ext uri="{FF2B5EF4-FFF2-40B4-BE49-F238E27FC236}">
                <a16:creationId xmlns:a16="http://schemas.microsoft.com/office/drawing/2014/main" xmlns="" id="{BD40F4B4-9FA4-B242-890F-C7DC5C1F1E4B}"/>
              </a:ext>
            </a:extLst>
          </p:cNvPr>
          <p:cNvGrpSpPr>
            <a:grpSpLocks/>
          </p:cNvGrpSpPr>
          <p:nvPr/>
        </p:nvGrpSpPr>
        <p:grpSpPr bwMode="auto">
          <a:xfrm>
            <a:off x="5522820" y="1206262"/>
            <a:ext cx="40348" cy="129014"/>
            <a:chOff x="10104" y="10005"/>
            <a:chExt cx="137" cy="411"/>
          </a:xfrm>
        </p:grpSpPr>
        <p:sp>
          <p:nvSpPr>
            <p:cNvPr id="532" name="Oval 237">
              <a:extLst>
                <a:ext uri="{FF2B5EF4-FFF2-40B4-BE49-F238E27FC236}">
                  <a16:creationId xmlns:a16="http://schemas.microsoft.com/office/drawing/2014/main" xmlns="" id="{9F31E068-8077-0E41-BA3C-C53046677C0A}"/>
                </a:ext>
              </a:extLst>
            </p:cNvPr>
            <p:cNvSpPr>
              <a:spLocks noChangeArrowheads="1"/>
            </p:cNvSpPr>
            <p:nvPr/>
          </p:nvSpPr>
          <p:spPr bwMode="auto">
            <a:xfrm>
              <a:off x="10104" y="10005"/>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533" name="Oval 238">
              <a:extLst>
                <a:ext uri="{FF2B5EF4-FFF2-40B4-BE49-F238E27FC236}">
                  <a16:creationId xmlns:a16="http://schemas.microsoft.com/office/drawing/2014/main" xmlns="" id="{B99DFC93-E1C9-6B48-9E97-F404126B9D76}"/>
                </a:ext>
              </a:extLst>
            </p:cNvPr>
            <p:cNvSpPr>
              <a:spLocks noChangeArrowheads="1"/>
            </p:cNvSpPr>
            <p:nvPr/>
          </p:nvSpPr>
          <p:spPr bwMode="auto">
            <a:xfrm>
              <a:off x="10104" y="10278"/>
              <a:ext cx="137" cy="138"/>
            </a:xfrm>
            <a:prstGeom prst="ellipse">
              <a:avLst/>
            </a:prstGeom>
            <a:solidFill>
              <a:srgbClr val="FF0000"/>
            </a:solidFill>
            <a:ln w="9525">
              <a:solidFill>
                <a:srgbClr val="FF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grpSp>
        <p:nvGrpSpPr>
          <p:cNvPr id="548" name="Group 255">
            <a:extLst>
              <a:ext uri="{FF2B5EF4-FFF2-40B4-BE49-F238E27FC236}">
                <a16:creationId xmlns:a16="http://schemas.microsoft.com/office/drawing/2014/main" xmlns="" id="{AA469380-A079-C241-8EF0-12E5E2FF123A}"/>
              </a:ext>
            </a:extLst>
          </p:cNvPr>
          <p:cNvGrpSpPr>
            <a:grpSpLocks/>
          </p:cNvGrpSpPr>
          <p:nvPr/>
        </p:nvGrpSpPr>
        <p:grpSpPr bwMode="auto">
          <a:xfrm rot="7844936">
            <a:off x="6343318" y="2196721"/>
            <a:ext cx="153659" cy="106517"/>
            <a:chOff x="11283" y="10423"/>
            <a:chExt cx="475" cy="374"/>
          </a:xfrm>
        </p:grpSpPr>
        <p:sp>
          <p:nvSpPr>
            <p:cNvPr id="549" name="Rectangle 256">
              <a:extLst>
                <a:ext uri="{FF2B5EF4-FFF2-40B4-BE49-F238E27FC236}">
                  <a16:creationId xmlns:a16="http://schemas.microsoft.com/office/drawing/2014/main" xmlns="" id="{27D5FDD2-8596-9B4B-B4F5-2748842EF1D6}"/>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550" name="Line 257">
              <a:extLst>
                <a:ext uri="{FF2B5EF4-FFF2-40B4-BE49-F238E27FC236}">
                  <a16:creationId xmlns:a16="http://schemas.microsoft.com/office/drawing/2014/main" xmlns="" id="{5EA4070D-C55C-3C46-971A-495141BBF3E4}"/>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51" name="Line 258">
              <a:extLst>
                <a:ext uri="{FF2B5EF4-FFF2-40B4-BE49-F238E27FC236}">
                  <a16:creationId xmlns:a16="http://schemas.microsoft.com/office/drawing/2014/main" xmlns="" id="{E7415EB7-9A38-A34B-BC52-23820D0899A6}"/>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52" name="Line 259">
              <a:extLst>
                <a:ext uri="{FF2B5EF4-FFF2-40B4-BE49-F238E27FC236}">
                  <a16:creationId xmlns:a16="http://schemas.microsoft.com/office/drawing/2014/main" xmlns="" id="{E1B69AC3-E7AE-F84B-AE13-9E4B698B4530}"/>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53" name="Line 260">
              <a:extLst>
                <a:ext uri="{FF2B5EF4-FFF2-40B4-BE49-F238E27FC236}">
                  <a16:creationId xmlns:a16="http://schemas.microsoft.com/office/drawing/2014/main" xmlns="" id="{14297734-2A75-5D4A-905C-558B07A25DA7}"/>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54" name="Line 261">
              <a:extLst>
                <a:ext uri="{FF2B5EF4-FFF2-40B4-BE49-F238E27FC236}">
                  <a16:creationId xmlns:a16="http://schemas.microsoft.com/office/drawing/2014/main" xmlns="" id="{FAD2D458-99B5-D64F-9787-A3907B8537FB}"/>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55" name="Line 262">
              <a:extLst>
                <a:ext uri="{FF2B5EF4-FFF2-40B4-BE49-F238E27FC236}">
                  <a16:creationId xmlns:a16="http://schemas.microsoft.com/office/drawing/2014/main" xmlns="" id="{ED7690F6-614B-474E-9678-ABBBF355307B}"/>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556" name="Line 263">
            <a:extLst>
              <a:ext uri="{FF2B5EF4-FFF2-40B4-BE49-F238E27FC236}">
                <a16:creationId xmlns:a16="http://schemas.microsoft.com/office/drawing/2014/main" xmlns="" id="{24DFA125-06DC-CE4E-A7FC-5EC2D00675EF}"/>
              </a:ext>
            </a:extLst>
          </p:cNvPr>
          <p:cNvSpPr>
            <a:spLocks noChangeShapeType="1"/>
          </p:cNvSpPr>
          <p:nvPr/>
        </p:nvSpPr>
        <p:spPr bwMode="auto">
          <a:xfrm flipH="1" flipV="1">
            <a:off x="5823004" y="2603684"/>
            <a:ext cx="879575" cy="86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557" name="Line 264">
            <a:extLst>
              <a:ext uri="{FF2B5EF4-FFF2-40B4-BE49-F238E27FC236}">
                <a16:creationId xmlns:a16="http://schemas.microsoft.com/office/drawing/2014/main" xmlns="" id="{5FF66E32-B896-A043-9D26-2F80DC2B70A1}"/>
              </a:ext>
            </a:extLst>
          </p:cNvPr>
          <p:cNvSpPr>
            <a:spLocks noChangeShapeType="1"/>
          </p:cNvSpPr>
          <p:nvPr/>
        </p:nvSpPr>
        <p:spPr bwMode="auto">
          <a:xfrm flipH="1">
            <a:off x="6097368" y="2294917"/>
            <a:ext cx="275977" cy="31311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558" name="Freeform 265">
            <a:extLst>
              <a:ext uri="{FF2B5EF4-FFF2-40B4-BE49-F238E27FC236}">
                <a16:creationId xmlns:a16="http://schemas.microsoft.com/office/drawing/2014/main" xmlns="" id="{E2E6E031-8D15-5A42-B00A-1F4F08AF6A0B}"/>
              </a:ext>
            </a:extLst>
          </p:cNvPr>
          <p:cNvSpPr>
            <a:spLocks/>
          </p:cNvSpPr>
          <p:nvPr/>
        </p:nvSpPr>
        <p:spPr bwMode="auto">
          <a:xfrm>
            <a:off x="5543801" y="1223657"/>
            <a:ext cx="1467032" cy="1361181"/>
          </a:xfrm>
          <a:custGeom>
            <a:avLst/>
            <a:gdLst>
              <a:gd name="T0" fmla="*/ 0 w 5205"/>
              <a:gd name="T1" fmla="*/ 0 h 4500"/>
              <a:gd name="T2" fmla="*/ 0 w 5205"/>
              <a:gd name="T3" fmla="*/ 2147483647 h 4500"/>
              <a:gd name="T4" fmla="*/ 2147483647 w 5205"/>
              <a:gd name="T5" fmla="*/ 2147483647 h 4500"/>
              <a:gd name="T6" fmla="*/ 2147483647 w 5205"/>
              <a:gd name="T7" fmla="*/ 2147483647 h 4500"/>
              <a:gd name="T8" fmla="*/ 2147483647 w 5205"/>
              <a:gd name="T9" fmla="*/ 2147483647 h 4500"/>
              <a:gd name="T10" fmla="*/ 2147483647 w 5205"/>
              <a:gd name="T11" fmla="*/ 2147483647 h 4500"/>
              <a:gd name="T12" fmla="*/ 2147483647 w 5205"/>
              <a:gd name="T13" fmla="*/ 2147483647 h 4500"/>
              <a:gd name="T14" fmla="*/ 2147483647 w 5205"/>
              <a:gd name="T15" fmla="*/ 2147483647 h 45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05" h="4500">
                <a:moveTo>
                  <a:pt x="0" y="0"/>
                </a:moveTo>
                <a:lnTo>
                  <a:pt x="0" y="1320"/>
                </a:lnTo>
                <a:lnTo>
                  <a:pt x="1230" y="1350"/>
                </a:lnTo>
                <a:lnTo>
                  <a:pt x="495" y="2040"/>
                </a:lnTo>
                <a:lnTo>
                  <a:pt x="4515" y="2115"/>
                </a:lnTo>
                <a:lnTo>
                  <a:pt x="2220" y="4500"/>
                </a:lnTo>
                <a:lnTo>
                  <a:pt x="5205" y="4500"/>
                </a:lnTo>
                <a:lnTo>
                  <a:pt x="5205" y="3405"/>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573" name="Group 280">
            <a:extLst>
              <a:ext uri="{FF2B5EF4-FFF2-40B4-BE49-F238E27FC236}">
                <a16:creationId xmlns:a16="http://schemas.microsoft.com/office/drawing/2014/main" xmlns="" id="{6DC31668-B2DC-E241-A69F-970AD2E5CEA7}"/>
              </a:ext>
            </a:extLst>
          </p:cNvPr>
          <p:cNvGrpSpPr>
            <a:grpSpLocks/>
          </p:cNvGrpSpPr>
          <p:nvPr/>
        </p:nvGrpSpPr>
        <p:grpSpPr bwMode="auto">
          <a:xfrm>
            <a:off x="5484087" y="2544249"/>
            <a:ext cx="140410" cy="117419"/>
            <a:chOff x="11283" y="10423"/>
            <a:chExt cx="475" cy="374"/>
          </a:xfrm>
        </p:grpSpPr>
        <p:sp>
          <p:nvSpPr>
            <p:cNvPr id="574" name="Rectangle 281">
              <a:extLst>
                <a:ext uri="{FF2B5EF4-FFF2-40B4-BE49-F238E27FC236}">
                  <a16:creationId xmlns:a16="http://schemas.microsoft.com/office/drawing/2014/main" xmlns="" id="{11A3D544-AE22-3748-9FE3-D90EFDC5B352}"/>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575" name="Line 282">
              <a:extLst>
                <a:ext uri="{FF2B5EF4-FFF2-40B4-BE49-F238E27FC236}">
                  <a16:creationId xmlns:a16="http://schemas.microsoft.com/office/drawing/2014/main" xmlns="" id="{BEC4224F-ED50-4947-9082-B57164E485BD}"/>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76" name="Line 283">
              <a:extLst>
                <a:ext uri="{FF2B5EF4-FFF2-40B4-BE49-F238E27FC236}">
                  <a16:creationId xmlns:a16="http://schemas.microsoft.com/office/drawing/2014/main" xmlns="" id="{8DD52BC5-C333-1F4D-ABBB-944B9DB245D1}"/>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77" name="Line 284">
              <a:extLst>
                <a:ext uri="{FF2B5EF4-FFF2-40B4-BE49-F238E27FC236}">
                  <a16:creationId xmlns:a16="http://schemas.microsoft.com/office/drawing/2014/main" xmlns="" id="{D000FA71-709B-0E4B-8BEF-C45BC3FE79E5}"/>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78" name="Line 285">
              <a:extLst>
                <a:ext uri="{FF2B5EF4-FFF2-40B4-BE49-F238E27FC236}">
                  <a16:creationId xmlns:a16="http://schemas.microsoft.com/office/drawing/2014/main" xmlns="" id="{B41DB283-7D57-A045-B70B-0D8C09746539}"/>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79" name="Line 286">
              <a:extLst>
                <a:ext uri="{FF2B5EF4-FFF2-40B4-BE49-F238E27FC236}">
                  <a16:creationId xmlns:a16="http://schemas.microsoft.com/office/drawing/2014/main" xmlns="" id="{9E5F402E-8251-7646-ADF1-C8D024D1C11F}"/>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80" name="Line 287">
              <a:extLst>
                <a:ext uri="{FF2B5EF4-FFF2-40B4-BE49-F238E27FC236}">
                  <a16:creationId xmlns:a16="http://schemas.microsoft.com/office/drawing/2014/main" xmlns="" id="{66CC75A1-C65C-3049-963E-0DFA47653CFA}"/>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595" name="Line 302">
            <a:extLst>
              <a:ext uri="{FF2B5EF4-FFF2-40B4-BE49-F238E27FC236}">
                <a16:creationId xmlns:a16="http://schemas.microsoft.com/office/drawing/2014/main" xmlns="" id="{D6A409AC-791D-264B-9A6A-29925F8122DE}"/>
              </a:ext>
            </a:extLst>
          </p:cNvPr>
          <p:cNvSpPr>
            <a:spLocks noChangeShapeType="1"/>
          </p:cNvSpPr>
          <p:nvPr/>
        </p:nvSpPr>
        <p:spPr bwMode="auto">
          <a:xfrm flipH="1">
            <a:off x="4886945" y="2222437"/>
            <a:ext cx="385722" cy="38559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596" name="Group 303">
            <a:extLst>
              <a:ext uri="{FF2B5EF4-FFF2-40B4-BE49-F238E27FC236}">
                <a16:creationId xmlns:a16="http://schemas.microsoft.com/office/drawing/2014/main" xmlns="" id="{0E0CC657-EE01-1444-92BE-C1D54E3F7BBC}"/>
              </a:ext>
            </a:extLst>
          </p:cNvPr>
          <p:cNvGrpSpPr>
            <a:grpSpLocks/>
          </p:cNvGrpSpPr>
          <p:nvPr/>
        </p:nvGrpSpPr>
        <p:grpSpPr bwMode="auto">
          <a:xfrm rot="8027572">
            <a:off x="5318493" y="2037264"/>
            <a:ext cx="153659" cy="106517"/>
            <a:chOff x="11283" y="10423"/>
            <a:chExt cx="475" cy="374"/>
          </a:xfrm>
        </p:grpSpPr>
        <p:sp>
          <p:nvSpPr>
            <p:cNvPr id="597" name="Rectangle 304">
              <a:extLst>
                <a:ext uri="{FF2B5EF4-FFF2-40B4-BE49-F238E27FC236}">
                  <a16:creationId xmlns:a16="http://schemas.microsoft.com/office/drawing/2014/main" xmlns="" id="{A259E52C-F06C-7042-9819-4B87037A3742}"/>
                </a:ext>
              </a:extLst>
            </p:cNvPr>
            <p:cNvSpPr>
              <a:spLocks noChangeArrowheads="1"/>
            </p:cNvSpPr>
            <p:nvPr/>
          </p:nvSpPr>
          <p:spPr bwMode="auto">
            <a:xfrm>
              <a:off x="11283" y="10423"/>
              <a:ext cx="475" cy="374"/>
            </a:xfrm>
            <a:prstGeom prst="rect">
              <a:avLst/>
            </a:prstGeom>
            <a:solidFill>
              <a:srgbClr val="FFFFFF"/>
            </a:solidFill>
            <a:ln w="9525">
              <a:solidFill>
                <a:srgbClr val="000000"/>
              </a:solidFill>
              <a:miter lim="800000"/>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598" name="Line 305">
              <a:extLst>
                <a:ext uri="{FF2B5EF4-FFF2-40B4-BE49-F238E27FC236}">
                  <a16:creationId xmlns:a16="http://schemas.microsoft.com/office/drawing/2014/main" xmlns="" id="{FCA29A28-11AF-7744-92A7-70BFDC111B05}"/>
                </a:ext>
              </a:extLst>
            </p:cNvPr>
            <p:cNvSpPr>
              <a:spLocks noChangeShapeType="1"/>
            </p:cNvSpPr>
            <p:nvPr/>
          </p:nvSpPr>
          <p:spPr bwMode="auto">
            <a:xfrm>
              <a:off x="1168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599" name="Line 306">
              <a:extLst>
                <a:ext uri="{FF2B5EF4-FFF2-40B4-BE49-F238E27FC236}">
                  <a16:creationId xmlns:a16="http://schemas.microsoft.com/office/drawing/2014/main" xmlns="" id="{CB933097-E020-C042-8313-287B98167A3C}"/>
                </a:ext>
              </a:extLst>
            </p:cNvPr>
            <p:cNvSpPr>
              <a:spLocks noChangeShapeType="1"/>
            </p:cNvSpPr>
            <p:nvPr/>
          </p:nvSpPr>
          <p:spPr bwMode="auto">
            <a:xfrm>
              <a:off x="11621"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600" name="Line 307">
              <a:extLst>
                <a:ext uri="{FF2B5EF4-FFF2-40B4-BE49-F238E27FC236}">
                  <a16:creationId xmlns:a16="http://schemas.microsoft.com/office/drawing/2014/main" xmlns="" id="{420119F4-8030-9C41-BBBE-13596216B26A}"/>
                </a:ext>
              </a:extLst>
            </p:cNvPr>
            <p:cNvSpPr>
              <a:spLocks noChangeShapeType="1"/>
            </p:cNvSpPr>
            <p:nvPr/>
          </p:nvSpPr>
          <p:spPr bwMode="auto">
            <a:xfrm>
              <a:off x="11556" y="1050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601" name="Line 308">
              <a:extLst>
                <a:ext uri="{FF2B5EF4-FFF2-40B4-BE49-F238E27FC236}">
                  <a16:creationId xmlns:a16="http://schemas.microsoft.com/office/drawing/2014/main" xmlns="" id="{DAD30011-10E5-FA44-A6C7-171D1805CBA4}"/>
                </a:ext>
              </a:extLst>
            </p:cNvPr>
            <p:cNvSpPr>
              <a:spLocks noChangeShapeType="1"/>
            </p:cNvSpPr>
            <p:nvPr/>
          </p:nvSpPr>
          <p:spPr bwMode="auto">
            <a:xfrm>
              <a:off x="11491" y="10495"/>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602" name="Line 309">
              <a:extLst>
                <a:ext uri="{FF2B5EF4-FFF2-40B4-BE49-F238E27FC236}">
                  <a16:creationId xmlns:a16="http://schemas.microsoft.com/office/drawing/2014/main" xmlns="" id="{D6E1DBA8-2139-534A-812C-2D3021B42820}"/>
                </a:ext>
              </a:extLst>
            </p:cNvPr>
            <p:cNvSpPr>
              <a:spLocks noChangeShapeType="1"/>
            </p:cNvSpPr>
            <p:nvPr/>
          </p:nvSpPr>
          <p:spPr bwMode="auto">
            <a:xfrm>
              <a:off x="11426" y="10495"/>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603" name="Line 310">
              <a:extLst>
                <a:ext uri="{FF2B5EF4-FFF2-40B4-BE49-F238E27FC236}">
                  <a16:creationId xmlns:a16="http://schemas.microsoft.com/office/drawing/2014/main" xmlns="" id="{E5BA2CAF-CE82-1046-A87A-25F846197222}"/>
                </a:ext>
              </a:extLst>
            </p:cNvPr>
            <p:cNvSpPr>
              <a:spLocks noChangeShapeType="1"/>
            </p:cNvSpPr>
            <p:nvPr/>
          </p:nvSpPr>
          <p:spPr bwMode="auto">
            <a:xfrm>
              <a:off x="11360" y="10495"/>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sp>
        <p:nvSpPr>
          <p:cNvPr id="604" name="Freeform 311">
            <a:extLst>
              <a:ext uri="{FF2B5EF4-FFF2-40B4-BE49-F238E27FC236}">
                <a16:creationId xmlns:a16="http://schemas.microsoft.com/office/drawing/2014/main" xmlns="" id="{0E044273-3CF1-1F44-AE22-0090B74B4B91}"/>
              </a:ext>
            </a:extLst>
          </p:cNvPr>
          <p:cNvSpPr>
            <a:spLocks/>
          </p:cNvSpPr>
          <p:nvPr/>
        </p:nvSpPr>
        <p:spPr bwMode="auto">
          <a:xfrm>
            <a:off x="4815933" y="1242502"/>
            <a:ext cx="2249772" cy="1397422"/>
          </a:xfrm>
          <a:custGeom>
            <a:avLst/>
            <a:gdLst>
              <a:gd name="T0" fmla="*/ 2147483647 w 7980"/>
              <a:gd name="T1" fmla="*/ 2147483647 h 4620"/>
              <a:gd name="T2" fmla="*/ 2147483647 w 7980"/>
              <a:gd name="T3" fmla="*/ 2147483647 h 4620"/>
              <a:gd name="T4" fmla="*/ 0 w 7980"/>
              <a:gd name="T5" fmla="*/ 2147483647 h 4620"/>
              <a:gd name="T6" fmla="*/ 2147483647 w 7980"/>
              <a:gd name="T7" fmla="*/ 2147483647 h 4620"/>
              <a:gd name="T8" fmla="*/ 2147483647 w 7980"/>
              <a:gd name="T9" fmla="*/ 2147483647 h 4620"/>
              <a:gd name="T10" fmla="*/ 2147483647 w 7980"/>
              <a:gd name="T11" fmla="*/ 0 h 462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80" h="4620">
                <a:moveTo>
                  <a:pt x="7965" y="3420"/>
                </a:moveTo>
                <a:lnTo>
                  <a:pt x="7980" y="4620"/>
                </a:lnTo>
                <a:lnTo>
                  <a:pt x="0" y="4605"/>
                </a:lnTo>
                <a:lnTo>
                  <a:pt x="3315" y="1485"/>
                </a:lnTo>
                <a:lnTo>
                  <a:pt x="2355" y="1455"/>
                </a:lnTo>
                <a:lnTo>
                  <a:pt x="2355" y="0"/>
                </a:lnTo>
              </a:path>
            </a:pathLst>
          </a:custGeom>
          <a:noFill/>
          <a:ln w="38100" cmpd="sng">
            <a:solidFill>
              <a:srgbClr val="FF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05" name="Freeform 312">
            <a:extLst>
              <a:ext uri="{FF2B5EF4-FFF2-40B4-BE49-F238E27FC236}">
                <a16:creationId xmlns:a16="http://schemas.microsoft.com/office/drawing/2014/main" xmlns="" id="{9835AE55-355E-3449-A433-1E30954185D2}"/>
              </a:ext>
            </a:extLst>
          </p:cNvPr>
          <p:cNvSpPr>
            <a:spLocks/>
          </p:cNvSpPr>
          <p:nvPr/>
        </p:nvSpPr>
        <p:spPr bwMode="auto">
          <a:xfrm>
            <a:off x="4638404" y="1287440"/>
            <a:ext cx="2549957" cy="1374228"/>
          </a:xfrm>
          <a:custGeom>
            <a:avLst/>
            <a:gdLst>
              <a:gd name="T0" fmla="*/ 0 w 9045"/>
              <a:gd name="T1" fmla="*/ 2147483647 h 4545"/>
              <a:gd name="T2" fmla="*/ 0 w 9045"/>
              <a:gd name="T3" fmla="*/ 2147483647 h 4545"/>
              <a:gd name="T4" fmla="*/ 2147483647 w 9045"/>
              <a:gd name="T5" fmla="*/ 2147483647 h 4545"/>
              <a:gd name="T6" fmla="*/ 2147483647 w 9045"/>
              <a:gd name="T7" fmla="*/ 2147483647 h 4545"/>
              <a:gd name="T8" fmla="*/ 2147483647 w 9045"/>
              <a:gd name="T9" fmla="*/ 2147483647 h 4545"/>
              <a:gd name="T10" fmla="*/ 2147483647 w 9045"/>
              <a:gd name="T11" fmla="*/ 2147483647 h 4545"/>
              <a:gd name="T12" fmla="*/ 2147483647 w 9045"/>
              <a:gd name="T13" fmla="*/ 2147483647 h 4545"/>
              <a:gd name="T14" fmla="*/ 2147483647 w 9045"/>
              <a:gd name="T15" fmla="*/ 0 h 454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45" h="4545">
                <a:moveTo>
                  <a:pt x="0" y="2880"/>
                </a:moveTo>
                <a:lnTo>
                  <a:pt x="0" y="4530"/>
                </a:lnTo>
                <a:lnTo>
                  <a:pt x="885" y="4545"/>
                </a:lnTo>
                <a:lnTo>
                  <a:pt x="3510" y="2010"/>
                </a:lnTo>
                <a:lnTo>
                  <a:pt x="7140" y="2055"/>
                </a:lnTo>
                <a:lnTo>
                  <a:pt x="8145" y="1020"/>
                </a:lnTo>
                <a:lnTo>
                  <a:pt x="9045" y="1020"/>
                </a:lnTo>
                <a:lnTo>
                  <a:pt x="9015" y="0"/>
                </a:lnTo>
              </a:path>
            </a:pathLst>
          </a:custGeom>
          <a:noFill/>
          <a:ln w="38100" cmpd="sng">
            <a:solidFill>
              <a:srgbClr val="0000FF"/>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06" name="Freeform 313">
            <a:extLst>
              <a:ext uri="{FF2B5EF4-FFF2-40B4-BE49-F238E27FC236}">
                <a16:creationId xmlns:a16="http://schemas.microsoft.com/office/drawing/2014/main" xmlns="" id="{6222373D-283A-3B4A-B1F6-7CDE8C98C64E}"/>
              </a:ext>
            </a:extLst>
          </p:cNvPr>
          <p:cNvSpPr>
            <a:spLocks/>
          </p:cNvSpPr>
          <p:nvPr/>
        </p:nvSpPr>
        <p:spPr bwMode="auto">
          <a:xfrm>
            <a:off x="4693278" y="1310634"/>
            <a:ext cx="2572552" cy="1269856"/>
          </a:xfrm>
          <a:custGeom>
            <a:avLst/>
            <a:gdLst>
              <a:gd name="T0" fmla="*/ 0 w 9120"/>
              <a:gd name="T1" fmla="*/ 2147483647 h 4201"/>
              <a:gd name="T2" fmla="*/ 0 w 9120"/>
              <a:gd name="T3" fmla="*/ 2147483647 h 4201"/>
              <a:gd name="T4" fmla="*/ 2147483647 w 9120"/>
              <a:gd name="T5" fmla="*/ 2147483647 h 4201"/>
              <a:gd name="T6" fmla="*/ 2147483647 w 9120"/>
              <a:gd name="T7" fmla="*/ 2147483647 h 4201"/>
              <a:gd name="T8" fmla="*/ 2147483647 w 9120"/>
              <a:gd name="T9" fmla="*/ 2147483647 h 4201"/>
              <a:gd name="T10" fmla="*/ 2147483647 w 9120"/>
              <a:gd name="T11" fmla="*/ 0 h 42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0" h="4201">
                <a:moveTo>
                  <a:pt x="0" y="2821"/>
                </a:moveTo>
                <a:lnTo>
                  <a:pt x="0" y="4201"/>
                </a:lnTo>
                <a:lnTo>
                  <a:pt x="4890" y="4201"/>
                </a:lnTo>
                <a:lnTo>
                  <a:pt x="8055" y="1051"/>
                </a:lnTo>
                <a:lnTo>
                  <a:pt x="9120" y="1080"/>
                </a:lnTo>
                <a:lnTo>
                  <a:pt x="9105" y="0"/>
                </a:lnTo>
              </a:path>
            </a:pathLst>
          </a:custGeom>
          <a:noFill/>
          <a:ln w="38100" cmpd="sng">
            <a:solidFill>
              <a:srgbClr val="00B05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607" name="Group 314">
            <a:extLst>
              <a:ext uri="{FF2B5EF4-FFF2-40B4-BE49-F238E27FC236}">
                <a16:creationId xmlns:a16="http://schemas.microsoft.com/office/drawing/2014/main" xmlns="" id="{7CED4D5D-1774-B94F-AB74-7B6F1F74FA06}"/>
              </a:ext>
            </a:extLst>
          </p:cNvPr>
          <p:cNvGrpSpPr>
            <a:grpSpLocks/>
          </p:cNvGrpSpPr>
          <p:nvPr/>
        </p:nvGrpSpPr>
        <p:grpSpPr bwMode="auto">
          <a:xfrm>
            <a:off x="4617425" y="2145608"/>
            <a:ext cx="40347" cy="129014"/>
            <a:chOff x="10104" y="10005"/>
            <a:chExt cx="137" cy="411"/>
          </a:xfrm>
        </p:grpSpPr>
        <p:sp>
          <p:nvSpPr>
            <p:cNvPr id="608" name="Oval 315">
              <a:extLst>
                <a:ext uri="{FF2B5EF4-FFF2-40B4-BE49-F238E27FC236}">
                  <a16:creationId xmlns:a16="http://schemas.microsoft.com/office/drawing/2014/main" xmlns="" id="{695435D0-43FA-5946-96EF-D369E25A8FF0}"/>
                </a:ext>
              </a:extLst>
            </p:cNvPr>
            <p:cNvSpPr>
              <a:spLocks noChangeArrowheads="1"/>
            </p:cNvSpPr>
            <p:nvPr/>
          </p:nvSpPr>
          <p:spPr bwMode="auto">
            <a:xfrm>
              <a:off x="10104" y="10005"/>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609" name="Oval 316">
              <a:extLst>
                <a:ext uri="{FF2B5EF4-FFF2-40B4-BE49-F238E27FC236}">
                  <a16:creationId xmlns:a16="http://schemas.microsoft.com/office/drawing/2014/main" xmlns="" id="{85BDA995-131F-0641-914D-C85C2FA16403}"/>
                </a:ext>
              </a:extLst>
            </p:cNvPr>
            <p:cNvSpPr>
              <a:spLocks noChangeArrowheads="1"/>
            </p:cNvSpPr>
            <p:nvPr/>
          </p:nvSpPr>
          <p:spPr bwMode="auto">
            <a:xfrm>
              <a:off x="10104" y="10278"/>
              <a:ext cx="137" cy="138"/>
            </a:xfrm>
            <a:prstGeom prst="ellipse">
              <a:avLst/>
            </a:prstGeom>
            <a:solidFill>
              <a:srgbClr val="00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grpSp>
        <p:nvGrpSpPr>
          <p:cNvPr id="610" name="Group 317">
            <a:extLst>
              <a:ext uri="{FF2B5EF4-FFF2-40B4-BE49-F238E27FC236}">
                <a16:creationId xmlns:a16="http://schemas.microsoft.com/office/drawing/2014/main" xmlns="" id="{0FFCB242-31DD-7443-A923-107E105D8A00}"/>
              </a:ext>
            </a:extLst>
          </p:cNvPr>
          <p:cNvGrpSpPr>
            <a:grpSpLocks/>
          </p:cNvGrpSpPr>
          <p:nvPr/>
        </p:nvGrpSpPr>
        <p:grpSpPr bwMode="auto">
          <a:xfrm>
            <a:off x="7041497" y="2257227"/>
            <a:ext cx="40347" cy="130465"/>
            <a:chOff x="10104" y="10005"/>
            <a:chExt cx="137" cy="411"/>
          </a:xfrm>
        </p:grpSpPr>
        <p:sp>
          <p:nvSpPr>
            <p:cNvPr id="611" name="Oval 318">
              <a:extLst>
                <a:ext uri="{FF2B5EF4-FFF2-40B4-BE49-F238E27FC236}">
                  <a16:creationId xmlns:a16="http://schemas.microsoft.com/office/drawing/2014/main" xmlns="" id="{F25BDD80-1612-BD46-B423-42AE33DB436B}"/>
                </a:ext>
              </a:extLst>
            </p:cNvPr>
            <p:cNvSpPr>
              <a:spLocks noChangeArrowheads="1"/>
            </p:cNvSpPr>
            <p:nvPr/>
          </p:nvSpPr>
          <p:spPr bwMode="auto">
            <a:xfrm>
              <a:off x="10104" y="10005"/>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612" name="Oval 319">
              <a:extLst>
                <a:ext uri="{FF2B5EF4-FFF2-40B4-BE49-F238E27FC236}">
                  <a16:creationId xmlns:a16="http://schemas.microsoft.com/office/drawing/2014/main" xmlns="" id="{0B1DEF04-FA4A-924B-9F2F-610BC29F3350}"/>
                </a:ext>
              </a:extLst>
            </p:cNvPr>
            <p:cNvSpPr>
              <a:spLocks noChangeArrowheads="1"/>
            </p:cNvSpPr>
            <p:nvPr/>
          </p:nvSpPr>
          <p:spPr bwMode="auto">
            <a:xfrm>
              <a:off x="10104" y="10278"/>
              <a:ext cx="137" cy="138"/>
            </a:xfrm>
            <a:prstGeom prst="ellipse">
              <a:avLst/>
            </a:prstGeom>
            <a:solidFill>
              <a:srgbClr val="FF00FF"/>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grpSp>
        <p:nvGrpSpPr>
          <p:cNvPr id="613" name="Group 320">
            <a:extLst>
              <a:ext uri="{FF2B5EF4-FFF2-40B4-BE49-F238E27FC236}">
                <a16:creationId xmlns:a16="http://schemas.microsoft.com/office/drawing/2014/main" xmlns="" id="{0B529F14-3F08-E440-B6EC-F5B67289F089}"/>
              </a:ext>
            </a:extLst>
          </p:cNvPr>
          <p:cNvGrpSpPr>
            <a:grpSpLocks/>
          </p:cNvGrpSpPr>
          <p:nvPr/>
        </p:nvGrpSpPr>
        <p:grpSpPr bwMode="auto">
          <a:xfrm>
            <a:off x="7240006" y="1277292"/>
            <a:ext cx="40348" cy="130465"/>
            <a:chOff x="10104" y="10005"/>
            <a:chExt cx="137" cy="411"/>
          </a:xfrm>
        </p:grpSpPr>
        <p:sp>
          <p:nvSpPr>
            <p:cNvPr id="614" name="Oval 321">
              <a:extLst>
                <a:ext uri="{FF2B5EF4-FFF2-40B4-BE49-F238E27FC236}">
                  <a16:creationId xmlns:a16="http://schemas.microsoft.com/office/drawing/2014/main" xmlns="" id="{6437B6FC-D8DB-9746-A099-12114F7BD677}"/>
                </a:ext>
              </a:extLst>
            </p:cNvPr>
            <p:cNvSpPr>
              <a:spLocks noChangeArrowheads="1"/>
            </p:cNvSpPr>
            <p:nvPr/>
          </p:nvSpPr>
          <p:spPr bwMode="auto">
            <a:xfrm>
              <a:off x="10104" y="10005"/>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sp>
          <p:nvSpPr>
            <p:cNvPr id="615" name="Oval 322">
              <a:extLst>
                <a:ext uri="{FF2B5EF4-FFF2-40B4-BE49-F238E27FC236}">
                  <a16:creationId xmlns:a16="http://schemas.microsoft.com/office/drawing/2014/main" xmlns="" id="{0FDD47FB-2A41-0B4E-85FF-3CBB4DBDBE3B}"/>
                </a:ext>
              </a:extLst>
            </p:cNvPr>
            <p:cNvSpPr>
              <a:spLocks noChangeArrowheads="1"/>
            </p:cNvSpPr>
            <p:nvPr/>
          </p:nvSpPr>
          <p:spPr bwMode="auto">
            <a:xfrm>
              <a:off x="10104" y="10278"/>
              <a:ext cx="137" cy="138"/>
            </a:xfrm>
            <a:prstGeom prst="ellipse">
              <a:avLst/>
            </a:prstGeom>
            <a:solidFill>
              <a:srgbClr val="00FF00"/>
            </a:solidFill>
            <a:ln>
              <a:noFill/>
            </a:ln>
            <a:extLst>
              <a:ext uri="{91240B29-F687-4F45-9708-019B960494DF}">
                <a14:hiddenLine xmlns:a14="http://schemas.microsoft.com/office/drawing/2010/main" w="9525">
                  <a:solidFill>
                    <a:srgbClr val="FF0000"/>
                  </a:solidFill>
                  <a:round/>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endParaRPr lang="en-US" altLang="en-US" sz="1200" dirty="0">
                <a:solidFill>
                  <a:srgbClr val="000000"/>
                </a:solidFill>
                <a:cs typeface="+mn-cs"/>
              </a:endParaRPr>
            </a:p>
          </p:txBody>
        </p:sp>
      </p:grpSp>
      <p:grpSp>
        <p:nvGrpSpPr>
          <p:cNvPr id="3" name="Group 2">
            <a:extLst>
              <a:ext uri="{FF2B5EF4-FFF2-40B4-BE49-F238E27FC236}">
                <a16:creationId xmlns:a16="http://schemas.microsoft.com/office/drawing/2014/main" xmlns="" id="{DCBFFE77-548F-9846-9A06-08C1230178E0}"/>
              </a:ext>
            </a:extLst>
          </p:cNvPr>
          <p:cNvGrpSpPr/>
          <p:nvPr/>
        </p:nvGrpSpPr>
        <p:grpSpPr>
          <a:xfrm>
            <a:off x="1106611" y="1067992"/>
            <a:ext cx="2359299" cy="1808797"/>
            <a:chOff x="1475482" y="1423988"/>
            <a:chExt cx="3145731" cy="2411730"/>
          </a:xfrm>
        </p:grpSpPr>
        <p:sp>
          <p:nvSpPr>
            <p:cNvPr id="616" name="Line 330">
              <a:extLst>
                <a:ext uri="{FF2B5EF4-FFF2-40B4-BE49-F238E27FC236}">
                  <a16:creationId xmlns:a16="http://schemas.microsoft.com/office/drawing/2014/main" xmlns="" id="{9BFD01DA-5202-CF44-9ED5-2B470718DBC3}"/>
                </a:ext>
              </a:extLst>
            </p:cNvPr>
            <p:cNvSpPr>
              <a:spLocks noChangeShapeType="1"/>
            </p:cNvSpPr>
            <p:nvPr/>
          </p:nvSpPr>
          <p:spPr bwMode="auto">
            <a:xfrm>
              <a:off x="2143125" y="1520825"/>
              <a:ext cx="0" cy="186055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617" name="Line 331">
              <a:extLst>
                <a:ext uri="{FF2B5EF4-FFF2-40B4-BE49-F238E27FC236}">
                  <a16:creationId xmlns:a16="http://schemas.microsoft.com/office/drawing/2014/main" xmlns="" id="{ACC222AF-8E70-314C-9EA2-B9677C72D968}"/>
                </a:ext>
              </a:extLst>
            </p:cNvPr>
            <p:cNvSpPr>
              <a:spLocks noChangeShapeType="1"/>
            </p:cNvSpPr>
            <p:nvPr/>
          </p:nvSpPr>
          <p:spPr bwMode="auto">
            <a:xfrm flipV="1">
              <a:off x="2127250" y="3373438"/>
              <a:ext cx="2333625" cy="4762"/>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618" name="Freeform 333">
              <a:extLst>
                <a:ext uri="{FF2B5EF4-FFF2-40B4-BE49-F238E27FC236}">
                  <a16:creationId xmlns:a16="http://schemas.microsoft.com/office/drawing/2014/main" xmlns="" id="{6D089360-38AC-4243-B6DB-EF4A57135057}"/>
                </a:ext>
              </a:extLst>
            </p:cNvPr>
            <p:cNvSpPr>
              <a:spLocks/>
            </p:cNvSpPr>
            <p:nvPr/>
          </p:nvSpPr>
          <p:spPr bwMode="auto">
            <a:xfrm>
              <a:off x="2132013" y="2607303"/>
              <a:ext cx="2489200" cy="759348"/>
            </a:xfrm>
            <a:custGeom>
              <a:avLst/>
              <a:gdLst>
                <a:gd name="T0" fmla="*/ 0 w 1568"/>
                <a:gd name="T1" fmla="*/ 2147483647 h 380"/>
                <a:gd name="T2" fmla="*/ 2147483647 w 1568"/>
                <a:gd name="T3" fmla="*/ 2147483647 h 380"/>
                <a:gd name="T4" fmla="*/ 2147483647 w 1568"/>
                <a:gd name="T5" fmla="*/ 2147483647 h 380"/>
                <a:gd name="T6" fmla="*/ 2147483647 w 1568"/>
                <a:gd name="T7" fmla="*/ 2147483647 h 380"/>
                <a:gd name="T8" fmla="*/ 0 60000 65536"/>
                <a:gd name="T9" fmla="*/ 0 60000 65536"/>
                <a:gd name="T10" fmla="*/ 0 60000 65536"/>
                <a:gd name="T11" fmla="*/ 0 60000 65536"/>
                <a:gd name="connsiteX0" fmla="*/ 0 w 10000"/>
                <a:gd name="connsiteY0" fmla="*/ 9512 h 9512"/>
                <a:gd name="connsiteX1" fmla="*/ 4152 w 10000"/>
                <a:gd name="connsiteY1" fmla="*/ 12 h 9512"/>
                <a:gd name="connsiteX2" fmla="*/ 5829 w 10000"/>
                <a:gd name="connsiteY2" fmla="*/ 8065 h 9512"/>
                <a:gd name="connsiteX3" fmla="*/ 10000 w 10000"/>
                <a:gd name="connsiteY3" fmla="*/ 8802 h 9512"/>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662 h 10000"/>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662 h 10000"/>
                <a:gd name="connsiteX0" fmla="*/ 0 w 10000"/>
                <a:gd name="connsiteY0" fmla="*/ 10000 h 10158"/>
                <a:gd name="connsiteX1" fmla="*/ 4152 w 10000"/>
                <a:gd name="connsiteY1" fmla="*/ 13 h 10158"/>
                <a:gd name="connsiteX2" fmla="*/ 5829 w 10000"/>
                <a:gd name="connsiteY2" fmla="*/ 8479 h 10158"/>
                <a:gd name="connsiteX3" fmla="*/ 10000 w 10000"/>
                <a:gd name="connsiteY3" fmla="*/ 9968 h 10158"/>
                <a:gd name="connsiteX0" fmla="*/ 0 w 10000"/>
                <a:gd name="connsiteY0" fmla="*/ 10000 h 10000"/>
                <a:gd name="connsiteX1" fmla="*/ 4152 w 10000"/>
                <a:gd name="connsiteY1" fmla="*/ 13 h 10000"/>
                <a:gd name="connsiteX2" fmla="*/ 5829 w 10000"/>
                <a:gd name="connsiteY2" fmla="*/ 8479 h 10000"/>
                <a:gd name="connsiteX3" fmla="*/ 10000 w 10000"/>
                <a:gd name="connsiteY3" fmla="*/ 9968 h 10000"/>
                <a:gd name="connsiteX0" fmla="*/ 0 w 10000"/>
                <a:gd name="connsiteY0" fmla="*/ 9898 h 9898"/>
                <a:gd name="connsiteX1" fmla="*/ 5094 w 10000"/>
                <a:gd name="connsiteY1" fmla="*/ 13 h 9898"/>
                <a:gd name="connsiteX2" fmla="*/ 5829 w 10000"/>
                <a:gd name="connsiteY2" fmla="*/ 8377 h 9898"/>
                <a:gd name="connsiteX3" fmla="*/ 10000 w 10000"/>
                <a:gd name="connsiteY3" fmla="*/ 9866 h 9898"/>
                <a:gd name="connsiteX0" fmla="*/ 0 w 10000"/>
                <a:gd name="connsiteY0" fmla="*/ 9991 h 10073"/>
                <a:gd name="connsiteX1" fmla="*/ 5094 w 10000"/>
                <a:gd name="connsiteY1" fmla="*/ 4 h 10073"/>
                <a:gd name="connsiteX2" fmla="*/ 6347 w 10000"/>
                <a:gd name="connsiteY2" fmla="*/ 8866 h 10073"/>
                <a:gd name="connsiteX3" fmla="*/ 10000 w 10000"/>
                <a:gd name="connsiteY3" fmla="*/ 9959 h 10073"/>
                <a:gd name="connsiteX0" fmla="*/ 0 w 10000"/>
                <a:gd name="connsiteY0" fmla="*/ 9992 h 10012"/>
                <a:gd name="connsiteX1" fmla="*/ 5094 w 10000"/>
                <a:gd name="connsiteY1" fmla="*/ 5 h 10012"/>
                <a:gd name="connsiteX2" fmla="*/ 6331 w 10000"/>
                <a:gd name="connsiteY2" fmla="*/ 8661 h 10012"/>
                <a:gd name="connsiteX3" fmla="*/ 10000 w 10000"/>
                <a:gd name="connsiteY3" fmla="*/ 9960 h 10012"/>
                <a:gd name="connsiteX0" fmla="*/ 0 w 10000"/>
                <a:gd name="connsiteY0" fmla="*/ 9992 h 10001"/>
                <a:gd name="connsiteX1" fmla="*/ 5094 w 10000"/>
                <a:gd name="connsiteY1" fmla="*/ 5 h 10001"/>
                <a:gd name="connsiteX2" fmla="*/ 6661 w 10000"/>
                <a:gd name="connsiteY2" fmla="*/ 8610 h 10001"/>
                <a:gd name="connsiteX3" fmla="*/ 10000 w 10000"/>
                <a:gd name="connsiteY3" fmla="*/ 9960 h 10001"/>
              </a:gdLst>
              <a:ahLst/>
              <a:cxnLst>
                <a:cxn ang="0">
                  <a:pos x="connsiteX0" y="connsiteY0"/>
                </a:cxn>
                <a:cxn ang="0">
                  <a:pos x="connsiteX1" y="connsiteY1"/>
                </a:cxn>
                <a:cxn ang="0">
                  <a:pos x="connsiteX2" y="connsiteY2"/>
                </a:cxn>
                <a:cxn ang="0">
                  <a:pos x="connsiteX3" y="connsiteY3"/>
                </a:cxn>
              </a:cxnLst>
              <a:rect l="l" t="t" r="r" b="b"/>
              <a:pathLst>
                <a:path w="10000" h="10001">
                  <a:moveTo>
                    <a:pt x="0" y="9992"/>
                  </a:moveTo>
                  <a:cubicBezTo>
                    <a:pt x="695" y="8315"/>
                    <a:pt x="3984" y="235"/>
                    <a:pt x="5094" y="5"/>
                  </a:cubicBezTo>
                  <a:cubicBezTo>
                    <a:pt x="6204" y="-225"/>
                    <a:pt x="5488" y="6933"/>
                    <a:pt x="6661" y="8610"/>
                  </a:cubicBezTo>
                  <a:cubicBezTo>
                    <a:pt x="7835" y="10287"/>
                    <a:pt x="8882" y="9997"/>
                    <a:pt x="10000" y="9960"/>
                  </a:cubicBez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619" name="Line 334">
              <a:extLst>
                <a:ext uri="{FF2B5EF4-FFF2-40B4-BE49-F238E27FC236}">
                  <a16:creationId xmlns:a16="http://schemas.microsoft.com/office/drawing/2014/main" xmlns="" id="{AF5D54D6-CC93-6E42-8712-1BDF48F23C59}"/>
                </a:ext>
              </a:extLst>
            </p:cNvPr>
            <p:cNvSpPr>
              <a:spLocks noChangeShapeType="1"/>
            </p:cNvSpPr>
            <p:nvPr/>
          </p:nvSpPr>
          <p:spPr bwMode="auto">
            <a:xfrm>
              <a:off x="2011363" y="1673225"/>
              <a:ext cx="125412" cy="0"/>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620" name="Line 335">
              <a:extLst>
                <a:ext uri="{FF2B5EF4-FFF2-40B4-BE49-F238E27FC236}">
                  <a16:creationId xmlns:a16="http://schemas.microsoft.com/office/drawing/2014/main" xmlns="" id="{5F83D767-834B-CD45-B9C0-86188156B399}"/>
                </a:ext>
              </a:extLst>
            </p:cNvPr>
            <p:cNvSpPr>
              <a:spLocks noChangeShapeType="1"/>
            </p:cNvSpPr>
            <p:nvPr/>
          </p:nvSpPr>
          <p:spPr bwMode="auto">
            <a:xfrm>
              <a:off x="3944938" y="3381375"/>
              <a:ext cx="0" cy="134938"/>
            </a:xfrm>
            <a:prstGeom prst="line">
              <a:avLst/>
            </a:prstGeom>
            <a:noFill/>
            <a:ln w="19050">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621" name="Text Box 336">
              <a:extLst>
                <a:ext uri="{FF2B5EF4-FFF2-40B4-BE49-F238E27FC236}">
                  <a16:creationId xmlns:a16="http://schemas.microsoft.com/office/drawing/2014/main" xmlns="" id="{4D3494C0-DD1C-794E-97BA-6E4472E2FD59}"/>
                </a:ext>
              </a:extLst>
            </p:cNvPr>
            <p:cNvSpPr txBox="1">
              <a:spLocks noChangeArrowheads="1"/>
            </p:cNvSpPr>
            <p:nvPr/>
          </p:nvSpPr>
          <p:spPr bwMode="auto">
            <a:xfrm>
              <a:off x="1475482" y="1423988"/>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dirty="0">
                  <a:solidFill>
                    <a:srgbClr val="000000"/>
                  </a:solidFill>
                  <a:cs typeface="+mn-cs"/>
                </a:rPr>
                <a:t>R/2</a:t>
              </a:r>
            </a:p>
          </p:txBody>
        </p:sp>
        <p:sp>
          <p:nvSpPr>
            <p:cNvPr id="622" name="Text Box 337">
              <a:extLst>
                <a:ext uri="{FF2B5EF4-FFF2-40B4-BE49-F238E27FC236}">
                  <a16:creationId xmlns:a16="http://schemas.microsoft.com/office/drawing/2014/main" xmlns="" id="{CE6E8577-4BD8-EE4D-8020-05E336E07DC2}"/>
                </a:ext>
              </a:extLst>
            </p:cNvPr>
            <p:cNvSpPr txBox="1">
              <a:spLocks noChangeArrowheads="1"/>
            </p:cNvSpPr>
            <p:nvPr/>
          </p:nvSpPr>
          <p:spPr bwMode="auto">
            <a:xfrm>
              <a:off x="3712269" y="3433763"/>
              <a:ext cx="524075" cy="33855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dirty="0">
                  <a:solidFill>
                    <a:srgbClr val="000000"/>
                  </a:solidFill>
                  <a:cs typeface="+mn-cs"/>
                </a:rPr>
                <a:t>R/2</a:t>
              </a:r>
            </a:p>
          </p:txBody>
        </p:sp>
        <p:sp>
          <p:nvSpPr>
            <p:cNvPr id="623" name="Text Box 338">
              <a:extLst>
                <a:ext uri="{FF2B5EF4-FFF2-40B4-BE49-F238E27FC236}">
                  <a16:creationId xmlns:a16="http://schemas.microsoft.com/office/drawing/2014/main" xmlns="" id="{05367630-23E9-2744-A1A7-0C85EC93DB37}"/>
                </a:ext>
              </a:extLst>
            </p:cNvPr>
            <p:cNvSpPr txBox="1">
              <a:spLocks noChangeArrowheads="1"/>
            </p:cNvSpPr>
            <p:nvPr/>
          </p:nvSpPr>
          <p:spPr bwMode="auto">
            <a:xfrm rot="16200000">
              <a:off x="1416844" y="2334262"/>
              <a:ext cx="808038"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800" kern="1200" dirty="0">
                  <a:solidFill>
                    <a:srgbClr val="000000"/>
                  </a:solidFill>
                  <a:latin typeface="Symbol" charset="0"/>
                  <a:cs typeface="+mn-cs"/>
                </a:rPr>
                <a:t>l</a:t>
              </a:r>
              <a:r>
                <a:rPr lang="en-US" sz="1800" kern="1200" baseline="-25000" dirty="0">
                  <a:solidFill>
                    <a:srgbClr val="000000"/>
                  </a:solidFill>
                  <a:latin typeface="Arial" charset="0"/>
                  <a:cs typeface="+mn-cs"/>
                </a:rPr>
                <a:t>out</a:t>
              </a:r>
            </a:p>
          </p:txBody>
        </p:sp>
        <p:sp>
          <p:nvSpPr>
            <p:cNvPr id="624" name="Text Box 339">
              <a:extLst>
                <a:ext uri="{FF2B5EF4-FFF2-40B4-BE49-F238E27FC236}">
                  <a16:creationId xmlns:a16="http://schemas.microsoft.com/office/drawing/2014/main" xmlns="" id="{5131AB9A-BD62-7E48-B700-9F673321A2AA}"/>
                </a:ext>
              </a:extLst>
            </p:cNvPr>
            <p:cNvSpPr txBox="1">
              <a:spLocks noChangeArrowheads="1"/>
            </p:cNvSpPr>
            <p:nvPr/>
          </p:nvSpPr>
          <p:spPr bwMode="auto">
            <a:xfrm>
              <a:off x="2826223" y="3343275"/>
              <a:ext cx="624530" cy="4924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rtl="0" eaLnBrk="0" fontAlgn="base" hangingPunct="0">
                <a:spcBef>
                  <a:spcPct val="0"/>
                </a:spcBef>
                <a:spcAft>
                  <a:spcPct val="0"/>
                </a:spcAft>
                <a:defRPr/>
              </a:pPr>
              <a:r>
                <a:rPr lang="en-US" altLang="en-US" sz="1800" kern="1200" dirty="0">
                  <a:solidFill>
                    <a:srgbClr val="000000"/>
                  </a:solidFill>
                  <a:latin typeface="Symbol" pitchFamily="2" charset="2"/>
                  <a:cs typeface="+mn-cs"/>
                </a:rPr>
                <a:t>l</a:t>
              </a:r>
              <a:r>
                <a:rPr lang="en-US" altLang="en-US" sz="1800" kern="1200" baseline="-25000" dirty="0">
                  <a:solidFill>
                    <a:srgbClr val="000000"/>
                  </a:solidFill>
                  <a:latin typeface="Arial" panose="020B0604020202020204" pitchFamily="34" charset="0"/>
                  <a:cs typeface="+mn-cs"/>
                </a:rPr>
                <a:t>in</a:t>
              </a:r>
              <a:r>
                <a:rPr lang="en-US" altLang="ja-JP" sz="1800" kern="1200" baseline="30000" dirty="0">
                  <a:solidFill>
                    <a:srgbClr val="000000"/>
                  </a:solidFill>
                  <a:latin typeface="Calibri" panose="020F0502020204030204"/>
                  <a:cs typeface="+mn-cs"/>
                </a:rPr>
                <a:t>’</a:t>
              </a:r>
              <a:endParaRPr lang="en-US" altLang="en-US" sz="1800" kern="1200" baseline="30000" dirty="0">
                <a:solidFill>
                  <a:srgbClr val="000000"/>
                </a:solidFill>
                <a:latin typeface="Calibri" panose="020F0502020204030204"/>
                <a:cs typeface="+mn-cs"/>
              </a:endParaRPr>
            </a:p>
          </p:txBody>
        </p:sp>
      </p:grpSp>
    </p:spTree>
    <p:extLst>
      <p:ext uri="{BB962C8B-B14F-4D97-AF65-F5344CB8AC3E}">
        <p14:creationId xmlns:p14="http://schemas.microsoft.com/office/powerpoint/2010/main" val="4282205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63038"/>
            <a:ext cx="8545512" cy="669925"/>
          </a:xfrm>
        </p:spPr>
        <p:txBody>
          <a:bodyPr>
            <a:normAutofit/>
          </a:bodyPr>
          <a:lstStyle/>
          <a:p>
            <a:r>
              <a:rPr lang="en-US" sz="4000" b="1"/>
              <a:t>Causes/costs of congestion: insights</a:t>
            </a:r>
            <a:endParaRPr lang="en-US" sz="4000" b="1" dirty="0"/>
          </a:p>
        </p:txBody>
      </p:sp>
      <p:grpSp>
        <p:nvGrpSpPr>
          <p:cNvPr id="10" name="Group 9">
            <a:extLst>
              <a:ext uri="{FF2B5EF4-FFF2-40B4-BE49-F238E27FC236}">
                <a16:creationId xmlns:a16="http://schemas.microsoft.com/office/drawing/2014/main" xmlns="" id="{C64ABAFB-5459-F446-A0AC-48FC5C1C05E1}"/>
              </a:ext>
            </a:extLst>
          </p:cNvPr>
          <p:cNvGrpSpPr/>
          <p:nvPr/>
        </p:nvGrpSpPr>
        <p:grpSpPr>
          <a:xfrm>
            <a:off x="790575" y="3889272"/>
            <a:ext cx="6315076" cy="1002276"/>
            <a:chOff x="1054099" y="4728508"/>
            <a:chExt cx="8420101" cy="1336368"/>
          </a:xfrm>
        </p:grpSpPr>
        <p:sp>
          <p:nvSpPr>
            <p:cNvPr id="470" name="Rectangle 3">
              <a:extLst>
                <a:ext uri="{FF2B5EF4-FFF2-40B4-BE49-F238E27FC236}">
                  <a16:creationId xmlns:a16="http://schemas.microsoft.com/office/drawing/2014/main" xmlns="" id="{B3E01DA9-25FD-B546-AB8A-84DD037548D3}"/>
                </a:ext>
              </a:extLst>
            </p:cNvPr>
            <p:cNvSpPr>
              <a:spLocks noChangeArrowheads="1"/>
            </p:cNvSpPr>
            <p:nvPr/>
          </p:nvSpPr>
          <p:spPr bwMode="auto">
            <a:xfrm>
              <a:off x="1206500" y="5114925"/>
              <a:ext cx="8267700" cy="40957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2" name="Rectangle 4">
              <a:extLst>
                <a:ext uri="{FF2B5EF4-FFF2-40B4-BE49-F238E27FC236}">
                  <a16:creationId xmlns:a16="http://schemas.microsoft.com/office/drawing/2014/main" xmlns="" id="{E62417CD-29D3-4540-95AB-DBD339E4A56F}"/>
                </a:ext>
              </a:extLst>
            </p:cNvPr>
            <p:cNvSpPr>
              <a:spLocks noChangeArrowheads="1"/>
            </p:cNvSpPr>
            <p:nvPr/>
          </p:nvSpPr>
          <p:spPr bwMode="auto">
            <a:xfrm>
              <a:off x="1054099" y="4926013"/>
              <a:ext cx="6735751" cy="808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ja-JP" sz="2100" kern="1200" dirty="0">
                  <a:solidFill>
                    <a:srgbClr val="000000"/>
                  </a:solidFill>
                  <a:latin typeface="Calibri" panose="020F0502020204030204"/>
                  <a:cs typeface="+mn-cs"/>
                </a:rPr>
                <a:t>upstream transmission capacity / buffering wasted for packets lost downstream</a:t>
              </a:r>
              <a:endParaRPr lang="en-US" altLang="en-US" sz="2100" kern="1200" dirty="0">
                <a:solidFill>
                  <a:srgbClr val="000000"/>
                </a:solidFill>
                <a:latin typeface="Calibri" panose="020F0502020204030204"/>
                <a:cs typeface="+mn-cs"/>
              </a:endParaRPr>
            </a:p>
          </p:txBody>
        </p:sp>
        <p:pic>
          <p:nvPicPr>
            <p:cNvPr id="3" name="Picture 2">
              <a:extLst>
                <a:ext uri="{FF2B5EF4-FFF2-40B4-BE49-F238E27FC236}">
                  <a16:creationId xmlns:a16="http://schemas.microsoft.com/office/drawing/2014/main" xmlns="" id="{497D00A8-A6C2-354A-9DB9-EE706DA9DEDB}"/>
                </a:ext>
              </a:extLst>
            </p:cNvPr>
            <p:cNvPicPr>
              <a:picLocks noChangeAspect="1"/>
            </p:cNvPicPr>
            <p:nvPr/>
          </p:nvPicPr>
          <p:blipFill>
            <a:blip r:embed="rId3"/>
            <a:stretch>
              <a:fillRect/>
            </a:stretch>
          </p:blipFill>
          <p:spPr>
            <a:xfrm>
              <a:off x="7734126" y="4728508"/>
              <a:ext cx="1657096" cy="1336368"/>
            </a:xfrm>
            <a:prstGeom prst="rect">
              <a:avLst/>
            </a:prstGeom>
          </p:spPr>
        </p:pic>
      </p:grpSp>
      <p:grpSp>
        <p:nvGrpSpPr>
          <p:cNvPr id="13" name="Group 12">
            <a:extLst>
              <a:ext uri="{FF2B5EF4-FFF2-40B4-BE49-F238E27FC236}">
                <a16:creationId xmlns:a16="http://schemas.microsoft.com/office/drawing/2014/main" xmlns="" id="{77E4D1E4-3EEB-4E4B-8616-C6D7345EBEEE}"/>
              </a:ext>
            </a:extLst>
          </p:cNvPr>
          <p:cNvGrpSpPr/>
          <p:nvPr/>
        </p:nvGrpSpPr>
        <p:grpSpPr>
          <a:xfrm>
            <a:off x="771525" y="1539018"/>
            <a:ext cx="7560551" cy="1001092"/>
            <a:chOff x="1028700" y="1860299"/>
            <a:chExt cx="10080734" cy="1334789"/>
          </a:xfrm>
        </p:grpSpPr>
        <p:sp>
          <p:nvSpPr>
            <p:cNvPr id="129" name="Rectangle 4">
              <a:extLst>
                <a:ext uri="{FF2B5EF4-FFF2-40B4-BE49-F238E27FC236}">
                  <a16:creationId xmlns:a16="http://schemas.microsoft.com/office/drawing/2014/main" xmlns="" id="{C8DF44BF-39DD-7A44-89E8-80E5392BB02F}"/>
                </a:ext>
              </a:extLst>
            </p:cNvPr>
            <p:cNvSpPr>
              <a:spLocks noChangeArrowheads="1"/>
            </p:cNvSpPr>
            <p:nvPr/>
          </p:nvSpPr>
          <p:spPr bwMode="auto">
            <a:xfrm>
              <a:off x="1028700" y="2139156"/>
              <a:ext cx="10080734" cy="4714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en-US" sz="2100" kern="1200" dirty="0">
                  <a:solidFill>
                    <a:srgbClr val="000000"/>
                  </a:solidFill>
                  <a:latin typeface="Calibri" panose="020F0502020204030204"/>
                  <a:cs typeface="+mn-cs"/>
                </a:rPr>
                <a:t>delay increases as capacity approached </a:t>
              </a:r>
            </a:p>
          </p:txBody>
        </p:sp>
        <p:pic>
          <p:nvPicPr>
            <p:cNvPr id="9" name="Picture 8">
              <a:extLst>
                <a:ext uri="{FF2B5EF4-FFF2-40B4-BE49-F238E27FC236}">
                  <a16:creationId xmlns:a16="http://schemas.microsoft.com/office/drawing/2014/main" xmlns="" id="{B3BC8354-A522-CA41-8AD1-6483FE2E7AA3}"/>
                </a:ext>
              </a:extLst>
            </p:cNvPr>
            <p:cNvPicPr>
              <a:picLocks noChangeAspect="1"/>
            </p:cNvPicPr>
            <p:nvPr/>
          </p:nvPicPr>
          <p:blipFill>
            <a:blip r:embed="rId4"/>
            <a:stretch>
              <a:fillRect/>
            </a:stretch>
          </p:blipFill>
          <p:spPr>
            <a:xfrm>
              <a:off x="9451601" y="1860299"/>
              <a:ext cx="1402990" cy="1334789"/>
            </a:xfrm>
            <a:prstGeom prst="rect">
              <a:avLst/>
            </a:prstGeom>
          </p:spPr>
        </p:pic>
      </p:grpSp>
      <p:grpSp>
        <p:nvGrpSpPr>
          <p:cNvPr id="18" name="Group 17">
            <a:extLst>
              <a:ext uri="{FF2B5EF4-FFF2-40B4-BE49-F238E27FC236}">
                <a16:creationId xmlns:a16="http://schemas.microsoft.com/office/drawing/2014/main" xmlns="" id="{A3D27AAF-A2F5-E143-ACD8-97D841F75BBA}"/>
              </a:ext>
            </a:extLst>
          </p:cNvPr>
          <p:cNvGrpSpPr/>
          <p:nvPr/>
        </p:nvGrpSpPr>
        <p:grpSpPr>
          <a:xfrm>
            <a:off x="781050" y="3125803"/>
            <a:ext cx="7464103" cy="1097281"/>
            <a:chOff x="1041400" y="4167737"/>
            <a:chExt cx="9952137" cy="1463041"/>
          </a:xfrm>
        </p:grpSpPr>
        <p:sp>
          <p:nvSpPr>
            <p:cNvPr id="131" name="Rectangle 4">
              <a:extLst>
                <a:ext uri="{FF2B5EF4-FFF2-40B4-BE49-F238E27FC236}">
                  <a16:creationId xmlns:a16="http://schemas.microsoft.com/office/drawing/2014/main" xmlns="" id="{E69E1480-29A3-FC40-B2EA-9D31AA40C563}"/>
                </a:ext>
              </a:extLst>
            </p:cNvPr>
            <p:cNvSpPr>
              <a:spLocks noChangeArrowheads="1"/>
            </p:cNvSpPr>
            <p:nvPr/>
          </p:nvSpPr>
          <p:spPr bwMode="auto">
            <a:xfrm>
              <a:off x="1041400" y="4352873"/>
              <a:ext cx="6769100" cy="76227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en-US" sz="2100" kern="1200" dirty="0">
                  <a:solidFill>
                    <a:srgbClr val="000000"/>
                  </a:solidFill>
                  <a:latin typeface="Calibri" panose="020F0502020204030204"/>
                  <a:cs typeface="+mn-cs"/>
                </a:rPr>
                <a:t>un-needed duplicates further decreases effective throughput</a:t>
              </a:r>
            </a:p>
          </p:txBody>
        </p:sp>
        <p:pic>
          <p:nvPicPr>
            <p:cNvPr id="14" name="Picture 13">
              <a:extLst>
                <a:ext uri="{FF2B5EF4-FFF2-40B4-BE49-F238E27FC236}">
                  <a16:creationId xmlns:a16="http://schemas.microsoft.com/office/drawing/2014/main" xmlns="" id="{0C8C9A99-D0A4-9E4A-AD6A-0403159B3DB3}"/>
                </a:ext>
              </a:extLst>
            </p:cNvPr>
            <p:cNvPicPr>
              <a:picLocks noChangeAspect="1"/>
            </p:cNvPicPr>
            <p:nvPr/>
          </p:nvPicPr>
          <p:blipFill>
            <a:blip r:embed="rId5"/>
            <a:stretch>
              <a:fillRect/>
            </a:stretch>
          </p:blipFill>
          <p:spPr>
            <a:xfrm>
              <a:off x="9364995" y="4167737"/>
              <a:ext cx="1628542" cy="1463041"/>
            </a:xfrm>
            <a:prstGeom prst="rect">
              <a:avLst/>
            </a:prstGeom>
          </p:spPr>
        </p:pic>
      </p:grpSp>
      <p:grpSp>
        <p:nvGrpSpPr>
          <p:cNvPr id="17" name="Group 16">
            <a:extLst>
              <a:ext uri="{FF2B5EF4-FFF2-40B4-BE49-F238E27FC236}">
                <a16:creationId xmlns:a16="http://schemas.microsoft.com/office/drawing/2014/main" xmlns="" id="{25331F8E-78B4-5E4D-9E14-918B774CF79B}"/>
              </a:ext>
            </a:extLst>
          </p:cNvPr>
          <p:cNvGrpSpPr/>
          <p:nvPr/>
        </p:nvGrpSpPr>
        <p:grpSpPr>
          <a:xfrm>
            <a:off x="781050" y="2237873"/>
            <a:ext cx="6225840" cy="1085650"/>
            <a:chOff x="1041400" y="2983830"/>
            <a:chExt cx="8301120" cy="1447533"/>
          </a:xfrm>
        </p:grpSpPr>
        <p:sp>
          <p:nvSpPr>
            <p:cNvPr id="130" name="Rectangle 4">
              <a:extLst>
                <a:ext uri="{FF2B5EF4-FFF2-40B4-BE49-F238E27FC236}">
                  <a16:creationId xmlns:a16="http://schemas.microsoft.com/office/drawing/2014/main" xmlns="" id="{E0B74A1B-74C4-184F-94CC-A99D0D2E3668}"/>
                </a:ext>
              </a:extLst>
            </p:cNvPr>
            <p:cNvSpPr>
              <a:spLocks noChangeArrowheads="1"/>
            </p:cNvSpPr>
            <p:nvPr/>
          </p:nvSpPr>
          <p:spPr bwMode="auto">
            <a:xfrm>
              <a:off x="1041400" y="3256108"/>
              <a:ext cx="6332794" cy="42725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en-US" sz="2100" kern="1200" dirty="0">
                  <a:solidFill>
                    <a:srgbClr val="000000"/>
                  </a:solidFill>
                  <a:latin typeface="Calibri" panose="020F0502020204030204"/>
                  <a:cs typeface="+mn-cs"/>
                </a:rPr>
                <a:t>loss/retransmission decreases effective throughput</a:t>
              </a:r>
            </a:p>
          </p:txBody>
        </p:sp>
        <p:pic>
          <p:nvPicPr>
            <p:cNvPr id="16" name="Picture 15">
              <a:extLst>
                <a:ext uri="{FF2B5EF4-FFF2-40B4-BE49-F238E27FC236}">
                  <a16:creationId xmlns:a16="http://schemas.microsoft.com/office/drawing/2014/main" xmlns="" id="{B0F0FCDE-CAF5-4C40-A5A2-D21059E4F26A}"/>
                </a:ext>
              </a:extLst>
            </p:cNvPr>
            <p:cNvPicPr>
              <a:picLocks noChangeAspect="1"/>
            </p:cNvPicPr>
            <p:nvPr/>
          </p:nvPicPr>
          <p:blipFill>
            <a:blip r:embed="rId6"/>
            <a:stretch>
              <a:fillRect/>
            </a:stretch>
          </p:blipFill>
          <p:spPr>
            <a:xfrm>
              <a:off x="7723915" y="2983830"/>
              <a:ext cx="1618605" cy="1447533"/>
            </a:xfrm>
            <a:prstGeom prst="rect">
              <a:avLst/>
            </a:prstGeom>
          </p:spPr>
        </p:pic>
      </p:grpSp>
      <p:grpSp>
        <p:nvGrpSpPr>
          <p:cNvPr id="20" name="Group 19">
            <a:extLst>
              <a:ext uri="{FF2B5EF4-FFF2-40B4-BE49-F238E27FC236}">
                <a16:creationId xmlns:a16="http://schemas.microsoft.com/office/drawing/2014/main" xmlns="" id="{1F7EFD51-4F3D-7A4D-8E82-A230AAE12880}"/>
              </a:ext>
            </a:extLst>
          </p:cNvPr>
          <p:cNvGrpSpPr/>
          <p:nvPr/>
        </p:nvGrpSpPr>
        <p:grpSpPr>
          <a:xfrm>
            <a:off x="781051" y="892586"/>
            <a:ext cx="6158111" cy="997862"/>
            <a:chOff x="1041400" y="1190115"/>
            <a:chExt cx="8210815" cy="1330482"/>
          </a:xfrm>
        </p:grpSpPr>
        <p:sp>
          <p:nvSpPr>
            <p:cNvPr id="471" name="Rectangle 4">
              <a:extLst>
                <a:ext uri="{FF2B5EF4-FFF2-40B4-BE49-F238E27FC236}">
                  <a16:creationId xmlns:a16="http://schemas.microsoft.com/office/drawing/2014/main" xmlns="" id="{50204642-54CB-0C46-8699-863901641A9F}"/>
                </a:ext>
              </a:extLst>
            </p:cNvPr>
            <p:cNvSpPr>
              <a:spLocks noChangeArrowheads="1"/>
            </p:cNvSpPr>
            <p:nvPr/>
          </p:nvSpPr>
          <p:spPr bwMode="auto">
            <a:xfrm>
              <a:off x="1041400" y="1395413"/>
              <a:ext cx="6538912" cy="4714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l" defTabSz="685800" rtl="0" eaLnBrk="0" fontAlgn="base" hangingPunct="0">
                <a:lnSpc>
                  <a:spcPct val="85000"/>
                </a:lnSpc>
                <a:spcBef>
                  <a:spcPct val="20000"/>
                </a:spcBef>
                <a:spcAft>
                  <a:spcPct val="0"/>
                </a:spcAft>
                <a:buClr>
                  <a:srgbClr val="000099"/>
                </a:buClr>
                <a:buSzPct val="100000"/>
                <a:buFont typeface="Wingdings" pitchFamily="2" charset="2"/>
                <a:buChar char="§"/>
                <a:defRPr/>
              </a:pPr>
              <a:r>
                <a:rPr lang="en-US" altLang="en-US" sz="2100" kern="1200" dirty="0">
                  <a:solidFill>
                    <a:srgbClr val="000000"/>
                  </a:solidFill>
                  <a:latin typeface="Calibri" panose="020F0502020204030204"/>
                  <a:cs typeface="+mn-cs"/>
                </a:rPr>
                <a:t>throughput can never exceed capacity </a:t>
              </a:r>
            </a:p>
          </p:txBody>
        </p:sp>
        <p:pic>
          <p:nvPicPr>
            <p:cNvPr id="19" name="Picture 18">
              <a:extLst>
                <a:ext uri="{FF2B5EF4-FFF2-40B4-BE49-F238E27FC236}">
                  <a16:creationId xmlns:a16="http://schemas.microsoft.com/office/drawing/2014/main" xmlns="" id="{C7DCF390-386B-AE45-BE92-F53BE11B8376}"/>
                </a:ext>
              </a:extLst>
            </p:cNvPr>
            <p:cNvPicPr>
              <a:picLocks noChangeAspect="1"/>
            </p:cNvPicPr>
            <p:nvPr/>
          </p:nvPicPr>
          <p:blipFill>
            <a:blip r:embed="rId7"/>
            <a:stretch>
              <a:fillRect/>
            </a:stretch>
          </p:blipFill>
          <p:spPr>
            <a:xfrm>
              <a:off x="7729084" y="1190115"/>
              <a:ext cx="1523131" cy="1330482"/>
            </a:xfrm>
            <a:prstGeom prst="rect">
              <a:avLst/>
            </a:prstGeom>
          </p:spPr>
        </p:pic>
      </p:grpSp>
    </p:spTree>
    <p:extLst>
      <p:ext uri="{BB962C8B-B14F-4D97-AF65-F5344CB8AC3E}">
        <p14:creationId xmlns:p14="http://schemas.microsoft.com/office/powerpoint/2010/main" val="6917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 name="Group 176">
            <a:extLst>
              <a:ext uri="{FF2B5EF4-FFF2-40B4-BE49-F238E27FC236}">
                <a16:creationId xmlns:a16="http://schemas.microsoft.com/office/drawing/2014/main" xmlns="" id="{06DD7C50-58C4-B34F-A819-0EADD89C2A37}"/>
              </a:ext>
            </a:extLst>
          </p:cNvPr>
          <p:cNvGrpSpPr/>
          <p:nvPr/>
        </p:nvGrpSpPr>
        <p:grpSpPr>
          <a:xfrm>
            <a:off x="7857686" y="1776491"/>
            <a:ext cx="538401" cy="865856"/>
            <a:chOff x="7664720" y="2795550"/>
            <a:chExt cx="717868" cy="1154474"/>
          </a:xfrm>
        </p:grpSpPr>
        <p:sp>
          <p:nvSpPr>
            <p:cNvPr id="178" name="Rectangle 177">
              <a:extLst>
                <a:ext uri="{FF2B5EF4-FFF2-40B4-BE49-F238E27FC236}">
                  <a16:creationId xmlns:a16="http://schemas.microsoft.com/office/drawing/2014/main" xmlns="" id="{F52B9B30-D973-4342-9353-3C55976BEB6A}"/>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79" name="Straight Connector 178">
              <a:extLst>
                <a:ext uri="{FF2B5EF4-FFF2-40B4-BE49-F238E27FC236}">
                  <a16:creationId xmlns:a16="http://schemas.microsoft.com/office/drawing/2014/main" xmlns="" id="{224EADA8-9231-C54D-B660-93136571FE3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xmlns="" id="{EB564AD7-6052-D74E-AFB8-443721B0BA8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xmlns="" id="{BC030439-89A7-D141-93A0-55E98A03659C}"/>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xmlns="" id="{A29CBFF5-3970-894F-B8C7-846B6CF65EF2}"/>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Freeform 270">
            <a:extLst>
              <a:ext uri="{FF2B5EF4-FFF2-40B4-BE49-F238E27FC236}">
                <a16:creationId xmlns:a16="http://schemas.microsoft.com/office/drawing/2014/main" xmlns="" id="{CE7C7371-97B5-C346-A95F-94B2CF95CEF8}"/>
              </a:ext>
            </a:extLst>
          </p:cNvPr>
          <p:cNvSpPr>
            <a:spLocks/>
          </p:cNvSpPr>
          <p:nvPr/>
        </p:nvSpPr>
        <p:spPr bwMode="auto">
          <a:xfrm flipH="1">
            <a:off x="5107550" y="1728787"/>
            <a:ext cx="188119" cy="901304"/>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34" name="Group 354">
            <a:extLst>
              <a:ext uri="{FF2B5EF4-FFF2-40B4-BE49-F238E27FC236}">
                <a16:creationId xmlns:a16="http://schemas.microsoft.com/office/drawing/2014/main" xmlns="" id="{1BCC2894-BF9B-8F46-AA42-B55DC303E1A8}"/>
              </a:ext>
            </a:extLst>
          </p:cNvPr>
          <p:cNvGrpSpPr>
            <a:grpSpLocks/>
          </p:cNvGrpSpPr>
          <p:nvPr/>
        </p:nvGrpSpPr>
        <p:grpSpPr bwMode="auto">
          <a:xfrm>
            <a:off x="4803940" y="2432448"/>
            <a:ext cx="394097" cy="326231"/>
            <a:chOff x="-44" y="1473"/>
            <a:chExt cx="981" cy="1105"/>
          </a:xfrm>
        </p:grpSpPr>
        <p:pic>
          <p:nvPicPr>
            <p:cNvPr id="135" name="Picture 355" descr="desktop_computer_stylized_medium">
              <a:extLst>
                <a:ext uri="{FF2B5EF4-FFF2-40B4-BE49-F238E27FC236}">
                  <a16:creationId xmlns:a16="http://schemas.microsoft.com/office/drawing/2014/main" xmlns="" id="{3E99589F-1E40-7C43-B8AA-5029A4A263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Freeform 356">
              <a:extLst>
                <a:ext uri="{FF2B5EF4-FFF2-40B4-BE49-F238E27FC236}">
                  <a16:creationId xmlns:a16="http://schemas.microsoft.com/office/drawing/2014/main" xmlns="" id="{B3DD6BB4-576F-9148-8D11-578565B588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137" name="Group 136">
            <a:extLst>
              <a:ext uri="{FF2B5EF4-FFF2-40B4-BE49-F238E27FC236}">
                <a16:creationId xmlns:a16="http://schemas.microsoft.com/office/drawing/2014/main" xmlns="" id="{147F56F3-1CFD-5745-9F94-FFAF782BC64A}"/>
              </a:ext>
            </a:extLst>
          </p:cNvPr>
          <p:cNvGrpSpPr/>
          <p:nvPr/>
        </p:nvGrpSpPr>
        <p:grpSpPr>
          <a:xfrm>
            <a:off x="5283965" y="1771558"/>
            <a:ext cx="538401" cy="865856"/>
            <a:chOff x="7664720" y="2799688"/>
            <a:chExt cx="717868" cy="1154474"/>
          </a:xfrm>
        </p:grpSpPr>
        <p:sp>
          <p:nvSpPr>
            <p:cNvPr id="138" name="Rectangle 137">
              <a:extLst>
                <a:ext uri="{FF2B5EF4-FFF2-40B4-BE49-F238E27FC236}">
                  <a16:creationId xmlns:a16="http://schemas.microsoft.com/office/drawing/2014/main" xmlns="" id="{12A18A2C-071A-724E-ABAB-EE121ADBCB05}"/>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39" name="Straight Connector 138">
              <a:extLst>
                <a:ext uri="{FF2B5EF4-FFF2-40B4-BE49-F238E27FC236}">
                  <a16:creationId xmlns:a16="http://schemas.microsoft.com/office/drawing/2014/main" xmlns="" id="{5A246001-6FA7-F047-AECA-800C5A5F30CD}"/>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xmlns="" id="{F407FE2E-B4F8-E142-9856-65C553F4A8E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xmlns="" id="{0F241007-617C-9B47-BDCF-F85615C450A7}"/>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xmlns="" id="{2AB2A72B-F1C5-4049-8439-AABBF750CD86}"/>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289" name="Rectangle 3">
            <a:extLst>
              <a:ext uri="{FF2B5EF4-FFF2-40B4-BE49-F238E27FC236}">
                <a16:creationId xmlns:a16="http://schemas.microsoft.com/office/drawing/2014/main" xmlns="" id="{D469BBE5-2D5E-1245-BE57-AED04CA89E18}"/>
              </a:ext>
            </a:extLst>
          </p:cNvPr>
          <p:cNvSpPr>
            <a:spLocks noGrp="1" noChangeArrowheads="1"/>
          </p:cNvSpPr>
          <p:nvPr>
            <p:ph idx="4294967295"/>
          </p:nvPr>
        </p:nvSpPr>
        <p:spPr>
          <a:xfrm>
            <a:off x="0" y="1454150"/>
            <a:ext cx="4171950" cy="1903413"/>
          </a:xfrm>
        </p:spPr>
        <p:txBody>
          <a:bodyPr>
            <a:normAutofit/>
          </a:bodyPr>
          <a:lstStyle/>
          <a:p>
            <a:pPr>
              <a:buFont typeface="Wingdings" charset="0"/>
              <a:buNone/>
              <a:defRPr/>
            </a:pPr>
            <a:r>
              <a:rPr lang="en-US" dirty="0">
                <a:solidFill>
                  <a:srgbClr val="C00000"/>
                </a:solidFill>
              </a:rPr>
              <a:t>E</a:t>
            </a:r>
            <a:r>
              <a:rPr lang="en-US" dirty="0">
                <a:solidFill>
                  <a:srgbClr val="C00000"/>
                </a:solidFill>
                <a:cs typeface="+mn-cs"/>
              </a:rPr>
              <a:t>nd-end congestion control:</a:t>
            </a:r>
          </a:p>
          <a:p>
            <a:pPr marL="350044" indent="-252413">
              <a:defRPr/>
            </a:pPr>
            <a:r>
              <a:rPr lang="en-US" dirty="0"/>
              <a:t>no explicit feedback from network layer</a:t>
            </a:r>
          </a:p>
          <a:p>
            <a:pPr marL="350044" indent="-252413">
              <a:defRPr/>
            </a:pPr>
            <a:r>
              <a:rPr lang="en-US" dirty="0"/>
              <a:t>congestion </a:t>
            </a:r>
            <a:r>
              <a:rPr lang="en-US" i="1" dirty="0">
                <a:solidFill>
                  <a:srgbClr val="C00000"/>
                </a:solidFill>
              </a:rPr>
              <a:t>inferred</a:t>
            </a:r>
            <a:r>
              <a:rPr lang="en-US" dirty="0"/>
              <a:t> from observed loss, delay</a:t>
            </a:r>
          </a:p>
        </p:txBody>
      </p:sp>
      <p:sp>
        <p:nvSpPr>
          <p:cNvPr id="97284" name="Rectangle 2">
            <a:extLst>
              <a:ext uri="{FF2B5EF4-FFF2-40B4-BE49-F238E27FC236}">
                <a16:creationId xmlns:a16="http://schemas.microsoft.com/office/drawing/2014/main" xmlns="" id="{15E2A5A3-138A-0644-B40C-0B75A1130E15}"/>
              </a:ext>
            </a:extLst>
          </p:cNvPr>
          <p:cNvSpPr>
            <a:spLocks noGrp="1" noChangeArrowheads="1"/>
          </p:cNvSpPr>
          <p:nvPr>
            <p:ph type="title" idx="4294967295"/>
          </p:nvPr>
        </p:nvSpPr>
        <p:spPr>
          <a:xfrm>
            <a:off x="0" y="171450"/>
            <a:ext cx="8384150" cy="857250"/>
          </a:xfrm>
        </p:spPr>
        <p:txBody>
          <a:bodyPr>
            <a:noAutofit/>
          </a:bodyPr>
          <a:lstStyle/>
          <a:p>
            <a:pPr>
              <a:defRPr/>
            </a:pPr>
            <a:r>
              <a:rPr lang="en-US" sz="4000" b="1" dirty="0"/>
              <a:t>Approaches towards congestion control</a:t>
            </a:r>
            <a:endParaRPr lang="en-US" sz="4000" b="1" dirty="0">
              <a:cs typeface="+mj-cs"/>
            </a:endParaRPr>
          </a:p>
        </p:txBody>
      </p:sp>
      <p:sp>
        <p:nvSpPr>
          <p:cNvPr id="15" name="Freeform 2">
            <a:extLst>
              <a:ext uri="{FF2B5EF4-FFF2-40B4-BE49-F238E27FC236}">
                <a16:creationId xmlns:a16="http://schemas.microsoft.com/office/drawing/2014/main" xmlns="" id="{152A9AF6-236E-E947-A90D-95476DF178A8}"/>
              </a:ext>
            </a:extLst>
          </p:cNvPr>
          <p:cNvSpPr>
            <a:spLocks/>
          </p:cNvSpPr>
          <p:nvPr/>
        </p:nvSpPr>
        <p:spPr bwMode="auto">
          <a:xfrm>
            <a:off x="5756939" y="2594299"/>
            <a:ext cx="2136653" cy="1110680"/>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6" name="Freeform 6">
            <a:extLst>
              <a:ext uri="{FF2B5EF4-FFF2-40B4-BE49-F238E27FC236}">
                <a16:creationId xmlns:a16="http://schemas.microsoft.com/office/drawing/2014/main" xmlns="" id="{57E9EEA9-F362-5541-9FCC-5483A233137E}"/>
              </a:ext>
            </a:extLst>
          </p:cNvPr>
          <p:cNvSpPr>
            <a:spLocks/>
          </p:cNvSpPr>
          <p:nvPr/>
        </p:nvSpPr>
        <p:spPr bwMode="auto">
          <a:xfrm>
            <a:off x="6235720" y="2821674"/>
            <a:ext cx="407322" cy="221422"/>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7" name="Freeform 91">
            <a:extLst>
              <a:ext uri="{FF2B5EF4-FFF2-40B4-BE49-F238E27FC236}">
                <a16:creationId xmlns:a16="http://schemas.microsoft.com/office/drawing/2014/main" xmlns="" id="{E427D45F-306D-1B44-BF5E-891FCB01E246}"/>
              </a:ext>
            </a:extLst>
          </p:cNvPr>
          <p:cNvSpPr>
            <a:spLocks/>
          </p:cNvSpPr>
          <p:nvPr/>
        </p:nvSpPr>
        <p:spPr bwMode="auto">
          <a:xfrm>
            <a:off x="7017016" y="2816912"/>
            <a:ext cx="378738" cy="23094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8" name="Freeform 92">
            <a:extLst>
              <a:ext uri="{FF2B5EF4-FFF2-40B4-BE49-F238E27FC236}">
                <a16:creationId xmlns:a16="http://schemas.microsoft.com/office/drawing/2014/main" xmlns="" id="{F209776F-AA9D-E941-ADBB-CB44422BD081}"/>
              </a:ext>
            </a:extLst>
          </p:cNvPr>
          <p:cNvSpPr>
            <a:spLocks/>
          </p:cNvSpPr>
          <p:nvPr/>
        </p:nvSpPr>
        <p:spPr bwMode="auto">
          <a:xfrm>
            <a:off x="6217855" y="3110950"/>
            <a:ext cx="360873" cy="178566"/>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9" name="Freeform 93">
            <a:extLst>
              <a:ext uri="{FF2B5EF4-FFF2-40B4-BE49-F238E27FC236}">
                <a16:creationId xmlns:a16="http://schemas.microsoft.com/office/drawing/2014/main" xmlns="" id="{8B9D5253-F5A6-2746-81DB-996216E1FB97}"/>
              </a:ext>
            </a:extLst>
          </p:cNvPr>
          <p:cNvSpPr>
            <a:spLocks/>
          </p:cNvSpPr>
          <p:nvPr/>
        </p:nvSpPr>
        <p:spPr bwMode="auto">
          <a:xfrm>
            <a:off x="6928882" y="3093094"/>
            <a:ext cx="471636" cy="185708"/>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20" name="Freeform 94">
            <a:extLst>
              <a:ext uri="{FF2B5EF4-FFF2-40B4-BE49-F238E27FC236}">
                <a16:creationId xmlns:a16="http://schemas.microsoft.com/office/drawing/2014/main" xmlns="" id="{61F0A20F-097C-EA42-809A-3298AB6693B1}"/>
              </a:ext>
            </a:extLst>
          </p:cNvPr>
          <p:cNvSpPr>
            <a:spLocks/>
          </p:cNvSpPr>
          <p:nvPr/>
        </p:nvSpPr>
        <p:spPr bwMode="auto">
          <a:xfrm>
            <a:off x="7429102" y="3133568"/>
            <a:ext cx="154830" cy="38094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21" name="Freeform 95">
            <a:extLst>
              <a:ext uri="{FF2B5EF4-FFF2-40B4-BE49-F238E27FC236}">
                <a16:creationId xmlns:a16="http://schemas.microsoft.com/office/drawing/2014/main" xmlns="" id="{424EA790-DC83-AE41-B59F-CDBDBE0981CB}"/>
              </a:ext>
            </a:extLst>
          </p:cNvPr>
          <p:cNvSpPr>
            <a:spLocks/>
          </p:cNvSpPr>
          <p:nvPr/>
        </p:nvSpPr>
        <p:spPr bwMode="auto">
          <a:xfrm>
            <a:off x="6502504" y="3533556"/>
            <a:ext cx="552624" cy="5595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22" name="Freeform 96">
            <a:extLst>
              <a:ext uri="{FF2B5EF4-FFF2-40B4-BE49-F238E27FC236}">
                <a16:creationId xmlns:a16="http://schemas.microsoft.com/office/drawing/2014/main" xmlns="" id="{72EB3BD6-9F21-2342-8AED-3E9F67894AD9}"/>
              </a:ext>
            </a:extLst>
          </p:cNvPr>
          <p:cNvSpPr>
            <a:spLocks/>
          </p:cNvSpPr>
          <p:nvPr/>
        </p:nvSpPr>
        <p:spPr bwMode="auto">
          <a:xfrm>
            <a:off x="6099946" y="3128807"/>
            <a:ext cx="145302" cy="319037"/>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grpSp>
        <p:nvGrpSpPr>
          <p:cNvPr id="71" name="Group 70">
            <a:extLst>
              <a:ext uri="{FF2B5EF4-FFF2-40B4-BE49-F238E27FC236}">
                <a16:creationId xmlns:a16="http://schemas.microsoft.com/office/drawing/2014/main" xmlns="" id="{475DCF5F-4092-2C43-896B-19822B08E6B5}"/>
              </a:ext>
            </a:extLst>
          </p:cNvPr>
          <p:cNvGrpSpPr/>
          <p:nvPr/>
        </p:nvGrpSpPr>
        <p:grpSpPr>
          <a:xfrm>
            <a:off x="7289801" y="2959764"/>
            <a:ext cx="433524" cy="214280"/>
            <a:chOff x="7493876" y="2774731"/>
            <a:chExt cx="1481958" cy="894622"/>
          </a:xfrm>
        </p:grpSpPr>
        <p:sp>
          <p:nvSpPr>
            <p:cNvPr id="72" name="Freeform 71">
              <a:extLst>
                <a:ext uri="{FF2B5EF4-FFF2-40B4-BE49-F238E27FC236}">
                  <a16:creationId xmlns:a16="http://schemas.microsoft.com/office/drawing/2014/main" xmlns="" id="{318160F9-6FEC-9A43-8802-7C6CC98A3E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73" name="Oval 72">
              <a:extLst>
                <a:ext uri="{FF2B5EF4-FFF2-40B4-BE49-F238E27FC236}">
                  <a16:creationId xmlns:a16="http://schemas.microsoft.com/office/drawing/2014/main" xmlns="" id="{5375EF01-0290-9B47-8E36-E43DE1108F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74" name="Group 73">
              <a:extLst>
                <a:ext uri="{FF2B5EF4-FFF2-40B4-BE49-F238E27FC236}">
                  <a16:creationId xmlns:a16="http://schemas.microsoft.com/office/drawing/2014/main" xmlns="" id="{9B178D65-D230-EE4E-A397-C7BE84BE7B28}"/>
                </a:ext>
              </a:extLst>
            </p:cNvPr>
            <p:cNvGrpSpPr/>
            <p:nvPr/>
          </p:nvGrpSpPr>
          <p:grpSpPr>
            <a:xfrm>
              <a:off x="7713663" y="2848339"/>
              <a:ext cx="1042107" cy="425543"/>
              <a:chOff x="7786941" y="2884917"/>
              <a:chExt cx="897649" cy="353919"/>
            </a:xfrm>
          </p:grpSpPr>
          <p:sp>
            <p:nvSpPr>
              <p:cNvPr id="75" name="Freeform 74">
                <a:extLst>
                  <a:ext uri="{FF2B5EF4-FFF2-40B4-BE49-F238E27FC236}">
                    <a16:creationId xmlns:a16="http://schemas.microsoft.com/office/drawing/2014/main" xmlns="" id="{F6706B47-A3DA-2948-AE76-ECB82CD211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76" name="Freeform 75">
                <a:extLst>
                  <a:ext uri="{FF2B5EF4-FFF2-40B4-BE49-F238E27FC236}">
                    <a16:creationId xmlns:a16="http://schemas.microsoft.com/office/drawing/2014/main" xmlns="" id="{6997E8A2-E352-944A-9B99-BDEBAA2024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77" name="Freeform 76">
                <a:extLst>
                  <a:ext uri="{FF2B5EF4-FFF2-40B4-BE49-F238E27FC236}">
                    <a16:creationId xmlns:a16="http://schemas.microsoft.com/office/drawing/2014/main" xmlns="" id="{C5522D15-A640-D544-8C5A-740AB15174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78" name="Freeform 77">
                <a:extLst>
                  <a:ext uri="{FF2B5EF4-FFF2-40B4-BE49-F238E27FC236}">
                    <a16:creationId xmlns:a16="http://schemas.microsoft.com/office/drawing/2014/main" xmlns="" id="{0A657C9E-78AA-054A-8253-7E707F297A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79" name="Group 78">
            <a:extLst>
              <a:ext uri="{FF2B5EF4-FFF2-40B4-BE49-F238E27FC236}">
                <a16:creationId xmlns:a16="http://schemas.microsoft.com/office/drawing/2014/main" xmlns="" id="{0703BE46-EF6B-8F4F-8103-DB506FA237F8}"/>
              </a:ext>
            </a:extLst>
          </p:cNvPr>
          <p:cNvGrpSpPr/>
          <p:nvPr/>
        </p:nvGrpSpPr>
        <p:grpSpPr>
          <a:xfrm>
            <a:off x="7013705" y="3450084"/>
            <a:ext cx="433524" cy="214280"/>
            <a:chOff x="7493876" y="2774731"/>
            <a:chExt cx="1481958" cy="894622"/>
          </a:xfrm>
        </p:grpSpPr>
        <p:sp>
          <p:nvSpPr>
            <p:cNvPr id="80" name="Freeform 79">
              <a:extLst>
                <a:ext uri="{FF2B5EF4-FFF2-40B4-BE49-F238E27FC236}">
                  <a16:creationId xmlns:a16="http://schemas.microsoft.com/office/drawing/2014/main" xmlns="" id="{C93DB37A-DC30-7049-A906-DE4299FCFE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81" name="Oval 80">
              <a:extLst>
                <a:ext uri="{FF2B5EF4-FFF2-40B4-BE49-F238E27FC236}">
                  <a16:creationId xmlns:a16="http://schemas.microsoft.com/office/drawing/2014/main" xmlns="" id="{4D540D06-51B9-D24C-A5F5-D49982A086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82" name="Group 81">
              <a:extLst>
                <a:ext uri="{FF2B5EF4-FFF2-40B4-BE49-F238E27FC236}">
                  <a16:creationId xmlns:a16="http://schemas.microsoft.com/office/drawing/2014/main" xmlns="" id="{50B97449-7EBF-F346-9FFA-F3CB1C97A6B6}"/>
                </a:ext>
              </a:extLst>
            </p:cNvPr>
            <p:cNvGrpSpPr/>
            <p:nvPr/>
          </p:nvGrpSpPr>
          <p:grpSpPr>
            <a:xfrm>
              <a:off x="7713663" y="2848339"/>
              <a:ext cx="1042107" cy="425543"/>
              <a:chOff x="7786941" y="2884917"/>
              <a:chExt cx="897649" cy="353919"/>
            </a:xfrm>
          </p:grpSpPr>
          <p:sp>
            <p:nvSpPr>
              <p:cNvPr id="83" name="Freeform 82">
                <a:extLst>
                  <a:ext uri="{FF2B5EF4-FFF2-40B4-BE49-F238E27FC236}">
                    <a16:creationId xmlns:a16="http://schemas.microsoft.com/office/drawing/2014/main" xmlns="" id="{1A098066-DD0C-0547-8ABC-8D18EA23F16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84" name="Freeform 83">
                <a:extLst>
                  <a:ext uri="{FF2B5EF4-FFF2-40B4-BE49-F238E27FC236}">
                    <a16:creationId xmlns:a16="http://schemas.microsoft.com/office/drawing/2014/main" xmlns="" id="{54B9AE5D-1C6E-8747-BA6A-CE53FF8E91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85" name="Freeform 84">
                <a:extLst>
                  <a:ext uri="{FF2B5EF4-FFF2-40B4-BE49-F238E27FC236}">
                    <a16:creationId xmlns:a16="http://schemas.microsoft.com/office/drawing/2014/main" xmlns="" id="{D4A0CA9E-BE5A-D743-94BD-A9A3807788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86" name="Freeform 85">
                <a:extLst>
                  <a:ext uri="{FF2B5EF4-FFF2-40B4-BE49-F238E27FC236}">
                    <a16:creationId xmlns:a16="http://schemas.microsoft.com/office/drawing/2014/main" xmlns="" id="{208F4AD6-8E7A-EC46-8054-65F26912355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87" name="Group 86">
            <a:extLst>
              <a:ext uri="{FF2B5EF4-FFF2-40B4-BE49-F238E27FC236}">
                <a16:creationId xmlns:a16="http://schemas.microsoft.com/office/drawing/2014/main" xmlns="" id="{2174B89A-A569-2044-B74A-55933EDB42EC}"/>
              </a:ext>
            </a:extLst>
          </p:cNvPr>
          <p:cNvGrpSpPr/>
          <p:nvPr/>
        </p:nvGrpSpPr>
        <p:grpSpPr>
          <a:xfrm>
            <a:off x="6146349" y="3413582"/>
            <a:ext cx="433524" cy="214280"/>
            <a:chOff x="7493876" y="2774731"/>
            <a:chExt cx="1481958" cy="894622"/>
          </a:xfrm>
        </p:grpSpPr>
        <p:sp>
          <p:nvSpPr>
            <p:cNvPr id="88" name="Freeform 87">
              <a:extLst>
                <a:ext uri="{FF2B5EF4-FFF2-40B4-BE49-F238E27FC236}">
                  <a16:creationId xmlns:a16="http://schemas.microsoft.com/office/drawing/2014/main" xmlns="" id="{5E0F2D6A-4975-2240-9DBA-9752CDABCD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89" name="Oval 88">
              <a:extLst>
                <a:ext uri="{FF2B5EF4-FFF2-40B4-BE49-F238E27FC236}">
                  <a16:creationId xmlns:a16="http://schemas.microsoft.com/office/drawing/2014/main" xmlns="" id="{7671BCEE-CA54-2A42-97FC-01FA73F51C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90" name="Group 89">
              <a:extLst>
                <a:ext uri="{FF2B5EF4-FFF2-40B4-BE49-F238E27FC236}">
                  <a16:creationId xmlns:a16="http://schemas.microsoft.com/office/drawing/2014/main" xmlns="" id="{BB74E383-7E77-2E4D-BBB3-C0CB1C080B5D}"/>
                </a:ext>
              </a:extLst>
            </p:cNvPr>
            <p:cNvGrpSpPr/>
            <p:nvPr/>
          </p:nvGrpSpPr>
          <p:grpSpPr>
            <a:xfrm>
              <a:off x="7713663" y="2848339"/>
              <a:ext cx="1042107" cy="425543"/>
              <a:chOff x="7786941" y="2884917"/>
              <a:chExt cx="897649" cy="353919"/>
            </a:xfrm>
          </p:grpSpPr>
          <p:sp>
            <p:nvSpPr>
              <p:cNvPr id="91" name="Freeform 90">
                <a:extLst>
                  <a:ext uri="{FF2B5EF4-FFF2-40B4-BE49-F238E27FC236}">
                    <a16:creationId xmlns:a16="http://schemas.microsoft.com/office/drawing/2014/main" xmlns="" id="{23C2C74B-BD87-0F41-9E97-2D6D70231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92" name="Freeform 91">
                <a:extLst>
                  <a:ext uri="{FF2B5EF4-FFF2-40B4-BE49-F238E27FC236}">
                    <a16:creationId xmlns:a16="http://schemas.microsoft.com/office/drawing/2014/main" xmlns="" id="{F9A726BB-74B1-444A-9200-225EE583E8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93" name="Freeform 92">
                <a:extLst>
                  <a:ext uri="{FF2B5EF4-FFF2-40B4-BE49-F238E27FC236}">
                    <a16:creationId xmlns:a16="http://schemas.microsoft.com/office/drawing/2014/main" xmlns="" id="{480EBF5E-6B8D-F547-BD3C-56A7E685D3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94" name="Freeform 93">
                <a:extLst>
                  <a:ext uri="{FF2B5EF4-FFF2-40B4-BE49-F238E27FC236}">
                    <a16:creationId xmlns:a16="http://schemas.microsoft.com/office/drawing/2014/main" xmlns="" id="{BD8743C8-69EE-7C4B-AAD2-C758A3F1F9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95" name="Group 94">
            <a:extLst>
              <a:ext uri="{FF2B5EF4-FFF2-40B4-BE49-F238E27FC236}">
                <a16:creationId xmlns:a16="http://schemas.microsoft.com/office/drawing/2014/main" xmlns="" id="{5E3371FA-1B37-E043-BBA9-FBAEC0EF06BB}"/>
              </a:ext>
            </a:extLst>
          </p:cNvPr>
          <p:cNvGrpSpPr/>
          <p:nvPr/>
        </p:nvGrpSpPr>
        <p:grpSpPr>
          <a:xfrm>
            <a:off x="6600474" y="2727033"/>
            <a:ext cx="433524" cy="214280"/>
            <a:chOff x="7493876" y="2774731"/>
            <a:chExt cx="1481958" cy="894622"/>
          </a:xfrm>
        </p:grpSpPr>
        <p:sp>
          <p:nvSpPr>
            <p:cNvPr id="96" name="Freeform 95">
              <a:extLst>
                <a:ext uri="{FF2B5EF4-FFF2-40B4-BE49-F238E27FC236}">
                  <a16:creationId xmlns:a16="http://schemas.microsoft.com/office/drawing/2014/main" xmlns="" id="{D3C4E5C9-0C6C-FE44-8E48-3AEAB31232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97" name="Oval 96">
              <a:extLst>
                <a:ext uri="{FF2B5EF4-FFF2-40B4-BE49-F238E27FC236}">
                  <a16:creationId xmlns:a16="http://schemas.microsoft.com/office/drawing/2014/main" xmlns="" id="{00F2B9E3-1FE0-3341-9F1D-E60AC91CF4F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98" name="Group 97">
              <a:extLst>
                <a:ext uri="{FF2B5EF4-FFF2-40B4-BE49-F238E27FC236}">
                  <a16:creationId xmlns:a16="http://schemas.microsoft.com/office/drawing/2014/main" xmlns="" id="{D9A4FE6E-757F-104A-A301-53D57A115B9D}"/>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xmlns="" id="{D1C4D832-AA7B-2F44-88F3-867F1C5C73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00" name="Freeform 99">
                <a:extLst>
                  <a:ext uri="{FF2B5EF4-FFF2-40B4-BE49-F238E27FC236}">
                    <a16:creationId xmlns:a16="http://schemas.microsoft.com/office/drawing/2014/main" xmlns="" id="{17B4F7C5-8F07-6444-9C56-5CCC6DAD80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01" name="Freeform 100">
                <a:extLst>
                  <a:ext uri="{FF2B5EF4-FFF2-40B4-BE49-F238E27FC236}">
                    <a16:creationId xmlns:a16="http://schemas.microsoft.com/office/drawing/2014/main" xmlns="" id="{A4D1016A-A633-4F47-AD16-9F5C4A1B4B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02" name="Freeform 101">
                <a:extLst>
                  <a:ext uri="{FF2B5EF4-FFF2-40B4-BE49-F238E27FC236}">
                    <a16:creationId xmlns:a16="http://schemas.microsoft.com/office/drawing/2014/main" xmlns="" id="{4E90D1C0-25CA-D549-8BEC-F6FC08E9AF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03" name="Group 102">
            <a:extLst>
              <a:ext uri="{FF2B5EF4-FFF2-40B4-BE49-F238E27FC236}">
                <a16:creationId xmlns:a16="http://schemas.microsoft.com/office/drawing/2014/main" xmlns="" id="{5E0A555A-7D83-9C41-BC45-9CE34B97A2A0}"/>
              </a:ext>
            </a:extLst>
          </p:cNvPr>
          <p:cNvGrpSpPr/>
          <p:nvPr/>
        </p:nvGrpSpPr>
        <p:grpSpPr>
          <a:xfrm>
            <a:off x="6533470" y="3175412"/>
            <a:ext cx="433524" cy="214280"/>
            <a:chOff x="7493876" y="2774731"/>
            <a:chExt cx="1481958" cy="894622"/>
          </a:xfrm>
        </p:grpSpPr>
        <p:sp>
          <p:nvSpPr>
            <p:cNvPr id="104" name="Freeform 103">
              <a:extLst>
                <a:ext uri="{FF2B5EF4-FFF2-40B4-BE49-F238E27FC236}">
                  <a16:creationId xmlns:a16="http://schemas.microsoft.com/office/drawing/2014/main" xmlns="" id="{0CEF8A07-20B9-AE45-8F1F-7A43CAB1D7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105" name="Oval 104">
              <a:extLst>
                <a:ext uri="{FF2B5EF4-FFF2-40B4-BE49-F238E27FC236}">
                  <a16:creationId xmlns:a16="http://schemas.microsoft.com/office/drawing/2014/main" xmlns="" id="{EA79D59C-1529-9C45-BD77-6FFDD5DEAA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106" name="Group 105">
              <a:extLst>
                <a:ext uri="{FF2B5EF4-FFF2-40B4-BE49-F238E27FC236}">
                  <a16:creationId xmlns:a16="http://schemas.microsoft.com/office/drawing/2014/main" xmlns="" id="{E973AF34-BA3E-0A49-9E54-BD6B223BA524}"/>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xmlns="" id="{C47C43C3-8FCB-5847-9007-9FF04DAF74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08" name="Freeform 107">
                <a:extLst>
                  <a:ext uri="{FF2B5EF4-FFF2-40B4-BE49-F238E27FC236}">
                    <a16:creationId xmlns:a16="http://schemas.microsoft.com/office/drawing/2014/main" xmlns="" id="{09F2051C-9B20-EE45-9CE2-4D3C79652D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09" name="Freeform 108">
                <a:extLst>
                  <a:ext uri="{FF2B5EF4-FFF2-40B4-BE49-F238E27FC236}">
                    <a16:creationId xmlns:a16="http://schemas.microsoft.com/office/drawing/2014/main" xmlns="" id="{79216339-F1AE-4C4A-9C17-5BCC324EB3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0" name="Freeform 109">
                <a:extLst>
                  <a:ext uri="{FF2B5EF4-FFF2-40B4-BE49-F238E27FC236}">
                    <a16:creationId xmlns:a16="http://schemas.microsoft.com/office/drawing/2014/main" xmlns="" id="{161D2AE2-963A-F744-92D8-01315F7468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11" name="Group 110">
            <a:extLst>
              <a:ext uri="{FF2B5EF4-FFF2-40B4-BE49-F238E27FC236}">
                <a16:creationId xmlns:a16="http://schemas.microsoft.com/office/drawing/2014/main" xmlns="" id="{EFB94137-26B4-A84C-B882-BC754696ADF8}"/>
              </a:ext>
            </a:extLst>
          </p:cNvPr>
          <p:cNvGrpSpPr/>
          <p:nvPr/>
        </p:nvGrpSpPr>
        <p:grpSpPr>
          <a:xfrm>
            <a:off x="5823461" y="2958135"/>
            <a:ext cx="433524" cy="214280"/>
            <a:chOff x="7493876" y="2774731"/>
            <a:chExt cx="1481958" cy="894622"/>
          </a:xfrm>
        </p:grpSpPr>
        <p:sp>
          <p:nvSpPr>
            <p:cNvPr id="112" name="Freeform 111">
              <a:extLst>
                <a:ext uri="{FF2B5EF4-FFF2-40B4-BE49-F238E27FC236}">
                  <a16:creationId xmlns:a16="http://schemas.microsoft.com/office/drawing/2014/main" xmlns="" id="{56959650-8F47-BD44-967D-3B54247086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113" name="Oval 112">
              <a:extLst>
                <a:ext uri="{FF2B5EF4-FFF2-40B4-BE49-F238E27FC236}">
                  <a16:creationId xmlns:a16="http://schemas.microsoft.com/office/drawing/2014/main" xmlns="" id="{D4F846E9-5E5D-9246-A16E-A37E1F2DB7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114" name="Group 113">
              <a:extLst>
                <a:ext uri="{FF2B5EF4-FFF2-40B4-BE49-F238E27FC236}">
                  <a16:creationId xmlns:a16="http://schemas.microsoft.com/office/drawing/2014/main" xmlns="" id="{6C080F1D-CE13-8A4D-AE86-A9987401AEFE}"/>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xmlns="" id="{C92B06F2-78EF-804D-8E0C-DCE71C44A5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6" name="Freeform 115">
                <a:extLst>
                  <a:ext uri="{FF2B5EF4-FFF2-40B4-BE49-F238E27FC236}">
                    <a16:creationId xmlns:a16="http://schemas.microsoft.com/office/drawing/2014/main" xmlns="" id="{C074DBD1-927C-2B4D-B10B-DD852445FB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7" name="Freeform 116">
                <a:extLst>
                  <a:ext uri="{FF2B5EF4-FFF2-40B4-BE49-F238E27FC236}">
                    <a16:creationId xmlns:a16="http://schemas.microsoft.com/office/drawing/2014/main" xmlns="" id="{BC9D84BC-889B-C849-9229-D2795054B3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8" name="Freeform 117">
                <a:extLst>
                  <a:ext uri="{FF2B5EF4-FFF2-40B4-BE49-F238E27FC236}">
                    <a16:creationId xmlns:a16="http://schemas.microsoft.com/office/drawing/2014/main" xmlns="" id="{9073BE05-706B-1446-BB36-AB53194859C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3" name="Group 2">
            <a:extLst>
              <a:ext uri="{FF2B5EF4-FFF2-40B4-BE49-F238E27FC236}">
                <a16:creationId xmlns:a16="http://schemas.microsoft.com/office/drawing/2014/main" xmlns="" id="{C584E5A3-CC37-804B-8E37-84F25E87BC63}"/>
              </a:ext>
            </a:extLst>
          </p:cNvPr>
          <p:cNvGrpSpPr/>
          <p:nvPr/>
        </p:nvGrpSpPr>
        <p:grpSpPr>
          <a:xfrm>
            <a:off x="6650874" y="3184171"/>
            <a:ext cx="342526" cy="169911"/>
            <a:chOff x="6859123" y="5156933"/>
            <a:chExt cx="456701" cy="226548"/>
          </a:xfrm>
        </p:grpSpPr>
        <p:sp>
          <p:nvSpPr>
            <p:cNvPr id="9" name="Rectangle 8">
              <a:extLst>
                <a:ext uri="{FF2B5EF4-FFF2-40B4-BE49-F238E27FC236}">
                  <a16:creationId xmlns:a16="http://schemas.microsoft.com/office/drawing/2014/main" xmlns="" id="{C093256C-E351-F04F-8F57-8CBAADAD32D9}"/>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11" name="Straight Connector 10">
              <a:extLst>
                <a:ext uri="{FF2B5EF4-FFF2-40B4-BE49-F238E27FC236}">
                  <a16:creationId xmlns:a16="http://schemas.microsoft.com/office/drawing/2014/main" xmlns="" id="{0C154E25-F682-744F-8785-AB5EDB9A5A5F}"/>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xmlns="" id="{E29C5F0A-310C-1443-A4BF-D9B6A1F9EDB9}"/>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xmlns="" id="{B65FCB07-1990-1F40-B6A0-2DC9A68091B3}"/>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xmlns="" id="{E0B89AD6-5E3A-1642-BCCA-337C835BC035}"/>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xmlns="" id="{35A1AE44-6AB7-1949-9184-889F736756EC}"/>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xmlns="" id="{C564862D-347A-7E41-8F9D-0ADF80768A2B}"/>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xmlns="" id="{AC855F5F-C9C2-4744-9B1E-696B4F0DB89C}"/>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xmlns="" id="{2D3DD9EA-3345-8345-9221-C06D0834BC89}"/>
              </a:ext>
            </a:extLst>
          </p:cNvPr>
          <p:cNvGrpSpPr/>
          <p:nvPr/>
        </p:nvGrpSpPr>
        <p:grpSpPr>
          <a:xfrm>
            <a:off x="5571432" y="2007987"/>
            <a:ext cx="2563742" cy="1278763"/>
            <a:chOff x="7428575" y="2677315"/>
            <a:chExt cx="3418322" cy="1705017"/>
          </a:xfrm>
        </p:grpSpPr>
        <p:sp>
          <p:nvSpPr>
            <p:cNvPr id="13" name="Freeform 12">
              <a:extLst>
                <a:ext uri="{FF2B5EF4-FFF2-40B4-BE49-F238E27FC236}">
                  <a16:creationId xmlns:a16="http://schemas.microsoft.com/office/drawing/2014/main" xmlns="" id="{F7906425-B196-CC44-BB40-5ACEF23B0A29}"/>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14689" name="Freeform 114688">
              <a:extLst>
                <a:ext uri="{FF2B5EF4-FFF2-40B4-BE49-F238E27FC236}">
                  <a16:creationId xmlns:a16="http://schemas.microsoft.com/office/drawing/2014/main" xmlns="" id="{F4B58868-99E6-0645-9773-CB66EC208FBD}"/>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8" name="TextBox 7">
              <a:extLst>
                <a:ext uri="{FF2B5EF4-FFF2-40B4-BE49-F238E27FC236}">
                  <a16:creationId xmlns:a16="http://schemas.microsoft.com/office/drawing/2014/main" xmlns="" id="{431762DD-608F-AC4F-8D36-9BC825C14FB4}"/>
                </a:ext>
              </a:extLst>
            </p:cNvPr>
            <p:cNvSpPr txBox="1"/>
            <p:nvPr/>
          </p:nvSpPr>
          <p:spPr>
            <a:xfrm>
              <a:off x="10184578" y="3556613"/>
              <a:ext cx="662319" cy="400109"/>
            </a:xfrm>
            <a:prstGeom prst="rect">
              <a:avLst/>
            </a:prstGeom>
            <a:noFill/>
          </p:spPr>
          <p:txBody>
            <a:bodyPr wrap="none" rtlCol="0">
              <a:spAutoFit/>
            </a:bodyPr>
            <a:lstStyle/>
            <a:p>
              <a:pPr algn="l" defTabSz="685800" rtl="0">
                <a:defRPr/>
              </a:pPr>
              <a:r>
                <a:rPr lang="en-US" sz="1350" kern="1200" dirty="0">
                  <a:solidFill>
                    <a:srgbClr val="5B9BD5">
                      <a:lumMod val="75000"/>
                    </a:srgbClr>
                  </a:solidFill>
                  <a:latin typeface="Calibri"/>
                  <a:ea typeface="+mn-ea"/>
                  <a:cs typeface="+mn-cs"/>
                </a:rPr>
                <a:t>data</a:t>
              </a:r>
            </a:p>
          </p:txBody>
        </p:sp>
        <p:sp>
          <p:nvSpPr>
            <p:cNvPr id="129" name="TextBox 128">
              <a:extLst>
                <a:ext uri="{FF2B5EF4-FFF2-40B4-BE49-F238E27FC236}">
                  <a16:creationId xmlns:a16="http://schemas.microsoft.com/office/drawing/2014/main" xmlns="" id="{38081CC2-E66E-0845-8CCA-2D10C6BE30EA}"/>
                </a:ext>
              </a:extLst>
            </p:cNvPr>
            <p:cNvSpPr txBox="1"/>
            <p:nvPr/>
          </p:nvSpPr>
          <p:spPr>
            <a:xfrm>
              <a:off x="7428575" y="3517694"/>
              <a:ext cx="662319" cy="400109"/>
            </a:xfrm>
            <a:prstGeom prst="rect">
              <a:avLst/>
            </a:prstGeom>
            <a:noFill/>
          </p:spPr>
          <p:txBody>
            <a:bodyPr wrap="none" rtlCol="0">
              <a:spAutoFit/>
            </a:bodyPr>
            <a:lstStyle/>
            <a:p>
              <a:pPr algn="l" defTabSz="685800" rtl="0">
                <a:defRPr/>
              </a:pPr>
              <a:r>
                <a:rPr lang="en-US" sz="1350" kern="1200" dirty="0">
                  <a:solidFill>
                    <a:srgbClr val="5B9BD5">
                      <a:lumMod val="75000"/>
                    </a:srgbClr>
                  </a:solidFill>
                  <a:latin typeface="Calibri"/>
                  <a:ea typeface="+mn-ea"/>
                  <a:cs typeface="+mn-cs"/>
                </a:rPr>
                <a:t>data</a:t>
              </a:r>
            </a:p>
          </p:txBody>
        </p:sp>
      </p:grpSp>
      <p:grpSp>
        <p:nvGrpSpPr>
          <p:cNvPr id="10" name="Group 9">
            <a:extLst>
              <a:ext uri="{FF2B5EF4-FFF2-40B4-BE49-F238E27FC236}">
                <a16:creationId xmlns:a16="http://schemas.microsoft.com/office/drawing/2014/main" xmlns="" id="{57CD35EA-0731-A641-906C-8974E60D529B}"/>
              </a:ext>
            </a:extLst>
          </p:cNvPr>
          <p:cNvGrpSpPr/>
          <p:nvPr/>
        </p:nvGrpSpPr>
        <p:grpSpPr>
          <a:xfrm>
            <a:off x="5099714" y="2018433"/>
            <a:ext cx="3538638" cy="1370632"/>
            <a:chOff x="6799618" y="2691243"/>
            <a:chExt cx="4718184" cy="1827509"/>
          </a:xfrm>
        </p:grpSpPr>
        <p:sp>
          <p:nvSpPr>
            <p:cNvPr id="124" name="Freeform 123">
              <a:extLst>
                <a:ext uri="{FF2B5EF4-FFF2-40B4-BE49-F238E27FC236}">
                  <a16:creationId xmlns:a16="http://schemas.microsoft.com/office/drawing/2014/main" xmlns="" id="{809FCE5A-94F2-AB43-A427-15DC48978945}"/>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30" name="TextBox 129">
              <a:extLst>
                <a:ext uri="{FF2B5EF4-FFF2-40B4-BE49-F238E27FC236}">
                  <a16:creationId xmlns:a16="http://schemas.microsoft.com/office/drawing/2014/main" xmlns="" id="{AC21E889-4F82-8649-829E-554EB51D7E5D}"/>
                </a:ext>
              </a:extLst>
            </p:cNvPr>
            <p:cNvSpPr txBox="1"/>
            <p:nvPr/>
          </p:nvSpPr>
          <p:spPr>
            <a:xfrm>
              <a:off x="6799618" y="3650736"/>
              <a:ext cx="708399" cy="400109"/>
            </a:xfrm>
            <a:prstGeom prst="rect">
              <a:avLst/>
            </a:prstGeom>
            <a:noFill/>
          </p:spPr>
          <p:txBody>
            <a:bodyPr wrap="none" rtlCol="0">
              <a:spAutoFit/>
            </a:bodyPr>
            <a:lstStyle/>
            <a:p>
              <a:pPr algn="l" defTabSz="685800" rtl="0">
                <a:defRPr/>
              </a:pPr>
              <a:r>
                <a:rPr lang="en-US" sz="1350" kern="1200" dirty="0">
                  <a:solidFill>
                    <a:srgbClr val="00B050"/>
                  </a:solidFill>
                  <a:latin typeface="Calibri"/>
                  <a:ea typeface="+mn-ea"/>
                  <a:cs typeface="+mn-cs"/>
                </a:rPr>
                <a:t>ACKs</a:t>
              </a:r>
            </a:p>
          </p:txBody>
        </p:sp>
        <p:sp>
          <p:nvSpPr>
            <p:cNvPr id="131" name="TextBox 130">
              <a:extLst>
                <a:ext uri="{FF2B5EF4-FFF2-40B4-BE49-F238E27FC236}">
                  <a16:creationId xmlns:a16="http://schemas.microsoft.com/office/drawing/2014/main" xmlns="" id="{4D544F8A-E5C9-4C42-B077-C996AF3E7BF7}"/>
                </a:ext>
              </a:extLst>
            </p:cNvPr>
            <p:cNvSpPr txBox="1"/>
            <p:nvPr/>
          </p:nvSpPr>
          <p:spPr>
            <a:xfrm>
              <a:off x="10809403" y="3772400"/>
              <a:ext cx="708399" cy="400109"/>
            </a:xfrm>
            <a:prstGeom prst="rect">
              <a:avLst/>
            </a:prstGeom>
            <a:noFill/>
          </p:spPr>
          <p:txBody>
            <a:bodyPr wrap="none" rtlCol="0">
              <a:spAutoFit/>
            </a:bodyPr>
            <a:lstStyle/>
            <a:p>
              <a:pPr algn="l" defTabSz="685800" rtl="0">
                <a:defRPr/>
              </a:pPr>
              <a:r>
                <a:rPr lang="en-US" sz="1350" kern="1200" dirty="0">
                  <a:solidFill>
                    <a:srgbClr val="00B050"/>
                  </a:solidFill>
                  <a:latin typeface="Calibri"/>
                  <a:ea typeface="+mn-ea"/>
                  <a:cs typeface="+mn-cs"/>
                </a:rPr>
                <a:t>ACKs</a:t>
              </a:r>
            </a:p>
          </p:txBody>
        </p:sp>
      </p:grpSp>
      <p:sp>
        <p:nvSpPr>
          <p:cNvPr id="176" name="Freeform 254">
            <a:extLst>
              <a:ext uri="{FF2B5EF4-FFF2-40B4-BE49-F238E27FC236}">
                <a16:creationId xmlns:a16="http://schemas.microsoft.com/office/drawing/2014/main" xmlns="" id="{098028B6-BF7C-6A40-A6E7-BD363548A403}"/>
              </a:ext>
            </a:extLst>
          </p:cNvPr>
          <p:cNvSpPr>
            <a:spLocks/>
          </p:cNvSpPr>
          <p:nvPr/>
        </p:nvSpPr>
        <p:spPr bwMode="auto">
          <a:xfrm>
            <a:off x="8384150" y="1772762"/>
            <a:ext cx="188119" cy="9096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84" name="Group 289">
            <a:extLst>
              <a:ext uri="{FF2B5EF4-FFF2-40B4-BE49-F238E27FC236}">
                <a16:creationId xmlns:a16="http://schemas.microsoft.com/office/drawing/2014/main" xmlns="" id="{36A89038-0233-574C-A16F-E12F82E32856}"/>
              </a:ext>
            </a:extLst>
          </p:cNvPr>
          <p:cNvGrpSpPr>
            <a:grpSpLocks/>
          </p:cNvGrpSpPr>
          <p:nvPr/>
        </p:nvGrpSpPr>
        <p:grpSpPr bwMode="auto">
          <a:xfrm>
            <a:off x="8516310" y="2445465"/>
            <a:ext cx="173831" cy="330994"/>
            <a:chOff x="4140" y="429"/>
            <a:chExt cx="1425" cy="2396"/>
          </a:xfrm>
        </p:grpSpPr>
        <p:sp>
          <p:nvSpPr>
            <p:cNvPr id="188" name="Freeform 290">
              <a:extLst>
                <a:ext uri="{FF2B5EF4-FFF2-40B4-BE49-F238E27FC236}">
                  <a16:creationId xmlns:a16="http://schemas.microsoft.com/office/drawing/2014/main" xmlns="" id="{9264264F-C8FF-E941-B8DB-F2A13E30F56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89" name="Rectangle 291">
              <a:extLst>
                <a:ext uri="{FF2B5EF4-FFF2-40B4-BE49-F238E27FC236}">
                  <a16:creationId xmlns:a16="http://schemas.microsoft.com/office/drawing/2014/main" xmlns="" id="{5580AF65-ED2C-7F4A-90B9-25AFA8C927C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90" name="Freeform 292">
              <a:extLst>
                <a:ext uri="{FF2B5EF4-FFF2-40B4-BE49-F238E27FC236}">
                  <a16:creationId xmlns:a16="http://schemas.microsoft.com/office/drawing/2014/main" xmlns="" id="{BC0C9A2A-A362-5D48-A13D-A730292A1B6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91" name="Freeform 293">
              <a:extLst>
                <a:ext uri="{FF2B5EF4-FFF2-40B4-BE49-F238E27FC236}">
                  <a16:creationId xmlns:a16="http://schemas.microsoft.com/office/drawing/2014/main" xmlns="" id="{741E5815-F201-3946-BA11-1961624585E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195" name="Rectangle 294">
              <a:extLst>
                <a:ext uri="{FF2B5EF4-FFF2-40B4-BE49-F238E27FC236}">
                  <a16:creationId xmlns:a16="http://schemas.microsoft.com/office/drawing/2014/main" xmlns="" id="{16834F46-BEA1-E54A-99D2-06A1D9E4EFA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2" name="Group 295">
              <a:extLst>
                <a:ext uri="{FF2B5EF4-FFF2-40B4-BE49-F238E27FC236}">
                  <a16:creationId xmlns:a16="http://schemas.microsoft.com/office/drawing/2014/main" xmlns="" id="{EFE1DB65-55C6-A040-8489-E8E7A5072621}"/>
                </a:ext>
              </a:extLst>
            </p:cNvPr>
            <p:cNvGrpSpPr>
              <a:grpSpLocks/>
            </p:cNvGrpSpPr>
            <p:nvPr/>
          </p:nvGrpSpPr>
          <p:grpSpPr bwMode="auto">
            <a:xfrm>
              <a:off x="4749" y="668"/>
              <a:ext cx="581" cy="145"/>
              <a:chOff x="614" y="2568"/>
              <a:chExt cx="725" cy="139"/>
            </a:xfrm>
          </p:grpSpPr>
          <p:sp>
            <p:nvSpPr>
              <p:cNvPr id="233" name="AutoShape 296">
                <a:extLst>
                  <a:ext uri="{FF2B5EF4-FFF2-40B4-BE49-F238E27FC236}">
                    <a16:creationId xmlns:a16="http://schemas.microsoft.com/office/drawing/2014/main" xmlns="" id="{60C873E6-EA5F-E546-9871-6CD69A03054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4" name="AutoShape 297">
                <a:extLst>
                  <a:ext uri="{FF2B5EF4-FFF2-40B4-BE49-F238E27FC236}">
                    <a16:creationId xmlns:a16="http://schemas.microsoft.com/office/drawing/2014/main" xmlns="" id="{AE94AAEC-480B-8047-91E5-519724D0625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03" name="Rectangle 298">
              <a:extLst>
                <a:ext uri="{FF2B5EF4-FFF2-40B4-BE49-F238E27FC236}">
                  <a16:creationId xmlns:a16="http://schemas.microsoft.com/office/drawing/2014/main" xmlns="" id="{66AA352A-88C1-474E-8553-BFDBC71D6A7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4" name="Group 299">
              <a:extLst>
                <a:ext uri="{FF2B5EF4-FFF2-40B4-BE49-F238E27FC236}">
                  <a16:creationId xmlns:a16="http://schemas.microsoft.com/office/drawing/2014/main" xmlns="" id="{063BD826-F329-CE4F-8A05-BAE407197A8D}"/>
                </a:ext>
              </a:extLst>
            </p:cNvPr>
            <p:cNvGrpSpPr>
              <a:grpSpLocks/>
            </p:cNvGrpSpPr>
            <p:nvPr/>
          </p:nvGrpSpPr>
          <p:grpSpPr bwMode="auto">
            <a:xfrm>
              <a:off x="4747" y="994"/>
              <a:ext cx="581" cy="134"/>
              <a:chOff x="614" y="2568"/>
              <a:chExt cx="725" cy="139"/>
            </a:xfrm>
          </p:grpSpPr>
          <p:sp>
            <p:nvSpPr>
              <p:cNvPr id="231" name="AutoShape 300">
                <a:extLst>
                  <a:ext uri="{FF2B5EF4-FFF2-40B4-BE49-F238E27FC236}">
                    <a16:creationId xmlns:a16="http://schemas.microsoft.com/office/drawing/2014/main" xmlns="" id="{502F9F8E-D733-304B-8917-5387C94462A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2" name="AutoShape 301">
                <a:extLst>
                  <a:ext uri="{FF2B5EF4-FFF2-40B4-BE49-F238E27FC236}">
                    <a16:creationId xmlns:a16="http://schemas.microsoft.com/office/drawing/2014/main" xmlns="" id="{8FA48F3E-A09B-9947-AC4E-53AB08CAC06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05" name="Rectangle 302">
              <a:extLst>
                <a:ext uri="{FF2B5EF4-FFF2-40B4-BE49-F238E27FC236}">
                  <a16:creationId xmlns:a16="http://schemas.microsoft.com/office/drawing/2014/main" xmlns="" id="{7E665F5D-879D-9E40-84B5-66D85E68A50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06" name="Rectangle 303">
              <a:extLst>
                <a:ext uri="{FF2B5EF4-FFF2-40B4-BE49-F238E27FC236}">
                  <a16:creationId xmlns:a16="http://schemas.microsoft.com/office/drawing/2014/main" xmlns="" id="{7647528B-9EF0-E54D-974E-7DFC94037620}"/>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07" name="Group 304">
              <a:extLst>
                <a:ext uri="{FF2B5EF4-FFF2-40B4-BE49-F238E27FC236}">
                  <a16:creationId xmlns:a16="http://schemas.microsoft.com/office/drawing/2014/main" xmlns="" id="{467A70C4-7121-374D-AFDB-661BA82AC2A8}"/>
                </a:ext>
              </a:extLst>
            </p:cNvPr>
            <p:cNvGrpSpPr>
              <a:grpSpLocks/>
            </p:cNvGrpSpPr>
            <p:nvPr/>
          </p:nvGrpSpPr>
          <p:grpSpPr bwMode="auto">
            <a:xfrm>
              <a:off x="4735" y="1627"/>
              <a:ext cx="582" cy="151"/>
              <a:chOff x="614" y="2568"/>
              <a:chExt cx="725" cy="139"/>
            </a:xfrm>
          </p:grpSpPr>
          <p:sp>
            <p:nvSpPr>
              <p:cNvPr id="229" name="AutoShape 305">
                <a:extLst>
                  <a:ext uri="{FF2B5EF4-FFF2-40B4-BE49-F238E27FC236}">
                    <a16:creationId xmlns:a16="http://schemas.microsoft.com/office/drawing/2014/main" xmlns="" id="{C5AF588B-0651-0545-9142-FD07BC8763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0" name="AutoShape 306">
                <a:extLst>
                  <a:ext uri="{FF2B5EF4-FFF2-40B4-BE49-F238E27FC236}">
                    <a16:creationId xmlns:a16="http://schemas.microsoft.com/office/drawing/2014/main" xmlns="" id="{9BEB1652-4112-004D-B7AC-1F3734A3C0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08" name="Freeform 307">
              <a:extLst>
                <a:ext uri="{FF2B5EF4-FFF2-40B4-BE49-F238E27FC236}">
                  <a16:creationId xmlns:a16="http://schemas.microsoft.com/office/drawing/2014/main" xmlns="" id="{D7A79ECE-B70D-2548-A773-6DCE4F281A8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09" name="Group 308">
              <a:extLst>
                <a:ext uri="{FF2B5EF4-FFF2-40B4-BE49-F238E27FC236}">
                  <a16:creationId xmlns:a16="http://schemas.microsoft.com/office/drawing/2014/main" xmlns="" id="{1ECF4553-693A-DD4D-A0E2-8AA0E2504F64}"/>
                </a:ext>
              </a:extLst>
            </p:cNvPr>
            <p:cNvGrpSpPr>
              <a:grpSpLocks/>
            </p:cNvGrpSpPr>
            <p:nvPr/>
          </p:nvGrpSpPr>
          <p:grpSpPr bwMode="auto">
            <a:xfrm>
              <a:off x="4739" y="1327"/>
              <a:ext cx="582" cy="139"/>
              <a:chOff x="614" y="2568"/>
              <a:chExt cx="725" cy="139"/>
            </a:xfrm>
          </p:grpSpPr>
          <p:sp>
            <p:nvSpPr>
              <p:cNvPr id="227" name="AutoShape 309">
                <a:extLst>
                  <a:ext uri="{FF2B5EF4-FFF2-40B4-BE49-F238E27FC236}">
                    <a16:creationId xmlns:a16="http://schemas.microsoft.com/office/drawing/2014/main" xmlns="" id="{9C16F586-202A-6C49-BECE-8D7B0011EBA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8" name="AutoShape 310">
                <a:extLst>
                  <a:ext uri="{FF2B5EF4-FFF2-40B4-BE49-F238E27FC236}">
                    <a16:creationId xmlns:a16="http://schemas.microsoft.com/office/drawing/2014/main" xmlns="" id="{C758F7C7-9330-BE46-A86A-D42B5637C8E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10" name="Rectangle 311">
              <a:extLst>
                <a:ext uri="{FF2B5EF4-FFF2-40B4-BE49-F238E27FC236}">
                  <a16:creationId xmlns:a16="http://schemas.microsoft.com/office/drawing/2014/main" xmlns="" id="{533FE805-6D97-3D40-A722-65F7EC32A1D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11" name="Freeform 312">
              <a:extLst>
                <a:ext uri="{FF2B5EF4-FFF2-40B4-BE49-F238E27FC236}">
                  <a16:creationId xmlns:a16="http://schemas.microsoft.com/office/drawing/2014/main" xmlns="" id="{620834FD-6B76-EA4B-A18C-65A47D402B0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12" name="Freeform 313">
              <a:extLst>
                <a:ext uri="{FF2B5EF4-FFF2-40B4-BE49-F238E27FC236}">
                  <a16:creationId xmlns:a16="http://schemas.microsoft.com/office/drawing/2014/main" xmlns="" id="{C5A12F9D-49AB-5145-AA15-D382AA5D35C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13" name="Oval 314">
              <a:extLst>
                <a:ext uri="{FF2B5EF4-FFF2-40B4-BE49-F238E27FC236}">
                  <a16:creationId xmlns:a16="http://schemas.microsoft.com/office/drawing/2014/main" xmlns="" id="{80DD1625-6CB9-AC4C-88B8-9DC831FCEE6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0" name="Freeform 315">
              <a:extLst>
                <a:ext uri="{FF2B5EF4-FFF2-40B4-BE49-F238E27FC236}">
                  <a16:creationId xmlns:a16="http://schemas.microsoft.com/office/drawing/2014/main" xmlns="" id="{A65F0511-3C28-C743-A21D-6264A21184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21" name="AutoShape 316">
              <a:extLst>
                <a:ext uri="{FF2B5EF4-FFF2-40B4-BE49-F238E27FC236}">
                  <a16:creationId xmlns:a16="http://schemas.microsoft.com/office/drawing/2014/main" xmlns="" id="{FADC981B-C983-6D40-AEA7-04B355ECAD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2" name="AutoShape 317">
              <a:extLst>
                <a:ext uri="{FF2B5EF4-FFF2-40B4-BE49-F238E27FC236}">
                  <a16:creationId xmlns:a16="http://schemas.microsoft.com/office/drawing/2014/main" xmlns="" id="{708D79ED-DBE2-644C-B85E-DB3961F564FD}"/>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3" name="Oval 318">
              <a:extLst>
                <a:ext uri="{FF2B5EF4-FFF2-40B4-BE49-F238E27FC236}">
                  <a16:creationId xmlns:a16="http://schemas.microsoft.com/office/drawing/2014/main" xmlns="" id="{87AF5859-5E53-EE4C-954A-8D2D2B20071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4" name="Oval 319">
              <a:extLst>
                <a:ext uri="{FF2B5EF4-FFF2-40B4-BE49-F238E27FC236}">
                  <a16:creationId xmlns:a16="http://schemas.microsoft.com/office/drawing/2014/main" xmlns="" id="{43616DFE-DE4C-D94C-B77F-413A270CAAE8}"/>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225" name="Oval 320">
              <a:extLst>
                <a:ext uri="{FF2B5EF4-FFF2-40B4-BE49-F238E27FC236}">
                  <a16:creationId xmlns:a16="http://schemas.microsoft.com/office/drawing/2014/main" xmlns="" id="{63CB7C6A-7959-294B-919F-406DF43820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6" name="Rectangle 321">
              <a:extLst>
                <a:ext uri="{FF2B5EF4-FFF2-40B4-BE49-F238E27FC236}">
                  <a16:creationId xmlns:a16="http://schemas.microsoft.com/office/drawing/2014/main" xmlns="" id="{3ED5D38A-C2F0-8444-B700-8ED29C8B7FB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128" name="Rectangle 3">
            <a:extLst>
              <a:ext uri="{FF2B5EF4-FFF2-40B4-BE49-F238E27FC236}">
                <a16:creationId xmlns:a16="http://schemas.microsoft.com/office/drawing/2014/main" xmlns="" id="{4AEA1865-8C28-134C-8B6C-07E3981D0325}"/>
              </a:ext>
            </a:extLst>
          </p:cNvPr>
          <p:cNvSpPr txBox="1">
            <a:spLocks noChangeArrowheads="1"/>
          </p:cNvSpPr>
          <p:nvPr/>
        </p:nvSpPr>
        <p:spPr>
          <a:xfrm>
            <a:off x="691350" y="3193049"/>
            <a:ext cx="4171950" cy="474177"/>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0044" indent="-252413" defTabSz="685800">
              <a:spcBef>
                <a:spcPts val="750"/>
              </a:spcBef>
              <a:defRPr/>
            </a:pPr>
            <a:r>
              <a:rPr lang="en-US" sz="2400" dirty="0">
                <a:solidFill>
                  <a:prstClr val="black"/>
                </a:solidFill>
                <a:latin typeface="Calibri"/>
              </a:rPr>
              <a:t>approach taken by TCP</a:t>
            </a:r>
            <a:endParaRPr lang="en-US" sz="2700" dirty="0">
              <a:solidFill>
                <a:prstClr val="black"/>
              </a:solidFill>
              <a:latin typeface="Calibri"/>
            </a:endParaRPr>
          </a:p>
        </p:txBody>
      </p:sp>
      <p:sp>
        <p:nvSpPr>
          <p:cNvPr id="4" name="TextBox 3">
            <a:extLst>
              <a:ext uri="{FF2B5EF4-FFF2-40B4-BE49-F238E27FC236}">
                <a16:creationId xmlns:a16="http://schemas.microsoft.com/office/drawing/2014/main" xmlns="" id="{46BC8F79-89EA-DBAC-256C-FE4CA3AF5A59}"/>
              </a:ext>
            </a:extLst>
          </p:cNvPr>
          <p:cNvSpPr txBox="1"/>
          <p:nvPr/>
        </p:nvSpPr>
        <p:spPr>
          <a:xfrm>
            <a:off x="6040210" y="4009466"/>
            <a:ext cx="1697843" cy="369332"/>
          </a:xfrm>
          <a:prstGeom prst="rect">
            <a:avLst/>
          </a:prstGeom>
          <a:noFill/>
        </p:spPr>
        <p:txBody>
          <a:bodyPr wrap="square">
            <a:spAutoFit/>
          </a:bodyPr>
          <a:lstStyle/>
          <a:p>
            <a:r>
              <a:rPr lang="en-US" dirty="0">
                <a:solidFill>
                  <a:srgbClr val="C00000"/>
                </a:solidFill>
              </a:rPr>
              <a:t>Choke Packet</a:t>
            </a:r>
            <a:endParaRPr lang="en-IN" dirty="0"/>
          </a:p>
        </p:txBody>
      </p:sp>
    </p:spTree>
    <p:extLst>
      <p:ext uri="{BB962C8B-B14F-4D97-AF65-F5344CB8AC3E}">
        <p14:creationId xmlns:p14="http://schemas.microsoft.com/office/powerpoint/2010/main" val="274916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dissolve">
                                      <p:cBhvr>
                                        <p:cTn id="16"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9" name="Rectangle 3">
            <a:extLst>
              <a:ext uri="{FF2B5EF4-FFF2-40B4-BE49-F238E27FC236}">
                <a16:creationId xmlns:a16="http://schemas.microsoft.com/office/drawing/2014/main" xmlns="" id="{D469BBE5-2D5E-1245-BE57-AED04CA89E18}"/>
              </a:ext>
            </a:extLst>
          </p:cNvPr>
          <p:cNvSpPr>
            <a:spLocks noGrp="1" noChangeArrowheads="1"/>
          </p:cNvSpPr>
          <p:nvPr>
            <p:ph idx="4294967295"/>
          </p:nvPr>
        </p:nvSpPr>
        <p:spPr>
          <a:xfrm>
            <a:off x="0" y="4230688"/>
            <a:ext cx="4335463" cy="552450"/>
          </a:xfrm>
        </p:spPr>
        <p:txBody>
          <a:bodyPr>
            <a:normAutofit/>
          </a:bodyPr>
          <a:lstStyle/>
          <a:p>
            <a:pPr marL="305991" indent="-208360">
              <a:defRPr/>
            </a:pPr>
            <a:r>
              <a:rPr lang="en-US" sz="2250" dirty="0"/>
              <a:t>TCP ECN, ATM, DECbit protocols</a:t>
            </a:r>
            <a:endParaRPr lang="en-US" sz="2625" dirty="0">
              <a:cs typeface="+mn-cs"/>
            </a:endParaRPr>
          </a:p>
        </p:txBody>
      </p:sp>
      <p:sp>
        <p:nvSpPr>
          <p:cNvPr id="97284" name="Rectangle 2">
            <a:extLst>
              <a:ext uri="{FF2B5EF4-FFF2-40B4-BE49-F238E27FC236}">
                <a16:creationId xmlns:a16="http://schemas.microsoft.com/office/drawing/2014/main" xmlns="" id="{15E2A5A3-138A-0644-B40C-0B75A1130E15}"/>
              </a:ext>
            </a:extLst>
          </p:cNvPr>
          <p:cNvSpPr>
            <a:spLocks noGrp="1" noChangeArrowheads="1"/>
          </p:cNvSpPr>
          <p:nvPr>
            <p:ph type="title" idx="4294967295"/>
          </p:nvPr>
        </p:nvSpPr>
        <p:spPr>
          <a:xfrm>
            <a:off x="0" y="171450"/>
            <a:ext cx="8536560" cy="857250"/>
          </a:xfrm>
        </p:spPr>
        <p:txBody>
          <a:bodyPr vert="horz" lIns="91440" tIns="45720" rIns="91440" bIns="45720" rtlCol="0" anchor="ctr">
            <a:noAutofit/>
          </a:bodyPr>
          <a:lstStyle/>
          <a:p>
            <a:r>
              <a:rPr lang="en-US" sz="4000" b="1" dirty="0"/>
              <a:t>Approaches towards congestion control</a:t>
            </a:r>
          </a:p>
        </p:txBody>
      </p:sp>
      <p:sp>
        <p:nvSpPr>
          <p:cNvPr id="128" name="Freeform 2">
            <a:extLst>
              <a:ext uri="{FF2B5EF4-FFF2-40B4-BE49-F238E27FC236}">
                <a16:creationId xmlns:a16="http://schemas.microsoft.com/office/drawing/2014/main" xmlns="" id="{366E9ABE-54D6-794A-BFDC-C271FA98FBA8}"/>
              </a:ext>
            </a:extLst>
          </p:cNvPr>
          <p:cNvSpPr>
            <a:spLocks/>
          </p:cNvSpPr>
          <p:nvPr/>
        </p:nvSpPr>
        <p:spPr bwMode="auto">
          <a:xfrm>
            <a:off x="5756939" y="2594299"/>
            <a:ext cx="2136653" cy="1110680"/>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2" name="Freeform 6">
            <a:extLst>
              <a:ext uri="{FF2B5EF4-FFF2-40B4-BE49-F238E27FC236}">
                <a16:creationId xmlns:a16="http://schemas.microsoft.com/office/drawing/2014/main" xmlns="" id="{FFF13A6F-0F53-424B-A39A-76E877F099A6}"/>
              </a:ext>
            </a:extLst>
          </p:cNvPr>
          <p:cNvSpPr>
            <a:spLocks/>
          </p:cNvSpPr>
          <p:nvPr/>
        </p:nvSpPr>
        <p:spPr bwMode="auto">
          <a:xfrm>
            <a:off x="6235720" y="2821674"/>
            <a:ext cx="407322" cy="221422"/>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4" name="Freeform 91">
            <a:extLst>
              <a:ext uri="{FF2B5EF4-FFF2-40B4-BE49-F238E27FC236}">
                <a16:creationId xmlns:a16="http://schemas.microsoft.com/office/drawing/2014/main" xmlns="" id="{0468E56B-A027-0D44-AEB8-704F79D68813}"/>
              </a:ext>
            </a:extLst>
          </p:cNvPr>
          <p:cNvSpPr>
            <a:spLocks/>
          </p:cNvSpPr>
          <p:nvPr/>
        </p:nvSpPr>
        <p:spPr bwMode="auto">
          <a:xfrm>
            <a:off x="7017016" y="2816912"/>
            <a:ext cx="378738" cy="230945"/>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5" name="Freeform 92">
            <a:extLst>
              <a:ext uri="{FF2B5EF4-FFF2-40B4-BE49-F238E27FC236}">
                <a16:creationId xmlns:a16="http://schemas.microsoft.com/office/drawing/2014/main" xmlns="" id="{054FFAAB-E9BC-3E4C-8FB9-3EA2FFF0707B}"/>
              </a:ext>
            </a:extLst>
          </p:cNvPr>
          <p:cNvSpPr>
            <a:spLocks/>
          </p:cNvSpPr>
          <p:nvPr/>
        </p:nvSpPr>
        <p:spPr bwMode="auto">
          <a:xfrm>
            <a:off x="6217855" y="3110950"/>
            <a:ext cx="360873" cy="178566"/>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6" name="Freeform 93">
            <a:extLst>
              <a:ext uri="{FF2B5EF4-FFF2-40B4-BE49-F238E27FC236}">
                <a16:creationId xmlns:a16="http://schemas.microsoft.com/office/drawing/2014/main" xmlns="" id="{1504AC5D-D6C1-D049-A591-6F0963B988CC}"/>
              </a:ext>
            </a:extLst>
          </p:cNvPr>
          <p:cNvSpPr>
            <a:spLocks/>
          </p:cNvSpPr>
          <p:nvPr/>
        </p:nvSpPr>
        <p:spPr bwMode="auto">
          <a:xfrm>
            <a:off x="6928882" y="3093094"/>
            <a:ext cx="471636" cy="185708"/>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7" name="Freeform 94">
            <a:extLst>
              <a:ext uri="{FF2B5EF4-FFF2-40B4-BE49-F238E27FC236}">
                <a16:creationId xmlns:a16="http://schemas.microsoft.com/office/drawing/2014/main" xmlns="" id="{49EE5ACA-6705-2D4D-9A89-77A1C64919B5}"/>
              </a:ext>
            </a:extLst>
          </p:cNvPr>
          <p:cNvSpPr>
            <a:spLocks/>
          </p:cNvSpPr>
          <p:nvPr/>
        </p:nvSpPr>
        <p:spPr bwMode="auto">
          <a:xfrm>
            <a:off x="7429102" y="3133568"/>
            <a:ext cx="154830" cy="38094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8" name="Freeform 95">
            <a:extLst>
              <a:ext uri="{FF2B5EF4-FFF2-40B4-BE49-F238E27FC236}">
                <a16:creationId xmlns:a16="http://schemas.microsoft.com/office/drawing/2014/main" xmlns="" id="{C75D3801-AA9A-394F-B133-0C907B494EA8}"/>
              </a:ext>
            </a:extLst>
          </p:cNvPr>
          <p:cNvSpPr>
            <a:spLocks/>
          </p:cNvSpPr>
          <p:nvPr/>
        </p:nvSpPr>
        <p:spPr bwMode="auto">
          <a:xfrm>
            <a:off x="6502504" y="3533556"/>
            <a:ext cx="552624" cy="5595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sp>
        <p:nvSpPr>
          <p:cNvPr id="139" name="Freeform 96">
            <a:extLst>
              <a:ext uri="{FF2B5EF4-FFF2-40B4-BE49-F238E27FC236}">
                <a16:creationId xmlns:a16="http://schemas.microsoft.com/office/drawing/2014/main" xmlns="" id="{22DFD150-DCC3-9C4E-B2A1-9978ADFC2D32}"/>
              </a:ext>
            </a:extLst>
          </p:cNvPr>
          <p:cNvSpPr>
            <a:spLocks/>
          </p:cNvSpPr>
          <p:nvPr/>
        </p:nvSpPr>
        <p:spPr bwMode="auto">
          <a:xfrm>
            <a:off x="6099946" y="3128807"/>
            <a:ext cx="145302" cy="319037"/>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defRPr/>
            </a:pPr>
            <a:endParaRPr lang="en-US" dirty="0">
              <a:solidFill>
                <a:srgbClr val="000000"/>
              </a:solidFill>
              <a:latin typeface="Arial" panose="020B0604020202020204" pitchFamily="34" charset="0"/>
              <a:ea typeface="ＭＳ Ｐゴシック" panose="020B0600070205080204" pitchFamily="34" charset="-128"/>
              <a:cs typeface="Arial"/>
            </a:endParaRPr>
          </a:p>
        </p:txBody>
      </p:sp>
      <p:grpSp>
        <p:nvGrpSpPr>
          <p:cNvPr id="140" name="Group 139">
            <a:extLst>
              <a:ext uri="{FF2B5EF4-FFF2-40B4-BE49-F238E27FC236}">
                <a16:creationId xmlns:a16="http://schemas.microsoft.com/office/drawing/2014/main" xmlns="" id="{FE2A56FD-5BF2-8A47-B917-EC5BDAE7B6D9}"/>
              </a:ext>
            </a:extLst>
          </p:cNvPr>
          <p:cNvGrpSpPr/>
          <p:nvPr/>
        </p:nvGrpSpPr>
        <p:grpSpPr>
          <a:xfrm>
            <a:off x="7289801" y="2959764"/>
            <a:ext cx="433524" cy="214280"/>
            <a:chOff x="7493876" y="2774731"/>
            <a:chExt cx="1481958" cy="894622"/>
          </a:xfrm>
        </p:grpSpPr>
        <p:sp>
          <p:nvSpPr>
            <p:cNvPr id="295" name="Freeform 294">
              <a:extLst>
                <a:ext uri="{FF2B5EF4-FFF2-40B4-BE49-F238E27FC236}">
                  <a16:creationId xmlns:a16="http://schemas.microsoft.com/office/drawing/2014/main" xmlns="" id="{A22F5E6C-8071-584B-A45A-61580F1DF3A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96" name="Oval 295">
              <a:extLst>
                <a:ext uri="{FF2B5EF4-FFF2-40B4-BE49-F238E27FC236}">
                  <a16:creationId xmlns:a16="http://schemas.microsoft.com/office/drawing/2014/main" xmlns="" id="{19D9D590-1C6D-B940-8236-FB7A7C7C3E1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97" name="Group 296">
              <a:extLst>
                <a:ext uri="{FF2B5EF4-FFF2-40B4-BE49-F238E27FC236}">
                  <a16:creationId xmlns:a16="http://schemas.microsoft.com/office/drawing/2014/main" xmlns="" id="{55AD85DE-1093-294C-A79D-C39AACCD04DE}"/>
                </a:ext>
              </a:extLst>
            </p:cNvPr>
            <p:cNvGrpSpPr/>
            <p:nvPr/>
          </p:nvGrpSpPr>
          <p:grpSpPr>
            <a:xfrm>
              <a:off x="7713663" y="2848339"/>
              <a:ext cx="1042107" cy="425543"/>
              <a:chOff x="7786941" y="2884917"/>
              <a:chExt cx="897649" cy="353919"/>
            </a:xfrm>
          </p:grpSpPr>
          <p:sp>
            <p:nvSpPr>
              <p:cNvPr id="298" name="Freeform 297">
                <a:extLst>
                  <a:ext uri="{FF2B5EF4-FFF2-40B4-BE49-F238E27FC236}">
                    <a16:creationId xmlns:a16="http://schemas.microsoft.com/office/drawing/2014/main" xmlns="" id="{74555870-3136-5F47-A50A-B9C84ADD9B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99" name="Freeform 298">
                <a:extLst>
                  <a:ext uri="{FF2B5EF4-FFF2-40B4-BE49-F238E27FC236}">
                    <a16:creationId xmlns:a16="http://schemas.microsoft.com/office/drawing/2014/main" xmlns="" id="{4C89C07A-54CC-1F4B-8662-219BDC60226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00" name="Freeform 299">
                <a:extLst>
                  <a:ext uri="{FF2B5EF4-FFF2-40B4-BE49-F238E27FC236}">
                    <a16:creationId xmlns:a16="http://schemas.microsoft.com/office/drawing/2014/main" xmlns="" id="{AD074A1D-33A9-FD4E-9502-6E1A7B8749F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01" name="Freeform 300">
                <a:extLst>
                  <a:ext uri="{FF2B5EF4-FFF2-40B4-BE49-F238E27FC236}">
                    <a16:creationId xmlns:a16="http://schemas.microsoft.com/office/drawing/2014/main" xmlns="" id="{CCD24AC6-75BD-7240-ACA1-858F993F76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41" name="Group 140">
            <a:extLst>
              <a:ext uri="{FF2B5EF4-FFF2-40B4-BE49-F238E27FC236}">
                <a16:creationId xmlns:a16="http://schemas.microsoft.com/office/drawing/2014/main" xmlns="" id="{87D364BE-067C-ED48-9F93-CCBD43D1F1FD}"/>
              </a:ext>
            </a:extLst>
          </p:cNvPr>
          <p:cNvGrpSpPr/>
          <p:nvPr/>
        </p:nvGrpSpPr>
        <p:grpSpPr>
          <a:xfrm>
            <a:off x="7013705" y="3450084"/>
            <a:ext cx="433524" cy="214280"/>
            <a:chOff x="7493876" y="2774731"/>
            <a:chExt cx="1481958" cy="894622"/>
          </a:xfrm>
        </p:grpSpPr>
        <p:sp>
          <p:nvSpPr>
            <p:cNvPr id="288" name="Freeform 287">
              <a:extLst>
                <a:ext uri="{FF2B5EF4-FFF2-40B4-BE49-F238E27FC236}">
                  <a16:creationId xmlns:a16="http://schemas.microsoft.com/office/drawing/2014/main" xmlns="" id="{56103B33-85E9-6646-AD36-73F16468B3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89" name="Oval 288">
              <a:extLst>
                <a:ext uri="{FF2B5EF4-FFF2-40B4-BE49-F238E27FC236}">
                  <a16:creationId xmlns:a16="http://schemas.microsoft.com/office/drawing/2014/main" xmlns="" id="{A249CC8A-2DD9-A540-96D6-72B9DFE29F2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90" name="Group 289">
              <a:extLst>
                <a:ext uri="{FF2B5EF4-FFF2-40B4-BE49-F238E27FC236}">
                  <a16:creationId xmlns:a16="http://schemas.microsoft.com/office/drawing/2014/main" xmlns="" id="{BB9841D9-85A4-6641-AFC4-673E96A51A94}"/>
                </a:ext>
              </a:extLst>
            </p:cNvPr>
            <p:cNvGrpSpPr/>
            <p:nvPr/>
          </p:nvGrpSpPr>
          <p:grpSpPr>
            <a:xfrm>
              <a:off x="7713663" y="2848339"/>
              <a:ext cx="1042107" cy="425543"/>
              <a:chOff x="7786941" y="2884917"/>
              <a:chExt cx="897649" cy="353919"/>
            </a:xfrm>
          </p:grpSpPr>
          <p:sp>
            <p:nvSpPr>
              <p:cNvPr id="291" name="Freeform 290">
                <a:extLst>
                  <a:ext uri="{FF2B5EF4-FFF2-40B4-BE49-F238E27FC236}">
                    <a16:creationId xmlns:a16="http://schemas.microsoft.com/office/drawing/2014/main" xmlns="" id="{1F8ACD1E-2A08-8148-97FE-2327BF094A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92" name="Freeform 291">
                <a:extLst>
                  <a:ext uri="{FF2B5EF4-FFF2-40B4-BE49-F238E27FC236}">
                    <a16:creationId xmlns:a16="http://schemas.microsoft.com/office/drawing/2014/main" xmlns="" id="{4E9748D8-5A01-D746-848B-32926B95C5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93" name="Freeform 292">
                <a:extLst>
                  <a:ext uri="{FF2B5EF4-FFF2-40B4-BE49-F238E27FC236}">
                    <a16:creationId xmlns:a16="http://schemas.microsoft.com/office/drawing/2014/main" xmlns="" id="{FD69F9EC-EC8E-3148-A0CF-68ADE091607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94" name="Freeform 293">
                <a:extLst>
                  <a:ext uri="{FF2B5EF4-FFF2-40B4-BE49-F238E27FC236}">
                    <a16:creationId xmlns:a16="http://schemas.microsoft.com/office/drawing/2014/main" xmlns="" id="{0C246818-5046-3547-9748-C8A5F8D31AA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75" name="Group 174">
            <a:extLst>
              <a:ext uri="{FF2B5EF4-FFF2-40B4-BE49-F238E27FC236}">
                <a16:creationId xmlns:a16="http://schemas.microsoft.com/office/drawing/2014/main" xmlns="" id="{4D4971E8-AD3B-214C-97F6-17EC02BCA29D}"/>
              </a:ext>
            </a:extLst>
          </p:cNvPr>
          <p:cNvGrpSpPr/>
          <p:nvPr/>
        </p:nvGrpSpPr>
        <p:grpSpPr>
          <a:xfrm>
            <a:off x="6146349" y="3413582"/>
            <a:ext cx="433524" cy="214280"/>
            <a:chOff x="7493876" y="2774731"/>
            <a:chExt cx="1481958" cy="894622"/>
          </a:xfrm>
        </p:grpSpPr>
        <p:sp>
          <p:nvSpPr>
            <p:cNvPr id="281" name="Freeform 280">
              <a:extLst>
                <a:ext uri="{FF2B5EF4-FFF2-40B4-BE49-F238E27FC236}">
                  <a16:creationId xmlns:a16="http://schemas.microsoft.com/office/drawing/2014/main" xmlns="" id="{9739AEF0-B1B8-F540-9C41-AE1C85694CA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82" name="Oval 281">
              <a:extLst>
                <a:ext uri="{FF2B5EF4-FFF2-40B4-BE49-F238E27FC236}">
                  <a16:creationId xmlns:a16="http://schemas.microsoft.com/office/drawing/2014/main" xmlns="" id="{9A8C264F-EE1E-AE42-AD54-26038D64E2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83" name="Group 282">
              <a:extLst>
                <a:ext uri="{FF2B5EF4-FFF2-40B4-BE49-F238E27FC236}">
                  <a16:creationId xmlns:a16="http://schemas.microsoft.com/office/drawing/2014/main" xmlns="" id="{C4315C5D-BBB1-1548-A740-5E5B96BEB874}"/>
                </a:ext>
              </a:extLst>
            </p:cNvPr>
            <p:cNvGrpSpPr/>
            <p:nvPr/>
          </p:nvGrpSpPr>
          <p:grpSpPr>
            <a:xfrm>
              <a:off x="7713663" y="2848339"/>
              <a:ext cx="1042107" cy="425543"/>
              <a:chOff x="7786941" y="2884917"/>
              <a:chExt cx="897649" cy="353919"/>
            </a:xfrm>
          </p:grpSpPr>
          <p:sp>
            <p:nvSpPr>
              <p:cNvPr id="284" name="Freeform 283">
                <a:extLst>
                  <a:ext uri="{FF2B5EF4-FFF2-40B4-BE49-F238E27FC236}">
                    <a16:creationId xmlns:a16="http://schemas.microsoft.com/office/drawing/2014/main" xmlns="" id="{895B76F4-731F-1A42-B1DA-2147C72110E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85" name="Freeform 284">
                <a:extLst>
                  <a:ext uri="{FF2B5EF4-FFF2-40B4-BE49-F238E27FC236}">
                    <a16:creationId xmlns:a16="http://schemas.microsoft.com/office/drawing/2014/main" xmlns="" id="{0DD88259-DBF1-C849-9347-E21FCDE91C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86" name="Freeform 285">
                <a:extLst>
                  <a:ext uri="{FF2B5EF4-FFF2-40B4-BE49-F238E27FC236}">
                    <a16:creationId xmlns:a16="http://schemas.microsoft.com/office/drawing/2014/main" xmlns="" id="{7F83BAF8-E480-3243-8D32-1B36CF28B4D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87" name="Freeform 286">
                <a:extLst>
                  <a:ext uri="{FF2B5EF4-FFF2-40B4-BE49-F238E27FC236}">
                    <a16:creationId xmlns:a16="http://schemas.microsoft.com/office/drawing/2014/main" xmlns="" id="{05F54ED9-26EA-304E-B1C7-6F58A4EB53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76" name="Group 175">
            <a:extLst>
              <a:ext uri="{FF2B5EF4-FFF2-40B4-BE49-F238E27FC236}">
                <a16:creationId xmlns:a16="http://schemas.microsoft.com/office/drawing/2014/main" xmlns="" id="{73201F79-4BE9-2E4A-9B0C-FB48F9222B08}"/>
              </a:ext>
            </a:extLst>
          </p:cNvPr>
          <p:cNvGrpSpPr/>
          <p:nvPr/>
        </p:nvGrpSpPr>
        <p:grpSpPr>
          <a:xfrm>
            <a:off x="6600474" y="2727033"/>
            <a:ext cx="433524" cy="214280"/>
            <a:chOff x="7493876" y="2774731"/>
            <a:chExt cx="1481958" cy="894622"/>
          </a:xfrm>
        </p:grpSpPr>
        <p:sp>
          <p:nvSpPr>
            <p:cNvPr id="274" name="Freeform 273">
              <a:extLst>
                <a:ext uri="{FF2B5EF4-FFF2-40B4-BE49-F238E27FC236}">
                  <a16:creationId xmlns:a16="http://schemas.microsoft.com/office/drawing/2014/main" xmlns="" id="{B69ED55D-3ADE-7541-A833-BAED4178F4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75" name="Oval 274">
              <a:extLst>
                <a:ext uri="{FF2B5EF4-FFF2-40B4-BE49-F238E27FC236}">
                  <a16:creationId xmlns:a16="http://schemas.microsoft.com/office/drawing/2014/main" xmlns="" id="{475EA0AA-3E1E-A848-A884-768A31DBCF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76" name="Group 275">
              <a:extLst>
                <a:ext uri="{FF2B5EF4-FFF2-40B4-BE49-F238E27FC236}">
                  <a16:creationId xmlns:a16="http://schemas.microsoft.com/office/drawing/2014/main" xmlns="" id="{33E36C01-9187-3C43-B7AF-0C810E75817D}"/>
                </a:ext>
              </a:extLst>
            </p:cNvPr>
            <p:cNvGrpSpPr/>
            <p:nvPr/>
          </p:nvGrpSpPr>
          <p:grpSpPr>
            <a:xfrm>
              <a:off x="7713663" y="2848339"/>
              <a:ext cx="1042107" cy="425543"/>
              <a:chOff x="7786941" y="2884917"/>
              <a:chExt cx="897649" cy="353919"/>
            </a:xfrm>
          </p:grpSpPr>
          <p:sp>
            <p:nvSpPr>
              <p:cNvPr id="277" name="Freeform 276">
                <a:extLst>
                  <a:ext uri="{FF2B5EF4-FFF2-40B4-BE49-F238E27FC236}">
                    <a16:creationId xmlns:a16="http://schemas.microsoft.com/office/drawing/2014/main" xmlns="" id="{7E1D2CF9-8553-254D-99D3-498E60EF92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78" name="Freeform 277">
                <a:extLst>
                  <a:ext uri="{FF2B5EF4-FFF2-40B4-BE49-F238E27FC236}">
                    <a16:creationId xmlns:a16="http://schemas.microsoft.com/office/drawing/2014/main" xmlns="" id="{10BB4142-3B92-B24F-AF76-70C8728A34A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79" name="Freeform 278">
                <a:extLst>
                  <a:ext uri="{FF2B5EF4-FFF2-40B4-BE49-F238E27FC236}">
                    <a16:creationId xmlns:a16="http://schemas.microsoft.com/office/drawing/2014/main" xmlns="" id="{A8740BCE-7F97-7642-B163-168373E22B1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80" name="Freeform 279">
                <a:extLst>
                  <a:ext uri="{FF2B5EF4-FFF2-40B4-BE49-F238E27FC236}">
                    <a16:creationId xmlns:a16="http://schemas.microsoft.com/office/drawing/2014/main" xmlns="" id="{9B5C1122-8A18-FC4A-A85F-6F1A1A2BF1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77" name="Group 176">
            <a:extLst>
              <a:ext uri="{FF2B5EF4-FFF2-40B4-BE49-F238E27FC236}">
                <a16:creationId xmlns:a16="http://schemas.microsoft.com/office/drawing/2014/main" xmlns="" id="{2CAF0E6F-60BF-1240-A259-C66B643E89AC}"/>
              </a:ext>
            </a:extLst>
          </p:cNvPr>
          <p:cNvGrpSpPr/>
          <p:nvPr/>
        </p:nvGrpSpPr>
        <p:grpSpPr>
          <a:xfrm>
            <a:off x="6533470" y="3175412"/>
            <a:ext cx="433524" cy="214280"/>
            <a:chOff x="7493876" y="2774731"/>
            <a:chExt cx="1481958" cy="894622"/>
          </a:xfrm>
        </p:grpSpPr>
        <p:sp>
          <p:nvSpPr>
            <p:cNvPr id="267" name="Freeform 266">
              <a:extLst>
                <a:ext uri="{FF2B5EF4-FFF2-40B4-BE49-F238E27FC236}">
                  <a16:creationId xmlns:a16="http://schemas.microsoft.com/office/drawing/2014/main" xmlns="" id="{4E5B85EA-9E84-A242-B1CC-71F987F7E59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68" name="Oval 267">
              <a:extLst>
                <a:ext uri="{FF2B5EF4-FFF2-40B4-BE49-F238E27FC236}">
                  <a16:creationId xmlns:a16="http://schemas.microsoft.com/office/drawing/2014/main" xmlns="" id="{C034AB19-CDAE-D044-BA78-A52EC726959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69" name="Group 268">
              <a:extLst>
                <a:ext uri="{FF2B5EF4-FFF2-40B4-BE49-F238E27FC236}">
                  <a16:creationId xmlns:a16="http://schemas.microsoft.com/office/drawing/2014/main" xmlns="" id="{9E108296-06B4-4949-A9AD-3C1FA5DCEA06}"/>
                </a:ext>
              </a:extLst>
            </p:cNvPr>
            <p:cNvGrpSpPr/>
            <p:nvPr/>
          </p:nvGrpSpPr>
          <p:grpSpPr>
            <a:xfrm>
              <a:off x="7713663" y="2848339"/>
              <a:ext cx="1042107" cy="425543"/>
              <a:chOff x="7786941" y="2884917"/>
              <a:chExt cx="897649" cy="353919"/>
            </a:xfrm>
          </p:grpSpPr>
          <p:sp>
            <p:nvSpPr>
              <p:cNvPr id="270" name="Freeform 269">
                <a:extLst>
                  <a:ext uri="{FF2B5EF4-FFF2-40B4-BE49-F238E27FC236}">
                    <a16:creationId xmlns:a16="http://schemas.microsoft.com/office/drawing/2014/main" xmlns="" id="{8530AB93-30E4-7A4B-88C4-61542A5A0A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71" name="Freeform 270">
                <a:extLst>
                  <a:ext uri="{FF2B5EF4-FFF2-40B4-BE49-F238E27FC236}">
                    <a16:creationId xmlns:a16="http://schemas.microsoft.com/office/drawing/2014/main" xmlns="" id="{D239BC1C-F100-2448-A44B-0B1C3E017E2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72" name="Freeform 271">
                <a:extLst>
                  <a:ext uri="{FF2B5EF4-FFF2-40B4-BE49-F238E27FC236}">
                    <a16:creationId xmlns:a16="http://schemas.microsoft.com/office/drawing/2014/main" xmlns="" id="{7FCAA9D2-9640-064E-9D9B-F975C49ECB6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73" name="Freeform 272">
                <a:extLst>
                  <a:ext uri="{FF2B5EF4-FFF2-40B4-BE49-F238E27FC236}">
                    <a16:creationId xmlns:a16="http://schemas.microsoft.com/office/drawing/2014/main" xmlns="" id="{645CEC1F-F8DD-F048-9976-7ECD558712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grpSp>
        <p:nvGrpSpPr>
          <p:cNvPr id="178" name="Group 177">
            <a:extLst>
              <a:ext uri="{FF2B5EF4-FFF2-40B4-BE49-F238E27FC236}">
                <a16:creationId xmlns:a16="http://schemas.microsoft.com/office/drawing/2014/main" xmlns="" id="{B80B3CBF-96BC-A640-867D-5DE8C38FCAA4}"/>
              </a:ext>
            </a:extLst>
          </p:cNvPr>
          <p:cNvGrpSpPr/>
          <p:nvPr/>
        </p:nvGrpSpPr>
        <p:grpSpPr>
          <a:xfrm>
            <a:off x="5823461" y="2958135"/>
            <a:ext cx="433524" cy="214280"/>
            <a:chOff x="7493876" y="2774731"/>
            <a:chExt cx="1481958" cy="894622"/>
          </a:xfrm>
        </p:grpSpPr>
        <p:sp>
          <p:nvSpPr>
            <p:cNvPr id="260" name="Freeform 259">
              <a:extLst>
                <a:ext uri="{FF2B5EF4-FFF2-40B4-BE49-F238E27FC236}">
                  <a16:creationId xmlns:a16="http://schemas.microsoft.com/office/drawing/2014/main" xmlns="" id="{E2DEA29E-E539-DD4A-8E78-F10B0CB91D3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sp>
          <p:nvSpPr>
            <p:cNvPr id="261" name="Oval 260">
              <a:extLst>
                <a:ext uri="{FF2B5EF4-FFF2-40B4-BE49-F238E27FC236}">
                  <a16:creationId xmlns:a16="http://schemas.microsoft.com/office/drawing/2014/main" xmlns="" id="{B75DAF39-296E-174B-9017-65859A66C61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r>
                <a:rPr lang="en-US" sz="1350" kern="1200" dirty="0">
                  <a:solidFill>
                    <a:prstClr val="white"/>
                  </a:solidFill>
                  <a:latin typeface="Calibri"/>
                </a:rPr>
                <a:t>              </a:t>
              </a:r>
            </a:p>
          </p:txBody>
        </p:sp>
        <p:grpSp>
          <p:nvGrpSpPr>
            <p:cNvPr id="262" name="Group 261">
              <a:extLst>
                <a:ext uri="{FF2B5EF4-FFF2-40B4-BE49-F238E27FC236}">
                  <a16:creationId xmlns:a16="http://schemas.microsoft.com/office/drawing/2014/main" xmlns="" id="{F88F2AE9-EF9D-9349-9FB8-E52CAD986B93}"/>
                </a:ext>
              </a:extLst>
            </p:cNvPr>
            <p:cNvGrpSpPr/>
            <p:nvPr/>
          </p:nvGrpSpPr>
          <p:grpSpPr>
            <a:xfrm>
              <a:off x="7713663" y="2848339"/>
              <a:ext cx="1042107" cy="425543"/>
              <a:chOff x="7786941" y="2884917"/>
              <a:chExt cx="897649" cy="353919"/>
            </a:xfrm>
          </p:grpSpPr>
          <p:sp>
            <p:nvSpPr>
              <p:cNvPr id="263" name="Freeform 262">
                <a:extLst>
                  <a:ext uri="{FF2B5EF4-FFF2-40B4-BE49-F238E27FC236}">
                    <a16:creationId xmlns:a16="http://schemas.microsoft.com/office/drawing/2014/main" xmlns="" id="{FB60E484-FF23-D44E-87D8-BB30525A1A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64" name="Freeform 263">
                <a:extLst>
                  <a:ext uri="{FF2B5EF4-FFF2-40B4-BE49-F238E27FC236}">
                    <a16:creationId xmlns:a16="http://schemas.microsoft.com/office/drawing/2014/main" xmlns="" id="{B0FF7CDC-AB3A-6C44-8273-6FEA8A00EF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65" name="Freeform 264">
                <a:extLst>
                  <a:ext uri="{FF2B5EF4-FFF2-40B4-BE49-F238E27FC236}">
                    <a16:creationId xmlns:a16="http://schemas.microsoft.com/office/drawing/2014/main" xmlns="" id="{D102FF9A-7D62-CC4B-8939-37FC1A1E61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266" name="Freeform 265">
                <a:extLst>
                  <a:ext uri="{FF2B5EF4-FFF2-40B4-BE49-F238E27FC236}">
                    <a16:creationId xmlns:a16="http://schemas.microsoft.com/office/drawing/2014/main" xmlns="" id="{928B49DE-7679-8C46-A671-A7856D8F84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sp>
        <p:nvSpPr>
          <p:cNvPr id="179" name="Freeform 254">
            <a:extLst>
              <a:ext uri="{FF2B5EF4-FFF2-40B4-BE49-F238E27FC236}">
                <a16:creationId xmlns:a16="http://schemas.microsoft.com/office/drawing/2014/main" xmlns="" id="{4BD65FCE-B086-1C41-89A5-8DAF6BA0013D}"/>
              </a:ext>
            </a:extLst>
          </p:cNvPr>
          <p:cNvSpPr>
            <a:spLocks/>
          </p:cNvSpPr>
          <p:nvPr/>
        </p:nvSpPr>
        <p:spPr bwMode="auto">
          <a:xfrm>
            <a:off x="8384150" y="1772762"/>
            <a:ext cx="188119" cy="9096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80" name="Group 289">
            <a:extLst>
              <a:ext uri="{FF2B5EF4-FFF2-40B4-BE49-F238E27FC236}">
                <a16:creationId xmlns:a16="http://schemas.microsoft.com/office/drawing/2014/main" xmlns="" id="{282CC52C-6D00-A04B-884E-AF704D4FD9CC}"/>
              </a:ext>
            </a:extLst>
          </p:cNvPr>
          <p:cNvGrpSpPr>
            <a:grpSpLocks/>
          </p:cNvGrpSpPr>
          <p:nvPr/>
        </p:nvGrpSpPr>
        <p:grpSpPr bwMode="auto">
          <a:xfrm>
            <a:off x="8516310" y="2445465"/>
            <a:ext cx="173831" cy="330994"/>
            <a:chOff x="4140" y="429"/>
            <a:chExt cx="1425" cy="2396"/>
          </a:xfrm>
        </p:grpSpPr>
        <p:sp>
          <p:nvSpPr>
            <p:cNvPr id="228" name="Freeform 290">
              <a:extLst>
                <a:ext uri="{FF2B5EF4-FFF2-40B4-BE49-F238E27FC236}">
                  <a16:creationId xmlns:a16="http://schemas.microsoft.com/office/drawing/2014/main" xmlns="" id="{DD58842D-C583-744E-BFD5-323B2ED543E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29" name="Rectangle 291">
              <a:extLst>
                <a:ext uri="{FF2B5EF4-FFF2-40B4-BE49-F238E27FC236}">
                  <a16:creationId xmlns:a16="http://schemas.microsoft.com/office/drawing/2014/main" xmlns="" id="{7A587CA9-D508-B244-898D-908A8BD8F72A}"/>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0" name="Freeform 292">
              <a:extLst>
                <a:ext uri="{FF2B5EF4-FFF2-40B4-BE49-F238E27FC236}">
                  <a16:creationId xmlns:a16="http://schemas.microsoft.com/office/drawing/2014/main" xmlns="" id="{15485B65-6A91-A741-B71C-C9054384FF1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31" name="Freeform 293">
              <a:extLst>
                <a:ext uri="{FF2B5EF4-FFF2-40B4-BE49-F238E27FC236}">
                  <a16:creationId xmlns:a16="http://schemas.microsoft.com/office/drawing/2014/main" xmlns="" id="{9FD462AB-E254-4B44-ACEE-57DF3FEA3E4E}"/>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32" name="Rectangle 294">
              <a:extLst>
                <a:ext uri="{FF2B5EF4-FFF2-40B4-BE49-F238E27FC236}">
                  <a16:creationId xmlns:a16="http://schemas.microsoft.com/office/drawing/2014/main" xmlns="" id="{8B02D026-F14D-2740-A4A5-53851F0B2463}"/>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33" name="Group 295">
              <a:extLst>
                <a:ext uri="{FF2B5EF4-FFF2-40B4-BE49-F238E27FC236}">
                  <a16:creationId xmlns:a16="http://schemas.microsoft.com/office/drawing/2014/main" xmlns="" id="{B0C25286-A814-9143-B593-142AD05ACA72}"/>
                </a:ext>
              </a:extLst>
            </p:cNvPr>
            <p:cNvGrpSpPr>
              <a:grpSpLocks/>
            </p:cNvGrpSpPr>
            <p:nvPr/>
          </p:nvGrpSpPr>
          <p:grpSpPr bwMode="auto">
            <a:xfrm>
              <a:off x="4749" y="668"/>
              <a:ext cx="581" cy="145"/>
              <a:chOff x="614" y="2568"/>
              <a:chExt cx="725" cy="139"/>
            </a:xfrm>
          </p:grpSpPr>
          <p:sp>
            <p:nvSpPr>
              <p:cNvPr id="258" name="AutoShape 296">
                <a:extLst>
                  <a:ext uri="{FF2B5EF4-FFF2-40B4-BE49-F238E27FC236}">
                    <a16:creationId xmlns:a16="http://schemas.microsoft.com/office/drawing/2014/main" xmlns="" id="{2F585279-173F-3044-B252-4EED42C34D71}"/>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9" name="AutoShape 297">
                <a:extLst>
                  <a:ext uri="{FF2B5EF4-FFF2-40B4-BE49-F238E27FC236}">
                    <a16:creationId xmlns:a16="http://schemas.microsoft.com/office/drawing/2014/main" xmlns="" id="{C0B63C95-0F44-8E4E-AEF1-8EEACAC76CD1}"/>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34" name="Rectangle 298">
              <a:extLst>
                <a:ext uri="{FF2B5EF4-FFF2-40B4-BE49-F238E27FC236}">
                  <a16:creationId xmlns:a16="http://schemas.microsoft.com/office/drawing/2014/main" xmlns="" id="{640C9C7A-DAFB-DB46-B834-AEAC566FA64C}"/>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35" name="Group 299">
              <a:extLst>
                <a:ext uri="{FF2B5EF4-FFF2-40B4-BE49-F238E27FC236}">
                  <a16:creationId xmlns:a16="http://schemas.microsoft.com/office/drawing/2014/main" xmlns="" id="{23F48019-DD1C-564E-B574-A8D1DB03F640}"/>
                </a:ext>
              </a:extLst>
            </p:cNvPr>
            <p:cNvGrpSpPr>
              <a:grpSpLocks/>
            </p:cNvGrpSpPr>
            <p:nvPr/>
          </p:nvGrpSpPr>
          <p:grpSpPr bwMode="auto">
            <a:xfrm>
              <a:off x="4747" y="994"/>
              <a:ext cx="581" cy="134"/>
              <a:chOff x="614" y="2568"/>
              <a:chExt cx="725" cy="139"/>
            </a:xfrm>
          </p:grpSpPr>
          <p:sp>
            <p:nvSpPr>
              <p:cNvPr id="256" name="AutoShape 300">
                <a:extLst>
                  <a:ext uri="{FF2B5EF4-FFF2-40B4-BE49-F238E27FC236}">
                    <a16:creationId xmlns:a16="http://schemas.microsoft.com/office/drawing/2014/main" xmlns="" id="{E4024405-5028-0C46-8622-FC0B3C820229}"/>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7" name="AutoShape 301">
                <a:extLst>
                  <a:ext uri="{FF2B5EF4-FFF2-40B4-BE49-F238E27FC236}">
                    <a16:creationId xmlns:a16="http://schemas.microsoft.com/office/drawing/2014/main" xmlns="" id="{A5F943AE-9009-0944-89F8-AA45045404E6}"/>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36" name="Rectangle 302">
              <a:extLst>
                <a:ext uri="{FF2B5EF4-FFF2-40B4-BE49-F238E27FC236}">
                  <a16:creationId xmlns:a16="http://schemas.microsoft.com/office/drawing/2014/main" xmlns="" id="{1D7CBC12-6E8F-5743-B297-791903B3F602}"/>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7" name="Rectangle 303">
              <a:extLst>
                <a:ext uri="{FF2B5EF4-FFF2-40B4-BE49-F238E27FC236}">
                  <a16:creationId xmlns:a16="http://schemas.microsoft.com/office/drawing/2014/main" xmlns="" id="{C3850711-AC6C-D149-8913-D8083044DE49}"/>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38" name="Group 304">
              <a:extLst>
                <a:ext uri="{FF2B5EF4-FFF2-40B4-BE49-F238E27FC236}">
                  <a16:creationId xmlns:a16="http://schemas.microsoft.com/office/drawing/2014/main" xmlns="" id="{9D49FEB6-488F-2048-A11B-E06E76DBE7A4}"/>
                </a:ext>
              </a:extLst>
            </p:cNvPr>
            <p:cNvGrpSpPr>
              <a:grpSpLocks/>
            </p:cNvGrpSpPr>
            <p:nvPr/>
          </p:nvGrpSpPr>
          <p:grpSpPr bwMode="auto">
            <a:xfrm>
              <a:off x="4735" y="1627"/>
              <a:ext cx="582" cy="151"/>
              <a:chOff x="614" y="2568"/>
              <a:chExt cx="725" cy="139"/>
            </a:xfrm>
          </p:grpSpPr>
          <p:sp>
            <p:nvSpPr>
              <p:cNvPr id="254" name="AutoShape 305">
                <a:extLst>
                  <a:ext uri="{FF2B5EF4-FFF2-40B4-BE49-F238E27FC236}">
                    <a16:creationId xmlns:a16="http://schemas.microsoft.com/office/drawing/2014/main" xmlns="" id="{0B25DD4D-3C90-584F-8831-6C80F4C7A987}"/>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5" name="AutoShape 306">
                <a:extLst>
                  <a:ext uri="{FF2B5EF4-FFF2-40B4-BE49-F238E27FC236}">
                    <a16:creationId xmlns:a16="http://schemas.microsoft.com/office/drawing/2014/main" xmlns="" id="{B7F3D7FB-8973-D44C-AD5E-E00A87134B2B}"/>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39" name="Freeform 307">
              <a:extLst>
                <a:ext uri="{FF2B5EF4-FFF2-40B4-BE49-F238E27FC236}">
                  <a16:creationId xmlns:a16="http://schemas.microsoft.com/office/drawing/2014/main" xmlns="" id="{43DC40CF-325A-0047-882C-F0B88908FD2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40" name="Group 308">
              <a:extLst>
                <a:ext uri="{FF2B5EF4-FFF2-40B4-BE49-F238E27FC236}">
                  <a16:creationId xmlns:a16="http://schemas.microsoft.com/office/drawing/2014/main" xmlns="" id="{F5FBB7ED-0006-594A-8F05-82D90CE6725A}"/>
                </a:ext>
              </a:extLst>
            </p:cNvPr>
            <p:cNvGrpSpPr>
              <a:grpSpLocks/>
            </p:cNvGrpSpPr>
            <p:nvPr/>
          </p:nvGrpSpPr>
          <p:grpSpPr bwMode="auto">
            <a:xfrm>
              <a:off x="4739" y="1327"/>
              <a:ext cx="582" cy="139"/>
              <a:chOff x="614" y="2568"/>
              <a:chExt cx="725" cy="139"/>
            </a:xfrm>
          </p:grpSpPr>
          <p:sp>
            <p:nvSpPr>
              <p:cNvPr id="252" name="AutoShape 309">
                <a:extLst>
                  <a:ext uri="{FF2B5EF4-FFF2-40B4-BE49-F238E27FC236}">
                    <a16:creationId xmlns:a16="http://schemas.microsoft.com/office/drawing/2014/main" xmlns="" id="{1A4A3E68-C445-A84F-A76F-8ADDE253BDDE}"/>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3" name="AutoShape 310">
                <a:extLst>
                  <a:ext uri="{FF2B5EF4-FFF2-40B4-BE49-F238E27FC236}">
                    <a16:creationId xmlns:a16="http://schemas.microsoft.com/office/drawing/2014/main" xmlns="" id="{A0077764-7657-B447-9665-316638C75160}"/>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41" name="Rectangle 311">
              <a:extLst>
                <a:ext uri="{FF2B5EF4-FFF2-40B4-BE49-F238E27FC236}">
                  <a16:creationId xmlns:a16="http://schemas.microsoft.com/office/drawing/2014/main" xmlns="" id="{8B482C5C-EFF7-D349-8CCD-0F43172E89C7}"/>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2" name="Freeform 312">
              <a:extLst>
                <a:ext uri="{FF2B5EF4-FFF2-40B4-BE49-F238E27FC236}">
                  <a16:creationId xmlns:a16="http://schemas.microsoft.com/office/drawing/2014/main" xmlns="" id="{4021586C-DA67-AA41-BA88-7AEAD6F261B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43" name="Freeform 313">
              <a:extLst>
                <a:ext uri="{FF2B5EF4-FFF2-40B4-BE49-F238E27FC236}">
                  <a16:creationId xmlns:a16="http://schemas.microsoft.com/office/drawing/2014/main" xmlns="" id="{3D9F60F4-9173-9246-8E1F-2C2859D17EA1}"/>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44" name="Oval 314">
              <a:extLst>
                <a:ext uri="{FF2B5EF4-FFF2-40B4-BE49-F238E27FC236}">
                  <a16:creationId xmlns:a16="http://schemas.microsoft.com/office/drawing/2014/main" xmlns="" id="{8765AD34-763D-1F46-AA79-FB63EC3993FF}"/>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5" name="Freeform 315">
              <a:extLst>
                <a:ext uri="{FF2B5EF4-FFF2-40B4-BE49-F238E27FC236}">
                  <a16:creationId xmlns:a16="http://schemas.microsoft.com/office/drawing/2014/main" xmlns="" id="{E10BDF5D-EA0F-F042-BD9B-6E36BFF56F0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46" name="AutoShape 316">
              <a:extLst>
                <a:ext uri="{FF2B5EF4-FFF2-40B4-BE49-F238E27FC236}">
                  <a16:creationId xmlns:a16="http://schemas.microsoft.com/office/drawing/2014/main" xmlns="" id="{6C729113-6D55-C84E-BE58-123F8F053546}"/>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7" name="AutoShape 317">
              <a:extLst>
                <a:ext uri="{FF2B5EF4-FFF2-40B4-BE49-F238E27FC236}">
                  <a16:creationId xmlns:a16="http://schemas.microsoft.com/office/drawing/2014/main" xmlns="" id="{81EA52A6-99B7-3846-9B34-7CB52FA093B6}"/>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8" name="Oval 318">
              <a:extLst>
                <a:ext uri="{FF2B5EF4-FFF2-40B4-BE49-F238E27FC236}">
                  <a16:creationId xmlns:a16="http://schemas.microsoft.com/office/drawing/2014/main" xmlns="" id="{D941D592-57DE-E849-8C9C-58F0B9615263}"/>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9" name="Oval 319">
              <a:extLst>
                <a:ext uri="{FF2B5EF4-FFF2-40B4-BE49-F238E27FC236}">
                  <a16:creationId xmlns:a16="http://schemas.microsoft.com/office/drawing/2014/main" xmlns="" id="{BE056CB0-2EDD-6D4A-957A-3CCB3F3B3C64}"/>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250" name="Oval 320">
              <a:extLst>
                <a:ext uri="{FF2B5EF4-FFF2-40B4-BE49-F238E27FC236}">
                  <a16:creationId xmlns:a16="http://schemas.microsoft.com/office/drawing/2014/main" xmlns="" id="{0996AC45-D45C-6E49-8EA2-6B239FB493B4}"/>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1" name="Rectangle 321">
              <a:extLst>
                <a:ext uri="{FF2B5EF4-FFF2-40B4-BE49-F238E27FC236}">
                  <a16:creationId xmlns:a16="http://schemas.microsoft.com/office/drawing/2014/main" xmlns="" id="{4AD2A6FD-B1C1-2846-85C2-F6D452B32A9A}"/>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181" name="Freeform 270">
            <a:extLst>
              <a:ext uri="{FF2B5EF4-FFF2-40B4-BE49-F238E27FC236}">
                <a16:creationId xmlns:a16="http://schemas.microsoft.com/office/drawing/2014/main" xmlns="" id="{327C52FA-DE4A-E94F-8911-ABEE881AA22F}"/>
              </a:ext>
            </a:extLst>
          </p:cNvPr>
          <p:cNvSpPr>
            <a:spLocks/>
          </p:cNvSpPr>
          <p:nvPr/>
        </p:nvSpPr>
        <p:spPr bwMode="auto">
          <a:xfrm flipH="1">
            <a:off x="5107550" y="1728787"/>
            <a:ext cx="188119" cy="901304"/>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182" name="Group 354">
            <a:extLst>
              <a:ext uri="{FF2B5EF4-FFF2-40B4-BE49-F238E27FC236}">
                <a16:creationId xmlns:a16="http://schemas.microsoft.com/office/drawing/2014/main" xmlns="" id="{249020EA-8359-DA4E-A6BD-01714A19478B}"/>
              </a:ext>
            </a:extLst>
          </p:cNvPr>
          <p:cNvGrpSpPr>
            <a:grpSpLocks/>
          </p:cNvGrpSpPr>
          <p:nvPr/>
        </p:nvGrpSpPr>
        <p:grpSpPr bwMode="auto">
          <a:xfrm>
            <a:off x="4803940" y="2432448"/>
            <a:ext cx="394097" cy="326231"/>
            <a:chOff x="-44" y="1473"/>
            <a:chExt cx="981" cy="1105"/>
          </a:xfrm>
        </p:grpSpPr>
        <p:pic>
          <p:nvPicPr>
            <p:cNvPr id="226" name="Picture 355" descr="desktop_computer_stylized_medium">
              <a:extLst>
                <a:ext uri="{FF2B5EF4-FFF2-40B4-BE49-F238E27FC236}">
                  <a16:creationId xmlns:a16="http://schemas.microsoft.com/office/drawing/2014/main" xmlns="" id="{F5E082B2-BADD-164A-983C-4F21EE8545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Freeform 356">
              <a:extLst>
                <a:ext uri="{FF2B5EF4-FFF2-40B4-BE49-F238E27FC236}">
                  <a16:creationId xmlns:a16="http://schemas.microsoft.com/office/drawing/2014/main" xmlns="" id="{079D48B4-8397-C148-BF34-3B142B76223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184" name="Group 183">
            <a:extLst>
              <a:ext uri="{FF2B5EF4-FFF2-40B4-BE49-F238E27FC236}">
                <a16:creationId xmlns:a16="http://schemas.microsoft.com/office/drawing/2014/main" xmlns="" id="{B24BA112-55AD-AC41-BD94-9D9DBD9F7E9A}"/>
              </a:ext>
            </a:extLst>
          </p:cNvPr>
          <p:cNvGrpSpPr/>
          <p:nvPr/>
        </p:nvGrpSpPr>
        <p:grpSpPr>
          <a:xfrm>
            <a:off x="5283965" y="1771558"/>
            <a:ext cx="538401" cy="865856"/>
            <a:chOff x="7664720" y="2799688"/>
            <a:chExt cx="717868" cy="1154474"/>
          </a:xfrm>
        </p:grpSpPr>
        <p:sp>
          <p:nvSpPr>
            <p:cNvPr id="221" name="Rectangle 220">
              <a:extLst>
                <a:ext uri="{FF2B5EF4-FFF2-40B4-BE49-F238E27FC236}">
                  <a16:creationId xmlns:a16="http://schemas.microsoft.com/office/drawing/2014/main" xmlns="" id="{1D5C8C48-4AA2-D144-9071-4FC46876C0CD}"/>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22" name="Straight Connector 221">
              <a:extLst>
                <a:ext uri="{FF2B5EF4-FFF2-40B4-BE49-F238E27FC236}">
                  <a16:creationId xmlns:a16="http://schemas.microsoft.com/office/drawing/2014/main" xmlns="" id="{C9115613-D043-F746-9E95-BE91F6C8BCC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xmlns="" id="{74476B4D-7B72-FD42-B168-C58F9397FB9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xmlns="" id="{893A87B8-2634-E14A-80D8-9E6D65DFA444}"/>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xmlns="" id="{84DDD5A1-E55B-8D44-8F53-EA448F2F5AB7}"/>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8" name="Group 187">
            <a:extLst>
              <a:ext uri="{FF2B5EF4-FFF2-40B4-BE49-F238E27FC236}">
                <a16:creationId xmlns:a16="http://schemas.microsoft.com/office/drawing/2014/main" xmlns="" id="{D946DB51-76AF-794B-896C-CE798C356CDC}"/>
              </a:ext>
            </a:extLst>
          </p:cNvPr>
          <p:cNvGrpSpPr/>
          <p:nvPr/>
        </p:nvGrpSpPr>
        <p:grpSpPr>
          <a:xfrm>
            <a:off x="7857686" y="1776491"/>
            <a:ext cx="538401" cy="865856"/>
            <a:chOff x="7664720" y="2795550"/>
            <a:chExt cx="717868" cy="1154474"/>
          </a:xfrm>
        </p:grpSpPr>
        <p:sp>
          <p:nvSpPr>
            <p:cNvPr id="210" name="Rectangle 209">
              <a:extLst>
                <a:ext uri="{FF2B5EF4-FFF2-40B4-BE49-F238E27FC236}">
                  <a16:creationId xmlns:a16="http://schemas.microsoft.com/office/drawing/2014/main" xmlns="" id="{2945C805-FB4D-1F41-B9DC-8E71DE43D0DF}"/>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11" name="Straight Connector 210">
              <a:extLst>
                <a:ext uri="{FF2B5EF4-FFF2-40B4-BE49-F238E27FC236}">
                  <a16:creationId xmlns:a16="http://schemas.microsoft.com/office/drawing/2014/main" xmlns="" id="{5C0CB443-CBC2-9E45-9CB6-C744CDA9BFD1}"/>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xmlns="" id="{804DF73C-F88C-FA4D-8328-09984DEA993E}"/>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xmlns="" id="{F977C676-85FB-0F40-8B20-289C82EC6C10}"/>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xmlns="" id="{D0AB40D6-D3E3-F644-A0B4-C65086440100}"/>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xmlns="" id="{CD01A017-DD54-D843-8EFE-4E068B32A548}"/>
              </a:ext>
            </a:extLst>
          </p:cNvPr>
          <p:cNvGrpSpPr/>
          <p:nvPr/>
        </p:nvGrpSpPr>
        <p:grpSpPr>
          <a:xfrm>
            <a:off x="6650874" y="3184171"/>
            <a:ext cx="342526" cy="169911"/>
            <a:chOff x="6859123" y="5156933"/>
            <a:chExt cx="456701" cy="226548"/>
          </a:xfrm>
        </p:grpSpPr>
        <p:sp>
          <p:nvSpPr>
            <p:cNvPr id="202" name="Rectangle 201">
              <a:extLst>
                <a:ext uri="{FF2B5EF4-FFF2-40B4-BE49-F238E27FC236}">
                  <a16:creationId xmlns:a16="http://schemas.microsoft.com/office/drawing/2014/main" xmlns="" id="{A9C46B58-EB58-CD4B-901C-36557A6BBB8A}"/>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cxnSp>
          <p:nvCxnSpPr>
            <p:cNvPr id="203" name="Straight Connector 202">
              <a:extLst>
                <a:ext uri="{FF2B5EF4-FFF2-40B4-BE49-F238E27FC236}">
                  <a16:creationId xmlns:a16="http://schemas.microsoft.com/office/drawing/2014/main" xmlns="" id="{F310AA80-E5E5-9D45-B059-DBF356B23652}"/>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xmlns="" id="{2B504DA0-0830-A247-BFB2-5B08B92F485C}"/>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xmlns="" id="{89AA1B6E-8009-4F41-B5BE-F62AE9B4630F}"/>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xmlns="" id="{69984DBE-4678-3045-8619-E36B03BB624E}"/>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xmlns="" id="{334E391C-886C-FD40-90C5-307C327A8D88}"/>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xmlns="" id="{8740E756-940A-C245-BFC2-46F263F13E78}"/>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xmlns="" id="{3646C395-21B6-0B4A-B835-DCBA9C58427F}"/>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xmlns="" id="{E87911E2-4676-1041-AC82-896E82DBBF94}"/>
              </a:ext>
            </a:extLst>
          </p:cNvPr>
          <p:cNvGrpSpPr/>
          <p:nvPr/>
        </p:nvGrpSpPr>
        <p:grpSpPr>
          <a:xfrm>
            <a:off x="5664299" y="2071632"/>
            <a:ext cx="2296261" cy="1074980"/>
            <a:chOff x="7552398" y="2762175"/>
            <a:chExt cx="3061681" cy="1433307"/>
          </a:xfrm>
        </p:grpSpPr>
        <p:sp>
          <p:nvSpPr>
            <p:cNvPr id="306" name="Freeform 305">
              <a:extLst>
                <a:ext uri="{FF2B5EF4-FFF2-40B4-BE49-F238E27FC236}">
                  <a16:creationId xmlns:a16="http://schemas.microsoft.com/office/drawing/2014/main" xmlns="" id="{A047DABE-6D91-2B46-B457-9C4D910EAC34}"/>
                </a:ext>
              </a:extLst>
            </p:cNvPr>
            <p:cNvSpPr/>
            <p:nvPr/>
          </p:nvSpPr>
          <p:spPr>
            <a:xfrm flipH="1">
              <a:off x="9104671" y="2771139"/>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07" name="Freeform 306">
              <a:extLst>
                <a:ext uri="{FF2B5EF4-FFF2-40B4-BE49-F238E27FC236}">
                  <a16:creationId xmlns:a16="http://schemas.microsoft.com/office/drawing/2014/main" xmlns="" id="{268EAC65-5523-F449-A3E7-F1059BFF90A8}"/>
                </a:ext>
              </a:extLst>
            </p:cNvPr>
            <p:cNvSpPr/>
            <p:nvPr/>
          </p:nvSpPr>
          <p:spPr>
            <a:xfrm>
              <a:off x="7552398" y="2762175"/>
              <a:ext cx="1509408" cy="1424343"/>
            </a:xfrm>
            <a:custGeom>
              <a:avLst/>
              <a:gdLst>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327355 w 1327355"/>
                <a:gd name="connsiteY0" fmla="*/ 1386348 h 1386348"/>
                <a:gd name="connsiteX1" fmla="*/ 0 w 1327355"/>
                <a:gd name="connsiteY1" fmla="*/ 0 h 1386348"/>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 name="connsiteX0" fmla="*/ 1509408 w 1509408"/>
                <a:gd name="connsiteY0" fmla="*/ 1378340 h 1378340"/>
                <a:gd name="connsiteX1" fmla="*/ 0 w 1509408"/>
                <a:gd name="connsiteY1" fmla="*/ 0 h 1378340"/>
              </a:gdLst>
              <a:ahLst/>
              <a:cxnLst>
                <a:cxn ang="0">
                  <a:pos x="connsiteX0" y="connsiteY0"/>
                </a:cxn>
                <a:cxn ang="0">
                  <a:pos x="connsiteX1" y="connsiteY1"/>
                </a:cxn>
              </a:cxnLst>
              <a:rect l="l" t="t" r="r" b="b"/>
              <a:pathLst>
                <a:path w="1509408" h="1378340">
                  <a:moveTo>
                    <a:pt x="1509408" y="1378340"/>
                  </a:moveTo>
                  <a:cubicBezTo>
                    <a:pt x="1268229" y="509348"/>
                    <a:pt x="882368" y="54174"/>
                    <a:pt x="0" y="0"/>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grpSp>
      <p:grpSp>
        <p:nvGrpSpPr>
          <p:cNvPr id="308" name="Group 307">
            <a:extLst>
              <a:ext uri="{FF2B5EF4-FFF2-40B4-BE49-F238E27FC236}">
                <a16:creationId xmlns:a16="http://schemas.microsoft.com/office/drawing/2014/main" xmlns="" id="{CDE6A3E2-3661-2F4D-A6C8-724B4A3D05ED}"/>
              </a:ext>
            </a:extLst>
          </p:cNvPr>
          <p:cNvGrpSpPr/>
          <p:nvPr/>
        </p:nvGrpSpPr>
        <p:grpSpPr>
          <a:xfrm>
            <a:off x="5571432" y="2007987"/>
            <a:ext cx="2563742" cy="1278763"/>
            <a:chOff x="7428575" y="2677315"/>
            <a:chExt cx="3418322" cy="1705017"/>
          </a:xfrm>
        </p:grpSpPr>
        <p:sp>
          <p:nvSpPr>
            <p:cNvPr id="309" name="Freeform 308">
              <a:extLst>
                <a:ext uri="{FF2B5EF4-FFF2-40B4-BE49-F238E27FC236}">
                  <a16:creationId xmlns:a16="http://schemas.microsoft.com/office/drawing/2014/main" xmlns="" id="{B47BEEA4-E4B8-A64E-885F-14003C8F5A1B}"/>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10" name="Freeform 309">
              <a:extLst>
                <a:ext uri="{FF2B5EF4-FFF2-40B4-BE49-F238E27FC236}">
                  <a16:creationId xmlns:a16="http://schemas.microsoft.com/office/drawing/2014/main" xmlns="" id="{304AE042-2E8A-D141-BC94-ED99460E627E}"/>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11" name="TextBox 310">
              <a:extLst>
                <a:ext uri="{FF2B5EF4-FFF2-40B4-BE49-F238E27FC236}">
                  <a16:creationId xmlns:a16="http://schemas.microsoft.com/office/drawing/2014/main" xmlns="" id="{272D3047-A7CC-1745-B040-00D1E25997AF}"/>
                </a:ext>
              </a:extLst>
            </p:cNvPr>
            <p:cNvSpPr txBox="1"/>
            <p:nvPr/>
          </p:nvSpPr>
          <p:spPr>
            <a:xfrm>
              <a:off x="10184578" y="3556613"/>
              <a:ext cx="662319" cy="400109"/>
            </a:xfrm>
            <a:prstGeom prst="rect">
              <a:avLst/>
            </a:prstGeom>
            <a:noFill/>
          </p:spPr>
          <p:txBody>
            <a:bodyPr wrap="none" rtlCol="0">
              <a:spAutoFit/>
            </a:bodyPr>
            <a:lstStyle/>
            <a:p>
              <a:pPr algn="l" defTabSz="685800" rtl="0">
                <a:defRPr/>
              </a:pPr>
              <a:r>
                <a:rPr lang="en-US" sz="1350" kern="1200" dirty="0">
                  <a:solidFill>
                    <a:srgbClr val="5B9BD5">
                      <a:lumMod val="75000"/>
                    </a:srgbClr>
                  </a:solidFill>
                  <a:latin typeface="Calibri"/>
                  <a:ea typeface="+mn-ea"/>
                  <a:cs typeface="+mn-cs"/>
                </a:rPr>
                <a:t>data</a:t>
              </a:r>
            </a:p>
          </p:txBody>
        </p:sp>
        <p:sp>
          <p:nvSpPr>
            <p:cNvPr id="312" name="TextBox 311">
              <a:extLst>
                <a:ext uri="{FF2B5EF4-FFF2-40B4-BE49-F238E27FC236}">
                  <a16:creationId xmlns:a16="http://schemas.microsoft.com/office/drawing/2014/main" xmlns="" id="{BBCAFBB0-6D98-9742-AB87-26B3EE90BCAB}"/>
                </a:ext>
              </a:extLst>
            </p:cNvPr>
            <p:cNvSpPr txBox="1"/>
            <p:nvPr/>
          </p:nvSpPr>
          <p:spPr>
            <a:xfrm>
              <a:off x="7428575" y="3517694"/>
              <a:ext cx="662319" cy="400109"/>
            </a:xfrm>
            <a:prstGeom prst="rect">
              <a:avLst/>
            </a:prstGeom>
            <a:noFill/>
          </p:spPr>
          <p:txBody>
            <a:bodyPr wrap="none" rtlCol="0">
              <a:spAutoFit/>
            </a:bodyPr>
            <a:lstStyle/>
            <a:p>
              <a:pPr algn="l" defTabSz="685800" rtl="0">
                <a:defRPr/>
              </a:pPr>
              <a:r>
                <a:rPr lang="en-US" sz="1350" kern="1200" dirty="0">
                  <a:solidFill>
                    <a:srgbClr val="5B9BD5">
                      <a:lumMod val="75000"/>
                    </a:srgbClr>
                  </a:solidFill>
                  <a:latin typeface="Calibri"/>
                  <a:ea typeface="+mn-ea"/>
                  <a:cs typeface="+mn-cs"/>
                </a:rPr>
                <a:t>data</a:t>
              </a:r>
            </a:p>
          </p:txBody>
        </p:sp>
      </p:grpSp>
      <p:grpSp>
        <p:nvGrpSpPr>
          <p:cNvPr id="313" name="Group 312">
            <a:extLst>
              <a:ext uri="{FF2B5EF4-FFF2-40B4-BE49-F238E27FC236}">
                <a16:creationId xmlns:a16="http://schemas.microsoft.com/office/drawing/2014/main" xmlns="" id="{5DFB8599-7DDC-8447-ADE3-2DAD2C0402AB}"/>
              </a:ext>
            </a:extLst>
          </p:cNvPr>
          <p:cNvGrpSpPr/>
          <p:nvPr/>
        </p:nvGrpSpPr>
        <p:grpSpPr>
          <a:xfrm>
            <a:off x="5099714" y="2018433"/>
            <a:ext cx="3538638" cy="1370632"/>
            <a:chOff x="6799618" y="2691243"/>
            <a:chExt cx="4718184" cy="1827509"/>
          </a:xfrm>
        </p:grpSpPr>
        <p:sp>
          <p:nvSpPr>
            <p:cNvPr id="314" name="Freeform 313">
              <a:extLst>
                <a:ext uri="{FF2B5EF4-FFF2-40B4-BE49-F238E27FC236}">
                  <a16:creationId xmlns:a16="http://schemas.microsoft.com/office/drawing/2014/main" xmlns="" id="{67AC42C5-3F9E-0D4E-B80B-DB0208D256F0}"/>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315" name="TextBox 314">
              <a:extLst>
                <a:ext uri="{FF2B5EF4-FFF2-40B4-BE49-F238E27FC236}">
                  <a16:creationId xmlns:a16="http://schemas.microsoft.com/office/drawing/2014/main" xmlns="" id="{4B1BE921-31E4-C342-B3CD-DD49B4829966}"/>
                </a:ext>
              </a:extLst>
            </p:cNvPr>
            <p:cNvSpPr txBox="1"/>
            <p:nvPr/>
          </p:nvSpPr>
          <p:spPr>
            <a:xfrm>
              <a:off x="6799618" y="3650736"/>
              <a:ext cx="708399" cy="400109"/>
            </a:xfrm>
            <a:prstGeom prst="rect">
              <a:avLst/>
            </a:prstGeom>
            <a:noFill/>
          </p:spPr>
          <p:txBody>
            <a:bodyPr wrap="none" rtlCol="0">
              <a:spAutoFit/>
            </a:bodyPr>
            <a:lstStyle/>
            <a:p>
              <a:pPr algn="l" defTabSz="685800" rtl="0">
                <a:defRPr/>
              </a:pPr>
              <a:r>
                <a:rPr lang="en-US" sz="1350" kern="1200" dirty="0">
                  <a:solidFill>
                    <a:srgbClr val="00B050"/>
                  </a:solidFill>
                  <a:latin typeface="Calibri"/>
                  <a:ea typeface="+mn-ea"/>
                  <a:cs typeface="+mn-cs"/>
                </a:rPr>
                <a:t>ACKs</a:t>
              </a:r>
            </a:p>
          </p:txBody>
        </p:sp>
        <p:sp>
          <p:nvSpPr>
            <p:cNvPr id="316" name="TextBox 315">
              <a:extLst>
                <a:ext uri="{FF2B5EF4-FFF2-40B4-BE49-F238E27FC236}">
                  <a16:creationId xmlns:a16="http://schemas.microsoft.com/office/drawing/2014/main" xmlns="" id="{E8B4DCFA-3A87-864C-A054-ED417A34E19F}"/>
                </a:ext>
              </a:extLst>
            </p:cNvPr>
            <p:cNvSpPr txBox="1"/>
            <p:nvPr/>
          </p:nvSpPr>
          <p:spPr>
            <a:xfrm>
              <a:off x="10809403" y="3772400"/>
              <a:ext cx="708399" cy="400109"/>
            </a:xfrm>
            <a:prstGeom prst="rect">
              <a:avLst/>
            </a:prstGeom>
            <a:noFill/>
          </p:spPr>
          <p:txBody>
            <a:bodyPr wrap="none" rtlCol="0">
              <a:spAutoFit/>
            </a:bodyPr>
            <a:lstStyle/>
            <a:p>
              <a:pPr algn="l" defTabSz="685800" rtl="0">
                <a:defRPr/>
              </a:pPr>
              <a:r>
                <a:rPr lang="en-US" sz="1350" kern="1200" dirty="0">
                  <a:solidFill>
                    <a:srgbClr val="00B050"/>
                  </a:solidFill>
                  <a:latin typeface="Calibri"/>
                  <a:ea typeface="+mn-ea"/>
                  <a:cs typeface="+mn-cs"/>
                </a:rPr>
                <a:t>ACKs</a:t>
              </a:r>
            </a:p>
          </p:txBody>
        </p:sp>
      </p:grpSp>
      <p:sp>
        <p:nvSpPr>
          <p:cNvPr id="2" name="TextBox 1">
            <a:extLst>
              <a:ext uri="{FF2B5EF4-FFF2-40B4-BE49-F238E27FC236}">
                <a16:creationId xmlns:a16="http://schemas.microsoft.com/office/drawing/2014/main" xmlns="" id="{CFA18EA5-E5A9-6043-B7D4-AA1698F72E02}"/>
              </a:ext>
            </a:extLst>
          </p:cNvPr>
          <p:cNvSpPr txBox="1"/>
          <p:nvPr/>
        </p:nvSpPr>
        <p:spPr>
          <a:xfrm>
            <a:off x="6045916" y="1967068"/>
            <a:ext cx="1621470" cy="276999"/>
          </a:xfrm>
          <a:prstGeom prst="rect">
            <a:avLst/>
          </a:prstGeom>
          <a:noFill/>
        </p:spPr>
        <p:txBody>
          <a:bodyPr wrap="none" rtlCol="0">
            <a:spAutoFit/>
          </a:bodyPr>
          <a:lstStyle/>
          <a:p>
            <a:pPr algn="l" defTabSz="685800" rtl="0">
              <a:defRPr/>
            </a:pPr>
            <a:r>
              <a:rPr lang="en-US" sz="1200" kern="1200" dirty="0">
                <a:solidFill>
                  <a:srgbClr val="C00000"/>
                </a:solidFill>
                <a:latin typeface="Calibri"/>
                <a:ea typeface="+mn-ea"/>
                <a:cs typeface="+mn-cs"/>
              </a:rPr>
              <a:t>explicit congestion info</a:t>
            </a:r>
          </a:p>
        </p:txBody>
      </p:sp>
      <p:sp>
        <p:nvSpPr>
          <p:cNvPr id="133" name="Rectangle 3">
            <a:extLst>
              <a:ext uri="{FF2B5EF4-FFF2-40B4-BE49-F238E27FC236}">
                <a16:creationId xmlns:a16="http://schemas.microsoft.com/office/drawing/2014/main" xmlns="" id="{5D568CC7-EA67-7743-9944-2BC5136F529F}"/>
              </a:ext>
            </a:extLst>
          </p:cNvPr>
          <p:cNvSpPr txBox="1">
            <a:spLocks noChangeArrowheads="1"/>
          </p:cNvSpPr>
          <p:nvPr/>
        </p:nvSpPr>
        <p:spPr>
          <a:xfrm>
            <a:off x="523568" y="1364226"/>
            <a:ext cx="4336026" cy="286607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625" dirty="0">
                <a:solidFill>
                  <a:srgbClr val="C00000"/>
                </a:solidFill>
                <a:latin typeface="Calibri"/>
              </a:rPr>
              <a:t>Network-assisted congestion control:</a:t>
            </a:r>
          </a:p>
          <a:p>
            <a:pPr marL="305991" indent="-208360" defTabSz="685800">
              <a:spcBef>
                <a:spcPts val="750"/>
              </a:spcBef>
              <a:defRPr/>
            </a:pPr>
            <a:r>
              <a:rPr lang="en-US" sz="2250" dirty="0">
                <a:solidFill>
                  <a:prstClr val="black"/>
                </a:solidFill>
                <a:latin typeface="Calibri"/>
              </a:rPr>
              <a:t>routers provide </a:t>
            </a:r>
            <a:r>
              <a:rPr lang="en-US" sz="2250" i="1" dirty="0">
                <a:solidFill>
                  <a:srgbClr val="C00000"/>
                </a:solidFill>
                <a:latin typeface="Calibri"/>
              </a:rPr>
              <a:t>direct</a:t>
            </a:r>
            <a:r>
              <a:rPr lang="en-US" sz="2250" dirty="0">
                <a:solidFill>
                  <a:prstClr val="black"/>
                </a:solidFill>
                <a:latin typeface="Calibri"/>
              </a:rPr>
              <a:t> feedback to sending/receiving hosts with flows passing through congested router</a:t>
            </a:r>
          </a:p>
          <a:p>
            <a:pPr marL="305991" indent="-208360" defTabSz="685800">
              <a:spcBef>
                <a:spcPts val="750"/>
              </a:spcBef>
              <a:defRPr/>
            </a:pPr>
            <a:r>
              <a:rPr lang="en-US" sz="2250" dirty="0">
                <a:solidFill>
                  <a:prstClr val="black"/>
                </a:solidFill>
                <a:latin typeface="Calibri"/>
              </a:rPr>
              <a:t>may indicate congestion level or explicitly set sending rate</a:t>
            </a:r>
          </a:p>
        </p:txBody>
      </p:sp>
      <p:sp>
        <p:nvSpPr>
          <p:cNvPr id="4" name="TextBox 3">
            <a:extLst>
              <a:ext uri="{FF2B5EF4-FFF2-40B4-BE49-F238E27FC236}">
                <a16:creationId xmlns:a16="http://schemas.microsoft.com/office/drawing/2014/main" xmlns="" id="{7D17C6CA-C5DE-9F4C-28B5-B97DC01996E1}"/>
              </a:ext>
            </a:extLst>
          </p:cNvPr>
          <p:cNvSpPr txBox="1"/>
          <p:nvPr/>
        </p:nvSpPr>
        <p:spPr>
          <a:xfrm>
            <a:off x="5515460" y="3832649"/>
            <a:ext cx="3227739" cy="738664"/>
          </a:xfrm>
          <a:prstGeom prst="rect">
            <a:avLst/>
          </a:prstGeom>
          <a:noFill/>
        </p:spPr>
        <p:txBody>
          <a:bodyPr wrap="square">
            <a:spAutoFit/>
          </a:bodyPr>
          <a:lstStyle/>
          <a:p>
            <a:r>
              <a:rPr lang="en-US" sz="1400" b="1" i="1" dirty="0">
                <a:latin typeface="Calibri" panose="020F0502020204030204" pitchFamily="34" charset="0"/>
                <a:ea typeface="Calibri" panose="020F0502020204030204" pitchFamily="34" charset="0"/>
                <a:cs typeface="Calibri" panose="020F0502020204030204" pitchFamily="34" charset="0"/>
              </a:rPr>
              <a:t>ECN - </a:t>
            </a:r>
            <a:r>
              <a:rPr lang="en-IN" sz="1400" b="1" i="1"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Explicit Congestion </a:t>
            </a:r>
            <a:r>
              <a:rPr lang="en-IN" sz="1400" b="1" i="1" dirty="0">
                <a:solidFill>
                  <a:srgbClr val="040C28"/>
                </a:solidFill>
                <a:latin typeface="Calibri" panose="020F0502020204030204" pitchFamily="34" charset="0"/>
                <a:ea typeface="Calibri" panose="020F0502020204030204" pitchFamily="34" charset="0"/>
                <a:cs typeface="Calibri" panose="020F0502020204030204" pitchFamily="34" charset="0"/>
              </a:rPr>
              <a:t>N</a:t>
            </a:r>
            <a:r>
              <a:rPr lang="en-IN" sz="1400" b="1" i="1"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otification</a:t>
            </a:r>
          </a:p>
          <a:p>
            <a:r>
              <a:rPr lang="en-IN" sz="1400" b="1" i="1" dirty="0">
                <a:solidFill>
                  <a:srgbClr val="040C28"/>
                </a:solidFill>
                <a:latin typeface="Calibri" panose="020F0502020204030204" pitchFamily="34" charset="0"/>
                <a:ea typeface="Calibri" panose="020F0502020204030204" pitchFamily="34" charset="0"/>
                <a:cs typeface="Calibri" panose="020F0502020204030204" pitchFamily="34" charset="0"/>
              </a:rPr>
              <a:t>ATM - </a:t>
            </a:r>
            <a:r>
              <a:rPr lang="en-IN" sz="1400" b="1" i="1"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Asynchronous Transfer Mode</a:t>
            </a:r>
            <a:endParaRPr lang="en-IN" sz="1400" b="1" i="1" dirty="0">
              <a:solidFill>
                <a:srgbClr val="040C28"/>
              </a:solidFill>
              <a:latin typeface="Calibri" panose="020F0502020204030204" pitchFamily="34" charset="0"/>
              <a:ea typeface="Calibri" panose="020F0502020204030204" pitchFamily="34" charset="0"/>
              <a:cs typeface="Calibri" panose="020F0502020204030204" pitchFamily="34" charset="0"/>
            </a:endParaRPr>
          </a:p>
          <a:p>
            <a:r>
              <a:rPr lang="en-IN" sz="1400" b="1" i="1" dirty="0">
                <a:solidFill>
                  <a:srgbClr val="040C28"/>
                </a:solidFill>
                <a:latin typeface="Calibri" panose="020F0502020204030204" pitchFamily="34" charset="0"/>
                <a:ea typeface="Calibri" panose="020F0502020204030204" pitchFamily="34" charset="0"/>
                <a:cs typeface="Calibri" panose="020F0502020204030204" pitchFamily="34" charset="0"/>
              </a:rPr>
              <a:t>DECbit - </a:t>
            </a:r>
            <a:r>
              <a:rPr lang="en-IN" sz="1400" b="1" i="1" dirty="0">
                <a:solidFill>
                  <a:srgbClr val="040C28"/>
                </a:solidFill>
                <a:effectLst/>
                <a:latin typeface="Calibri" panose="020F0502020204030204" pitchFamily="34" charset="0"/>
                <a:ea typeface="Calibri" panose="020F0502020204030204" pitchFamily="34" charset="0"/>
                <a:cs typeface="Calibri" panose="020F0502020204030204" pitchFamily="34" charset="0"/>
              </a:rPr>
              <a:t>Decreasing Bit-rate</a:t>
            </a:r>
            <a:endParaRPr lang="en-IN" sz="1400" b="1"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9885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wipe(left)">
                                      <p:cBhvr>
                                        <p:cTn id="7" dur="1000"/>
                                        <p:tgtEl>
                                          <p:spTgt spid="308"/>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13"/>
                                        </p:tgtEl>
                                        <p:attrNameLst>
                                          <p:attrName>style.visibility</p:attrName>
                                        </p:attrNameLst>
                                      </p:cBhvr>
                                      <p:to>
                                        <p:strVal val="visible"/>
                                      </p:to>
                                    </p:set>
                                    <p:animEffect transition="in" filter="wipe(right)">
                                      <p:cBhvr>
                                        <p:cTn id="11" dur="1000"/>
                                        <p:tgtEl>
                                          <p:spTgt spid="31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7289">
                                            <p:txEl>
                                              <p:pRg st="0" end="0"/>
                                            </p:txEl>
                                          </p:spTgt>
                                        </p:tgtEl>
                                        <p:attrNameLst>
                                          <p:attrName>style.visibility</p:attrName>
                                        </p:attrNameLst>
                                      </p:cBhvr>
                                      <p:to>
                                        <p:strVal val="visible"/>
                                      </p:to>
                                    </p:set>
                                    <p:animEffect transition="in" filter="dissolve">
                                      <p:cBhvr>
                                        <p:cTn id="25" dur="500"/>
                                        <p:tgtEl>
                                          <p:spTgt spid="972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9" grpId="0" build="p"/>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5" name="Rectangle 11">
            <a:extLst>
              <a:ext uri="{FF2B5EF4-FFF2-40B4-BE49-F238E27FC236}">
                <a16:creationId xmlns:a16="http://schemas.microsoft.com/office/drawing/2014/main" xmlns="" id="{859EF0F5-7131-4C68-F714-E5861B0E95CE}"/>
              </a:ext>
            </a:extLst>
          </p:cNvPr>
          <p:cNvSpPr>
            <a:spLocks noChangeArrowheads="1"/>
          </p:cNvSpPr>
          <p:nvPr/>
        </p:nvSpPr>
        <p:spPr bwMode="auto">
          <a:xfrm>
            <a:off x="3890963" y="2744391"/>
            <a:ext cx="51435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04456" name="Text Box 12">
            <a:extLst>
              <a:ext uri="{FF2B5EF4-FFF2-40B4-BE49-F238E27FC236}">
                <a16:creationId xmlns:a16="http://schemas.microsoft.com/office/drawing/2014/main" xmlns="" id="{BADD59B0-7E74-3565-1350-BBD846D40A2A}"/>
              </a:ext>
            </a:extLst>
          </p:cNvPr>
          <p:cNvSpPr txBox="1">
            <a:spLocks noChangeArrowheads="1"/>
          </p:cNvSpPr>
          <p:nvPr/>
        </p:nvSpPr>
        <p:spPr bwMode="auto">
          <a:xfrm rot="16200000">
            <a:off x="2664637" y="3574866"/>
            <a:ext cx="1604928" cy="4154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b="1" kern="1200">
                <a:solidFill>
                  <a:srgbClr val="000000"/>
                </a:solidFill>
                <a:latin typeface="Courier New" panose="02070309020205020404" pitchFamily="49" charset="0"/>
                <a:cs typeface="+mn-cs"/>
              </a:rPr>
              <a:t>cwnd:</a:t>
            </a:r>
            <a:r>
              <a:rPr lang="en-US" altLang="en-US" sz="1050" kern="1200">
                <a:solidFill>
                  <a:srgbClr val="000000"/>
                </a:solidFill>
                <a:latin typeface="Arial" panose="020B0604020202020204" pitchFamily="34" charset="0"/>
                <a:cs typeface="+mn-cs"/>
              </a:rPr>
              <a:t> TCP sender </a:t>
            </a:r>
          </a:p>
          <a:p>
            <a:pPr algn="ctr" defTabSz="685800" rtl="0" eaLnBrk="0" fontAlgn="base" hangingPunct="0">
              <a:lnSpc>
                <a:spcPct val="100000"/>
              </a:lnSpc>
              <a:spcBef>
                <a:spcPct val="0"/>
              </a:spcBef>
              <a:spcAft>
                <a:spcPct val="0"/>
              </a:spcAft>
              <a:buClrTx/>
              <a:buSzTx/>
              <a:buNone/>
            </a:pPr>
            <a:r>
              <a:rPr lang="en-US" altLang="en-US" sz="1050" kern="1200">
                <a:solidFill>
                  <a:srgbClr val="000000"/>
                </a:solidFill>
                <a:latin typeface="Arial" panose="020B0604020202020204" pitchFamily="34" charset="0"/>
                <a:cs typeface="+mn-cs"/>
              </a:rPr>
              <a:t>congestion window size</a:t>
            </a:r>
          </a:p>
        </p:txBody>
      </p:sp>
      <p:sp>
        <p:nvSpPr>
          <p:cNvPr id="104457" name="Text Box 13">
            <a:extLst>
              <a:ext uri="{FF2B5EF4-FFF2-40B4-BE49-F238E27FC236}">
                <a16:creationId xmlns:a16="http://schemas.microsoft.com/office/drawing/2014/main" xmlns="" id="{19DEE889-B977-1FEC-F6DF-E2439A6A7123}"/>
              </a:ext>
            </a:extLst>
          </p:cNvPr>
          <p:cNvSpPr txBox="1">
            <a:spLocks noChangeArrowheads="1"/>
          </p:cNvSpPr>
          <p:nvPr/>
        </p:nvSpPr>
        <p:spPr bwMode="auto">
          <a:xfrm>
            <a:off x="1396354" y="3336131"/>
            <a:ext cx="1675459"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r" defTabSz="685800" rtl="0" eaLnBrk="0" fontAlgn="base" hangingPunct="0">
              <a:lnSpc>
                <a:spcPct val="100000"/>
              </a:lnSpc>
              <a:spcBef>
                <a:spcPct val="0"/>
              </a:spcBef>
              <a:spcAft>
                <a:spcPct val="0"/>
              </a:spcAft>
              <a:buClrTx/>
              <a:buSzTx/>
              <a:buNone/>
            </a:pPr>
            <a:r>
              <a:rPr lang="en-US" altLang="en-US" sz="1500" kern="1200">
                <a:solidFill>
                  <a:srgbClr val="000000"/>
                </a:solidFill>
                <a:latin typeface="Arial" panose="020B0604020202020204" pitchFamily="34" charset="0"/>
                <a:cs typeface="+mn-cs"/>
              </a:rPr>
              <a:t>AIMD saw tooth</a:t>
            </a:r>
          </a:p>
          <a:p>
            <a:pPr algn="r" defTabSz="685800" rtl="0" eaLnBrk="0" fontAlgn="base" hangingPunct="0">
              <a:lnSpc>
                <a:spcPct val="100000"/>
              </a:lnSpc>
              <a:spcBef>
                <a:spcPct val="0"/>
              </a:spcBef>
              <a:spcAft>
                <a:spcPct val="0"/>
              </a:spcAft>
              <a:buClrTx/>
              <a:buSzTx/>
              <a:buNone/>
            </a:pPr>
            <a:r>
              <a:rPr lang="en-US" altLang="en-US" sz="1500" kern="1200">
                <a:solidFill>
                  <a:srgbClr val="000000"/>
                </a:solidFill>
                <a:latin typeface="Arial" panose="020B0604020202020204" pitchFamily="34" charset="0"/>
                <a:cs typeface="+mn-cs"/>
              </a:rPr>
              <a:t>behavior: probing</a:t>
            </a:r>
          </a:p>
          <a:p>
            <a:pPr algn="r" defTabSz="685800" rtl="0" eaLnBrk="0" fontAlgn="base" hangingPunct="0">
              <a:lnSpc>
                <a:spcPct val="100000"/>
              </a:lnSpc>
              <a:spcBef>
                <a:spcPct val="0"/>
              </a:spcBef>
              <a:spcAft>
                <a:spcPct val="0"/>
              </a:spcAft>
              <a:buClrTx/>
              <a:buSzTx/>
              <a:buNone/>
            </a:pPr>
            <a:r>
              <a:rPr lang="en-US" altLang="en-US" sz="1500" kern="1200">
                <a:solidFill>
                  <a:srgbClr val="000000"/>
                </a:solidFill>
                <a:latin typeface="Arial" panose="020B0604020202020204" pitchFamily="34" charset="0"/>
                <a:cs typeface="+mn-cs"/>
              </a:rPr>
              <a:t>for bandwidth</a:t>
            </a:r>
          </a:p>
        </p:txBody>
      </p:sp>
      <p:sp>
        <p:nvSpPr>
          <p:cNvPr id="104458" name="Line 17">
            <a:extLst>
              <a:ext uri="{FF2B5EF4-FFF2-40B4-BE49-F238E27FC236}">
                <a16:creationId xmlns:a16="http://schemas.microsoft.com/office/drawing/2014/main" xmlns="" id="{FF0A3E92-B235-3EF6-92F1-127E6C335718}"/>
              </a:ext>
            </a:extLst>
          </p:cNvPr>
          <p:cNvSpPr>
            <a:spLocks noChangeShapeType="1"/>
          </p:cNvSpPr>
          <p:nvPr/>
        </p:nvSpPr>
        <p:spPr bwMode="auto">
          <a:xfrm>
            <a:off x="3771901" y="4612481"/>
            <a:ext cx="310753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59" name="Line 18">
            <a:extLst>
              <a:ext uri="{FF2B5EF4-FFF2-40B4-BE49-F238E27FC236}">
                <a16:creationId xmlns:a16="http://schemas.microsoft.com/office/drawing/2014/main" xmlns="" id="{7E49F135-A4F1-F65D-91C6-C9C95A3A2E80}"/>
              </a:ext>
            </a:extLst>
          </p:cNvPr>
          <p:cNvSpPr>
            <a:spLocks noChangeShapeType="1"/>
          </p:cNvSpPr>
          <p:nvPr/>
        </p:nvSpPr>
        <p:spPr bwMode="auto">
          <a:xfrm>
            <a:off x="3763566" y="2801542"/>
            <a:ext cx="0" cy="18121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07" name="Line 19">
            <a:extLst>
              <a:ext uri="{FF2B5EF4-FFF2-40B4-BE49-F238E27FC236}">
                <a16:creationId xmlns:a16="http://schemas.microsoft.com/office/drawing/2014/main" xmlns="" id="{42DCDBA3-050F-35AA-CC6D-D1204FE8337C}"/>
              </a:ext>
            </a:extLst>
          </p:cNvPr>
          <p:cNvSpPr>
            <a:spLocks noChangeShapeType="1"/>
          </p:cNvSpPr>
          <p:nvPr/>
        </p:nvSpPr>
        <p:spPr bwMode="auto">
          <a:xfrm flipV="1">
            <a:off x="3771901" y="3639741"/>
            <a:ext cx="127397" cy="1273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08" name="Line 20">
            <a:extLst>
              <a:ext uri="{FF2B5EF4-FFF2-40B4-BE49-F238E27FC236}">
                <a16:creationId xmlns:a16="http://schemas.microsoft.com/office/drawing/2014/main" xmlns="" id="{EB91C82A-1227-AE8C-8587-9D35D02EE4D7}"/>
              </a:ext>
            </a:extLst>
          </p:cNvPr>
          <p:cNvSpPr>
            <a:spLocks noChangeShapeType="1"/>
          </p:cNvSpPr>
          <p:nvPr/>
        </p:nvSpPr>
        <p:spPr bwMode="auto">
          <a:xfrm>
            <a:off x="3907631" y="3631406"/>
            <a:ext cx="0" cy="4822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09" name="Line 21">
            <a:extLst>
              <a:ext uri="{FF2B5EF4-FFF2-40B4-BE49-F238E27FC236}">
                <a16:creationId xmlns:a16="http://schemas.microsoft.com/office/drawing/2014/main" xmlns="" id="{1B1F9AF2-E919-BE31-6857-DA4417C26CB2}"/>
              </a:ext>
            </a:extLst>
          </p:cNvPr>
          <p:cNvSpPr>
            <a:spLocks noChangeShapeType="1"/>
          </p:cNvSpPr>
          <p:nvPr/>
        </p:nvSpPr>
        <p:spPr bwMode="auto">
          <a:xfrm flipV="1">
            <a:off x="3899297" y="3394473"/>
            <a:ext cx="736997" cy="73580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10" name="Line 22">
            <a:extLst>
              <a:ext uri="{FF2B5EF4-FFF2-40B4-BE49-F238E27FC236}">
                <a16:creationId xmlns:a16="http://schemas.microsoft.com/office/drawing/2014/main" xmlns="" id="{82E5D901-0E3A-5EBD-B551-E24F98BCF7E5}"/>
              </a:ext>
            </a:extLst>
          </p:cNvPr>
          <p:cNvSpPr>
            <a:spLocks noChangeShapeType="1"/>
          </p:cNvSpPr>
          <p:nvPr/>
        </p:nvSpPr>
        <p:spPr bwMode="auto">
          <a:xfrm>
            <a:off x="4627960" y="3395663"/>
            <a:ext cx="0" cy="60126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268326" name="Group 38">
            <a:extLst>
              <a:ext uri="{FF2B5EF4-FFF2-40B4-BE49-F238E27FC236}">
                <a16:creationId xmlns:a16="http://schemas.microsoft.com/office/drawing/2014/main" xmlns="" id="{AE538D9E-99A0-C79B-B919-54D445CB4E9B}"/>
              </a:ext>
            </a:extLst>
          </p:cNvPr>
          <p:cNvGrpSpPr>
            <a:grpSpLocks/>
          </p:cNvGrpSpPr>
          <p:nvPr/>
        </p:nvGrpSpPr>
        <p:grpSpPr bwMode="auto">
          <a:xfrm>
            <a:off x="4622007" y="3301604"/>
            <a:ext cx="2280047" cy="829865"/>
            <a:chOff x="2720" y="2730"/>
            <a:chExt cx="1915" cy="697"/>
          </a:xfrm>
        </p:grpSpPr>
        <p:sp>
          <p:nvSpPr>
            <p:cNvPr id="104471" name="Line 23">
              <a:extLst>
                <a:ext uri="{FF2B5EF4-FFF2-40B4-BE49-F238E27FC236}">
                  <a16:creationId xmlns:a16="http://schemas.microsoft.com/office/drawing/2014/main" xmlns="" id="{C84EF822-9F27-51CF-27C5-BD59F57978F2}"/>
                </a:ext>
              </a:extLst>
            </p:cNvPr>
            <p:cNvSpPr>
              <a:spLocks noChangeShapeType="1"/>
            </p:cNvSpPr>
            <p:nvPr/>
          </p:nvSpPr>
          <p:spPr bwMode="auto">
            <a:xfrm flipV="1">
              <a:off x="2720" y="2996"/>
              <a:ext cx="331" cy="33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4472" name="Group 37">
              <a:extLst>
                <a:ext uri="{FF2B5EF4-FFF2-40B4-BE49-F238E27FC236}">
                  <a16:creationId xmlns:a16="http://schemas.microsoft.com/office/drawing/2014/main" xmlns="" id="{ABF3C762-7F72-A864-5F5E-35A2C60A2AE8}"/>
                </a:ext>
              </a:extLst>
            </p:cNvPr>
            <p:cNvGrpSpPr>
              <a:grpSpLocks/>
            </p:cNvGrpSpPr>
            <p:nvPr/>
          </p:nvGrpSpPr>
          <p:grpSpPr bwMode="auto">
            <a:xfrm>
              <a:off x="3051" y="2730"/>
              <a:ext cx="1584" cy="697"/>
              <a:chOff x="3051" y="2730"/>
              <a:chExt cx="1584" cy="697"/>
            </a:xfrm>
          </p:grpSpPr>
          <p:sp>
            <p:nvSpPr>
              <p:cNvPr id="104473" name="Line 24">
                <a:extLst>
                  <a:ext uri="{FF2B5EF4-FFF2-40B4-BE49-F238E27FC236}">
                    <a16:creationId xmlns:a16="http://schemas.microsoft.com/office/drawing/2014/main" xmlns="" id="{55E03C26-CDF1-C668-32E2-372922A5F1D4}"/>
                  </a:ext>
                </a:extLst>
              </p:cNvPr>
              <p:cNvSpPr>
                <a:spLocks noChangeShapeType="1"/>
              </p:cNvSpPr>
              <p:nvPr/>
            </p:nvSpPr>
            <p:spPr bwMode="auto">
              <a:xfrm>
                <a:off x="3051" y="2993"/>
                <a:ext cx="0" cy="43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4" name="Line 25">
                <a:extLst>
                  <a:ext uri="{FF2B5EF4-FFF2-40B4-BE49-F238E27FC236}">
                    <a16:creationId xmlns:a16="http://schemas.microsoft.com/office/drawing/2014/main" xmlns="" id="{AB7F737B-CFC1-A53D-48B3-D04C2C860DD7}"/>
                  </a:ext>
                </a:extLst>
              </p:cNvPr>
              <p:cNvSpPr>
                <a:spLocks noChangeShapeType="1"/>
              </p:cNvSpPr>
              <p:nvPr/>
            </p:nvSpPr>
            <p:spPr bwMode="auto">
              <a:xfrm flipV="1">
                <a:off x="3058" y="2795"/>
                <a:ext cx="611" cy="6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5" name="Line 26">
                <a:extLst>
                  <a:ext uri="{FF2B5EF4-FFF2-40B4-BE49-F238E27FC236}">
                    <a16:creationId xmlns:a16="http://schemas.microsoft.com/office/drawing/2014/main" xmlns="" id="{AAB9EB6F-8F65-885E-7656-E09417085D95}"/>
                  </a:ext>
                </a:extLst>
              </p:cNvPr>
              <p:cNvSpPr>
                <a:spLocks noChangeShapeType="1"/>
              </p:cNvSpPr>
              <p:nvPr/>
            </p:nvSpPr>
            <p:spPr bwMode="auto">
              <a:xfrm>
                <a:off x="3666" y="2795"/>
                <a:ext cx="7" cy="5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6" name="Line 29">
                <a:extLst>
                  <a:ext uri="{FF2B5EF4-FFF2-40B4-BE49-F238E27FC236}">
                    <a16:creationId xmlns:a16="http://schemas.microsoft.com/office/drawing/2014/main" xmlns="" id="{0A51C861-DF65-A478-B5BA-C9E315018035}"/>
                  </a:ext>
                </a:extLst>
              </p:cNvPr>
              <p:cNvSpPr>
                <a:spLocks noChangeShapeType="1"/>
              </p:cNvSpPr>
              <p:nvPr/>
            </p:nvSpPr>
            <p:spPr bwMode="auto">
              <a:xfrm flipV="1">
                <a:off x="3669" y="2898"/>
                <a:ext cx="420" cy="4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7" name="Line 30">
                <a:extLst>
                  <a:ext uri="{FF2B5EF4-FFF2-40B4-BE49-F238E27FC236}">
                    <a16:creationId xmlns:a16="http://schemas.microsoft.com/office/drawing/2014/main" xmlns="" id="{D999EA0F-D79C-F12A-9851-A5EE9520C12F}"/>
                  </a:ext>
                </a:extLst>
              </p:cNvPr>
              <p:cNvSpPr>
                <a:spLocks noChangeShapeType="1"/>
              </p:cNvSpPr>
              <p:nvPr/>
            </p:nvSpPr>
            <p:spPr bwMode="auto">
              <a:xfrm>
                <a:off x="4089" y="2889"/>
                <a:ext cx="0" cy="47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8" name="Line 31">
                <a:extLst>
                  <a:ext uri="{FF2B5EF4-FFF2-40B4-BE49-F238E27FC236}">
                    <a16:creationId xmlns:a16="http://schemas.microsoft.com/office/drawing/2014/main" xmlns="" id="{8B8BA805-7058-13D0-4042-A5C5C2926EA6}"/>
                  </a:ext>
                </a:extLst>
              </p:cNvPr>
              <p:cNvSpPr>
                <a:spLocks noChangeShapeType="1"/>
              </p:cNvSpPr>
              <p:nvPr/>
            </p:nvSpPr>
            <p:spPr bwMode="auto">
              <a:xfrm flipV="1">
                <a:off x="4083" y="2730"/>
                <a:ext cx="552" cy="639"/>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sp>
        <p:nvSpPr>
          <p:cNvPr id="104465" name="Text Box 32">
            <a:extLst>
              <a:ext uri="{FF2B5EF4-FFF2-40B4-BE49-F238E27FC236}">
                <a16:creationId xmlns:a16="http://schemas.microsoft.com/office/drawing/2014/main" xmlns="" id="{75F671F0-6290-3106-0CE2-11BEFDDC5549}"/>
              </a:ext>
            </a:extLst>
          </p:cNvPr>
          <p:cNvSpPr txBox="1">
            <a:spLocks noChangeArrowheads="1"/>
          </p:cNvSpPr>
          <p:nvPr/>
        </p:nvSpPr>
        <p:spPr bwMode="auto">
          <a:xfrm>
            <a:off x="4445794" y="2717007"/>
            <a:ext cx="32601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r>
              <a:rPr lang="en-US" altLang="en-US" sz="1200" kern="1200">
                <a:solidFill>
                  <a:srgbClr val="000000"/>
                </a:solidFill>
                <a:latin typeface="Tahoma" panose="020B0604030504040204" pitchFamily="34" charset="0"/>
                <a:cs typeface="+mn-cs"/>
              </a:rPr>
              <a:t>additively increase window size …</a:t>
            </a:r>
          </a:p>
          <a:p>
            <a:pPr algn="l" defTabSz="685800" rtl="0" eaLnBrk="0" fontAlgn="base" hangingPunct="0">
              <a:lnSpc>
                <a:spcPct val="100000"/>
              </a:lnSpc>
              <a:spcBef>
                <a:spcPct val="0"/>
              </a:spcBef>
              <a:spcAft>
                <a:spcPct val="0"/>
              </a:spcAft>
              <a:buClrTx/>
              <a:buSzTx/>
              <a:buNone/>
            </a:pPr>
            <a:r>
              <a:rPr lang="en-US" altLang="en-US" sz="1200" kern="1200">
                <a:solidFill>
                  <a:srgbClr val="000000"/>
                </a:solidFill>
                <a:latin typeface="Tahoma" panose="020B0604030504040204" pitchFamily="34" charset="0"/>
                <a:cs typeface="+mn-cs"/>
              </a:rPr>
              <a:t>…. until loss occurs (then cut window in half)</a:t>
            </a:r>
          </a:p>
        </p:txBody>
      </p:sp>
      <p:sp>
        <p:nvSpPr>
          <p:cNvPr id="268321" name="Freeform 33">
            <a:extLst>
              <a:ext uri="{FF2B5EF4-FFF2-40B4-BE49-F238E27FC236}">
                <a16:creationId xmlns:a16="http://schemas.microsoft.com/office/drawing/2014/main" xmlns="" id="{A8B22929-DDA7-92A8-4805-559219359432}"/>
              </a:ext>
            </a:extLst>
          </p:cNvPr>
          <p:cNvSpPr>
            <a:spLocks/>
          </p:cNvSpPr>
          <p:nvPr/>
        </p:nvSpPr>
        <p:spPr bwMode="auto">
          <a:xfrm>
            <a:off x="3842148" y="2862263"/>
            <a:ext cx="644128" cy="762000"/>
          </a:xfrm>
          <a:custGeom>
            <a:avLst/>
            <a:gdLst>
              <a:gd name="T0" fmla="*/ 2147483646 w 541"/>
              <a:gd name="T1" fmla="*/ 0 h 640"/>
              <a:gd name="T2" fmla="*/ 0 w 541"/>
              <a:gd name="T3" fmla="*/ 0 h 640"/>
              <a:gd name="T4" fmla="*/ 0 w 541"/>
              <a:gd name="T5" fmla="*/ 2147483646 h 640"/>
              <a:gd name="T6" fmla="*/ 0 60000 65536"/>
              <a:gd name="T7" fmla="*/ 0 60000 65536"/>
              <a:gd name="T8" fmla="*/ 0 60000 65536"/>
            </a:gdLst>
            <a:ahLst/>
            <a:cxnLst>
              <a:cxn ang="T6">
                <a:pos x="T0" y="T1"/>
              </a:cxn>
              <a:cxn ang="T7">
                <a:pos x="T2" y="T3"/>
              </a:cxn>
              <a:cxn ang="T8">
                <a:pos x="T4" y="T5"/>
              </a:cxn>
            </a:cxnLst>
            <a:rect l="0" t="0" r="r" b="b"/>
            <a:pathLst>
              <a:path w="541" h="640">
                <a:moveTo>
                  <a:pt x="541" y="0"/>
                </a:moveTo>
                <a:lnTo>
                  <a:pt x="0" y="0"/>
                </a:lnTo>
                <a:lnTo>
                  <a:pt x="0" y="64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22" name="Freeform 34">
            <a:extLst>
              <a:ext uri="{FF2B5EF4-FFF2-40B4-BE49-F238E27FC236}">
                <a16:creationId xmlns:a16="http://schemas.microsoft.com/office/drawing/2014/main" xmlns="" id="{74119155-6545-8DFA-3DAF-0641737C5D60}"/>
              </a:ext>
            </a:extLst>
          </p:cNvPr>
          <p:cNvSpPr>
            <a:spLocks/>
          </p:cNvSpPr>
          <p:nvPr/>
        </p:nvSpPr>
        <p:spPr bwMode="auto">
          <a:xfrm>
            <a:off x="3950494" y="3014663"/>
            <a:ext cx="597694" cy="750094"/>
          </a:xfrm>
          <a:custGeom>
            <a:avLst/>
            <a:gdLst>
              <a:gd name="T0" fmla="*/ 2147483646 w 502"/>
              <a:gd name="T1" fmla="*/ 0 h 630"/>
              <a:gd name="T2" fmla="*/ 2147483646 w 502"/>
              <a:gd name="T3" fmla="*/ 2147483646 h 630"/>
              <a:gd name="T4" fmla="*/ 2147483646 w 502"/>
              <a:gd name="T5" fmla="*/ 2147483646 h 630"/>
              <a:gd name="T6" fmla="*/ 0 w 502"/>
              <a:gd name="T7" fmla="*/ 2147483646 h 6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2" h="630">
                <a:moveTo>
                  <a:pt x="502" y="0"/>
                </a:moveTo>
                <a:lnTo>
                  <a:pt x="56" y="2"/>
                </a:lnTo>
                <a:lnTo>
                  <a:pt x="54" y="630"/>
                </a:lnTo>
                <a:lnTo>
                  <a:pt x="0" y="63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23" name="Freeform 35">
            <a:extLst>
              <a:ext uri="{FF2B5EF4-FFF2-40B4-BE49-F238E27FC236}">
                <a16:creationId xmlns:a16="http://schemas.microsoft.com/office/drawing/2014/main" xmlns="" id="{37E50ABF-2391-FD7B-4743-49EA7BE23CDA}"/>
              </a:ext>
            </a:extLst>
          </p:cNvPr>
          <p:cNvSpPr>
            <a:spLocks/>
          </p:cNvSpPr>
          <p:nvPr/>
        </p:nvSpPr>
        <p:spPr bwMode="auto">
          <a:xfrm>
            <a:off x="4181475" y="2861072"/>
            <a:ext cx="304800" cy="876300"/>
          </a:xfrm>
          <a:custGeom>
            <a:avLst/>
            <a:gdLst>
              <a:gd name="T0" fmla="*/ 2147483646 w 256"/>
              <a:gd name="T1" fmla="*/ 0 h 736"/>
              <a:gd name="T2" fmla="*/ 0 w 256"/>
              <a:gd name="T3" fmla="*/ 0 h 736"/>
              <a:gd name="T4" fmla="*/ 0 w 256"/>
              <a:gd name="T5" fmla="*/ 2147483646 h 736"/>
              <a:gd name="T6" fmla="*/ 0 60000 65536"/>
              <a:gd name="T7" fmla="*/ 0 60000 65536"/>
              <a:gd name="T8" fmla="*/ 0 60000 65536"/>
            </a:gdLst>
            <a:ahLst/>
            <a:cxnLst>
              <a:cxn ang="T6">
                <a:pos x="T0" y="T1"/>
              </a:cxn>
              <a:cxn ang="T7">
                <a:pos x="T2" y="T3"/>
              </a:cxn>
              <a:cxn ang="T8">
                <a:pos x="T4" y="T5"/>
              </a:cxn>
            </a:cxnLst>
            <a:rect l="0" t="0" r="r" b="b"/>
            <a:pathLst>
              <a:path w="256" h="736">
                <a:moveTo>
                  <a:pt x="256" y="0"/>
                </a:moveTo>
                <a:lnTo>
                  <a:pt x="0" y="0"/>
                </a:lnTo>
                <a:lnTo>
                  <a:pt x="0" y="736"/>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68324" name="Freeform 36">
            <a:extLst>
              <a:ext uri="{FF2B5EF4-FFF2-40B4-BE49-F238E27FC236}">
                <a16:creationId xmlns:a16="http://schemas.microsoft.com/office/drawing/2014/main" xmlns="" id="{E8A66921-F4C1-E6C2-72C8-DF6AA3F6BE85}"/>
              </a:ext>
            </a:extLst>
          </p:cNvPr>
          <p:cNvSpPr>
            <a:spLocks/>
          </p:cNvSpPr>
          <p:nvPr/>
        </p:nvSpPr>
        <p:spPr bwMode="auto">
          <a:xfrm>
            <a:off x="4660107" y="3134916"/>
            <a:ext cx="126206" cy="476250"/>
          </a:xfrm>
          <a:custGeom>
            <a:avLst/>
            <a:gdLst>
              <a:gd name="T0" fmla="*/ 2147483646 w 106"/>
              <a:gd name="T1" fmla="*/ 0 h 400"/>
              <a:gd name="T2" fmla="*/ 2147483646 w 106"/>
              <a:gd name="T3" fmla="*/ 2147483646 h 400"/>
              <a:gd name="T4" fmla="*/ 0 w 106"/>
              <a:gd name="T5" fmla="*/ 2147483646 h 400"/>
              <a:gd name="T6" fmla="*/ 0 60000 65536"/>
              <a:gd name="T7" fmla="*/ 0 60000 65536"/>
              <a:gd name="T8" fmla="*/ 0 60000 65536"/>
            </a:gdLst>
            <a:ahLst/>
            <a:cxnLst>
              <a:cxn ang="T6">
                <a:pos x="T0" y="T1"/>
              </a:cxn>
              <a:cxn ang="T7">
                <a:pos x="T2" y="T3"/>
              </a:cxn>
              <a:cxn ang="T8">
                <a:pos x="T4" y="T5"/>
              </a:cxn>
            </a:cxnLst>
            <a:rect l="0" t="0" r="r" b="b"/>
            <a:pathLst>
              <a:path w="106" h="400">
                <a:moveTo>
                  <a:pt x="106" y="0"/>
                </a:moveTo>
                <a:lnTo>
                  <a:pt x="106" y="400"/>
                </a:lnTo>
                <a:lnTo>
                  <a:pt x="0" y="400"/>
                </a:lnTo>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4470" name="Text Box 40">
            <a:extLst>
              <a:ext uri="{FF2B5EF4-FFF2-40B4-BE49-F238E27FC236}">
                <a16:creationId xmlns:a16="http://schemas.microsoft.com/office/drawing/2014/main" xmlns="" id="{0CDF7B1C-A465-E6B3-9BC1-B985A6916A86}"/>
              </a:ext>
            </a:extLst>
          </p:cNvPr>
          <p:cNvSpPr txBox="1">
            <a:spLocks noChangeArrowheads="1"/>
          </p:cNvSpPr>
          <p:nvPr/>
        </p:nvSpPr>
        <p:spPr bwMode="auto">
          <a:xfrm>
            <a:off x="4921734" y="4605338"/>
            <a:ext cx="4828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a:solidFill>
                  <a:srgbClr val="000000"/>
                </a:solidFill>
                <a:latin typeface="Tahoma" panose="020B0604030504040204" pitchFamily="34" charset="0"/>
                <a:cs typeface="+mn-cs"/>
              </a:rPr>
              <a:t>time</a:t>
            </a:r>
          </a:p>
        </p:txBody>
      </p:sp>
      <p:sp>
        <p:nvSpPr>
          <p:cNvPr id="3" name="TextBox 2">
            <a:extLst>
              <a:ext uri="{FF2B5EF4-FFF2-40B4-BE49-F238E27FC236}">
                <a16:creationId xmlns:a16="http://schemas.microsoft.com/office/drawing/2014/main" xmlns="" id="{3C8F049D-CFF0-4C0D-6142-46A7B8C63D83}"/>
              </a:ext>
            </a:extLst>
          </p:cNvPr>
          <p:cNvSpPr txBox="1"/>
          <p:nvPr/>
        </p:nvSpPr>
        <p:spPr>
          <a:xfrm>
            <a:off x="147637" y="287716"/>
            <a:ext cx="8848726" cy="120032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000" b="1" kern="1200">
                <a:solidFill>
                  <a:schemeClr val="tx1"/>
                </a:solidFill>
                <a:latin typeface="+mj-lt"/>
                <a:ea typeface="+mj-ea"/>
                <a:cs typeface="+mj-cs"/>
              </a:defRPr>
            </a:lvl1pPr>
          </a:lstStyle>
          <a:p>
            <a:r>
              <a:rPr lang="en-US" dirty="0"/>
              <a:t>TCP congestion control: AIMD </a:t>
            </a:r>
          </a:p>
          <a:p>
            <a:r>
              <a:rPr lang="en-US" sz="2000" dirty="0"/>
              <a:t>(Additive Increase Multiplicative Decrease)</a:t>
            </a:r>
            <a:endParaRPr lang="en-IN"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8307"/>
                                        </p:tgtEl>
                                        <p:attrNameLst>
                                          <p:attrName>style.visibility</p:attrName>
                                        </p:attrNameLst>
                                      </p:cBhvr>
                                      <p:to>
                                        <p:strVal val="visible"/>
                                      </p:to>
                                    </p:set>
                                    <p:animEffect transition="in" filter="wipe(left)">
                                      <p:cBhvr>
                                        <p:cTn id="7" dur="2000"/>
                                        <p:tgtEl>
                                          <p:spTgt spid="268307"/>
                                        </p:tgtEl>
                                      </p:cBhvr>
                                    </p:animEffect>
                                  </p:childTnLst>
                                </p:cTn>
                              </p:par>
                              <p:par>
                                <p:cTn id="8" presetID="9" presetClass="entr" presetSubtype="0" fill="hold" nodeType="withEffect">
                                  <p:stCondLst>
                                    <p:cond delay="0"/>
                                  </p:stCondLst>
                                  <p:childTnLst>
                                    <p:set>
                                      <p:cBhvr>
                                        <p:cTn id="9" dur="1" fill="hold">
                                          <p:stCondLst>
                                            <p:cond delay="0"/>
                                          </p:stCondLst>
                                        </p:cTn>
                                        <p:tgtEl>
                                          <p:spTgt spid="268321"/>
                                        </p:tgtEl>
                                        <p:attrNameLst>
                                          <p:attrName>style.visibility</p:attrName>
                                        </p:attrNameLst>
                                      </p:cBhvr>
                                      <p:to>
                                        <p:strVal val="visible"/>
                                      </p:to>
                                    </p:set>
                                    <p:animEffect transition="in" filter="dissolve">
                                      <p:cBhvr>
                                        <p:cTn id="10" dur="500"/>
                                        <p:tgtEl>
                                          <p:spTgt spid="26832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268321"/>
                                        </p:tgtEl>
                                        <p:attrNameLst>
                                          <p:attrName>style.visibility</p:attrName>
                                        </p:attrNameLst>
                                      </p:cBhvr>
                                      <p:to>
                                        <p:strVal val="hidden"/>
                                      </p:to>
                                    </p:set>
                                  </p:childTnLst>
                                </p:cTn>
                              </p:par>
                              <p:par>
                                <p:cTn id="15" presetID="22" presetClass="entr" presetSubtype="1" fill="hold" nodeType="withEffect">
                                  <p:stCondLst>
                                    <p:cond delay="0"/>
                                  </p:stCondLst>
                                  <p:childTnLst>
                                    <p:set>
                                      <p:cBhvr>
                                        <p:cTn id="16" dur="1" fill="hold">
                                          <p:stCondLst>
                                            <p:cond delay="0"/>
                                          </p:stCondLst>
                                        </p:cTn>
                                        <p:tgtEl>
                                          <p:spTgt spid="268308"/>
                                        </p:tgtEl>
                                        <p:attrNameLst>
                                          <p:attrName>style.visibility</p:attrName>
                                        </p:attrNameLst>
                                      </p:cBhvr>
                                      <p:to>
                                        <p:strVal val="visible"/>
                                      </p:to>
                                    </p:set>
                                    <p:animEffect transition="in" filter="wipe(up)">
                                      <p:cBhvr>
                                        <p:cTn id="17" dur="500"/>
                                        <p:tgtEl>
                                          <p:spTgt spid="268308"/>
                                        </p:tgtEl>
                                      </p:cBhvr>
                                    </p:animEffect>
                                  </p:childTnLst>
                                </p:cTn>
                              </p:par>
                              <p:par>
                                <p:cTn id="18" presetID="9" presetClass="entr" presetSubtype="0" fill="hold" nodeType="withEffect">
                                  <p:stCondLst>
                                    <p:cond delay="0"/>
                                  </p:stCondLst>
                                  <p:childTnLst>
                                    <p:set>
                                      <p:cBhvr>
                                        <p:cTn id="19" dur="1" fill="hold">
                                          <p:stCondLst>
                                            <p:cond delay="0"/>
                                          </p:stCondLst>
                                        </p:cTn>
                                        <p:tgtEl>
                                          <p:spTgt spid="268322"/>
                                        </p:tgtEl>
                                        <p:attrNameLst>
                                          <p:attrName>style.visibility</p:attrName>
                                        </p:attrNameLst>
                                      </p:cBhvr>
                                      <p:to>
                                        <p:strVal val="visible"/>
                                      </p:to>
                                    </p:set>
                                    <p:animEffect transition="in" filter="dissolve">
                                      <p:cBhvr>
                                        <p:cTn id="20" dur="500"/>
                                        <p:tgtEl>
                                          <p:spTgt spid="26832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xit" presetSubtype="0" fill="hold" nodeType="clickEffect">
                                  <p:stCondLst>
                                    <p:cond delay="0"/>
                                  </p:stCondLst>
                                  <p:childTnLst>
                                    <p:set>
                                      <p:cBhvr>
                                        <p:cTn id="24" dur="1" fill="hold">
                                          <p:stCondLst>
                                            <p:cond delay="0"/>
                                          </p:stCondLst>
                                        </p:cTn>
                                        <p:tgtEl>
                                          <p:spTgt spid="268322"/>
                                        </p:tgtEl>
                                        <p:attrNameLst>
                                          <p:attrName>style.visibility</p:attrName>
                                        </p:attrNameLst>
                                      </p:cBhvr>
                                      <p:to>
                                        <p:strVal val="hidden"/>
                                      </p:to>
                                    </p:set>
                                  </p:childTnLst>
                                </p:cTn>
                              </p:par>
                              <p:par>
                                <p:cTn id="25" presetID="22" presetClass="entr" presetSubtype="8" fill="hold" nodeType="withEffect">
                                  <p:stCondLst>
                                    <p:cond delay="0"/>
                                  </p:stCondLst>
                                  <p:childTnLst>
                                    <p:set>
                                      <p:cBhvr>
                                        <p:cTn id="26" dur="1" fill="hold">
                                          <p:stCondLst>
                                            <p:cond delay="0"/>
                                          </p:stCondLst>
                                        </p:cTn>
                                        <p:tgtEl>
                                          <p:spTgt spid="268309"/>
                                        </p:tgtEl>
                                        <p:attrNameLst>
                                          <p:attrName>style.visibility</p:attrName>
                                        </p:attrNameLst>
                                      </p:cBhvr>
                                      <p:to>
                                        <p:strVal val="visible"/>
                                      </p:to>
                                    </p:set>
                                    <p:animEffect transition="in" filter="wipe(left)">
                                      <p:cBhvr>
                                        <p:cTn id="27" dur="2000"/>
                                        <p:tgtEl>
                                          <p:spTgt spid="268309"/>
                                        </p:tgtEl>
                                      </p:cBhvr>
                                    </p:animEffect>
                                  </p:childTnLst>
                                </p:cTn>
                              </p:par>
                              <p:par>
                                <p:cTn id="28" presetID="9" presetClass="entr" presetSubtype="0" fill="hold" nodeType="withEffect">
                                  <p:stCondLst>
                                    <p:cond delay="0"/>
                                  </p:stCondLst>
                                  <p:childTnLst>
                                    <p:set>
                                      <p:cBhvr>
                                        <p:cTn id="29" dur="1" fill="hold">
                                          <p:stCondLst>
                                            <p:cond delay="0"/>
                                          </p:stCondLst>
                                        </p:cTn>
                                        <p:tgtEl>
                                          <p:spTgt spid="268323"/>
                                        </p:tgtEl>
                                        <p:attrNameLst>
                                          <p:attrName>style.visibility</p:attrName>
                                        </p:attrNameLst>
                                      </p:cBhvr>
                                      <p:to>
                                        <p:strVal val="visible"/>
                                      </p:to>
                                    </p:set>
                                    <p:animEffect transition="in" filter="dissolve">
                                      <p:cBhvr>
                                        <p:cTn id="30" dur="500"/>
                                        <p:tgtEl>
                                          <p:spTgt spid="2683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nodeType="clickEffect">
                                  <p:stCondLst>
                                    <p:cond delay="0"/>
                                  </p:stCondLst>
                                  <p:childTnLst>
                                    <p:set>
                                      <p:cBhvr>
                                        <p:cTn id="34" dur="1" fill="hold">
                                          <p:stCondLst>
                                            <p:cond delay="0"/>
                                          </p:stCondLst>
                                        </p:cTn>
                                        <p:tgtEl>
                                          <p:spTgt spid="268323"/>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68310"/>
                                        </p:tgtEl>
                                        <p:attrNameLst>
                                          <p:attrName>style.visibility</p:attrName>
                                        </p:attrNameLst>
                                      </p:cBhvr>
                                      <p:to>
                                        <p:strVal val="visible"/>
                                      </p:to>
                                    </p:set>
                                  </p:childTnLst>
                                </p:cTn>
                              </p:par>
                              <p:par>
                                <p:cTn id="37" presetID="9" presetClass="entr" presetSubtype="0" fill="hold" nodeType="withEffect">
                                  <p:stCondLst>
                                    <p:cond delay="0"/>
                                  </p:stCondLst>
                                  <p:childTnLst>
                                    <p:set>
                                      <p:cBhvr>
                                        <p:cTn id="38" dur="1" fill="hold">
                                          <p:stCondLst>
                                            <p:cond delay="0"/>
                                          </p:stCondLst>
                                        </p:cTn>
                                        <p:tgtEl>
                                          <p:spTgt spid="268324"/>
                                        </p:tgtEl>
                                        <p:attrNameLst>
                                          <p:attrName>style.visibility</p:attrName>
                                        </p:attrNameLst>
                                      </p:cBhvr>
                                      <p:to>
                                        <p:strVal val="visible"/>
                                      </p:to>
                                    </p:set>
                                    <p:animEffect transition="in" filter="dissolve">
                                      <p:cBhvr>
                                        <p:cTn id="39" dur="500"/>
                                        <p:tgtEl>
                                          <p:spTgt spid="26832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68326"/>
                                        </p:tgtEl>
                                        <p:attrNameLst>
                                          <p:attrName>style.visibility</p:attrName>
                                        </p:attrNameLst>
                                      </p:cBhvr>
                                      <p:to>
                                        <p:strVal val="visible"/>
                                      </p:to>
                                    </p:set>
                                    <p:animEffect transition="in" filter="wipe(left)">
                                      <p:cBhvr>
                                        <p:cTn id="44" dur="2000"/>
                                        <p:tgtEl>
                                          <p:spTgt spid="268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Rectangle 8">
            <a:extLst>
              <a:ext uri="{FF2B5EF4-FFF2-40B4-BE49-F238E27FC236}">
                <a16:creationId xmlns:a16="http://schemas.microsoft.com/office/drawing/2014/main" xmlns="" id="{C755821F-F513-514B-9B5B-FF9A16FD83AB}"/>
              </a:ext>
            </a:extLst>
          </p:cNvPr>
          <p:cNvSpPr>
            <a:spLocks noChangeArrowheads="1"/>
          </p:cNvSpPr>
          <p:nvPr/>
        </p:nvSpPr>
        <p:spPr bwMode="auto">
          <a:xfrm>
            <a:off x="516730" y="1089602"/>
            <a:ext cx="7705725" cy="1085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19075" indent="-219075" algn="l" defTabSz="685800" rtl="0">
              <a:lnSpc>
                <a:spcPct val="85000"/>
              </a:lnSpc>
              <a:spcBef>
                <a:spcPct val="20000"/>
              </a:spcBef>
              <a:buClr>
                <a:srgbClr val="000099"/>
              </a:buClr>
              <a:buSzPct val="100000"/>
              <a:buFont typeface="Wingdings" charset="2"/>
              <a:buChar char="§"/>
              <a:defRPr/>
            </a:pPr>
            <a:r>
              <a:rPr lang="en-US" sz="2100" i="1" kern="1200" dirty="0">
                <a:solidFill>
                  <a:srgbClr val="C00000"/>
                </a:solidFill>
                <a:latin typeface="Calibri" panose="020F0502020204030204"/>
                <a:ea typeface="ＭＳ Ｐゴシック" charset="0"/>
                <a:cs typeface="+mn-cs"/>
              </a:rPr>
              <a:t>approach: </a:t>
            </a:r>
            <a:r>
              <a:rPr lang="en-US" sz="2100" kern="1200" dirty="0">
                <a:solidFill>
                  <a:prstClr val="black"/>
                </a:solidFill>
                <a:latin typeface="Calibri" panose="020F0502020204030204"/>
                <a:ea typeface="ＭＳ Ｐゴシック" charset="0"/>
                <a:cs typeface="+mn-cs"/>
              </a:rPr>
              <a:t>senders can</a:t>
            </a:r>
            <a:r>
              <a:rPr lang="en-US" sz="2100" i="1" kern="1200" dirty="0">
                <a:solidFill>
                  <a:srgbClr val="FF0000"/>
                </a:solidFill>
                <a:latin typeface="Calibri" panose="020F0502020204030204"/>
                <a:ea typeface="ＭＳ Ｐゴシック" charset="0"/>
                <a:cs typeface="+mn-cs"/>
              </a:rPr>
              <a:t> </a:t>
            </a:r>
            <a:r>
              <a:rPr lang="en-US" sz="2100" kern="1200" dirty="0">
                <a:solidFill>
                  <a:prstClr val="black"/>
                </a:solidFill>
                <a:latin typeface="Calibri" panose="020F0502020204030204"/>
                <a:ea typeface="ＭＳ Ｐゴシック" charset="0"/>
                <a:cs typeface="+mn-cs"/>
              </a:rPr>
              <a:t>increase sending rate until packet loss (congestion) occurs, then decrease sending rate on loss event</a:t>
            </a:r>
            <a:endParaRPr lang="en-US" sz="2100" kern="1200" dirty="0">
              <a:solidFill>
                <a:prstClr val="black"/>
              </a:solidFill>
              <a:latin typeface="Gill Sans MT" charset="0"/>
              <a:ea typeface="ＭＳ Ｐゴシック" charset="0"/>
              <a:cs typeface="+mn-cs"/>
            </a:endParaRPr>
          </a:p>
        </p:txBody>
      </p:sp>
      <p:sp>
        <p:nvSpPr>
          <p:cNvPr id="141" name="Text Box 13">
            <a:extLst>
              <a:ext uri="{FF2B5EF4-FFF2-40B4-BE49-F238E27FC236}">
                <a16:creationId xmlns:a16="http://schemas.microsoft.com/office/drawing/2014/main" xmlns="" id="{2FD36304-869C-CE42-8550-F12B5FFE2394}"/>
              </a:ext>
            </a:extLst>
          </p:cNvPr>
          <p:cNvSpPr txBox="1">
            <a:spLocks noChangeArrowheads="1"/>
          </p:cNvSpPr>
          <p:nvPr/>
        </p:nvSpPr>
        <p:spPr bwMode="auto">
          <a:xfrm>
            <a:off x="6325903" y="3350374"/>
            <a:ext cx="2124621" cy="11541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rtl="0">
              <a:defRPr/>
            </a:pPr>
            <a:r>
              <a:rPr lang="en-US" sz="2700" b="1" kern="1200" dirty="0">
                <a:solidFill>
                  <a:srgbClr val="0013A3"/>
                </a:solidFill>
                <a:latin typeface="Calibri" panose="020F0502020204030204"/>
                <a:cs typeface="+mn-cs"/>
              </a:rPr>
              <a:t>AIMD</a:t>
            </a:r>
            <a:r>
              <a:rPr lang="en-US" sz="2100" kern="1200" dirty="0">
                <a:solidFill>
                  <a:prstClr val="black"/>
                </a:solidFill>
                <a:latin typeface="Calibri" panose="020F0502020204030204"/>
                <a:cs typeface="+mn-cs"/>
              </a:rPr>
              <a:t> sawtooth</a:t>
            </a:r>
          </a:p>
          <a:p>
            <a:pPr algn="r" defTabSz="685800" rtl="0">
              <a:defRPr/>
            </a:pPr>
            <a:r>
              <a:rPr lang="en-US" sz="2100" kern="1200" dirty="0">
                <a:solidFill>
                  <a:prstClr val="black"/>
                </a:solidFill>
                <a:latin typeface="Calibri" panose="020F0502020204030204"/>
                <a:cs typeface="+mn-cs"/>
              </a:rPr>
              <a:t>behavior: </a:t>
            </a:r>
            <a:r>
              <a:rPr lang="en-US" sz="2100" i="1" kern="1200" dirty="0">
                <a:solidFill>
                  <a:srgbClr val="0013A3"/>
                </a:solidFill>
                <a:latin typeface="Calibri" panose="020F0502020204030204"/>
                <a:cs typeface="+mn-cs"/>
              </a:rPr>
              <a:t>probing</a:t>
            </a:r>
          </a:p>
          <a:p>
            <a:pPr algn="r" defTabSz="685800" rtl="0">
              <a:defRPr/>
            </a:pPr>
            <a:r>
              <a:rPr lang="en-US" sz="2100" kern="1200" dirty="0">
                <a:solidFill>
                  <a:prstClr val="black"/>
                </a:solidFill>
                <a:latin typeface="Calibri" panose="020F0502020204030204"/>
                <a:cs typeface="+mn-cs"/>
              </a:rPr>
              <a:t>for bandwidth</a:t>
            </a:r>
          </a:p>
        </p:txBody>
      </p:sp>
      <p:sp>
        <p:nvSpPr>
          <p:cNvPr id="35" name="Rectangle 11">
            <a:extLst>
              <a:ext uri="{FF2B5EF4-FFF2-40B4-BE49-F238E27FC236}">
                <a16:creationId xmlns:a16="http://schemas.microsoft.com/office/drawing/2014/main" xmlns="" id="{F39215FA-39B5-484D-8395-F0F1A1C5D622}"/>
              </a:ext>
            </a:extLst>
          </p:cNvPr>
          <p:cNvSpPr>
            <a:spLocks noChangeArrowheads="1"/>
          </p:cNvSpPr>
          <p:nvPr/>
        </p:nvSpPr>
        <p:spPr bwMode="auto">
          <a:xfrm>
            <a:off x="3395129" y="2895611"/>
            <a:ext cx="514350" cy="2286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6" name="Line 19">
            <a:extLst>
              <a:ext uri="{FF2B5EF4-FFF2-40B4-BE49-F238E27FC236}">
                <a16:creationId xmlns:a16="http://schemas.microsoft.com/office/drawing/2014/main" xmlns="" id="{D3F6ABF2-92A9-2C40-8D08-91E54606260B}"/>
              </a:ext>
            </a:extLst>
          </p:cNvPr>
          <p:cNvSpPr>
            <a:spLocks noChangeShapeType="1"/>
          </p:cNvSpPr>
          <p:nvPr/>
        </p:nvSpPr>
        <p:spPr bwMode="auto">
          <a:xfrm flipV="1">
            <a:off x="2780767" y="3962410"/>
            <a:ext cx="127397" cy="127397"/>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7" name="Line 20">
            <a:extLst>
              <a:ext uri="{FF2B5EF4-FFF2-40B4-BE49-F238E27FC236}">
                <a16:creationId xmlns:a16="http://schemas.microsoft.com/office/drawing/2014/main" xmlns="" id="{38434DE2-13CB-044F-991F-ED186F200404}"/>
              </a:ext>
            </a:extLst>
          </p:cNvPr>
          <p:cNvSpPr>
            <a:spLocks noChangeShapeType="1"/>
          </p:cNvSpPr>
          <p:nvPr/>
        </p:nvSpPr>
        <p:spPr bwMode="auto">
          <a:xfrm>
            <a:off x="2916498" y="3954076"/>
            <a:ext cx="0" cy="48220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8" name="Line 21">
            <a:extLst>
              <a:ext uri="{FF2B5EF4-FFF2-40B4-BE49-F238E27FC236}">
                <a16:creationId xmlns:a16="http://schemas.microsoft.com/office/drawing/2014/main" xmlns="" id="{1937BB13-75B0-4947-8F7E-C69526352422}"/>
              </a:ext>
            </a:extLst>
          </p:cNvPr>
          <p:cNvSpPr>
            <a:spLocks noChangeShapeType="1"/>
          </p:cNvSpPr>
          <p:nvPr/>
        </p:nvSpPr>
        <p:spPr bwMode="auto">
          <a:xfrm flipV="1">
            <a:off x="2908164" y="3717142"/>
            <a:ext cx="736997" cy="73580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39" name="Line 22">
            <a:extLst>
              <a:ext uri="{FF2B5EF4-FFF2-40B4-BE49-F238E27FC236}">
                <a16:creationId xmlns:a16="http://schemas.microsoft.com/office/drawing/2014/main" xmlns="" id="{D3110501-FE57-9545-B9AC-7B103AF98E40}"/>
              </a:ext>
            </a:extLst>
          </p:cNvPr>
          <p:cNvSpPr>
            <a:spLocks noChangeShapeType="1"/>
          </p:cNvSpPr>
          <p:nvPr/>
        </p:nvSpPr>
        <p:spPr bwMode="auto">
          <a:xfrm>
            <a:off x="3636827" y="3718332"/>
            <a:ext cx="0" cy="60126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1" name="Line 23">
            <a:extLst>
              <a:ext uri="{FF2B5EF4-FFF2-40B4-BE49-F238E27FC236}">
                <a16:creationId xmlns:a16="http://schemas.microsoft.com/office/drawing/2014/main" xmlns="" id="{AAAA55BA-D404-204C-AECA-45F566AECF40}"/>
              </a:ext>
            </a:extLst>
          </p:cNvPr>
          <p:cNvSpPr>
            <a:spLocks noChangeShapeType="1"/>
          </p:cNvSpPr>
          <p:nvPr/>
        </p:nvSpPr>
        <p:spPr bwMode="auto">
          <a:xfrm flipV="1">
            <a:off x="3630874" y="3940980"/>
            <a:ext cx="394097" cy="39290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3" name="Line 24">
            <a:extLst>
              <a:ext uri="{FF2B5EF4-FFF2-40B4-BE49-F238E27FC236}">
                <a16:creationId xmlns:a16="http://schemas.microsoft.com/office/drawing/2014/main" xmlns="" id="{43AEBE7F-F2BB-5943-A7EA-ACC4591C9E55}"/>
              </a:ext>
            </a:extLst>
          </p:cNvPr>
          <p:cNvSpPr>
            <a:spLocks noChangeShapeType="1"/>
          </p:cNvSpPr>
          <p:nvPr/>
        </p:nvSpPr>
        <p:spPr bwMode="auto">
          <a:xfrm>
            <a:off x="4024970" y="3937408"/>
            <a:ext cx="0" cy="516731"/>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4" name="Line 25">
            <a:extLst>
              <a:ext uri="{FF2B5EF4-FFF2-40B4-BE49-F238E27FC236}">
                <a16:creationId xmlns:a16="http://schemas.microsoft.com/office/drawing/2014/main" xmlns="" id="{6F7F0A4B-818C-8448-8543-A37DAD19EABE}"/>
              </a:ext>
            </a:extLst>
          </p:cNvPr>
          <p:cNvSpPr>
            <a:spLocks noChangeShapeType="1"/>
          </p:cNvSpPr>
          <p:nvPr/>
        </p:nvSpPr>
        <p:spPr bwMode="auto">
          <a:xfrm flipV="1">
            <a:off x="4033306" y="3701664"/>
            <a:ext cx="727472" cy="735806"/>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5" name="Line 26">
            <a:extLst>
              <a:ext uri="{FF2B5EF4-FFF2-40B4-BE49-F238E27FC236}">
                <a16:creationId xmlns:a16="http://schemas.microsoft.com/office/drawing/2014/main" xmlns="" id="{19538173-60A5-BC46-A9E4-749776021102}"/>
              </a:ext>
            </a:extLst>
          </p:cNvPr>
          <p:cNvSpPr>
            <a:spLocks noChangeShapeType="1"/>
          </p:cNvSpPr>
          <p:nvPr/>
        </p:nvSpPr>
        <p:spPr bwMode="auto">
          <a:xfrm>
            <a:off x="4757205" y="3701664"/>
            <a:ext cx="8335" cy="626269"/>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6" name="Line 29">
            <a:extLst>
              <a:ext uri="{FF2B5EF4-FFF2-40B4-BE49-F238E27FC236}">
                <a16:creationId xmlns:a16="http://schemas.microsoft.com/office/drawing/2014/main" xmlns="" id="{30FAE305-421D-C042-8E51-7C7D81EEF5FE}"/>
              </a:ext>
            </a:extLst>
          </p:cNvPr>
          <p:cNvSpPr>
            <a:spLocks noChangeShapeType="1"/>
          </p:cNvSpPr>
          <p:nvPr/>
        </p:nvSpPr>
        <p:spPr bwMode="auto">
          <a:xfrm flipV="1">
            <a:off x="4760776" y="3824298"/>
            <a:ext cx="500063" cy="500063"/>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7" name="Line 30">
            <a:extLst>
              <a:ext uri="{FF2B5EF4-FFF2-40B4-BE49-F238E27FC236}">
                <a16:creationId xmlns:a16="http://schemas.microsoft.com/office/drawing/2014/main" xmlns="" id="{031213C2-BAEE-5346-905B-3F89E1716013}"/>
              </a:ext>
            </a:extLst>
          </p:cNvPr>
          <p:cNvSpPr>
            <a:spLocks noChangeShapeType="1"/>
          </p:cNvSpPr>
          <p:nvPr/>
        </p:nvSpPr>
        <p:spPr bwMode="auto">
          <a:xfrm>
            <a:off x="5260839" y="3813582"/>
            <a:ext cx="0" cy="560784"/>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48" name="Line 31">
            <a:extLst>
              <a:ext uri="{FF2B5EF4-FFF2-40B4-BE49-F238E27FC236}">
                <a16:creationId xmlns:a16="http://schemas.microsoft.com/office/drawing/2014/main" xmlns="" id="{AEA390E0-709D-FA45-91DE-52C0460D608A}"/>
              </a:ext>
            </a:extLst>
          </p:cNvPr>
          <p:cNvSpPr>
            <a:spLocks noChangeShapeType="1"/>
          </p:cNvSpPr>
          <p:nvPr/>
        </p:nvSpPr>
        <p:spPr bwMode="auto">
          <a:xfrm flipV="1">
            <a:off x="5253695" y="3624273"/>
            <a:ext cx="657225" cy="760809"/>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grpSp>
        <p:nvGrpSpPr>
          <p:cNvPr id="53" name="Group 52">
            <a:extLst>
              <a:ext uri="{FF2B5EF4-FFF2-40B4-BE49-F238E27FC236}">
                <a16:creationId xmlns:a16="http://schemas.microsoft.com/office/drawing/2014/main" xmlns="" id="{82C492E2-E058-BD40-8FFC-FCED8F0093C0}"/>
              </a:ext>
            </a:extLst>
          </p:cNvPr>
          <p:cNvGrpSpPr/>
          <p:nvPr/>
        </p:nvGrpSpPr>
        <p:grpSpPr>
          <a:xfrm>
            <a:off x="2344419" y="3255644"/>
            <a:ext cx="3543879" cy="1949361"/>
            <a:chOff x="3976793" y="3937000"/>
            <a:chExt cx="4725171" cy="2599148"/>
          </a:xfrm>
        </p:grpSpPr>
        <p:sp>
          <p:nvSpPr>
            <p:cNvPr id="54" name="Text Box 12">
              <a:extLst>
                <a:ext uri="{FF2B5EF4-FFF2-40B4-BE49-F238E27FC236}">
                  <a16:creationId xmlns:a16="http://schemas.microsoft.com/office/drawing/2014/main" xmlns="" id="{18CC901F-184A-1147-B991-15E650618DC6}"/>
                </a:ext>
              </a:extLst>
            </p:cNvPr>
            <p:cNvSpPr txBox="1">
              <a:spLocks noChangeArrowheads="1"/>
            </p:cNvSpPr>
            <p:nvPr/>
          </p:nvSpPr>
          <p:spPr bwMode="auto">
            <a:xfrm rot="16200000">
              <a:off x="3117142" y="4796651"/>
              <a:ext cx="2273300" cy="55399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050" kern="1200" dirty="0">
                  <a:solidFill>
                    <a:prstClr val="black"/>
                  </a:solidFill>
                  <a:latin typeface="Arial" charset="0"/>
                  <a:cs typeface="+mn-cs"/>
                </a:rPr>
                <a:t>TCP sender  Sending rate</a:t>
              </a:r>
            </a:p>
          </p:txBody>
        </p:sp>
        <p:sp>
          <p:nvSpPr>
            <p:cNvPr id="55" name="Line 17">
              <a:extLst>
                <a:ext uri="{FF2B5EF4-FFF2-40B4-BE49-F238E27FC236}">
                  <a16:creationId xmlns:a16="http://schemas.microsoft.com/office/drawing/2014/main" xmlns=""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6" name="Line 18">
              <a:extLst>
                <a:ext uri="{FF2B5EF4-FFF2-40B4-BE49-F238E27FC236}">
                  <a16:creationId xmlns:a16="http://schemas.microsoft.com/office/drawing/2014/main" xmlns=""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l" defTabSz="685800" rtl="0">
                <a:defRPr/>
              </a:pPr>
              <a:endParaRPr lang="en-US" sz="1350" kern="1200" dirty="0">
                <a:solidFill>
                  <a:prstClr val="black"/>
                </a:solidFill>
                <a:latin typeface="Tahoma" charset="0"/>
                <a:ea typeface="ＭＳ Ｐゴシック" charset="0"/>
                <a:cs typeface="+mn-cs"/>
              </a:endParaRPr>
            </a:p>
          </p:txBody>
        </p:sp>
        <p:sp>
          <p:nvSpPr>
            <p:cNvPr id="58" name="Text Box 40">
              <a:extLst>
                <a:ext uri="{FF2B5EF4-FFF2-40B4-BE49-F238E27FC236}">
                  <a16:creationId xmlns:a16="http://schemas.microsoft.com/office/drawing/2014/main" xmlns="" id="{27E5BB5F-DA02-D949-9477-C50B724C7125}"/>
                </a:ext>
              </a:extLst>
            </p:cNvPr>
            <p:cNvSpPr txBox="1">
              <a:spLocks noChangeArrowheads="1"/>
            </p:cNvSpPr>
            <p:nvPr/>
          </p:nvSpPr>
          <p:spPr bwMode="auto">
            <a:xfrm>
              <a:off x="6125453" y="6166816"/>
              <a:ext cx="64376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a:defRPr/>
              </a:pPr>
              <a:r>
                <a:rPr lang="en-US" sz="1200" kern="1200" dirty="0">
                  <a:solidFill>
                    <a:prstClr val="black"/>
                  </a:solidFill>
                  <a:cs typeface="+mn-cs"/>
                </a:rPr>
                <a:t>time</a:t>
              </a:r>
            </a:p>
          </p:txBody>
        </p:sp>
      </p:grpSp>
      <p:grpSp>
        <p:nvGrpSpPr>
          <p:cNvPr id="9" name="Group 8">
            <a:extLst>
              <a:ext uri="{FF2B5EF4-FFF2-40B4-BE49-F238E27FC236}">
                <a16:creationId xmlns:a16="http://schemas.microsoft.com/office/drawing/2014/main" xmlns="" id="{CE38AC8E-A4ED-7042-8221-EEFB417FF7BA}"/>
              </a:ext>
            </a:extLst>
          </p:cNvPr>
          <p:cNvGrpSpPr/>
          <p:nvPr/>
        </p:nvGrpSpPr>
        <p:grpSpPr>
          <a:xfrm>
            <a:off x="581025" y="1770192"/>
            <a:ext cx="3790950" cy="1428750"/>
            <a:chOff x="0" y="4533900"/>
            <a:chExt cx="4762500" cy="1905000"/>
          </a:xfrm>
        </p:grpSpPr>
        <p:sp>
          <p:nvSpPr>
            <p:cNvPr id="3" name="Rectangle 2">
              <a:extLst>
                <a:ext uri="{FF2B5EF4-FFF2-40B4-BE49-F238E27FC236}">
                  <a16:creationId xmlns:a16="http://schemas.microsoft.com/office/drawing/2014/main" xmlns=""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60" name="Rectangle 8">
              <a:extLst>
                <a:ext uri="{FF2B5EF4-FFF2-40B4-BE49-F238E27FC236}">
                  <a16:creationId xmlns:a16="http://schemas.microsoft.com/office/drawing/2014/main" xmlns=""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lvl="1" algn="l" defTabSz="685800" rtl="0">
                <a:lnSpc>
                  <a:spcPct val="85000"/>
                </a:lnSpc>
                <a:spcBef>
                  <a:spcPct val="20000"/>
                </a:spcBef>
                <a:buClr>
                  <a:srgbClr val="000099"/>
                </a:buClr>
                <a:defRPr/>
              </a:pPr>
              <a:r>
                <a:rPr lang="en-US" sz="1950" kern="1200" dirty="0">
                  <a:solidFill>
                    <a:prstClr val="black"/>
                  </a:solidFill>
                  <a:latin typeface="Calibri"/>
                  <a:ea typeface="ＭＳ Ｐゴシック" charset="0"/>
                  <a:cs typeface="+mn-cs"/>
                </a:rPr>
                <a:t>increase sending rate </a:t>
              </a:r>
              <a:r>
                <a:rPr lang="en-US" sz="1950" kern="1200" dirty="0">
                  <a:solidFill>
                    <a:prstClr val="black"/>
                  </a:solidFill>
                  <a:latin typeface="Gill Sans MT" charset="0"/>
                  <a:ea typeface="ＭＳ Ｐゴシック" charset="0"/>
                  <a:cs typeface="+mn-cs"/>
                </a:rPr>
                <a:t>by </a:t>
              </a:r>
              <a:r>
                <a:rPr lang="en-US" sz="1950" kern="1200" dirty="0">
                  <a:solidFill>
                    <a:prstClr val="black"/>
                  </a:solidFill>
                  <a:latin typeface="Calibri" panose="020F0502020204030204"/>
                  <a:ea typeface="ＭＳ Ｐゴシック" charset="0"/>
                  <a:cs typeface="+mn-cs"/>
                </a:rPr>
                <a:t>1 maximum segment size every RTT until loss detected</a:t>
              </a:r>
              <a:endParaRPr lang="en-US" sz="1950" i="1" kern="1200" dirty="0">
                <a:solidFill>
                  <a:prstClr val="black"/>
                </a:solidFill>
                <a:latin typeface="Calibri" panose="020F0502020204030204"/>
                <a:ea typeface="ＭＳ Ｐゴシック" charset="0"/>
                <a:cs typeface="+mn-cs"/>
              </a:endParaRPr>
            </a:p>
          </p:txBody>
        </p:sp>
        <p:sp>
          <p:nvSpPr>
            <p:cNvPr id="136" name="Rectangle 8">
              <a:extLst>
                <a:ext uri="{FF2B5EF4-FFF2-40B4-BE49-F238E27FC236}">
                  <a16:creationId xmlns:a16="http://schemas.microsoft.com/office/drawing/2014/main" xmlns=""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l" defTabSz="685800" rtl="0">
                <a:lnSpc>
                  <a:spcPct val="85000"/>
                </a:lnSpc>
                <a:spcBef>
                  <a:spcPct val="20000"/>
                </a:spcBef>
                <a:buClr>
                  <a:srgbClr val="000099"/>
                </a:buClr>
                <a:defRPr/>
              </a:pPr>
              <a:r>
                <a:rPr lang="en-US" sz="2100" i="1" u="sng" kern="1200" dirty="0">
                  <a:solidFill>
                    <a:srgbClr val="00B050"/>
                  </a:solidFill>
                  <a:latin typeface="Calibri" panose="020F0502020204030204"/>
                  <a:ea typeface="ＭＳ Ｐゴシック" charset="0"/>
                  <a:cs typeface="+mn-cs"/>
                </a:rPr>
                <a:t>A</a:t>
              </a:r>
              <a:r>
                <a:rPr lang="en-US" sz="2100" i="1" kern="1200" dirty="0">
                  <a:solidFill>
                    <a:srgbClr val="00B050"/>
                  </a:solidFill>
                  <a:latin typeface="Calibri" panose="020F0502020204030204"/>
                  <a:ea typeface="ＭＳ Ｐゴシック" charset="0"/>
                  <a:cs typeface="+mn-cs"/>
                </a:rPr>
                <a:t>dditive </a:t>
              </a:r>
              <a:r>
                <a:rPr lang="en-US" sz="2100" i="1" u="sng" kern="1200" dirty="0">
                  <a:solidFill>
                    <a:srgbClr val="00B050"/>
                  </a:solidFill>
                  <a:latin typeface="Calibri" panose="020F0502020204030204"/>
                  <a:ea typeface="ＭＳ Ｐゴシック" charset="0"/>
                  <a:cs typeface="+mn-cs"/>
                </a:rPr>
                <a:t>I</a:t>
              </a:r>
              <a:r>
                <a:rPr lang="en-US" sz="2100" i="1" kern="1200" dirty="0">
                  <a:solidFill>
                    <a:srgbClr val="00B050"/>
                  </a:solidFill>
                  <a:latin typeface="Calibri" panose="020F0502020204030204"/>
                  <a:ea typeface="ＭＳ Ｐゴシック" charset="0"/>
                  <a:cs typeface="+mn-cs"/>
                </a:rPr>
                <a:t>ncrease</a:t>
              </a:r>
              <a:endParaRPr lang="en-US" sz="2100" kern="1200" dirty="0">
                <a:solidFill>
                  <a:srgbClr val="00B050"/>
                </a:solidFill>
                <a:latin typeface="Gill Sans MT" charset="0"/>
                <a:ea typeface="ＭＳ Ｐゴシック" charset="0"/>
                <a:cs typeface="+mn-cs"/>
              </a:endParaRPr>
            </a:p>
          </p:txBody>
        </p:sp>
      </p:grpSp>
      <p:grpSp>
        <p:nvGrpSpPr>
          <p:cNvPr id="63" name="Group 62">
            <a:extLst>
              <a:ext uri="{FF2B5EF4-FFF2-40B4-BE49-F238E27FC236}">
                <a16:creationId xmlns:a16="http://schemas.microsoft.com/office/drawing/2014/main" xmlns="" id="{29F4C833-80E3-E14A-98F5-D02EBF4C0AC6}"/>
              </a:ext>
            </a:extLst>
          </p:cNvPr>
          <p:cNvGrpSpPr/>
          <p:nvPr/>
        </p:nvGrpSpPr>
        <p:grpSpPr>
          <a:xfrm>
            <a:off x="4362450" y="1808292"/>
            <a:ext cx="3562350" cy="1066800"/>
            <a:chOff x="38100" y="4533900"/>
            <a:chExt cx="4749800" cy="1422400"/>
          </a:xfrm>
        </p:grpSpPr>
        <p:sp>
          <p:nvSpPr>
            <p:cNvPr id="64" name="Rectangle 63">
              <a:extLst>
                <a:ext uri="{FF2B5EF4-FFF2-40B4-BE49-F238E27FC236}">
                  <a16:creationId xmlns:a16="http://schemas.microsoft.com/office/drawing/2014/main" xmlns=""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65" name="Rectangle 8">
              <a:extLst>
                <a:ext uri="{FF2B5EF4-FFF2-40B4-BE49-F238E27FC236}">
                  <a16:creationId xmlns:a16="http://schemas.microsoft.com/office/drawing/2014/main" xmlns=""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lvl="1" algn="l" defTabSz="685800" rtl="0">
                <a:lnSpc>
                  <a:spcPct val="85000"/>
                </a:lnSpc>
                <a:spcBef>
                  <a:spcPct val="20000"/>
                </a:spcBef>
                <a:buClr>
                  <a:srgbClr val="000099"/>
                </a:buClr>
                <a:defRPr/>
              </a:pPr>
              <a:r>
                <a:rPr lang="en-US" sz="1950" kern="1200" dirty="0">
                  <a:solidFill>
                    <a:prstClr val="black"/>
                  </a:solidFill>
                  <a:latin typeface="Calibri" panose="020F0502020204030204"/>
                  <a:ea typeface="ＭＳ Ｐゴシック" charset="0"/>
                  <a:cs typeface="+mn-cs"/>
                </a:rPr>
                <a:t>cut sending rate in half at each loss event</a:t>
              </a:r>
              <a:endParaRPr lang="en-US" sz="1950" i="1" kern="1200" dirty="0">
                <a:solidFill>
                  <a:prstClr val="black"/>
                </a:solidFill>
                <a:latin typeface="Calibri"/>
                <a:ea typeface="ＭＳ Ｐゴシック" charset="0"/>
                <a:cs typeface="+mn-cs"/>
              </a:endParaRPr>
            </a:p>
            <a:p>
              <a:pPr marL="257175" indent="-257175" algn="l" defTabSz="685800" rtl="0">
                <a:lnSpc>
                  <a:spcPct val="85000"/>
                </a:lnSpc>
                <a:spcBef>
                  <a:spcPct val="20000"/>
                </a:spcBef>
                <a:buClr>
                  <a:srgbClr val="000099"/>
                </a:buClr>
                <a:buSzPct val="65000"/>
                <a:buFont typeface="Wingdings" charset="0"/>
                <a:buChar char="v"/>
                <a:defRPr/>
              </a:pPr>
              <a:endParaRPr lang="en-US" sz="2100" kern="1200" dirty="0">
                <a:solidFill>
                  <a:prstClr val="black"/>
                </a:solidFill>
                <a:latin typeface="Gill Sans MT" charset="0"/>
                <a:ea typeface="ＭＳ Ｐゴシック" charset="0"/>
                <a:cs typeface="+mn-cs"/>
              </a:endParaRPr>
            </a:p>
          </p:txBody>
        </p:sp>
        <p:sp>
          <p:nvSpPr>
            <p:cNvPr id="66" name="Rectangle 8">
              <a:extLst>
                <a:ext uri="{FF2B5EF4-FFF2-40B4-BE49-F238E27FC236}">
                  <a16:creationId xmlns:a16="http://schemas.microsoft.com/office/drawing/2014/main" xmlns=""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l" defTabSz="685800" rtl="0">
                <a:lnSpc>
                  <a:spcPct val="85000"/>
                </a:lnSpc>
                <a:spcBef>
                  <a:spcPct val="20000"/>
                </a:spcBef>
                <a:buClr>
                  <a:srgbClr val="000099"/>
                </a:buClr>
                <a:defRPr/>
              </a:pPr>
              <a:r>
                <a:rPr lang="en-US" sz="2100" i="1" u="sng" kern="1200" dirty="0">
                  <a:solidFill>
                    <a:srgbClr val="C00000"/>
                  </a:solidFill>
                  <a:latin typeface="Calibri" panose="020F0502020204030204"/>
                  <a:ea typeface="ＭＳ Ｐゴシック" charset="0"/>
                  <a:cs typeface="+mn-cs"/>
                </a:rPr>
                <a:t>M</a:t>
              </a:r>
              <a:r>
                <a:rPr lang="en-US" sz="2100" i="1" kern="1200" dirty="0">
                  <a:solidFill>
                    <a:srgbClr val="C00000"/>
                  </a:solidFill>
                  <a:latin typeface="Calibri" panose="020F0502020204030204"/>
                  <a:ea typeface="ＭＳ Ｐゴシック" charset="0"/>
                  <a:cs typeface="+mn-cs"/>
                </a:rPr>
                <a:t>ultiplicative </a:t>
              </a:r>
              <a:r>
                <a:rPr lang="en-US" sz="2100" i="1" u="sng" kern="1200" dirty="0">
                  <a:solidFill>
                    <a:srgbClr val="C00000"/>
                  </a:solidFill>
                  <a:latin typeface="Calibri" panose="020F0502020204030204"/>
                  <a:ea typeface="ＭＳ Ｐゴシック" charset="0"/>
                  <a:cs typeface="+mn-cs"/>
                </a:rPr>
                <a:t>D</a:t>
              </a:r>
              <a:r>
                <a:rPr lang="en-US" sz="2100" i="1" kern="1200" dirty="0">
                  <a:solidFill>
                    <a:srgbClr val="C00000"/>
                  </a:solidFill>
                  <a:latin typeface="Calibri" panose="020F0502020204030204"/>
                  <a:ea typeface="ＭＳ Ｐゴシック" charset="0"/>
                  <a:cs typeface="+mn-cs"/>
                </a:rPr>
                <a:t>ecrease</a:t>
              </a:r>
              <a:endParaRPr lang="en-US" sz="2100" kern="1200" dirty="0">
                <a:solidFill>
                  <a:srgbClr val="C00000"/>
                </a:solidFill>
                <a:latin typeface="Gill Sans MT" charset="0"/>
                <a:ea typeface="ＭＳ Ｐゴシック" charset="0"/>
                <a:cs typeface="+mn-cs"/>
              </a:endParaRPr>
            </a:p>
          </p:txBody>
        </p:sp>
      </p:grpSp>
      <p:grpSp>
        <p:nvGrpSpPr>
          <p:cNvPr id="33" name="Group 32">
            <a:extLst>
              <a:ext uri="{FF2B5EF4-FFF2-40B4-BE49-F238E27FC236}">
                <a16:creationId xmlns:a16="http://schemas.microsoft.com/office/drawing/2014/main" xmlns="" id="{08B9E571-5EFE-DF45-ABEE-F217088B731C}"/>
              </a:ext>
            </a:extLst>
          </p:cNvPr>
          <p:cNvGrpSpPr/>
          <p:nvPr/>
        </p:nvGrpSpPr>
        <p:grpSpPr>
          <a:xfrm>
            <a:off x="2821832" y="2903221"/>
            <a:ext cx="2699426" cy="1193462"/>
            <a:chOff x="3965643" y="3797300"/>
            <a:chExt cx="3599234" cy="1591283"/>
          </a:xfrm>
        </p:grpSpPr>
        <p:grpSp>
          <p:nvGrpSpPr>
            <p:cNvPr id="32" name="Group 31">
              <a:extLst>
                <a:ext uri="{FF2B5EF4-FFF2-40B4-BE49-F238E27FC236}">
                  <a16:creationId xmlns:a16="http://schemas.microsoft.com/office/drawing/2014/main" xmlns=""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xmlns=""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xmlns=""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xmlns=""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xmlns=""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xmlns=""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xmlns=""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xmlns=""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xmlns=""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xmlns="" id="{46745885-D0C9-5C4A-8189-6C1C08532D61}"/>
              </a:ext>
            </a:extLst>
          </p:cNvPr>
          <p:cNvGrpSpPr/>
          <p:nvPr/>
        </p:nvGrpSpPr>
        <p:grpSpPr>
          <a:xfrm>
            <a:off x="2938462" y="2874347"/>
            <a:ext cx="2864645" cy="1179019"/>
            <a:chOff x="4108450" y="3746101"/>
            <a:chExt cx="3819526" cy="1572024"/>
          </a:xfrm>
        </p:grpSpPr>
        <p:grpSp>
          <p:nvGrpSpPr>
            <p:cNvPr id="85" name="Group 84">
              <a:extLst>
                <a:ext uri="{FF2B5EF4-FFF2-40B4-BE49-F238E27FC236}">
                  <a16:creationId xmlns:a16="http://schemas.microsoft.com/office/drawing/2014/main" xmlns=""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xmlns=""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xmlns=""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xmlns=""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xmlns=""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xmlns=""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xmlns="" id="{E7A7E738-8F7C-B641-98A4-26125EAB1AA9}"/>
                </a:ext>
              </a:extLst>
            </p:cNvPr>
            <p:cNvCxnSpPr>
              <a:cxnSpLocks/>
            </p:cNvCxnSpPr>
            <p:nvPr/>
          </p:nvCxnSpPr>
          <p:spPr>
            <a:xfrm flipV="1">
              <a:off x="7921625" y="3746101"/>
              <a:ext cx="3175" cy="20699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xmlns="" id="{CCB8A54B-0640-3A5A-DF5B-C2D128CD3F17}"/>
              </a:ext>
            </a:extLst>
          </p:cNvPr>
          <p:cNvSpPr txBox="1"/>
          <p:nvPr/>
        </p:nvSpPr>
        <p:spPr>
          <a:xfrm>
            <a:off x="147637" y="-114299"/>
            <a:ext cx="8848726" cy="1200329"/>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000" b="1" kern="1200">
                <a:solidFill>
                  <a:schemeClr val="tx1"/>
                </a:solidFill>
                <a:latin typeface="+mj-lt"/>
                <a:ea typeface="+mj-ea"/>
                <a:cs typeface="+mj-cs"/>
              </a:defRPr>
            </a:lvl1pPr>
          </a:lstStyle>
          <a:p>
            <a:r>
              <a:rPr lang="en-US" dirty="0"/>
              <a:t>TCP congestion control: AIMD </a:t>
            </a:r>
          </a:p>
          <a:p>
            <a:r>
              <a:rPr lang="en-US" sz="2000" dirty="0"/>
              <a:t>(Additive Increase Multiplicative Decrease)</a:t>
            </a:r>
            <a:endParaRPr lang="en-IN" sz="2000" dirty="0"/>
          </a:p>
        </p:txBody>
      </p:sp>
    </p:spTree>
    <p:extLst>
      <p:ext uri="{BB962C8B-B14F-4D97-AF65-F5344CB8AC3E}">
        <p14:creationId xmlns:p14="http://schemas.microsoft.com/office/powerpoint/2010/main" val="9389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299244" y="271976"/>
            <a:ext cx="8545512" cy="669925"/>
          </a:xfrm>
        </p:spPr>
        <p:txBody>
          <a:bodyPr vert="horz" lIns="91440" tIns="45720" rIns="91440" bIns="45720" rtlCol="0" anchor="ctr">
            <a:noAutofit/>
          </a:bodyPr>
          <a:lstStyle/>
          <a:p>
            <a:r>
              <a:rPr lang="en-US" sz="4000" b="1" dirty="0"/>
              <a:t>TCP congestion control: details</a:t>
            </a:r>
          </a:p>
        </p:txBody>
      </p:sp>
      <p:grpSp>
        <p:nvGrpSpPr>
          <p:cNvPr id="6" name="Group 5">
            <a:extLst>
              <a:ext uri="{FF2B5EF4-FFF2-40B4-BE49-F238E27FC236}">
                <a16:creationId xmlns:a16="http://schemas.microsoft.com/office/drawing/2014/main" xmlns="" id="{E52FB642-7743-D04C-959D-0819117703FA}"/>
              </a:ext>
            </a:extLst>
          </p:cNvPr>
          <p:cNvGrpSpPr/>
          <p:nvPr/>
        </p:nvGrpSpPr>
        <p:grpSpPr>
          <a:xfrm>
            <a:off x="837367" y="3628596"/>
            <a:ext cx="7525583" cy="1271588"/>
            <a:chOff x="1116489" y="4838128"/>
            <a:chExt cx="10034111" cy="1695450"/>
          </a:xfrm>
        </p:grpSpPr>
        <p:sp>
          <p:nvSpPr>
            <p:cNvPr id="17" name="Rectangle 16">
              <a:extLst>
                <a:ext uri="{FF2B5EF4-FFF2-40B4-BE49-F238E27FC236}">
                  <a16:creationId xmlns:a16="http://schemas.microsoft.com/office/drawing/2014/main" xmlns=""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sp>
          <p:nvSpPr>
            <p:cNvPr id="102" name="Rectangle 3">
              <a:extLst>
                <a:ext uri="{FF2B5EF4-FFF2-40B4-BE49-F238E27FC236}">
                  <a16:creationId xmlns:a16="http://schemas.microsoft.com/office/drawing/2014/main" xmlns=""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algn="just" defTabSz="685800">
                <a:lnSpc>
                  <a:spcPct val="90000"/>
                </a:lnSpc>
                <a:buFont typeface="Wingdings" charset="2"/>
                <a:buChar char="§"/>
                <a:defRPr/>
              </a:pPr>
              <a:r>
                <a:rPr lang="en-US" sz="2100" dirty="0">
                  <a:solidFill>
                    <a:srgbClr val="000000"/>
                  </a:solidFill>
                  <a:latin typeface="Calibri" panose="020F0502020204030204"/>
                  <a:cs typeface="+mn-cs"/>
                </a:rPr>
                <a:t>TCP sender limits transmission:</a:t>
              </a:r>
            </a:p>
            <a:p>
              <a:pPr marL="213122" indent="-213122" algn="just" defTabSz="685800">
                <a:lnSpc>
                  <a:spcPct val="90000"/>
                </a:lnSpc>
                <a:buFont typeface="Wingdings" charset="2"/>
                <a:buChar char="§"/>
                <a:defRPr/>
              </a:pPr>
              <a:r>
                <a:rPr lang="en-US" sz="2100" dirty="0">
                  <a:solidFill>
                    <a:srgbClr val="000000"/>
                  </a:solidFill>
                  <a:latin typeface="Courier" pitchFamily="2" charset="0"/>
                  <a:cs typeface="+mn-cs"/>
                </a:rPr>
                <a:t>cwnd </a:t>
              </a:r>
              <a:r>
                <a:rPr lang="en-US" sz="2100" dirty="0">
                  <a:solidFill>
                    <a:srgbClr val="000000"/>
                  </a:solidFill>
                  <a:latin typeface="Calibri" panose="020F0502020204030204"/>
                  <a:cs typeface="+mn-cs"/>
                </a:rPr>
                <a:t>is dynamically adjusted in response to observed network congestion (implementing TCP congestion control)</a:t>
              </a:r>
            </a:p>
            <a:p>
              <a:pPr marL="213122" indent="-213122" algn="just" defTabSz="685800">
                <a:buFont typeface="Wingdings" charset="2"/>
                <a:buChar char="§"/>
                <a:defRPr/>
              </a:pPr>
              <a:endParaRPr lang="en-US" sz="2100" dirty="0">
                <a:solidFill>
                  <a:srgbClr val="000000"/>
                </a:solidFill>
                <a:latin typeface="Gill Sans MT"/>
                <a:cs typeface="+mn-cs"/>
              </a:endParaRPr>
            </a:p>
          </p:txBody>
        </p:sp>
        <p:grpSp>
          <p:nvGrpSpPr>
            <p:cNvPr id="16" name="Group 15">
              <a:extLst>
                <a:ext uri="{FF2B5EF4-FFF2-40B4-BE49-F238E27FC236}">
                  <a16:creationId xmlns:a16="http://schemas.microsoft.com/office/drawing/2014/main" xmlns="" id="{33A34342-F85F-A641-8C18-F113159FACD0}"/>
                </a:ext>
              </a:extLst>
            </p:cNvPr>
            <p:cNvGrpSpPr/>
            <p:nvPr/>
          </p:nvGrpSpPr>
          <p:grpSpPr>
            <a:xfrm>
              <a:off x="6040008" y="4887177"/>
              <a:ext cx="4923962" cy="427880"/>
              <a:chOff x="5614194" y="4809655"/>
              <a:chExt cx="4923962" cy="427880"/>
            </a:xfrm>
          </p:grpSpPr>
          <p:sp>
            <p:nvSpPr>
              <p:cNvPr id="181" name="Text Box 71">
                <a:extLst>
                  <a:ext uri="{FF2B5EF4-FFF2-40B4-BE49-F238E27FC236}">
                    <a16:creationId xmlns:a16="http://schemas.microsoft.com/office/drawing/2014/main" xmlns="" id="{77C08B5B-9AE1-D240-830E-26ECD6D1665B}"/>
                  </a:ext>
                </a:extLst>
              </p:cNvPr>
              <p:cNvSpPr txBox="1">
                <a:spLocks noChangeArrowheads="1"/>
              </p:cNvSpPr>
              <p:nvPr/>
            </p:nvSpPr>
            <p:spPr bwMode="auto">
              <a:xfrm>
                <a:off x="5614194" y="4868630"/>
                <a:ext cx="4395788" cy="3689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169069" indent="-169069" algn="l" defTabSz="685800" rtl="0" eaLnBrk="0" fontAlgn="base" hangingPunct="0">
                  <a:lnSpc>
                    <a:spcPct val="85000"/>
                  </a:lnSpc>
                  <a:spcBef>
                    <a:spcPct val="20000"/>
                  </a:spcBef>
                  <a:spcAft>
                    <a:spcPct val="0"/>
                  </a:spcAft>
                  <a:buClr>
                    <a:srgbClr val="000099"/>
                  </a:buClr>
                  <a:buSzPct val="65000"/>
                  <a:defRPr/>
                </a:pPr>
                <a:r>
                  <a:rPr lang="en-US" sz="1350" b="1" kern="1200" dirty="0">
                    <a:solidFill>
                      <a:srgbClr val="000000"/>
                    </a:solidFill>
                    <a:latin typeface="Courier New" charset="0"/>
                    <a:cs typeface="+mn-cs"/>
                  </a:rPr>
                  <a:t>LastByteSent- LastByteAcked</a:t>
                </a:r>
                <a:endParaRPr lang="en-US" sz="1350" kern="1200" dirty="0">
                  <a:solidFill>
                    <a:srgbClr val="000000"/>
                  </a:solidFill>
                  <a:latin typeface="Courier New" charset="0"/>
                  <a:cs typeface="+mn-cs"/>
                </a:endParaRPr>
              </a:p>
            </p:txBody>
          </p:sp>
          <p:grpSp>
            <p:nvGrpSpPr>
              <p:cNvPr id="15" name="Group 14">
                <a:extLst>
                  <a:ext uri="{FF2B5EF4-FFF2-40B4-BE49-F238E27FC236}">
                    <a16:creationId xmlns:a16="http://schemas.microsoft.com/office/drawing/2014/main" xmlns="" id="{FED586FE-6CBA-AA48-85C7-A1A11BDABF7D}"/>
                  </a:ext>
                </a:extLst>
              </p:cNvPr>
              <p:cNvGrpSpPr/>
              <p:nvPr/>
            </p:nvGrpSpPr>
            <p:grpSpPr>
              <a:xfrm>
                <a:off x="9383138" y="4809655"/>
                <a:ext cx="1155018" cy="400110"/>
                <a:chOff x="7675859" y="4768381"/>
                <a:chExt cx="1155018" cy="400110"/>
              </a:xfrm>
            </p:grpSpPr>
            <p:grpSp>
              <p:nvGrpSpPr>
                <p:cNvPr id="182" name="Group 74">
                  <a:extLst>
                    <a:ext uri="{FF2B5EF4-FFF2-40B4-BE49-F238E27FC236}">
                      <a16:creationId xmlns:a16="http://schemas.microsoft.com/office/drawing/2014/main" xmlns="" id="{059D1AF2-00E8-024F-B782-BBF97100FEB7}"/>
                    </a:ext>
                  </a:extLst>
                </p:cNvPr>
                <p:cNvGrpSpPr>
                  <a:grpSpLocks/>
                </p:cNvGrpSpPr>
                <p:nvPr/>
              </p:nvGrpSpPr>
              <p:grpSpPr bwMode="auto">
                <a:xfrm>
                  <a:off x="7675859" y="4789024"/>
                  <a:ext cx="414338" cy="369888"/>
                  <a:chOff x="2038" y="2097"/>
                  <a:chExt cx="261" cy="233"/>
                </a:xfrm>
              </p:grpSpPr>
              <p:sp>
                <p:nvSpPr>
                  <p:cNvPr id="183" name="Text Box 72">
                    <a:extLst>
                      <a:ext uri="{FF2B5EF4-FFF2-40B4-BE49-F238E27FC236}">
                        <a16:creationId xmlns:a16="http://schemas.microsoft.com/office/drawing/2014/main" xmlns="" id="{50EA1644-3183-7A41-97FA-03AEA0F526B2}"/>
                      </a:ext>
                    </a:extLst>
                  </p:cNvPr>
                  <p:cNvSpPr txBox="1">
                    <a:spLocks noChangeArrowheads="1"/>
                  </p:cNvSpPr>
                  <p:nvPr/>
                </p:nvSpPr>
                <p:spPr bwMode="auto">
                  <a:xfrm>
                    <a:off x="2038" y="2097"/>
                    <a:ext cx="26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200" b="1" dirty="0">
                        <a:solidFill>
                          <a:srgbClr val="000000"/>
                        </a:solidFill>
                        <a:cs typeface="+mn-cs"/>
                      </a:rPr>
                      <a:t>&lt;</a:t>
                    </a:r>
                  </a:p>
                </p:txBody>
              </p:sp>
              <p:sp>
                <p:nvSpPr>
                  <p:cNvPr id="184" name="Line 73">
                    <a:extLst>
                      <a:ext uri="{FF2B5EF4-FFF2-40B4-BE49-F238E27FC236}">
                        <a16:creationId xmlns:a16="http://schemas.microsoft.com/office/drawing/2014/main" xmlns=""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185" name="Text Box 75">
                  <a:extLst>
                    <a:ext uri="{FF2B5EF4-FFF2-40B4-BE49-F238E27FC236}">
                      <a16:creationId xmlns:a16="http://schemas.microsoft.com/office/drawing/2014/main" xmlns="" id="{4F80A37A-B578-A447-95BD-D5D7AC31E664}"/>
                    </a:ext>
                  </a:extLst>
                </p:cNvPr>
                <p:cNvSpPr txBox="1">
                  <a:spLocks noChangeArrowheads="1"/>
                </p:cNvSpPr>
                <p:nvPr/>
              </p:nvSpPr>
              <p:spPr bwMode="auto">
                <a:xfrm>
                  <a:off x="8028948" y="4768381"/>
                  <a:ext cx="801929"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b="1" kern="1200" dirty="0">
                      <a:solidFill>
                        <a:srgbClr val="000000"/>
                      </a:solidFill>
                      <a:latin typeface="Courier New" charset="0"/>
                      <a:cs typeface="+mn-cs"/>
                    </a:rPr>
                    <a:t>cwnd</a:t>
                  </a:r>
                </a:p>
              </p:txBody>
            </p:sp>
          </p:grpSp>
        </p:grpSp>
      </p:grpSp>
      <p:sp>
        <p:nvSpPr>
          <p:cNvPr id="165" name="Rectangle 47">
            <a:extLst>
              <a:ext uri="{FF2B5EF4-FFF2-40B4-BE49-F238E27FC236}">
                <a16:creationId xmlns:a16="http://schemas.microsoft.com/office/drawing/2014/main" xmlns="" id="{DE6B816E-28FD-F042-BAC6-6005321F7326}"/>
              </a:ext>
            </a:extLst>
          </p:cNvPr>
          <p:cNvSpPr>
            <a:spLocks noChangeArrowheads="1"/>
          </p:cNvSpPr>
          <p:nvPr/>
        </p:nvSpPr>
        <p:spPr bwMode="auto">
          <a:xfrm>
            <a:off x="985666" y="2195830"/>
            <a:ext cx="3377559" cy="8065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11" name="Group 10">
            <a:extLst>
              <a:ext uri="{FF2B5EF4-FFF2-40B4-BE49-F238E27FC236}">
                <a16:creationId xmlns:a16="http://schemas.microsoft.com/office/drawing/2014/main" xmlns="" id="{C2EB66EB-894C-A043-A360-C60A865F68A4}"/>
              </a:ext>
            </a:extLst>
          </p:cNvPr>
          <p:cNvGrpSpPr/>
          <p:nvPr/>
        </p:nvGrpSpPr>
        <p:grpSpPr>
          <a:xfrm>
            <a:off x="966789" y="2136779"/>
            <a:ext cx="950851" cy="669361"/>
            <a:chOff x="1289051" y="2849038"/>
            <a:chExt cx="1267801" cy="892480"/>
          </a:xfrm>
        </p:grpSpPr>
        <p:sp>
          <p:nvSpPr>
            <p:cNvPr id="168" name="Freeform 53">
              <a:extLst>
                <a:ext uri="{FF2B5EF4-FFF2-40B4-BE49-F238E27FC236}">
                  <a16:creationId xmlns:a16="http://schemas.microsoft.com/office/drawing/2014/main" xmlns=""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panose="020B0604030504040204" pitchFamily="34" charset="0"/>
                <a:ea typeface="ＭＳ Ｐゴシック" panose="020B0600070205080204" pitchFamily="34" charset="-128"/>
                <a:cs typeface="+mn-cs"/>
              </a:endParaRPr>
            </a:p>
          </p:txBody>
        </p:sp>
        <p:sp>
          <p:nvSpPr>
            <p:cNvPr id="170" name="Text Box 57">
              <a:extLst>
                <a:ext uri="{FF2B5EF4-FFF2-40B4-BE49-F238E27FC236}">
                  <a16:creationId xmlns:a16="http://schemas.microsoft.com/office/drawing/2014/main" xmlns="" id="{4DCFBA68-55DB-2E45-83BC-59D80627D5D3}"/>
                </a:ext>
              </a:extLst>
            </p:cNvPr>
            <p:cNvSpPr txBox="1">
              <a:spLocks noChangeArrowheads="1"/>
            </p:cNvSpPr>
            <p:nvPr/>
          </p:nvSpPr>
          <p:spPr bwMode="auto">
            <a:xfrm>
              <a:off x="1289051" y="3119811"/>
              <a:ext cx="1047724" cy="6217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eaLnBrk="0" fontAlgn="base" hangingPunct="0">
                <a:lnSpc>
                  <a:spcPct val="90000"/>
                </a:lnSpc>
                <a:spcBef>
                  <a:spcPct val="0"/>
                </a:spcBef>
                <a:spcAft>
                  <a:spcPct val="0"/>
                </a:spcAft>
                <a:defRPr/>
              </a:pPr>
              <a:r>
                <a:rPr lang="en-US" sz="1350" dirty="0">
                  <a:solidFill>
                    <a:srgbClr val="000000"/>
                  </a:solidFill>
                  <a:latin typeface="Calibri" panose="020F0502020204030204"/>
                  <a:cs typeface="+mn-cs"/>
                </a:rPr>
                <a:t>last byte</a:t>
              </a:r>
            </a:p>
            <a:p>
              <a:pPr algn="l" defTabSz="685800" rtl="0" eaLnBrk="0" fontAlgn="base" hangingPunct="0">
                <a:lnSpc>
                  <a:spcPct val="90000"/>
                </a:lnSpc>
                <a:spcBef>
                  <a:spcPct val="0"/>
                </a:spcBef>
                <a:spcAft>
                  <a:spcPct val="0"/>
                </a:spcAft>
                <a:defRPr/>
              </a:pPr>
              <a:r>
                <a:rPr lang="en-US" sz="1350" dirty="0">
                  <a:solidFill>
                    <a:srgbClr val="000000"/>
                  </a:solidFill>
                  <a:latin typeface="Calibri" panose="020F0502020204030204"/>
                  <a:cs typeface="+mn-cs"/>
                </a:rPr>
                <a:t>ACKed</a:t>
              </a:r>
            </a:p>
          </p:txBody>
        </p:sp>
      </p:grpSp>
      <p:grpSp>
        <p:nvGrpSpPr>
          <p:cNvPr id="13" name="Group 12">
            <a:extLst>
              <a:ext uri="{FF2B5EF4-FFF2-40B4-BE49-F238E27FC236}">
                <a16:creationId xmlns:a16="http://schemas.microsoft.com/office/drawing/2014/main" xmlns="" id="{A8C3752B-025F-E94F-8654-13F54E9C670F}"/>
              </a:ext>
            </a:extLst>
          </p:cNvPr>
          <p:cNvGrpSpPr/>
          <p:nvPr/>
        </p:nvGrpSpPr>
        <p:grpSpPr>
          <a:xfrm>
            <a:off x="2868063" y="2211659"/>
            <a:ext cx="1319468" cy="985511"/>
            <a:chOff x="3824084" y="2948877"/>
            <a:chExt cx="1759290" cy="1314014"/>
          </a:xfrm>
        </p:grpSpPr>
        <p:sp>
          <p:nvSpPr>
            <p:cNvPr id="172" name="Text Box 59">
              <a:extLst>
                <a:ext uri="{FF2B5EF4-FFF2-40B4-BE49-F238E27FC236}">
                  <a16:creationId xmlns:a16="http://schemas.microsoft.com/office/drawing/2014/main" xmlns="" id="{44BFDC0C-7E1F-194B-B1D5-936A1056896B}"/>
                </a:ext>
              </a:extLst>
            </p:cNvPr>
            <p:cNvSpPr txBox="1">
              <a:spLocks noChangeArrowheads="1"/>
            </p:cNvSpPr>
            <p:nvPr/>
          </p:nvSpPr>
          <p:spPr bwMode="auto">
            <a:xfrm>
              <a:off x="3979525" y="3890482"/>
              <a:ext cx="1603849" cy="3724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eaLnBrk="0" fontAlgn="base" hangingPunct="0">
                <a:lnSpc>
                  <a:spcPct val="90000"/>
                </a:lnSpc>
                <a:spcBef>
                  <a:spcPct val="0"/>
                </a:spcBef>
                <a:spcAft>
                  <a:spcPct val="0"/>
                </a:spcAft>
                <a:defRPr/>
              </a:pPr>
              <a:r>
                <a:rPr lang="en-US" sz="1350" dirty="0">
                  <a:solidFill>
                    <a:srgbClr val="000000"/>
                  </a:solidFill>
                  <a:latin typeface="Calibri" panose="020F0502020204030204"/>
                  <a:cs typeface="+mn-cs"/>
                </a:rPr>
                <a:t>last byte sent</a:t>
              </a:r>
            </a:p>
          </p:txBody>
        </p:sp>
        <p:sp>
          <p:nvSpPr>
            <p:cNvPr id="180" name="Freeform 69">
              <a:extLst>
                <a:ext uri="{FF2B5EF4-FFF2-40B4-BE49-F238E27FC236}">
                  <a16:creationId xmlns:a16="http://schemas.microsoft.com/office/drawing/2014/main" xmlns=""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Calibri" panose="020F0502020204030204"/>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xmlns="" id="{42CF5997-36CB-D147-BC28-3AEB4C853BEA}"/>
              </a:ext>
            </a:extLst>
          </p:cNvPr>
          <p:cNvGrpSpPr/>
          <p:nvPr/>
        </p:nvGrpSpPr>
        <p:grpSpPr>
          <a:xfrm>
            <a:off x="966789" y="969249"/>
            <a:ext cx="3481387" cy="1122880"/>
            <a:chOff x="1289051" y="1292332"/>
            <a:chExt cx="4641849" cy="1497173"/>
          </a:xfrm>
        </p:grpSpPr>
        <p:sp>
          <p:nvSpPr>
            <p:cNvPr id="104" name="Rectangle 12">
              <a:extLst>
                <a:ext uri="{FF2B5EF4-FFF2-40B4-BE49-F238E27FC236}">
                  <a16:creationId xmlns:a16="http://schemas.microsoft.com/office/drawing/2014/main" xmlns=""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05" name="Rectangle 13">
              <a:extLst>
                <a:ext uri="{FF2B5EF4-FFF2-40B4-BE49-F238E27FC236}">
                  <a16:creationId xmlns:a16="http://schemas.microsoft.com/office/drawing/2014/main" xmlns=""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06" name="Rectangle 14">
              <a:extLst>
                <a:ext uri="{FF2B5EF4-FFF2-40B4-BE49-F238E27FC236}">
                  <a16:creationId xmlns:a16="http://schemas.microsoft.com/office/drawing/2014/main" xmlns=""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07" name="Rectangle 15">
              <a:extLst>
                <a:ext uri="{FF2B5EF4-FFF2-40B4-BE49-F238E27FC236}">
                  <a16:creationId xmlns:a16="http://schemas.microsoft.com/office/drawing/2014/main" xmlns=""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08" name="Rectangle 16">
              <a:extLst>
                <a:ext uri="{FF2B5EF4-FFF2-40B4-BE49-F238E27FC236}">
                  <a16:creationId xmlns:a16="http://schemas.microsoft.com/office/drawing/2014/main" xmlns=""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09" name="Rectangle 17">
              <a:extLst>
                <a:ext uri="{FF2B5EF4-FFF2-40B4-BE49-F238E27FC236}">
                  <a16:creationId xmlns:a16="http://schemas.microsoft.com/office/drawing/2014/main" xmlns=""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0" name="Rectangle 18">
              <a:extLst>
                <a:ext uri="{FF2B5EF4-FFF2-40B4-BE49-F238E27FC236}">
                  <a16:creationId xmlns:a16="http://schemas.microsoft.com/office/drawing/2014/main" xmlns=""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1" name="Rectangle 19">
              <a:extLst>
                <a:ext uri="{FF2B5EF4-FFF2-40B4-BE49-F238E27FC236}">
                  <a16:creationId xmlns:a16="http://schemas.microsoft.com/office/drawing/2014/main" xmlns=""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2" name="Rectangle 20">
              <a:extLst>
                <a:ext uri="{FF2B5EF4-FFF2-40B4-BE49-F238E27FC236}">
                  <a16:creationId xmlns:a16="http://schemas.microsoft.com/office/drawing/2014/main" xmlns=""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3" name="Rectangle 21">
              <a:extLst>
                <a:ext uri="{FF2B5EF4-FFF2-40B4-BE49-F238E27FC236}">
                  <a16:creationId xmlns:a16="http://schemas.microsoft.com/office/drawing/2014/main" xmlns=""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4" name="Rectangle 22">
              <a:extLst>
                <a:ext uri="{FF2B5EF4-FFF2-40B4-BE49-F238E27FC236}">
                  <a16:creationId xmlns:a16="http://schemas.microsoft.com/office/drawing/2014/main" xmlns=""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5" name="Rectangle 23">
              <a:extLst>
                <a:ext uri="{FF2B5EF4-FFF2-40B4-BE49-F238E27FC236}">
                  <a16:creationId xmlns:a16="http://schemas.microsoft.com/office/drawing/2014/main" xmlns=""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6" name="Rectangle 24">
              <a:extLst>
                <a:ext uri="{FF2B5EF4-FFF2-40B4-BE49-F238E27FC236}">
                  <a16:creationId xmlns:a16="http://schemas.microsoft.com/office/drawing/2014/main" xmlns=""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7" name="Rectangle 25">
              <a:extLst>
                <a:ext uri="{FF2B5EF4-FFF2-40B4-BE49-F238E27FC236}">
                  <a16:creationId xmlns:a16="http://schemas.microsoft.com/office/drawing/2014/main" xmlns=""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8" name="Rectangle 26">
              <a:extLst>
                <a:ext uri="{FF2B5EF4-FFF2-40B4-BE49-F238E27FC236}">
                  <a16:creationId xmlns:a16="http://schemas.microsoft.com/office/drawing/2014/main" xmlns=""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19" name="Rectangle 27">
              <a:extLst>
                <a:ext uri="{FF2B5EF4-FFF2-40B4-BE49-F238E27FC236}">
                  <a16:creationId xmlns:a16="http://schemas.microsoft.com/office/drawing/2014/main" xmlns=""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0" name="Rectangle 28">
              <a:extLst>
                <a:ext uri="{FF2B5EF4-FFF2-40B4-BE49-F238E27FC236}">
                  <a16:creationId xmlns:a16="http://schemas.microsoft.com/office/drawing/2014/main" xmlns=""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1" name="Rectangle 29">
              <a:extLst>
                <a:ext uri="{FF2B5EF4-FFF2-40B4-BE49-F238E27FC236}">
                  <a16:creationId xmlns:a16="http://schemas.microsoft.com/office/drawing/2014/main" xmlns=""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2" name="Rectangle 30">
              <a:extLst>
                <a:ext uri="{FF2B5EF4-FFF2-40B4-BE49-F238E27FC236}">
                  <a16:creationId xmlns:a16="http://schemas.microsoft.com/office/drawing/2014/main" xmlns=""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3" name="Rectangle 31">
              <a:extLst>
                <a:ext uri="{FF2B5EF4-FFF2-40B4-BE49-F238E27FC236}">
                  <a16:creationId xmlns:a16="http://schemas.microsoft.com/office/drawing/2014/main" xmlns=""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4" name="Rectangle 32">
              <a:extLst>
                <a:ext uri="{FF2B5EF4-FFF2-40B4-BE49-F238E27FC236}">
                  <a16:creationId xmlns:a16="http://schemas.microsoft.com/office/drawing/2014/main" xmlns=""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5" name="Rectangle 33">
              <a:extLst>
                <a:ext uri="{FF2B5EF4-FFF2-40B4-BE49-F238E27FC236}">
                  <a16:creationId xmlns:a16="http://schemas.microsoft.com/office/drawing/2014/main" xmlns=""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6" name="Rectangle 34">
              <a:extLst>
                <a:ext uri="{FF2B5EF4-FFF2-40B4-BE49-F238E27FC236}">
                  <a16:creationId xmlns:a16="http://schemas.microsoft.com/office/drawing/2014/main" xmlns=""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7" name="Rectangle 35">
              <a:extLst>
                <a:ext uri="{FF2B5EF4-FFF2-40B4-BE49-F238E27FC236}">
                  <a16:creationId xmlns:a16="http://schemas.microsoft.com/office/drawing/2014/main" xmlns=""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8" name="Rectangle 36">
              <a:extLst>
                <a:ext uri="{FF2B5EF4-FFF2-40B4-BE49-F238E27FC236}">
                  <a16:creationId xmlns:a16="http://schemas.microsoft.com/office/drawing/2014/main" xmlns=""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29" name="Rectangle 37">
              <a:extLst>
                <a:ext uri="{FF2B5EF4-FFF2-40B4-BE49-F238E27FC236}">
                  <a16:creationId xmlns:a16="http://schemas.microsoft.com/office/drawing/2014/main" xmlns=""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30" name="Rectangle 38">
              <a:extLst>
                <a:ext uri="{FF2B5EF4-FFF2-40B4-BE49-F238E27FC236}">
                  <a16:creationId xmlns:a16="http://schemas.microsoft.com/office/drawing/2014/main" xmlns=""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1" name="Rectangle 39">
              <a:extLst>
                <a:ext uri="{FF2B5EF4-FFF2-40B4-BE49-F238E27FC236}">
                  <a16:creationId xmlns:a16="http://schemas.microsoft.com/office/drawing/2014/main" xmlns=""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2" name="Rectangle 40">
              <a:extLst>
                <a:ext uri="{FF2B5EF4-FFF2-40B4-BE49-F238E27FC236}">
                  <a16:creationId xmlns:a16="http://schemas.microsoft.com/office/drawing/2014/main" xmlns=""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3" name="Rectangle 41">
              <a:extLst>
                <a:ext uri="{FF2B5EF4-FFF2-40B4-BE49-F238E27FC236}">
                  <a16:creationId xmlns:a16="http://schemas.microsoft.com/office/drawing/2014/main" xmlns=""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4" name="Rectangle 42">
              <a:extLst>
                <a:ext uri="{FF2B5EF4-FFF2-40B4-BE49-F238E27FC236}">
                  <a16:creationId xmlns:a16="http://schemas.microsoft.com/office/drawing/2014/main" xmlns=""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7" name="Rectangle 43">
              <a:extLst>
                <a:ext uri="{FF2B5EF4-FFF2-40B4-BE49-F238E27FC236}">
                  <a16:creationId xmlns:a16="http://schemas.microsoft.com/office/drawing/2014/main" xmlns=""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38" name="Rectangle 44">
              <a:extLst>
                <a:ext uri="{FF2B5EF4-FFF2-40B4-BE49-F238E27FC236}">
                  <a16:creationId xmlns:a16="http://schemas.microsoft.com/office/drawing/2014/main" xmlns=""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63" name="Rectangle 45">
              <a:extLst>
                <a:ext uri="{FF2B5EF4-FFF2-40B4-BE49-F238E27FC236}">
                  <a16:creationId xmlns:a16="http://schemas.microsoft.com/office/drawing/2014/main" xmlns=""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64" name="Rectangle 46">
              <a:extLst>
                <a:ext uri="{FF2B5EF4-FFF2-40B4-BE49-F238E27FC236}">
                  <a16:creationId xmlns:a16="http://schemas.microsoft.com/office/drawing/2014/main" xmlns=""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66" name="Rectangle 48">
              <a:extLst>
                <a:ext uri="{FF2B5EF4-FFF2-40B4-BE49-F238E27FC236}">
                  <a16:creationId xmlns:a16="http://schemas.microsoft.com/office/drawing/2014/main" xmlns=""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173" name="Text Box 61">
              <a:extLst>
                <a:ext uri="{FF2B5EF4-FFF2-40B4-BE49-F238E27FC236}">
                  <a16:creationId xmlns:a16="http://schemas.microsoft.com/office/drawing/2014/main" xmlns="" id="{EC2166A2-B157-124D-AD95-CDDC7B2DDCB8}"/>
                </a:ext>
              </a:extLst>
            </p:cNvPr>
            <p:cNvSpPr txBox="1">
              <a:spLocks noChangeArrowheads="1"/>
            </p:cNvSpPr>
            <p:nvPr/>
          </p:nvSpPr>
          <p:spPr bwMode="auto">
            <a:xfrm>
              <a:off x="3286764" y="1648799"/>
              <a:ext cx="673689" cy="3223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lnSpc>
                  <a:spcPct val="90000"/>
                </a:lnSpc>
                <a:spcBef>
                  <a:spcPct val="0"/>
                </a:spcBef>
                <a:spcAft>
                  <a:spcPct val="0"/>
                </a:spcAft>
                <a:defRPr/>
              </a:pPr>
              <a:r>
                <a:rPr lang="en-US" sz="1050" b="1" kern="1200" dirty="0">
                  <a:solidFill>
                    <a:srgbClr val="000000"/>
                  </a:solidFill>
                  <a:latin typeface="Courier New" charset="0"/>
                  <a:cs typeface="+mn-cs"/>
                </a:rPr>
                <a:t>cwnd</a:t>
              </a:r>
              <a:endParaRPr lang="en-US" sz="1050" b="1" i="1" kern="1200" dirty="0">
                <a:solidFill>
                  <a:srgbClr val="000000"/>
                </a:solidFill>
                <a:latin typeface="Courier New" charset="0"/>
                <a:cs typeface="+mn-cs"/>
              </a:endParaRPr>
            </a:p>
          </p:txBody>
        </p:sp>
        <p:grpSp>
          <p:nvGrpSpPr>
            <p:cNvPr id="174" name="Group 62">
              <a:extLst>
                <a:ext uri="{FF2B5EF4-FFF2-40B4-BE49-F238E27FC236}">
                  <a16:creationId xmlns:a16="http://schemas.microsoft.com/office/drawing/2014/main" xmlns=""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xmlns=""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76" name="Line 64">
                <a:extLst>
                  <a:ext uri="{FF2B5EF4-FFF2-40B4-BE49-F238E27FC236}">
                    <a16:creationId xmlns:a16="http://schemas.microsoft.com/office/drawing/2014/main" xmlns=""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grpSp>
        <p:grpSp>
          <p:nvGrpSpPr>
            <p:cNvPr id="177" name="Group 65">
              <a:extLst>
                <a:ext uri="{FF2B5EF4-FFF2-40B4-BE49-F238E27FC236}">
                  <a16:creationId xmlns:a16="http://schemas.microsoft.com/office/drawing/2014/main" xmlns=""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xmlns=""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179" name="Line 67">
                <a:extLst>
                  <a:ext uri="{FF2B5EF4-FFF2-40B4-BE49-F238E27FC236}">
                    <a16:creationId xmlns:a16="http://schemas.microsoft.com/office/drawing/2014/main" xmlns=""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grpSp>
        <p:sp>
          <p:nvSpPr>
            <p:cNvPr id="187" name="Text Box 78">
              <a:extLst>
                <a:ext uri="{FF2B5EF4-FFF2-40B4-BE49-F238E27FC236}">
                  <a16:creationId xmlns:a16="http://schemas.microsoft.com/office/drawing/2014/main" xmlns="" id="{084366A9-52AF-9848-912D-70AD364BF8CE}"/>
                </a:ext>
              </a:extLst>
            </p:cNvPr>
            <p:cNvSpPr txBox="1">
              <a:spLocks noChangeArrowheads="1"/>
            </p:cNvSpPr>
            <p:nvPr/>
          </p:nvSpPr>
          <p:spPr bwMode="auto">
            <a:xfrm>
              <a:off x="1289051" y="1292332"/>
              <a:ext cx="3279104"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eaLnBrk="0" fontAlgn="base" hangingPunct="0">
                <a:spcBef>
                  <a:spcPct val="0"/>
                </a:spcBef>
                <a:spcAft>
                  <a:spcPct val="0"/>
                </a:spcAft>
                <a:defRPr/>
              </a:pPr>
              <a:r>
                <a:rPr lang="en-US" sz="1350" dirty="0">
                  <a:solidFill>
                    <a:srgbClr val="000000"/>
                  </a:solidFill>
                  <a:latin typeface="Calibri" panose="020F0502020204030204"/>
                  <a:cs typeface="+mn-cs"/>
                </a:rPr>
                <a:t>sender sequence number space </a:t>
              </a:r>
            </a:p>
          </p:txBody>
        </p:sp>
      </p:grpSp>
      <p:sp>
        <p:nvSpPr>
          <p:cNvPr id="198" name="Line 51">
            <a:extLst>
              <a:ext uri="{FF2B5EF4-FFF2-40B4-BE49-F238E27FC236}">
                <a16:creationId xmlns:a16="http://schemas.microsoft.com/office/drawing/2014/main" xmlns="" id="{E6E4B0C6-1414-3D4F-93A5-CCA3CEEBB668}"/>
              </a:ext>
            </a:extLst>
          </p:cNvPr>
          <p:cNvSpPr>
            <a:spLocks noChangeShapeType="1"/>
          </p:cNvSpPr>
          <p:nvPr/>
        </p:nvSpPr>
        <p:spPr bwMode="auto">
          <a:xfrm>
            <a:off x="2931645" y="2156666"/>
            <a:ext cx="52503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grpSp>
        <p:nvGrpSpPr>
          <p:cNvPr id="14" name="Group 13">
            <a:extLst>
              <a:ext uri="{FF2B5EF4-FFF2-40B4-BE49-F238E27FC236}">
                <a16:creationId xmlns:a16="http://schemas.microsoft.com/office/drawing/2014/main" xmlns="" id="{BF77D345-5DCD-C84A-8957-E4F03648FFCF}"/>
              </a:ext>
            </a:extLst>
          </p:cNvPr>
          <p:cNvGrpSpPr/>
          <p:nvPr/>
        </p:nvGrpSpPr>
        <p:grpSpPr>
          <a:xfrm>
            <a:off x="3153127" y="2219713"/>
            <a:ext cx="1319374" cy="736019"/>
            <a:chOff x="4204169" y="2959619"/>
            <a:chExt cx="1759165" cy="981359"/>
          </a:xfrm>
        </p:grpSpPr>
        <p:sp>
          <p:nvSpPr>
            <p:cNvPr id="199" name="Freeform 69">
              <a:extLst>
                <a:ext uri="{FF2B5EF4-FFF2-40B4-BE49-F238E27FC236}">
                  <a16:creationId xmlns:a16="http://schemas.microsoft.com/office/drawing/2014/main" xmlns=""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Calibri" panose="020F0502020204030204"/>
                <a:ea typeface="ＭＳ Ｐゴシック" panose="020B0600070205080204" pitchFamily="34" charset="-128"/>
                <a:cs typeface="+mn-cs"/>
              </a:endParaRPr>
            </a:p>
          </p:txBody>
        </p:sp>
        <p:sp>
          <p:nvSpPr>
            <p:cNvPr id="200" name="Text Box 59">
              <a:extLst>
                <a:ext uri="{FF2B5EF4-FFF2-40B4-BE49-F238E27FC236}">
                  <a16:creationId xmlns:a16="http://schemas.microsoft.com/office/drawing/2014/main" xmlns="" id="{D18ACC8C-E30F-2B43-A012-02A119CFD507}"/>
                </a:ext>
              </a:extLst>
            </p:cNvPr>
            <p:cNvSpPr txBox="1">
              <a:spLocks noChangeArrowheads="1"/>
            </p:cNvSpPr>
            <p:nvPr/>
          </p:nvSpPr>
          <p:spPr bwMode="auto">
            <a:xfrm>
              <a:off x="4359485" y="3319270"/>
              <a:ext cx="1603849" cy="6217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defTabSz="685800" rtl="0" eaLnBrk="0" fontAlgn="base" hangingPunct="0">
                <a:lnSpc>
                  <a:spcPct val="90000"/>
                </a:lnSpc>
                <a:spcBef>
                  <a:spcPct val="0"/>
                </a:spcBef>
                <a:spcAft>
                  <a:spcPct val="0"/>
                </a:spcAft>
                <a:defRPr/>
              </a:pPr>
              <a:r>
                <a:rPr lang="en-US" sz="1350" dirty="0">
                  <a:solidFill>
                    <a:srgbClr val="000000"/>
                  </a:solidFill>
                  <a:latin typeface="Calibri" panose="020F0502020204030204"/>
                  <a:cs typeface="+mn-cs"/>
                </a:rPr>
                <a:t>available but not used</a:t>
              </a:r>
            </a:p>
          </p:txBody>
        </p:sp>
      </p:grpSp>
      <p:grpSp>
        <p:nvGrpSpPr>
          <p:cNvPr id="22" name="Group 21">
            <a:extLst>
              <a:ext uri="{FF2B5EF4-FFF2-40B4-BE49-F238E27FC236}">
                <a16:creationId xmlns:a16="http://schemas.microsoft.com/office/drawing/2014/main" xmlns="" id="{9DAB0D8A-F035-A446-BFCD-CB14C1FE358B}"/>
              </a:ext>
            </a:extLst>
          </p:cNvPr>
          <p:cNvGrpSpPr/>
          <p:nvPr/>
        </p:nvGrpSpPr>
        <p:grpSpPr>
          <a:xfrm>
            <a:off x="5385197" y="1091803"/>
            <a:ext cx="3444470" cy="1926397"/>
            <a:chOff x="7180262" y="1455737"/>
            <a:chExt cx="4592627" cy="2568529"/>
          </a:xfrm>
        </p:grpSpPr>
        <p:sp>
          <p:nvSpPr>
            <p:cNvPr id="103" name="Rectangle 4">
              <a:extLst>
                <a:ext uri="{FF2B5EF4-FFF2-40B4-BE49-F238E27FC236}">
                  <a16:creationId xmlns:a16="http://schemas.microsoft.com/office/drawing/2014/main" xmlns=""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sz="2100" dirty="0">
                  <a:solidFill>
                    <a:srgbClr val="000000"/>
                  </a:solidFill>
                  <a:latin typeface="Calibri" panose="020F0502020204030204"/>
                  <a:cs typeface="+mn-cs"/>
                </a:rPr>
                <a:t>TCP sending behavior:</a:t>
              </a:r>
            </a:p>
            <a:p>
              <a:pPr marL="213122" indent="-213122" defTabSz="685800">
                <a:buFont typeface="Wingdings" charset="2"/>
                <a:buChar char="§"/>
                <a:defRPr/>
              </a:pPr>
              <a:r>
                <a:rPr lang="en-US" sz="2100" i="1" dirty="0">
                  <a:solidFill>
                    <a:srgbClr val="000000"/>
                  </a:solidFill>
                  <a:latin typeface="Calibri" panose="020F0502020204030204"/>
                  <a:cs typeface="+mn-cs"/>
                </a:rPr>
                <a:t>roughly:</a:t>
              </a:r>
              <a:r>
                <a:rPr lang="en-US" sz="2100" dirty="0">
                  <a:solidFill>
                    <a:srgbClr val="000000"/>
                  </a:solidFill>
                  <a:latin typeface="Calibri" panose="020F0502020204030204"/>
                  <a:cs typeface="+mn-cs"/>
                </a:rPr>
                <a:t> send </a:t>
              </a:r>
              <a:r>
                <a:rPr lang="en-US" sz="2100" dirty="0">
                  <a:solidFill>
                    <a:srgbClr val="000000"/>
                  </a:solidFill>
                  <a:latin typeface="Courier" pitchFamily="2" charset="0"/>
                  <a:cs typeface="+mn-cs"/>
                </a:rPr>
                <a:t>cwnd</a:t>
              </a:r>
              <a:r>
                <a:rPr lang="en-US" sz="2100" dirty="0">
                  <a:solidFill>
                    <a:srgbClr val="000000"/>
                  </a:solidFill>
                  <a:latin typeface="Calibri" panose="020F0502020204030204"/>
                  <a:cs typeface="+mn-cs"/>
                </a:rPr>
                <a:t> bytes, wait RTT for ACKS, then send more bytes</a:t>
              </a:r>
            </a:p>
          </p:txBody>
        </p:sp>
        <p:grpSp>
          <p:nvGrpSpPr>
            <p:cNvPr id="20" name="Group 19">
              <a:extLst>
                <a:ext uri="{FF2B5EF4-FFF2-40B4-BE49-F238E27FC236}">
                  <a16:creationId xmlns:a16="http://schemas.microsoft.com/office/drawing/2014/main" xmlns="" id="{57FB518A-5432-5D44-890D-C8AC56EDFDD2}"/>
                </a:ext>
              </a:extLst>
            </p:cNvPr>
            <p:cNvGrpSpPr/>
            <p:nvPr/>
          </p:nvGrpSpPr>
          <p:grpSpPr>
            <a:xfrm>
              <a:off x="7510646" y="3110983"/>
              <a:ext cx="3754046" cy="913283"/>
              <a:chOff x="6837170" y="3035314"/>
              <a:chExt cx="3754046" cy="913283"/>
            </a:xfrm>
          </p:grpSpPr>
          <p:sp>
            <p:nvSpPr>
              <p:cNvPr id="19" name="Rectangle 18">
                <a:extLst>
                  <a:ext uri="{FF2B5EF4-FFF2-40B4-BE49-F238E27FC236}">
                    <a16:creationId xmlns:a16="http://schemas.microsoft.com/office/drawing/2014/main" xmlns=""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xmlns="" id="{C32ED096-06AB-7A4D-A7B5-17961E51AD24}"/>
                  </a:ext>
                </a:extLst>
              </p:cNvPr>
              <p:cNvGrpSpPr/>
              <p:nvPr/>
            </p:nvGrpSpPr>
            <p:grpSpPr>
              <a:xfrm>
                <a:off x="6837170" y="3107220"/>
                <a:ext cx="3696485" cy="841377"/>
                <a:chOff x="6662549" y="3614745"/>
                <a:chExt cx="3696485" cy="841377"/>
              </a:xfrm>
            </p:grpSpPr>
            <p:sp>
              <p:nvSpPr>
                <p:cNvPr id="188" name="Text Box 79">
                  <a:extLst>
                    <a:ext uri="{FF2B5EF4-FFF2-40B4-BE49-F238E27FC236}">
                      <a16:creationId xmlns:a16="http://schemas.microsoft.com/office/drawing/2014/main" xmlns="" id="{15B5BFBD-DF38-5B40-87E5-F81F37DAA736}"/>
                    </a:ext>
                  </a:extLst>
                </p:cNvPr>
                <p:cNvSpPr txBox="1">
                  <a:spLocks noChangeArrowheads="1"/>
                </p:cNvSpPr>
                <p:nvPr/>
              </p:nvSpPr>
              <p:spPr bwMode="auto">
                <a:xfrm>
                  <a:off x="6662549" y="3723809"/>
                  <a:ext cx="1455441" cy="553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2100" kern="1200" dirty="0">
                      <a:solidFill>
                        <a:srgbClr val="000000"/>
                      </a:solidFill>
                      <a:latin typeface="Calibri" panose="020F0502020204030204"/>
                      <a:cs typeface="+mn-cs"/>
                    </a:rPr>
                    <a:t>TCP rate</a:t>
                  </a:r>
                  <a:endParaRPr lang="en-US" sz="1800" kern="1200" dirty="0">
                    <a:solidFill>
                      <a:srgbClr val="000000"/>
                    </a:solidFill>
                    <a:latin typeface="Calibri" panose="020F0502020204030204"/>
                    <a:cs typeface="+mn-cs"/>
                  </a:endParaRPr>
                </a:p>
              </p:txBody>
            </p:sp>
            <p:grpSp>
              <p:nvGrpSpPr>
                <p:cNvPr id="189" name="Group 82">
                  <a:extLst>
                    <a:ext uri="{FF2B5EF4-FFF2-40B4-BE49-F238E27FC236}">
                      <a16:creationId xmlns:a16="http://schemas.microsoft.com/office/drawing/2014/main" xmlns="" id="{0CAF5E9A-5B2C-B84F-AC89-1EFE7DC4B6AF}"/>
                    </a:ext>
                  </a:extLst>
                </p:cNvPr>
                <p:cNvGrpSpPr>
                  <a:grpSpLocks/>
                </p:cNvGrpSpPr>
                <p:nvPr/>
              </p:nvGrpSpPr>
              <p:grpSpPr bwMode="auto">
                <a:xfrm>
                  <a:off x="7748588" y="3776667"/>
                  <a:ext cx="931863" cy="474663"/>
                  <a:chOff x="4214" y="2517"/>
                  <a:chExt cx="587" cy="299"/>
                </a:xfrm>
              </p:grpSpPr>
              <p:sp>
                <p:nvSpPr>
                  <p:cNvPr id="190" name="Text Box 80">
                    <a:extLst>
                      <a:ext uri="{FF2B5EF4-FFF2-40B4-BE49-F238E27FC236}">
                        <a16:creationId xmlns:a16="http://schemas.microsoft.com/office/drawing/2014/main" xmlns="" id="{36C86FAE-252E-5441-8D9C-64BC30C08F21}"/>
                      </a:ext>
                    </a:extLst>
                  </p:cNvPr>
                  <p:cNvSpPr txBox="1">
                    <a:spLocks noChangeArrowheads="1"/>
                  </p:cNvSpPr>
                  <p:nvPr/>
                </p:nvSpPr>
                <p:spPr bwMode="auto">
                  <a:xfrm>
                    <a:off x="4216" y="2517"/>
                    <a:ext cx="58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dirty="0">
                        <a:solidFill>
                          <a:srgbClr val="000000"/>
                        </a:solidFill>
                        <a:cs typeface="+mn-cs"/>
                      </a:rPr>
                      <a:t>~</a:t>
                    </a:r>
                  </a:p>
                </p:txBody>
              </p:sp>
              <p:sp>
                <p:nvSpPr>
                  <p:cNvPr id="191" name="Text Box 81">
                    <a:extLst>
                      <a:ext uri="{FF2B5EF4-FFF2-40B4-BE49-F238E27FC236}">
                        <a16:creationId xmlns:a16="http://schemas.microsoft.com/office/drawing/2014/main" xmlns="" id="{CFDD21D8-7DD6-9E4E-82CD-89F60D95E895}"/>
                      </a:ext>
                    </a:extLst>
                  </p:cNvPr>
                  <p:cNvSpPr txBox="1">
                    <a:spLocks noChangeArrowheads="1"/>
                  </p:cNvSpPr>
                  <p:nvPr/>
                </p:nvSpPr>
                <p:spPr bwMode="auto">
                  <a:xfrm>
                    <a:off x="4214" y="2564"/>
                    <a:ext cx="58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dirty="0">
                        <a:solidFill>
                          <a:srgbClr val="000000"/>
                        </a:solidFill>
                        <a:cs typeface="+mn-cs"/>
                      </a:rPr>
                      <a:t>~</a:t>
                    </a:r>
                  </a:p>
                </p:txBody>
              </p:sp>
            </p:grpSp>
            <p:grpSp>
              <p:nvGrpSpPr>
                <p:cNvPr id="192" name="Group 86">
                  <a:extLst>
                    <a:ext uri="{FF2B5EF4-FFF2-40B4-BE49-F238E27FC236}">
                      <a16:creationId xmlns:a16="http://schemas.microsoft.com/office/drawing/2014/main" xmlns="" id="{A6A8A6BC-4690-FD46-A7A2-F81368063A97}"/>
                    </a:ext>
                  </a:extLst>
                </p:cNvPr>
                <p:cNvGrpSpPr>
                  <a:grpSpLocks/>
                </p:cNvGrpSpPr>
                <p:nvPr/>
              </p:nvGrpSpPr>
              <p:grpSpPr bwMode="auto">
                <a:xfrm>
                  <a:off x="8291512" y="3614745"/>
                  <a:ext cx="981074" cy="841377"/>
                  <a:chOff x="4317" y="2509"/>
                  <a:chExt cx="618" cy="530"/>
                </a:xfrm>
              </p:grpSpPr>
              <p:sp>
                <p:nvSpPr>
                  <p:cNvPr id="193" name="Text Box 83">
                    <a:extLst>
                      <a:ext uri="{FF2B5EF4-FFF2-40B4-BE49-F238E27FC236}">
                        <a16:creationId xmlns:a16="http://schemas.microsoft.com/office/drawing/2014/main" xmlns="" id="{2EABE0BC-E93A-7840-BC78-8917BD66E877}"/>
                      </a:ext>
                    </a:extLst>
                  </p:cNvPr>
                  <p:cNvSpPr txBox="1">
                    <a:spLocks noChangeArrowheads="1"/>
                  </p:cNvSpPr>
                  <p:nvPr/>
                </p:nvSpPr>
                <p:spPr bwMode="auto">
                  <a:xfrm>
                    <a:off x="4317" y="2509"/>
                    <a:ext cx="618"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800" dirty="0">
                        <a:solidFill>
                          <a:srgbClr val="000000"/>
                        </a:solidFill>
                        <a:latin typeface="Courier" pitchFamily="2" charset="0"/>
                        <a:cs typeface="+mn-cs"/>
                      </a:rPr>
                      <a:t>cwnd</a:t>
                    </a:r>
                  </a:p>
                </p:txBody>
              </p:sp>
              <p:sp>
                <p:nvSpPr>
                  <p:cNvPr id="194" name="Text Box 84">
                    <a:extLst>
                      <a:ext uri="{FF2B5EF4-FFF2-40B4-BE49-F238E27FC236}">
                        <a16:creationId xmlns:a16="http://schemas.microsoft.com/office/drawing/2014/main" xmlns="" id="{FC380433-330D-4342-82B3-E71BEB72AF06}"/>
                      </a:ext>
                    </a:extLst>
                  </p:cNvPr>
                  <p:cNvSpPr txBox="1">
                    <a:spLocks noChangeArrowheads="1"/>
                  </p:cNvSpPr>
                  <p:nvPr/>
                </p:nvSpPr>
                <p:spPr bwMode="auto">
                  <a:xfrm>
                    <a:off x="4379" y="2729"/>
                    <a:ext cx="501" cy="3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800" dirty="0">
                        <a:solidFill>
                          <a:srgbClr val="000000"/>
                        </a:solidFill>
                        <a:cs typeface="+mn-cs"/>
                      </a:rPr>
                      <a:t>RTT</a:t>
                    </a:r>
                  </a:p>
                </p:txBody>
              </p:sp>
              <p:sp>
                <p:nvSpPr>
                  <p:cNvPr id="195" name="Line 85">
                    <a:extLst>
                      <a:ext uri="{FF2B5EF4-FFF2-40B4-BE49-F238E27FC236}">
                        <a16:creationId xmlns:a16="http://schemas.microsoft.com/office/drawing/2014/main" xmlns=""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500" dirty="0">
                      <a:solidFill>
                        <a:srgbClr val="000000"/>
                      </a:solidFill>
                      <a:latin typeface="Tahoma" charset="0"/>
                      <a:ea typeface="ＭＳ Ｐゴシック" charset="0"/>
                      <a:cs typeface="+mn-cs"/>
                    </a:endParaRPr>
                  </a:p>
                </p:txBody>
              </p:sp>
            </p:grpSp>
            <p:sp>
              <p:nvSpPr>
                <p:cNvPr id="196" name="Text Box 87">
                  <a:extLst>
                    <a:ext uri="{FF2B5EF4-FFF2-40B4-BE49-F238E27FC236}">
                      <a16:creationId xmlns:a16="http://schemas.microsoft.com/office/drawing/2014/main" xmlns="" id="{2A51BBA4-2F14-2F4F-A04D-EFFFF36AF41D}"/>
                    </a:ext>
                  </a:extLst>
                </p:cNvPr>
                <p:cNvSpPr txBox="1">
                  <a:spLocks noChangeArrowheads="1"/>
                </p:cNvSpPr>
                <p:nvPr/>
              </p:nvSpPr>
              <p:spPr bwMode="auto">
                <a:xfrm>
                  <a:off x="9112538" y="3823464"/>
                  <a:ext cx="1246496" cy="430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500" dirty="0">
                      <a:solidFill>
                        <a:srgbClr val="000000"/>
                      </a:solidFill>
                      <a:latin typeface="Calibri" panose="020F0502020204030204"/>
                      <a:cs typeface="+mn-cs"/>
                    </a:rPr>
                    <a:t>bytes/sec</a:t>
                  </a:r>
                </a:p>
              </p:txBody>
            </p:sp>
          </p:grpSp>
        </p:grpSp>
      </p:grpSp>
      <p:grpSp>
        <p:nvGrpSpPr>
          <p:cNvPr id="21" name="Group 20">
            <a:extLst>
              <a:ext uri="{FF2B5EF4-FFF2-40B4-BE49-F238E27FC236}">
                <a16:creationId xmlns:a16="http://schemas.microsoft.com/office/drawing/2014/main" xmlns="" id="{0B0449D2-8107-EC4E-BA6E-0B53574C5B7E}"/>
              </a:ext>
            </a:extLst>
          </p:cNvPr>
          <p:cNvGrpSpPr/>
          <p:nvPr/>
        </p:nvGrpSpPr>
        <p:grpSpPr>
          <a:xfrm>
            <a:off x="1745323" y="2155501"/>
            <a:ext cx="1245685" cy="1057469"/>
            <a:chOff x="2327097" y="2874002"/>
            <a:chExt cx="1660913" cy="1409958"/>
          </a:xfrm>
        </p:grpSpPr>
        <p:sp>
          <p:nvSpPr>
            <p:cNvPr id="171" name="Text Box 58">
              <a:extLst>
                <a:ext uri="{FF2B5EF4-FFF2-40B4-BE49-F238E27FC236}">
                  <a16:creationId xmlns:a16="http://schemas.microsoft.com/office/drawing/2014/main" xmlns="" id="{245049EB-D632-CE4C-A587-BA819860D407}"/>
                </a:ext>
              </a:extLst>
            </p:cNvPr>
            <p:cNvSpPr txBox="1">
              <a:spLocks noChangeArrowheads="1"/>
            </p:cNvSpPr>
            <p:nvPr/>
          </p:nvSpPr>
          <p:spPr bwMode="auto">
            <a:xfrm>
              <a:off x="2327097" y="3412952"/>
              <a:ext cx="1660913" cy="8710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eaLnBrk="0" fontAlgn="base" hangingPunct="0">
                <a:lnSpc>
                  <a:spcPct val="90000"/>
                </a:lnSpc>
                <a:spcBef>
                  <a:spcPct val="0"/>
                </a:spcBef>
                <a:spcAft>
                  <a:spcPct val="0"/>
                </a:spcAft>
                <a:defRPr/>
              </a:pPr>
              <a:r>
                <a:rPr lang="en-US" altLang="en-US" sz="1350" dirty="0">
                  <a:solidFill>
                    <a:srgbClr val="000000"/>
                  </a:solidFill>
                  <a:latin typeface="Calibri" panose="020F0502020204030204"/>
                  <a:cs typeface="+mn-cs"/>
                </a:rPr>
                <a:t>sent, but not-yet ACKed </a:t>
              </a:r>
            </a:p>
            <a:p>
              <a:pPr algn="l" defTabSz="685800" rtl="0" eaLnBrk="0" fontAlgn="base" hangingPunct="0">
                <a:lnSpc>
                  <a:spcPct val="90000"/>
                </a:lnSpc>
                <a:spcBef>
                  <a:spcPct val="0"/>
                </a:spcBef>
                <a:spcAft>
                  <a:spcPct val="0"/>
                </a:spcAft>
                <a:defRPr/>
              </a:pPr>
              <a:r>
                <a:rPr lang="en-US" altLang="en-US" sz="1350" dirty="0">
                  <a:solidFill>
                    <a:srgbClr val="000000"/>
                  </a:solidFill>
                  <a:latin typeface="Calibri" panose="020F0502020204030204"/>
                  <a:cs typeface="+mn-cs"/>
                </a:rPr>
                <a:t>(“</a:t>
              </a:r>
              <a:r>
                <a:rPr lang="en-US" altLang="ja-JP" sz="1350" dirty="0">
                  <a:solidFill>
                    <a:srgbClr val="000000"/>
                  </a:solidFill>
                  <a:latin typeface="Calibri" panose="020F0502020204030204"/>
                  <a:cs typeface="+mn-cs"/>
                </a:rPr>
                <a:t>in-flight”)</a:t>
              </a:r>
              <a:endParaRPr lang="en-US" altLang="en-US" sz="1200" dirty="0">
                <a:solidFill>
                  <a:srgbClr val="000000"/>
                </a:solidFill>
                <a:latin typeface="Calibri" panose="020F0502020204030204"/>
                <a:cs typeface="+mn-cs"/>
              </a:endParaRPr>
            </a:p>
          </p:txBody>
        </p:sp>
        <p:grpSp>
          <p:nvGrpSpPr>
            <p:cNvPr id="12" name="Group 11">
              <a:extLst>
                <a:ext uri="{FF2B5EF4-FFF2-40B4-BE49-F238E27FC236}">
                  <a16:creationId xmlns:a16="http://schemas.microsoft.com/office/drawing/2014/main" xmlns=""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xmlns=""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cxnSp>
            <p:nvCxnSpPr>
              <p:cNvPr id="8" name="Straight Connector 7">
                <a:extLst>
                  <a:ext uri="{FF2B5EF4-FFF2-40B4-BE49-F238E27FC236}">
                    <a16:creationId xmlns:a16="http://schemas.microsoft.com/office/drawing/2014/main" xmlns=""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6382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598488" y="195263"/>
            <a:ext cx="8545512" cy="669925"/>
          </a:xfrm>
        </p:spPr>
        <p:txBody>
          <a:bodyPr vert="horz" lIns="91440" tIns="45720" rIns="91440" bIns="45720" rtlCol="0" anchor="ctr">
            <a:noAutofit/>
          </a:bodyPr>
          <a:lstStyle/>
          <a:p>
            <a:r>
              <a:rPr lang="en-US" sz="4000" b="1" dirty="0"/>
              <a:t>TCP slow </a:t>
            </a:r>
            <a:r>
              <a:rPr lang="en-US" sz="4000" b="1"/>
              <a:t>start </a:t>
            </a:r>
            <a:endParaRPr lang="en-US" sz="4000" b="1" dirty="0"/>
          </a:p>
        </p:txBody>
      </p:sp>
      <p:sp>
        <p:nvSpPr>
          <p:cNvPr id="88" name="Rectangle 3">
            <a:extLst>
              <a:ext uri="{FF2B5EF4-FFF2-40B4-BE49-F238E27FC236}">
                <a16:creationId xmlns:a16="http://schemas.microsoft.com/office/drawing/2014/main" xmlns="" id="{8A57114D-913B-0446-AF23-3E8C1F4B81CA}"/>
              </a:ext>
            </a:extLst>
          </p:cNvPr>
          <p:cNvSpPr txBox="1">
            <a:spLocks noChangeArrowheads="1"/>
          </p:cNvSpPr>
          <p:nvPr/>
        </p:nvSpPr>
        <p:spPr>
          <a:xfrm>
            <a:off x="457205" y="1038225"/>
            <a:ext cx="4675625" cy="3910693"/>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defTabSz="685800">
              <a:spcBef>
                <a:spcPts val="750"/>
              </a:spcBef>
              <a:buFont typeface="Wingdings" charset="2"/>
              <a:buChar char="§"/>
              <a:defRPr/>
            </a:pPr>
            <a:r>
              <a:rPr lang="en-US" sz="2400" dirty="0">
                <a:solidFill>
                  <a:prstClr val="black"/>
                </a:solidFill>
                <a:latin typeface="Calibri" panose="020F0502020204030204"/>
              </a:rPr>
              <a:t>when connection begins, increase rate exponentially until first loss event:</a:t>
            </a:r>
          </a:p>
          <a:p>
            <a:pPr marL="521494" lvl="1" indent="-173831" defTabSz="685800">
              <a:spcBef>
                <a:spcPts val="375"/>
              </a:spcBef>
              <a:buFont typeface="Arial"/>
              <a:buChar char="•"/>
              <a:defRPr/>
            </a:pPr>
            <a:r>
              <a:rPr lang="en-US" sz="2100" dirty="0">
                <a:solidFill>
                  <a:prstClr val="black"/>
                </a:solidFill>
                <a:latin typeface="Calibri" panose="020F0502020204030204"/>
              </a:rPr>
              <a:t>initially </a:t>
            </a:r>
            <a:r>
              <a:rPr lang="en-US" sz="2100" b="1" dirty="0">
                <a:solidFill>
                  <a:prstClr val="black"/>
                </a:solidFill>
                <a:latin typeface="Courier New" charset="0"/>
              </a:rPr>
              <a:t>cwnd</a:t>
            </a:r>
            <a:r>
              <a:rPr lang="en-US" sz="2100" dirty="0">
                <a:solidFill>
                  <a:prstClr val="black"/>
                </a:solidFill>
                <a:latin typeface="Calibri" panose="020F0502020204030204"/>
              </a:rPr>
              <a:t> = 1 MSS</a:t>
            </a:r>
          </a:p>
          <a:p>
            <a:pPr marL="521494" lvl="1" indent="-173831" defTabSz="685800">
              <a:spcBef>
                <a:spcPts val="375"/>
              </a:spcBef>
              <a:buFont typeface="Arial"/>
              <a:buChar char="•"/>
              <a:defRPr/>
            </a:pPr>
            <a:r>
              <a:rPr lang="en-US" sz="2100" dirty="0">
                <a:solidFill>
                  <a:prstClr val="black"/>
                </a:solidFill>
                <a:latin typeface="Calibri" panose="020F0502020204030204"/>
              </a:rPr>
              <a:t>double </a:t>
            </a:r>
            <a:r>
              <a:rPr lang="en-US" sz="2100" b="1" dirty="0">
                <a:solidFill>
                  <a:prstClr val="black"/>
                </a:solidFill>
                <a:latin typeface="Courier New" charset="0"/>
              </a:rPr>
              <a:t>cwnd</a:t>
            </a:r>
            <a:r>
              <a:rPr lang="en-US" sz="2100" dirty="0">
                <a:solidFill>
                  <a:prstClr val="black"/>
                </a:solidFill>
                <a:latin typeface="Calibri" panose="020F0502020204030204"/>
              </a:rPr>
              <a:t> every RTT</a:t>
            </a:r>
          </a:p>
          <a:p>
            <a:pPr marL="521494" lvl="1" indent="-173831" defTabSz="685800">
              <a:spcBef>
                <a:spcPts val="375"/>
              </a:spcBef>
              <a:buFont typeface="Arial"/>
              <a:buChar char="•"/>
              <a:defRPr/>
            </a:pPr>
            <a:r>
              <a:rPr lang="en-US" sz="2100" dirty="0">
                <a:solidFill>
                  <a:prstClr val="black"/>
                </a:solidFill>
                <a:latin typeface="Calibri" panose="020F0502020204030204"/>
              </a:rPr>
              <a:t>done by incrementing </a:t>
            </a:r>
            <a:r>
              <a:rPr lang="en-US" sz="2100" b="1" dirty="0">
                <a:solidFill>
                  <a:prstClr val="black"/>
                </a:solidFill>
                <a:latin typeface="Courier New" charset="0"/>
              </a:rPr>
              <a:t>cwnd</a:t>
            </a:r>
            <a:r>
              <a:rPr lang="en-US" sz="2100" dirty="0">
                <a:solidFill>
                  <a:prstClr val="black"/>
                </a:solidFill>
                <a:latin typeface="Calibri" panose="020F0502020204030204"/>
              </a:rPr>
              <a:t> for every ACK received</a:t>
            </a:r>
          </a:p>
        </p:txBody>
      </p:sp>
      <p:sp>
        <p:nvSpPr>
          <p:cNvPr id="224" name="Line 6">
            <a:extLst>
              <a:ext uri="{FF2B5EF4-FFF2-40B4-BE49-F238E27FC236}">
                <a16:creationId xmlns:a16="http://schemas.microsoft.com/office/drawing/2014/main" xmlns="" id="{6A528287-EE91-2148-8BF9-9042AB1CFB64}"/>
              </a:ext>
            </a:extLst>
          </p:cNvPr>
          <p:cNvSpPr>
            <a:spLocks noChangeShapeType="1"/>
          </p:cNvSpPr>
          <p:nvPr/>
        </p:nvSpPr>
        <p:spPr bwMode="auto">
          <a:xfrm>
            <a:off x="5688807" y="1729943"/>
            <a:ext cx="1878806" cy="264319"/>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25" name="Text Box 8">
            <a:extLst>
              <a:ext uri="{FF2B5EF4-FFF2-40B4-BE49-F238E27FC236}">
                <a16:creationId xmlns:a16="http://schemas.microsoft.com/office/drawing/2014/main" xmlns="" id="{BF8683E2-9BD1-4641-8269-1F97FE166C40}"/>
              </a:ext>
            </a:extLst>
          </p:cNvPr>
          <p:cNvSpPr txBox="1">
            <a:spLocks noChangeArrowheads="1"/>
          </p:cNvSpPr>
          <p:nvPr/>
        </p:nvSpPr>
        <p:spPr bwMode="auto">
          <a:xfrm>
            <a:off x="5365377" y="876264"/>
            <a:ext cx="694485"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kern="1200" dirty="0">
                <a:solidFill>
                  <a:srgbClr val="000000"/>
                </a:solidFill>
                <a:latin typeface="Arial" charset="0"/>
                <a:cs typeface="+mn-cs"/>
              </a:rPr>
              <a:t>Host A</a:t>
            </a:r>
          </a:p>
        </p:txBody>
      </p:sp>
      <p:sp>
        <p:nvSpPr>
          <p:cNvPr id="226" name="Text Box 9">
            <a:extLst>
              <a:ext uri="{FF2B5EF4-FFF2-40B4-BE49-F238E27FC236}">
                <a16:creationId xmlns:a16="http://schemas.microsoft.com/office/drawing/2014/main" xmlns="" id="{C49CE5EE-9C21-9E4F-B95D-B87D2E6CA9D2}"/>
              </a:ext>
            </a:extLst>
          </p:cNvPr>
          <p:cNvSpPr txBox="1">
            <a:spLocks noChangeArrowheads="1"/>
          </p:cNvSpPr>
          <p:nvPr/>
        </p:nvSpPr>
        <p:spPr bwMode="auto">
          <a:xfrm rot="408567">
            <a:off x="6414032" y="1692282"/>
            <a:ext cx="965329" cy="25391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kern="1200" dirty="0">
                <a:solidFill>
                  <a:srgbClr val="000000"/>
                </a:solidFill>
                <a:latin typeface="Arial" charset="0"/>
                <a:cs typeface="+mn-cs"/>
              </a:rPr>
              <a:t>one segment</a:t>
            </a:r>
            <a:endParaRPr lang="en-US" sz="750" kern="1200" dirty="0">
              <a:solidFill>
                <a:srgbClr val="000000"/>
              </a:solidFill>
              <a:latin typeface="Times New Roman" charset="0"/>
              <a:cs typeface="+mn-cs"/>
            </a:endParaRPr>
          </a:p>
        </p:txBody>
      </p:sp>
      <p:sp>
        <p:nvSpPr>
          <p:cNvPr id="228" name="Text Box 12">
            <a:extLst>
              <a:ext uri="{FF2B5EF4-FFF2-40B4-BE49-F238E27FC236}">
                <a16:creationId xmlns:a16="http://schemas.microsoft.com/office/drawing/2014/main" xmlns="" id="{51858FD0-9B85-8441-9B12-8875189F665C}"/>
              </a:ext>
            </a:extLst>
          </p:cNvPr>
          <p:cNvSpPr txBox="1">
            <a:spLocks noChangeArrowheads="1"/>
          </p:cNvSpPr>
          <p:nvPr/>
        </p:nvSpPr>
        <p:spPr bwMode="auto">
          <a:xfrm>
            <a:off x="7188209" y="865549"/>
            <a:ext cx="704040"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kern="1200" dirty="0">
                <a:solidFill>
                  <a:srgbClr val="000000"/>
                </a:solidFill>
                <a:latin typeface="Arial" charset="0"/>
                <a:cs typeface="+mn-cs"/>
              </a:rPr>
              <a:t>Host B</a:t>
            </a:r>
          </a:p>
        </p:txBody>
      </p:sp>
      <p:sp>
        <p:nvSpPr>
          <p:cNvPr id="229" name="Line 13">
            <a:extLst>
              <a:ext uri="{FF2B5EF4-FFF2-40B4-BE49-F238E27FC236}">
                <a16:creationId xmlns:a16="http://schemas.microsoft.com/office/drawing/2014/main" xmlns="" id="{A18AC8EC-DBD1-E34E-B3EA-D3876A530333}"/>
              </a:ext>
            </a:extLst>
          </p:cNvPr>
          <p:cNvSpPr>
            <a:spLocks noChangeShapeType="1"/>
          </p:cNvSpPr>
          <p:nvPr/>
        </p:nvSpPr>
        <p:spPr bwMode="auto">
          <a:xfrm>
            <a:off x="5685235" y="1590639"/>
            <a:ext cx="0" cy="2886075"/>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sp>
        <p:nvSpPr>
          <p:cNvPr id="230" name="Line 14">
            <a:extLst>
              <a:ext uri="{FF2B5EF4-FFF2-40B4-BE49-F238E27FC236}">
                <a16:creationId xmlns:a16="http://schemas.microsoft.com/office/drawing/2014/main" xmlns="" id="{77B3310E-1B60-414E-9423-328982307B1D}"/>
              </a:ext>
            </a:extLst>
          </p:cNvPr>
          <p:cNvSpPr>
            <a:spLocks noChangeShapeType="1"/>
          </p:cNvSpPr>
          <p:nvPr/>
        </p:nvSpPr>
        <p:spPr bwMode="auto">
          <a:xfrm>
            <a:off x="7571185" y="1619214"/>
            <a:ext cx="0" cy="2886075"/>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kern="1200" dirty="0">
              <a:solidFill>
                <a:srgbClr val="000000"/>
              </a:solidFill>
              <a:latin typeface="Tahoma" charset="0"/>
              <a:ea typeface="ＭＳ Ｐゴシック" charset="0"/>
              <a:cs typeface="+mn-cs"/>
            </a:endParaRPr>
          </a:p>
        </p:txBody>
      </p:sp>
      <p:grpSp>
        <p:nvGrpSpPr>
          <p:cNvPr id="4" name="Group 3">
            <a:extLst>
              <a:ext uri="{FF2B5EF4-FFF2-40B4-BE49-F238E27FC236}">
                <a16:creationId xmlns:a16="http://schemas.microsoft.com/office/drawing/2014/main" xmlns="" id="{E69B56F2-B7D2-5247-8C5B-11CDFE50D6C7}"/>
              </a:ext>
            </a:extLst>
          </p:cNvPr>
          <p:cNvGrpSpPr/>
          <p:nvPr/>
        </p:nvGrpSpPr>
        <p:grpSpPr>
          <a:xfrm>
            <a:off x="5428492" y="1702558"/>
            <a:ext cx="253916" cy="622697"/>
            <a:chOff x="7237996" y="2270077"/>
            <a:chExt cx="338555" cy="830263"/>
          </a:xfrm>
        </p:grpSpPr>
        <p:sp>
          <p:nvSpPr>
            <p:cNvPr id="227" name="Text Box 10">
              <a:extLst>
                <a:ext uri="{FF2B5EF4-FFF2-40B4-BE49-F238E27FC236}">
                  <a16:creationId xmlns:a16="http://schemas.microsoft.com/office/drawing/2014/main" xmlns="" id="{A25707E3-FE96-074A-AE26-F8222C4C395A}"/>
                </a:ext>
              </a:extLst>
            </p:cNvPr>
            <p:cNvSpPr txBox="1">
              <a:spLocks noChangeArrowheads="1"/>
            </p:cNvSpPr>
            <p:nvPr/>
          </p:nvSpPr>
          <p:spPr bwMode="auto">
            <a:xfrm rot="16200000">
              <a:off x="7109970" y="2493708"/>
              <a:ext cx="594608" cy="33855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kern="1200" dirty="0">
                  <a:solidFill>
                    <a:srgbClr val="000000"/>
                  </a:solidFill>
                  <a:latin typeface="Arial" charset="0"/>
                  <a:cs typeface="+mn-cs"/>
                </a:rPr>
                <a:t>RTT</a:t>
              </a:r>
              <a:endParaRPr lang="en-US" sz="750" kern="1200" dirty="0">
                <a:solidFill>
                  <a:srgbClr val="000000"/>
                </a:solidFill>
                <a:latin typeface="Arial" charset="0"/>
                <a:cs typeface="+mn-cs"/>
              </a:endParaRPr>
            </a:p>
          </p:txBody>
        </p:sp>
        <p:sp>
          <p:nvSpPr>
            <p:cNvPr id="231" name="Line 15">
              <a:extLst>
                <a:ext uri="{FF2B5EF4-FFF2-40B4-BE49-F238E27FC236}">
                  <a16:creationId xmlns:a16="http://schemas.microsoft.com/office/drawing/2014/main" xmlns=""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2" name="Line 16">
              <a:extLst>
                <a:ext uri="{FF2B5EF4-FFF2-40B4-BE49-F238E27FC236}">
                  <a16:creationId xmlns:a16="http://schemas.microsoft.com/office/drawing/2014/main" xmlns=""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33" name="Line 17">
            <a:extLst>
              <a:ext uri="{FF2B5EF4-FFF2-40B4-BE49-F238E27FC236}">
                <a16:creationId xmlns:a16="http://schemas.microsoft.com/office/drawing/2014/main" xmlns="" id="{6F1B852B-55C3-8747-96CA-AA2F2AB5E525}"/>
              </a:ext>
            </a:extLst>
          </p:cNvPr>
          <p:cNvSpPr>
            <a:spLocks noChangeShapeType="1"/>
          </p:cNvSpPr>
          <p:nvPr/>
        </p:nvSpPr>
        <p:spPr bwMode="auto">
          <a:xfrm flipV="1">
            <a:off x="5670948" y="2033552"/>
            <a:ext cx="1878806" cy="264319"/>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34" name="Group 18">
            <a:extLst>
              <a:ext uri="{FF2B5EF4-FFF2-40B4-BE49-F238E27FC236}">
                <a16:creationId xmlns:a16="http://schemas.microsoft.com/office/drawing/2014/main" xmlns="" id="{065B59AF-8C8D-9041-B965-0C2B0A5F8CEF}"/>
              </a:ext>
            </a:extLst>
          </p:cNvPr>
          <p:cNvGrpSpPr>
            <a:grpSpLocks/>
          </p:cNvGrpSpPr>
          <p:nvPr/>
        </p:nvGrpSpPr>
        <p:grpSpPr bwMode="auto">
          <a:xfrm>
            <a:off x="7331867" y="4089756"/>
            <a:ext cx="511968" cy="300037"/>
            <a:chOff x="3296" y="3527"/>
            <a:chExt cx="430" cy="252"/>
          </a:xfrm>
        </p:grpSpPr>
        <p:sp>
          <p:nvSpPr>
            <p:cNvPr id="235" name="Rectangle 19">
              <a:extLst>
                <a:ext uri="{FF2B5EF4-FFF2-40B4-BE49-F238E27FC236}">
                  <a16:creationId xmlns:a16="http://schemas.microsoft.com/office/drawing/2014/main" xmlns=""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6" name="Text Box 20">
              <a:extLst>
                <a:ext uri="{FF2B5EF4-FFF2-40B4-BE49-F238E27FC236}">
                  <a16:creationId xmlns:a16="http://schemas.microsoft.com/office/drawing/2014/main" xmlns="" id="{0453126D-C0BC-5F4F-8DBD-30CD1FA8A1CD}"/>
                </a:ext>
              </a:extLst>
            </p:cNvPr>
            <p:cNvSpPr txBox="1">
              <a:spLocks noChangeArrowheads="1"/>
            </p:cNvSpPr>
            <p:nvPr/>
          </p:nvSpPr>
          <p:spPr bwMode="auto">
            <a:xfrm>
              <a:off x="3296" y="3527"/>
              <a:ext cx="430" cy="25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350" dirty="0">
                  <a:solidFill>
                    <a:srgbClr val="000000"/>
                  </a:solidFill>
                  <a:latin typeface="Arial" charset="0"/>
                  <a:cs typeface="+mn-cs"/>
                </a:rPr>
                <a:t>time</a:t>
              </a:r>
              <a:endParaRPr lang="en-US" sz="750" dirty="0">
                <a:solidFill>
                  <a:srgbClr val="000000"/>
                </a:solidFill>
                <a:latin typeface="Arial" charset="0"/>
                <a:cs typeface="+mn-cs"/>
              </a:endParaRPr>
            </a:p>
          </p:txBody>
        </p:sp>
      </p:grpSp>
      <p:grpSp>
        <p:nvGrpSpPr>
          <p:cNvPr id="5" name="Group 4">
            <a:extLst>
              <a:ext uri="{FF2B5EF4-FFF2-40B4-BE49-F238E27FC236}">
                <a16:creationId xmlns:a16="http://schemas.microsoft.com/office/drawing/2014/main" xmlns="" id="{4100408E-3418-754E-97D5-873085045522}"/>
              </a:ext>
            </a:extLst>
          </p:cNvPr>
          <p:cNvGrpSpPr/>
          <p:nvPr/>
        </p:nvGrpSpPr>
        <p:grpSpPr>
          <a:xfrm>
            <a:off x="5688806" y="2315730"/>
            <a:ext cx="1882379" cy="328613"/>
            <a:chOff x="7585075" y="3087640"/>
            <a:chExt cx="2509838" cy="438150"/>
          </a:xfrm>
        </p:grpSpPr>
        <p:sp>
          <p:nvSpPr>
            <p:cNvPr id="237" name="Line 21">
              <a:extLst>
                <a:ext uri="{FF2B5EF4-FFF2-40B4-BE49-F238E27FC236}">
                  <a16:creationId xmlns:a16="http://schemas.microsoft.com/office/drawing/2014/main" xmlns=""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38" name="Line 22">
              <a:extLst>
                <a:ext uri="{FF2B5EF4-FFF2-40B4-BE49-F238E27FC236}">
                  <a16:creationId xmlns:a16="http://schemas.microsoft.com/office/drawing/2014/main" xmlns=""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xmlns="" id="{C604703D-5DBE-F940-8D53-F844A095856D}"/>
              </a:ext>
            </a:extLst>
          </p:cNvPr>
          <p:cNvGrpSpPr/>
          <p:nvPr/>
        </p:nvGrpSpPr>
        <p:grpSpPr>
          <a:xfrm>
            <a:off x="5668567" y="2772931"/>
            <a:ext cx="1916906" cy="459581"/>
            <a:chOff x="7558088" y="3697240"/>
            <a:chExt cx="2555875" cy="612775"/>
          </a:xfrm>
        </p:grpSpPr>
        <p:sp>
          <p:nvSpPr>
            <p:cNvPr id="239" name="Line 23">
              <a:extLst>
                <a:ext uri="{FF2B5EF4-FFF2-40B4-BE49-F238E27FC236}">
                  <a16:creationId xmlns:a16="http://schemas.microsoft.com/office/drawing/2014/main" xmlns=""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0" name="Line 24">
              <a:extLst>
                <a:ext uri="{FF2B5EF4-FFF2-40B4-BE49-F238E27FC236}">
                  <a16:creationId xmlns:a16="http://schemas.microsoft.com/office/drawing/2014/main" xmlns=""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41" name="Text Box 25">
            <a:extLst>
              <a:ext uri="{FF2B5EF4-FFF2-40B4-BE49-F238E27FC236}">
                <a16:creationId xmlns:a16="http://schemas.microsoft.com/office/drawing/2014/main" xmlns="" id="{01076F6F-B790-D24D-9445-FAC03A5C45E4}"/>
              </a:ext>
            </a:extLst>
          </p:cNvPr>
          <p:cNvSpPr txBox="1">
            <a:spLocks noChangeArrowheads="1"/>
          </p:cNvSpPr>
          <p:nvPr/>
        </p:nvSpPr>
        <p:spPr bwMode="auto">
          <a:xfrm rot="408567">
            <a:off x="6413386" y="2281641"/>
            <a:ext cx="1016625" cy="25391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kern="1200" dirty="0">
                <a:solidFill>
                  <a:srgbClr val="000000"/>
                </a:solidFill>
                <a:latin typeface="Arial" charset="0"/>
                <a:cs typeface="+mn-cs"/>
              </a:rPr>
              <a:t>two segments</a:t>
            </a:r>
            <a:endParaRPr lang="en-US" sz="750" kern="1200" dirty="0">
              <a:solidFill>
                <a:srgbClr val="000000"/>
              </a:solidFill>
              <a:latin typeface="Times New Roman" charset="0"/>
              <a:cs typeface="+mn-cs"/>
            </a:endParaRPr>
          </a:p>
        </p:txBody>
      </p:sp>
      <p:sp>
        <p:nvSpPr>
          <p:cNvPr id="242" name="Text Box 26">
            <a:extLst>
              <a:ext uri="{FF2B5EF4-FFF2-40B4-BE49-F238E27FC236}">
                <a16:creationId xmlns:a16="http://schemas.microsoft.com/office/drawing/2014/main" xmlns="" id="{1B8C0342-7E57-2343-86AD-47B5AB1AA675}"/>
              </a:ext>
            </a:extLst>
          </p:cNvPr>
          <p:cNvSpPr txBox="1">
            <a:spLocks noChangeArrowheads="1"/>
          </p:cNvSpPr>
          <p:nvPr/>
        </p:nvSpPr>
        <p:spPr bwMode="auto">
          <a:xfrm rot="408567">
            <a:off x="6481938" y="3042450"/>
            <a:ext cx="1039067" cy="25391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rtl="0" eaLnBrk="0" fontAlgn="base" hangingPunct="0">
              <a:spcBef>
                <a:spcPct val="0"/>
              </a:spcBef>
              <a:spcAft>
                <a:spcPct val="0"/>
              </a:spcAft>
              <a:defRPr/>
            </a:pPr>
            <a:r>
              <a:rPr lang="en-US" sz="1050" kern="1200" dirty="0">
                <a:solidFill>
                  <a:srgbClr val="000000"/>
                </a:solidFill>
                <a:latin typeface="Arial" charset="0"/>
                <a:cs typeface="+mn-cs"/>
              </a:rPr>
              <a:t>four segments</a:t>
            </a:r>
            <a:endParaRPr lang="en-US" sz="750" kern="1200" dirty="0">
              <a:solidFill>
                <a:srgbClr val="000000"/>
              </a:solidFill>
              <a:latin typeface="Times New Roman" charset="0"/>
              <a:cs typeface="+mn-cs"/>
            </a:endParaRPr>
          </a:p>
        </p:txBody>
      </p:sp>
      <p:grpSp>
        <p:nvGrpSpPr>
          <p:cNvPr id="243" name="Group 27">
            <a:extLst>
              <a:ext uri="{FF2B5EF4-FFF2-40B4-BE49-F238E27FC236}">
                <a16:creationId xmlns:a16="http://schemas.microsoft.com/office/drawing/2014/main" xmlns="" id="{B634F089-4244-B04A-8749-7ACF0E0264A8}"/>
              </a:ext>
            </a:extLst>
          </p:cNvPr>
          <p:cNvGrpSpPr>
            <a:grpSpLocks/>
          </p:cNvGrpSpPr>
          <p:nvPr/>
        </p:nvGrpSpPr>
        <p:grpSpPr bwMode="auto">
          <a:xfrm>
            <a:off x="5685238" y="3069396"/>
            <a:ext cx="1889522" cy="489347"/>
            <a:chOff x="3954" y="2214"/>
            <a:chExt cx="1587" cy="411"/>
          </a:xfrm>
        </p:grpSpPr>
        <p:sp>
          <p:nvSpPr>
            <p:cNvPr id="244" name="Line 28">
              <a:extLst>
                <a:ext uri="{FF2B5EF4-FFF2-40B4-BE49-F238E27FC236}">
                  <a16:creationId xmlns:a16="http://schemas.microsoft.com/office/drawing/2014/main" xmlns=""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5" name="Line 29">
              <a:extLst>
                <a:ext uri="{FF2B5EF4-FFF2-40B4-BE49-F238E27FC236}">
                  <a16:creationId xmlns:a16="http://schemas.microsoft.com/office/drawing/2014/main" xmlns=""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6" name="Line 30">
              <a:extLst>
                <a:ext uri="{FF2B5EF4-FFF2-40B4-BE49-F238E27FC236}">
                  <a16:creationId xmlns:a16="http://schemas.microsoft.com/office/drawing/2014/main" xmlns=""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47" name="Line 31">
              <a:extLst>
                <a:ext uri="{FF2B5EF4-FFF2-40B4-BE49-F238E27FC236}">
                  <a16:creationId xmlns:a16="http://schemas.microsoft.com/office/drawing/2014/main" xmlns=""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248" name="Group 32">
            <a:extLst>
              <a:ext uri="{FF2B5EF4-FFF2-40B4-BE49-F238E27FC236}">
                <a16:creationId xmlns:a16="http://schemas.microsoft.com/office/drawing/2014/main" xmlns="" id="{00C5C000-11E9-BE42-9849-B1B7B9E99FE0}"/>
              </a:ext>
            </a:extLst>
          </p:cNvPr>
          <p:cNvGrpSpPr>
            <a:grpSpLocks/>
          </p:cNvGrpSpPr>
          <p:nvPr/>
        </p:nvGrpSpPr>
        <p:grpSpPr bwMode="auto">
          <a:xfrm flipV="1">
            <a:off x="5899547" y="3355145"/>
            <a:ext cx="1671638" cy="453629"/>
            <a:chOff x="3954" y="2214"/>
            <a:chExt cx="1587" cy="411"/>
          </a:xfrm>
        </p:grpSpPr>
        <p:sp>
          <p:nvSpPr>
            <p:cNvPr id="249" name="Line 33">
              <a:extLst>
                <a:ext uri="{FF2B5EF4-FFF2-40B4-BE49-F238E27FC236}">
                  <a16:creationId xmlns:a16="http://schemas.microsoft.com/office/drawing/2014/main" xmlns=""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0" name="Line 34">
              <a:extLst>
                <a:ext uri="{FF2B5EF4-FFF2-40B4-BE49-F238E27FC236}">
                  <a16:creationId xmlns:a16="http://schemas.microsoft.com/office/drawing/2014/main" xmlns=""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1" name="Line 35">
              <a:extLst>
                <a:ext uri="{FF2B5EF4-FFF2-40B4-BE49-F238E27FC236}">
                  <a16:creationId xmlns:a16="http://schemas.microsoft.com/office/drawing/2014/main" xmlns=""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2" name="Line 36">
              <a:extLst>
                <a:ext uri="{FF2B5EF4-FFF2-40B4-BE49-F238E27FC236}">
                  <a16:creationId xmlns:a16="http://schemas.microsoft.com/office/drawing/2014/main" xmlns=""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grpSp>
        <p:nvGrpSpPr>
          <p:cNvPr id="253" name="Group 43">
            <a:extLst>
              <a:ext uri="{FF2B5EF4-FFF2-40B4-BE49-F238E27FC236}">
                <a16:creationId xmlns:a16="http://schemas.microsoft.com/office/drawing/2014/main" xmlns="" id="{D0982D30-E871-F344-B80E-157861960777}"/>
              </a:ext>
            </a:extLst>
          </p:cNvPr>
          <p:cNvGrpSpPr>
            <a:grpSpLocks/>
          </p:cNvGrpSpPr>
          <p:nvPr/>
        </p:nvGrpSpPr>
        <p:grpSpPr bwMode="auto">
          <a:xfrm>
            <a:off x="5356622" y="1119152"/>
            <a:ext cx="490538" cy="451247"/>
            <a:chOff x="-44" y="1473"/>
            <a:chExt cx="981" cy="1105"/>
          </a:xfrm>
        </p:grpSpPr>
        <p:pic>
          <p:nvPicPr>
            <p:cNvPr id="254" name="Picture 44" descr="desktop_computer_stylized_medium">
              <a:extLst>
                <a:ext uri="{FF2B5EF4-FFF2-40B4-BE49-F238E27FC236}">
                  <a16:creationId xmlns:a16="http://schemas.microsoft.com/office/drawing/2014/main" xmlns="" id="{0C5F9445-24EE-C948-8E49-3FEF71FC59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xmlns=""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grpSp>
        <p:nvGrpSpPr>
          <p:cNvPr id="256" name="Group 46">
            <a:extLst>
              <a:ext uri="{FF2B5EF4-FFF2-40B4-BE49-F238E27FC236}">
                <a16:creationId xmlns:a16="http://schemas.microsoft.com/office/drawing/2014/main" xmlns="" id="{514EF769-BED4-DE47-BE55-0913ABFB155D}"/>
              </a:ext>
            </a:extLst>
          </p:cNvPr>
          <p:cNvGrpSpPr>
            <a:grpSpLocks/>
          </p:cNvGrpSpPr>
          <p:nvPr/>
        </p:nvGrpSpPr>
        <p:grpSpPr bwMode="auto">
          <a:xfrm>
            <a:off x="7408069" y="1129868"/>
            <a:ext cx="286941" cy="410765"/>
            <a:chOff x="4140" y="429"/>
            <a:chExt cx="1425" cy="2396"/>
          </a:xfrm>
        </p:grpSpPr>
        <p:sp>
          <p:nvSpPr>
            <p:cNvPr id="257" name="Freeform 47">
              <a:extLst>
                <a:ext uri="{FF2B5EF4-FFF2-40B4-BE49-F238E27FC236}">
                  <a16:creationId xmlns:a16="http://schemas.microsoft.com/office/drawing/2014/main" xmlns=""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58" name="Rectangle 48">
              <a:extLst>
                <a:ext uri="{FF2B5EF4-FFF2-40B4-BE49-F238E27FC236}">
                  <a16:creationId xmlns:a16="http://schemas.microsoft.com/office/drawing/2014/main" xmlns=""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59" name="Freeform 49">
              <a:extLst>
                <a:ext uri="{FF2B5EF4-FFF2-40B4-BE49-F238E27FC236}">
                  <a16:creationId xmlns:a16="http://schemas.microsoft.com/office/drawing/2014/main" xmlns=""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60" name="Freeform 50">
              <a:extLst>
                <a:ext uri="{FF2B5EF4-FFF2-40B4-BE49-F238E27FC236}">
                  <a16:creationId xmlns:a16="http://schemas.microsoft.com/office/drawing/2014/main" xmlns=""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61" name="Rectangle 51">
              <a:extLst>
                <a:ext uri="{FF2B5EF4-FFF2-40B4-BE49-F238E27FC236}">
                  <a16:creationId xmlns:a16="http://schemas.microsoft.com/office/drawing/2014/main" xmlns=""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62" name="Group 52">
              <a:extLst>
                <a:ext uri="{FF2B5EF4-FFF2-40B4-BE49-F238E27FC236}">
                  <a16:creationId xmlns:a16="http://schemas.microsoft.com/office/drawing/2014/main" xmlns=""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xmlns=""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8" name="AutoShape 54">
                <a:extLst>
                  <a:ext uri="{FF2B5EF4-FFF2-40B4-BE49-F238E27FC236}">
                    <a16:creationId xmlns:a16="http://schemas.microsoft.com/office/drawing/2014/main" xmlns=""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63" name="Rectangle 55">
              <a:extLst>
                <a:ext uri="{FF2B5EF4-FFF2-40B4-BE49-F238E27FC236}">
                  <a16:creationId xmlns:a16="http://schemas.microsoft.com/office/drawing/2014/main" xmlns=""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64" name="Group 56">
              <a:extLst>
                <a:ext uri="{FF2B5EF4-FFF2-40B4-BE49-F238E27FC236}">
                  <a16:creationId xmlns:a16="http://schemas.microsoft.com/office/drawing/2014/main" xmlns=""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xmlns=""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6" name="AutoShape 58">
                <a:extLst>
                  <a:ext uri="{FF2B5EF4-FFF2-40B4-BE49-F238E27FC236}">
                    <a16:creationId xmlns:a16="http://schemas.microsoft.com/office/drawing/2014/main" xmlns=""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65" name="Rectangle 59">
              <a:extLst>
                <a:ext uri="{FF2B5EF4-FFF2-40B4-BE49-F238E27FC236}">
                  <a16:creationId xmlns:a16="http://schemas.microsoft.com/office/drawing/2014/main" xmlns=""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66" name="Rectangle 60">
              <a:extLst>
                <a:ext uri="{FF2B5EF4-FFF2-40B4-BE49-F238E27FC236}">
                  <a16:creationId xmlns:a16="http://schemas.microsoft.com/office/drawing/2014/main" xmlns=""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nvGrpSpPr>
            <p:cNvPr id="267" name="Group 61">
              <a:extLst>
                <a:ext uri="{FF2B5EF4-FFF2-40B4-BE49-F238E27FC236}">
                  <a16:creationId xmlns:a16="http://schemas.microsoft.com/office/drawing/2014/main" xmlns=""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xmlns=""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4" name="AutoShape 63">
                <a:extLst>
                  <a:ext uri="{FF2B5EF4-FFF2-40B4-BE49-F238E27FC236}">
                    <a16:creationId xmlns:a16="http://schemas.microsoft.com/office/drawing/2014/main" xmlns=""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68" name="Freeform 64">
              <a:extLst>
                <a:ext uri="{FF2B5EF4-FFF2-40B4-BE49-F238E27FC236}">
                  <a16:creationId xmlns:a16="http://schemas.microsoft.com/office/drawing/2014/main" xmlns=""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grpSp>
          <p:nvGrpSpPr>
            <p:cNvPr id="269" name="Group 65">
              <a:extLst>
                <a:ext uri="{FF2B5EF4-FFF2-40B4-BE49-F238E27FC236}">
                  <a16:creationId xmlns:a16="http://schemas.microsoft.com/office/drawing/2014/main" xmlns=""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xmlns=""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2" name="AutoShape 67">
                <a:extLst>
                  <a:ext uri="{FF2B5EF4-FFF2-40B4-BE49-F238E27FC236}">
                    <a16:creationId xmlns:a16="http://schemas.microsoft.com/office/drawing/2014/main" xmlns=""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270" name="Rectangle 68">
              <a:extLst>
                <a:ext uri="{FF2B5EF4-FFF2-40B4-BE49-F238E27FC236}">
                  <a16:creationId xmlns:a16="http://schemas.microsoft.com/office/drawing/2014/main" xmlns=""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1" name="Freeform 69">
              <a:extLst>
                <a:ext uri="{FF2B5EF4-FFF2-40B4-BE49-F238E27FC236}">
                  <a16:creationId xmlns:a16="http://schemas.microsoft.com/office/drawing/2014/main" xmlns=""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72" name="Freeform 70">
              <a:extLst>
                <a:ext uri="{FF2B5EF4-FFF2-40B4-BE49-F238E27FC236}">
                  <a16:creationId xmlns:a16="http://schemas.microsoft.com/office/drawing/2014/main" xmlns=""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73" name="Oval 71">
              <a:extLst>
                <a:ext uri="{FF2B5EF4-FFF2-40B4-BE49-F238E27FC236}">
                  <a16:creationId xmlns:a16="http://schemas.microsoft.com/office/drawing/2014/main" xmlns=""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4" name="Freeform 72">
              <a:extLst>
                <a:ext uri="{FF2B5EF4-FFF2-40B4-BE49-F238E27FC236}">
                  <a16:creationId xmlns:a16="http://schemas.microsoft.com/office/drawing/2014/main" xmlns=""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rtl="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cs typeface="+mn-cs"/>
              </a:endParaRPr>
            </a:p>
          </p:txBody>
        </p:sp>
        <p:sp>
          <p:nvSpPr>
            <p:cNvPr id="275" name="AutoShape 73">
              <a:extLst>
                <a:ext uri="{FF2B5EF4-FFF2-40B4-BE49-F238E27FC236}">
                  <a16:creationId xmlns:a16="http://schemas.microsoft.com/office/drawing/2014/main" xmlns=""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6" name="AutoShape 74">
              <a:extLst>
                <a:ext uri="{FF2B5EF4-FFF2-40B4-BE49-F238E27FC236}">
                  <a16:creationId xmlns:a16="http://schemas.microsoft.com/office/drawing/2014/main" xmlns=""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7" name="Oval 75">
              <a:extLst>
                <a:ext uri="{FF2B5EF4-FFF2-40B4-BE49-F238E27FC236}">
                  <a16:creationId xmlns:a16="http://schemas.microsoft.com/office/drawing/2014/main" xmlns=""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78" name="Oval 76">
              <a:extLst>
                <a:ext uri="{FF2B5EF4-FFF2-40B4-BE49-F238E27FC236}">
                  <a16:creationId xmlns:a16="http://schemas.microsoft.com/office/drawing/2014/main" xmlns=""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fontAlgn="base">
                <a:spcBef>
                  <a:spcPct val="0"/>
                </a:spcBef>
                <a:spcAft>
                  <a:spcPct val="0"/>
                </a:spcAft>
                <a:defRPr/>
              </a:pPr>
              <a:endParaRPr lang="en-US" sz="1350" dirty="0">
                <a:solidFill>
                  <a:srgbClr val="FF0000"/>
                </a:solidFill>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xmlns=""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sp>
          <p:nvSpPr>
            <p:cNvPr id="280" name="Rectangle 78">
              <a:extLst>
                <a:ext uri="{FF2B5EF4-FFF2-40B4-BE49-F238E27FC236}">
                  <a16:creationId xmlns:a16="http://schemas.microsoft.com/office/drawing/2014/main" xmlns=""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rtl="0" eaLnBrk="0" fontAlgn="base" hangingPunct="0">
                <a:spcBef>
                  <a:spcPct val="0"/>
                </a:spcBef>
                <a:spcAft>
                  <a:spcPct val="0"/>
                </a:spcAft>
                <a:defRPr/>
              </a:pPr>
              <a:endParaRPr lang="en-US" sz="1200" dirty="0">
                <a:solidFill>
                  <a:srgbClr val="000000"/>
                </a:solidFill>
                <a:latin typeface="Tahoma" charset="0"/>
                <a:ea typeface="ＭＳ Ｐゴシック" charset="0"/>
                <a:cs typeface="+mn-cs"/>
              </a:endParaRPr>
            </a:p>
          </p:txBody>
        </p:sp>
      </p:grpSp>
      <p:sp>
        <p:nvSpPr>
          <p:cNvPr id="73" name="Rectangle 3">
            <a:extLst>
              <a:ext uri="{FF2B5EF4-FFF2-40B4-BE49-F238E27FC236}">
                <a16:creationId xmlns:a16="http://schemas.microsoft.com/office/drawing/2014/main" xmlns="" id="{E8DFB3C6-E718-DE4A-87C1-CF7178F7C295}"/>
              </a:ext>
            </a:extLst>
          </p:cNvPr>
          <p:cNvSpPr txBox="1">
            <a:spLocks noChangeArrowheads="1"/>
          </p:cNvSpPr>
          <p:nvPr/>
        </p:nvSpPr>
        <p:spPr>
          <a:xfrm>
            <a:off x="608542" y="3600450"/>
            <a:ext cx="4106333" cy="118110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95275" indent="-197644" algn="just" defTabSz="685800">
              <a:spcBef>
                <a:spcPts val="750"/>
              </a:spcBef>
              <a:buFont typeface="Wingdings" charset="2"/>
              <a:buChar char="§"/>
              <a:defRPr/>
            </a:pPr>
            <a:r>
              <a:rPr lang="en-US" sz="2400" i="1" dirty="0">
                <a:solidFill>
                  <a:srgbClr val="CC0000"/>
                </a:solidFill>
                <a:latin typeface="Calibri" panose="020F0502020204030204"/>
              </a:rPr>
              <a:t>summary: </a:t>
            </a:r>
            <a:r>
              <a:rPr lang="en-US" sz="2400" dirty="0">
                <a:solidFill>
                  <a:prstClr val="black"/>
                </a:solidFill>
                <a:latin typeface="Calibri" panose="020F0502020204030204"/>
              </a:rPr>
              <a:t>initial rate is slow, but ramps up exponentially fast</a:t>
            </a:r>
          </a:p>
        </p:txBody>
      </p:sp>
    </p:spTree>
    <p:extLst>
      <p:ext uri="{BB962C8B-B14F-4D97-AF65-F5344CB8AC3E}">
        <p14:creationId xmlns:p14="http://schemas.microsoft.com/office/powerpoint/2010/main" val="318527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Rectangle 2">
            <a:extLst>
              <a:ext uri="{FF2B5EF4-FFF2-40B4-BE49-F238E27FC236}">
                <a16:creationId xmlns:a16="http://schemas.microsoft.com/office/drawing/2014/main" xmlns="" id="{E28C6181-8840-1501-375F-5E6BDC490DD1}"/>
              </a:ext>
            </a:extLst>
          </p:cNvPr>
          <p:cNvSpPr>
            <a:spLocks noGrp="1" noChangeArrowheads="1"/>
          </p:cNvSpPr>
          <p:nvPr>
            <p:ph type="title" idx="4294967295"/>
          </p:nvPr>
        </p:nvSpPr>
        <p:spPr>
          <a:xfrm>
            <a:off x="0" y="84138"/>
            <a:ext cx="7772400" cy="857250"/>
          </a:xfrm>
        </p:spPr>
        <p:txBody>
          <a:bodyPr vert="horz" lIns="91440" tIns="45720" rIns="91440" bIns="45720" rtlCol="0" anchor="ctr">
            <a:noAutofit/>
          </a:bodyPr>
          <a:lstStyle/>
          <a:p>
            <a:r>
              <a:rPr lang="en-US" sz="4000" b="1" dirty="0"/>
              <a:t>TCP: detecting, reacting to loss</a:t>
            </a:r>
          </a:p>
        </p:txBody>
      </p:sp>
      <p:sp>
        <p:nvSpPr>
          <p:cNvPr id="104454" name="Rectangle 3">
            <a:extLst>
              <a:ext uri="{FF2B5EF4-FFF2-40B4-BE49-F238E27FC236}">
                <a16:creationId xmlns:a16="http://schemas.microsoft.com/office/drawing/2014/main" xmlns="" id="{89D07573-3DA0-5F3A-DB89-AAACBA0BB778}"/>
              </a:ext>
            </a:extLst>
          </p:cNvPr>
          <p:cNvSpPr>
            <a:spLocks noGrp="1" noChangeArrowheads="1"/>
          </p:cNvSpPr>
          <p:nvPr>
            <p:ph type="body" sz="half" idx="4294967295"/>
          </p:nvPr>
        </p:nvSpPr>
        <p:spPr>
          <a:xfrm>
            <a:off x="762000" y="941388"/>
            <a:ext cx="8382000" cy="3611562"/>
          </a:xfrm>
        </p:spPr>
        <p:txBody>
          <a:bodyPr>
            <a:normAutofit fontScale="92500" lnSpcReduction="20000"/>
          </a:bodyPr>
          <a:lstStyle/>
          <a:p>
            <a:pPr>
              <a:buFont typeface="Wingdings" charset="2"/>
              <a:buChar char="§"/>
              <a:defRPr/>
            </a:pPr>
            <a:r>
              <a:rPr lang="en-US" sz="2400" dirty="0">
                <a:latin typeface="+mj-lt"/>
                <a:ea typeface="ＭＳ Ｐゴシック" charset="0"/>
                <a:cs typeface="+mn-cs"/>
              </a:rPr>
              <a:t>loss indicated by timeout:</a:t>
            </a:r>
          </a:p>
          <a:p>
            <a:pPr lvl="1">
              <a:buFont typeface="Arial"/>
              <a:buChar char="•"/>
              <a:defRPr/>
            </a:pPr>
            <a:r>
              <a:rPr lang="en-US" sz="2100" b="1" dirty="0" err="1">
                <a:latin typeface="+mj-lt"/>
                <a:ea typeface="ＭＳ Ｐゴシック" charset="0"/>
              </a:rPr>
              <a:t>cwnd</a:t>
            </a:r>
            <a:r>
              <a:rPr lang="en-US" sz="2100" dirty="0">
                <a:latin typeface="+mj-lt"/>
                <a:ea typeface="ＭＳ Ｐゴシック" charset="0"/>
              </a:rPr>
              <a:t> set to 1 MSS; </a:t>
            </a:r>
          </a:p>
          <a:p>
            <a:pPr lvl="1">
              <a:buFont typeface="Arial"/>
              <a:buChar char="•"/>
              <a:defRPr/>
            </a:pPr>
            <a:r>
              <a:rPr lang="en-US" sz="2100" dirty="0">
                <a:latin typeface="+mj-lt"/>
                <a:ea typeface="ＭＳ Ｐゴシック" charset="0"/>
              </a:rPr>
              <a:t>window then grows exponentially (as in slow start) to threshold, then grows linearly</a:t>
            </a:r>
          </a:p>
          <a:p>
            <a:pPr>
              <a:buFont typeface="Wingdings" charset="2"/>
              <a:buChar char="§"/>
              <a:defRPr/>
            </a:pPr>
            <a:r>
              <a:rPr lang="en-US" sz="2400" dirty="0">
                <a:latin typeface="+mj-lt"/>
                <a:ea typeface="ＭＳ Ｐゴシック" charset="0"/>
                <a:cs typeface="+mn-cs"/>
              </a:rPr>
              <a:t>loss indicated by 3 duplicate ACKs: </a:t>
            </a:r>
            <a:r>
              <a:rPr lang="en-US" dirty="0">
                <a:latin typeface="+mj-lt"/>
                <a:ea typeface="ＭＳ Ｐゴシック" charset="0"/>
                <a:cs typeface="+mn-cs"/>
              </a:rPr>
              <a:t>TCP RENO</a:t>
            </a:r>
          </a:p>
          <a:p>
            <a:pPr lvl="1">
              <a:buFont typeface="Arial"/>
              <a:buChar char="•"/>
              <a:defRPr/>
            </a:pPr>
            <a:r>
              <a:rPr lang="en-US" sz="2100" dirty="0">
                <a:latin typeface="+mj-lt"/>
                <a:ea typeface="ＭＳ Ｐゴシック" charset="0"/>
              </a:rPr>
              <a:t>dup ACKs indicate network capable of  delivering some segments </a:t>
            </a:r>
          </a:p>
          <a:p>
            <a:pPr lvl="1">
              <a:buFont typeface="Arial"/>
              <a:buChar char="•"/>
              <a:defRPr/>
            </a:pPr>
            <a:r>
              <a:rPr lang="en-US" sz="2100" b="1" dirty="0" err="1">
                <a:latin typeface="+mj-lt"/>
                <a:ea typeface="ＭＳ Ｐゴシック" charset="0"/>
              </a:rPr>
              <a:t>cwnd</a:t>
            </a:r>
            <a:r>
              <a:rPr lang="en-US" sz="2100" dirty="0">
                <a:latin typeface="+mj-lt"/>
                <a:ea typeface="ＭＳ Ｐゴシック" charset="0"/>
              </a:rPr>
              <a:t> is cut in half window then grows linearly</a:t>
            </a:r>
          </a:p>
          <a:p>
            <a:pPr>
              <a:buFont typeface="Wingdings" charset="2"/>
              <a:buChar char="§"/>
              <a:defRPr/>
            </a:pPr>
            <a:r>
              <a:rPr lang="en-US" sz="2400" dirty="0">
                <a:latin typeface="+mj-lt"/>
                <a:ea typeface="ＭＳ Ｐゴシック" charset="0"/>
                <a:cs typeface="+mn-cs"/>
              </a:rPr>
              <a:t>TCP Tahoe always sets </a:t>
            </a:r>
            <a:r>
              <a:rPr lang="en-US" b="1" dirty="0" err="1">
                <a:latin typeface="+mj-lt"/>
                <a:ea typeface="ＭＳ Ｐゴシック" charset="0"/>
                <a:cs typeface="+mn-cs"/>
              </a:rPr>
              <a:t>cwnd</a:t>
            </a:r>
            <a:r>
              <a:rPr lang="en-US" sz="2400" dirty="0">
                <a:latin typeface="+mj-lt"/>
                <a:ea typeface="ＭＳ Ｐゴシック" charset="0"/>
                <a:cs typeface="+mn-cs"/>
              </a:rPr>
              <a:t> to 1 (timeout or 3 duplicate acks)</a:t>
            </a:r>
          </a:p>
          <a:p>
            <a:pPr>
              <a:buFont typeface="Wingdings" charset="2"/>
              <a:buChar char="§"/>
              <a:defRPr/>
            </a:pPr>
            <a:r>
              <a:rPr lang="en-US" sz="2400" b="1" dirty="0">
                <a:solidFill>
                  <a:srgbClr val="FF0000"/>
                </a:solidFill>
                <a:effectLst/>
                <a:latin typeface="+mj-lt"/>
              </a:rPr>
              <a:t>TCP Tahoe = Slow Start + AIMD + Fast Retransmit</a:t>
            </a:r>
          </a:p>
          <a:p>
            <a:pPr algn="just" fontAlgn="base">
              <a:spcAft>
                <a:spcPts val="750"/>
              </a:spcAft>
            </a:pPr>
            <a:r>
              <a:rPr lang="en-US" sz="2400" b="1" dirty="0">
                <a:solidFill>
                  <a:srgbClr val="FF0000"/>
                </a:solidFill>
                <a:effectLst/>
                <a:latin typeface="+mj-lt"/>
              </a:rPr>
              <a:t>TCP Reno = TCP Tahoe + Fast Recovery</a:t>
            </a:r>
          </a:p>
          <a:p>
            <a:pPr marL="0" indent="0" algn="just" fontAlgn="base">
              <a:spcAft>
                <a:spcPts val="750"/>
              </a:spcAft>
              <a:buNone/>
            </a:pPr>
            <a:r>
              <a:rPr lang="en-US" sz="1600" dirty="0"/>
              <a:t/>
            </a:r>
            <a:br>
              <a:rPr lang="en-US" sz="1600" dirty="0"/>
            </a:br>
            <a:endParaRPr lang="en-IN" sz="2000" dirty="0"/>
          </a:p>
          <a:p>
            <a:pPr>
              <a:buFont typeface="Wingdings" charset="2"/>
              <a:buChar char="§"/>
              <a:defRPr/>
            </a:pPr>
            <a:endParaRPr lang="en-US" sz="2400" dirty="0">
              <a:ea typeface="ＭＳ Ｐゴシック" charset="0"/>
              <a:cs typeface="+mn-cs"/>
            </a:endParaRPr>
          </a:p>
          <a:p>
            <a:pPr lvl="1">
              <a:buFont typeface="Arial"/>
              <a:buChar char="•"/>
              <a:defRPr/>
            </a:pPr>
            <a:endParaRPr lang="en-US" sz="2100" dirty="0">
              <a:ea typeface="ＭＳ Ｐゴシック"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xmlns="" id="{D03FB40A-7F89-3E7B-DA3E-7E47AE7EE48C}"/>
              </a:ext>
            </a:extLst>
          </p:cNvPr>
          <p:cNvSpPr>
            <a:spLocks noGrp="1"/>
          </p:cNvSpPr>
          <p:nvPr>
            <p:ph type="ftr" sz="quarter" idx="11"/>
          </p:nvPr>
        </p:nvSpPr>
        <p:spPr/>
        <p:txBody>
          <a:bodyPr/>
          <a:lstStyle/>
          <a:p>
            <a:pPr>
              <a:defRPr/>
            </a:pPr>
            <a:r>
              <a:rPr lang="en-US"/>
              <a:t>Transport</a:t>
            </a:r>
            <a:r>
              <a:rPr lang="en-US" sz="1050"/>
              <a:t> </a:t>
            </a:r>
            <a:r>
              <a:rPr lang="en-US"/>
              <a:t>Layer</a:t>
            </a:r>
          </a:p>
        </p:txBody>
      </p:sp>
      <p:sp>
        <p:nvSpPr>
          <p:cNvPr id="2" name="Title 1">
            <a:extLst>
              <a:ext uri="{FF2B5EF4-FFF2-40B4-BE49-F238E27FC236}">
                <a16:creationId xmlns:a16="http://schemas.microsoft.com/office/drawing/2014/main" xmlns="" id="{418F4289-C4E2-03EB-28A8-CAC9D4EC4722}"/>
              </a:ext>
            </a:extLst>
          </p:cNvPr>
          <p:cNvSpPr>
            <a:spLocks noGrp="1"/>
          </p:cNvSpPr>
          <p:nvPr>
            <p:ph type="title" idx="4294967295"/>
          </p:nvPr>
        </p:nvSpPr>
        <p:spPr>
          <a:xfrm>
            <a:off x="0" y="171450"/>
            <a:ext cx="7772400" cy="1638300"/>
          </a:xfrm>
        </p:spPr>
        <p:txBody>
          <a:bodyPr/>
          <a:lstStyle/>
          <a:p>
            <a:pPr lvl="0" algn="just"/>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Consider the below figure. Assuming </a:t>
            </a:r>
            <a:r>
              <a:rPr lang="en-IN" sz="2200" dirty="0" err="1">
                <a:solidFill>
                  <a:schemeClr val="tx1"/>
                </a:solidFill>
                <a:latin typeface="Calibri" panose="020F0502020204030204" pitchFamily="34" charset="0"/>
                <a:ea typeface="Calibri" panose="020F0502020204030204" pitchFamily="34" charset="0"/>
                <a:cs typeface="Calibri" panose="020F0502020204030204" pitchFamily="34" charset="0"/>
              </a:rPr>
              <a:t>TCPReno</a:t>
            </a:r>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 is the protocol experiencing the </a:t>
            </a:r>
            <a:r>
              <a:rPr lang="en-IN" sz="2200" dirty="0" err="1">
                <a:solidFill>
                  <a:schemeClr val="tx1"/>
                </a:solidFill>
                <a:latin typeface="Calibri" panose="020F0502020204030204" pitchFamily="34" charset="0"/>
                <a:ea typeface="Calibri" panose="020F0502020204030204" pitchFamily="34" charset="0"/>
                <a:cs typeface="Calibri" panose="020F0502020204030204" pitchFamily="34" charset="0"/>
              </a:rPr>
              <a:t>behavior</a:t>
            </a:r>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 shown above, answer the following questions. In all cases, you should provide a short discussion justifying your answer. </a:t>
            </a:r>
          </a:p>
        </p:txBody>
      </p:sp>
      <p:sp>
        <p:nvSpPr>
          <p:cNvPr id="6" name="Slide Number Placeholder 5">
            <a:extLst>
              <a:ext uri="{FF2B5EF4-FFF2-40B4-BE49-F238E27FC236}">
                <a16:creationId xmlns:a16="http://schemas.microsoft.com/office/drawing/2014/main" xmlns="" id="{BEBD13C3-8938-8BAC-70CC-E80ECD6F3365}"/>
              </a:ext>
            </a:extLst>
          </p:cNvPr>
          <p:cNvSpPr>
            <a:spLocks noGrp="1"/>
          </p:cNvSpPr>
          <p:nvPr>
            <p:ph type="sldNum" sz="quarter" idx="4294967295"/>
          </p:nvPr>
        </p:nvSpPr>
        <p:spPr>
          <a:xfrm>
            <a:off x="8467725" y="4846638"/>
            <a:ext cx="676275" cy="207962"/>
          </a:xfrm>
        </p:spPr>
        <p:txBody>
          <a:bodyPr/>
          <a:lstStyle/>
          <a:p>
            <a:pPr>
              <a:defRPr/>
            </a:pPr>
            <a:r>
              <a:rPr lang="en-US" altLang="en-US"/>
              <a:t>3-</a:t>
            </a:r>
            <a:fld id="{F62C9D9E-AA93-45F1-8568-4B7408E87DF1}" type="slidenum">
              <a:rPr lang="en-US" altLang="en-US" smtClean="0"/>
              <a:pPr>
                <a:defRPr/>
              </a:pPr>
              <a:t>25</a:t>
            </a:fld>
            <a:endParaRPr lang="en-US" altLang="en-US"/>
          </a:p>
        </p:txBody>
      </p:sp>
      <p:pic>
        <p:nvPicPr>
          <p:cNvPr id="7" name="Picture 6">
            <a:extLst>
              <a:ext uri="{FF2B5EF4-FFF2-40B4-BE49-F238E27FC236}">
                <a16:creationId xmlns:a16="http://schemas.microsoft.com/office/drawing/2014/main" xmlns="" id="{70423D54-650F-DC27-A1E8-B8F6B34D7CB2}"/>
              </a:ext>
            </a:extLst>
          </p:cNvPr>
          <p:cNvPicPr>
            <a:picLocks noChangeAspect="1"/>
          </p:cNvPicPr>
          <p:nvPr/>
        </p:nvPicPr>
        <p:blipFill>
          <a:blip r:embed="rId2"/>
          <a:stretch>
            <a:fillRect/>
          </a:stretch>
        </p:blipFill>
        <p:spPr>
          <a:xfrm>
            <a:off x="2057400" y="1733550"/>
            <a:ext cx="4400550" cy="2886075"/>
          </a:xfrm>
          <a:prstGeom prst="rect">
            <a:avLst/>
          </a:prstGeom>
        </p:spPr>
      </p:pic>
    </p:spTree>
    <p:extLst>
      <p:ext uri="{BB962C8B-B14F-4D97-AF65-F5344CB8AC3E}">
        <p14:creationId xmlns:p14="http://schemas.microsoft.com/office/powerpoint/2010/main" val="3365656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EB18233-0224-81C3-0E16-DBBFDC3614D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xmlns="" id="{50EBF373-7CAE-885C-DF0F-92861B6C7183}"/>
              </a:ext>
            </a:extLst>
          </p:cNvPr>
          <p:cNvSpPr txBox="1"/>
          <p:nvPr/>
        </p:nvSpPr>
        <p:spPr>
          <a:xfrm>
            <a:off x="0" y="93283"/>
            <a:ext cx="9067800" cy="4956934"/>
          </a:xfrm>
          <a:prstGeom prst="rect">
            <a:avLst/>
          </a:prstGeom>
          <a:noFill/>
        </p:spPr>
        <p:txBody>
          <a:bodyPr wrap="square">
            <a:spAutoFit/>
          </a:bodyPr>
          <a:lstStyle/>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Identify the intervals of time when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TCPslow</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start is operating.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Identify the intervals of time when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TCPcongestion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avoidance is operating.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After the 16th transmission round, is segment loss detected by a triple duplicate ACK or by a timeout?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After the 22nd transmission round, is segment loss detected by a triple duplicate ACK or by a timeout?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What is the initial value of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ssthreshat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first transmission round?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What is the value of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ssthreshat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18th transmission round?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mj-lt"/>
              <a:buAutoNum type="alphaLcPeriod"/>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What is the value of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ssthreshat</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24th transmission round? </a:t>
            </a:r>
          </a:p>
          <a:p>
            <a:pPr marL="742950" lvl="1" indent="-285750" algn="just">
              <a:lnSpc>
                <a:spcPct val="107000"/>
              </a:lnSpc>
              <a:buFont typeface="+mj-lt"/>
              <a:buAutoNum type="alphaL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During what transmission round is the 70th segment sent?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Assuming a packet loss is detected after the 26th round by the receipt of a triple duplicate ACK, what will be the values of the congestion window size and of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mj-lt"/>
              <a:buAutoNum type="alphaL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Suppose TCP Tahoe is used (instead of TCP Reno), and assume that triple duplicate ACKs are received at the 16th round. What are the </a:t>
            </a:r>
            <a:r>
              <a:rPr lang="en-IN" sz="1600" kern="100" dirty="0" err="1">
                <a:effectLst/>
                <a:latin typeface="Times New Roman" panose="02020603050405020304" pitchFamily="18" charset="0"/>
                <a:ea typeface="Calibri" panose="020F0502020204030204" pitchFamily="34" charset="0"/>
                <a:cs typeface="Times New Roman" panose="02020603050405020304" pitchFamily="18" charset="0"/>
              </a:rPr>
              <a:t>ssthresh</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and the congestion window size at the 19th round?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mj-lt"/>
              <a:buAutoNum type="alphaLcPeriod"/>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Again suppose TCP Tahoe is used, and there is a timeout event at 22nd round. How many packets have been sent out from 17th round till 22nd round, inclusive?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9566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idx="4294967295"/>
          </p:nvPr>
        </p:nvSpPr>
        <p:spPr>
          <a:xfrm>
            <a:off x="304799" y="185738"/>
            <a:ext cx="8839201" cy="669925"/>
          </a:xfrm>
        </p:spPr>
        <p:txBody>
          <a:bodyPr vert="horz" lIns="91440" tIns="45720" rIns="91440" bIns="45720" rtlCol="0" anchor="ctr">
            <a:noAutofit/>
          </a:bodyPr>
          <a:lstStyle/>
          <a:p>
            <a:r>
              <a:rPr lang="en-US" sz="3600" b="1" dirty="0"/>
              <a:t>TCP: from slow start to </a:t>
            </a:r>
            <a:r>
              <a:rPr lang="en-US" sz="3600" b="1"/>
              <a:t>congestion avoidance</a:t>
            </a:r>
            <a:endParaRPr lang="en-US" sz="3600" b="1" dirty="0"/>
          </a:p>
        </p:txBody>
      </p:sp>
      <p:sp>
        <p:nvSpPr>
          <p:cNvPr id="76" name="Rectangle 3">
            <a:extLst>
              <a:ext uri="{FF2B5EF4-FFF2-40B4-BE49-F238E27FC236}">
                <a16:creationId xmlns:a16="http://schemas.microsoft.com/office/drawing/2014/main" xmlns="" id="{2C9AD9FD-A93B-FF4D-B019-6827A14601C2}"/>
              </a:ext>
            </a:extLst>
          </p:cNvPr>
          <p:cNvSpPr txBox="1">
            <a:spLocks noChangeArrowheads="1"/>
          </p:cNvSpPr>
          <p:nvPr/>
        </p:nvSpPr>
        <p:spPr>
          <a:xfrm>
            <a:off x="714375" y="1036999"/>
            <a:ext cx="3790950" cy="14287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100" i="1" dirty="0">
                <a:solidFill>
                  <a:srgbClr val="C00000"/>
                </a:solidFill>
                <a:latin typeface="Calibri" panose="020F0502020204030204"/>
              </a:rPr>
              <a:t>Q: </a:t>
            </a:r>
            <a:r>
              <a:rPr lang="en-US" sz="2100" dirty="0">
                <a:solidFill>
                  <a:prstClr val="black"/>
                </a:solidFill>
                <a:latin typeface="Calibri" panose="020F0502020204030204"/>
              </a:rPr>
              <a:t>when should the exponential increase switch to linear? </a:t>
            </a:r>
          </a:p>
          <a:p>
            <a:pPr marL="264319" indent="-166688" defTabSz="685800">
              <a:spcBef>
                <a:spcPts val="750"/>
              </a:spcBef>
              <a:buNone/>
              <a:defRPr/>
            </a:pPr>
            <a:r>
              <a:rPr lang="en-US" sz="2100" i="1" dirty="0">
                <a:solidFill>
                  <a:srgbClr val="C00000"/>
                </a:solidFill>
                <a:latin typeface="Calibri" panose="020F0502020204030204"/>
              </a:rPr>
              <a:t>A: </a:t>
            </a:r>
            <a:r>
              <a:rPr lang="en-US" sz="2100" dirty="0">
                <a:solidFill>
                  <a:prstClr val="black"/>
                </a:solidFill>
                <a:latin typeface="Calibri" panose="020F0502020204030204"/>
              </a:rPr>
              <a:t>when </a:t>
            </a:r>
            <a:r>
              <a:rPr lang="en-US" sz="2100" b="1" dirty="0">
                <a:solidFill>
                  <a:prstClr val="black"/>
                </a:solidFill>
                <a:latin typeface="Courier New" charset="0"/>
              </a:rPr>
              <a:t>cwnd</a:t>
            </a:r>
            <a:r>
              <a:rPr lang="en-US" sz="2100" dirty="0">
                <a:solidFill>
                  <a:prstClr val="black"/>
                </a:solidFill>
                <a:latin typeface="Calibri" panose="020F0502020204030204"/>
              </a:rPr>
              <a:t> gets to 1/2 of its value before timeout.</a:t>
            </a:r>
          </a:p>
        </p:txBody>
      </p:sp>
      <p:sp>
        <p:nvSpPr>
          <p:cNvPr id="77" name="Rectangle 4">
            <a:extLst>
              <a:ext uri="{FF2B5EF4-FFF2-40B4-BE49-F238E27FC236}">
                <a16:creationId xmlns:a16="http://schemas.microsoft.com/office/drawing/2014/main" xmlns="" id="{38B71F69-39D9-954A-BA33-6A5861B7704D}"/>
              </a:ext>
            </a:extLst>
          </p:cNvPr>
          <p:cNvSpPr txBox="1">
            <a:spLocks noChangeArrowheads="1"/>
          </p:cNvSpPr>
          <p:nvPr/>
        </p:nvSpPr>
        <p:spPr>
          <a:xfrm>
            <a:off x="714375" y="2343150"/>
            <a:ext cx="3695700" cy="14287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400" dirty="0">
                <a:solidFill>
                  <a:srgbClr val="C00000"/>
                </a:solidFill>
                <a:latin typeface="Calibri" panose="020F0502020204030204"/>
              </a:rPr>
              <a:t>Implementation:</a:t>
            </a:r>
          </a:p>
          <a:p>
            <a:pPr marL="264319" indent="-166688" defTabSz="685800">
              <a:spcBef>
                <a:spcPts val="750"/>
              </a:spcBef>
              <a:buFont typeface="Wingdings" charset="2"/>
              <a:buChar char="§"/>
              <a:defRPr/>
            </a:pPr>
            <a:r>
              <a:rPr lang="en-US" sz="1800" dirty="0">
                <a:solidFill>
                  <a:prstClr val="black"/>
                </a:solidFill>
                <a:latin typeface="Calibri" panose="020F0502020204030204"/>
              </a:rPr>
              <a:t>variable </a:t>
            </a:r>
            <a:r>
              <a:rPr lang="en-US" sz="1800" b="1" dirty="0">
                <a:solidFill>
                  <a:prstClr val="black"/>
                </a:solidFill>
                <a:latin typeface="Courier New" charset="0"/>
              </a:rPr>
              <a:t>ssthresh</a:t>
            </a:r>
            <a:r>
              <a:rPr lang="en-US" sz="1800" dirty="0">
                <a:solidFill>
                  <a:prstClr val="black"/>
                </a:solidFill>
                <a:latin typeface="Courier New" charset="0"/>
              </a:rPr>
              <a:t> </a:t>
            </a:r>
          </a:p>
          <a:p>
            <a:pPr marL="264319" indent="-166688" defTabSz="685800">
              <a:spcBef>
                <a:spcPts val="750"/>
              </a:spcBef>
              <a:buFont typeface="Wingdings" charset="2"/>
              <a:buChar char="§"/>
              <a:defRPr/>
            </a:pPr>
            <a:r>
              <a:rPr lang="en-US" sz="1800" dirty="0">
                <a:solidFill>
                  <a:prstClr val="black"/>
                </a:solidFill>
                <a:latin typeface="Calibri" panose="020F0502020204030204"/>
              </a:rPr>
              <a:t>on loss event, </a:t>
            </a:r>
            <a:r>
              <a:rPr lang="en-US" sz="1800" b="1" dirty="0">
                <a:solidFill>
                  <a:prstClr val="black"/>
                </a:solidFill>
                <a:latin typeface="Courier New" charset="0"/>
              </a:rPr>
              <a:t>ssthresh</a:t>
            </a:r>
            <a:r>
              <a:rPr lang="en-US" sz="1800" dirty="0">
                <a:solidFill>
                  <a:prstClr val="black"/>
                </a:solidFill>
                <a:latin typeface="Calibri" panose="020F0502020204030204"/>
              </a:rPr>
              <a:t> is set to 1/2 of </a:t>
            </a:r>
            <a:r>
              <a:rPr lang="en-US" sz="1800" b="1" dirty="0">
                <a:solidFill>
                  <a:prstClr val="black"/>
                </a:solidFill>
                <a:latin typeface="Courier New" charset="0"/>
              </a:rPr>
              <a:t>cwnd</a:t>
            </a:r>
            <a:r>
              <a:rPr lang="en-US" sz="1800" dirty="0">
                <a:solidFill>
                  <a:prstClr val="black"/>
                </a:solidFill>
                <a:latin typeface="Courier New" charset="0"/>
              </a:rPr>
              <a:t> </a:t>
            </a:r>
            <a:r>
              <a:rPr lang="en-US" sz="1800" dirty="0">
                <a:solidFill>
                  <a:prstClr val="black"/>
                </a:solidFill>
                <a:latin typeface="Calibri" panose="020F0502020204030204"/>
              </a:rPr>
              <a:t>just before loss event</a:t>
            </a:r>
          </a:p>
        </p:txBody>
      </p:sp>
      <p:pic>
        <p:nvPicPr>
          <p:cNvPr id="79" name="Picture 7">
            <a:extLst>
              <a:ext uri="{FF2B5EF4-FFF2-40B4-BE49-F238E27FC236}">
                <a16:creationId xmlns:a16="http://schemas.microsoft.com/office/drawing/2014/main" xmlns=""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738" y="1047750"/>
            <a:ext cx="4152662" cy="2368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80" name="TextBox 1">
            <a:extLst>
              <a:ext uri="{FF2B5EF4-FFF2-40B4-BE49-F238E27FC236}">
                <a16:creationId xmlns:a16="http://schemas.microsoft.com/office/drawing/2014/main" xmlns="" id="{E6044695-E347-A24B-9CB7-78BC77131884}"/>
              </a:ext>
            </a:extLst>
          </p:cNvPr>
          <p:cNvSpPr txBox="1">
            <a:spLocks noChangeArrowheads="1"/>
          </p:cNvSpPr>
          <p:nvPr/>
        </p:nvSpPr>
        <p:spPr bwMode="auto">
          <a:xfrm>
            <a:off x="857251" y="4601484"/>
            <a:ext cx="731758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l" defTabSz="685800" rtl="0">
              <a:defRPr/>
            </a:pPr>
            <a:r>
              <a:rPr lang="en-US" altLang="en-US" sz="1050" kern="1200" dirty="0">
                <a:solidFill>
                  <a:prstClr val="black"/>
                </a:solidFill>
                <a:latin typeface="Arial" panose="020B0604020202020204" pitchFamily="34" charset="0"/>
                <a:cs typeface="+mn-cs"/>
              </a:rPr>
              <a:t>* Check out the online interactive exercises for more examples: h</a:t>
            </a:r>
            <a:r>
              <a:rPr lang="en-US" altLang="en-US" sz="900" kern="1200" dirty="0">
                <a:solidFill>
                  <a:prstClr val="black"/>
                </a:solidFill>
                <a:latin typeface="Arial" panose="020B0604020202020204" pitchFamily="34" charset="0"/>
                <a:cs typeface="+mn-cs"/>
              </a:rPr>
              <a:t>ttp://gaia.cs.umass.edu/kurose_ross/interactive/</a:t>
            </a:r>
          </a:p>
        </p:txBody>
      </p:sp>
      <p:sp>
        <p:nvSpPr>
          <p:cNvPr id="7" name="Rectangle 6">
            <a:extLst>
              <a:ext uri="{FF2B5EF4-FFF2-40B4-BE49-F238E27FC236}">
                <a16:creationId xmlns:a16="http://schemas.microsoft.com/office/drawing/2014/main" xmlns="" id="{7E5A3F5F-F42B-F04E-BB6A-D57835C29067}"/>
              </a:ext>
            </a:extLst>
          </p:cNvPr>
          <p:cNvSpPr/>
          <p:nvPr/>
        </p:nvSpPr>
        <p:spPr>
          <a:xfrm>
            <a:off x="6135529" y="2500148"/>
            <a:ext cx="638175" cy="150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12" name="Rectangle 11">
            <a:extLst>
              <a:ext uri="{FF2B5EF4-FFF2-40B4-BE49-F238E27FC236}">
                <a16:creationId xmlns:a16="http://schemas.microsoft.com/office/drawing/2014/main" xmlns="" id="{79BEA2FA-AD20-B940-ADBA-D9DD40684573}"/>
              </a:ext>
            </a:extLst>
          </p:cNvPr>
          <p:cNvSpPr/>
          <p:nvPr/>
        </p:nvSpPr>
        <p:spPr>
          <a:xfrm>
            <a:off x="6004561" y="2573967"/>
            <a:ext cx="638175"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pic>
        <p:nvPicPr>
          <p:cNvPr id="8" name="Picture 7">
            <a:extLst>
              <a:ext uri="{FF2B5EF4-FFF2-40B4-BE49-F238E27FC236}">
                <a16:creationId xmlns:a16="http://schemas.microsoft.com/office/drawing/2014/main" xmlns="" id="{D72B7EED-D8C9-284D-9A93-58D1D9D479F7}"/>
              </a:ext>
            </a:extLst>
          </p:cNvPr>
          <p:cNvPicPr>
            <a:picLocks noChangeAspect="1"/>
          </p:cNvPicPr>
          <p:nvPr/>
        </p:nvPicPr>
        <p:blipFill>
          <a:blip r:embed="rId4"/>
          <a:stretch>
            <a:fillRect/>
          </a:stretch>
        </p:blipFill>
        <p:spPr>
          <a:xfrm>
            <a:off x="7761923" y="2484114"/>
            <a:ext cx="752475" cy="175577"/>
          </a:xfrm>
          <a:prstGeom prst="rect">
            <a:avLst/>
          </a:prstGeom>
        </p:spPr>
      </p:pic>
      <p:sp>
        <p:nvSpPr>
          <p:cNvPr id="4" name="Rectangle 3">
            <a:extLst>
              <a:ext uri="{FF2B5EF4-FFF2-40B4-BE49-F238E27FC236}">
                <a16:creationId xmlns:a16="http://schemas.microsoft.com/office/drawing/2014/main" xmlns="" id="{F9E33F83-60EE-F54A-B838-917BE2E70995}"/>
              </a:ext>
            </a:extLst>
          </p:cNvPr>
          <p:cNvSpPr/>
          <p:nvPr/>
        </p:nvSpPr>
        <p:spPr>
          <a:xfrm>
            <a:off x="7142798" y="1049966"/>
            <a:ext cx="1600200" cy="1866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350" kern="1200" dirty="0">
              <a:solidFill>
                <a:prstClr val="white"/>
              </a:solidFill>
              <a:latin typeface="Calibri"/>
            </a:endParaRPr>
          </a:p>
        </p:txBody>
      </p:sp>
      <p:sp>
        <p:nvSpPr>
          <p:cNvPr id="5" name="TextBox 4">
            <a:extLst>
              <a:ext uri="{FF2B5EF4-FFF2-40B4-BE49-F238E27FC236}">
                <a16:creationId xmlns:a16="http://schemas.microsoft.com/office/drawing/2014/main" xmlns="" id="{7A184EDA-6A29-2941-A0A9-C122E26F942B}"/>
              </a:ext>
            </a:extLst>
          </p:cNvPr>
          <p:cNvSpPr txBox="1"/>
          <p:nvPr/>
        </p:nvSpPr>
        <p:spPr>
          <a:xfrm>
            <a:off x="7047548" y="1278566"/>
            <a:ext cx="279244" cy="300082"/>
          </a:xfrm>
          <a:prstGeom prst="rect">
            <a:avLst/>
          </a:prstGeom>
          <a:noFill/>
        </p:spPr>
        <p:txBody>
          <a:bodyPr wrap="none" rtlCol="0">
            <a:spAutoFit/>
          </a:bodyPr>
          <a:lstStyle/>
          <a:p>
            <a:pPr algn="l" defTabSz="685800" rtl="0">
              <a:defRPr/>
            </a:pPr>
            <a:r>
              <a:rPr lang="en-US" sz="1350" b="1" kern="1200" dirty="0">
                <a:solidFill>
                  <a:srgbClr val="FF0000"/>
                </a:solidFill>
                <a:latin typeface="Calibri"/>
                <a:ea typeface="+mn-ea"/>
                <a:cs typeface="+mn-cs"/>
              </a:rPr>
              <a:t>X</a:t>
            </a:r>
          </a:p>
        </p:txBody>
      </p:sp>
      <p:sp>
        <p:nvSpPr>
          <p:cNvPr id="6" name="TextBox 5">
            <a:extLst>
              <a:ext uri="{FF2B5EF4-FFF2-40B4-BE49-F238E27FC236}">
                <a16:creationId xmlns:a16="http://schemas.microsoft.com/office/drawing/2014/main" xmlns="" id="{62EF8D80-405D-24F8-BFE4-DC18D3A4FB34}"/>
              </a:ext>
            </a:extLst>
          </p:cNvPr>
          <p:cNvSpPr txBox="1"/>
          <p:nvPr/>
        </p:nvSpPr>
        <p:spPr>
          <a:xfrm>
            <a:off x="304799" y="3830419"/>
            <a:ext cx="8544983" cy="646331"/>
          </a:xfrm>
          <a:prstGeom prst="rect">
            <a:avLst/>
          </a:prstGeom>
          <a:noFill/>
        </p:spPr>
        <p:txBody>
          <a:bodyPr wrap="square">
            <a:spAutoFit/>
          </a:bodyPr>
          <a:lstStyle/>
          <a:p>
            <a:pPr algn="ctr"/>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Note:  </a:t>
            </a:r>
            <a:r>
              <a:rPr lang="en-US" dirty="0">
                <a:latin typeface="Calibri" panose="020F0502020204030204" pitchFamily="34" charset="0"/>
                <a:ea typeface="Calibri" panose="020F0502020204030204" pitchFamily="34" charset="0"/>
                <a:cs typeface="Calibri" panose="020F0502020204030204" pitchFamily="34" charset="0"/>
              </a:rPr>
              <a:t>T</a:t>
            </a:r>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he congestion window is 12 • </a:t>
            </a:r>
            <a:r>
              <a:rPr lang="en-US" sz="1800" b="0" i="1" u="none" strike="noStrike" baseline="0" dirty="0">
                <a:latin typeface="Calibri" panose="020F0502020204030204" pitchFamily="34" charset="0"/>
                <a:ea typeface="Calibri" panose="020F0502020204030204" pitchFamily="34" charset="0"/>
                <a:cs typeface="Calibri" panose="020F0502020204030204" pitchFamily="34" charset="0"/>
              </a:rPr>
              <a:t>MSS </a:t>
            </a:r>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when this loss event occurs</a:t>
            </a:r>
          </a:p>
          <a:p>
            <a:pPr algn="ctr"/>
            <a:r>
              <a:rPr lang="en-IN" dirty="0" err="1">
                <a:latin typeface="Courier10PitchBT-Roman"/>
              </a:rPr>
              <a:t>s</a:t>
            </a:r>
            <a:r>
              <a:rPr lang="en-IN" sz="1800" b="0" i="0" u="none" strike="noStrike" baseline="0" dirty="0" err="1">
                <a:latin typeface="Courier10PitchBT-Roman"/>
              </a:rPr>
              <a:t>sthresh</a:t>
            </a:r>
            <a:r>
              <a:rPr lang="en-US" dirty="0">
                <a:latin typeface="Times-Roman"/>
              </a:rPr>
              <a:t> = </a:t>
            </a:r>
            <a:r>
              <a:rPr lang="en-IN" sz="1800" b="0" i="0" u="none" strike="noStrike" baseline="0" dirty="0">
                <a:latin typeface="Times-Roman"/>
              </a:rPr>
              <a:t>0.5 • </a:t>
            </a:r>
            <a:r>
              <a:rPr lang="en-IN" sz="1800" b="0" i="0" u="none" strike="noStrike" baseline="0" dirty="0" err="1">
                <a:latin typeface="Courier10PitchBT-Roman"/>
              </a:rPr>
              <a:t>cwnd</a:t>
            </a:r>
            <a:r>
              <a:rPr lang="en-IN" sz="1800" b="0" i="0" u="none" strike="noStrike" baseline="0" dirty="0">
                <a:latin typeface="Courier10PitchBT-Roman"/>
              </a:rPr>
              <a:t> </a:t>
            </a:r>
            <a:r>
              <a:rPr lang="en-IN" sz="1800" b="0" i="0" u="none" strike="noStrike" baseline="0" dirty="0">
                <a:latin typeface="Times-Roman"/>
              </a:rPr>
              <a:t>= 6 • MSS</a:t>
            </a:r>
            <a:r>
              <a:rPr lang="en-US" dirty="0">
                <a:latin typeface="Times-Roman"/>
              </a:rPr>
              <a:t> (</a:t>
            </a:r>
            <a:r>
              <a:rPr lang="en-IN" sz="1800" b="1" i="0" u="none" strike="noStrike" baseline="0" dirty="0">
                <a:latin typeface="Times-Bold"/>
              </a:rPr>
              <a:t>TCP Tahoe</a:t>
            </a:r>
            <a:r>
              <a:rPr lang="en-US" dirty="0">
                <a:latin typeface="Times-Roman"/>
              </a:rPr>
              <a:t>)</a:t>
            </a:r>
          </a:p>
        </p:txBody>
      </p:sp>
      <p:sp>
        <p:nvSpPr>
          <p:cNvPr id="10" name="TextBox 9">
            <a:extLst>
              <a:ext uri="{FF2B5EF4-FFF2-40B4-BE49-F238E27FC236}">
                <a16:creationId xmlns:a16="http://schemas.microsoft.com/office/drawing/2014/main" xmlns="" id="{A81E2BD1-03E2-7FBA-C9CB-93462B800EA3}"/>
              </a:ext>
            </a:extLst>
          </p:cNvPr>
          <p:cNvSpPr txBox="1"/>
          <p:nvPr/>
        </p:nvSpPr>
        <p:spPr>
          <a:xfrm>
            <a:off x="3569389" y="2289049"/>
            <a:ext cx="1209507" cy="461665"/>
          </a:xfrm>
          <a:prstGeom prst="rect">
            <a:avLst/>
          </a:prstGeom>
          <a:noFill/>
        </p:spPr>
        <p:txBody>
          <a:bodyPr wrap="square">
            <a:spAutoFit/>
          </a:bodyPr>
          <a:lstStyle/>
          <a:p>
            <a:r>
              <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rPr>
              <a:t>MSS = 8</a:t>
            </a: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 </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2109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dissolve">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80" grpId="0"/>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2">
            <a:extLst>
              <a:ext uri="{FF2B5EF4-FFF2-40B4-BE49-F238E27FC236}">
                <a16:creationId xmlns:a16="http://schemas.microsoft.com/office/drawing/2014/main" xmlns="" id="{A9C125A6-F401-6048-5004-53C36E7E36D1}"/>
              </a:ext>
            </a:extLst>
          </p:cNvPr>
          <p:cNvSpPr>
            <a:spLocks noGrp="1" noChangeArrowheads="1"/>
          </p:cNvSpPr>
          <p:nvPr>
            <p:ph type="title" idx="4294967295"/>
          </p:nvPr>
        </p:nvSpPr>
        <p:spPr>
          <a:xfrm>
            <a:off x="0" y="147638"/>
            <a:ext cx="7848600" cy="644525"/>
          </a:xfrm>
        </p:spPr>
        <p:txBody>
          <a:bodyPr vert="horz" lIns="91440" tIns="45720" rIns="91440" bIns="45720" rtlCol="0" anchor="ctr">
            <a:noAutofit/>
          </a:bodyPr>
          <a:lstStyle/>
          <a:p>
            <a:r>
              <a:rPr lang="en-US" sz="4000" b="1" dirty="0"/>
              <a:t>Summary: TCP Congestion Control</a:t>
            </a:r>
          </a:p>
        </p:txBody>
      </p:sp>
      <p:grpSp>
        <p:nvGrpSpPr>
          <p:cNvPr id="274672" name="Group 240">
            <a:extLst>
              <a:ext uri="{FF2B5EF4-FFF2-40B4-BE49-F238E27FC236}">
                <a16:creationId xmlns:a16="http://schemas.microsoft.com/office/drawing/2014/main" xmlns="" id="{72F07ABF-B605-0BC7-4241-30EC1FE0AF52}"/>
              </a:ext>
            </a:extLst>
          </p:cNvPr>
          <p:cNvGrpSpPr>
            <a:grpSpLocks/>
          </p:cNvGrpSpPr>
          <p:nvPr/>
        </p:nvGrpSpPr>
        <p:grpSpPr bwMode="auto">
          <a:xfrm>
            <a:off x="3724275" y="2181223"/>
            <a:ext cx="1600200" cy="636985"/>
            <a:chOff x="2168" y="1727"/>
            <a:chExt cx="1344" cy="535"/>
          </a:xfrm>
        </p:grpSpPr>
        <p:grpSp>
          <p:nvGrpSpPr>
            <p:cNvPr id="109675" name="Group 171">
              <a:extLst>
                <a:ext uri="{FF2B5EF4-FFF2-40B4-BE49-F238E27FC236}">
                  <a16:creationId xmlns:a16="http://schemas.microsoft.com/office/drawing/2014/main" xmlns="" id="{29FC66E3-70F9-B39F-11C5-D185638C15ED}"/>
                </a:ext>
              </a:extLst>
            </p:cNvPr>
            <p:cNvGrpSpPr>
              <a:grpSpLocks/>
            </p:cNvGrpSpPr>
            <p:nvPr/>
          </p:nvGrpSpPr>
          <p:grpSpPr bwMode="auto">
            <a:xfrm>
              <a:off x="2256" y="1727"/>
              <a:ext cx="1166" cy="535"/>
              <a:chOff x="2256" y="1727"/>
              <a:chExt cx="1166" cy="535"/>
            </a:xfrm>
          </p:grpSpPr>
          <p:sp>
            <p:nvSpPr>
              <p:cNvPr id="109677" name="Text Box 172">
                <a:extLst>
                  <a:ext uri="{FF2B5EF4-FFF2-40B4-BE49-F238E27FC236}">
                    <a16:creationId xmlns:a16="http://schemas.microsoft.com/office/drawing/2014/main" xmlns="" id="{EFAE7BCE-B60B-9654-BDC6-1BC1C1FAF5B7}"/>
                  </a:ext>
                </a:extLst>
              </p:cNvPr>
              <p:cNvSpPr txBox="1">
                <a:spLocks noChangeArrowheads="1"/>
              </p:cNvSpPr>
              <p:nvPr/>
            </p:nvSpPr>
            <p:spPr bwMode="auto">
              <a:xfrm>
                <a:off x="2640" y="1727"/>
                <a:ext cx="41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timeout</a:t>
                </a:r>
              </a:p>
            </p:txBody>
          </p:sp>
          <p:sp>
            <p:nvSpPr>
              <p:cNvPr id="109678" name="Text Box 173">
                <a:extLst>
                  <a:ext uri="{FF2B5EF4-FFF2-40B4-BE49-F238E27FC236}">
                    <a16:creationId xmlns:a16="http://schemas.microsoft.com/office/drawing/2014/main" xmlns="" id="{081B5279-A2BD-53FD-8B23-2AE037F08CAB}"/>
                  </a:ext>
                </a:extLst>
              </p:cNvPr>
              <p:cNvSpPr txBox="1">
                <a:spLocks noChangeArrowheads="1"/>
              </p:cNvSpPr>
              <p:nvPr/>
            </p:nvSpPr>
            <p:spPr bwMode="auto">
              <a:xfrm>
                <a:off x="2256" y="1838"/>
                <a:ext cx="1166"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ssthresh = cwnd/2</a:t>
                </a:r>
              </a:p>
              <a:p>
                <a:pPr algn="ctr"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cwnd = 1 MSS</a:t>
                </a:r>
              </a:p>
              <a:p>
                <a:pPr algn="ctr"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ctr" defTabSz="685800" rtl="0" fontAlgn="base">
                  <a:spcBef>
                    <a:spcPct val="0"/>
                  </a:spcBef>
                  <a:spcAft>
                    <a:spcPct val="0"/>
                  </a:spcAft>
                  <a:buClrTx/>
                  <a:buSzTx/>
                  <a:buNone/>
                </a:pPr>
                <a:r>
                  <a:rPr lang="en-US" altLang="en-US" sz="750" i="1" kern="1200">
                    <a:solidFill>
                      <a:srgbClr val="000099"/>
                    </a:solidFill>
                    <a:latin typeface="Arial" panose="020B0604020202020204" pitchFamily="34" charset="0"/>
                    <a:cs typeface="+mn-cs"/>
                  </a:rPr>
                  <a:t>retransmit missing segment</a:t>
                </a:r>
                <a:r>
                  <a:rPr lang="en-US" altLang="en-US" sz="900" kern="1200">
                    <a:solidFill>
                      <a:srgbClr val="000000"/>
                    </a:solidFill>
                    <a:latin typeface="Arial" panose="020B0604020202020204" pitchFamily="34" charset="0"/>
                    <a:cs typeface="+mn-cs"/>
                  </a:rPr>
                  <a:t> </a:t>
                </a:r>
              </a:p>
            </p:txBody>
          </p:sp>
          <p:sp>
            <p:nvSpPr>
              <p:cNvPr id="109679" name="Line 174">
                <a:extLst>
                  <a:ext uri="{FF2B5EF4-FFF2-40B4-BE49-F238E27FC236}">
                    <a16:creationId xmlns:a16="http://schemas.microsoft.com/office/drawing/2014/main" xmlns="" id="{0E5D6469-A290-CE9B-A63A-6E2A2F5727D2}"/>
                  </a:ext>
                </a:extLst>
              </p:cNvPr>
              <p:cNvSpPr>
                <a:spLocks noChangeShapeType="1"/>
              </p:cNvSpPr>
              <p:nvPr/>
            </p:nvSpPr>
            <p:spPr bwMode="auto">
              <a:xfrm>
                <a:off x="2491" y="1857"/>
                <a:ext cx="69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09676" name="Line 175">
              <a:extLst>
                <a:ext uri="{FF2B5EF4-FFF2-40B4-BE49-F238E27FC236}">
                  <a16:creationId xmlns:a16="http://schemas.microsoft.com/office/drawing/2014/main" xmlns="" id="{C4952606-1BF4-981C-A769-5B6FAE732290}"/>
                </a:ext>
              </a:extLst>
            </p:cNvPr>
            <p:cNvSpPr>
              <a:spLocks noChangeShapeType="1"/>
            </p:cNvSpPr>
            <p:nvPr/>
          </p:nvSpPr>
          <p:spPr bwMode="auto">
            <a:xfrm flipH="1">
              <a:off x="2168" y="1734"/>
              <a:ext cx="1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274671" name="Group 239">
            <a:extLst>
              <a:ext uri="{FF2B5EF4-FFF2-40B4-BE49-F238E27FC236}">
                <a16:creationId xmlns:a16="http://schemas.microsoft.com/office/drawing/2014/main" xmlns="" id="{86B84E10-08A7-8719-ECDC-D1BFD0A07958}"/>
              </a:ext>
            </a:extLst>
          </p:cNvPr>
          <p:cNvGrpSpPr>
            <a:grpSpLocks/>
          </p:cNvGrpSpPr>
          <p:nvPr/>
        </p:nvGrpSpPr>
        <p:grpSpPr bwMode="auto">
          <a:xfrm>
            <a:off x="3746897" y="1824038"/>
            <a:ext cx="1600200" cy="322660"/>
            <a:chOff x="2187" y="1427"/>
            <a:chExt cx="1344" cy="271"/>
          </a:xfrm>
        </p:grpSpPr>
        <p:sp>
          <p:nvSpPr>
            <p:cNvPr id="109669" name="Line 176">
              <a:extLst>
                <a:ext uri="{FF2B5EF4-FFF2-40B4-BE49-F238E27FC236}">
                  <a16:creationId xmlns:a16="http://schemas.microsoft.com/office/drawing/2014/main" xmlns="" id="{DC6C5342-5501-9120-B9F8-2207E1D92AAF}"/>
                </a:ext>
              </a:extLst>
            </p:cNvPr>
            <p:cNvSpPr>
              <a:spLocks noChangeShapeType="1"/>
            </p:cNvSpPr>
            <p:nvPr/>
          </p:nvSpPr>
          <p:spPr bwMode="auto">
            <a:xfrm flipH="1">
              <a:off x="2187" y="1673"/>
              <a:ext cx="1344"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70" name="Text Box 181">
              <a:extLst>
                <a:ext uri="{FF2B5EF4-FFF2-40B4-BE49-F238E27FC236}">
                  <a16:creationId xmlns:a16="http://schemas.microsoft.com/office/drawing/2014/main" xmlns="" id="{4BF4EED7-A216-C426-B8B0-2C9C2E71D788}"/>
                </a:ext>
              </a:extLst>
            </p:cNvPr>
            <p:cNvSpPr txBox="1">
              <a:spLocks noChangeArrowheads="1"/>
            </p:cNvSpPr>
            <p:nvPr/>
          </p:nvSpPr>
          <p:spPr bwMode="auto">
            <a:xfrm>
              <a:off x="2721" y="1543"/>
              <a:ext cx="21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80000"/>
                </a:lnSpc>
                <a:spcBef>
                  <a:spcPct val="0"/>
                </a:spcBef>
                <a:spcAft>
                  <a:spcPct val="0"/>
                </a:spcAft>
                <a:buClrTx/>
                <a:buSzTx/>
                <a:buNone/>
              </a:pPr>
              <a:r>
                <a:rPr lang="en-US" altLang="en-US" sz="750" kern="1200">
                  <a:solidFill>
                    <a:srgbClr val="000000"/>
                  </a:solidFill>
                  <a:latin typeface="Symbol" panose="05050102010706020507" pitchFamily="18" charset="2"/>
                  <a:cs typeface="+mn-cs"/>
                </a:rPr>
                <a:t>L</a:t>
              </a:r>
              <a:endParaRPr lang="en-US" altLang="en-US" sz="900" kern="1200">
                <a:solidFill>
                  <a:srgbClr val="000000"/>
                </a:solidFill>
                <a:latin typeface="Symbol" panose="05050102010706020507" pitchFamily="18" charset="2"/>
                <a:cs typeface="+mn-cs"/>
              </a:endParaRPr>
            </a:p>
          </p:txBody>
        </p:sp>
        <p:sp>
          <p:nvSpPr>
            <p:cNvPr id="109671" name="Line 182">
              <a:extLst>
                <a:ext uri="{FF2B5EF4-FFF2-40B4-BE49-F238E27FC236}">
                  <a16:creationId xmlns:a16="http://schemas.microsoft.com/office/drawing/2014/main" xmlns="" id="{EC6EAC78-F05C-45D0-497E-E4348200FB4C}"/>
                </a:ext>
              </a:extLst>
            </p:cNvPr>
            <p:cNvSpPr>
              <a:spLocks noChangeShapeType="1"/>
            </p:cNvSpPr>
            <p:nvPr/>
          </p:nvSpPr>
          <p:spPr bwMode="auto">
            <a:xfrm>
              <a:off x="2572" y="1554"/>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72" name="Group 183">
              <a:extLst>
                <a:ext uri="{FF2B5EF4-FFF2-40B4-BE49-F238E27FC236}">
                  <a16:creationId xmlns:a16="http://schemas.microsoft.com/office/drawing/2014/main" xmlns="" id="{5ED6D31C-C1E2-DA37-9FFA-0AE7F5C7CC23}"/>
                </a:ext>
              </a:extLst>
            </p:cNvPr>
            <p:cNvGrpSpPr>
              <a:grpSpLocks/>
            </p:cNvGrpSpPr>
            <p:nvPr/>
          </p:nvGrpSpPr>
          <p:grpSpPr bwMode="auto">
            <a:xfrm>
              <a:off x="2486" y="1427"/>
              <a:ext cx="739" cy="174"/>
              <a:chOff x="2458" y="1450"/>
              <a:chExt cx="739" cy="174"/>
            </a:xfrm>
          </p:grpSpPr>
          <p:sp>
            <p:nvSpPr>
              <p:cNvPr id="109673" name="Text Box 184">
                <a:extLst>
                  <a:ext uri="{FF2B5EF4-FFF2-40B4-BE49-F238E27FC236}">
                    <a16:creationId xmlns:a16="http://schemas.microsoft.com/office/drawing/2014/main" xmlns="" id="{FB33813A-F329-E9D4-8F8C-53F79E39843F}"/>
                  </a:ext>
                </a:extLst>
              </p:cNvPr>
              <p:cNvSpPr txBox="1">
                <a:spLocks noChangeArrowheads="1"/>
              </p:cNvSpPr>
              <p:nvPr/>
            </p:nvSpPr>
            <p:spPr bwMode="auto">
              <a:xfrm>
                <a:off x="2458" y="1450"/>
                <a:ext cx="73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&gt; ssthresh</a:t>
                </a:r>
              </a:p>
            </p:txBody>
          </p:sp>
          <p:sp>
            <p:nvSpPr>
              <p:cNvPr id="109674" name="Line 185">
                <a:extLst>
                  <a:ext uri="{FF2B5EF4-FFF2-40B4-BE49-F238E27FC236}">
                    <a16:creationId xmlns:a16="http://schemas.microsoft.com/office/drawing/2014/main" xmlns="" id="{1ABA2F69-C00A-3F24-7063-1CDB91C62953}"/>
                  </a:ext>
                </a:extLst>
              </p:cNvPr>
              <p:cNvSpPr>
                <a:spLocks noChangeShapeType="1"/>
              </p:cNvSpPr>
              <p:nvPr/>
            </p:nvSpPr>
            <p:spPr bwMode="auto">
              <a:xfrm>
                <a:off x="2724" y="1557"/>
                <a:ext cx="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274674" name="Group 242">
            <a:extLst>
              <a:ext uri="{FF2B5EF4-FFF2-40B4-BE49-F238E27FC236}">
                <a16:creationId xmlns:a16="http://schemas.microsoft.com/office/drawing/2014/main" xmlns="" id="{7BC10CD8-4FC5-D916-86DE-0F83B52181AF}"/>
              </a:ext>
            </a:extLst>
          </p:cNvPr>
          <p:cNvGrpSpPr>
            <a:grpSpLocks/>
          </p:cNvGrpSpPr>
          <p:nvPr/>
        </p:nvGrpSpPr>
        <p:grpSpPr bwMode="auto">
          <a:xfrm>
            <a:off x="5301854" y="1027510"/>
            <a:ext cx="2070497" cy="1799035"/>
            <a:chOff x="3493" y="786"/>
            <a:chExt cx="1739" cy="1511"/>
          </a:xfrm>
        </p:grpSpPr>
        <p:grpSp>
          <p:nvGrpSpPr>
            <p:cNvPr id="109655" name="Group 164">
              <a:extLst>
                <a:ext uri="{FF2B5EF4-FFF2-40B4-BE49-F238E27FC236}">
                  <a16:creationId xmlns:a16="http://schemas.microsoft.com/office/drawing/2014/main" xmlns="" id="{6A657ABD-94B5-FBD2-0BF5-708FB427A743}"/>
                </a:ext>
              </a:extLst>
            </p:cNvPr>
            <p:cNvGrpSpPr>
              <a:grpSpLocks/>
            </p:cNvGrpSpPr>
            <p:nvPr/>
          </p:nvGrpSpPr>
          <p:grpSpPr bwMode="auto">
            <a:xfrm>
              <a:off x="3584" y="1330"/>
              <a:ext cx="858" cy="771"/>
              <a:chOff x="2275" y="2021"/>
              <a:chExt cx="858" cy="771"/>
            </a:xfrm>
          </p:grpSpPr>
          <p:sp>
            <p:nvSpPr>
              <p:cNvPr id="109667" name="Oval 165">
                <a:extLst>
                  <a:ext uri="{FF2B5EF4-FFF2-40B4-BE49-F238E27FC236}">
                    <a16:creationId xmlns:a16="http://schemas.microsoft.com/office/drawing/2014/main" xmlns="" id="{60E21F8B-BFC6-8D69-EA4B-7D787C362E37}"/>
                  </a:ext>
                </a:extLst>
              </p:cNvPr>
              <p:cNvSpPr>
                <a:spLocks noChangeArrowheads="1"/>
              </p:cNvSpPr>
              <p:nvPr/>
            </p:nvSpPr>
            <p:spPr bwMode="auto">
              <a:xfrm>
                <a:off x="2293" y="2021"/>
                <a:ext cx="800" cy="754"/>
              </a:xfrm>
              <a:prstGeom prst="ellipse">
                <a:avLst/>
              </a:prstGeom>
              <a:solidFill>
                <a:schemeClr val="accent1"/>
              </a:solidFill>
              <a:ln w="9525">
                <a:solidFill>
                  <a:schemeClr val="tx1"/>
                </a:solidFill>
                <a:round/>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09668" name="Text Box 166">
                <a:extLst>
                  <a:ext uri="{FF2B5EF4-FFF2-40B4-BE49-F238E27FC236}">
                    <a16:creationId xmlns:a16="http://schemas.microsoft.com/office/drawing/2014/main" xmlns="" id="{825E8FF7-853D-77DB-345B-7AC37AB24D18}"/>
                  </a:ext>
                </a:extLst>
              </p:cNvPr>
              <p:cNvSpPr txBox="1">
                <a:spLocks noChangeArrowheads="1"/>
              </p:cNvSpPr>
              <p:nvPr/>
            </p:nvSpPr>
            <p:spPr bwMode="auto">
              <a:xfrm>
                <a:off x="2275" y="2191"/>
                <a:ext cx="85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congestion</a:t>
                </a:r>
              </a:p>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avoidance </a:t>
                </a:r>
              </a:p>
              <a:p>
                <a:pPr algn="ctr" defTabSz="685800" rtl="0" fontAlgn="base">
                  <a:lnSpc>
                    <a:spcPct val="100000"/>
                  </a:lnSpc>
                  <a:spcBef>
                    <a:spcPct val="0"/>
                  </a:spcBef>
                  <a:spcAft>
                    <a:spcPct val="0"/>
                  </a:spcAft>
                  <a:buClrTx/>
                  <a:buSzTx/>
                  <a:buNone/>
                </a:pPr>
                <a:endParaRPr lang="en-US" altLang="en-US" sz="1350" kern="1200">
                  <a:solidFill>
                    <a:srgbClr val="000000"/>
                  </a:solidFill>
                  <a:latin typeface="Arial" panose="020B0604020202020204" pitchFamily="34" charset="0"/>
                  <a:cs typeface="+mn-cs"/>
                </a:endParaRPr>
              </a:p>
            </p:txBody>
          </p:sp>
        </p:grpSp>
        <p:grpSp>
          <p:nvGrpSpPr>
            <p:cNvPr id="109656" name="Group 190">
              <a:extLst>
                <a:ext uri="{FF2B5EF4-FFF2-40B4-BE49-F238E27FC236}">
                  <a16:creationId xmlns:a16="http://schemas.microsoft.com/office/drawing/2014/main" xmlns="" id="{70838A60-F6E2-73C0-6653-B6C4CA78727D}"/>
                </a:ext>
              </a:extLst>
            </p:cNvPr>
            <p:cNvGrpSpPr>
              <a:grpSpLocks/>
            </p:cNvGrpSpPr>
            <p:nvPr/>
          </p:nvGrpSpPr>
          <p:grpSpPr bwMode="auto">
            <a:xfrm>
              <a:off x="3493" y="786"/>
              <a:ext cx="1461" cy="565"/>
              <a:chOff x="3516" y="904"/>
              <a:chExt cx="1461" cy="565"/>
            </a:xfrm>
          </p:grpSpPr>
          <p:sp>
            <p:nvSpPr>
              <p:cNvPr id="109663" name="Text Box 191">
                <a:extLst>
                  <a:ext uri="{FF2B5EF4-FFF2-40B4-BE49-F238E27FC236}">
                    <a16:creationId xmlns:a16="http://schemas.microsoft.com/office/drawing/2014/main" xmlns="" id="{159AC7F2-F3B8-7F64-AEF6-64E545BB93B3}"/>
                  </a:ext>
                </a:extLst>
              </p:cNvPr>
              <p:cNvSpPr txBox="1">
                <a:spLocks noChangeArrowheads="1"/>
              </p:cNvSpPr>
              <p:nvPr/>
            </p:nvSpPr>
            <p:spPr bwMode="auto">
              <a:xfrm>
                <a:off x="3516" y="1037"/>
                <a:ext cx="146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9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cwnd + MSS    (MSS/cwnd)</a:t>
                </a:r>
              </a:p>
              <a:p>
                <a:pPr algn="ctr" defTabSz="685800" rtl="0" fontAlgn="base">
                  <a:lnSpc>
                    <a:spcPct val="9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ctr" defTabSz="685800" rtl="0" fontAlgn="base">
                  <a:lnSpc>
                    <a:spcPct val="90000"/>
                  </a:lnSpc>
                  <a:spcBef>
                    <a:spcPct val="0"/>
                  </a:spcBef>
                  <a:spcAft>
                    <a:spcPct val="0"/>
                  </a:spcAft>
                  <a:buClrTx/>
                  <a:buSzTx/>
                  <a:buNone/>
                </a:pPr>
                <a:r>
                  <a:rPr lang="en-US" altLang="en-US" sz="750" i="1" kern="1200">
                    <a:solidFill>
                      <a:srgbClr val="000099"/>
                    </a:solidFill>
                    <a:latin typeface="Arial" panose="020B0604020202020204" pitchFamily="34" charset="0"/>
                    <a:cs typeface="+mn-cs"/>
                  </a:rPr>
                  <a:t>transmit new segment(s), as allowed</a:t>
                </a:r>
              </a:p>
              <a:p>
                <a:pPr algn="ctr" defTabSz="685800" rtl="0" fontAlgn="base">
                  <a:lnSpc>
                    <a:spcPct val="80000"/>
                  </a:lnSpc>
                  <a:spcBef>
                    <a:spcPct val="0"/>
                  </a:spcBef>
                  <a:spcAft>
                    <a:spcPct val="0"/>
                  </a:spcAft>
                  <a:buClrTx/>
                  <a:buSzTx/>
                  <a:buNone/>
                </a:pPr>
                <a:endParaRPr lang="en-US" altLang="en-US" sz="900" i="1" kern="1200">
                  <a:solidFill>
                    <a:srgbClr val="000000"/>
                  </a:solidFill>
                  <a:latin typeface="Arial" panose="020B0604020202020204" pitchFamily="34" charset="0"/>
                  <a:cs typeface="+mn-cs"/>
                </a:endParaRPr>
              </a:p>
            </p:txBody>
          </p:sp>
          <p:sp>
            <p:nvSpPr>
              <p:cNvPr id="109664" name="Line 192">
                <a:extLst>
                  <a:ext uri="{FF2B5EF4-FFF2-40B4-BE49-F238E27FC236}">
                    <a16:creationId xmlns:a16="http://schemas.microsoft.com/office/drawing/2014/main" xmlns="" id="{56FE210A-B4BE-0E49-ED82-581C7CF527AB}"/>
                  </a:ext>
                </a:extLst>
              </p:cNvPr>
              <p:cNvSpPr>
                <a:spLocks noChangeShapeType="1"/>
              </p:cNvSpPr>
              <p:nvPr/>
            </p:nvSpPr>
            <p:spPr bwMode="auto">
              <a:xfrm>
                <a:off x="3976" y="1054"/>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65" name="Text Box 193">
                <a:extLst>
                  <a:ext uri="{FF2B5EF4-FFF2-40B4-BE49-F238E27FC236}">
                    <a16:creationId xmlns:a16="http://schemas.microsoft.com/office/drawing/2014/main" xmlns="" id="{13D52A01-DAAF-8869-C79E-56A79B5E32F4}"/>
                  </a:ext>
                </a:extLst>
              </p:cNvPr>
              <p:cNvSpPr txBox="1">
                <a:spLocks noChangeArrowheads="1"/>
              </p:cNvSpPr>
              <p:nvPr/>
            </p:nvSpPr>
            <p:spPr bwMode="auto">
              <a:xfrm>
                <a:off x="4014" y="923"/>
                <a:ext cx="4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new ACK</a:t>
                </a:r>
              </a:p>
            </p:txBody>
          </p:sp>
          <p:sp>
            <p:nvSpPr>
              <p:cNvPr id="109666" name="Text Box 194">
                <a:extLst>
                  <a:ext uri="{FF2B5EF4-FFF2-40B4-BE49-F238E27FC236}">
                    <a16:creationId xmlns:a16="http://schemas.microsoft.com/office/drawing/2014/main" xmlns="" id="{FDC9CCA3-DA0D-179C-C8B4-3C31EFF0234B}"/>
                  </a:ext>
                </a:extLst>
              </p:cNvPr>
              <p:cNvSpPr txBox="1">
                <a:spLocks noChangeArrowheads="1"/>
              </p:cNvSpPr>
              <p:nvPr/>
            </p:nvSpPr>
            <p:spPr bwMode="auto">
              <a:xfrm>
                <a:off x="4311" y="904"/>
                <a:ext cx="20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1800" kern="1200">
                    <a:solidFill>
                      <a:srgbClr val="000000"/>
                    </a:solidFill>
                    <a:latin typeface="Times New Roman" panose="02020603050405020304" pitchFamily="18" charset="0"/>
                    <a:cs typeface="+mn-cs"/>
                  </a:rPr>
                  <a:t>.</a:t>
                </a:r>
              </a:p>
            </p:txBody>
          </p:sp>
        </p:grpSp>
        <p:sp>
          <p:nvSpPr>
            <p:cNvPr id="109657" name="Freeform 195">
              <a:extLst>
                <a:ext uri="{FF2B5EF4-FFF2-40B4-BE49-F238E27FC236}">
                  <a16:creationId xmlns:a16="http://schemas.microsoft.com/office/drawing/2014/main" xmlns="" id="{C858857E-2ECD-52A9-9798-F25AC4418766}"/>
                </a:ext>
              </a:extLst>
            </p:cNvPr>
            <p:cNvSpPr>
              <a:spLocks/>
            </p:cNvSpPr>
            <p:nvPr/>
          </p:nvSpPr>
          <p:spPr bwMode="auto">
            <a:xfrm rot="9705213">
              <a:off x="4212" y="1145"/>
              <a:ext cx="333" cy="452"/>
            </a:xfrm>
            <a:custGeom>
              <a:avLst/>
              <a:gdLst>
                <a:gd name="T0" fmla="*/ 99 w 376"/>
                <a:gd name="T1" fmla="*/ 306 h 452"/>
                <a:gd name="T2" fmla="*/ 21 w 376"/>
                <a:gd name="T3" fmla="*/ 269 h 452"/>
                <a:gd name="T4" fmla="*/ 55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58" name="Group 196">
              <a:extLst>
                <a:ext uri="{FF2B5EF4-FFF2-40B4-BE49-F238E27FC236}">
                  <a16:creationId xmlns:a16="http://schemas.microsoft.com/office/drawing/2014/main" xmlns="" id="{F29CAC61-CA85-C7B9-35ED-8F0EEF9A524F}"/>
                </a:ext>
              </a:extLst>
            </p:cNvPr>
            <p:cNvGrpSpPr>
              <a:grpSpLocks/>
            </p:cNvGrpSpPr>
            <p:nvPr/>
          </p:nvGrpSpPr>
          <p:grpSpPr bwMode="auto">
            <a:xfrm>
              <a:off x="4487" y="1909"/>
              <a:ext cx="745" cy="388"/>
              <a:chOff x="4252" y="2922"/>
              <a:chExt cx="745" cy="388"/>
            </a:xfrm>
          </p:grpSpPr>
          <p:sp>
            <p:nvSpPr>
              <p:cNvPr id="109660" name="Text Box 197">
                <a:extLst>
                  <a:ext uri="{FF2B5EF4-FFF2-40B4-BE49-F238E27FC236}">
                    <a16:creationId xmlns:a16="http://schemas.microsoft.com/office/drawing/2014/main" xmlns="" id="{9233AE1C-4B50-3C1E-CB67-138E4A2E3DA8}"/>
                  </a:ext>
                </a:extLst>
              </p:cNvPr>
              <p:cNvSpPr txBox="1">
                <a:spLocks noChangeArrowheads="1"/>
              </p:cNvSpPr>
              <p:nvPr/>
            </p:nvSpPr>
            <p:spPr bwMode="auto">
              <a:xfrm>
                <a:off x="4252" y="3062"/>
                <a:ext cx="74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a:t>
                </a:r>
              </a:p>
              <a:p>
                <a:pPr algn="ctr" defTabSz="685800" rtl="0" fontAlgn="base">
                  <a:lnSpc>
                    <a:spcPct val="80000"/>
                  </a:lnSpc>
                  <a:spcBef>
                    <a:spcPct val="0"/>
                  </a:spcBef>
                  <a:spcAft>
                    <a:spcPct val="0"/>
                  </a:spcAft>
                  <a:buClrTx/>
                  <a:buSzTx/>
                  <a:buNone/>
                </a:pPr>
                <a:endParaRPr lang="en-US" altLang="en-US" sz="900" kern="1200">
                  <a:solidFill>
                    <a:srgbClr val="000000"/>
                  </a:solidFill>
                  <a:latin typeface="Arial" panose="020B0604020202020204" pitchFamily="34" charset="0"/>
                  <a:cs typeface="+mn-cs"/>
                </a:endParaRPr>
              </a:p>
            </p:txBody>
          </p:sp>
          <p:sp>
            <p:nvSpPr>
              <p:cNvPr id="109661" name="Line 198">
                <a:extLst>
                  <a:ext uri="{FF2B5EF4-FFF2-40B4-BE49-F238E27FC236}">
                    <a16:creationId xmlns:a16="http://schemas.microsoft.com/office/drawing/2014/main" xmlns="" id="{252F51C7-0C72-FE7D-C6B6-28F231BEA8AB}"/>
                  </a:ext>
                </a:extLst>
              </p:cNvPr>
              <p:cNvSpPr>
                <a:spLocks noChangeShapeType="1"/>
              </p:cNvSpPr>
              <p:nvPr/>
            </p:nvSpPr>
            <p:spPr bwMode="auto">
              <a:xfrm>
                <a:off x="4353" y="3071"/>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62" name="Text Box 199">
                <a:extLst>
                  <a:ext uri="{FF2B5EF4-FFF2-40B4-BE49-F238E27FC236}">
                    <a16:creationId xmlns:a16="http://schemas.microsoft.com/office/drawing/2014/main" xmlns="" id="{713D54B7-1013-6632-493F-FAE35BC5235A}"/>
                  </a:ext>
                </a:extLst>
              </p:cNvPr>
              <p:cNvSpPr txBox="1">
                <a:spLocks noChangeArrowheads="1"/>
              </p:cNvSpPr>
              <p:nvPr/>
            </p:nvSpPr>
            <p:spPr bwMode="auto">
              <a:xfrm>
                <a:off x="4295" y="2922"/>
                <a:ext cx="6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duplicate ACK</a:t>
                </a:r>
              </a:p>
            </p:txBody>
          </p:sp>
        </p:grpSp>
        <p:sp>
          <p:nvSpPr>
            <p:cNvPr id="109659" name="Freeform 200">
              <a:extLst>
                <a:ext uri="{FF2B5EF4-FFF2-40B4-BE49-F238E27FC236}">
                  <a16:creationId xmlns:a16="http://schemas.microsoft.com/office/drawing/2014/main" xmlns="" id="{AA75EC6A-C37E-2059-B8D0-FC0D9B885F52}"/>
                </a:ext>
              </a:extLst>
            </p:cNvPr>
            <p:cNvSpPr>
              <a:spLocks/>
            </p:cNvSpPr>
            <p:nvPr/>
          </p:nvSpPr>
          <p:spPr bwMode="auto">
            <a:xfrm rot="-7516021">
              <a:off x="4290" y="1673"/>
              <a:ext cx="333" cy="452"/>
            </a:xfrm>
            <a:custGeom>
              <a:avLst/>
              <a:gdLst>
                <a:gd name="T0" fmla="*/ 99 w 376"/>
                <a:gd name="T1" fmla="*/ 306 h 452"/>
                <a:gd name="T2" fmla="*/ 21 w 376"/>
                <a:gd name="T3" fmla="*/ 269 h 452"/>
                <a:gd name="T4" fmla="*/ 55 w 376"/>
                <a:gd name="T5" fmla="*/ 0 h 452"/>
                <a:gd name="T6" fmla="*/ 0 60000 65536"/>
                <a:gd name="T7" fmla="*/ 0 60000 65536"/>
                <a:gd name="T8" fmla="*/ 0 60000 65536"/>
              </a:gdLst>
              <a:ahLst/>
              <a:cxnLst>
                <a:cxn ang="T6">
                  <a:pos x="T0" y="T1"/>
                </a:cxn>
                <a:cxn ang="T7">
                  <a:pos x="T2" y="T3"/>
                </a:cxn>
                <a:cxn ang="T8">
                  <a:pos x="T4" y="T5"/>
                </a:cxn>
              </a:cxnLst>
              <a:rect l="0" t="0" r="r" b="b"/>
              <a:pathLst>
                <a:path w="376" h="452">
                  <a:moveTo>
                    <a:pt x="376" y="306"/>
                  </a:moveTo>
                  <a:cubicBezTo>
                    <a:pt x="332" y="380"/>
                    <a:pt x="164" y="452"/>
                    <a:pt x="82" y="269"/>
                  </a:cubicBezTo>
                  <a:cubicBezTo>
                    <a:pt x="0" y="86"/>
                    <a:pt x="66" y="18"/>
                    <a:pt x="208"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274677" name="Group 245">
            <a:extLst>
              <a:ext uri="{FF2B5EF4-FFF2-40B4-BE49-F238E27FC236}">
                <a16:creationId xmlns:a16="http://schemas.microsoft.com/office/drawing/2014/main" xmlns="" id="{DB6B0BBD-C949-DEEB-B180-EB55E6DD4C9C}"/>
              </a:ext>
            </a:extLst>
          </p:cNvPr>
          <p:cNvGrpSpPr>
            <a:grpSpLocks/>
          </p:cNvGrpSpPr>
          <p:nvPr/>
        </p:nvGrpSpPr>
        <p:grpSpPr bwMode="auto">
          <a:xfrm>
            <a:off x="4164807" y="3615928"/>
            <a:ext cx="2521744" cy="1313260"/>
            <a:chOff x="2538" y="2960"/>
            <a:chExt cx="2118" cy="1103"/>
          </a:xfrm>
        </p:grpSpPr>
        <p:grpSp>
          <p:nvGrpSpPr>
            <p:cNvPr id="109646" name="Group 167">
              <a:extLst>
                <a:ext uri="{FF2B5EF4-FFF2-40B4-BE49-F238E27FC236}">
                  <a16:creationId xmlns:a16="http://schemas.microsoft.com/office/drawing/2014/main" xmlns="" id="{E16F07CE-5206-D39C-D800-9FC57B3DF379}"/>
                </a:ext>
              </a:extLst>
            </p:cNvPr>
            <p:cNvGrpSpPr>
              <a:grpSpLocks/>
            </p:cNvGrpSpPr>
            <p:nvPr/>
          </p:nvGrpSpPr>
          <p:grpSpPr bwMode="auto">
            <a:xfrm>
              <a:off x="2538" y="2960"/>
              <a:ext cx="800" cy="760"/>
              <a:chOff x="2454" y="3045"/>
              <a:chExt cx="800" cy="760"/>
            </a:xfrm>
          </p:grpSpPr>
          <p:sp>
            <p:nvSpPr>
              <p:cNvPr id="109652" name="Oval 168">
                <a:extLst>
                  <a:ext uri="{FF2B5EF4-FFF2-40B4-BE49-F238E27FC236}">
                    <a16:creationId xmlns:a16="http://schemas.microsoft.com/office/drawing/2014/main" xmlns="" id="{C0CBC5FF-D224-052F-4056-10E1543210D0}"/>
                  </a:ext>
                </a:extLst>
              </p:cNvPr>
              <p:cNvSpPr>
                <a:spLocks noChangeArrowheads="1"/>
              </p:cNvSpPr>
              <p:nvPr/>
            </p:nvSpPr>
            <p:spPr bwMode="auto">
              <a:xfrm>
                <a:off x="2454" y="3045"/>
                <a:ext cx="800" cy="754"/>
              </a:xfrm>
              <a:prstGeom prst="ellipse">
                <a:avLst/>
              </a:prstGeom>
              <a:solidFill>
                <a:schemeClr val="accent1"/>
              </a:solidFill>
              <a:ln w="9525">
                <a:solidFill>
                  <a:schemeClr val="tx1"/>
                </a:solidFill>
                <a:round/>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09653" name="Text Box 169">
                <a:extLst>
                  <a:ext uri="{FF2B5EF4-FFF2-40B4-BE49-F238E27FC236}">
                    <a16:creationId xmlns:a16="http://schemas.microsoft.com/office/drawing/2014/main" xmlns="" id="{A5766560-C9EE-8D1C-26D7-1974D327EEB9}"/>
                  </a:ext>
                </a:extLst>
              </p:cNvPr>
              <p:cNvSpPr txBox="1">
                <a:spLocks noChangeArrowheads="1"/>
              </p:cNvSpPr>
              <p:nvPr/>
            </p:nvSpPr>
            <p:spPr bwMode="auto">
              <a:xfrm>
                <a:off x="2777" y="3212"/>
                <a:ext cx="195"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 </a:t>
                </a:r>
              </a:p>
              <a:p>
                <a:pPr algn="ctr" defTabSz="685800" rtl="0" fontAlgn="base">
                  <a:lnSpc>
                    <a:spcPct val="100000"/>
                  </a:lnSpc>
                  <a:spcBef>
                    <a:spcPct val="0"/>
                  </a:spcBef>
                  <a:spcAft>
                    <a:spcPct val="0"/>
                  </a:spcAft>
                  <a:buClrTx/>
                  <a:buSzTx/>
                  <a:buNone/>
                </a:pPr>
                <a:endParaRPr lang="en-US" altLang="en-US" sz="1350" kern="1200">
                  <a:solidFill>
                    <a:srgbClr val="000000"/>
                  </a:solidFill>
                  <a:latin typeface="Arial" panose="020B0604020202020204" pitchFamily="34" charset="0"/>
                  <a:cs typeface="+mn-cs"/>
                </a:endParaRPr>
              </a:p>
            </p:txBody>
          </p:sp>
          <p:sp>
            <p:nvSpPr>
              <p:cNvPr id="109654" name="Text Box 170">
                <a:extLst>
                  <a:ext uri="{FF2B5EF4-FFF2-40B4-BE49-F238E27FC236}">
                    <a16:creationId xmlns:a16="http://schemas.microsoft.com/office/drawing/2014/main" xmlns="" id="{3C551F53-F5C2-068E-31C3-19FD884ADA27}"/>
                  </a:ext>
                </a:extLst>
              </p:cNvPr>
              <p:cNvSpPr txBox="1">
                <a:spLocks noChangeArrowheads="1"/>
              </p:cNvSpPr>
              <p:nvPr/>
            </p:nvSpPr>
            <p:spPr bwMode="auto">
              <a:xfrm>
                <a:off x="2488" y="3204"/>
                <a:ext cx="753"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fast</a:t>
                </a:r>
              </a:p>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recovery </a:t>
                </a:r>
              </a:p>
              <a:p>
                <a:pPr algn="ctr" defTabSz="685800" rtl="0" fontAlgn="base">
                  <a:lnSpc>
                    <a:spcPct val="100000"/>
                  </a:lnSpc>
                  <a:spcBef>
                    <a:spcPct val="0"/>
                  </a:spcBef>
                  <a:spcAft>
                    <a:spcPct val="0"/>
                  </a:spcAft>
                  <a:buClrTx/>
                  <a:buSzTx/>
                  <a:buNone/>
                </a:pPr>
                <a:endParaRPr lang="en-US" altLang="en-US" sz="1350" kern="1200">
                  <a:solidFill>
                    <a:srgbClr val="000000"/>
                  </a:solidFill>
                  <a:latin typeface="Arial" panose="020B0604020202020204" pitchFamily="34" charset="0"/>
                  <a:cs typeface="+mn-cs"/>
                </a:endParaRPr>
              </a:p>
            </p:txBody>
          </p:sp>
        </p:grpSp>
        <p:sp>
          <p:nvSpPr>
            <p:cNvPr id="109647" name="Freeform 220">
              <a:extLst>
                <a:ext uri="{FF2B5EF4-FFF2-40B4-BE49-F238E27FC236}">
                  <a16:creationId xmlns:a16="http://schemas.microsoft.com/office/drawing/2014/main" xmlns="" id="{A3154EA2-75CB-B63F-4AF7-DAE700D0DF14}"/>
                </a:ext>
              </a:extLst>
            </p:cNvPr>
            <p:cNvSpPr>
              <a:spLocks/>
            </p:cNvSpPr>
            <p:nvPr/>
          </p:nvSpPr>
          <p:spPr bwMode="auto">
            <a:xfrm>
              <a:off x="2775" y="3708"/>
              <a:ext cx="384" cy="161"/>
            </a:xfrm>
            <a:custGeom>
              <a:avLst/>
              <a:gdLst>
                <a:gd name="T0" fmla="*/ 317 w 384"/>
                <a:gd name="T1" fmla="*/ 0 h 161"/>
                <a:gd name="T2" fmla="*/ 189 w 384"/>
                <a:gd name="T3" fmla="*/ 155 h 161"/>
                <a:gd name="T4" fmla="*/ 59 w 384"/>
                <a:gd name="T5" fmla="*/ 13 h 161"/>
                <a:gd name="T6" fmla="*/ 0 60000 65536"/>
                <a:gd name="T7" fmla="*/ 0 60000 65536"/>
                <a:gd name="T8" fmla="*/ 0 60000 65536"/>
              </a:gdLst>
              <a:ahLst/>
              <a:cxnLst>
                <a:cxn ang="T6">
                  <a:pos x="T0" y="T1"/>
                </a:cxn>
                <a:cxn ang="T7">
                  <a:pos x="T2" y="T3"/>
                </a:cxn>
                <a:cxn ang="T8">
                  <a:pos x="T4" y="T5"/>
                </a:cxn>
              </a:cxnLst>
              <a:rect l="0" t="0" r="r" b="b"/>
              <a:pathLst>
                <a:path w="384" h="161">
                  <a:moveTo>
                    <a:pt x="317" y="0"/>
                  </a:moveTo>
                  <a:cubicBezTo>
                    <a:pt x="384" y="42"/>
                    <a:pt x="378" y="149"/>
                    <a:pt x="189" y="155"/>
                  </a:cubicBezTo>
                  <a:cubicBezTo>
                    <a:pt x="0" y="161"/>
                    <a:pt x="3" y="87"/>
                    <a:pt x="59" y="13"/>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48" name="Group 221">
              <a:extLst>
                <a:ext uri="{FF2B5EF4-FFF2-40B4-BE49-F238E27FC236}">
                  <a16:creationId xmlns:a16="http://schemas.microsoft.com/office/drawing/2014/main" xmlns="" id="{DD69998A-770C-D6E2-731A-60AF6F675E7E}"/>
                </a:ext>
              </a:extLst>
            </p:cNvPr>
            <p:cNvGrpSpPr>
              <a:grpSpLocks/>
            </p:cNvGrpSpPr>
            <p:nvPr/>
          </p:nvGrpSpPr>
          <p:grpSpPr bwMode="auto">
            <a:xfrm>
              <a:off x="3191" y="3592"/>
              <a:ext cx="1465" cy="471"/>
              <a:chOff x="3542" y="3496"/>
              <a:chExt cx="1465" cy="471"/>
            </a:xfrm>
          </p:grpSpPr>
          <p:sp>
            <p:nvSpPr>
              <p:cNvPr id="109649" name="Text Box 222">
                <a:extLst>
                  <a:ext uri="{FF2B5EF4-FFF2-40B4-BE49-F238E27FC236}">
                    <a16:creationId xmlns:a16="http://schemas.microsoft.com/office/drawing/2014/main" xmlns="" id="{984ECED7-BDA9-78AC-BE79-C009738E7C5F}"/>
                  </a:ext>
                </a:extLst>
              </p:cNvPr>
              <p:cNvSpPr txBox="1">
                <a:spLocks noChangeArrowheads="1"/>
              </p:cNvSpPr>
              <p:nvPr/>
            </p:nvSpPr>
            <p:spPr bwMode="auto">
              <a:xfrm>
                <a:off x="3546" y="3632"/>
                <a:ext cx="1461"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cwnd = cwnd + MSS</a:t>
                </a:r>
              </a:p>
              <a:p>
                <a:pPr algn="l" defTabSz="685800" rtl="0" fontAlgn="base">
                  <a:spcBef>
                    <a:spcPct val="0"/>
                  </a:spcBef>
                  <a:spcAft>
                    <a:spcPct val="0"/>
                  </a:spcAft>
                  <a:buClrTx/>
                  <a:buSzTx/>
                  <a:buNone/>
                </a:pPr>
                <a:r>
                  <a:rPr lang="en-US" altLang="en-US" sz="750" i="1" kern="1200">
                    <a:solidFill>
                      <a:srgbClr val="000099"/>
                    </a:solidFill>
                    <a:latin typeface="Arial" panose="020B0604020202020204" pitchFamily="34" charset="0"/>
                    <a:cs typeface="+mn-cs"/>
                  </a:rPr>
                  <a:t>transmit new segment(s), as allowed</a:t>
                </a:r>
              </a:p>
              <a:p>
                <a:pPr algn="l" defTabSz="685800" rtl="0" fontAlgn="base">
                  <a:lnSpc>
                    <a:spcPct val="80000"/>
                  </a:lnSpc>
                  <a:spcBef>
                    <a:spcPct val="0"/>
                  </a:spcBef>
                  <a:spcAft>
                    <a:spcPct val="0"/>
                  </a:spcAft>
                  <a:buClrTx/>
                  <a:buSzTx/>
                  <a:buNone/>
                </a:pPr>
                <a:endParaRPr lang="en-US" altLang="en-US" sz="900" i="1" kern="1200">
                  <a:solidFill>
                    <a:srgbClr val="808080"/>
                  </a:solidFill>
                  <a:latin typeface="Arial" panose="020B0604020202020204" pitchFamily="34" charset="0"/>
                  <a:cs typeface="+mn-cs"/>
                </a:endParaRPr>
              </a:p>
            </p:txBody>
          </p:sp>
          <p:sp>
            <p:nvSpPr>
              <p:cNvPr id="109650" name="Line 223">
                <a:extLst>
                  <a:ext uri="{FF2B5EF4-FFF2-40B4-BE49-F238E27FC236}">
                    <a16:creationId xmlns:a16="http://schemas.microsoft.com/office/drawing/2014/main" xmlns="" id="{11641DD6-D057-42BC-FFAD-4879BF858AB1}"/>
                  </a:ext>
                </a:extLst>
              </p:cNvPr>
              <p:cNvSpPr>
                <a:spLocks noChangeShapeType="1"/>
              </p:cNvSpPr>
              <p:nvPr/>
            </p:nvSpPr>
            <p:spPr bwMode="auto">
              <a:xfrm>
                <a:off x="3600" y="3645"/>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51" name="Text Box 224">
                <a:extLst>
                  <a:ext uri="{FF2B5EF4-FFF2-40B4-BE49-F238E27FC236}">
                    <a16:creationId xmlns:a16="http://schemas.microsoft.com/office/drawing/2014/main" xmlns="" id="{91B6D5F7-FFB3-FC47-DF3F-C54A3C1EDF2C}"/>
                  </a:ext>
                </a:extLst>
              </p:cNvPr>
              <p:cNvSpPr txBox="1">
                <a:spLocks noChangeArrowheads="1"/>
              </p:cNvSpPr>
              <p:nvPr/>
            </p:nvSpPr>
            <p:spPr bwMode="auto">
              <a:xfrm>
                <a:off x="3542" y="3496"/>
                <a:ext cx="6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duplicate ACK</a:t>
                </a:r>
              </a:p>
            </p:txBody>
          </p:sp>
        </p:grpSp>
      </p:grpSp>
      <p:grpSp>
        <p:nvGrpSpPr>
          <p:cNvPr id="274678" name="Group 246">
            <a:extLst>
              <a:ext uri="{FF2B5EF4-FFF2-40B4-BE49-F238E27FC236}">
                <a16:creationId xmlns:a16="http://schemas.microsoft.com/office/drawing/2014/main" xmlns="" id="{D734FC93-6647-696F-64AD-441C12622238}"/>
              </a:ext>
            </a:extLst>
          </p:cNvPr>
          <p:cNvGrpSpPr>
            <a:grpSpLocks/>
          </p:cNvGrpSpPr>
          <p:nvPr/>
        </p:nvGrpSpPr>
        <p:grpSpPr bwMode="auto">
          <a:xfrm>
            <a:off x="1782367" y="2626519"/>
            <a:ext cx="2907507" cy="1471612"/>
            <a:chOff x="537" y="2129"/>
            <a:chExt cx="2442" cy="1236"/>
          </a:xfrm>
        </p:grpSpPr>
        <p:grpSp>
          <p:nvGrpSpPr>
            <p:cNvPr id="109636" name="Group 212">
              <a:extLst>
                <a:ext uri="{FF2B5EF4-FFF2-40B4-BE49-F238E27FC236}">
                  <a16:creationId xmlns:a16="http://schemas.microsoft.com/office/drawing/2014/main" xmlns="" id="{9BD569DB-E54C-24F7-5CBC-D9C2E40EE3F7}"/>
                </a:ext>
              </a:extLst>
            </p:cNvPr>
            <p:cNvGrpSpPr>
              <a:grpSpLocks/>
            </p:cNvGrpSpPr>
            <p:nvPr/>
          </p:nvGrpSpPr>
          <p:grpSpPr bwMode="auto">
            <a:xfrm>
              <a:off x="537" y="2818"/>
              <a:ext cx="1190" cy="547"/>
              <a:chOff x="396" y="2768"/>
              <a:chExt cx="1190" cy="547"/>
            </a:xfrm>
          </p:grpSpPr>
          <p:sp>
            <p:nvSpPr>
              <p:cNvPr id="109643" name="Text Box 213">
                <a:extLst>
                  <a:ext uri="{FF2B5EF4-FFF2-40B4-BE49-F238E27FC236}">
                    <a16:creationId xmlns:a16="http://schemas.microsoft.com/office/drawing/2014/main" xmlns="" id="{DE034EB5-A6A1-53AB-23C8-7E3E353FCA34}"/>
                  </a:ext>
                </a:extLst>
              </p:cNvPr>
              <p:cNvSpPr txBox="1">
                <a:spLocks noChangeArrowheads="1"/>
              </p:cNvSpPr>
              <p:nvPr/>
            </p:nvSpPr>
            <p:spPr bwMode="auto">
              <a:xfrm>
                <a:off x="396" y="2912"/>
                <a:ext cx="113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ssthresh= cwnd/2</a:t>
                </a:r>
              </a:p>
              <a:p>
                <a:pPr algn="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ssthresh + 3</a:t>
                </a:r>
              </a:p>
              <a:p>
                <a:pPr algn="r" defTabSz="685800" rtl="0" fontAlgn="base">
                  <a:lnSpc>
                    <a:spcPct val="80000"/>
                  </a:lnSpc>
                  <a:spcBef>
                    <a:spcPct val="0"/>
                  </a:spcBef>
                  <a:spcAft>
                    <a:spcPct val="0"/>
                  </a:spcAft>
                  <a:buClrTx/>
                  <a:buSzTx/>
                  <a:buNone/>
                </a:pPr>
                <a:r>
                  <a:rPr lang="en-US" altLang="en-US" sz="750" i="1" kern="1200">
                    <a:solidFill>
                      <a:srgbClr val="000099"/>
                    </a:solidFill>
                    <a:latin typeface="Arial" panose="020B0604020202020204" pitchFamily="34" charset="0"/>
                    <a:cs typeface="+mn-cs"/>
                  </a:rPr>
                  <a:t>retransmit missing segment</a:t>
                </a:r>
              </a:p>
              <a:p>
                <a:pPr algn="r" defTabSz="685800" rtl="0" fontAlgn="base">
                  <a:lnSpc>
                    <a:spcPct val="80000"/>
                  </a:lnSpc>
                  <a:spcBef>
                    <a:spcPct val="0"/>
                  </a:spcBef>
                  <a:spcAft>
                    <a:spcPct val="0"/>
                  </a:spcAft>
                  <a:buClrTx/>
                  <a:buSzTx/>
                  <a:buNone/>
                </a:pPr>
                <a:endParaRPr lang="en-US" altLang="en-US" sz="900" kern="1200">
                  <a:solidFill>
                    <a:srgbClr val="808080"/>
                  </a:solidFill>
                  <a:latin typeface="Arial" panose="020B0604020202020204" pitchFamily="34" charset="0"/>
                  <a:cs typeface="+mn-cs"/>
                </a:endParaRPr>
              </a:p>
            </p:txBody>
          </p:sp>
          <p:sp>
            <p:nvSpPr>
              <p:cNvPr id="109644" name="Line 214">
                <a:extLst>
                  <a:ext uri="{FF2B5EF4-FFF2-40B4-BE49-F238E27FC236}">
                    <a16:creationId xmlns:a16="http://schemas.microsoft.com/office/drawing/2014/main" xmlns="" id="{587BCED1-9F24-BDF4-7BF1-69B14852E739}"/>
                  </a:ext>
                </a:extLst>
              </p:cNvPr>
              <p:cNvSpPr>
                <a:spLocks noChangeShapeType="1"/>
              </p:cNvSpPr>
              <p:nvPr/>
            </p:nvSpPr>
            <p:spPr bwMode="auto">
              <a:xfrm>
                <a:off x="925" y="2913"/>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45" name="Text Box 215">
                <a:extLst>
                  <a:ext uri="{FF2B5EF4-FFF2-40B4-BE49-F238E27FC236}">
                    <a16:creationId xmlns:a16="http://schemas.microsoft.com/office/drawing/2014/main" xmlns="" id="{A3E119A5-1D3B-8177-5E6F-1E936C065022}"/>
                  </a:ext>
                </a:extLst>
              </p:cNvPr>
              <p:cNvSpPr txBox="1">
                <a:spLocks noChangeArrowheads="1"/>
              </p:cNvSpPr>
              <p:nvPr/>
            </p:nvSpPr>
            <p:spPr bwMode="auto">
              <a:xfrm>
                <a:off x="751" y="2768"/>
                <a:ext cx="83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3</a:t>
                </a:r>
              </a:p>
            </p:txBody>
          </p:sp>
        </p:grpSp>
        <p:grpSp>
          <p:nvGrpSpPr>
            <p:cNvPr id="109637" name="Group 216">
              <a:extLst>
                <a:ext uri="{FF2B5EF4-FFF2-40B4-BE49-F238E27FC236}">
                  <a16:creationId xmlns:a16="http://schemas.microsoft.com/office/drawing/2014/main" xmlns="" id="{8D145B9D-F7EF-8ADF-6E49-F6A3F702F999}"/>
                </a:ext>
              </a:extLst>
            </p:cNvPr>
            <p:cNvGrpSpPr>
              <a:grpSpLocks/>
            </p:cNvGrpSpPr>
            <p:nvPr/>
          </p:nvGrpSpPr>
          <p:grpSpPr bwMode="auto">
            <a:xfrm>
              <a:off x="1813" y="2454"/>
              <a:ext cx="1166" cy="541"/>
              <a:chOff x="419" y="2872"/>
              <a:chExt cx="1166" cy="541"/>
            </a:xfrm>
          </p:grpSpPr>
          <p:sp>
            <p:nvSpPr>
              <p:cNvPr id="109640" name="Text Box 217">
                <a:extLst>
                  <a:ext uri="{FF2B5EF4-FFF2-40B4-BE49-F238E27FC236}">
                    <a16:creationId xmlns:a16="http://schemas.microsoft.com/office/drawing/2014/main" xmlns="" id="{8AE77C6C-60A6-5F82-7C83-69F1B75507AF}"/>
                  </a:ext>
                </a:extLst>
              </p:cNvPr>
              <p:cNvSpPr txBox="1">
                <a:spLocks noChangeArrowheads="1"/>
              </p:cNvSpPr>
              <p:nvPr/>
            </p:nvSpPr>
            <p:spPr bwMode="auto">
              <a:xfrm>
                <a:off x="439" y="2872"/>
                <a:ext cx="41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timeout</a:t>
                </a:r>
              </a:p>
            </p:txBody>
          </p:sp>
          <p:sp>
            <p:nvSpPr>
              <p:cNvPr id="109641" name="Text Box 218">
                <a:extLst>
                  <a:ext uri="{FF2B5EF4-FFF2-40B4-BE49-F238E27FC236}">
                    <a16:creationId xmlns:a16="http://schemas.microsoft.com/office/drawing/2014/main" xmlns="" id="{32C98D02-9613-182F-C596-0C0BB9E44D0F}"/>
                  </a:ext>
                </a:extLst>
              </p:cNvPr>
              <p:cNvSpPr txBox="1">
                <a:spLocks noChangeArrowheads="1"/>
              </p:cNvSpPr>
              <p:nvPr/>
            </p:nvSpPr>
            <p:spPr bwMode="auto">
              <a:xfrm>
                <a:off x="419" y="2989"/>
                <a:ext cx="1166"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ssthresh = cwnd/2</a:t>
                </a:r>
              </a:p>
              <a:p>
                <a:pPr algn="l"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cwnd = 1 </a:t>
                </a:r>
              </a:p>
              <a:p>
                <a:pPr algn="l" defTabSz="685800" rtl="0" fontAlgn="base">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l" defTabSz="685800" rtl="0" fontAlgn="base">
                  <a:spcBef>
                    <a:spcPct val="0"/>
                  </a:spcBef>
                  <a:spcAft>
                    <a:spcPct val="0"/>
                  </a:spcAft>
                  <a:buClrTx/>
                  <a:buSzTx/>
                  <a:buNone/>
                </a:pPr>
                <a:r>
                  <a:rPr lang="en-US" altLang="en-US" sz="750" i="1" kern="1200">
                    <a:solidFill>
                      <a:srgbClr val="000099"/>
                    </a:solidFill>
                    <a:latin typeface="Arial" panose="020B0604020202020204" pitchFamily="34" charset="0"/>
                    <a:cs typeface="+mn-cs"/>
                  </a:rPr>
                  <a:t>retransmit missing segment</a:t>
                </a:r>
                <a:r>
                  <a:rPr lang="en-US" altLang="en-US" sz="900" kern="1200">
                    <a:solidFill>
                      <a:srgbClr val="000000"/>
                    </a:solidFill>
                    <a:latin typeface="Arial" panose="020B0604020202020204" pitchFamily="34" charset="0"/>
                    <a:cs typeface="+mn-cs"/>
                  </a:rPr>
                  <a:t> </a:t>
                </a:r>
              </a:p>
            </p:txBody>
          </p:sp>
          <p:sp>
            <p:nvSpPr>
              <p:cNvPr id="109642" name="Line 219">
                <a:extLst>
                  <a:ext uri="{FF2B5EF4-FFF2-40B4-BE49-F238E27FC236}">
                    <a16:creationId xmlns:a16="http://schemas.microsoft.com/office/drawing/2014/main" xmlns="" id="{EC8E33DD-12E3-7C02-45DD-50205D88D570}"/>
                  </a:ext>
                </a:extLst>
              </p:cNvPr>
              <p:cNvSpPr>
                <a:spLocks noChangeShapeType="1"/>
              </p:cNvSpPr>
              <p:nvPr/>
            </p:nvSpPr>
            <p:spPr bwMode="auto">
              <a:xfrm>
                <a:off x="471" y="3014"/>
                <a:ext cx="69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09638" name="Freeform 225">
              <a:extLst>
                <a:ext uri="{FF2B5EF4-FFF2-40B4-BE49-F238E27FC236}">
                  <a16:creationId xmlns:a16="http://schemas.microsoft.com/office/drawing/2014/main" xmlns="" id="{46A8CFC9-4962-3278-0937-BF475B589097}"/>
                </a:ext>
              </a:extLst>
            </p:cNvPr>
            <p:cNvSpPr>
              <a:spLocks/>
            </p:cNvSpPr>
            <p:nvPr/>
          </p:nvSpPr>
          <p:spPr bwMode="auto">
            <a:xfrm>
              <a:off x="1722" y="2129"/>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39" name="Freeform 226">
              <a:extLst>
                <a:ext uri="{FF2B5EF4-FFF2-40B4-BE49-F238E27FC236}">
                  <a16:creationId xmlns:a16="http://schemas.microsoft.com/office/drawing/2014/main" xmlns="" id="{CEC77790-86FB-8DE0-91CC-BBF164B6129B}"/>
                </a:ext>
              </a:extLst>
            </p:cNvPr>
            <p:cNvSpPr>
              <a:spLocks/>
            </p:cNvSpPr>
            <p:nvPr/>
          </p:nvSpPr>
          <p:spPr bwMode="auto">
            <a:xfrm>
              <a:off x="1791" y="2146"/>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274676" name="Group 244">
            <a:extLst>
              <a:ext uri="{FF2B5EF4-FFF2-40B4-BE49-F238E27FC236}">
                <a16:creationId xmlns:a16="http://schemas.microsoft.com/office/drawing/2014/main" xmlns="" id="{F97E876E-BF33-1222-33C9-015B4EC93C38}"/>
              </a:ext>
            </a:extLst>
          </p:cNvPr>
          <p:cNvGrpSpPr>
            <a:grpSpLocks/>
          </p:cNvGrpSpPr>
          <p:nvPr/>
        </p:nvGrpSpPr>
        <p:grpSpPr bwMode="auto">
          <a:xfrm>
            <a:off x="5156599" y="2620567"/>
            <a:ext cx="2247900" cy="1463278"/>
            <a:chOff x="3371" y="2124"/>
            <a:chExt cx="1888" cy="1229"/>
          </a:xfrm>
        </p:grpSpPr>
        <p:grpSp>
          <p:nvGrpSpPr>
            <p:cNvPr id="109631" name="Group 201">
              <a:extLst>
                <a:ext uri="{FF2B5EF4-FFF2-40B4-BE49-F238E27FC236}">
                  <a16:creationId xmlns:a16="http://schemas.microsoft.com/office/drawing/2014/main" xmlns="" id="{2330A8C9-C544-2FED-C268-EFB7CA9D779E}"/>
                </a:ext>
              </a:extLst>
            </p:cNvPr>
            <p:cNvGrpSpPr>
              <a:grpSpLocks/>
            </p:cNvGrpSpPr>
            <p:nvPr/>
          </p:nvGrpSpPr>
          <p:grpSpPr bwMode="auto">
            <a:xfrm>
              <a:off x="4120" y="2796"/>
              <a:ext cx="1139" cy="557"/>
              <a:chOff x="4142" y="2802"/>
              <a:chExt cx="1139" cy="557"/>
            </a:xfrm>
          </p:grpSpPr>
          <p:sp>
            <p:nvSpPr>
              <p:cNvPr id="109633" name="Text Box 202">
                <a:extLst>
                  <a:ext uri="{FF2B5EF4-FFF2-40B4-BE49-F238E27FC236}">
                    <a16:creationId xmlns:a16="http://schemas.microsoft.com/office/drawing/2014/main" xmlns="" id="{B17DC53A-7AB7-7504-AA51-046EBC2D6085}"/>
                  </a:ext>
                </a:extLst>
              </p:cNvPr>
              <p:cNvSpPr txBox="1">
                <a:spLocks noChangeArrowheads="1"/>
              </p:cNvSpPr>
              <p:nvPr/>
            </p:nvSpPr>
            <p:spPr bwMode="auto">
              <a:xfrm>
                <a:off x="4142" y="2956"/>
                <a:ext cx="113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ssthresh= cwnd/2</a:t>
                </a:r>
              </a:p>
              <a:p>
                <a:pPr algn="l"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ssthresh + 3</a:t>
                </a:r>
              </a:p>
              <a:p>
                <a:pPr algn="l" defTabSz="685800" rtl="0" fontAlgn="base">
                  <a:lnSpc>
                    <a:spcPct val="80000"/>
                  </a:lnSpc>
                  <a:spcBef>
                    <a:spcPct val="0"/>
                  </a:spcBef>
                  <a:spcAft>
                    <a:spcPct val="0"/>
                  </a:spcAft>
                  <a:buClrTx/>
                  <a:buSzTx/>
                  <a:buNone/>
                </a:pPr>
                <a:r>
                  <a:rPr lang="en-US" altLang="en-US" sz="750" i="1" kern="1200">
                    <a:solidFill>
                      <a:srgbClr val="000099"/>
                    </a:solidFill>
                    <a:latin typeface="Arial" panose="020B0604020202020204" pitchFamily="34" charset="0"/>
                    <a:cs typeface="+mn-cs"/>
                  </a:rPr>
                  <a:t>retransmit missing segment</a:t>
                </a:r>
              </a:p>
              <a:p>
                <a:pPr algn="l" defTabSz="685800" rtl="0" fontAlgn="base">
                  <a:lnSpc>
                    <a:spcPct val="80000"/>
                  </a:lnSpc>
                  <a:spcBef>
                    <a:spcPct val="0"/>
                  </a:spcBef>
                  <a:spcAft>
                    <a:spcPct val="0"/>
                  </a:spcAft>
                  <a:buClrTx/>
                  <a:buSzTx/>
                  <a:buNone/>
                </a:pPr>
                <a:endParaRPr lang="en-US" altLang="en-US" sz="900" i="1" kern="1200">
                  <a:solidFill>
                    <a:srgbClr val="000000"/>
                  </a:solidFill>
                  <a:latin typeface="Arial" panose="020B0604020202020204" pitchFamily="34" charset="0"/>
                  <a:cs typeface="+mn-cs"/>
                </a:endParaRPr>
              </a:p>
            </p:txBody>
          </p:sp>
          <p:sp>
            <p:nvSpPr>
              <p:cNvPr id="109634" name="Line 203">
                <a:extLst>
                  <a:ext uri="{FF2B5EF4-FFF2-40B4-BE49-F238E27FC236}">
                    <a16:creationId xmlns:a16="http://schemas.microsoft.com/office/drawing/2014/main" xmlns="" id="{668EBFB2-8432-F806-360B-A0E8C69B74DC}"/>
                  </a:ext>
                </a:extLst>
              </p:cNvPr>
              <p:cNvSpPr>
                <a:spLocks noChangeShapeType="1"/>
              </p:cNvSpPr>
              <p:nvPr/>
            </p:nvSpPr>
            <p:spPr bwMode="auto">
              <a:xfrm>
                <a:off x="4211" y="2950"/>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35" name="Text Box 204">
                <a:extLst>
                  <a:ext uri="{FF2B5EF4-FFF2-40B4-BE49-F238E27FC236}">
                    <a16:creationId xmlns:a16="http://schemas.microsoft.com/office/drawing/2014/main" xmlns="" id="{B00F3106-E8E6-C92A-8CDB-5E9A9F0F6B27}"/>
                  </a:ext>
                </a:extLst>
              </p:cNvPr>
              <p:cNvSpPr txBox="1">
                <a:spLocks noChangeArrowheads="1"/>
              </p:cNvSpPr>
              <p:nvPr/>
            </p:nvSpPr>
            <p:spPr bwMode="auto">
              <a:xfrm>
                <a:off x="4154" y="2802"/>
                <a:ext cx="83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3</a:t>
                </a:r>
              </a:p>
            </p:txBody>
          </p:sp>
        </p:grpSp>
        <p:sp>
          <p:nvSpPr>
            <p:cNvPr id="109632" name="Freeform 227">
              <a:extLst>
                <a:ext uri="{FF2B5EF4-FFF2-40B4-BE49-F238E27FC236}">
                  <a16:creationId xmlns:a16="http://schemas.microsoft.com/office/drawing/2014/main" xmlns="" id="{4F79EE87-624D-4D01-E36F-5CCDDA54AA02}"/>
                </a:ext>
              </a:extLst>
            </p:cNvPr>
            <p:cNvSpPr>
              <a:spLocks/>
            </p:cNvSpPr>
            <p:nvPr/>
          </p:nvSpPr>
          <p:spPr bwMode="auto">
            <a:xfrm flipH="1">
              <a:off x="3371" y="2124"/>
              <a:ext cx="740" cy="1146"/>
            </a:xfrm>
            <a:custGeom>
              <a:avLst/>
              <a:gdLst>
                <a:gd name="T0" fmla="*/ 0 w 740"/>
                <a:gd name="T1" fmla="*/ 0 h 1146"/>
                <a:gd name="T2" fmla="*/ 0 w 740"/>
                <a:gd name="T3" fmla="*/ 1146 h 1146"/>
                <a:gd name="T4" fmla="*/ 740 w 740"/>
                <a:gd name="T5" fmla="*/ 1146 h 1146"/>
                <a:gd name="T6" fmla="*/ 0 60000 65536"/>
                <a:gd name="T7" fmla="*/ 0 60000 65536"/>
                <a:gd name="T8" fmla="*/ 0 60000 65536"/>
              </a:gdLst>
              <a:ahLst/>
              <a:cxnLst>
                <a:cxn ang="T6">
                  <a:pos x="T0" y="T1"/>
                </a:cxn>
                <a:cxn ang="T7">
                  <a:pos x="T2" y="T3"/>
                </a:cxn>
                <a:cxn ang="T8">
                  <a:pos x="T4" y="T5"/>
                </a:cxn>
              </a:cxnLst>
              <a:rect l="0" t="0" r="r" b="b"/>
              <a:pathLst>
                <a:path w="740" h="1146">
                  <a:moveTo>
                    <a:pt x="0" y="0"/>
                  </a:moveTo>
                  <a:lnTo>
                    <a:pt x="0" y="1146"/>
                  </a:lnTo>
                  <a:lnTo>
                    <a:pt x="740" y="1146"/>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274675" name="Group 243">
            <a:extLst>
              <a:ext uri="{FF2B5EF4-FFF2-40B4-BE49-F238E27FC236}">
                <a16:creationId xmlns:a16="http://schemas.microsoft.com/office/drawing/2014/main" xmlns="" id="{89ED9267-1509-DD06-7229-C2656AB96302}"/>
              </a:ext>
            </a:extLst>
          </p:cNvPr>
          <p:cNvGrpSpPr>
            <a:grpSpLocks/>
          </p:cNvGrpSpPr>
          <p:nvPr/>
        </p:nvGrpSpPr>
        <p:grpSpPr bwMode="auto">
          <a:xfrm>
            <a:off x="4976813" y="2639616"/>
            <a:ext cx="960835" cy="1257300"/>
            <a:chOff x="3220" y="2140"/>
            <a:chExt cx="807" cy="1056"/>
          </a:xfrm>
        </p:grpSpPr>
        <p:sp>
          <p:nvSpPr>
            <p:cNvPr id="109625" name="Freeform 228">
              <a:extLst>
                <a:ext uri="{FF2B5EF4-FFF2-40B4-BE49-F238E27FC236}">
                  <a16:creationId xmlns:a16="http://schemas.microsoft.com/office/drawing/2014/main" xmlns="" id="{43CD7C45-E3D8-BA0B-6A94-119E21952188}"/>
                </a:ext>
              </a:extLst>
            </p:cNvPr>
            <p:cNvSpPr>
              <a:spLocks/>
            </p:cNvSpPr>
            <p:nvPr/>
          </p:nvSpPr>
          <p:spPr bwMode="auto">
            <a:xfrm flipH="1">
              <a:off x="3327" y="2140"/>
              <a:ext cx="700" cy="1051"/>
            </a:xfrm>
            <a:custGeom>
              <a:avLst/>
              <a:gdLst>
                <a:gd name="T0" fmla="*/ 700 w 700"/>
                <a:gd name="T1" fmla="*/ 1051 h 1051"/>
                <a:gd name="T2" fmla="*/ 0 w 700"/>
                <a:gd name="T3" fmla="*/ 1051 h 1051"/>
                <a:gd name="T4" fmla="*/ 0 w 700"/>
                <a:gd name="T5" fmla="*/ 0 h 1051"/>
                <a:gd name="T6" fmla="*/ 0 60000 65536"/>
                <a:gd name="T7" fmla="*/ 0 60000 65536"/>
                <a:gd name="T8" fmla="*/ 0 60000 65536"/>
              </a:gdLst>
              <a:ahLst/>
              <a:cxnLst>
                <a:cxn ang="T6">
                  <a:pos x="T0" y="T1"/>
                </a:cxn>
                <a:cxn ang="T7">
                  <a:pos x="T2" y="T3"/>
                </a:cxn>
                <a:cxn ang="T8">
                  <a:pos x="T4" y="T5"/>
                </a:cxn>
              </a:cxnLst>
              <a:rect l="0" t="0" r="r" b="b"/>
              <a:pathLst>
                <a:path w="700" h="1051">
                  <a:moveTo>
                    <a:pt x="700" y="1051"/>
                  </a:moveTo>
                  <a:lnTo>
                    <a:pt x="0" y="1051"/>
                  </a:lnTo>
                  <a:lnTo>
                    <a:pt x="0" y="0"/>
                  </a:ln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26" name="Group 229">
              <a:extLst>
                <a:ext uri="{FF2B5EF4-FFF2-40B4-BE49-F238E27FC236}">
                  <a16:creationId xmlns:a16="http://schemas.microsoft.com/office/drawing/2014/main" xmlns="" id="{54EDF63F-F859-358F-907A-96FD23F7EF04}"/>
                </a:ext>
              </a:extLst>
            </p:cNvPr>
            <p:cNvGrpSpPr>
              <a:grpSpLocks/>
            </p:cNvGrpSpPr>
            <p:nvPr/>
          </p:nvGrpSpPr>
          <p:grpSpPr bwMode="auto">
            <a:xfrm>
              <a:off x="3220" y="2649"/>
              <a:ext cx="788" cy="547"/>
              <a:chOff x="1012" y="3496"/>
              <a:chExt cx="788" cy="547"/>
            </a:xfrm>
          </p:grpSpPr>
          <p:sp>
            <p:nvSpPr>
              <p:cNvPr id="109627" name="Text Box 230">
                <a:extLst>
                  <a:ext uri="{FF2B5EF4-FFF2-40B4-BE49-F238E27FC236}">
                    <a16:creationId xmlns:a16="http://schemas.microsoft.com/office/drawing/2014/main" xmlns="" id="{CC2F685A-DF93-6B8E-7778-90185FE7C37A}"/>
                  </a:ext>
                </a:extLst>
              </p:cNvPr>
              <p:cNvSpPr txBox="1">
                <a:spLocks noChangeArrowheads="1"/>
              </p:cNvSpPr>
              <p:nvPr/>
            </p:nvSpPr>
            <p:spPr bwMode="auto">
              <a:xfrm>
                <a:off x="1012" y="3640"/>
                <a:ext cx="7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ssthresh</a:t>
                </a:r>
              </a:p>
              <a:p>
                <a:pPr algn="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r" defTabSz="685800" rtl="0" fontAlgn="base">
                  <a:lnSpc>
                    <a:spcPct val="80000"/>
                  </a:lnSpc>
                  <a:spcBef>
                    <a:spcPct val="0"/>
                  </a:spcBef>
                  <a:spcAft>
                    <a:spcPct val="0"/>
                  </a:spcAft>
                  <a:buClrTx/>
                  <a:buSzTx/>
                  <a:buNone/>
                </a:pPr>
                <a:endParaRPr lang="en-US" altLang="en-US" sz="750" kern="1200">
                  <a:solidFill>
                    <a:srgbClr val="000000"/>
                  </a:solidFill>
                  <a:latin typeface="Arial" panose="020B0604020202020204" pitchFamily="34" charset="0"/>
                  <a:cs typeface="+mn-cs"/>
                </a:endParaRPr>
              </a:p>
              <a:p>
                <a:pPr algn="r" defTabSz="685800" rtl="0" fontAlgn="base">
                  <a:lnSpc>
                    <a:spcPct val="80000"/>
                  </a:lnSpc>
                  <a:spcBef>
                    <a:spcPct val="0"/>
                  </a:spcBef>
                  <a:spcAft>
                    <a:spcPct val="0"/>
                  </a:spcAft>
                  <a:buClrTx/>
                  <a:buSzTx/>
                  <a:buNone/>
                </a:pPr>
                <a:endParaRPr lang="en-US" altLang="en-US" sz="900" kern="1200">
                  <a:solidFill>
                    <a:srgbClr val="000000"/>
                  </a:solidFill>
                  <a:latin typeface="Arial" panose="020B0604020202020204" pitchFamily="34" charset="0"/>
                  <a:cs typeface="+mn-cs"/>
                </a:endParaRPr>
              </a:p>
            </p:txBody>
          </p:sp>
          <p:grpSp>
            <p:nvGrpSpPr>
              <p:cNvPr id="109628" name="Group 231">
                <a:extLst>
                  <a:ext uri="{FF2B5EF4-FFF2-40B4-BE49-F238E27FC236}">
                    <a16:creationId xmlns:a16="http://schemas.microsoft.com/office/drawing/2014/main" xmlns="" id="{F38C056A-0135-C652-B579-2BC0AF66383C}"/>
                  </a:ext>
                </a:extLst>
              </p:cNvPr>
              <p:cNvGrpSpPr>
                <a:grpSpLocks/>
              </p:cNvGrpSpPr>
              <p:nvPr/>
            </p:nvGrpSpPr>
            <p:grpSpPr bwMode="auto">
              <a:xfrm>
                <a:off x="1190" y="3496"/>
                <a:ext cx="582" cy="174"/>
                <a:chOff x="1190" y="3496"/>
                <a:chExt cx="582" cy="174"/>
              </a:xfrm>
            </p:grpSpPr>
            <p:sp>
              <p:nvSpPr>
                <p:cNvPr id="109629" name="Line 232">
                  <a:extLst>
                    <a:ext uri="{FF2B5EF4-FFF2-40B4-BE49-F238E27FC236}">
                      <a16:creationId xmlns:a16="http://schemas.microsoft.com/office/drawing/2014/main" xmlns="" id="{77F08B58-EC0F-C299-0E7A-C2C6578BB3C2}"/>
                    </a:ext>
                  </a:extLst>
                </p:cNvPr>
                <p:cNvSpPr>
                  <a:spLocks noChangeShapeType="1"/>
                </p:cNvSpPr>
                <p:nvPr/>
              </p:nvSpPr>
              <p:spPr bwMode="auto">
                <a:xfrm>
                  <a:off x="1190" y="3641"/>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30" name="Text Box 233">
                  <a:extLst>
                    <a:ext uri="{FF2B5EF4-FFF2-40B4-BE49-F238E27FC236}">
                      <a16:creationId xmlns:a16="http://schemas.microsoft.com/office/drawing/2014/main" xmlns="" id="{5FD50F2C-D532-E286-EAB7-082115743CDA}"/>
                    </a:ext>
                  </a:extLst>
                </p:cNvPr>
                <p:cNvSpPr txBox="1">
                  <a:spLocks noChangeArrowheads="1"/>
                </p:cNvSpPr>
                <p:nvPr/>
              </p:nvSpPr>
              <p:spPr bwMode="auto">
                <a:xfrm>
                  <a:off x="1268" y="3496"/>
                  <a:ext cx="50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r"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New ACK</a:t>
                  </a:r>
                </a:p>
              </p:txBody>
            </p:sp>
          </p:grpSp>
        </p:grpSp>
      </p:grpSp>
      <p:grpSp>
        <p:nvGrpSpPr>
          <p:cNvPr id="274673" name="Group 241">
            <a:extLst>
              <a:ext uri="{FF2B5EF4-FFF2-40B4-BE49-F238E27FC236}">
                <a16:creationId xmlns:a16="http://schemas.microsoft.com/office/drawing/2014/main" xmlns="" id="{506413BB-514F-D692-F727-2C65A248C403}"/>
              </a:ext>
            </a:extLst>
          </p:cNvPr>
          <p:cNvGrpSpPr>
            <a:grpSpLocks/>
          </p:cNvGrpSpPr>
          <p:nvPr/>
        </p:nvGrpSpPr>
        <p:grpSpPr bwMode="auto">
          <a:xfrm>
            <a:off x="1731170" y="1114425"/>
            <a:ext cx="3738564" cy="2020491"/>
            <a:chOff x="494" y="859"/>
            <a:chExt cx="3140" cy="1697"/>
          </a:xfrm>
        </p:grpSpPr>
        <p:grpSp>
          <p:nvGrpSpPr>
            <p:cNvPr id="109602" name="Group 161">
              <a:extLst>
                <a:ext uri="{FF2B5EF4-FFF2-40B4-BE49-F238E27FC236}">
                  <a16:creationId xmlns:a16="http://schemas.microsoft.com/office/drawing/2014/main" xmlns="" id="{0DADA729-B4A0-A68B-FCEE-870DA99933AD}"/>
                </a:ext>
              </a:extLst>
            </p:cNvPr>
            <p:cNvGrpSpPr>
              <a:grpSpLocks/>
            </p:cNvGrpSpPr>
            <p:nvPr/>
          </p:nvGrpSpPr>
          <p:grpSpPr bwMode="auto">
            <a:xfrm>
              <a:off x="1329" y="1320"/>
              <a:ext cx="800" cy="754"/>
              <a:chOff x="996" y="1773"/>
              <a:chExt cx="800" cy="754"/>
            </a:xfrm>
          </p:grpSpPr>
          <p:sp>
            <p:nvSpPr>
              <p:cNvPr id="109623" name="Oval 162">
                <a:extLst>
                  <a:ext uri="{FF2B5EF4-FFF2-40B4-BE49-F238E27FC236}">
                    <a16:creationId xmlns:a16="http://schemas.microsoft.com/office/drawing/2014/main" xmlns="" id="{AEC3F243-D7A7-067C-A3A2-42E0AA3BF40C}"/>
                  </a:ext>
                </a:extLst>
              </p:cNvPr>
              <p:cNvSpPr>
                <a:spLocks noChangeArrowheads="1"/>
              </p:cNvSpPr>
              <p:nvPr/>
            </p:nvSpPr>
            <p:spPr bwMode="auto">
              <a:xfrm>
                <a:off x="996" y="1773"/>
                <a:ext cx="800" cy="754"/>
              </a:xfrm>
              <a:prstGeom prst="ellipse">
                <a:avLst/>
              </a:prstGeom>
              <a:solidFill>
                <a:schemeClr val="accent1"/>
              </a:solidFill>
              <a:ln w="9525">
                <a:solidFill>
                  <a:schemeClr val="tx1"/>
                </a:solidFill>
                <a:round/>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09624" name="Text Box 163">
                <a:extLst>
                  <a:ext uri="{FF2B5EF4-FFF2-40B4-BE49-F238E27FC236}">
                    <a16:creationId xmlns:a16="http://schemas.microsoft.com/office/drawing/2014/main" xmlns="" id="{63AEB7B6-CE18-E575-4969-74AA650DFA20}"/>
                  </a:ext>
                </a:extLst>
              </p:cNvPr>
              <p:cNvSpPr txBox="1">
                <a:spLocks noChangeArrowheads="1"/>
              </p:cNvSpPr>
              <p:nvPr/>
            </p:nvSpPr>
            <p:spPr bwMode="auto">
              <a:xfrm>
                <a:off x="1158" y="1946"/>
                <a:ext cx="486"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slow </a:t>
                </a:r>
              </a:p>
              <a:p>
                <a:pPr algn="ctr" defTabSz="685800" rtl="0" fontAlgn="base">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start</a:t>
                </a:r>
              </a:p>
            </p:txBody>
          </p:sp>
        </p:grpSp>
        <p:grpSp>
          <p:nvGrpSpPr>
            <p:cNvPr id="109603" name="Group 177">
              <a:extLst>
                <a:ext uri="{FF2B5EF4-FFF2-40B4-BE49-F238E27FC236}">
                  <a16:creationId xmlns:a16="http://schemas.microsoft.com/office/drawing/2014/main" xmlns="" id="{938F7A52-1B3D-89B3-A437-DBA50FA135C7}"/>
                </a:ext>
              </a:extLst>
            </p:cNvPr>
            <p:cNvGrpSpPr>
              <a:grpSpLocks/>
            </p:cNvGrpSpPr>
            <p:nvPr/>
          </p:nvGrpSpPr>
          <p:grpSpPr bwMode="auto">
            <a:xfrm>
              <a:off x="506" y="2026"/>
              <a:ext cx="1166" cy="530"/>
              <a:chOff x="394" y="2713"/>
              <a:chExt cx="1166" cy="530"/>
            </a:xfrm>
          </p:grpSpPr>
          <p:sp>
            <p:nvSpPr>
              <p:cNvPr id="109620" name="Text Box 178">
                <a:extLst>
                  <a:ext uri="{FF2B5EF4-FFF2-40B4-BE49-F238E27FC236}">
                    <a16:creationId xmlns:a16="http://schemas.microsoft.com/office/drawing/2014/main" xmlns="" id="{FA093FB8-A13A-B929-1432-4D5EF4B894B2}"/>
                  </a:ext>
                </a:extLst>
              </p:cNvPr>
              <p:cNvSpPr txBox="1">
                <a:spLocks noChangeArrowheads="1"/>
              </p:cNvSpPr>
              <p:nvPr/>
            </p:nvSpPr>
            <p:spPr bwMode="auto">
              <a:xfrm>
                <a:off x="777" y="2713"/>
                <a:ext cx="41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timeout</a:t>
                </a:r>
              </a:p>
            </p:txBody>
          </p:sp>
          <p:sp>
            <p:nvSpPr>
              <p:cNvPr id="109621" name="Text Box 179">
                <a:extLst>
                  <a:ext uri="{FF2B5EF4-FFF2-40B4-BE49-F238E27FC236}">
                    <a16:creationId xmlns:a16="http://schemas.microsoft.com/office/drawing/2014/main" xmlns="" id="{1686BC29-9814-9A26-E7F7-469EE4643B6C}"/>
                  </a:ext>
                </a:extLst>
              </p:cNvPr>
              <p:cNvSpPr txBox="1">
                <a:spLocks noChangeArrowheads="1"/>
              </p:cNvSpPr>
              <p:nvPr/>
            </p:nvSpPr>
            <p:spPr bwMode="auto">
              <a:xfrm>
                <a:off x="394" y="2840"/>
                <a:ext cx="116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ssthresh = cwnd/2 </a:t>
                </a:r>
              </a:p>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1 MSS</a:t>
                </a:r>
              </a:p>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ctr" defTabSz="685800" rtl="0" fontAlgn="base">
                  <a:lnSpc>
                    <a:spcPct val="80000"/>
                  </a:lnSpc>
                  <a:spcBef>
                    <a:spcPct val="0"/>
                  </a:spcBef>
                  <a:spcAft>
                    <a:spcPct val="0"/>
                  </a:spcAft>
                  <a:buClrTx/>
                  <a:buSzTx/>
                  <a:buNone/>
                </a:pPr>
                <a:r>
                  <a:rPr lang="en-US" altLang="en-US" sz="750" i="1" kern="1200">
                    <a:solidFill>
                      <a:srgbClr val="000099"/>
                    </a:solidFill>
                    <a:latin typeface="Arial" panose="020B0604020202020204" pitchFamily="34" charset="0"/>
                    <a:cs typeface="+mn-cs"/>
                  </a:rPr>
                  <a:t>retransmit missing segment</a:t>
                </a:r>
                <a:r>
                  <a:rPr lang="en-US" altLang="en-US" sz="900" kern="1200">
                    <a:solidFill>
                      <a:srgbClr val="000000"/>
                    </a:solidFill>
                    <a:latin typeface="Arial" panose="020B0604020202020204" pitchFamily="34" charset="0"/>
                    <a:cs typeface="+mn-cs"/>
                  </a:rPr>
                  <a:t> </a:t>
                </a:r>
              </a:p>
            </p:txBody>
          </p:sp>
          <p:sp>
            <p:nvSpPr>
              <p:cNvPr id="109622" name="Line 180">
                <a:extLst>
                  <a:ext uri="{FF2B5EF4-FFF2-40B4-BE49-F238E27FC236}">
                    <a16:creationId xmlns:a16="http://schemas.microsoft.com/office/drawing/2014/main" xmlns="" id="{3944F06B-9FEF-DD7F-3BD8-1C908FE0A1BE}"/>
                  </a:ext>
                </a:extLst>
              </p:cNvPr>
              <p:cNvSpPr>
                <a:spLocks noChangeShapeType="1"/>
              </p:cNvSpPr>
              <p:nvPr/>
            </p:nvSpPr>
            <p:spPr bwMode="auto">
              <a:xfrm>
                <a:off x="709" y="2855"/>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09604" name="Group 186">
              <a:extLst>
                <a:ext uri="{FF2B5EF4-FFF2-40B4-BE49-F238E27FC236}">
                  <a16:creationId xmlns:a16="http://schemas.microsoft.com/office/drawing/2014/main" xmlns="" id="{975FBE6B-3B7A-A117-F3EC-2012907D4B01}"/>
                </a:ext>
              </a:extLst>
            </p:cNvPr>
            <p:cNvGrpSpPr>
              <a:grpSpLocks/>
            </p:cNvGrpSpPr>
            <p:nvPr/>
          </p:nvGrpSpPr>
          <p:grpSpPr bwMode="auto">
            <a:xfrm>
              <a:off x="2173" y="960"/>
              <a:ext cx="1461" cy="551"/>
              <a:chOff x="2683" y="798"/>
              <a:chExt cx="1461" cy="551"/>
            </a:xfrm>
          </p:grpSpPr>
          <p:sp>
            <p:nvSpPr>
              <p:cNvPr id="109617" name="Text Box 187">
                <a:extLst>
                  <a:ext uri="{FF2B5EF4-FFF2-40B4-BE49-F238E27FC236}">
                    <a16:creationId xmlns:a16="http://schemas.microsoft.com/office/drawing/2014/main" xmlns="" id="{BFF6EDDB-0A6A-91EF-78A1-5DA73906A68A}"/>
                  </a:ext>
                </a:extLst>
              </p:cNvPr>
              <p:cNvSpPr txBox="1">
                <a:spLocks noChangeArrowheads="1"/>
              </p:cNvSpPr>
              <p:nvPr/>
            </p:nvSpPr>
            <p:spPr bwMode="auto">
              <a:xfrm>
                <a:off x="2683" y="917"/>
                <a:ext cx="146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9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cwnd+MSS</a:t>
                </a:r>
              </a:p>
              <a:p>
                <a:pPr algn="l" defTabSz="685800" rtl="0" fontAlgn="base">
                  <a:lnSpc>
                    <a:spcPct val="9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p>
              <a:p>
                <a:pPr algn="l" defTabSz="685800" rtl="0" fontAlgn="base">
                  <a:lnSpc>
                    <a:spcPct val="90000"/>
                  </a:lnSpc>
                  <a:spcBef>
                    <a:spcPct val="0"/>
                  </a:spcBef>
                  <a:spcAft>
                    <a:spcPct val="0"/>
                  </a:spcAft>
                  <a:buClrTx/>
                  <a:buSzTx/>
                  <a:buNone/>
                </a:pPr>
                <a:r>
                  <a:rPr lang="en-US" altLang="en-US" sz="750" i="1" kern="1200">
                    <a:solidFill>
                      <a:srgbClr val="000099"/>
                    </a:solidFill>
                    <a:latin typeface="Arial" panose="020B0604020202020204" pitchFamily="34" charset="0"/>
                    <a:cs typeface="+mn-cs"/>
                  </a:rPr>
                  <a:t>transmit new segment(s), as allowed</a:t>
                </a:r>
              </a:p>
              <a:p>
                <a:pPr algn="l" defTabSz="685800" rtl="0" fontAlgn="base">
                  <a:lnSpc>
                    <a:spcPct val="80000"/>
                  </a:lnSpc>
                  <a:spcBef>
                    <a:spcPct val="0"/>
                  </a:spcBef>
                  <a:spcAft>
                    <a:spcPct val="0"/>
                  </a:spcAft>
                  <a:buClrTx/>
                  <a:buSzTx/>
                  <a:buNone/>
                </a:pPr>
                <a:endParaRPr lang="en-US" altLang="en-US" sz="900" kern="1200">
                  <a:solidFill>
                    <a:srgbClr val="000000"/>
                  </a:solidFill>
                  <a:latin typeface="Arial" panose="020B0604020202020204" pitchFamily="34" charset="0"/>
                  <a:cs typeface="+mn-cs"/>
                </a:endParaRPr>
              </a:p>
            </p:txBody>
          </p:sp>
          <p:sp>
            <p:nvSpPr>
              <p:cNvPr id="109618" name="Line 188">
                <a:extLst>
                  <a:ext uri="{FF2B5EF4-FFF2-40B4-BE49-F238E27FC236}">
                    <a16:creationId xmlns:a16="http://schemas.microsoft.com/office/drawing/2014/main" xmlns="" id="{4A339E7C-283F-83EA-58BE-89B39EC0F1F6}"/>
                  </a:ext>
                </a:extLst>
              </p:cNvPr>
              <p:cNvSpPr>
                <a:spLocks noChangeShapeType="1"/>
              </p:cNvSpPr>
              <p:nvPr/>
            </p:nvSpPr>
            <p:spPr bwMode="auto">
              <a:xfrm>
                <a:off x="2744" y="934"/>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19" name="Text Box 189">
                <a:extLst>
                  <a:ext uri="{FF2B5EF4-FFF2-40B4-BE49-F238E27FC236}">
                    <a16:creationId xmlns:a16="http://schemas.microsoft.com/office/drawing/2014/main" xmlns="" id="{00FA2927-28A4-86E4-6262-5146384A2577}"/>
                  </a:ext>
                </a:extLst>
              </p:cNvPr>
              <p:cNvSpPr txBox="1">
                <a:spLocks noChangeArrowheads="1"/>
              </p:cNvSpPr>
              <p:nvPr/>
            </p:nvSpPr>
            <p:spPr bwMode="auto">
              <a:xfrm>
                <a:off x="2697" y="798"/>
                <a:ext cx="49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new ACK</a:t>
                </a:r>
              </a:p>
            </p:txBody>
          </p:sp>
        </p:grpSp>
        <p:sp>
          <p:nvSpPr>
            <p:cNvPr id="109605" name="Freeform 205">
              <a:extLst>
                <a:ext uri="{FF2B5EF4-FFF2-40B4-BE49-F238E27FC236}">
                  <a16:creationId xmlns:a16="http://schemas.microsoft.com/office/drawing/2014/main" xmlns="" id="{CD828C75-278C-81A5-2646-A309B2CD5D46}"/>
                </a:ext>
              </a:extLst>
            </p:cNvPr>
            <p:cNvSpPr>
              <a:spLocks/>
            </p:cNvSpPr>
            <p:nvPr/>
          </p:nvSpPr>
          <p:spPr bwMode="auto">
            <a:xfrm>
              <a:off x="1601" y="1129"/>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06" name="Freeform 206">
              <a:extLst>
                <a:ext uri="{FF2B5EF4-FFF2-40B4-BE49-F238E27FC236}">
                  <a16:creationId xmlns:a16="http://schemas.microsoft.com/office/drawing/2014/main" xmlns="" id="{5427DA57-8477-BE21-9C14-A0CB005C9154}"/>
                </a:ext>
              </a:extLst>
            </p:cNvPr>
            <p:cNvSpPr>
              <a:spLocks/>
            </p:cNvSpPr>
            <p:nvPr/>
          </p:nvSpPr>
          <p:spPr bwMode="auto">
            <a:xfrm rot="2575893">
              <a:off x="1950" y="1316"/>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07" name="Group 207">
              <a:extLst>
                <a:ext uri="{FF2B5EF4-FFF2-40B4-BE49-F238E27FC236}">
                  <a16:creationId xmlns:a16="http://schemas.microsoft.com/office/drawing/2014/main" xmlns="" id="{8E5A9BCA-83DC-F3BD-25C9-9B806294566C}"/>
                </a:ext>
              </a:extLst>
            </p:cNvPr>
            <p:cNvGrpSpPr>
              <a:grpSpLocks/>
            </p:cNvGrpSpPr>
            <p:nvPr/>
          </p:nvGrpSpPr>
          <p:grpSpPr bwMode="auto">
            <a:xfrm>
              <a:off x="1443" y="859"/>
              <a:ext cx="745" cy="388"/>
              <a:chOff x="4252" y="2922"/>
              <a:chExt cx="745" cy="388"/>
            </a:xfrm>
          </p:grpSpPr>
          <p:sp>
            <p:nvSpPr>
              <p:cNvPr id="109614" name="Text Box 208">
                <a:extLst>
                  <a:ext uri="{FF2B5EF4-FFF2-40B4-BE49-F238E27FC236}">
                    <a16:creationId xmlns:a16="http://schemas.microsoft.com/office/drawing/2014/main" xmlns="" id="{B57F570A-AD01-E3BF-B3CD-E539088B85BA}"/>
                  </a:ext>
                </a:extLst>
              </p:cNvPr>
              <p:cNvSpPr txBox="1">
                <a:spLocks noChangeArrowheads="1"/>
              </p:cNvSpPr>
              <p:nvPr/>
            </p:nvSpPr>
            <p:spPr bwMode="auto">
              <a:xfrm>
                <a:off x="4252" y="3062"/>
                <a:ext cx="745"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a:t>
                </a:r>
              </a:p>
              <a:p>
                <a:pPr algn="ctr" defTabSz="685800" rtl="0" fontAlgn="base">
                  <a:lnSpc>
                    <a:spcPct val="80000"/>
                  </a:lnSpc>
                  <a:spcBef>
                    <a:spcPct val="0"/>
                  </a:spcBef>
                  <a:spcAft>
                    <a:spcPct val="0"/>
                  </a:spcAft>
                  <a:buClrTx/>
                  <a:buSzTx/>
                  <a:buNone/>
                </a:pPr>
                <a:endParaRPr lang="en-US" altLang="en-US" sz="900" kern="1200">
                  <a:solidFill>
                    <a:srgbClr val="000000"/>
                  </a:solidFill>
                  <a:latin typeface="Arial" panose="020B0604020202020204" pitchFamily="34" charset="0"/>
                  <a:cs typeface="+mn-cs"/>
                </a:endParaRPr>
              </a:p>
            </p:txBody>
          </p:sp>
          <p:sp>
            <p:nvSpPr>
              <p:cNvPr id="109615" name="Line 209">
                <a:extLst>
                  <a:ext uri="{FF2B5EF4-FFF2-40B4-BE49-F238E27FC236}">
                    <a16:creationId xmlns:a16="http://schemas.microsoft.com/office/drawing/2014/main" xmlns="" id="{D433E17D-279A-2E10-72C1-120DABB65E20}"/>
                  </a:ext>
                </a:extLst>
              </p:cNvPr>
              <p:cNvSpPr>
                <a:spLocks noChangeShapeType="1"/>
              </p:cNvSpPr>
              <p:nvPr/>
            </p:nvSpPr>
            <p:spPr bwMode="auto">
              <a:xfrm>
                <a:off x="4353" y="3071"/>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16" name="Text Box 210">
                <a:extLst>
                  <a:ext uri="{FF2B5EF4-FFF2-40B4-BE49-F238E27FC236}">
                    <a16:creationId xmlns:a16="http://schemas.microsoft.com/office/drawing/2014/main" xmlns="" id="{A2131F75-548D-8466-DBE8-0AFD26B5CC01}"/>
                  </a:ext>
                </a:extLst>
              </p:cNvPr>
              <p:cNvSpPr txBox="1">
                <a:spLocks noChangeArrowheads="1"/>
              </p:cNvSpPr>
              <p:nvPr/>
            </p:nvSpPr>
            <p:spPr bwMode="auto">
              <a:xfrm>
                <a:off x="4295" y="2922"/>
                <a:ext cx="66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duplicate ACK</a:t>
                </a:r>
              </a:p>
            </p:txBody>
          </p:sp>
        </p:grpSp>
        <p:sp>
          <p:nvSpPr>
            <p:cNvPr id="109608" name="Freeform 211">
              <a:extLst>
                <a:ext uri="{FF2B5EF4-FFF2-40B4-BE49-F238E27FC236}">
                  <a16:creationId xmlns:a16="http://schemas.microsoft.com/office/drawing/2014/main" xmlns="" id="{E277562B-3210-A9CD-BCE8-932A37A87B9E}"/>
                </a:ext>
              </a:extLst>
            </p:cNvPr>
            <p:cNvSpPr>
              <a:spLocks/>
            </p:cNvSpPr>
            <p:nvPr/>
          </p:nvSpPr>
          <p:spPr bwMode="auto">
            <a:xfrm rot="-8222029">
              <a:off x="1204" y="1903"/>
              <a:ext cx="313" cy="201"/>
            </a:xfrm>
            <a:custGeom>
              <a:avLst/>
              <a:gdLst>
                <a:gd name="T0" fmla="*/ 25 w 313"/>
                <a:gd name="T1" fmla="*/ 169 h 201"/>
                <a:gd name="T2" fmla="*/ 153 w 313"/>
                <a:gd name="T3" fmla="*/ 7 h 201"/>
                <a:gd name="T4" fmla="*/ 258 w 313"/>
                <a:gd name="T5" fmla="*/ 201 h 201"/>
                <a:gd name="T6" fmla="*/ 0 60000 65536"/>
                <a:gd name="T7" fmla="*/ 0 60000 65536"/>
                <a:gd name="T8" fmla="*/ 0 60000 65536"/>
              </a:gdLst>
              <a:ahLst/>
              <a:cxnLst>
                <a:cxn ang="T6">
                  <a:pos x="T0" y="T1"/>
                </a:cxn>
                <a:cxn ang="T7">
                  <a:pos x="T2" y="T3"/>
                </a:cxn>
                <a:cxn ang="T8">
                  <a:pos x="T4" y="T5"/>
                </a:cxn>
              </a:cxnLst>
              <a:rect l="0" t="0" r="r" b="b"/>
              <a:pathLst>
                <a:path w="313" h="201">
                  <a:moveTo>
                    <a:pt x="25" y="169"/>
                  </a:moveTo>
                  <a:cubicBezTo>
                    <a:pt x="0" y="108"/>
                    <a:pt x="5" y="0"/>
                    <a:pt x="153" y="7"/>
                  </a:cubicBezTo>
                  <a:cubicBezTo>
                    <a:pt x="302" y="12"/>
                    <a:pt x="313" y="87"/>
                    <a:pt x="258" y="201"/>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09609" name="Line 234">
              <a:extLst>
                <a:ext uri="{FF2B5EF4-FFF2-40B4-BE49-F238E27FC236}">
                  <a16:creationId xmlns:a16="http://schemas.microsoft.com/office/drawing/2014/main" xmlns="" id="{3051B868-997F-1BEA-BFCA-013385EFFE67}"/>
                </a:ext>
              </a:extLst>
            </p:cNvPr>
            <p:cNvSpPr>
              <a:spLocks noChangeShapeType="1"/>
            </p:cNvSpPr>
            <p:nvPr/>
          </p:nvSpPr>
          <p:spPr bwMode="auto">
            <a:xfrm>
              <a:off x="536" y="1649"/>
              <a:ext cx="752" cy="1"/>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09610" name="Group 235">
              <a:extLst>
                <a:ext uri="{FF2B5EF4-FFF2-40B4-BE49-F238E27FC236}">
                  <a16:creationId xmlns:a16="http://schemas.microsoft.com/office/drawing/2014/main" xmlns="" id="{DA1EACF4-BACC-F3E5-2D83-026BA0DF9EE6}"/>
                </a:ext>
              </a:extLst>
            </p:cNvPr>
            <p:cNvGrpSpPr>
              <a:grpSpLocks/>
            </p:cNvGrpSpPr>
            <p:nvPr/>
          </p:nvGrpSpPr>
          <p:grpSpPr bwMode="auto">
            <a:xfrm>
              <a:off x="494" y="1255"/>
              <a:ext cx="788" cy="437"/>
              <a:chOff x="516" y="936"/>
              <a:chExt cx="788" cy="437"/>
            </a:xfrm>
          </p:grpSpPr>
          <p:sp>
            <p:nvSpPr>
              <p:cNvPr id="109611" name="Text Box 236">
                <a:extLst>
                  <a:ext uri="{FF2B5EF4-FFF2-40B4-BE49-F238E27FC236}">
                    <a16:creationId xmlns:a16="http://schemas.microsoft.com/office/drawing/2014/main" xmlns="" id="{EC920943-05A4-A2A4-6599-5E2481F49685}"/>
                  </a:ext>
                </a:extLst>
              </p:cNvPr>
              <p:cNvSpPr txBox="1">
                <a:spLocks noChangeArrowheads="1"/>
              </p:cNvSpPr>
              <p:nvPr/>
            </p:nvSpPr>
            <p:spPr bwMode="auto">
              <a:xfrm>
                <a:off x="816" y="936"/>
                <a:ext cx="21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fontAlgn="base">
                  <a:lnSpc>
                    <a:spcPct val="100000"/>
                  </a:lnSpc>
                  <a:spcBef>
                    <a:spcPct val="0"/>
                  </a:spcBef>
                  <a:spcAft>
                    <a:spcPct val="0"/>
                  </a:spcAft>
                  <a:buClrTx/>
                  <a:buSzTx/>
                  <a:buNone/>
                </a:pPr>
                <a:r>
                  <a:rPr lang="en-US" altLang="en-US" sz="750" kern="1200">
                    <a:solidFill>
                      <a:srgbClr val="000000"/>
                    </a:solidFill>
                    <a:latin typeface="Symbol" panose="05050102010706020507" pitchFamily="18" charset="2"/>
                    <a:cs typeface="+mn-cs"/>
                  </a:rPr>
                  <a:t>L</a:t>
                </a:r>
              </a:p>
            </p:txBody>
          </p:sp>
          <p:sp>
            <p:nvSpPr>
              <p:cNvPr id="109612" name="Text Box 237">
                <a:extLst>
                  <a:ext uri="{FF2B5EF4-FFF2-40B4-BE49-F238E27FC236}">
                    <a16:creationId xmlns:a16="http://schemas.microsoft.com/office/drawing/2014/main" xmlns="" id="{9A14A5DF-E637-5B3F-425B-72F9DBB67213}"/>
                  </a:ext>
                </a:extLst>
              </p:cNvPr>
              <p:cNvSpPr txBox="1">
                <a:spLocks noChangeArrowheads="1"/>
              </p:cNvSpPr>
              <p:nvPr/>
            </p:nvSpPr>
            <p:spPr bwMode="auto">
              <a:xfrm>
                <a:off x="516" y="1063"/>
                <a:ext cx="7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cwnd = 1 MSS</a:t>
                </a:r>
              </a:p>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ssthresh = 64 KB</a:t>
                </a:r>
              </a:p>
              <a:p>
                <a:pPr algn="ctr" defTabSz="685800" rtl="0" fontAlgn="base">
                  <a:lnSpc>
                    <a:spcPct val="80000"/>
                  </a:lnSpc>
                  <a:spcBef>
                    <a:spcPct val="0"/>
                  </a:spcBef>
                  <a:spcAft>
                    <a:spcPct val="0"/>
                  </a:spcAft>
                  <a:buClrTx/>
                  <a:buSzTx/>
                  <a:buNone/>
                </a:pPr>
                <a:r>
                  <a:rPr lang="en-US" altLang="en-US" sz="750" kern="1200">
                    <a:solidFill>
                      <a:srgbClr val="000000"/>
                    </a:solidFill>
                    <a:latin typeface="Arial" panose="020B0604020202020204" pitchFamily="34" charset="0"/>
                    <a:cs typeface="+mn-cs"/>
                  </a:rPr>
                  <a:t>dupACKcount = 0</a:t>
                </a:r>
                <a:endParaRPr lang="en-US" altLang="en-US" sz="900" kern="1200">
                  <a:solidFill>
                    <a:srgbClr val="000000"/>
                  </a:solidFill>
                  <a:latin typeface="Arial" panose="020B0604020202020204" pitchFamily="34" charset="0"/>
                  <a:cs typeface="+mn-cs"/>
                </a:endParaRPr>
              </a:p>
            </p:txBody>
          </p:sp>
          <p:sp>
            <p:nvSpPr>
              <p:cNvPr id="109613" name="Line 238">
                <a:extLst>
                  <a:ext uri="{FF2B5EF4-FFF2-40B4-BE49-F238E27FC236}">
                    <a16:creationId xmlns:a16="http://schemas.microsoft.com/office/drawing/2014/main" xmlns="" id="{285334A3-2A60-812D-B49C-54206D92D5F0}"/>
                  </a:ext>
                </a:extLst>
              </p:cNvPr>
              <p:cNvSpPr>
                <a:spLocks noChangeShapeType="1"/>
              </p:cNvSpPr>
              <p:nvPr/>
            </p:nvSpPr>
            <p:spPr bwMode="auto">
              <a:xfrm>
                <a:off x="641" y="1078"/>
                <a:ext cx="5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274687" name="Group 255">
            <a:extLst>
              <a:ext uri="{FF2B5EF4-FFF2-40B4-BE49-F238E27FC236}">
                <a16:creationId xmlns:a16="http://schemas.microsoft.com/office/drawing/2014/main" xmlns="" id="{9FB91913-60C9-0FD9-CD07-368F39078D48}"/>
              </a:ext>
            </a:extLst>
          </p:cNvPr>
          <p:cNvGrpSpPr>
            <a:grpSpLocks/>
          </p:cNvGrpSpPr>
          <p:nvPr/>
        </p:nvGrpSpPr>
        <p:grpSpPr bwMode="auto">
          <a:xfrm>
            <a:off x="1739503" y="2280048"/>
            <a:ext cx="2375297" cy="896541"/>
            <a:chOff x="509" y="1840"/>
            <a:chExt cx="1995" cy="753"/>
          </a:xfrm>
        </p:grpSpPr>
        <p:pic>
          <p:nvPicPr>
            <p:cNvPr id="109599" name="Picture 252">
              <a:extLst>
                <a:ext uri="{FF2B5EF4-FFF2-40B4-BE49-F238E27FC236}">
                  <a16:creationId xmlns:a16="http://schemas.microsoft.com/office/drawing/2014/main" xmlns="" id="{75271665-C6DB-0CE7-1A03-DE4197F3A65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09" y="1992"/>
              <a:ext cx="26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600" name="Picture 253">
              <a:extLst>
                <a:ext uri="{FF2B5EF4-FFF2-40B4-BE49-F238E27FC236}">
                  <a16:creationId xmlns:a16="http://schemas.microsoft.com/office/drawing/2014/main" xmlns="" id="{D30FD015-4994-0C0A-4239-48F6C9825A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242" y="1840"/>
              <a:ext cx="26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601" name="Picture 254">
              <a:extLst>
                <a:ext uri="{FF2B5EF4-FFF2-40B4-BE49-F238E27FC236}">
                  <a16:creationId xmlns:a16="http://schemas.microsoft.com/office/drawing/2014/main" xmlns="" id="{EC9142B8-F6B0-E49A-AE45-D67D34238A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236" y="2348"/>
              <a:ext cx="262"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4729" name="Group 297">
            <a:extLst>
              <a:ext uri="{FF2B5EF4-FFF2-40B4-BE49-F238E27FC236}">
                <a16:creationId xmlns:a16="http://schemas.microsoft.com/office/drawing/2014/main" xmlns="" id="{9F1A029D-E7A9-C1AB-1640-5F03A3AD2C1A}"/>
              </a:ext>
            </a:extLst>
          </p:cNvPr>
          <p:cNvGrpSpPr>
            <a:grpSpLocks/>
          </p:cNvGrpSpPr>
          <p:nvPr/>
        </p:nvGrpSpPr>
        <p:grpSpPr bwMode="auto">
          <a:xfrm>
            <a:off x="3769519" y="862013"/>
            <a:ext cx="3250406" cy="2432447"/>
            <a:chOff x="2205" y="641"/>
            <a:chExt cx="2730" cy="2043"/>
          </a:xfrm>
        </p:grpSpPr>
        <p:grpSp>
          <p:nvGrpSpPr>
            <p:cNvPr id="109584" name="Group 282">
              <a:extLst>
                <a:ext uri="{FF2B5EF4-FFF2-40B4-BE49-F238E27FC236}">
                  <a16:creationId xmlns:a16="http://schemas.microsoft.com/office/drawing/2014/main" xmlns="" id="{B06A6518-5C4E-EB52-EE3C-F9F965462781}"/>
                </a:ext>
              </a:extLst>
            </p:cNvPr>
            <p:cNvGrpSpPr>
              <a:grpSpLocks/>
            </p:cNvGrpSpPr>
            <p:nvPr/>
          </p:nvGrpSpPr>
          <p:grpSpPr bwMode="auto">
            <a:xfrm>
              <a:off x="3381" y="2381"/>
              <a:ext cx="583" cy="303"/>
              <a:chOff x="1166" y="3601"/>
              <a:chExt cx="583" cy="303"/>
            </a:xfrm>
          </p:grpSpPr>
          <p:grpSp>
            <p:nvGrpSpPr>
              <p:cNvPr id="109595" name="Group 283">
                <a:extLst>
                  <a:ext uri="{FF2B5EF4-FFF2-40B4-BE49-F238E27FC236}">
                    <a16:creationId xmlns:a16="http://schemas.microsoft.com/office/drawing/2014/main" xmlns="" id="{0E8BACBF-526F-A92B-F32D-B9BE10DF605B}"/>
                  </a:ext>
                </a:extLst>
              </p:cNvPr>
              <p:cNvGrpSpPr>
                <a:grpSpLocks/>
              </p:cNvGrpSpPr>
              <p:nvPr/>
            </p:nvGrpSpPr>
            <p:grpSpPr bwMode="auto">
              <a:xfrm>
                <a:off x="1166" y="3601"/>
                <a:ext cx="583" cy="303"/>
                <a:chOff x="990" y="4570"/>
                <a:chExt cx="597" cy="380"/>
              </a:xfrm>
            </p:grpSpPr>
            <p:pic>
              <p:nvPicPr>
                <p:cNvPr id="109597" name="Picture 284">
                  <a:extLst>
                    <a:ext uri="{FF2B5EF4-FFF2-40B4-BE49-F238E27FC236}">
                      <a16:creationId xmlns:a16="http://schemas.microsoft.com/office/drawing/2014/main" xmlns="" id="{6E4BF8FE-E005-ED04-73F7-EBFE2CAD6E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98" name="Rectangle 285">
                  <a:extLst>
                    <a:ext uri="{FF2B5EF4-FFF2-40B4-BE49-F238E27FC236}">
                      <a16:creationId xmlns:a16="http://schemas.microsoft.com/office/drawing/2014/main" xmlns="" id="{C3AA253C-2849-53FF-8166-41C52A36B35B}"/>
                    </a:ext>
                  </a:extLst>
                </p:cNvPr>
                <p:cNvSpPr>
                  <a:spLocks noChangeArrowheads="1"/>
                </p:cNvSpPr>
                <p:nvPr/>
              </p:nvSpPr>
              <p:spPr bwMode="auto">
                <a:xfrm>
                  <a:off x="1124" y="4679"/>
                  <a:ext cx="356" cy="1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grpSp>
          <p:sp>
            <p:nvSpPr>
              <p:cNvPr id="109596" name="Text Box 286">
                <a:extLst>
                  <a:ext uri="{FF2B5EF4-FFF2-40B4-BE49-F238E27FC236}">
                    <a16:creationId xmlns:a16="http://schemas.microsoft.com/office/drawing/2014/main" xmlns="" id="{862FE891-36DB-3FC2-33FB-9DCC65F80DBC}"/>
                  </a:ext>
                </a:extLst>
              </p:cNvPr>
              <p:cNvSpPr txBox="1">
                <a:spLocks noChangeArrowheads="1"/>
              </p:cNvSpPr>
              <p:nvPr/>
            </p:nvSpPr>
            <p:spPr bwMode="auto">
              <a:xfrm>
                <a:off x="1274" y="3633"/>
                <a:ext cx="39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New</a:t>
                </a:r>
              </a:p>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ACK!</a:t>
                </a:r>
              </a:p>
            </p:txBody>
          </p:sp>
        </p:grpSp>
        <p:grpSp>
          <p:nvGrpSpPr>
            <p:cNvPr id="109585" name="Group 287">
              <a:extLst>
                <a:ext uri="{FF2B5EF4-FFF2-40B4-BE49-F238E27FC236}">
                  <a16:creationId xmlns:a16="http://schemas.microsoft.com/office/drawing/2014/main" xmlns="" id="{A4EDB599-2D83-F52C-1891-BAF79F61A656}"/>
                </a:ext>
              </a:extLst>
            </p:cNvPr>
            <p:cNvGrpSpPr>
              <a:grpSpLocks/>
            </p:cNvGrpSpPr>
            <p:nvPr/>
          </p:nvGrpSpPr>
          <p:grpSpPr bwMode="auto">
            <a:xfrm>
              <a:off x="2205" y="700"/>
              <a:ext cx="583" cy="303"/>
              <a:chOff x="1166" y="3601"/>
              <a:chExt cx="583" cy="303"/>
            </a:xfrm>
          </p:grpSpPr>
          <p:grpSp>
            <p:nvGrpSpPr>
              <p:cNvPr id="109591" name="Group 288">
                <a:extLst>
                  <a:ext uri="{FF2B5EF4-FFF2-40B4-BE49-F238E27FC236}">
                    <a16:creationId xmlns:a16="http://schemas.microsoft.com/office/drawing/2014/main" xmlns="" id="{E4101D90-D3D0-07E3-0EC4-4EF5D24AD8E0}"/>
                  </a:ext>
                </a:extLst>
              </p:cNvPr>
              <p:cNvGrpSpPr>
                <a:grpSpLocks/>
              </p:cNvGrpSpPr>
              <p:nvPr/>
            </p:nvGrpSpPr>
            <p:grpSpPr bwMode="auto">
              <a:xfrm>
                <a:off x="1166" y="3601"/>
                <a:ext cx="583" cy="303"/>
                <a:chOff x="990" y="4570"/>
                <a:chExt cx="597" cy="380"/>
              </a:xfrm>
            </p:grpSpPr>
            <p:pic>
              <p:nvPicPr>
                <p:cNvPr id="109593" name="Picture 289">
                  <a:extLst>
                    <a:ext uri="{FF2B5EF4-FFF2-40B4-BE49-F238E27FC236}">
                      <a16:creationId xmlns:a16="http://schemas.microsoft.com/office/drawing/2014/main" xmlns="" id="{E3029352-F101-2FB0-2D4B-A5B5693749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94" name="Rectangle 290">
                  <a:extLst>
                    <a:ext uri="{FF2B5EF4-FFF2-40B4-BE49-F238E27FC236}">
                      <a16:creationId xmlns:a16="http://schemas.microsoft.com/office/drawing/2014/main" xmlns="" id="{C0C76414-3D9E-E58F-47E5-727705D048BA}"/>
                    </a:ext>
                  </a:extLst>
                </p:cNvPr>
                <p:cNvSpPr>
                  <a:spLocks noChangeArrowheads="1"/>
                </p:cNvSpPr>
                <p:nvPr/>
              </p:nvSpPr>
              <p:spPr bwMode="auto">
                <a:xfrm>
                  <a:off x="1124" y="4679"/>
                  <a:ext cx="356" cy="1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grpSp>
          <p:sp>
            <p:nvSpPr>
              <p:cNvPr id="109592" name="Text Box 291">
                <a:extLst>
                  <a:ext uri="{FF2B5EF4-FFF2-40B4-BE49-F238E27FC236}">
                    <a16:creationId xmlns:a16="http://schemas.microsoft.com/office/drawing/2014/main" xmlns="" id="{D3755871-3989-2707-633B-BEE8F82CD8E8}"/>
                  </a:ext>
                </a:extLst>
              </p:cNvPr>
              <p:cNvSpPr txBox="1">
                <a:spLocks noChangeArrowheads="1"/>
              </p:cNvSpPr>
              <p:nvPr/>
            </p:nvSpPr>
            <p:spPr bwMode="auto">
              <a:xfrm>
                <a:off x="1274" y="3633"/>
                <a:ext cx="39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New</a:t>
                </a:r>
              </a:p>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ACK!</a:t>
                </a:r>
              </a:p>
            </p:txBody>
          </p:sp>
        </p:grpSp>
        <p:grpSp>
          <p:nvGrpSpPr>
            <p:cNvPr id="109586" name="Group 292">
              <a:extLst>
                <a:ext uri="{FF2B5EF4-FFF2-40B4-BE49-F238E27FC236}">
                  <a16:creationId xmlns:a16="http://schemas.microsoft.com/office/drawing/2014/main" xmlns="" id="{294A3812-931D-EF10-718A-5FEDB3140E03}"/>
                </a:ext>
              </a:extLst>
            </p:cNvPr>
            <p:cNvGrpSpPr>
              <a:grpSpLocks/>
            </p:cNvGrpSpPr>
            <p:nvPr/>
          </p:nvGrpSpPr>
          <p:grpSpPr bwMode="auto">
            <a:xfrm>
              <a:off x="4352" y="641"/>
              <a:ext cx="583" cy="303"/>
              <a:chOff x="1166" y="3601"/>
              <a:chExt cx="583" cy="303"/>
            </a:xfrm>
          </p:grpSpPr>
          <p:grpSp>
            <p:nvGrpSpPr>
              <p:cNvPr id="109587" name="Group 293">
                <a:extLst>
                  <a:ext uri="{FF2B5EF4-FFF2-40B4-BE49-F238E27FC236}">
                    <a16:creationId xmlns:a16="http://schemas.microsoft.com/office/drawing/2014/main" xmlns="" id="{4D631DAD-99FA-6158-EEAD-BB3988B46BA5}"/>
                  </a:ext>
                </a:extLst>
              </p:cNvPr>
              <p:cNvGrpSpPr>
                <a:grpSpLocks/>
              </p:cNvGrpSpPr>
              <p:nvPr/>
            </p:nvGrpSpPr>
            <p:grpSpPr bwMode="auto">
              <a:xfrm>
                <a:off x="1166" y="3601"/>
                <a:ext cx="583" cy="303"/>
                <a:chOff x="990" y="4570"/>
                <a:chExt cx="597" cy="380"/>
              </a:xfrm>
            </p:grpSpPr>
            <p:pic>
              <p:nvPicPr>
                <p:cNvPr id="109589" name="Picture 294">
                  <a:extLst>
                    <a:ext uri="{FF2B5EF4-FFF2-40B4-BE49-F238E27FC236}">
                      <a16:creationId xmlns:a16="http://schemas.microsoft.com/office/drawing/2014/main" xmlns="" id="{7C68182D-55D7-D480-718D-40A67F9AAF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 y="4570"/>
                  <a:ext cx="597"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90" name="Rectangle 295">
                  <a:extLst>
                    <a:ext uri="{FF2B5EF4-FFF2-40B4-BE49-F238E27FC236}">
                      <a16:creationId xmlns:a16="http://schemas.microsoft.com/office/drawing/2014/main" xmlns="" id="{101AEB34-E0E8-4B03-A764-2D972A846114}"/>
                    </a:ext>
                  </a:extLst>
                </p:cNvPr>
                <p:cNvSpPr>
                  <a:spLocks noChangeArrowheads="1"/>
                </p:cNvSpPr>
                <p:nvPr/>
              </p:nvSpPr>
              <p:spPr bwMode="auto">
                <a:xfrm>
                  <a:off x="1124" y="4679"/>
                  <a:ext cx="356" cy="1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grpSp>
          <p:sp>
            <p:nvSpPr>
              <p:cNvPr id="109588" name="Text Box 296">
                <a:extLst>
                  <a:ext uri="{FF2B5EF4-FFF2-40B4-BE49-F238E27FC236}">
                    <a16:creationId xmlns:a16="http://schemas.microsoft.com/office/drawing/2014/main" xmlns="" id="{15BFBD37-5AE1-C636-5591-024F20435BE3}"/>
                  </a:ext>
                </a:extLst>
              </p:cNvPr>
              <p:cNvSpPr txBox="1">
                <a:spLocks noChangeArrowheads="1"/>
              </p:cNvSpPr>
              <p:nvPr/>
            </p:nvSpPr>
            <p:spPr bwMode="auto">
              <a:xfrm>
                <a:off x="1274" y="3633"/>
                <a:ext cx="397"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New</a:t>
                </a:r>
              </a:p>
              <a:p>
                <a:pPr algn="ctr" defTabSz="685800" rtl="0" eaLnBrk="0" fontAlgn="base" hangingPunct="0">
                  <a:lnSpc>
                    <a:spcPct val="80000"/>
                  </a:lnSpc>
                  <a:spcBef>
                    <a:spcPct val="0"/>
                  </a:spcBef>
                  <a:spcAft>
                    <a:spcPct val="0"/>
                  </a:spcAft>
                  <a:buClrTx/>
                  <a:buSzTx/>
                  <a:buNone/>
                </a:pPr>
                <a:r>
                  <a:rPr lang="en-US" altLang="en-US" sz="900" b="1" i="1" kern="1200">
                    <a:solidFill>
                      <a:srgbClr val="3333CC"/>
                    </a:solidFill>
                    <a:latin typeface="Comic Sans MS" panose="030F0702030302020204" pitchFamily="66" charset="0"/>
                    <a:cs typeface="+mn-cs"/>
                  </a:rPr>
                  <a:t>ACK!</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74673"/>
                                        </p:tgtEl>
                                        <p:attrNameLst>
                                          <p:attrName>style.visibility</p:attrName>
                                        </p:attrNameLst>
                                      </p:cBhvr>
                                      <p:to>
                                        <p:strVal val="visible"/>
                                      </p:to>
                                    </p:set>
                                    <p:animEffect transition="in" filter="dissolve">
                                      <p:cBhvr>
                                        <p:cTn id="7" dur="500"/>
                                        <p:tgtEl>
                                          <p:spTgt spid="2746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4671"/>
                                        </p:tgtEl>
                                        <p:attrNameLst>
                                          <p:attrName>style.visibility</p:attrName>
                                        </p:attrNameLst>
                                      </p:cBhvr>
                                      <p:to>
                                        <p:strVal val="visible"/>
                                      </p:to>
                                    </p:set>
                                    <p:animEffect transition="in" filter="wipe(left)">
                                      <p:cBhvr>
                                        <p:cTn id="12" dur="500"/>
                                        <p:tgtEl>
                                          <p:spTgt spid="2746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74674"/>
                                        </p:tgtEl>
                                        <p:attrNameLst>
                                          <p:attrName>style.visibility</p:attrName>
                                        </p:attrNameLst>
                                      </p:cBhvr>
                                      <p:to>
                                        <p:strVal val="visible"/>
                                      </p:to>
                                    </p:set>
                                    <p:animEffect transition="in" filter="dissolve">
                                      <p:cBhvr>
                                        <p:cTn id="17" dur="500"/>
                                        <p:tgtEl>
                                          <p:spTgt spid="2746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274672"/>
                                        </p:tgtEl>
                                        <p:attrNameLst>
                                          <p:attrName>style.visibility</p:attrName>
                                        </p:attrNameLst>
                                      </p:cBhvr>
                                      <p:to>
                                        <p:strVal val="visible"/>
                                      </p:to>
                                    </p:set>
                                    <p:animEffect transition="in" filter="wipe(right)">
                                      <p:cBhvr>
                                        <p:cTn id="22" dur="500"/>
                                        <p:tgtEl>
                                          <p:spTgt spid="2746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74676"/>
                                        </p:tgtEl>
                                        <p:attrNameLst>
                                          <p:attrName>style.visibility</p:attrName>
                                        </p:attrNameLst>
                                      </p:cBhvr>
                                      <p:to>
                                        <p:strVal val="visible"/>
                                      </p:to>
                                    </p:set>
                                    <p:animEffect transition="in" filter="wipe(up)">
                                      <p:cBhvr>
                                        <p:cTn id="27" dur="500"/>
                                        <p:tgtEl>
                                          <p:spTgt spid="27467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27467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74675"/>
                                        </p:tgtEl>
                                        <p:attrNameLst>
                                          <p:attrName>style.visibility</p:attrName>
                                        </p:attrNameLst>
                                      </p:cBhvr>
                                      <p:to>
                                        <p:strVal val="visible"/>
                                      </p:to>
                                    </p:set>
                                    <p:animEffect transition="in" filter="wipe(left)">
                                      <p:cBhvr>
                                        <p:cTn id="36" dur="500"/>
                                        <p:tgtEl>
                                          <p:spTgt spid="27467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274678"/>
                                        </p:tgtEl>
                                        <p:attrNameLst>
                                          <p:attrName>style.visibility</p:attrName>
                                        </p:attrNameLst>
                                      </p:cBhvr>
                                      <p:to>
                                        <p:strVal val="visible"/>
                                      </p:to>
                                    </p:set>
                                    <p:animEffect transition="in" filter="dissolve">
                                      <p:cBhvr>
                                        <p:cTn id="41" dur="500"/>
                                        <p:tgtEl>
                                          <p:spTgt spid="27467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nodeType="clickEffect">
                                  <p:stCondLst>
                                    <p:cond delay="0"/>
                                  </p:stCondLst>
                                  <p:childTnLst>
                                    <p:set>
                                      <p:cBhvr>
                                        <p:cTn id="45" dur="1" fill="hold">
                                          <p:stCondLst>
                                            <p:cond delay="0"/>
                                          </p:stCondLst>
                                        </p:cTn>
                                        <p:tgtEl>
                                          <p:spTgt spid="274687"/>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274729"/>
                                        </p:tgtEl>
                                        <p:attrNameLst>
                                          <p:attrName>style.visibility</p:attrName>
                                        </p:attrNameLst>
                                      </p:cBhvr>
                                      <p:to>
                                        <p:strVal val="visible"/>
                                      </p:to>
                                    </p:set>
                                    <p:animEffect transition="in" filter="dissolve">
                                      <p:cBhvr>
                                        <p:cTn id="50" dur="500"/>
                                        <p:tgtEl>
                                          <p:spTgt spid="274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Rectangle 2">
            <a:extLst>
              <a:ext uri="{FF2B5EF4-FFF2-40B4-BE49-F238E27FC236}">
                <a16:creationId xmlns:a16="http://schemas.microsoft.com/office/drawing/2014/main" xmlns="" id="{03EB790A-8BFB-9D82-83FB-A6B3BB93A6DB}"/>
              </a:ext>
            </a:extLst>
          </p:cNvPr>
          <p:cNvSpPr>
            <a:spLocks noGrp="1" noChangeArrowheads="1"/>
          </p:cNvSpPr>
          <p:nvPr>
            <p:ph type="title" idx="4294967295"/>
          </p:nvPr>
        </p:nvSpPr>
        <p:spPr>
          <a:xfrm>
            <a:off x="253365" y="170259"/>
            <a:ext cx="5829300" cy="696912"/>
          </a:xfrm>
        </p:spPr>
        <p:txBody>
          <a:bodyPr vert="horz" lIns="91440" tIns="45720" rIns="91440" bIns="45720" rtlCol="0" anchor="ctr">
            <a:noAutofit/>
          </a:bodyPr>
          <a:lstStyle/>
          <a:p>
            <a:r>
              <a:rPr lang="en-US" sz="4000" b="1" dirty="0"/>
              <a:t>TCP throughput</a:t>
            </a:r>
          </a:p>
        </p:txBody>
      </p:sp>
      <p:sp>
        <p:nvSpPr>
          <p:cNvPr id="110598" name="Rectangle 3">
            <a:extLst>
              <a:ext uri="{FF2B5EF4-FFF2-40B4-BE49-F238E27FC236}">
                <a16:creationId xmlns:a16="http://schemas.microsoft.com/office/drawing/2014/main" xmlns="" id="{561BB03D-A03B-3D34-F6B9-B8368BBC8E21}"/>
              </a:ext>
            </a:extLst>
          </p:cNvPr>
          <p:cNvSpPr>
            <a:spLocks noGrp="1" noChangeArrowheads="1"/>
          </p:cNvSpPr>
          <p:nvPr>
            <p:ph type="body" idx="4294967295"/>
          </p:nvPr>
        </p:nvSpPr>
        <p:spPr>
          <a:xfrm>
            <a:off x="2941638" y="1020763"/>
            <a:ext cx="6202362" cy="3486150"/>
          </a:xfrm>
        </p:spPr>
        <p:txBody>
          <a:bodyPr/>
          <a:lstStyle/>
          <a:p>
            <a:r>
              <a:rPr lang="en-US" altLang="en-US" sz="2100" dirty="0"/>
              <a:t>avg. TCP thruput as function of window size, RTT?</a:t>
            </a:r>
          </a:p>
          <a:p>
            <a:pPr lvl="1"/>
            <a:r>
              <a:rPr lang="en-US" altLang="en-US" sz="1800" dirty="0"/>
              <a:t>ignore slow start, assume always data to send</a:t>
            </a:r>
          </a:p>
          <a:p>
            <a:r>
              <a:rPr lang="en-US" altLang="en-US" sz="2100" dirty="0"/>
              <a:t>W: window size </a:t>
            </a:r>
            <a:r>
              <a:rPr lang="en-US" altLang="en-US" sz="1200" dirty="0"/>
              <a:t>(measured in bytes)</a:t>
            </a:r>
            <a:r>
              <a:rPr lang="en-US" altLang="en-US" sz="2100" dirty="0"/>
              <a:t> where loss occurs</a:t>
            </a:r>
          </a:p>
          <a:p>
            <a:pPr lvl="1"/>
            <a:r>
              <a:rPr lang="en-US" altLang="en-US" sz="1800" dirty="0"/>
              <a:t>avg. window size (# in-flight bytes) is ¾ W</a:t>
            </a:r>
          </a:p>
          <a:p>
            <a:pPr lvl="1"/>
            <a:r>
              <a:rPr lang="en-US" altLang="en-US" sz="1800" dirty="0"/>
              <a:t>avg. thruput is 3/4W per RTT</a:t>
            </a:r>
          </a:p>
        </p:txBody>
      </p:sp>
      <p:grpSp>
        <p:nvGrpSpPr>
          <p:cNvPr id="110599" name="Group 35">
            <a:extLst>
              <a:ext uri="{FF2B5EF4-FFF2-40B4-BE49-F238E27FC236}">
                <a16:creationId xmlns:a16="http://schemas.microsoft.com/office/drawing/2014/main" xmlns="" id="{16540469-6A51-2837-60A4-F135675490AE}"/>
              </a:ext>
            </a:extLst>
          </p:cNvPr>
          <p:cNvGrpSpPr>
            <a:grpSpLocks/>
          </p:cNvGrpSpPr>
          <p:nvPr/>
        </p:nvGrpSpPr>
        <p:grpSpPr bwMode="auto">
          <a:xfrm>
            <a:off x="2490788" y="3225403"/>
            <a:ext cx="3680222" cy="1498997"/>
            <a:chOff x="258" y="2432"/>
            <a:chExt cx="3091" cy="1259"/>
          </a:xfrm>
        </p:grpSpPr>
        <p:sp>
          <p:nvSpPr>
            <p:cNvPr id="110610" name="Freeform 26">
              <a:extLst>
                <a:ext uri="{FF2B5EF4-FFF2-40B4-BE49-F238E27FC236}">
                  <a16:creationId xmlns:a16="http://schemas.microsoft.com/office/drawing/2014/main" xmlns="" id="{C37D3997-79EE-BD92-72A3-4E58672A08AB}"/>
                </a:ext>
              </a:extLst>
            </p:cNvPr>
            <p:cNvSpPr>
              <a:spLocks/>
            </p:cNvSpPr>
            <p:nvPr/>
          </p:nvSpPr>
          <p:spPr bwMode="auto">
            <a:xfrm>
              <a:off x="678" y="2556"/>
              <a:ext cx="2481" cy="579"/>
            </a:xfrm>
            <a:custGeom>
              <a:avLst/>
              <a:gdLst>
                <a:gd name="T0" fmla="*/ 0 w 2481"/>
                <a:gd name="T1" fmla="*/ 573 h 579"/>
                <a:gd name="T2" fmla="*/ 414 w 2481"/>
                <a:gd name="T3" fmla="*/ 18 h 579"/>
                <a:gd name="T4" fmla="*/ 414 w 2481"/>
                <a:gd name="T5" fmla="*/ 579 h 579"/>
                <a:gd name="T6" fmla="*/ 819 w 2481"/>
                <a:gd name="T7" fmla="*/ 18 h 579"/>
                <a:gd name="T8" fmla="*/ 825 w 2481"/>
                <a:gd name="T9" fmla="*/ 579 h 579"/>
                <a:gd name="T10" fmla="*/ 1245 w 2481"/>
                <a:gd name="T11" fmla="*/ 15 h 579"/>
                <a:gd name="T12" fmla="*/ 1245 w 2481"/>
                <a:gd name="T13" fmla="*/ 576 h 579"/>
                <a:gd name="T14" fmla="*/ 1647 w 2481"/>
                <a:gd name="T15" fmla="*/ 6 h 579"/>
                <a:gd name="T16" fmla="*/ 1647 w 2481"/>
                <a:gd name="T17" fmla="*/ 570 h 579"/>
                <a:gd name="T18" fmla="*/ 2064 w 2481"/>
                <a:gd name="T19" fmla="*/ 6 h 579"/>
                <a:gd name="T20" fmla="*/ 2064 w 2481"/>
                <a:gd name="T21" fmla="*/ 564 h 579"/>
                <a:gd name="T22" fmla="*/ 2481 w 2481"/>
                <a:gd name="T23" fmla="*/ 0 h 5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481" h="579">
                  <a:moveTo>
                    <a:pt x="0" y="573"/>
                  </a:moveTo>
                  <a:lnTo>
                    <a:pt x="414" y="18"/>
                  </a:lnTo>
                  <a:lnTo>
                    <a:pt x="414" y="579"/>
                  </a:lnTo>
                  <a:lnTo>
                    <a:pt x="819" y="18"/>
                  </a:lnTo>
                  <a:lnTo>
                    <a:pt x="825" y="579"/>
                  </a:lnTo>
                  <a:lnTo>
                    <a:pt x="1245" y="15"/>
                  </a:lnTo>
                  <a:lnTo>
                    <a:pt x="1245" y="576"/>
                  </a:lnTo>
                  <a:lnTo>
                    <a:pt x="1647" y="6"/>
                  </a:lnTo>
                  <a:lnTo>
                    <a:pt x="1647" y="570"/>
                  </a:lnTo>
                  <a:lnTo>
                    <a:pt x="2064" y="6"/>
                  </a:lnTo>
                  <a:lnTo>
                    <a:pt x="2064" y="564"/>
                  </a:lnTo>
                  <a:lnTo>
                    <a:pt x="2481" y="0"/>
                  </a:lnTo>
                </a:path>
              </a:pathLst>
            </a:custGeom>
            <a:noFill/>
            <a:ln w="28575" cap="flat" cmpd="sng">
              <a:solidFill>
                <a:srgbClr val="CC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11" name="Line 28">
              <a:extLst>
                <a:ext uri="{FF2B5EF4-FFF2-40B4-BE49-F238E27FC236}">
                  <a16:creationId xmlns:a16="http://schemas.microsoft.com/office/drawing/2014/main" xmlns="" id="{260C97EF-1B43-317F-6030-198E43B5E3E3}"/>
                </a:ext>
              </a:extLst>
            </p:cNvPr>
            <p:cNvSpPr>
              <a:spLocks noChangeShapeType="1"/>
            </p:cNvSpPr>
            <p:nvPr/>
          </p:nvSpPr>
          <p:spPr bwMode="auto">
            <a:xfrm>
              <a:off x="675" y="3685"/>
              <a:ext cx="267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12" name="Line 29">
              <a:extLst>
                <a:ext uri="{FF2B5EF4-FFF2-40B4-BE49-F238E27FC236}">
                  <a16:creationId xmlns:a16="http://schemas.microsoft.com/office/drawing/2014/main" xmlns="" id="{2671EB5E-DC93-49F8-73A0-647EFCCD2F9D}"/>
                </a:ext>
              </a:extLst>
            </p:cNvPr>
            <p:cNvSpPr>
              <a:spLocks noChangeShapeType="1"/>
            </p:cNvSpPr>
            <p:nvPr/>
          </p:nvSpPr>
          <p:spPr bwMode="auto">
            <a:xfrm>
              <a:off x="682" y="2432"/>
              <a:ext cx="0" cy="125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13" name="Line 31">
              <a:extLst>
                <a:ext uri="{FF2B5EF4-FFF2-40B4-BE49-F238E27FC236}">
                  <a16:creationId xmlns:a16="http://schemas.microsoft.com/office/drawing/2014/main" xmlns="" id="{9E071143-C3F2-895C-D857-E3738A85A23F}"/>
                </a:ext>
              </a:extLst>
            </p:cNvPr>
            <p:cNvSpPr>
              <a:spLocks noChangeShapeType="1"/>
            </p:cNvSpPr>
            <p:nvPr/>
          </p:nvSpPr>
          <p:spPr bwMode="auto">
            <a:xfrm>
              <a:off x="606" y="2571"/>
              <a:ext cx="7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14" name="Line 32">
              <a:extLst>
                <a:ext uri="{FF2B5EF4-FFF2-40B4-BE49-F238E27FC236}">
                  <a16:creationId xmlns:a16="http://schemas.microsoft.com/office/drawing/2014/main" xmlns="" id="{0E2D8CB0-5D9B-F7C6-714A-438214B7E920}"/>
                </a:ext>
              </a:extLst>
            </p:cNvPr>
            <p:cNvSpPr>
              <a:spLocks noChangeShapeType="1"/>
            </p:cNvSpPr>
            <p:nvPr/>
          </p:nvSpPr>
          <p:spPr bwMode="auto">
            <a:xfrm>
              <a:off x="606" y="3117"/>
              <a:ext cx="7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15" name="Text Box 33">
              <a:extLst>
                <a:ext uri="{FF2B5EF4-FFF2-40B4-BE49-F238E27FC236}">
                  <a16:creationId xmlns:a16="http://schemas.microsoft.com/office/drawing/2014/main" xmlns="" id="{2343D59C-1E0F-805D-B795-9088B4946735}"/>
                </a:ext>
              </a:extLst>
            </p:cNvPr>
            <p:cNvSpPr txBox="1">
              <a:spLocks noChangeArrowheads="1"/>
            </p:cNvSpPr>
            <p:nvPr/>
          </p:nvSpPr>
          <p:spPr bwMode="auto">
            <a:xfrm>
              <a:off x="359" y="2453"/>
              <a:ext cx="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a:solidFill>
                    <a:srgbClr val="000000"/>
                  </a:solidFill>
                  <a:latin typeface="Tahoma" panose="020B0604030504040204" pitchFamily="34" charset="0"/>
                  <a:cs typeface="+mn-cs"/>
                </a:rPr>
                <a:t>W</a:t>
              </a:r>
            </a:p>
          </p:txBody>
        </p:sp>
        <p:sp>
          <p:nvSpPr>
            <p:cNvPr id="110616" name="Text Box 34">
              <a:extLst>
                <a:ext uri="{FF2B5EF4-FFF2-40B4-BE49-F238E27FC236}">
                  <a16:creationId xmlns:a16="http://schemas.microsoft.com/office/drawing/2014/main" xmlns="" id="{141D1232-F6A8-9F03-AE26-CAA3E2D6965C}"/>
                </a:ext>
              </a:extLst>
            </p:cNvPr>
            <p:cNvSpPr txBox="1">
              <a:spLocks noChangeArrowheads="1"/>
            </p:cNvSpPr>
            <p:nvPr/>
          </p:nvSpPr>
          <p:spPr bwMode="auto">
            <a:xfrm>
              <a:off x="258" y="3008"/>
              <a:ext cx="3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a:solidFill>
                    <a:srgbClr val="000000"/>
                  </a:solidFill>
                  <a:latin typeface="Tahoma" panose="020B0604030504040204" pitchFamily="34" charset="0"/>
                  <a:cs typeface="+mn-cs"/>
                </a:rPr>
                <a:t>W/2</a:t>
              </a:r>
            </a:p>
          </p:txBody>
        </p:sp>
      </p:grpSp>
      <p:grpSp>
        <p:nvGrpSpPr>
          <p:cNvPr id="110600" name="Group 45">
            <a:extLst>
              <a:ext uri="{FF2B5EF4-FFF2-40B4-BE49-F238E27FC236}">
                <a16:creationId xmlns:a16="http://schemas.microsoft.com/office/drawing/2014/main" xmlns="" id="{68C387C6-5585-0A8B-3653-7547E5F98DEC}"/>
              </a:ext>
            </a:extLst>
          </p:cNvPr>
          <p:cNvGrpSpPr>
            <a:grpSpLocks/>
          </p:cNvGrpSpPr>
          <p:nvPr/>
        </p:nvGrpSpPr>
        <p:grpSpPr bwMode="auto">
          <a:xfrm>
            <a:off x="3163491" y="2580083"/>
            <a:ext cx="2903934" cy="490537"/>
            <a:chOff x="1697" y="2139"/>
            <a:chExt cx="2439" cy="412"/>
          </a:xfrm>
        </p:grpSpPr>
        <p:sp>
          <p:nvSpPr>
            <p:cNvPr id="110601" name="Text Box 36">
              <a:extLst>
                <a:ext uri="{FF2B5EF4-FFF2-40B4-BE49-F238E27FC236}">
                  <a16:creationId xmlns:a16="http://schemas.microsoft.com/office/drawing/2014/main" xmlns="" id="{A00C40CD-C037-102F-08B8-C13B7D5EA28E}"/>
                </a:ext>
              </a:extLst>
            </p:cNvPr>
            <p:cNvSpPr txBox="1">
              <a:spLocks noChangeArrowheads="1"/>
            </p:cNvSpPr>
            <p:nvPr/>
          </p:nvSpPr>
          <p:spPr bwMode="auto">
            <a:xfrm>
              <a:off x="1697" y="2219"/>
              <a:ext cx="13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Tahoma" panose="020B0604030504040204" pitchFamily="34" charset="0"/>
                  <a:cs typeface="+mn-cs"/>
                </a:rPr>
                <a:t>avg TCP thruput = </a:t>
              </a:r>
            </a:p>
          </p:txBody>
        </p:sp>
        <p:grpSp>
          <p:nvGrpSpPr>
            <p:cNvPr id="110602" name="Group 44">
              <a:extLst>
                <a:ext uri="{FF2B5EF4-FFF2-40B4-BE49-F238E27FC236}">
                  <a16:creationId xmlns:a16="http://schemas.microsoft.com/office/drawing/2014/main" xmlns="" id="{3A32EF82-165C-ED11-ABCA-50AE9AD7955D}"/>
                </a:ext>
              </a:extLst>
            </p:cNvPr>
            <p:cNvGrpSpPr>
              <a:grpSpLocks/>
            </p:cNvGrpSpPr>
            <p:nvPr/>
          </p:nvGrpSpPr>
          <p:grpSpPr bwMode="auto">
            <a:xfrm>
              <a:off x="2967" y="2139"/>
              <a:ext cx="1169" cy="412"/>
              <a:chOff x="3479" y="2153"/>
              <a:chExt cx="1169" cy="412"/>
            </a:xfrm>
          </p:grpSpPr>
          <p:sp>
            <p:nvSpPr>
              <p:cNvPr id="110603" name="Text Box 37">
                <a:extLst>
                  <a:ext uri="{FF2B5EF4-FFF2-40B4-BE49-F238E27FC236}">
                    <a16:creationId xmlns:a16="http://schemas.microsoft.com/office/drawing/2014/main" xmlns="" id="{CFAE702C-4998-5912-2C7D-DF54CE3C84EB}"/>
                  </a:ext>
                </a:extLst>
              </p:cNvPr>
              <p:cNvSpPr txBox="1">
                <a:spLocks noChangeArrowheads="1"/>
              </p:cNvSpPr>
              <p:nvPr/>
            </p:nvSpPr>
            <p:spPr bwMode="auto">
              <a:xfrm>
                <a:off x="3482" y="2153"/>
                <a:ext cx="2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Tahoma" panose="020B0604030504040204" pitchFamily="34" charset="0"/>
                    <a:cs typeface="+mn-cs"/>
                  </a:rPr>
                  <a:t>3</a:t>
                </a:r>
              </a:p>
            </p:txBody>
          </p:sp>
          <p:sp>
            <p:nvSpPr>
              <p:cNvPr id="110604" name="Text Box 38">
                <a:extLst>
                  <a:ext uri="{FF2B5EF4-FFF2-40B4-BE49-F238E27FC236}">
                    <a16:creationId xmlns:a16="http://schemas.microsoft.com/office/drawing/2014/main" xmlns="" id="{FCBA14C1-340F-22F6-DB7A-C39DBC757324}"/>
                  </a:ext>
                </a:extLst>
              </p:cNvPr>
              <p:cNvSpPr txBox="1">
                <a:spLocks noChangeArrowheads="1"/>
              </p:cNvSpPr>
              <p:nvPr/>
            </p:nvSpPr>
            <p:spPr bwMode="auto">
              <a:xfrm>
                <a:off x="3479" y="2313"/>
                <a:ext cx="2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Tahoma" panose="020B0604030504040204" pitchFamily="34" charset="0"/>
                    <a:cs typeface="+mn-cs"/>
                  </a:rPr>
                  <a:t>4</a:t>
                </a:r>
              </a:p>
            </p:txBody>
          </p:sp>
          <p:sp>
            <p:nvSpPr>
              <p:cNvPr id="110605" name="Line 39">
                <a:extLst>
                  <a:ext uri="{FF2B5EF4-FFF2-40B4-BE49-F238E27FC236}">
                    <a16:creationId xmlns:a16="http://schemas.microsoft.com/office/drawing/2014/main" xmlns="" id="{CC6A4AB8-D774-EA36-740A-CC7C072DEAE5}"/>
                  </a:ext>
                </a:extLst>
              </p:cNvPr>
              <p:cNvSpPr>
                <a:spLocks noChangeShapeType="1"/>
              </p:cNvSpPr>
              <p:nvPr/>
            </p:nvSpPr>
            <p:spPr bwMode="auto">
              <a:xfrm>
                <a:off x="3550" y="2352"/>
                <a:ext cx="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06" name="Text Box 40">
                <a:extLst>
                  <a:ext uri="{FF2B5EF4-FFF2-40B4-BE49-F238E27FC236}">
                    <a16:creationId xmlns:a16="http://schemas.microsoft.com/office/drawing/2014/main" xmlns="" id="{EBD36DAD-96FF-C2C4-2540-3378CF6E0AF8}"/>
                  </a:ext>
                </a:extLst>
              </p:cNvPr>
              <p:cNvSpPr txBox="1">
                <a:spLocks noChangeArrowheads="1"/>
              </p:cNvSpPr>
              <p:nvPr/>
            </p:nvSpPr>
            <p:spPr bwMode="auto">
              <a:xfrm>
                <a:off x="3682" y="2157"/>
                <a:ext cx="2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dirty="0">
                    <a:solidFill>
                      <a:srgbClr val="000000"/>
                    </a:solidFill>
                    <a:latin typeface="Tahoma" panose="020B0604030504040204" pitchFamily="34" charset="0"/>
                    <a:cs typeface="+mn-cs"/>
                  </a:rPr>
                  <a:t>W</a:t>
                </a:r>
              </a:p>
            </p:txBody>
          </p:sp>
          <p:sp>
            <p:nvSpPr>
              <p:cNvPr id="110607" name="Text Box 41">
                <a:extLst>
                  <a:ext uri="{FF2B5EF4-FFF2-40B4-BE49-F238E27FC236}">
                    <a16:creationId xmlns:a16="http://schemas.microsoft.com/office/drawing/2014/main" xmlns="" id="{1A2E0D39-0236-6130-6790-DC0B4E32C846}"/>
                  </a:ext>
                </a:extLst>
              </p:cNvPr>
              <p:cNvSpPr txBox="1">
                <a:spLocks noChangeArrowheads="1"/>
              </p:cNvSpPr>
              <p:nvPr/>
            </p:nvSpPr>
            <p:spPr bwMode="auto">
              <a:xfrm>
                <a:off x="3643" y="2309"/>
                <a:ext cx="4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Tahoma" panose="020B0604030504040204" pitchFamily="34" charset="0"/>
                    <a:cs typeface="+mn-cs"/>
                  </a:rPr>
                  <a:t>RTT</a:t>
                </a:r>
              </a:p>
            </p:txBody>
          </p:sp>
          <p:sp>
            <p:nvSpPr>
              <p:cNvPr id="110608" name="Line 42">
                <a:extLst>
                  <a:ext uri="{FF2B5EF4-FFF2-40B4-BE49-F238E27FC236}">
                    <a16:creationId xmlns:a16="http://schemas.microsoft.com/office/drawing/2014/main" xmlns="" id="{4D423D51-28C3-387E-B542-A110A98BBAA3}"/>
                  </a:ext>
                </a:extLst>
              </p:cNvPr>
              <p:cNvSpPr>
                <a:spLocks noChangeShapeType="1"/>
              </p:cNvSpPr>
              <p:nvPr/>
            </p:nvSpPr>
            <p:spPr bwMode="auto">
              <a:xfrm>
                <a:off x="3726" y="2352"/>
                <a:ext cx="2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0609" name="Text Box 43">
                <a:extLst>
                  <a:ext uri="{FF2B5EF4-FFF2-40B4-BE49-F238E27FC236}">
                    <a16:creationId xmlns:a16="http://schemas.microsoft.com/office/drawing/2014/main" xmlns="" id="{F5470554-DD05-88F1-87F3-6B6D8B031490}"/>
                  </a:ext>
                </a:extLst>
              </p:cNvPr>
              <p:cNvSpPr txBox="1">
                <a:spLocks noChangeArrowheads="1"/>
              </p:cNvSpPr>
              <p:nvPr/>
            </p:nvSpPr>
            <p:spPr bwMode="auto">
              <a:xfrm>
                <a:off x="3952" y="2243"/>
                <a:ext cx="6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dirty="0">
                    <a:solidFill>
                      <a:srgbClr val="000000"/>
                    </a:solidFill>
                    <a:latin typeface="Tahoma" panose="020B0604030504040204" pitchFamily="34" charset="0"/>
                    <a:cs typeface="+mn-cs"/>
                  </a:rPr>
                  <a:t>bytes/sec</a:t>
                </a:r>
              </a:p>
            </p:txBody>
          </p:sp>
        </p:grpSp>
      </p:grpSp>
      <p:grpSp>
        <p:nvGrpSpPr>
          <p:cNvPr id="6" name="Group 44">
            <a:extLst>
              <a:ext uri="{FF2B5EF4-FFF2-40B4-BE49-F238E27FC236}">
                <a16:creationId xmlns:a16="http://schemas.microsoft.com/office/drawing/2014/main" xmlns="" id="{506C6E4E-FDF4-B675-EF14-52D2A91C5CFC}"/>
              </a:ext>
            </a:extLst>
          </p:cNvPr>
          <p:cNvGrpSpPr>
            <a:grpSpLocks/>
          </p:cNvGrpSpPr>
          <p:nvPr/>
        </p:nvGrpSpPr>
        <p:grpSpPr bwMode="auto">
          <a:xfrm>
            <a:off x="569714" y="3542462"/>
            <a:ext cx="1340644" cy="485775"/>
            <a:chOff x="3522" y="2153"/>
            <a:chExt cx="1126" cy="408"/>
          </a:xfrm>
        </p:grpSpPr>
        <p:sp>
          <p:nvSpPr>
            <p:cNvPr id="7" name="Text Box 37">
              <a:extLst>
                <a:ext uri="{FF2B5EF4-FFF2-40B4-BE49-F238E27FC236}">
                  <a16:creationId xmlns:a16="http://schemas.microsoft.com/office/drawing/2014/main" xmlns="" id="{E812465B-A72E-59DB-7DE8-20A3560E9D62}"/>
                </a:ext>
              </a:extLst>
            </p:cNvPr>
            <p:cNvSpPr txBox="1">
              <a:spLocks noChangeArrowheads="1"/>
            </p:cNvSpPr>
            <p:nvPr/>
          </p:nvSpPr>
          <p:spPr bwMode="auto">
            <a:xfrm>
              <a:off x="3522" y="2153"/>
              <a:ext cx="1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dirty="0">
                <a:solidFill>
                  <a:srgbClr val="000000"/>
                </a:solidFill>
                <a:latin typeface="Tahoma" panose="020B0604030504040204" pitchFamily="34" charset="0"/>
                <a:cs typeface="+mn-cs"/>
              </a:endParaRPr>
            </a:p>
          </p:txBody>
        </p:sp>
        <p:sp>
          <p:nvSpPr>
            <p:cNvPr id="10" name="Text Box 40">
              <a:extLst>
                <a:ext uri="{FF2B5EF4-FFF2-40B4-BE49-F238E27FC236}">
                  <a16:creationId xmlns:a16="http://schemas.microsoft.com/office/drawing/2014/main" xmlns="" id="{DDDBBACD-CB1B-687E-D0A2-D4A506F7E502}"/>
                </a:ext>
              </a:extLst>
            </p:cNvPr>
            <p:cNvSpPr txBox="1">
              <a:spLocks noChangeArrowheads="1"/>
            </p:cNvSpPr>
            <p:nvPr/>
          </p:nvSpPr>
          <p:spPr bwMode="auto">
            <a:xfrm>
              <a:off x="3682" y="2157"/>
              <a:ext cx="2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dirty="0">
                  <a:solidFill>
                    <a:srgbClr val="000000"/>
                  </a:solidFill>
                  <a:latin typeface="Tahoma" panose="020B0604030504040204" pitchFamily="34" charset="0"/>
                  <a:cs typeface="+mn-cs"/>
                </a:rPr>
                <a:t>W</a:t>
              </a:r>
            </a:p>
          </p:txBody>
        </p:sp>
        <p:sp>
          <p:nvSpPr>
            <p:cNvPr id="11" name="Text Box 41">
              <a:extLst>
                <a:ext uri="{FF2B5EF4-FFF2-40B4-BE49-F238E27FC236}">
                  <a16:creationId xmlns:a16="http://schemas.microsoft.com/office/drawing/2014/main" xmlns="" id="{59091E65-1D06-755C-8FB4-735E44CD3E12}"/>
                </a:ext>
              </a:extLst>
            </p:cNvPr>
            <p:cNvSpPr txBox="1">
              <a:spLocks noChangeArrowheads="1"/>
            </p:cNvSpPr>
            <p:nvPr/>
          </p:nvSpPr>
          <p:spPr bwMode="auto">
            <a:xfrm>
              <a:off x="3643" y="2309"/>
              <a:ext cx="4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dirty="0">
                  <a:solidFill>
                    <a:srgbClr val="000000"/>
                  </a:solidFill>
                  <a:latin typeface="Tahoma" panose="020B0604030504040204" pitchFamily="34" charset="0"/>
                  <a:cs typeface="+mn-cs"/>
                </a:rPr>
                <a:t>RTT</a:t>
              </a:r>
            </a:p>
          </p:txBody>
        </p:sp>
        <p:sp>
          <p:nvSpPr>
            <p:cNvPr id="12" name="Line 42">
              <a:extLst>
                <a:ext uri="{FF2B5EF4-FFF2-40B4-BE49-F238E27FC236}">
                  <a16:creationId xmlns:a16="http://schemas.microsoft.com/office/drawing/2014/main" xmlns="" id="{FC1FF09C-7174-8BC9-D9B8-DC03928995DF}"/>
                </a:ext>
              </a:extLst>
            </p:cNvPr>
            <p:cNvSpPr>
              <a:spLocks noChangeShapeType="1"/>
            </p:cNvSpPr>
            <p:nvPr/>
          </p:nvSpPr>
          <p:spPr bwMode="auto">
            <a:xfrm>
              <a:off x="3726" y="2352"/>
              <a:ext cx="2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3" name="Text Box 43">
              <a:extLst>
                <a:ext uri="{FF2B5EF4-FFF2-40B4-BE49-F238E27FC236}">
                  <a16:creationId xmlns:a16="http://schemas.microsoft.com/office/drawing/2014/main" xmlns="" id="{879F946C-3D7E-7F8B-C83E-5A7E378A3DD6}"/>
                </a:ext>
              </a:extLst>
            </p:cNvPr>
            <p:cNvSpPr txBox="1">
              <a:spLocks noChangeArrowheads="1"/>
            </p:cNvSpPr>
            <p:nvPr/>
          </p:nvSpPr>
          <p:spPr bwMode="auto">
            <a:xfrm>
              <a:off x="3952" y="2243"/>
              <a:ext cx="69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dirty="0">
                  <a:solidFill>
                    <a:srgbClr val="000000"/>
                  </a:solidFill>
                  <a:latin typeface="Tahoma" panose="020B0604030504040204" pitchFamily="34" charset="0"/>
                  <a:cs typeface="+mn-cs"/>
                </a:rPr>
                <a:t>bytes/sec</a:t>
              </a:r>
            </a:p>
          </p:txBody>
        </p:sp>
      </p:grpSp>
      <p:sp>
        <p:nvSpPr>
          <p:cNvPr id="15" name="TextBox 14">
            <a:extLst>
              <a:ext uri="{FF2B5EF4-FFF2-40B4-BE49-F238E27FC236}">
                <a16:creationId xmlns:a16="http://schemas.microsoft.com/office/drawing/2014/main" xmlns="" id="{2884EF78-CD5A-8F70-96C3-5D958A404CC5}"/>
              </a:ext>
            </a:extLst>
          </p:cNvPr>
          <p:cNvSpPr txBox="1"/>
          <p:nvPr/>
        </p:nvSpPr>
        <p:spPr>
          <a:xfrm>
            <a:off x="357759" y="3665686"/>
            <a:ext cx="481012" cy="276999"/>
          </a:xfrm>
          <a:prstGeom prst="rect">
            <a:avLst/>
          </a:prstGeom>
          <a:noFill/>
        </p:spPr>
        <p:txBody>
          <a:bodyPr wrap="square">
            <a:spAutoFit/>
          </a:bodyPr>
          <a:lstStyle/>
          <a:p>
            <a:r>
              <a:rPr lang="en-US" altLang="en-US" sz="1200" kern="1200" dirty="0">
                <a:solidFill>
                  <a:srgbClr val="000000"/>
                </a:solidFill>
                <a:latin typeface="Tahoma" panose="020B0604030504040204" pitchFamily="34" charset="0"/>
                <a:cs typeface="+mn-cs"/>
              </a:rPr>
              <a:t>0.75</a:t>
            </a:r>
            <a:endParaRPr lang="en-IN"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21" name="Rectangle 2">
            <a:extLst>
              <a:ext uri="{FF2B5EF4-FFF2-40B4-BE49-F238E27FC236}">
                <a16:creationId xmlns:a16="http://schemas.microsoft.com/office/drawing/2014/main" xmlns="" id="{D11498FE-A22D-60D6-A5B1-DD09CD7635A4}"/>
              </a:ext>
            </a:extLst>
          </p:cNvPr>
          <p:cNvSpPr>
            <a:spLocks noGrp="1" noChangeArrowheads="1"/>
          </p:cNvSpPr>
          <p:nvPr>
            <p:ph type="title" idx="4294967295"/>
          </p:nvPr>
        </p:nvSpPr>
        <p:spPr>
          <a:xfrm>
            <a:off x="0" y="195263"/>
            <a:ext cx="8915400" cy="857250"/>
          </a:xfrm>
        </p:spPr>
        <p:txBody>
          <a:bodyPr vert="horz" lIns="91440" tIns="45720" rIns="91440" bIns="45720" rtlCol="0" anchor="ctr">
            <a:noAutofit/>
          </a:bodyPr>
          <a:lstStyle/>
          <a:p>
            <a:r>
              <a:rPr lang="en-US" altLang="en-US" sz="4000" b="1" dirty="0"/>
              <a:t>TCP Futures: TCP </a:t>
            </a:r>
            <a:r>
              <a:rPr lang="en-US" altLang="en-US" sz="4000" b="1"/>
              <a:t>over </a:t>
            </a:r>
            <a:r>
              <a:rPr lang="ja-JP" altLang="en-US" sz="4000" b="1"/>
              <a:t>“</a:t>
            </a:r>
            <a:r>
              <a:rPr lang="en-US" altLang="ja-JP" sz="4000" b="1" dirty="0"/>
              <a:t>long, </a:t>
            </a:r>
            <a:r>
              <a:rPr lang="en-US" altLang="ja-JP" sz="4000" b="1"/>
              <a:t>fat pipes</a:t>
            </a:r>
            <a:r>
              <a:rPr lang="ja-JP" altLang="en-US" sz="4000" b="1"/>
              <a:t>”</a:t>
            </a:r>
            <a:endParaRPr lang="en-US" altLang="en-US" sz="4000" b="1" dirty="0"/>
          </a:p>
        </p:txBody>
      </p:sp>
      <p:sp>
        <p:nvSpPr>
          <p:cNvPr id="111622" name="Rectangle 3">
            <a:extLst>
              <a:ext uri="{FF2B5EF4-FFF2-40B4-BE49-F238E27FC236}">
                <a16:creationId xmlns:a16="http://schemas.microsoft.com/office/drawing/2014/main" xmlns="" id="{4674CF20-80AF-30EF-8FB3-6E518B09DC03}"/>
              </a:ext>
            </a:extLst>
          </p:cNvPr>
          <p:cNvSpPr>
            <a:spLocks noGrp="1" noChangeArrowheads="1"/>
          </p:cNvSpPr>
          <p:nvPr>
            <p:ph type="body" idx="4294967295"/>
          </p:nvPr>
        </p:nvSpPr>
        <p:spPr>
          <a:xfrm>
            <a:off x="1600200" y="1200150"/>
            <a:ext cx="7543800" cy="3486150"/>
          </a:xfrm>
        </p:spPr>
        <p:txBody>
          <a:bodyPr/>
          <a:lstStyle/>
          <a:p>
            <a:r>
              <a:rPr lang="en-US" altLang="en-US" sz="2100" dirty="0"/>
              <a:t>example: 1500 byte segments, 100ms RTT, want 10 Gbps throughput</a:t>
            </a:r>
          </a:p>
          <a:p>
            <a:r>
              <a:rPr lang="en-US" altLang="en-US" sz="2100" dirty="0"/>
              <a:t>requires W = 83,333 in-flight segments</a:t>
            </a:r>
          </a:p>
          <a:p>
            <a:r>
              <a:rPr lang="en-US" altLang="en-US" sz="2100" dirty="0"/>
              <a:t>throughput in terms of segment loss probability, L (Loss Rate) </a:t>
            </a:r>
            <a:r>
              <a:rPr lang="en-US" altLang="en-US" sz="1500" dirty="0"/>
              <a:t>[Mathis 1997]:</a:t>
            </a:r>
            <a:r>
              <a:rPr lang="en-US" altLang="en-US" sz="2100" dirty="0"/>
              <a:t/>
            </a:r>
            <a:br>
              <a:rPr lang="en-US" altLang="en-US" sz="2100" dirty="0"/>
            </a:br>
            <a:r>
              <a:rPr lang="en-US" altLang="en-US" sz="2100" dirty="0"/>
              <a:t/>
            </a:r>
            <a:br>
              <a:rPr lang="en-US" altLang="en-US" sz="2100" dirty="0"/>
            </a:br>
            <a:r>
              <a:rPr lang="en-US" altLang="en-US" sz="2100" dirty="0"/>
              <a:t/>
            </a:r>
            <a:br>
              <a:rPr lang="en-US" altLang="en-US" sz="2100" dirty="0"/>
            </a:br>
            <a:endParaRPr lang="en-US" altLang="en-US" sz="2100" dirty="0"/>
          </a:p>
          <a:p>
            <a:pPr lvl="1">
              <a:lnSpc>
                <a:spcPct val="90000"/>
              </a:lnSpc>
              <a:buFont typeface="Wingdings" panose="05000000000000000000" pitchFamily="2" charset="2"/>
              <a:buNone/>
            </a:pPr>
            <a:r>
              <a:rPr lang="en-US" altLang="en-US" sz="1800" dirty="0">
                <a:latin typeface="MS Mincho" panose="02020609040205080304" pitchFamily="49" charset="-128"/>
                <a:ea typeface="MS Mincho" panose="02020609040205080304" pitchFamily="49" charset="-128"/>
              </a:rPr>
              <a:t>➜ </a:t>
            </a:r>
            <a:r>
              <a:rPr lang="en-US" altLang="en-US" sz="1800" dirty="0">
                <a:ea typeface="MS Mincho" panose="02020609040205080304" pitchFamily="49" charset="-128"/>
              </a:rPr>
              <a:t>to achieve 10 Gbps throughput, need a loss rate of </a:t>
            </a:r>
            <a:r>
              <a:rPr lang="en-US" altLang="en-US" sz="1800" dirty="0"/>
              <a:t>L = 2</a:t>
            </a:r>
            <a:r>
              <a:rPr lang="el-GR" altLang="en-US" sz="1800" dirty="0"/>
              <a:t>·</a:t>
            </a:r>
            <a:r>
              <a:rPr lang="en-US" altLang="en-US" sz="1800" dirty="0"/>
              <a:t>10</a:t>
            </a:r>
            <a:r>
              <a:rPr lang="en-US" altLang="en-US" sz="1800" baseline="30000" dirty="0"/>
              <a:t>-10  </a:t>
            </a:r>
            <a:r>
              <a:rPr lang="en-US" altLang="en-US" sz="1800" i="1" dirty="0">
                <a:solidFill>
                  <a:srgbClr val="FF0000"/>
                </a:solidFill>
              </a:rPr>
              <a:t> – a very small loss rate!</a:t>
            </a:r>
          </a:p>
          <a:p>
            <a:r>
              <a:rPr lang="en-US" altLang="en-US" sz="2100" dirty="0"/>
              <a:t>new versions of TCP for high-speed</a:t>
            </a:r>
            <a:endParaRPr lang="en-US" altLang="en-US" sz="2100" baseline="30000" dirty="0"/>
          </a:p>
          <a:p>
            <a:endParaRPr lang="en-US" altLang="en-US" sz="2100" dirty="0"/>
          </a:p>
        </p:txBody>
      </p:sp>
      <p:grpSp>
        <p:nvGrpSpPr>
          <p:cNvPr id="111623" name="Group 16">
            <a:extLst>
              <a:ext uri="{FF2B5EF4-FFF2-40B4-BE49-F238E27FC236}">
                <a16:creationId xmlns:a16="http://schemas.microsoft.com/office/drawing/2014/main" xmlns="" id="{A185F78B-6265-3D8E-828E-0D7F357F889C}"/>
              </a:ext>
            </a:extLst>
          </p:cNvPr>
          <p:cNvGrpSpPr>
            <a:grpSpLocks/>
          </p:cNvGrpSpPr>
          <p:nvPr/>
        </p:nvGrpSpPr>
        <p:grpSpPr bwMode="auto">
          <a:xfrm>
            <a:off x="2572942" y="2596756"/>
            <a:ext cx="3176587" cy="747713"/>
            <a:chOff x="396" y="3400"/>
            <a:chExt cx="2668" cy="628"/>
          </a:xfrm>
        </p:grpSpPr>
        <p:sp>
          <p:nvSpPr>
            <p:cNvPr id="111624" name="Text Box 6">
              <a:extLst>
                <a:ext uri="{FF2B5EF4-FFF2-40B4-BE49-F238E27FC236}">
                  <a16:creationId xmlns:a16="http://schemas.microsoft.com/office/drawing/2014/main" xmlns="" id="{ACDFEE90-5359-0F37-29F0-5D2A8332038A}"/>
                </a:ext>
              </a:extLst>
            </p:cNvPr>
            <p:cNvSpPr txBox="1">
              <a:spLocks noChangeArrowheads="1"/>
            </p:cNvSpPr>
            <p:nvPr/>
          </p:nvSpPr>
          <p:spPr bwMode="auto">
            <a:xfrm>
              <a:off x="396" y="3566"/>
              <a:ext cx="17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kern="1200" dirty="0">
                  <a:solidFill>
                    <a:srgbClr val="000000"/>
                  </a:solidFill>
                  <a:latin typeface="Arial" panose="020B0604020202020204" pitchFamily="34" charset="0"/>
                  <a:cs typeface="+mn-cs"/>
                </a:rPr>
                <a:t>TCP throughput = </a:t>
              </a:r>
            </a:p>
          </p:txBody>
        </p:sp>
        <p:sp>
          <p:nvSpPr>
            <p:cNvPr id="111625" name="Text Box 7">
              <a:extLst>
                <a:ext uri="{FF2B5EF4-FFF2-40B4-BE49-F238E27FC236}">
                  <a16:creationId xmlns:a16="http://schemas.microsoft.com/office/drawing/2014/main" xmlns="" id="{9B8659C2-1EAA-86D5-242A-184F8BF8A2E9}"/>
                </a:ext>
              </a:extLst>
            </p:cNvPr>
            <p:cNvSpPr txBox="1">
              <a:spLocks noChangeArrowheads="1"/>
            </p:cNvSpPr>
            <p:nvPr/>
          </p:nvSpPr>
          <p:spPr bwMode="auto">
            <a:xfrm>
              <a:off x="1988" y="3470"/>
              <a:ext cx="5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kern="1200" dirty="0">
                  <a:solidFill>
                    <a:srgbClr val="000000"/>
                  </a:solidFill>
                  <a:latin typeface="Arial" panose="020B0604020202020204" pitchFamily="34" charset="0"/>
                  <a:cs typeface="+mn-cs"/>
                </a:rPr>
                <a:t>1.22</a:t>
              </a:r>
            </a:p>
          </p:txBody>
        </p:sp>
        <p:grpSp>
          <p:nvGrpSpPr>
            <p:cNvPr id="111626" name="Group 15">
              <a:extLst>
                <a:ext uri="{FF2B5EF4-FFF2-40B4-BE49-F238E27FC236}">
                  <a16:creationId xmlns:a16="http://schemas.microsoft.com/office/drawing/2014/main" xmlns="" id="{9DBC816E-76D9-C3DC-A272-08487488CEAD}"/>
                </a:ext>
              </a:extLst>
            </p:cNvPr>
            <p:cNvGrpSpPr>
              <a:grpSpLocks/>
            </p:cNvGrpSpPr>
            <p:nvPr/>
          </p:nvGrpSpPr>
          <p:grpSpPr bwMode="auto">
            <a:xfrm>
              <a:off x="2092" y="3400"/>
              <a:ext cx="972" cy="628"/>
              <a:chOff x="2092" y="3400"/>
              <a:chExt cx="972" cy="628"/>
            </a:xfrm>
          </p:grpSpPr>
          <p:sp>
            <p:nvSpPr>
              <p:cNvPr id="111627" name="Text Box 8">
                <a:extLst>
                  <a:ext uri="{FF2B5EF4-FFF2-40B4-BE49-F238E27FC236}">
                    <a16:creationId xmlns:a16="http://schemas.microsoft.com/office/drawing/2014/main" xmlns="" id="{98973C8D-E786-84BA-C1FF-0EDB596170E1}"/>
                  </a:ext>
                </a:extLst>
              </p:cNvPr>
              <p:cNvSpPr txBox="1">
                <a:spLocks noChangeArrowheads="1"/>
              </p:cNvSpPr>
              <p:nvPr/>
            </p:nvSpPr>
            <p:spPr bwMode="auto">
              <a:xfrm>
                <a:off x="2403" y="3400"/>
                <a:ext cx="20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b="1" kern="1200">
                    <a:solidFill>
                      <a:srgbClr val="000000"/>
                    </a:solidFill>
                    <a:latin typeface="Arial" panose="020B0604020202020204" pitchFamily="34" charset="0"/>
                    <a:cs typeface="+mn-cs"/>
                  </a:rPr>
                  <a:t>.</a:t>
                </a:r>
              </a:p>
            </p:txBody>
          </p:sp>
          <p:sp>
            <p:nvSpPr>
              <p:cNvPr id="111628" name="Text Box 9">
                <a:extLst>
                  <a:ext uri="{FF2B5EF4-FFF2-40B4-BE49-F238E27FC236}">
                    <a16:creationId xmlns:a16="http://schemas.microsoft.com/office/drawing/2014/main" xmlns="" id="{0B666F10-AE1E-DF76-6FED-3691349F7B4E}"/>
                  </a:ext>
                </a:extLst>
              </p:cNvPr>
              <p:cNvSpPr txBox="1">
                <a:spLocks noChangeArrowheads="1"/>
              </p:cNvSpPr>
              <p:nvPr/>
            </p:nvSpPr>
            <p:spPr bwMode="auto">
              <a:xfrm>
                <a:off x="2489" y="3472"/>
                <a:ext cx="57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kern="1200">
                    <a:solidFill>
                      <a:srgbClr val="000000"/>
                    </a:solidFill>
                    <a:latin typeface="Arial" panose="020B0604020202020204" pitchFamily="34" charset="0"/>
                    <a:cs typeface="+mn-cs"/>
                  </a:rPr>
                  <a:t>MSS</a:t>
                </a:r>
              </a:p>
            </p:txBody>
          </p:sp>
          <p:sp>
            <p:nvSpPr>
              <p:cNvPr id="111629" name="Line 10">
                <a:extLst>
                  <a:ext uri="{FF2B5EF4-FFF2-40B4-BE49-F238E27FC236}">
                    <a16:creationId xmlns:a16="http://schemas.microsoft.com/office/drawing/2014/main" xmlns="" id="{72CE56FA-092A-CD6C-BDD7-EFCF82612D7D}"/>
                  </a:ext>
                </a:extLst>
              </p:cNvPr>
              <p:cNvSpPr>
                <a:spLocks noChangeShapeType="1"/>
              </p:cNvSpPr>
              <p:nvPr/>
            </p:nvSpPr>
            <p:spPr bwMode="auto">
              <a:xfrm>
                <a:off x="2092" y="3720"/>
                <a:ext cx="87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1630" name="Text Box 11">
                <a:extLst>
                  <a:ext uri="{FF2B5EF4-FFF2-40B4-BE49-F238E27FC236}">
                    <a16:creationId xmlns:a16="http://schemas.microsoft.com/office/drawing/2014/main" xmlns="" id="{B9F0F34C-F057-4339-2E23-CE87983514AF}"/>
                  </a:ext>
                </a:extLst>
              </p:cNvPr>
              <p:cNvSpPr txBox="1">
                <a:spLocks noChangeArrowheads="1"/>
              </p:cNvSpPr>
              <p:nvPr/>
            </p:nvSpPr>
            <p:spPr bwMode="auto">
              <a:xfrm>
                <a:off x="2113" y="3696"/>
                <a:ext cx="52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kern="1200" dirty="0">
                    <a:solidFill>
                      <a:srgbClr val="000000"/>
                    </a:solidFill>
                    <a:latin typeface="Arial" panose="020B0604020202020204" pitchFamily="34" charset="0"/>
                    <a:cs typeface="+mn-cs"/>
                  </a:rPr>
                  <a:t>RTT</a:t>
                </a:r>
              </a:p>
            </p:txBody>
          </p:sp>
          <p:sp>
            <p:nvSpPr>
              <p:cNvPr id="111631" name="Freeform 13">
                <a:extLst>
                  <a:ext uri="{FF2B5EF4-FFF2-40B4-BE49-F238E27FC236}">
                    <a16:creationId xmlns:a16="http://schemas.microsoft.com/office/drawing/2014/main" xmlns="" id="{2AD89F7C-002A-FCD8-4B0A-68167C71FE55}"/>
                  </a:ext>
                </a:extLst>
              </p:cNvPr>
              <p:cNvSpPr>
                <a:spLocks/>
              </p:cNvSpPr>
              <p:nvPr/>
            </p:nvSpPr>
            <p:spPr bwMode="auto">
              <a:xfrm>
                <a:off x="2607" y="3740"/>
                <a:ext cx="294" cy="220"/>
              </a:xfrm>
              <a:custGeom>
                <a:avLst/>
                <a:gdLst>
                  <a:gd name="T0" fmla="*/ 0 w 294"/>
                  <a:gd name="T1" fmla="*/ 158 h 220"/>
                  <a:gd name="T2" fmla="*/ 32 w 294"/>
                  <a:gd name="T3" fmla="*/ 140 h 220"/>
                  <a:gd name="T4" fmla="*/ 72 w 294"/>
                  <a:gd name="T5" fmla="*/ 220 h 220"/>
                  <a:gd name="T6" fmla="*/ 132 w 294"/>
                  <a:gd name="T7" fmla="*/ 0 h 220"/>
                  <a:gd name="T8" fmla="*/ 294 w 294"/>
                  <a:gd name="T9" fmla="*/ 0 h 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4" h="220">
                    <a:moveTo>
                      <a:pt x="0" y="158"/>
                    </a:moveTo>
                    <a:lnTo>
                      <a:pt x="32" y="140"/>
                    </a:lnTo>
                    <a:lnTo>
                      <a:pt x="72" y="220"/>
                    </a:lnTo>
                    <a:lnTo>
                      <a:pt x="132" y="0"/>
                    </a:lnTo>
                    <a:lnTo>
                      <a:pt x="294" y="0"/>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1632" name="Text Box 14">
                <a:extLst>
                  <a:ext uri="{FF2B5EF4-FFF2-40B4-BE49-F238E27FC236}">
                    <a16:creationId xmlns:a16="http://schemas.microsoft.com/office/drawing/2014/main" xmlns="" id="{6B61CD78-42AA-07CC-2D30-6F2ED160B77B}"/>
                  </a:ext>
                </a:extLst>
              </p:cNvPr>
              <p:cNvSpPr txBox="1">
                <a:spLocks noChangeArrowheads="1"/>
              </p:cNvSpPr>
              <p:nvPr/>
            </p:nvSpPr>
            <p:spPr bwMode="auto">
              <a:xfrm>
                <a:off x="2684" y="3718"/>
                <a:ext cx="26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800" kern="1200" dirty="0">
                    <a:solidFill>
                      <a:srgbClr val="000000"/>
                    </a:solidFill>
                    <a:latin typeface="Arial" panose="020B0604020202020204" pitchFamily="34" charset="0"/>
                    <a:cs typeface="+mn-cs"/>
                  </a:rPr>
                  <a:t>L</a:t>
                </a:r>
              </a:p>
            </p:txBody>
          </p:sp>
        </p:gr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5BE42B62-EF01-7AED-050F-1E38F4BFF82C}"/>
              </a:ext>
            </a:extLst>
          </p:cNvPr>
          <p:cNvSpPr>
            <a:spLocks noGrp="1"/>
          </p:cNvSpPr>
          <p:nvPr>
            <p:ph type="ftr" sz="quarter" idx="11"/>
          </p:nvPr>
        </p:nvSpPr>
        <p:spPr/>
        <p:txBody>
          <a:bodyPr/>
          <a:lstStyle/>
          <a:p>
            <a:pPr>
              <a:defRPr/>
            </a:pPr>
            <a:r>
              <a:rPr lang="en-US"/>
              <a:t>Transport</a:t>
            </a:r>
            <a:r>
              <a:rPr lang="en-US" sz="1050"/>
              <a:t> </a:t>
            </a:r>
            <a:r>
              <a:rPr lang="en-US"/>
              <a:t>Layer</a:t>
            </a:r>
          </a:p>
        </p:txBody>
      </p:sp>
      <p:sp>
        <p:nvSpPr>
          <p:cNvPr id="2" name="Title 1">
            <a:extLst>
              <a:ext uri="{FF2B5EF4-FFF2-40B4-BE49-F238E27FC236}">
                <a16:creationId xmlns:a16="http://schemas.microsoft.com/office/drawing/2014/main" xmlns="" id="{1578EB36-C870-CA3D-AB14-46143CF86CDB}"/>
              </a:ext>
            </a:extLst>
          </p:cNvPr>
          <p:cNvSpPr>
            <a:spLocks noGrp="1"/>
          </p:cNvSpPr>
          <p:nvPr>
            <p:ph type="title" idx="4294967295"/>
          </p:nvPr>
        </p:nvSpPr>
        <p:spPr>
          <a:xfrm>
            <a:off x="177165" y="1123950"/>
            <a:ext cx="8305800" cy="2400300"/>
          </a:xfrm>
        </p:spPr>
        <p:txBody>
          <a:bodyPr/>
          <a:lstStyle/>
          <a:p>
            <a:pPr lvl="0"/>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A TCP Reno connection operates with the following parameters: MSS is 1000 bytes, RTT is 50 </a:t>
            </a:r>
            <a:r>
              <a:rPr lang="en-IN" sz="2200" dirty="0" err="1">
                <a:solidFill>
                  <a:schemeClr val="tx1"/>
                </a:solidFill>
                <a:latin typeface="Calibri" panose="020F0502020204030204" pitchFamily="34" charset="0"/>
                <a:ea typeface="Calibri" panose="020F0502020204030204" pitchFamily="34" charset="0"/>
                <a:cs typeface="Calibri" panose="020F0502020204030204" pitchFamily="34" charset="0"/>
              </a:rPr>
              <a:t>ms</a:t>
            </a:r>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 and Packet loss probability (L) is 0.0009. Assuming the standard TCP Reno throughput approximation model, calculate the expected throughput of the connection in:</a:t>
            </a:r>
            <a:b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a) Bytes per second</a:t>
            </a:r>
            <a:b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IN" sz="2200" dirty="0">
                <a:solidFill>
                  <a:schemeClr val="tx1"/>
                </a:solidFill>
                <a:latin typeface="Calibri" panose="020F0502020204030204" pitchFamily="34" charset="0"/>
                <a:ea typeface="Calibri" panose="020F0502020204030204" pitchFamily="34" charset="0"/>
                <a:cs typeface="Calibri" panose="020F0502020204030204" pitchFamily="34" charset="0"/>
              </a:rPr>
              <a:t>b) Mbps</a:t>
            </a:r>
          </a:p>
        </p:txBody>
      </p:sp>
      <p:sp>
        <p:nvSpPr>
          <p:cNvPr id="5" name="Slide Number Placeholder 4">
            <a:extLst>
              <a:ext uri="{FF2B5EF4-FFF2-40B4-BE49-F238E27FC236}">
                <a16:creationId xmlns:a16="http://schemas.microsoft.com/office/drawing/2014/main" xmlns="" id="{4ED602EC-EB7D-EC6E-AC7A-A9D0A37FB163}"/>
              </a:ext>
            </a:extLst>
          </p:cNvPr>
          <p:cNvSpPr>
            <a:spLocks noGrp="1"/>
          </p:cNvSpPr>
          <p:nvPr>
            <p:ph type="sldNum" sz="quarter" idx="4294967295"/>
          </p:nvPr>
        </p:nvSpPr>
        <p:spPr>
          <a:xfrm>
            <a:off x="8467725" y="4846638"/>
            <a:ext cx="676275" cy="207962"/>
          </a:xfrm>
        </p:spPr>
        <p:txBody>
          <a:bodyPr/>
          <a:lstStyle/>
          <a:p>
            <a:pPr>
              <a:defRPr/>
            </a:pPr>
            <a:r>
              <a:rPr lang="en-US" altLang="en-US"/>
              <a:t>3-</a:t>
            </a:r>
            <a:fld id="{30B680F3-65BE-42DD-B776-C979156B0EEB}" type="slidenum">
              <a:rPr lang="en-US" altLang="en-US" smtClean="0"/>
              <a:pPr>
                <a:defRPr/>
              </a:pPr>
              <a:t>31</a:t>
            </a:fld>
            <a:endParaRPr lang="en-US" altLang="en-US"/>
          </a:p>
        </p:txBody>
      </p:sp>
    </p:spTree>
    <p:extLst>
      <p:ext uri="{BB962C8B-B14F-4D97-AF65-F5344CB8AC3E}">
        <p14:creationId xmlns:p14="http://schemas.microsoft.com/office/powerpoint/2010/main" val="3675020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Line 68">
            <a:extLst>
              <a:ext uri="{FF2B5EF4-FFF2-40B4-BE49-F238E27FC236}">
                <a16:creationId xmlns:a16="http://schemas.microsoft.com/office/drawing/2014/main" xmlns="" id="{5EA85612-38CF-2BDA-ED31-374FEDC3E70E}"/>
              </a:ext>
            </a:extLst>
          </p:cNvPr>
          <p:cNvSpPr>
            <a:spLocks noChangeShapeType="1"/>
          </p:cNvSpPr>
          <p:nvPr/>
        </p:nvSpPr>
        <p:spPr bwMode="auto">
          <a:xfrm>
            <a:off x="4786313" y="3171826"/>
            <a:ext cx="419100" cy="23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12645" name="Group 59">
            <a:extLst>
              <a:ext uri="{FF2B5EF4-FFF2-40B4-BE49-F238E27FC236}">
                <a16:creationId xmlns:a16="http://schemas.microsoft.com/office/drawing/2014/main" xmlns="" id="{DF05B5C2-B8CE-390C-DFC4-0CA5E43CDBD6}"/>
              </a:ext>
            </a:extLst>
          </p:cNvPr>
          <p:cNvGrpSpPr>
            <a:grpSpLocks/>
          </p:cNvGrpSpPr>
          <p:nvPr/>
        </p:nvGrpSpPr>
        <p:grpSpPr bwMode="auto">
          <a:xfrm>
            <a:off x="3977879" y="2924176"/>
            <a:ext cx="812006" cy="403622"/>
            <a:chOff x="2356" y="1300"/>
            <a:chExt cx="555" cy="194"/>
          </a:xfrm>
        </p:grpSpPr>
        <p:sp>
          <p:nvSpPr>
            <p:cNvPr id="112673" name="Oval 407">
              <a:extLst>
                <a:ext uri="{FF2B5EF4-FFF2-40B4-BE49-F238E27FC236}">
                  <a16:creationId xmlns:a16="http://schemas.microsoft.com/office/drawing/2014/main" xmlns="" id="{2C10875B-F2AA-C15D-085C-B9088C1B80D7}"/>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sp>
          <p:nvSpPr>
            <p:cNvPr id="112674" name="Rectangle 410">
              <a:extLst>
                <a:ext uri="{FF2B5EF4-FFF2-40B4-BE49-F238E27FC236}">
                  <a16:creationId xmlns:a16="http://schemas.microsoft.com/office/drawing/2014/main" xmlns="" id="{EC500AA3-F64B-1EE1-C1A7-75C333B4CEC5}"/>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sp>
          <p:nvSpPr>
            <p:cNvPr id="112675" name="Oval 411">
              <a:extLst>
                <a:ext uri="{FF2B5EF4-FFF2-40B4-BE49-F238E27FC236}">
                  <a16:creationId xmlns:a16="http://schemas.microsoft.com/office/drawing/2014/main" xmlns="" id="{9062D5D8-941A-8883-2E4F-40345DD28608}"/>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grpSp>
          <p:nvGrpSpPr>
            <p:cNvPr id="112676" name="Group 63">
              <a:extLst>
                <a:ext uri="{FF2B5EF4-FFF2-40B4-BE49-F238E27FC236}">
                  <a16:creationId xmlns:a16="http://schemas.microsoft.com/office/drawing/2014/main" xmlns="" id="{D732CB51-30C9-468A-85EE-81C18A490526}"/>
                </a:ext>
              </a:extLst>
            </p:cNvPr>
            <p:cNvGrpSpPr>
              <a:grpSpLocks/>
            </p:cNvGrpSpPr>
            <p:nvPr/>
          </p:nvGrpSpPr>
          <p:grpSpPr bwMode="auto">
            <a:xfrm>
              <a:off x="2468" y="1332"/>
              <a:ext cx="310" cy="60"/>
              <a:chOff x="2468" y="1332"/>
              <a:chExt cx="310" cy="60"/>
            </a:xfrm>
          </p:grpSpPr>
          <p:sp>
            <p:nvSpPr>
              <p:cNvPr id="112679" name="Freeform 64">
                <a:extLst>
                  <a:ext uri="{FF2B5EF4-FFF2-40B4-BE49-F238E27FC236}">
                    <a16:creationId xmlns:a16="http://schemas.microsoft.com/office/drawing/2014/main" xmlns="" id="{C958731C-F054-CD6E-DA9D-DF43DB49EBD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80" name="Freeform 65">
                <a:extLst>
                  <a:ext uri="{FF2B5EF4-FFF2-40B4-BE49-F238E27FC236}">
                    <a16:creationId xmlns:a16="http://schemas.microsoft.com/office/drawing/2014/main" xmlns="" id="{AEA525DD-63D1-D272-C689-092B0BC6FEDF}"/>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2677" name="Line 66">
              <a:extLst>
                <a:ext uri="{FF2B5EF4-FFF2-40B4-BE49-F238E27FC236}">
                  <a16:creationId xmlns:a16="http://schemas.microsoft.com/office/drawing/2014/main" xmlns="" id="{996290A4-DDAA-037E-6320-BC7730A0835E}"/>
                </a:ext>
              </a:extLst>
            </p:cNvPr>
            <p:cNvSpPr>
              <a:spLocks noChangeShapeType="1"/>
            </p:cNvSpPr>
            <p:nvPr/>
          </p:nvSpPr>
          <p:spPr bwMode="auto">
            <a:xfrm>
              <a:off x="2357" y="1361"/>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78" name="Line 67">
              <a:extLst>
                <a:ext uri="{FF2B5EF4-FFF2-40B4-BE49-F238E27FC236}">
                  <a16:creationId xmlns:a16="http://schemas.microsoft.com/office/drawing/2014/main" xmlns="" id="{5839A640-E340-2DE3-E59A-0B3BADC90C85}"/>
                </a:ext>
              </a:extLst>
            </p:cNvPr>
            <p:cNvSpPr>
              <a:spLocks noChangeShapeType="1"/>
            </p:cNvSpPr>
            <p:nvPr/>
          </p:nvSpPr>
          <p:spPr bwMode="auto">
            <a:xfrm>
              <a:off x="2907" y="1363"/>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2646" name="Group 50">
            <a:extLst>
              <a:ext uri="{FF2B5EF4-FFF2-40B4-BE49-F238E27FC236}">
                <a16:creationId xmlns:a16="http://schemas.microsoft.com/office/drawing/2014/main" xmlns="" id="{FF899948-0007-94BE-8F23-5A36232A52C8}"/>
              </a:ext>
            </a:extLst>
          </p:cNvPr>
          <p:cNvGrpSpPr>
            <a:grpSpLocks/>
          </p:cNvGrpSpPr>
          <p:nvPr/>
        </p:nvGrpSpPr>
        <p:grpSpPr bwMode="auto">
          <a:xfrm>
            <a:off x="5203032" y="2912269"/>
            <a:ext cx="812006" cy="403622"/>
            <a:chOff x="2356" y="1300"/>
            <a:chExt cx="555" cy="194"/>
          </a:xfrm>
        </p:grpSpPr>
        <p:sp>
          <p:nvSpPr>
            <p:cNvPr id="112665" name="Oval 407">
              <a:extLst>
                <a:ext uri="{FF2B5EF4-FFF2-40B4-BE49-F238E27FC236}">
                  <a16:creationId xmlns:a16="http://schemas.microsoft.com/office/drawing/2014/main" xmlns="" id="{61D562D1-8546-1C12-4B09-70A155CC8BAA}"/>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sp>
          <p:nvSpPr>
            <p:cNvPr id="112666" name="Rectangle 410">
              <a:extLst>
                <a:ext uri="{FF2B5EF4-FFF2-40B4-BE49-F238E27FC236}">
                  <a16:creationId xmlns:a16="http://schemas.microsoft.com/office/drawing/2014/main" xmlns="" id="{D4509CB7-6454-05DB-297D-31B84C4085CF}"/>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sp>
          <p:nvSpPr>
            <p:cNvPr id="112667" name="Oval 411">
              <a:extLst>
                <a:ext uri="{FF2B5EF4-FFF2-40B4-BE49-F238E27FC236}">
                  <a16:creationId xmlns:a16="http://schemas.microsoft.com/office/drawing/2014/main" xmlns="" id="{C768DDA7-EEA2-5B79-8655-906FA36705FB}"/>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endParaRPr lang="en-US" altLang="en-US" sz="1800" kern="1200">
                <a:solidFill>
                  <a:srgbClr val="000000"/>
                </a:solidFill>
                <a:latin typeface="Times New Roman" panose="02020603050405020304" pitchFamily="18" charset="0"/>
                <a:cs typeface="Arial" panose="020B0604020202020204" pitchFamily="34" charset="0"/>
              </a:endParaRPr>
            </a:p>
          </p:txBody>
        </p:sp>
        <p:grpSp>
          <p:nvGrpSpPr>
            <p:cNvPr id="112668" name="Group 54">
              <a:extLst>
                <a:ext uri="{FF2B5EF4-FFF2-40B4-BE49-F238E27FC236}">
                  <a16:creationId xmlns:a16="http://schemas.microsoft.com/office/drawing/2014/main" xmlns="" id="{1C26C647-D3F4-0819-1884-371C2ED2B316}"/>
                </a:ext>
              </a:extLst>
            </p:cNvPr>
            <p:cNvGrpSpPr>
              <a:grpSpLocks/>
            </p:cNvGrpSpPr>
            <p:nvPr/>
          </p:nvGrpSpPr>
          <p:grpSpPr bwMode="auto">
            <a:xfrm>
              <a:off x="2468" y="1332"/>
              <a:ext cx="310" cy="60"/>
              <a:chOff x="2468" y="1332"/>
              <a:chExt cx="310" cy="60"/>
            </a:xfrm>
          </p:grpSpPr>
          <p:sp>
            <p:nvSpPr>
              <p:cNvPr id="112671" name="Freeform 55">
                <a:extLst>
                  <a:ext uri="{FF2B5EF4-FFF2-40B4-BE49-F238E27FC236}">
                    <a16:creationId xmlns:a16="http://schemas.microsoft.com/office/drawing/2014/main" xmlns="" id="{4F3013D1-0EDF-6368-DA57-AC6F11C0428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0" h="60">
                    <a:moveTo>
                      <a:pt x="0" y="60"/>
                    </a:moveTo>
                    <a:lnTo>
                      <a:pt x="96" y="60"/>
                    </a:lnTo>
                    <a:lnTo>
                      <a:pt x="192" y="0"/>
                    </a:lnTo>
                    <a:lnTo>
                      <a:pt x="310"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72" name="Freeform 56">
                <a:extLst>
                  <a:ext uri="{FF2B5EF4-FFF2-40B4-BE49-F238E27FC236}">
                    <a16:creationId xmlns:a16="http://schemas.microsoft.com/office/drawing/2014/main" xmlns="" id="{CE99D67F-3073-922D-2445-153D51620A0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2" h="60">
                    <a:moveTo>
                      <a:pt x="0" y="0"/>
                    </a:moveTo>
                    <a:lnTo>
                      <a:pt x="96" y="0"/>
                    </a:lnTo>
                    <a:lnTo>
                      <a:pt x="192" y="60"/>
                    </a:lnTo>
                    <a:lnTo>
                      <a:pt x="282" y="6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2669" name="Line 57">
              <a:extLst>
                <a:ext uri="{FF2B5EF4-FFF2-40B4-BE49-F238E27FC236}">
                  <a16:creationId xmlns:a16="http://schemas.microsoft.com/office/drawing/2014/main" xmlns="" id="{E8589518-F9FD-ADBF-8F67-7A79EBAEA14B}"/>
                </a:ext>
              </a:extLst>
            </p:cNvPr>
            <p:cNvSpPr>
              <a:spLocks noChangeShapeType="1"/>
            </p:cNvSpPr>
            <p:nvPr/>
          </p:nvSpPr>
          <p:spPr bwMode="auto">
            <a:xfrm>
              <a:off x="2357" y="1361"/>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70" name="Line 58">
              <a:extLst>
                <a:ext uri="{FF2B5EF4-FFF2-40B4-BE49-F238E27FC236}">
                  <a16:creationId xmlns:a16="http://schemas.microsoft.com/office/drawing/2014/main" xmlns="" id="{0E6DB656-4481-A7B7-29B5-A1D4454ECFD5}"/>
                </a:ext>
              </a:extLst>
            </p:cNvPr>
            <p:cNvSpPr>
              <a:spLocks noChangeShapeType="1"/>
            </p:cNvSpPr>
            <p:nvPr/>
          </p:nvSpPr>
          <p:spPr bwMode="auto">
            <a:xfrm>
              <a:off x="2907" y="1363"/>
              <a:ext cx="0"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09575" name="Rectangle 4">
            <a:extLst>
              <a:ext uri="{FF2B5EF4-FFF2-40B4-BE49-F238E27FC236}">
                <a16:creationId xmlns:a16="http://schemas.microsoft.com/office/drawing/2014/main" xmlns="" id="{9A69E3CA-A6D7-FAFC-12DD-FF1CE0915035}"/>
              </a:ext>
            </a:extLst>
          </p:cNvPr>
          <p:cNvSpPr>
            <a:spLocks noGrp="1" noChangeArrowheads="1"/>
          </p:cNvSpPr>
          <p:nvPr>
            <p:ph type="body" sz="half" idx="4294967295"/>
          </p:nvPr>
        </p:nvSpPr>
        <p:spPr>
          <a:xfrm>
            <a:off x="0" y="1058863"/>
            <a:ext cx="8229600" cy="1644650"/>
          </a:xfrm>
        </p:spPr>
        <p:txBody>
          <a:bodyPr/>
          <a:lstStyle/>
          <a:p>
            <a:pPr algn="just">
              <a:buFont typeface="Wingdings" charset="0"/>
              <a:buNone/>
              <a:defRPr/>
            </a:pPr>
            <a:r>
              <a:rPr lang="en-US" i="1" dirty="0">
                <a:solidFill>
                  <a:srgbClr val="CC0000"/>
                </a:solidFill>
                <a:ea typeface="ＭＳ Ｐゴシック" charset="0"/>
                <a:cs typeface="+mn-cs"/>
              </a:rPr>
              <a:t>fairness goal:</a:t>
            </a:r>
            <a:r>
              <a:rPr lang="en-US" dirty="0">
                <a:ea typeface="ＭＳ Ｐゴシック" charset="0"/>
                <a:cs typeface="+mn-cs"/>
              </a:rPr>
              <a:t> if K TCP sessions share same bottleneck link of </a:t>
            </a:r>
          </a:p>
          <a:p>
            <a:pPr algn="just">
              <a:buFont typeface="Wingdings" charset="0"/>
              <a:buNone/>
              <a:defRPr/>
            </a:pPr>
            <a:r>
              <a:rPr lang="en-US" dirty="0">
                <a:ea typeface="ＭＳ Ｐゴシック" charset="0"/>
                <a:cs typeface="+mn-cs"/>
              </a:rPr>
              <a:t>bandwidth R, each should have average rate of R/K</a:t>
            </a:r>
          </a:p>
        </p:txBody>
      </p:sp>
      <p:sp>
        <p:nvSpPr>
          <p:cNvPr id="109584" name="Rectangle 43">
            <a:extLst>
              <a:ext uri="{FF2B5EF4-FFF2-40B4-BE49-F238E27FC236}">
                <a16:creationId xmlns:a16="http://schemas.microsoft.com/office/drawing/2014/main" xmlns="" id="{4AFA5D52-7B96-01A7-1CE8-C33E7564F165}"/>
              </a:ext>
            </a:extLst>
          </p:cNvPr>
          <p:cNvSpPr>
            <a:spLocks noGrp="1" noChangeArrowheads="1"/>
          </p:cNvSpPr>
          <p:nvPr>
            <p:ph type="title" idx="4294967295"/>
          </p:nvPr>
        </p:nvSpPr>
        <p:spPr>
          <a:xfrm>
            <a:off x="0" y="173038"/>
            <a:ext cx="5829300" cy="857250"/>
          </a:xfrm>
        </p:spPr>
        <p:txBody>
          <a:bodyPr vert="horz" lIns="91440" tIns="45720" rIns="91440" bIns="45720" rtlCol="0" anchor="ctr">
            <a:noAutofit/>
          </a:bodyPr>
          <a:lstStyle/>
          <a:p>
            <a:r>
              <a:rPr lang="en-US" sz="4000" b="1" dirty="0"/>
              <a:t>TCP Fairness</a:t>
            </a:r>
          </a:p>
        </p:txBody>
      </p:sp>
      <p:sp>
        <p:nvSpPr>
          <p:cNvPr id="112648" name="Rectangle 25">
            <a:extLst>
              <a:ext uri="{FF2B5EF4-FFF2-40B4-BE49-F238E27FC236}">
                <a16:creationId xmlns:a16="http://schemas.microsoft.com/office/drawing/2014/main" xmlns="" id="{FD6EC3EB-3E97-E12B-C08F-40791BB950AE}"/>
              </a:ext>
            </a:extLst>
          </p:cNvPr>
          <p:cNvSpPr>
            <a:spLocks noChangeArrowheads="1"/>
          </p:cNvSpPr>
          <p:nvPr/>
        </p:nvSpPr>
        <p:spPr bwMode="auto">
          <a:xfrm>
            <a:off x="4944666" y="3019425"/>
            <a:ext cx="110728" cy="150019"/>
          </a:xfrm>
          <a:prstGeom prst="rect">
            <a:avLst/>
          </a:prstGeom>
          <a:solidFill>
            <a:srgbClr val="009900"/>
          </a:solidFill>
          <a:ln w="9525">
            <a:solidFill>
              <a:schemeClr val="tx1"/>
            </a:solidFill>
            <a:miter lim="800000"/>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12649" name="Rectangle 26">
            <a:extLst>
              <a:ext uri="{FF2B5EF4-FFF2-40B4-BE49-F238E27FC236}">
                <a16:creationId xmlns:a16="http://schemas.microsoft.com/office/drawing/2014/main" xmlns="" id="{1B552D12-BA13-EEE2-0963-2AFBD5D3A64E}"/>
              </a:ext>
            </a:extLst>
          </p:cNvPr>
          <p:cNvSpPr>
            <a:spLocks noChangeArrowheads="1"/>
          </p:cNvSpPr>
          <p:nvPr/>
        </p:nvSpPr>
        <p:spPr bwMode="auto">
          <a:xfrm>
            <a:off x="4426744" y="3065860"/>
            <a:ext cx="110729" cy="150019"/>
          </a:xfrm>
          <a:prstGeom prst="rect">
            <a:avLst/>
          </a:prstGeom>
          <a:solidFill>
            <a:srgbClr val="009900"/>
          </a:solidFill>
          <a:ln w="9525">
            <a:solidFill>
              <a:schemeClr val="tx1"/>
            </a:solidFill>
            <a:miter lim="800000"/>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12650" name="Rectangle 27">
            <a:extLst>
              <a:ext uri="{FF2B5EF4-FFF2-40B4-BE49-F238E27FC236}">
                <a16:creationId xmlns:a16="http://schemas.microsoft.com/office/drawing/2014/main" xmlns="" id="{7C9CB004-5974-D963-5E0F-8B81D6A8B270}"/>
              </a:ext>
            </a:extLst>
          </p:cNvPr>
          <p:cNvSpPr>
            <a:spLocks noChangeArrowheads="1"/>
          </p:cNvSpPr>
          <p:nvPr/>
        </p:nvSpPr>
        <p:spPr bwMode="auto">
          <a:xfrm>
            <a:off x="4644629" y="3019425"/>
            <a:ext cx="110728" cy="150019"/>
          </a:xfrm>
          <a:prstGeom prst="rect">
            <a:avLst/>
          </a:prstGeom>
          <a:solidFill>
            <a:srgbClr val="009900"/>
          </a:solidFill>
          <a:ln w="9525">
            <a:solidFill>
              <a:schemeClr val="tx1"/>
            </a:solidFill>
            <a:miter lim="800000"/>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12651" name="Text Box 28">
            <a:extLst>
              <a:ext uri="{FF2B5EF4-FFF2-40B4-BE49-F238E27FC236}">
                <a16:creationId xmlns:a16="http://schemas.microsoft.com/office/drawing/2014/main" xmlns="" id="{E99FA4DB-AE8C-2274-4BB4-D97D1F5BC16B}"/>
              </a:ext>
            </a:extLst>
          </p:cNvPr>
          <p:cNvSpPr txBox="1">
            <a:spLocks noChangeArrowheads="1"/>
          </p:cNvSpPr>
          <p:nvPr/>
        </p:nvSpPr>
        <p:spPr bwMode="auto">
          <a:xfrm>
            <a:off x="1991916" y="2263378"/>
            <a:ext cx="155690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TCP connection 1</a:t>
            </a:r>
          </a:p>
        </p:txBody>
      </p:sp>
      <p:sp>
        <p:nvSpPr>
          <p:cNvPr id="112652" name="Text Box 29">
            <a:extLst>
              <a:ext uri="{FF2B5EF4-FFF2-40B4-BE49-F238E27FC236}">
                <a16:creationId xmlns:a16="http://schemas.microsoft.com/office/drawing/2014/main" xmlns="" id="{7CCE2737-DCDB-43A9-8154-2C1784E9C331}"/>
              </a:ext>
            </a:extLst>
          </p:cNvPr>
          <p:cNvSpPr txBox="1">
            <a:spLocks noChangeArrowheads="1"/>
          </p:cNvSpPr>
          <p:nvPr/>
        </p:nvSpPr>
        <p:spPr bwMode="auto">
          <a:xfrm>
            <a:off x="3762576" y="3353991"/>
            <a:ext cx="992580"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bottleneck</a:t>
            </a:r>
          </a:p>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router</a:t>
            </a:r>
          </a:p>
          <a:p>
            <a:pPr algn="ctr" defTabSz="685800" rtl="0" eaLnBrk="0" fontAlgn="base" hangingPunct="0">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capacity R</a:t>
            </a:r>
          </a:p>
        </p:txBody>
      </p:sp>
      <p:sp>
        <p:nvSpPr>
          <p:cNvPr id="112653" name="Freeform 40">
            <a:extLst>
              <a:ext uri="{FF2B5EF4-FFF2-40B4-BE49-F238E27FC236}">
                <a16:creationId xmlns:a16="http://schemas.microsoft.com/office/drawing/2014/main" xmlns="" id="{A502CFCB-95B9-5F47-A01E-1ED6A4987EA0}"/>
              </a:ext>
            </a:extLst>
          </p:cNvPr>
          <p:cNvSpPr>
            <a:spLocks/>
          </p:cNvSpPr>
          <p:nvPr/>
        </p:nvSpPr>
        <p:spPr bwMode="auto">
          <a:xfrm>
            <a:off x="3290888" y="2626519"/>
            <a:ext cx="3002756" cy="539354"/>
          </a:xfrm>
          <a:custGeom>
            <a:avLst/>
            <a:gdLst>
              <a:gd name="T0" fmla="*/ 0 w 2412"/>
              <a:gd name="T1" fmla="*/ 0 h 453"/>
              <a:gd name="T2" fmla="*/ 2147483646 w 2412"/>
              <a:gd name="T3" fmla="*/ 2147483646 h 453"/>
              <a:gd name="T4" fmla="*/ 2147483646 w 2412"/>
              <a:gd name="T5" fmla="*/ 2147483646 h 453"/>
              <a:gd name="T6" fmla="*/ 0 60000 65536"/>
              <a:gd name="T7" fmla="*/ 0 60000 65536"/>
              <a:gd name="T8" fmla="*/ 0 60000 65536"/>
            </a:gdLst>
            <a:ahLst/>
            <a:cxnLst>
              <a:cxn ang="T6">
                <a:pos x="T0" y="T1"/>
              </a:cxn>
              <a:cxn ang="T7">
                <a:pos x="T2" y="T3"/>
              </a:cxn>
              <a:cxn ang="T8">
                <a:pos x="T4" y="T5"/>
              </a:cxn>
            </a:cxnLst>
            <a:rect l="0" t="0" r="r" b="b"/>
            <a:pathLst>
              <a:path w="2412" h="453">
                <a:moveTo>
                  <a:pt x="0" y="0"/>
                </a:moveTo>
                <a:cubicBezTo>
                  <a:pt x="93" y="65"/>
                  <a:pt x="156" y="318"/>
                  <a:pt x="558" y="390"/>
                </a:cubicBezTo>
                <a:cubicBezTo>
                  <a:pt x="959" y="453"/>
                  <a:pt x="2026" y="423"/>
                  <a:pt x="2412" y="432"/>
                </a:cubicBezTo>
              </a:path>
            </a:pathLst>
          </a:custGeom>
          <a:noFill/>
          <a:ln w="38100" cap="flat" cmpd="sng">
            <a:solidFill>
              <a:srgbClr val="0099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54" name="Rectangle 41">
            <a:extLst>
              <a:ext uri="{FF2B5EF4-FFF2-40B4-BE49-F238E27FC236}">
                <a16:creationId xmlns:a16="http://schemas.microsoft.com/office/drawing/2014/main" xmlns="" id="{C67DA7C4-8C32-0199-7ECB-3FAEAE3EC155}"/>
              </a:ext>
            </a:extLst>
          </p:cNvPr>
          <p:cNvSpPr>
            <a:spLocks noChangeArrowheads="1"/>
          </p:cNvSpPr>
          <p:nvPr/>
        </p:nvSpPr>
        <p:spPr bwMode="auto">
          <a:xfrm>
            <a:off x="4548187" y="3065860"/>
            <a:ext cx="110729" cy="150019"/>
          </a:xfrm>
          <a:prstGeom prst="rect">
            <a:avLst/>
          </a:prstGeom>
          <a:solidFill>
            <a:schemeClr val="accent2"/>
          </a:solidFill>
          <a:ln w="9525">
            <a:solidFill>
              <a:schemeClr val="tx1"/>
            </a:solidFill>
            <a:miter lim="800000"/>
            <a:headEnd/>
            <a:tailEnd/>
          </a:ln>
        </p:spPr>
        <p:txBody>
          <a:bodyPr wrap="none" anchor="ctr"/>
          <a:lstStyle>
            <a:lvl1pPr algn="ctr">
              <a:defRPr sz="1600">
                <a:solidFill>
                  <a:schemeClr val="tx1"/>
                </a:solidFill>
                <a:latin typeface="Tahoma" panose="020B0604030504040204" pitchFamily="34" charset="0"/>
                <a:ea typeface="MS PGothic" panose="020B0600070205080204" pitchFamily="34" charset="-128"/>
              </a:defRPr>
            </a:lvl1pPr>
            <a:lvl2pPr marL="742950" indent="-285750" algn="ctr">
              <a:defRPr sz="1600">
                <a:solidFill>
                  <a:schemeClr val="tx1"/>
                </a:solidFill>
                <a:latin typeface="Tahoma" panose="020B0604030504040204" pitchFamily="34" charset="0"/>
                <a:ea typeface="MS PGothic" panose="020B0600070205080204" pitchFamily="34" charset="-128"/>
              </a:defRPr>
            </a:lvl2pPr>
            <a:lvl3pPr marL="1143000" indent="-228600" algn="ctr">
              <a:defRPr sz="1600">
                <a:solidFill>
                  <a:schemeClr val="tx1"/>
                </a:solidFill>
                <a:latin typeface="Tahoma" panose="020B0604030504040204" pitchFamily="34" charset="0"/>
                <a:ea typeface="MS PGothic" panose="020B0600070205080204" pitchFamily="34" charset="-128"/>
              </a:defRPr>
            </a:lvl3pPr>
            <a:lvl4pPr marL="1600200" indent="-228600" algn="ctr">
              <a:defRPr sz="1600">
                <a:solidFill>
                  <a:schemeClr val="tx1"/>
                </a:solidFill>
                <a:latin typeface="Tahoma" panose="020B0604030504040204" pitchFamily="34" charset="0"/>
                <a:ea typeface="MS PGothic" panose="020B0600070205080204" pitchFamily="34" charset="-128"/>
              </a:defRPr>
            </a:lvl4pPr>
            <a:lvl5pPr marL="2057400" indent="-228600" algn="ctr">
              <a:defRPr sz="1600">
                <a:solidFill>
                  <a:schemeClr val="tx1"/>
                </a:solidFill>
                <a:latin typeface="Tahoma" panose="020B0604030504040204" pitchFamily="34" charset="0"/>
                <a:ea typeface="MS PGothic"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MS PGothic" panose="020B0600070205080204" pitchFamily="34" charset="-128"/>
              </a:defRPr>
            </a:lvl9pPr>
          </a:lstStyle>
          <a:p>
            <a:pPr defTabSz="685800" rtl="0" eaLnBrk="0" fontAlgn="base" hangingPunct="0">
              <a:spcBef>
                <a:spcPct val="0"/>
              </a:spcBef>
              <a:spcAft>
                <a:spcPct val="0"/>
              </a:spcAft>
            </a:pPr>
            <a:endParaRPr lang="en-US" altLang="en-US" sz="1200" kern="1200">
              <a:solidFill>
                <a:srgbClr val="000000"/>
              </a:solidFill>
              <a:cs typeface="+mn-cs"/>
            </a:endParaRPr>
          </a:p>
        </p:txBody>
      </p:sp>
      <p:sp>
        <p:nvSpPr>
          <p:cNvPr id="112655" name="Freeform 42">
            <a:extLst>
              <a:ext uri="{FF2B5EF4-FFF2-40B4-BE49-F238E27FC236}">
                <a16:creationId xmlns:a16="http://schemas.microsoft.com/office/drawing/2014/main" xmlns="" id="{08DF036B-22E4-258C-EE3C-6D4295ECDBB1}"/>
              </a:ext>
            </a:extLst>
          </p:cNvPr>
          <p:cNvSpPr>
            <a:spLocks/>
          </p:cNvSpPr>
          <p:nvPr/>
        </p:nvSpPr>
        <p:spPr bwMode="auto">
          <a:xfrm>
            <a:off x="3248025" y="3177779"/>
            <a:ext cx="3033713" cy="539353"/>
          </a:xfrm>
          <a:custGeom>
            <a:avLst/>
            <a:gdLst>
              <a:gd name="T0" fmla="*/ 0 w 2412"/>
              <a:gd name="T1" fmla="*/ 2147483646 h 453"/>
              <a:gd name="T2" fmla="*/ 2147483646 w 2412"/>
              <a:gd name="T3" fmla="*/ 2147483646 h 453"/>
              <a:gd name="T4" fmla="*/ 2147483646 w 2412"/>
              <a:gd name="T5" fmla="*/ 2147483646 h 453"/>
              <a:gd name="T6" fmla="*/ 0 60000 65536"/>
              <a:gd name="T7" fmla="*/ 0 60000 65536"/>
              <a:gd name="T8" fmla="*/ 0 60000 65536"/>
            </a:gdLst>
            <a:ahLst/>
            <a:cxnLst>
              <a:cxn ang="T6">
                <a:pos x="T0" y="T1"/>
              </a:cxn>
              <a:cxn ang="T7">
                <a:pos x="T2" y="T3"/>
              </a:cxn>
              <a:cxn ang="T8">
                <a:pos x="T4" y="T5"/>
              </a:cxn>
            </a:cxnLst>
            <a:rect l="0" t="0" r="r" b="b"/>
            <a:pathLst>
              <a:path w="2412" h="453">
                <a:moveTo>
                  <a:pt x="0" y="453"/>
                </a:moveTo>
                <a:cubicBezTo>
                  <a:pt x="93" y="388"/>
                  <a:pt x="156" y="134"/>
                  <a:pt x="558" y="63"/>
                </a:cubicBezTo>
                <a:cubicBezTo>
                  <a:pt x="959" y="0"/>
                  <a:pt x="2026" y="36"/>
                  <a:pt x="2412" y="29"/>
                </a:cubicBezTo>
              </a:path>
            </a:pathLst>
          </a:custGeom>
          <a:noFill/>
          <a:ln w="381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2658" name="Text Box 48">
            <a:extLst>
              <a:ext uri="{FF2B5EF4-FFF2-40B4-BE49-F238E27FC236}">
                <a16:creationId xmlns:a16="http://schemas.microsoft.com/office/drawing/2014/main" xmlns="" id="{DFD0B742-FEAA-390F-511B-B77800CF7315}"/>
              </a:ext>
            </a:extLst>
          </p:cNvPr>
          <p:cNvSpPr txBox="1">
            <a:spLocks noChangeArrowheads="1"/>
          </p:cNvSpPr>
          <p:nvPr/>
        </p:nvSpPr>
        <p:spPr bwMode="auto">
          <a:xfrm>
            <a:off x="1987154" y="3860006"/>
            <a:ext cx="155690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l" defTabSz="685800" rtl="0" eaLnBrk="0" fontAlgn="base" hangingPunct="0">
              <a:lnSpc>
                <a:spcPct val="100000"/>
              </a:lnSpc>
              <a:spcBef>
                <a:spcPct val="0"/>
              </a:spcBef>
              <a:spcAft>
                <a:spcPct val="0"/>
              </a:spcAft>
              <a:buClrTx/>
              <a:buSzTx/>
              <a:buNone/>
            </a:pPr>
            <a:r>
              <a:rPr lang="en-US" altLang="en-US" sz="1350" kern="1200">
                <a:solidFill>
                  <a:srgbClr val="000000"/>
                </a:solidFill>
                <a:latin typeface="Arial" panose="020B0604020202020204" pitchFamily="34" charset="0"/>
                <a:cs typeface="+mn-cs"/>
              </a:rPr>
              <a:t>TCP connection 2</a:t>
            </a:r>
          </a:p>
        </p:txBody>
      </p:sp>
      <p:grpSp>
        <p:nvGrpSpPr>
          <p:cNvPr id="112659" name="Group 69">
            <a:extLst>
              <a:ext uri="{FF2B5EF4-FFF2-40B4-BE49-F238E27FC236}">
                <a16:creationId xmlns:a16="http://schemas.microsoft.com/office/drawing/2014/main" xmlns="" id="{EF88E99D-3BC1-DE72-4515-1D60EF227D19}"/>
              </a:ext>
            </a:extLst>
          </p:cNvPr>
          <p:cNvGrpSpPr>
            <a:grpSpLocks/>
          </p:cNvGrpSpPr>
          <p:nvPr/>
        </p:nvGrpSpPr>
        <p:grpSpPr bwMode="auto">
          <a:xfrm>
            <a:off x="2686051" y="2500312"/>
            <a:ext cx="575072" cy="528638"/>
            <a:chOff x="-44" y="1473"/>
            <a:chExt cx="981" cy="1105"/>
          </a:xfrm>
        </p:grpSpPr>
        <p:pic>
          <p:nvPicPr>
            <p:cNvPr id="112663" name="Picture 70" descr="desktop_computer_stylized_medium">
              <a:extLst>
                <a:ext uri="{FF2B5EF4-FFF2-40B4-BE49-F238E27FC236}">
                  <a16:creationId xmlns:a16="http://schemas.microsoft.com/office/drawing/2014/main" xmlns="" id="{E45B83E0-39B9-A7A8-9EDA-793655F76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4" name="Freeform 71">
              <a:extLst>
                <a:ext uri="{FF2B5EF4-FFF2-40B4-BE49-F238E27FC236}">
                  <a16:creationId xmlns:a16="http://schemas.microsoft.com/office/drawing/2014/main" xmlns="" id="{BA3A1208-7E07-F44E-95D2-9D876D054908}"/>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2660" name="Group 72">
            <a:extLst>
              <a:ext uri="{FF2B5EF4-FFF2-40B4-BE49-F238E27FC236}">
                <a16:creationId xmlns:a16="http://schemas.microsoft.com/office/drawing/2014/main" xmlns="" id="{45DDCBF8-6A2F-C572-A396-FA7DAE707749}"/>
              </a:ext>
            </a:extLst>
          </p:cNvPr>
          <p:cNvGrpSpPr>
            <a:grpSpLocks/>
          </p:cNvGrpSpPr>
          <p:nvPr/>
        </p:nvGrpSpPr>
        <p:grpSpPr bwMode="auto">
          <a:xfrm>
            <a:off x="2697957" y="3434953"/>
            <a:ext cx="575072" cy="528638"/>
            <a:chOff x="-44" y="1473"/>
            <a:chExt cx="981" cy="1105"/>
          </a:xfrm>
        </p:grpSpPr>
        <p:pic>
          <p:nvPicPr>
            <p:cNvPr id="112661" name="Picture 73" descr="desktop_computer_stylized_medium">
              <a:extLst>
                <a:ext uri="{FF2B5EF4-FFF2-40B4-BE49-F238E27FC236}">
                  <a16:creationId xmlns:a16="http://schemas.microsoft.com/office/drawing/2014/main" xmlns="" id="{CFF6655E-F3ED-B8D2-DD89-DF33FC2606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2" name="Freeform 74">
              <a:extLst>
                <a:ext uri="{FF2B5EF4-FFF2-40B4-BE49-F238E27FC236}">
                  <a16:creationId xmlns:a16="http://schemas.microsoft.com/office/drawing/2014/main" xmlns="" id="{B4075C79-31FF-0676-9F6C-57AC8E1BE227}"/>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Rectangle 2">
            <a:extLst>
              <a:ext uri="{FF2B5EF4-FFF2-40B4-BE49-F238E27FC236}">
                <a16:creationId xmlns:a16="http://schemas.microsoft.com/office/drawing/2014/main" xmlns="" id="{0AF91E2B-9D98-9E4C-AECD-1777D591E02F}"/>
              </a:ext>
            </a:extLst>
          </p:cNvPr>
          <p:cNvSpPr>
            <a:spLocks noGrp="1" noChangeArrowheads="1"/>
          </p:cNvSpPr>
          <p:nvPr>
            <p:ph type="title" idx="4294967295"/>
          </p:nvPr>
        </p:nvSpPr>
        <p:spPr>
          <a:xfrm>
            <a:off x="335107" y="124540"/>
            <a:ext cx="7772400" cy="857250"/>
          </a:xfrm>
        </p:spPr>
        <p:txBody>
          <a:bodyPr vert="horz" lIns="91440" tIns="45720" rIns="91440" bIns="45720" rtlCol="0" anchor="ctr">
            <a:noAutofit/>
          </a:bodyPr>
          <a:lstStyle/>
          <a:p>
            <a:r>
              <a:rPr lang="en-US" sz="4000" b="1" dirty="0"/>
              <a:t>Why is TCP fair?</a:t>
            </a:r>
          </a:p>
        </p:txBody>
      </p:sp>
      <p:sp>
        <p:nvSpPr>
          <p:cNvPr id="110598" name="Rectangle 3">
            <a:extLst>
              <a:ext uri="{FF2B5EF4-FFF2-40B4-BE49-F238E27FC236}">
                <a16:creationId xmlns:a16="http://schemas.microsoft.com/office/drawing/2014/main" xmlns="" id="{4C716154-A2A1-AAD5-53FF-2C6B0D23CE16}"/>
              </a:ext>
            </a:extLst>
          </p:cNvPr>
          <p:cNvSpPr>
            <a:spLocks noGrp="1" noChangeArrowheads="1"/>
          </p:cNvSpPr>
          <p:nvPr>
            <p:ph type="body" sz="half" idx="4294967295"/>
          </p:nvPr>
        </p:nvSpPr>
        <p:spPr>
          <a:xfrm>
            <a:off x="2914650" y="1049338"/>
            <a:ext cx="6229350" cy="3486150"/>
          </a:xfrm>
        </p:spPr>
        <p:txBody>
          <a:bodyPr/>
          <a:lstStyle/>
          <a:p>
            <a:pPr>
              <a:buFont typeface="Wingdings" charset="0"/>
              <a:buNone/>
              <a:defRPr/>
            </a:pPr>
            <a:r>
              <a:rPr lang="en-US">
                <a:ea typeface="ＭＳ Ｐゴシック" charset="0"/>
                <a:cs typeface="+mn-cs"/>
              </a:rPr>
              <a:t>two competing sessions:</a:t>
            </a:r>
          </a:p>
          <a:p>
            <a:pPr>
              <a:buFont typeface="Wingdings" charset="2"/>
              <a:buChar char="§"/>
              <a:defRPr/>
            </a:pPr>
            <a:r>
              <a:rPr lang="en-US" sz="1800">
                <a:ea typeface="ＭＳ Ｐゴシック" charset="0"/>
                <a:cs typeface="+mn-cs"/>
              </a:rPr>
              <a:t>additive increase gives slope of 1, as throughout increases</a:t>
            </a:r>
          </a:p>
          <a:p>
            <a:pPr>
              <a:buFont typeface="Wingdings" charset="2"/>
              <a:buChar char="§"/>
              <a:defRPr/>
            </a:pPr>
            <a:r>
              <a:rPr lang="en-US" sz="1800">
                <a:ea typeface="ＭＳ Ｐゴシック" charset="0"/>
                <a:cs typeface="+mn-cs"/>
              </a:rPr>
              <a:t>multiplicative decrease decreases throughput proportionally </a:t>
            </a:r>
          </a:p>
        </p:txBody>
      </p:sp>
      <p:sp>
        <p:nvSpPr>
          <p:cNvPr id="113671" name="Line 4">
            <a:extLst>
              <a:ext uri="{FF2B5EF4-FFF2-40B4-BE49-F238E27FC236}">
                <a16:creationId xmlns:a16="http://schemas.microsoft.com/office/drawing/2014/main" xmlns="" id="{9A0B2940-E651-7444-A41A-869FFD3CB478}"/>
              </a:ext>
            </a:extLst>
          </p:cNvPr>
          <p:cNvSpPr>
            <a:spLocks noChangeShapeType="1"/>
          </p:cNvSpPr>
          <p:nvPr/>
        </p:nvSpPr>
        <p:spPr bwMode="auto">
          <a:xfrm>
            <a:off x="2943225" y="4386263"/>
            <a:ext cx="272891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3672" name="Line 5">
            <a:extLst>
              <a:ext uri="{FF2B5EF4-FFF2-40B4-BE49-F238E27FC236}">
                <a16:creationId xmlns:a16="http://schemas.microsoft.com/office/drawing/2014/main" xmlns="" id="{C18AE828-4B5A-94FC-BBB4-5A5B8E584281}"/>
              </a:ext>
            </a:extLst>
          </p:cNvPr>
          <p:cNvSpPr>
            <a:spLocks noChangeShapeType="1"/>
          </p:cNvSpPr>
          <p:nvPr/>
        </p:nvSpPr>
        <p:spPr bwMode="auto">
          <a:xfrm flipV="1">
            <a:off x="2943225" y="2064544"/>
            <a:ext cx="0" cy="2314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3673" name="Line 6">
            <a:extLst>
              <a:ext uri="{FF2B5EF4-FFF2-40B4-BE49-F238E27FC236}">
                <a16:creationId xmlns:a16="http://schemas.microsoft.com/office/drawing/2014/main" xmlns="" id="{9B7AAF50-8C1E-0A80-66E4-B821C706660C}"/>
              </a:ext>
            </a:extLst>
          </p:cNvPr>
          <p:cNvSpPr>
            <a:spLocks noChangeShapeType="1"/>
          </p:cNvSpPr>
          <p:nvPr/>
        </p:nvSpPr>
        <p:spPr bwMode="auto">
          <a:xfrm rot="18661895" flipH="1" flipV="1">
            <a:off x="2488407" y="3365898"/>
            <a:ext cx="2670572" cy="1071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3674" name="Line 7">
            <a:extLst>
              <a:ext uri="{FF2B5EF4-FFF2-40B4-BE49-F238E27FC236}">
                <a16:creationId xmlns:a16="http://schemas.microsoft.com/office/drawing/2014/main" xmlns="" id="{1F5BB36B-0D82-0A09-E295-2B480D2E987D}"/>
              </a:ext>
            </a:extLst>
          </p:cNvPr>
          <p:cNvSpPr>
            <a:spLocks noChangeShapeType="1"/>
          </p:cNvSpPr>
          <p:nvPr/>
        </p:nvSpPr>
        <p:spPr bwMode="auto">
          <a:xfrm>
            <a:off x="2928938" y="2250282"/>
            <a:ext cx="2114550" cy="210740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3675" name="Text Box 8">
            <a:extLst>
              <a:ext uri="{FF2B5EF4-FFF2-40B4-BE49-F238E27FC236}">
                <a16:creationId xmlns:a16="http://schemas.microsoft.com/office/drawing/2014/main" xmlns="" id="{2E34331C-DD5B-02BD-7ADF-EE83D25466E6}"/>
              </a:ext>
            </a:extLst>
          </p:cNvPr>
          <p:cNvSpPr txBox="1">
            <a:spLocks noChangeArrowheads="1"/>
          </p:cNvSpPr>
          <p:nvPr/>
        </p:nvSpPr>
        <p:spPr bwMode="auto">
          <a:xfrm>
            <a:off x="2665810" y="2121694"/>
            <a:ext cx="30241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500" kern="1200">
                <a:solidFill>
                  <a:srgbClr val="000000"/>
                </a:solidFill>
                <a:latin typeface="Arial" panose="020B0604020202020204" pitchFamily="34" charset="0"/>
                <a:cs typeface="+mn-cs"/>
              </a:rPr>
              <a:t>R</a:t>
            </a:r>
            <a:endParaRPr lang="en-US" altLang="en-US" sz="750" kern="1200">
              <a:solidFill>
                <a:srgbClr val="000000"/>
              </a:solidFill>
              <a:latin typeface="Arial" panose="020B0604020202020204" pitchFamily="34" charset="0"/>
              <a:cs typeface="+mn-cs"/>
            </a:endParaRPr>
          </a:p>
        </p:txBody>
      </p:sp>
      <p:sp>
        <p:nvSpPr>
          <p:cNvPr id="113676" name="Text Box 9">
            <a:extLst>
              <a:ext uri="{FF2B5EF4-FFF2-40B4-BE49-F238E27FC236}">
                <a16:creationId xmlns:a16="http://schemas.microsoft.com/office/drawing/2014/main" xmlns="" id="{B44A5B06-A2C6-C0DD-E4B2-057F155834A3}"/>
              </a:ext>
            </a:extLst>
          </p:cNvPr>
          <p:cNvSpPr txBox="1">
            <a:spLocks noChangeArrowheads="1"/>
          </p:cNvSpPr>
          <p:nvPr/>
        </p:nvSpPr>
        <p:spPr bwMode="auto">
          <a:xfrm>
            <a:off x="4880373" y="4407694"/>
            <a:ext cx="30241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500" kern="1200">
                <a:solidFill>
                  <a:srgbClr val="000000"/>
                </a:solidFill>
                <a:latin typeface="Arial" panose="020B0604020202020204" pitchFamily="34" charset="0"/>
                <a:cs typeface="+mn-cs"/>
              </a:rPr>
              <a:t>R</a:t>
            </a:r>
            <a:endParaRPr lang="en-US" altLang="en-US" sz="750" kern="1200">
              <a:solidFill>
                <a:srgbClr val="000000"/>
              </a:solidFill>
              <a:latin typeface="Arial" panose="020B0604020202020204" pitchFamily="34" charset="0"/>
              <a:cs typeface="+mn-cs"/>
            </a:endParaRPr>
          </a:p>
        </p:txBody>
      </p:sp>
      <p:sp>
        <p:nvSpPr>
          <p:cNvPr id="113677" name="Text Box 10">
            <a:extLst>
              <a:ext uri="{FF2B5EF4-FFF2-40B4-BE49-F238E27FC236}">
                <a16:creationId xmlns:a16="http://schemas.microsoft.com/office/drawing/2014/main" xmlns="" id="{356CE1A4-AB14-89C3-2A82-70535D6543C3}"/>
              </a:ext>
            </a:extLst>
          </p:cNvPr>
          <p:cNvSpPr txBox="1">
            <a:spLocks noChangeArrowheads="1"/>
          </p:cNvSpPr>
          <p:nvPr/>
        </p:nvSpPr>
        <p:spPr bwMode="auto">
          <a:xfrm>
            <a:off x="3587354" y="2114550"/>
            <a:ext cx="26598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350" kern="1200">
                <a:solidFill>
                  <a:srgbClr val="000000"/>
                </a:solidFill>
                <a:latin typeface="Arial" panose="020B0604020202020204" pitchFamily="34" charset="0"/>
                <a:cs typeface="+mn-cs"/>
              </a:rPr>
              <a:t>equal bandwidth share</a:t>
            </a:r>
            <a:endParaRPr lang="en-US" altLang="en-US" sz="750" kern="1200">
              <a:solidFill>
                <a:srgbClr val="000000"/>
              </a:solidFill>
              <a:latin typeface="Arial" panose="020B0604020202020204" pitchFamily="34" charset="0"/>
              <a:cs typeface="+mn-cs"/>
            </a:endParaRPr>
          </a:p>
        </p:txBody>
      </p:sp>
      <p:sp>
        <p:nvSpPr>
          <p:cNvPr id="113678" name="Text Box 11">
            <a:extLst>
              <a:ext uri="{FF2B5EF4-FFF2-40B4-BE49-F238E27FC236}">
                <a16:creationId xmlns:a16="http://schemas.microsoft.com/office/drawing/2014/main" xmlns="" id="{061C99FA-A5BB-181A-5733-1335F3442A53}"/>
              </a:ext>
            </a:extLst>
          </p:cNvPr>
          <p:cNvSpPr txBox="1">
            <a:spLocks noChangeArrowheads="1"/>
          </p:cNvSpPr>
          <p:nvPr/>
        </p:nvSpPr>
        <p:spPr bwMode="auto">
          <a:xfrm>
            <a:off x="2522935" y="4393406"/>
            <a:ext cx="26598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350" kern="1200">
                <a:solidFill>
                  <a:srgbClr val="000000"/>
                </a:solidFill>
                <a:latin typeface="Arial" panose="020B0604020202020204" pitchFamily="34" charset="0"/>
                <a:cs typeface="+mn-cs"/>
              </a:rPr>
              <a:t>Connection 1 throughput</a:t>
            </a:r>
            <a:endParaRPr lang="en-US" altLang="en-US" sz="750" kern="1200">
              <a:solidFill>
                <a:srgbClr val="000000"/>
              </a:solidFill>
              <a:latin typeface="Arial" panose="020B0604020202020204" pitchFamily="34" charset="0"/>
              <a:cs typeface="+mn-cs"/>
            </a:endParaRPr>
          </a:p>
        </p:txBody>
      </p:sp>
      <p:sp>
        <p:nvSpPr>
          <p:cNvPr id="113679" name="Text Box 12">
            <a:extLst>
              <a:ext uri="{FF2B5EF4-FFF2-40B4-BE49-F238E27FC236}">
                <a16:creationId xmlns:a16="http://schemas.microsoft.com/office/drawing/2014/main" xmlns="" id="{AAA5F5D7-08E0-F097-A111-4991C4AD83A6}"/>
              </a:ext>
            </a:extLst>
          </p:cNvPr>
          <p:cNvSpPr txBox="1">
            <a:spLocks noChangeArrowheads="1"/>
          </p:cNvSpPr>
          <p:nvPr/>
        </p:nvSpPr>
        <p:spPr bwMode="auto">
          <a:xfrm rot="16203358">
            <a:off x="1461493" y="3284913"/>
            <a:ext cx="2659856"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350" kern="1200">
                <a:solidFill>
                  <a:srgbClr val="000000"/>
                </a:solidFill>
                <a:latin typeface="Arial" panose="020B0604020202020204" pitchFamily="34" charset="0"/>
                <a:cs typeface="+mn-cs"/>
              </a:rPr>
              <a:t>Connection 2 throughput</a:t>
            </a:r>
            <a:endParaRPr lang="en-US" altLang="en-US" sz="750" kern="1200">
              <a:solidFill>
                <a:srgbClr val="000000"/>
              </a:solidFill>
              <a:latin typeface="Arial" panose="020B0604020202020204" pitchFamily="34" charset="0"/>
              <a:cs typeface="+mn-cs"/>
            </a:endParaRPr>
          </a:p>
        </p:txBody>
      </p:sp>
      <p:sp>
        <p:nvSpPr>
          <p:cNvPr id="215053" name="Line 13">
            <a:extLst>
              <a:ext uri="{FF2B5EF4-FFF2-40B4-BE49-F238E27FC236}">
                <a16:creationId xmlns:a16="http://schemas.microsoft.com/office/drawing/2014/main" xmlns="" id="{9813283D-44E5-4E8D-2FEE-BF015DAF7F16}"/>
              </a:ext>
            </a:extLst>
          </p:cNvPr>
          <p:cNvSpPr>
            <a:spLocks noChangeShapeType="1"/>
          </p:cNvSpPr>
          <p:nvPr/>
        </p:nvSpPr>
        <p:spPr bwMode="auto">
          <a:xfrm rot="18661895" flipH="1" flipV="1">
            <a:off x="3770709" y="3829051"/>
            <a:ext cx="970360" cy="3572"/>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54" name="Text Box 14">
            <a:extLst>
              <a:ext uri="{FF2B5EF4-FFF2-40B4-BE49-F238E27FC236}">
                <a16:creationId xmlns:a16="http://schemas.microsoft.com/office/drawing/2014/main" xmlns="" id="{5DBE1870-5221-442A-97B1-4D0A83F6E685}"/>
              </a:ext>
            </a:extLst>
          </p:cNvPr>
          <p:cNvSpPr txBox="1">
            <a:spLocks noChangeArrowheads="1"/>
          </p:cNvSpPr>
          <p:nvPr/>
        </p:nvSpPr>
        <p:spPr bwMode="auto">
          <a:xfrm>
            <a:off x="4273154" y="3507582"/>
            <a:ext cx="3402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200" kern="1200">
                <a:solidFill>
                  <a:srgbClr val="000000"/>
                </a:solidFill>
                <a:latin typeface="Arial" panose="020B0604020202020204" pitchFamily="34" charset="0"/>
                <a:cs typeface="+mn-cs"/>
              </a:rPr>
              <a:t>congestion avoidance: additive increase</a:t>
            </a:r>
            <a:endParaRPr lang="en-US" altLang="en-US" sz="750" kern="1200">
              <a:solidFill>
                <a:srgbClr val="000000"/>
              </a:solidFill>
              <a:latin typeface="Arial" panose="020B0604020202020204" pitchFamily="34" charset="0"/>
              <a:cs typeface="+mn-cs"/>
            </a:endParaRPr>
          </a:p>
        </p:txBody>
      </p:sp>
      <p:sp>
        <p:nvSpPr>
          <p:cNvPr id="215055" name="Line 15">
            <a:extLst>
              <a:ext uri="{FF2B5EF4-FFF2-40B4-BE49-F238E27FC236}">
                <a16:creationId xmlns:a16="http://schemas.microsoft.com/office/drawing/2014/main" xmlns="" id="{7CB785F5-623B-B4C6-92FA-F0AAA759828A}"/>
              </a:ext>
            </a:extLst>
          </p:cNvPr>
          <p:cNvSpPr>
            <a:spLocks noChangeShapeType="1"/>
          </p:cNvSpPr>
          <p:nvPr/>
        </p:nvSpPr>
        <p:spPr bwMode="auto">
          <a:xfrm flipH="1">
            <a:off x="3686176" y="3479007"/>
            <a:ext cx="878681" cy="47386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56" name="Text Box 16">
            <a:extLst>
              <a:ext uri="{FF2B5EF4-FFF2-40B4-BE49-F238E27FC236}">
                <a16:creationId xmlns:a16="http://schemas.microsoft.com/office/drawing/2014/main" xmlns="" id="{BCCF8E89-F849-9ADC-4141-D33E821460E4}"/>
              </a:ext>
            </a:extLst>
          </p:cNvPr>
          <p:cNvSpPr txBox="1">
            <a:spLocks noChangeArrowheads="1"/>
          </p:cNvSpPr>
          <p:nvPr/>
        </p:nvSpPr>
        <p:spPr bwMode="auto">
          <a:xfrm>
            <a:off x="4639942" y="3324226"/>
            <a:ext cx="26597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a:solidFill>
                  <a:srgbClr val="000000"/>
                </a:solidFill>
                <a:latin typeface="Arial" panose="020B0604020202020204" pitchFamily="34" charset="0"/>
                <a:cs typeface="+mn-cs"/>
              </a:rPr>
              <a:t>loss: decrease window by factor of 2</a:t>
            </a:r>
            <a:endParaRPr lang="en-US" altLang="en-US" sz="750" kern="1200">
              <a:solidFill>
                <a:srgbClr val="000000"/>
              </a:solidFill>
              <a:latin typeface="Arial" panose="020B0604020202020204" pitchFamily="34" charset="0"/>
              <a:cs typeface="+mn-cs"/>
            </a:endParaRPr>
          </a:p>
        </p:txBody>
      </p:sp>
      <p:sp>
        <p:nvSpPr>
          <p:cNvPr id="215057" name="Line 17">
            <a:extLst>
              <a:ext uri="{FF2B5EF4-FFF2-40B4-BE49-F238E27FC236}">
                <a16:creationId xmlns:a16="http://schemas.microsoft.com/office/drawing/2014/main" xmlns="" id="{8F1D8E44-D87C-6744-541E-8FEE73F2BFA9}"/>
              </a:ext>
            </a:extLst>
          </p:cNvPr>
          <p:cNvSpPr>
            <a:spLocks noChangeShapeType="1"/>
          </p:cNvSpPr>
          <p:nvPr/>
        </p:nvSpPr>
        <p:spPr bwMode="auto">
          <a:xfrm rot="18661895" flipH="1" flipV="1">
            <a:off x="3530204" y="3583782"/>
            <a:ext cx="977503" cy="17860"/>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58" name="Text Box 18">
            <a:extLst>
              <a:ext uri="{FF2B5EF4-FFF2-40B4-BE49-F238E27FC236}">
                <a16:creationId xmlns:a16="http://schemas.microsoft.com/office/drawing/2014/main" xmlns="" id="{57498E1F-C776-2897-8F32-5CF0AFA93F73}"/>
              </a:ext>
            </a:extLst>
          </p:cNvPr>
          <p:cNvSpPr txBox="1">
            <a:spLocks noChangeArrowheads="1"/>
          </p:cNvSpPr>
          <p:nvPr/>
        </p:nvSpPr>
        <p:spPr bwMode="auto">
          <a:xfrm>
            <a:off x="4058842" y="3143251"/>
            <a:ext cx="34028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50000"/>
              </a:spcBef>
              <a:spcAft>
                <a:spcPct val="0"/>
              </a:spcAft>
              <a:buClrTx/>
              <a:buSzTx/>
              <a:buNone/>
            </a:pPr>
            <a:r>
              <a:rPr lang="en-US" altLang="en-US" sz="1200" kern="1200">
                <a:solidFill>
                  <a:srgbClr val="000000"/>
                </a:solidFill>
                <a:latin typeface="Arial" panose="020B0604020202020204" pitchFamily="34" charset="0"/>
                <a:cs typeface="+mn-cs"/>
              </a:rPr>
              <a:t>congestion avoidance: additive increase</a:t>
            </a:r>
            <a:endParaRPr lang="en-US" altLang="en-US" sz="750" kern="1200">
              <a:solidFill>
                <a:srgbClr val="000000"/>
              </a:solidFill>
              <a:latin typeface="Arial" panose="020B0604020202020204" pitchFamily="34" charset="0"/>
              <a:cs typeface="+mn-cs"/>
            </a:endParaRPr>
          </a:p>
        </p:txBody>
      </p:sp>
      <p:sp>
        <p:nvSpPr>
          <p:cNvPr id="215059" name="Line 19">
            <a:extLst>
              <a:ext uri="{FF2B5EF4-FFF2-40B4-BE49-F238E27FC236}">
                <a16:creationId xmlns:a16="http://schemas.microsoft.com/office/drawing/2014/main" xmlns="" id="{A274B5EB-4C15-D195-56E8-19A3CFFD633F}"/>
              </a:ext>
            </a:extLst>
          </p:cNvPr>
          <p:cNvSpPr>
            <a:spLocks noChangeShapeType="1"/>
          </p:cNvSpPr>
          <p:nvPr/>
        </p:nvSpPr>
        <p:spPr bwMode="auto">
          <a:xfrm flipH="1">
            <a:off x="3579019" y="3264694"/>
            <a:ext cx="735806" cy="57388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60" name="Text Box 20">
            <a:extLst>
              <a:ext uri="{FF2B5EF4-FFF2-40B4-BE49-F238E27FC236}">
                <a16:creationId xmlns:a16="http://schemas.microsoft.com/office/drawing/2014/main" xmlns="" id="{52B3C389-1105-A15B-E131-E9C17258C611}"/>
              </a:ext>
            </a:extLst>
          </p:cNvPr>
          <p:cNvSpPr txBox="1">
            <a:spLocks noChangeArrowheads="1"/>
          </p:cNvSpPr>
          <p:nvPr/>
        </p:nvSpPr>
        <p:spPr bwMode="auto">
          <a:xfrm>
            <a:off x="4339905" y="2988469"/>
            <a:ext cx="26597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kern="1200">
                <a:solidFill>
                  <a:srgbClr val="000000"/>
                </a:solidFill>
                <a:latin typeface="Arial" panose="020B0604020202020204" pitchFamily="34" charset="0"/>
                <a:cs typeface="+mn-cs"/>
              </a:rPr>
              <a:t>loss: decrease window by factor of 2</a:t>
            </a:r>
            <a:endParaRPr lang="en-US" altLang="en-US" sz="750" kern="1200">
              <a:solidFill>
                <a:srgbClr val="000000"/>
              </a:solidFill>
              <a:latin typeface="Arial" panose="020B0604020202020204" pitchFamily="34" charset="0"/>
              <a:cs typeface="+mn-cs"/>
            </a:endParaRPr>
          </a:p>
        </p:txBody>
      </p:sp>
      <p:sp>
        <p:nvSpPr>
          <p:cNvPr id="215061" name="Line 21">
            <a:extLst>
              <a:ext uri="{FF2B5EF4-FFF2-40B4-BE49-F238E27FC236}">
                <a16:creationId xmlns:a16="http://schemas.microsoft.com/office/drawing/2014/main" xmlns="" id="{4B165F6F-0267-9BE9-E8E5-D288C77E16D3}"/>
              </a:ext>
            </a:extLst>
          </p:cNvPr>
          <p:cNvSpPr>
            <a:spLocks noChangeShapeType="1"/>
          </p:cNvSpPr>
          <p:nvPr/>
        </p:nvSpPr>
        <p:spPr bwMode="auto">
          <a:xfrm rot="18661895" flipH="1" flipV="1">
            <a:off x="3422452" y="3473650"/>
            <a:ext cx="959644" cy="10715"/>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62" name="Line 22">
            <a:extLst>
              <a:ext uri="{FF2B5EF4-FFF2-40B4-BE49-F238E27FC236}">
                <a16:creationId xmlns:a16="http://schemas.microsoft.com/office/drawing/2014/main" xmlns="" id="{17BA575F-CE1D-37C2-43B8-76EAF17B67E5}"/>
              </a:ext>
            </a:extLst>
          </p:cNvPr>
          <p:cNvSpPr>
            <a:spLocks noChangeShapeType="1"/>
          </p:cNvSpPr>
          <p:nvPr/>
        </p:nvSpPr>
        <p:spPr bwMode="auto">
          <a:xfrm flipH="1">
            <a:off x="3529013" y="3128963"/>
            <a:ext cx="683419" cy="6667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215063" name="Line 23">
            <a:extLst>
              <a:ext uri="{FF2B5EF4-FFF2-40B4-BE49-F238E27FC236}">
                <a16:creationId xmlns:a16="http://schemas.microsoft.com/office/drawing/2014/main" xmlns="" id="{DF065B92-9A0A-859F-6D29-16F4B296DCA9}"/>
              </a:ext>
            </a:extLst>
          </p:cNvPr>
          <p:cNvSpPr>
            <a:spLocks noChangeShapeType="1"/>
          </p:cNvSpPr>
          <p:nvPr/>
        </p:nvSpPr>
        <p:spPr bwMode="auto">
          <a:xfrm rot="18661895" flipH="1" flipV="1">
            <a:off x="3362921" y="3426025"/>
            <a:ext cx="959644" cy="10715"/>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5053"/>
                                        </p:tgtEl>
                                        <p:attrNameLst>
                                          <p:attrName>style.visibility</p:attrName>
                                        </p:attrNameLst>
                                      </p:cBhvr>
                                      <p:to>
                                        <p:strVal val="visible"/>
                                      </p:to>
                                    </p:set>
                                    <p:animEffect transition="in" filter="wipe(left)">
                                      <p:cBhvr>
                                        <p:cTn id="7" dur="500"/>
                                        <p:tgtEl>
                                          <p:spTgt spid="215053"/>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15054"/>
                                        </p:tgtEl>
                                        <p:attrNameLst>
                                          <p:attrName>style.visibility</p:attrName>
                                        </p:attrNameLst>
                                      </p:cBhvr>
                                      <p:to>
                                        <p:strVal val="visible"/>
                                      </p:to>
                                    </p:set>
                                    <p:animEffect transition="in" filter="dissolve">
                                      <p:cBhvr>
                                        <p:cTn id="11" dur="500"/>
                                        <p:tgtEl>
                                          <p:spTgt spid="215054"/>
                                        </p:tgtEl>
                                      </p:cBhvr>
                                    </p:animEffect>
                                  </p:childTnLst>
                                  <p:subTnLst>
                                    <p:set>
                                      <p:cBhvr override="childStyle">
                                        <p:cTn dur="1" fill="hold" display="0" masterRel="nextClick" afterEffect="1"/>
                                        <p:tgtEl>
                                          <p:spTgt spid="215054"/>
                                        </p:tgtEl>
                                        <p:attrNameLst>
                                          <p:attrName>style.visibility</p:attrName>
                                        </p:attrNameLst>
                                      </p:cBhvr>
                                      <p:to>
                                        <p:strVal val="hidden"/>
                                      </p:to>
                                    </p:set>
                                  </p:sub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215055"/>
                                        </p:tgtEl>
                                        <p:attrNameLst>
                                          <p:attrName>style.visibility</p:attrName>
                                        </p:attrNameLst>
                                      </p:cBhvr>
                                      <p:to>
                                        <p:strVal val="visible"/>
                                      </p:to>
                                    </p:set>
                                    <p:animEffect transition="in" filter="wipe(right)">
                                      <p:cBhvr>
                                        <p:cTn id="16" dur="500"/>
                                        <p:tgtEl>
                                          <p:spTgt spid="215055"/>
                                        </p:tgtEl>
                                      </p:cBhvr>
                                    </p:animEffect>
                                  </p:childTnLst>
                                </p:cTn>
                              </p:par>
                            </p:childTnLst>
                          </p:cTn>
                        </p:par>
                        <p:par>
                          <p:cTn id="17" fill="hold" nodeType="afterGroup">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215056"/>
                                        </p:tgtEl>
                                        <p:attrNameLst>
                                          <p:attrName>style.visibility</p:attrName>
                                        </p:attrNameLst>
                                      </p:cBhvr>
                                      <p:to>
                                        <p:strVal val="visible"/>
                                      </p:to>
                                    </p:set>
                                    <p:animEffect transition="in" filter="dissolve">
                                      <p:cBhvr>
                                        <p:cTn id="20" dur="500"/>
                                        <p:tgtEl>
                                          <p:spTgt spid="215056"/>
                                        </p:tgtEl>
                                      </p:cBhvr>
                                    </p:animEffect>
                                  </p:childTnLst>
                                  <p:subTnLst>
                                    <p:set>
                                      <p:cBhvr override="childStyle">
                                        <p:cTn dur="1" fill="hold" display="0" masterRel="nextClick" afterEffect="1"/>
                                        <p:tgtEl>
                                          <p:spTgt spid="215056"/>
                                        </p:tgtEl>
                                        <p:attrNameLst>
                                          <p:attrName>style.visibility</p:attrName>
                                        </p:attrNameLst>
                                      </p:cBhvr>
                                      <p:to>
                                        <p:strVal val="hidden"/>
                                      </p:to>
                                    </p:set>
                                  </p:sub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15057"/>
                                        </p:tgtEl>
                                        <p:attrNameLst>
                                          <p:attrName>style.visibility</p:attrName>
                                        </p:attrNameLst>
                                      </p:cBhvr>
                                      <p:to>
                                        <p:strVal val="visible"/>
                                      </p:to>
                                    </p:set>
                                    <p:animEffect transition="in" filter="wipe(left)">
                                      <p:cBhvr>
                                        <p:cTn id="25" dur="500"/>
                                        <p:tgtEl>
                                          <p:spTgt spid="215057"/>
                                        </p:tgtEl>
                                      </p:cBhvr>
                                    </p:animEffect>
                                  </p:childTnLst>
                                </p:cTn>
                              </p:par>
                            </p:childTnLst>
                          </p:cTn>
                        </p:par>
                        <p:par>
                          <p:cTn id="26" fill="hold" nodeType="afterGroup">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215058"/>
                                        </p:tgtEl>
                                        <p:attrNameLst>
                                          <p:attrName>style.visibility</p:attrName>
                                        </p:attrNameLst>
                                      </p:cBhvr>
                                      <p:to>
                                        <p:strVal val="visible"/>
                                      </p:to>
                                    </p:set>
                                    <p:animEffect transition="in" filter="dissolve">
                                      <p:cBhvr>
                                        <p:cTn id="29" dur="500"/>
                                        <p:tgtEl>
                                          <p:spTgt spid="215058"/>
                                        </p:tgtEl>
                                      </p:cBhvr>
                                    </p:animEffect>
                                  </p:childTnLst>
                                  <p:subTnLst>
                                    <p:set>
                                      <p:cBhvr override="childStyle">
                                        <p:cTn dur="1" fill="hold" display="0" masterRel="nextClick" afterEffect="1"/>
                                        <p:tgtEl>
                                          <p:spTgt spid="215058"/>
                                        </p:tgtEl>
                                        <p:attrNameLst>
                                          <p:attrName>style.visibility</p:attrName>
                                        </p:attrNameLst>
                                      </p:cBhvr>
                                      <p:to>
                                        <p:strVal val="hidden"/>
                                      </p:to>
                                    </p:set>
                                  </p:sub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215059"/>
                                        </p:tgtEl>
                                        <p:attrNameLst>
                                          <p:attrName>style.visibility</p:attrName>
                                        </p:attrNameLst>
                                      </p:cBhvr>
                                      <p:to>
                                        <p:strVal val="visible"/>
                                      </p:to>
                                    </p:set>
                                    <p:animEffect transition="in" filter="wipe(right)">
                                      <p:cBhvr>
                                        <p:cTn id="34" dur="500"/>
                                        <p:tgtEl>
                                          <p:spTgt spid="215059"/>
                                        </p:tgtEl>
                                      </p:cBhvr>
                                    </p:animEffect>
                                  </p:childTnLst>
                                </p:cTn>
                              </p:par>
                            </p:childTnLst>
                          </p:cTn>
                        </p:par>
                        <p:par>
                          <p:cTn id="35" fill="hold" nodeType="afterGroup">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215060"/>
                                        </p:tgtEl>
                                        <p:attrNameLst>
                                          <p:attrName>style.visibility</p:attrName>
                                        </p:attrNameLst>
                                      </p:cBhvr>
                                      <p:to>
                                        <p:strVal val="visible"/>
                                      </p:to>
                                    </p:set>
                                    <p:animEffect transition="in" filter="dissolve">
                                      <p:cBhvr>
                                        <p:cTn id="38" dur="500"/>
                                        <p:tgtEl>
                                          <p:spTgt spid="215060"/>
                                        </p:tgtEl>
                                      </p:cBhvr>
                                    </p:animEffect>
                                  </p:childTnLst>
                                  <p:subTnLst>
                                    <p:set>
                                      <p:cBhvr override="childStyle">
                                        <p:cTn dur="1" fill="hold" display="0" masterRel="nextClick" afterEffect="1"/>
                                        <p:tgtEl>
                                          <p:spTgt spid="215060"/>
                                        </p:tgtEl>
                                        <p:attrNameLst>
                                          <p:attrName>style.visibility</p:attrName>
                                        </p:attrNameLst>
                                      </p:cBhvr>
                                      <p:to>
                                        <p:strVal val="hidden"/>
                                      </p:to>
                                    </p:set>
                                  </p:sub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15061"/>
                                        </p:tgtEl>
                                        <p:attrNameLst>
                                          <p:attrName>style.visibility</p:attrName>
                                        </p:attrNameLst>
                                      </p:cBhvr>
                                      <p:to>
                                        <p:strVal val="visible"/>
                                      </p:to>
                                    </p:set>
                                    <p:animEffect transition="in" filter="wipe(left)">
                                      <p:cBhvr>
                                        <p:cTn id="43" dur="500"/>
                                        <p:tgtEl>
                                          <p:spTgt spid="21506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2" fill="hold" nodeType="clickEffect">
                                  <p:stCondLst>
                                    <p:cond delay="0"/>
                                  </p:stCondLst>
                                  <p:childTnLst>
                                    <p:set>
                                      <p:cBhvr>
                                        <p:cTn id="47" dur="1" fill="hold">
                                          <p:stCondLst>
                                            <p:cond delay="0"/>
                                          </p:stCondLst>
                                        </p:cTn>
                                        <p:tgtEl>
                                          <p:spTgt spid="215062"/>
                                        </p:tgtEl>
                                        <p:attrNameLst>
                                          <p:attrName>style.visibility</p:attrName>
                                        </p:attrNameLst>
                                      </p:cBhvr>
                                      <p:to>
                                        <p:strVal val="visible"/>
                                      </p:to>
                                    </p:set>
                                    <p:animEffect transition="in" filter="wipe(right)">
                                      <p:cBhvr>
                                        <p:cTn id="48" dur="500"/>
                                        <p:tgtEl>
                                          <p:spTgt spid="21506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15063"/>
                                        </p:tgtEl>
                                        <p:attrNameLst>
                                          <p:attrName>style.visibility</p:attrName>
                                        </p:attrNameLst>
                                      </p:cBhvr>
                                      <p:to>
                                        <p:strVal val="visible"/>
                                      </p:to>
                                    </p:set>
                                    <p:animEffect transition="in" filter="wipe(left)">
                                      <p:cBhvr>
                                        <p:cTn id="53" dur="500"/>
                                        <p:tgtEl>
                                          <p:spTgt spid="215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54" grpId="0" autoUpdateAnimBg="0"/>
      <p:bldP spid="215056" grpId="0" autoUpdateAnimBg="0"/>
      <p:bldP spid="215058" grpId="0" autoUpdateAnimBg="0"/>
      <p:bldP spid="21506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Rectangle 2">
            <a:extLst>
              <a:ext uri="{FF2B5EF4-FFF2-40B4-BE49-F238E27FC236}">
                <a16:creationId xmlns:a16="http://schemas.microsoft.com/office/drawing/2014/main" xmlns="" id="{A14C663A-86FD-EE93-7859-5F14A1F56D16}"/>
              </a:ext>
            </a:extLst>
          </p:cNvPr>
          <p:cNvSpPr>
            <a:spLocks noGrp="1" noChangeArrowheads="1"/>
          </p:cNvSpPr>
          <p:nvPr>
            <p:ph type="title" idx="4294967295"/>
          </p:nvPr>
        </p:nvSpPr>
        <p:spPr>
          <a:xfrm>
            <a:off x="293688" y="57150"/>
            <a:ext cx="5829300" cy="857250"/>
          </a:xfrm>
        </p:spPr>
        <p:txBody>
          <a:bodyPr vert="horz" lIns="91440" tIns="45720" rIns="91440" bIns="45720" rtlCol="0" anchor="ctr">
            <a:noAutofit/>
          </a:bodyPr>
          <a:lstStyle/>
          <a:p>
            <a:r>
              <a:rPr lang="en-US" sz="4000" b="1" dirty="0"/>
              <a:t>Fairness (more)</a:t>
            </a:r>
          </a:p>
        </p:txBody>
      </p:sp>
      <p:sp>
        <p:nvSpPr>
          <p:cNvPr id="111622" name="Rectangle 3">
            <a:extLst>
              <a:ext uri="{FF2B5EF4-FFF2-40B4-BE49-F238E27FC236}">
                <a16:creationId xmlns:a16="http://schemas.microsoft.com/office/drawing/2014/main" xmlns="" id="{69663B2B-407F-AA55-2C56-BA74CDF921F9}"/>
              </a:ext>
            </a:extLst>
          </p:cNvPr>
          <p:cNvSpPr>
            <a:spLocks noGrp="1" noChangeArrowheads="1"/>
          </p:cNvSpPr>
          <p:nvPr>
            <p:ph type="body" sz="half" idx="4294967295"/>
          </p:nvPr>
        </p:nvSpPr>
        <p:spPr>
          <a:xfrm>
            <a:off x="350838" y="1123950"/>
            <a:ext cx="2857500" cy="3486150"/>
          </a:xfrm>
        </p:spPr>
        <p:txBody>
          <a:bodyPr/>
          <a:lstStyle/>
          <a:p>
            <a:pPr>
              <a:buFont typeface="Wingdings" charset="0"/>
              <a:buNone/>
              <a:defRPr/>
            </a:pPr>
            <a:r>
              <a:rPr lang="en-US" i="1" dirty="0">
                <a:solidFill>
                  <a:srgbClr val="000099"/>
                </a:solidFill>
                <a:ea typeface="ＭＳ Ｐゴシック" charset="0"/>
                <a:cs typeface="+mn-cs"/>
              </a:rPr>
              <a:t>Fairness and UDP</a:t>
            </a:r>
          </a:p>
          <a:p>
            <a:pPr>
              <a:buFont typeface="Wingdings" charset="2"/>
              <a:buChar char="§"/>
              <a:defRPr/>
            </a:pPr>
            <a:r>
              <a:rPr lang="en-US" dirty="0">
                <a:ea typeface="ＭＳ Ｐゴシック" charset="0"/>
                <a:cs typeface="+mn-cs"/>
              </a:rPr>
              <a:t>multimedia apps often do not use TCP</a:t>
            </a:r>
          </a:p>
          <a:p>
            <a:pPr lvl="1">
              <a:buFont typeface="Arial"/>
              <a:buChar char="•"/>
              <a:defRPr/>
            </a:pPr>
            <a:r>
              <a:rPr lang="en-US" dirty="0">
                <a:ea typeface="ＭＳ Ｐゴシック" charset="0"/>
              </a:rPr>
              <a:t>do not want rate throttled by congestion control</a:t>
            </a:r>
          </a:p>
          <a:p>
            <a:pPr>
              <a:buFont typeface="Wingdings" charset="2"/>
              <a:buChar char="§"/>
              <a:defRPr/>
            </a:pPr>
            <a:r>
              <a:rPr lang="en-US" dirty="0">
                <a:ea typeface="ＭＳ Ｐゴシック" charset="0"/>
                <a:cs typeface="+mn-cs"/>
              </a:rPr>
              <a:t>instead use UDP:</a:t>
            </a:r>
          </a:p>
          <a:p>
            <a:pPr lvl="1">
              <a:buFont typeface="Arial"/>
              <a:buChar char="•"/>
              <a:defRPr/>
            </a:pPr>
            <a:r>
              <a:rPr lang="en-US" dirty="0">
                <a:ea typeface="ＭＳ Ｐゴシック" charset="0"/>
              </a:rPr>
              <a:t>send audio/video at constant rate, tolerate packet loss</a:t>
            </a:r>
          </a:p>
          <a:p>
            <a:pPr>
              <a:buFont typeface="Wingdings" charset="2"/>
              <a:buChar char="§"/>
              <a:defRPr/>
            </a:pPr>
            <a:endParaRPr lang="en-US" dirty="0">
              <a:ea typeface="ＭＳ Ｐゴシック" charset="0"/>
              <a:cs typeface="+mn-cs"/>
            </a:endParaRPr>
          </a:p>
        </p:txBody>
      </p:sp>
      <p:sp>
        <p:nvSpPr>
          <p:cNvPr id="111623" name="Rectangle 4">
            <a:extLst>
              <a:ext uri="{FF2B5EF4-FFF2-40B4-BE49-F238E27FC236}">
                <a16:creationId xmlns:a16="http://schemas.microsoft.com/office/drawing/2014/main" xmlns="" id="{27B64251-7C26-5348-8D9D-0423BE33E038}"/>
              </a:ext>
            </a:extLst>
          </p:cNvPr>
          <p:cNvSpPr>
            <a:spLocks noGrp="1" noChangeArrowheads="1"/>
          </p:cNvSpPr>
          <p:nvPr>
            <p:ph type="body" sz="half" idx="4294967295"/>
          </p:nvPr>
        </p:nvSpPr>
        <p:spPr>
          <a:xfrm>
            <a:off x="5486400" y="1154430"/>
            <a:ext cx="3021012" cy="3486150"/>
          </a:xfrm>
        </p:spPr>
        <p:txBody>
          <a:bodyPr>
            <a:normAutofit fontScale="92500" lnSpcReduction="10000"/>
          </a:bodyPr>
          <a:lstStyle/>
          <a:p>
            <a:pPr>
              <a:lnSpc>
                <a:spcPct val="90000"/>
              </a:lnSpc>
              <a:buFont typeface="Wingdings" charset="0"/>
              <a:buNone/>
              <a:defRPr/>
            </a:pPr>
            <a:r>
              <a:rPr lang="en-US" i="1" dirty="0">
                <a:solidFill>
                  <a:srgbClr val="000099"/>
                </a:solidFill>
                <a:ea typeface="ＭＳ Ｐゴシック" charset="0"/>
                <a:cs typeface="+mn-cs"/>
              </a:rPr>
              <a:t>Fairness, parallel TCP connections</a:t>
            </a:r>
          </a:p>
          <a:p>
            <a:pPr>
              <a:lnSpc>
                <a:spcPct val="90000"/>
              </a:lnSpc>
              <a:buFont typeface="Wingdings" charset="2"/>
              <a:buChar char="§"/>
              <a:defRPr/>
            </a:pPr>
            <a:r>
              <a:rPr lang="en-US" dirty="0">
                <a:ea typeface="ＭＳ Ｐゴシック" charset="0"/>
                <a:cs typeface="+mn-cs"/>
              </a:rPr>
              <a:t>application can open multiple parallel connections between two hosts</a:t>
            </a:r>
          </a:p>
          <a:p>
            <a:pPr>
              <a:lnSpc>
                <a:spcPct val="90000"/>
              </a:lnSpc>
              <a:buFont typeface="Wingdings" charset="2"/>
              <a:buChar char="§"/>
              <a:defRPr/>
            </a:pPr>
            <a:r>
              <a:rPr lang="en-US" dirty="0">
                <a:ea typeface="ＭＳ Ｐゴシック" charset="0"/>
                <a:cs typeface="+mn-cs"/>
              </a:rPr>
              <a:t>web browsers do this </a:t>
            </a:r>
          </a:p>
          <a:p>
            <a:pPr>
              <a:lnSpc>
                <a:spcPct val="90000"/>
              </a:lnSpc>
              <a:buFont typeface="Wingdings" charset="2"/>
              <a:buChar char="§"/>
              <a:defRPr/>
            </a:pPr>
            <a:r>
              <a:rPr lang="en-US" dirty="0">
                <a:ea typeface="ＭＳ Ｐゴシック" charset="0"/>
                <a:cs typeface="+mn-cs"/>
              </a:rPr>
              <a:t>e.g., link of rate R with 9 existing connections:</a:t>
            </a:r>
          </a:p>
          <a:p>
            <a:pPr lvl="1">
              <a:lnSpc>
                <a:spcPct val="90000"/>
              </a:lnSpc>
              <a:buFont typeface="Arial"/>
              <a:buChar char="•"/>
              <a:defRPr/>
            </a:pPr>
            <a:r>
              <a:rPr lang="en-US" sz="1500" dirty="0">
                <a:ea typeface="ＭＳ Ｐゴシック" charset="0"/>
              </a:rPr>
              <a:t>new app asks for 1 TCP, gets rate R/10 </a:t>
            </a:r>
            <a:r>
              <a:rPr lang="en-US" sz="1500" b="1" dirty="0">
                <a:solidFill>
                  <a:srgbClr val="FF0000"/>
                </a:solidFill>
                <a:ea typeface="ＭＳ Ｐゴシック" charset="0"/>
              </a:rPr>
              <a:t>(fair)</a:t>
            </a:r>
          </a:p>
          <a:p>
            <a:pPr lvl="1">
              <a:lnSpc>
                <a:spcPct val="90000"/>
              </a:lnSpc>
              <a:buFont typeface="Arial"/>
              <a:buChar char="•"/>
              <a:defRPr/>
            </a:pPr>
            <a:r>
              <a:rPr lang="en-US" sz="1500" dirty="0">
                <a:ea typeface="ＭＳ Ｐゴシック" charset="0"/>
              </a:rPr>
              <a:t>new app asks for 11 TCPs, gets R/2 </a:t>
            </a:r>
            <a:r>
              <a:rPr lang="en-US" sz="1500" b="1" dirty="0">
                <a:solidFill>
                  <a:srgbClr val="FF0000"/>
                </a:solidFill>
                <a:ea typeface="ＭＳ Ｐゴシック" charset="0"/>
              </a:rPr>
              <a:t>(unfair)</a:t>
            </a:r>
          </a:p>
          <a:p>
            <a:pPr>
              <a:lnSpc>
                <a:spcPct val="90000"/>
              </a:lnSpc>
              <a:buFont typeface="Wingdings" charset="2"/>
              <a:buChar char="§"/>
              <a:defRPr/>
            </a:pPr>
            <a:endParaRPr lang="en-US" sz="1500" dirty="0">
              <a:ea typeface="ＭＳ Ｐゴシック" charset="0"/>
              <a:cs typeface="+mn-cs"/>
            </a:endParaRPr>
          </a:p>
          <a:p>
            <a:pPr>
              <a:lnSpc>
                <a:spcPct val="90000"/>
              </a:lnSpc>
              <a:buFont typeface="Wingdings" charset="2"/>
              <a:buChar char="§"/>
              <a:defRPr/>
            </a:pPr>
            <a:endParaRPr lang="en-US" dirty="0">
              <a:ea typeface="ＭＳ Ｐゴシック" charset="0"/>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5" name="Rectangle 4">
            <a:extLst>
              <a:ext uri="{FF2B5EF4-FFF2-40B4-BE49-F238E27FC236}">
                <a16:creationId xmlns:a16="http://schemas.microsoft.com/office/drawing/2014/main" xmlns="" id="{AB85BDC9-0354-1C51-278E-FAFD1D950212}"/>
              </a:ext>
            </a:extLst>
          </p:cNvPr>
          <p:cNvSpPr>
            <a:spLocks noGrp="1" noChangeArrowheads="1"/>
          </p:cNvSpPr>
          <p:nvPr>
            <p:ph type="body" sz="half" idx="4294967295"/>
          </p:nvPr>
        </p:nvSpPr>
        <p:spPr>
          <a:xfrm>
            <a:off x="0" y="982663"/>
            <a:ext cx="5715000" cy="1643062"/>
          </a:xfrm>
        </p:spPr>
        <p:txBody>
          <a:bodyPr>
            <a:normAutofit fontScale="85000" lnSpcReduction="10000"/>
          </a:bodyPr>
          <a:lstStyle/>
          <a:p>
            <a:pPr>
              <a:buFont typeface="Wingdings" charset="0"/>
              <a:buNone/>
              <a:defRPr/>
            </a:pPr>
            <a:r>
              <a:rPr lang="en-US" i="1" dirty="0">
                <a:solidFill>
                  <a:srgbClr val="CC0000"/>
                </a:solidFill>
                <a:ea typeface="ＭＳ Ｐゴシック" charset="0"/>
                <a:cs typeface="+mn-cs"/>
              </a:rPr>
              <a:t>network-assisted congestion control:</a:t>
            </a:r>
          </a:p>
          <a:p>
            <a:pPr>
              <a:buFont typeface="Wingdings" charset="2"/>
              <a:buChar char="§"/>
              <a:defRPr/>
            </a:pPr>
            <a:r>
              <a:rPr lang="en-US" sz="1800" dirty="0">
                <a:ea typeface="ＭＳ Ｐゴシック" charset="0"/>
                <a:cs typeface="+mn-cs"/>
              </a:rPr>
              <a:t>two bits in IP header (</a:t>
            </a:r>
            <a:r>
              <a:rPr lang="en-US" sz="1800" dirty="0" err="1">
                <a:ea typeface="ＭＳ Ｐゴシック" charset="0"/>
                <a:cs typeface="+mn-cs"/>
              </a:rPr>
              <a:t>ToS</a:t>
            </a:r>
            <a:r>
              <a:rPr lang="en-US" sz="1800" dirty="0">
                <a:ea typeface="ＭＳ Ｐゴシック" charset="0"/>
                <a:cs typeface="+mn-cs"/>
              </a:rPr>
              <a:t> field) marked </a:t>
            </a:r>
            <a:r>
              <a:rPr lang="en-US" sz="1800" i="1" dirty="0">
                <a:solidFill>
                  <a:srgbClr val="000090"/>
                </a:solidFill>
                <a:ea typeface="ＭＳ Ｐゴシック" charset="0"/>
                <a:cs typeface="+mn-cs"/>
              </a:rPr>
              <a:t>by network router</a:t>
            </a:r>
            <a:r>
              <a:rPr lang="en-US" sz="1800" dirty="0">
                <a:ea typeface="ＭＳ Ｐゴシック" charset="0"/>
                <a:cs typeface="+mn-cs"/>
              </a:rPr>
              <a:t> to indicate congestion</a:t>
            </a:r>
          </a:p>
          <a:p>
            <a:pPr>
              <a:buFont typeface="Wingdings" charset="2"/>
              <a:buChar char="§"/>
              <a:defRPr/>
            </a:pPr>
            <a:r>
              <a:rPr lang="en-US" sz="1800" dirty="0">
                <a:ea typeface="ＭＳ Ｐゴシック" charset="0"/>
                <a:cs typeface="+mn-cs"/>
              </a:rPr>
              <a:t>congestion indication carried to receiving host</a:t>
            </a:r>
          </a:p>
          <a:p>
            <a:pPr>
              <a:buFont typeface="Wingdings" charset="2"/>
              <a:buChar char="§"/>
              <a:defRPr/>
            </a:pPr>
            <a:r>
              <a:rPr lang="en-US" sz="1800" dirty="0">
                <a:ea typeface="ＭＳ Ｐゴシック" charset="0"/>
                <a:cs typeface="+mn-cs"/>
              </a:rPr>
              <a:t>receiver (seeing congestion indication in IP datagram) ) sets ECE bit on receiver-to-sender ACK segment to notify sender of congestion</a:t>
            </a:r>
          </a:p>
        </p:txBody>
      </p:sp>
      <p:sp>
        <p:nvSpPr>
          <p:cNvPr id="109584" name="Rectangle 43">
            <a:extLst>
              <a:ext uri="{FF2B5EF4-FFF2-40B4-BE49-F238E27FC236}">
                <a16:creationId xmlns:a16="http://schemas.microsoft.com/office/drawing/2014/main" xmlns="" id="{D1EB4AB0-F989-1C24-D156-FDFF1E55645B}"/>
              </a:ext>
            </a:extLst>
          </p:cNvPr>
          <p:cNvSpPr>
            <a:spLocks noGrp="1" noChangeArrowheads="1"/>
          </p:cNvSpPr>
          <p:nvPr>
            <p:ph type="title" idx="4294967295"/>
          </p:nvPr>
        </p:nvSpPr>
        <p:spPr>
          <a:xfrm>
            <a:off x="0" y="107950"/>
            <a:ext cx="8991600" cy="857250"/>
          </a:xfrm>
        </p:spPr>
        <p:txBody>
          <a:bodyPr vert="horz" lIns="91440" tIns="45720" rIns="91440" bIns="45720" rtlCol="0" anchor="ctr">
            <a:noAutofit/>
          </a:bodyPr>
          <a:lstStyle/>
          <a:p>
            <a:r>
              <a:rPr lang="en-US" sz="4000" b="1" dirty="0"/>
              <a:t>Explicit Congestion </a:t>
            </a:r>
            <a:r>
              <a:rPr lang="en-US" sz="4000" b="1"/>
              <a:t>Notification </a:t>
            </a:r>
            <a:r>
              <a:rPr lang="en-US" sz="4000" b="1" dirty="0"/>
              <a:t>(ECN)</a:t>
            </a:r>
          </a:p>
        </p:txBody>
      </p:sp>
      <p:sp>
        <p:nvSpPr>
          <p:cNvPr id="115719" name="Text Box 8">
            <a:extLst>
              <a:ext uri="{FF2B5EF4-FFF2-40B4-BE49-F238E27FC236}">
                <a16:creationId xmlns:a16="http://schemas.microsoft.com/office/drawing/2014/main" xmlns="" id="{FF0ED6CF-92F6-F5DD-417F-C5020AA0ACCC}"/>
              </a:ext>
            </a:extLst>
          </p:cNvPr>
          <p:cNvSpPr txBox="1">
            <a:spLocks noChangeArrowheads="1"/>
          </p:cNvSpPr>
          <p:nvPr/>
        </p:nvSpPr>
        <p:spPr bwMode="auto">
          <a:xfrm>
            <a:off x="1738608" y="3068242"/>
            <a:ext cx="6447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i="1" kern="1200">
                <a:solidFill>
                  <a:srgbClr val="000099"/>
                </a:solidFill>
                <a:latin typeface="Arial" panose="020B0604020202020204" pitchFamily="34" charset="0"/>
                <a:cs typeface="+mn-cs"/>
              </a:rPr>
              <a:t>source</a:t>
            </a:r>
            <a:endParaRPr lang="en-US" altLang="en-US" sz="1500" i="1" kern="1200">
              <a:solidFill>
                <a:srgbClr val="000099"/>
              </a:solidFill>
              <a:latin typeface="Arial" panose="020B0604020202020204" pitchFamily="34" charset="0"/>
              <a:cs typeface="+mn-cs"/>
            </a:endParaRPr>
          </a:p>
        </p:txBody>
      </p:sp>
      <p:sp>
        <p:nvSpPr>
          <p:cNvPr id="115720" name="Freeform 10">
            <a:extLst>
              <a:ext uri="{FF2B5EF4-FFF2-40B4-BE49-F238E27FC236}">
                <a16:creationId xmlns:a16="http://schemas.microsoft.com/office/drawing/2014/main" xmlns="" id="{339371E7-BFFD-F73C-9357-7AF096C145B6}"/>
              </a:ext>
            </a:extLst>
          </p:cNvPr>
          <p:cNvSpPr>
            <a:spLocks/>
          </p:cNvSpPr>
          <p:nvPr/>
        </p:nvSpPr>
        <p:spPr bwMode="auto">
          <a:xfrm flipH="1">
            <a:off x="1390651" y="3287316"/>
            <a:ext cx="277415" cy="1026319"/>
          </a:xfrm>
          <a:custGeom>
            <a:avLst/>
            <a:gdLst>
              <a:gd name="T0" fmla="*/ 2147483646 w 12213"/>
              <a:gd name="T1" fmla="*/ 2147483646 h 10000"/>
              <a:gd name="T2" fmla="*/ 0 w 12213"/>
              <a:gd name="T3" fmla="*/ 0 h 10000"/>
              <a:gd name="T4" fmla="*/ 0 w 12213"/>
              <a:gd name="T5" fmla="*/ 2147483646 h 10000"/>
              <a:gd name="T6" fmla="*/ 2147483646 w 12213"/>
              <a:gd name="T7" fmla="*/ 2147483646 h 10000"/>
              <a:gd name="T8" fmla="*/ 2147483646 w 12213"/>
              <a:gd name="T9" fmla="*/ 2147483646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1" name="Rectangle 23">
            <a:extLst>
              <a:ext uri="{FF2B5EF4-FFF2-40B4-BE49-F238E27FC236}">
                <a16:creationId xmlns:a16="http://schemas.microsoft.com/office/drawing/2014/main" xmlns="" id="{DB5CD532-CBE8-CF89-133B-15F8BB2CA91B}"/>
              </a:ext>
            </a:extLst>
          </p:cNvPr>
          <p:cNvSpPr>
            <a:spLocks noChangeArrowheads="1"/>
          </p:cNvSpPr>
          <p:nvPr/>
        </p:nvSpPr>
        <p:spPr bwMode="auto">
          <a:xfrm>
            <a:off x="1670447" y="3286126"/>
            <a:ext cx="807244" cy="101203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22" name="Rectangle 24">
            <a:extLst>
              <a:ext uri="{FF2B5EF4-FFF2-40B4-BE49-F238E27FC236}">
                <a16:creationId xmlns:a16="http://schemas.microsoft.com/office/drawing/2014/main" xmlns="" id="{D7FDB2ED-A947-0E64-2B7E-04FCCAF3EA7E}"/>
              </a:ext>
            </a:extLst>
          </p:cNvPr>
          <p:cNvSpPr>
            <a:spLocks noChangeArrowheads="1"/>
          </p:cNvSpPr>
          <p:nvPr/>
        </p:nvSpPr>
        <p:spPr bwMode="auto">
          <a:xfrm>
            <a:off x="1640682" y="3334941"/>
            <a:ext cx="800100" cy="923925"/>
          </a:xfrm>
          <a:prstGeom prst="rect">
            <a:avLst/>
          </a:prstGeom>
          <a:solidFill>
            <a:schemeClr val="bg1"/>
          </a:solidFill>
          <a:ln w="2857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23" name="Line 25">
            <a:extLst>
              <a:ext uri="{FF2B5EF4-FFF2-40B4-BE49-F238E27FC236}">
                <a16:creationId xmlns:a16="http://schemas.microsoft.com/office/drawing/2014/main" xmlns="" id="{7F62103B-0455-4E37-A1DF-896BFD7AF485}"/>
              </a:ext>
            </a:extLst>
          </p:cNvPr>
          <p:cNvSpPr>
            <a:spLocks noChangeShapeType="1"/>
          </p:cNvSpPr>
          <p:nvPr/>
        </p:nvSpPr>
        <p:spPr bwMode="auto">
          <a:xfrm>
            <a:off x="1640681" y="354330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46" name="Text Box 26">
            <a:extLst>
              <a:ext uri="{FF2B5EF4-FFF2-40B4-BE49-F238E27FC236}">
                <a16:creationId xmlns:a16="http://schemas.microsoft.com/office/drawing/2014/main" xmlns="" id="{8BF82A5B-A0DC-CDA1-CBF4-68C4DB81B448}"/>
              </a:ext>
            </a:extLst>
          </p:cNvPr>
          <p:cNvSpPr txBox="1">
            <a:spLocks noChangeArrowheads="1"/>
          </p:cNvSpPr>
          <p:nvPr/>
        </p:nvSpPr>
        <p:spPr bwMode="auto">
          <a:xfrm>
            <a:off x="1613297" y="3311129"/>
            <a:ext cx="828675" cy="967252"/>
          </a:xfrm>
          <a:prstGeom prst="rect">
            <a:avLst/>
          </a:prstGeom>
          <a:noFill/>
          <a:ln>
            <a:noFill/>
          </a:ln>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application</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transport</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network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link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physical</a:t>
            </a:r>
          </a:p>
        </p:txBody>
      </p:sp>
      <p:grpSp>
        <p:nvGrpSpPr>
          <p:cNvPr id="115725" name="Group 190">
            <a:extLst>
              <a:ext uri="{FF2B5EF4-FFF2-40B4-BE49-F238E27FC236}">
                <a16:creationId xmlns:a16="http://schemas.microsoft.com/office/drawing/2014/main" xmlns="" id="{159C05BE-39D0-718F-9D28-ACD0FEC05CF8}"/>
              </a:ext>
            </a:extLst>
          </p:cNvPr>
          <p:cNvGrpSpPr>
            <a:grpSpLocks/>
          </p:cNvGrpSpPr>
          <p:nvPr/>
        </p:nvGrpSpPr>
        <p:grpSpPr bwMode="auto">
          <a:xfrm flipH="1">
            <a:off x="1143000" y="3690938"/>
            <a:ext cx="504825" cy="526256"/>
            <a:chOff x="-44" y="1473"/>
            <a:chExt cx="981" cy="1105"/>
          </a:xfrm>
        </p:grpSpPr>
        <p:pic>
          <p:nvPicPr>
            <p:cNvPr id="115870" name="Picture 191" descr="desktop_computer_stylized_medium">
              <a:extLst>
                <a:ext uri="{FF2B5EF4-FFF2-40B4-BE49-F238E27FC236}">
                  <a16:creationId xmlns:a16="http://schemas.microsoft.com/office/drawing/2014/main" xmlns="" id="{A285DE7B-91D3-44C8-AE9A-7754BEE388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871" name="Freeform 192">
              <a:extLst>
                <a:ext uri="{FF2B5EF4-FFF2-40B4-BE49-F238E27FC236}">
                  <a16:creationId xmlns:a16="http://schemas.microsoft.com/office/drawing/2014/main" xmlns="" id="{33869FD6-5553-61F4-F4EA-A795AECC2C66}"/>
                </a:ext>
              </a:extLst>
            </p:cNvPr>
            <p:cNvSpPr>
              <a:spLocks/>
            </p:cNvSpPr>
            <p:nvPr/>
          </p:nvSpPr>
          <p:spPr bwMode="auto">
            <a:xfrm flipH="1">
              <a:off x="374" y="1579"/>
              <a:ext cx="477" cy="506"/>
            </a:xfrm>
            <a:custGeom>
              <a:avLst/>
              <a:gdLst>
                <a:gd name="T0" fmla="*/ 0 w 356"/>
                <a:gd name="T1" fmla="*/ 0 h 368"/>
                <a:gd name="T2" fmla="*/ 58127 w 356"/>
                <a:gd name="T3" fmla="*/ 4362 h 368"/>
                <a:gd name="T4" fmla="*/ 68956 w 356"/>
                <a:gd name="T5" fmla="*/ 90881 h 368"/>
                <a:gd name="T6" fmla="*/ 15197 w 356"/>
                <a:gd name="T7" fmla="*/ 11365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5726" name="Line 25">
            <a:extLst>
              <a:ext uri="{FF2B5EF4-FFF2-40B4-BE49-F238E27FC236}">
                <a16:creationId xmlns:a16="http://schemas.microsoft.com/office/drawing/2014/main" xmlns="" id="{7E0C5DAF-944A-8082-04F1-19B56AE9831C}"/>
              </a:ext>
            </a:extLst>
          </p:cNvPr>
          <p:cNvSpPr>
            <a:spLocks noChangeShapeType="1"/>
          </p:cNvSpPr>
          <p:nvPr/>
        </p:nvSpPr>
        <p:spPr bwMode="auto">
          <a:xfrm>
            <a:off x="1644254" y="371475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7" name="Line 25">
            <a:extLst>
              <a:ext uri="{FF2B5EF4-FFF2-40B4-BE49-F238E27FC236}">
                <a16:creationId xmlns:a16="http://schemas.microsoft.com/office/drawing/2014/main" xmlns="" id="{3657B97E-C8C2-F00E-E269-FA6370B48DAB}"/>
              </a:ext>
            </a:extLst>
          </p:cNvPr>
          <p:cNvSpPr>
            <a:spLocks noChangeShapeType="1"/>
          </p:cNvSpPr>
          <p:nvPr/>
        </p:nvSpPr>
        <p:spPr bwMode="auto">
          <a:xfrm>
            <a:off x="1647825" y="388620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8" name="Line 25">
            <a:extLst>
              <a:ext uri="{FF2B5EF4-FFF2-40B4-BE49-F238E27FC236}">
                <a16:creationId xmlns:a16="http://schemas.microsoft.com/office/drawing/2014/main" xmlns="" id="{6057AE55-7FF2-BD52-2E9E-713032DC7027}"/>
              </a:ext>
            </a:extLst>
          </p:cNvPr>
          <p:cNvSpPr>
            <a:spLocks noChangeShapeType="1"/>
          </p:cNvSpPr>
          <p:nvPr/>
        </p:nvSpPr>
        <p:spPr bwMode="auto">
          <a:xfrm>
            <a:off x="1650206" y="4065985"/>
            <a:ext cx="795338"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15729" name="Group 3">
            <a:extLst>
              <a:ext uri="{FF2B5EF4-FFF2-40B4-BE49-F238E27FC236}">
                <a16:creationId xmlns:a16="http://schemas.microsoft.com/office/drawing/2014/main" xmlns="" id="{78901062-93FE-2295-77BD-F2887F847230}"/>
              </a:ext>
            </a:extLst>
          </p:cNvPr>
          <p:cNvGrpSpPr>
            <a:grpSpLocks/>
          </p:cNvGrpSpPr>
          <p:nvPr/>
        </p:nvGrpSpPr>
        <p:grpSpPr bwMode="auto">
          <a:xfrm>
            <a:off x="5373068" y="3076575"/>
            <a:ext cx="1538511" cy="1243013"/>
            <a:chOff x="4879281" y="4007261"/>
            <a:chExt cx="2050287" cy="1656589"/>
          </a:xfrm>
        </p:grpSpPr>
        <p:sp>
          <p:nvSpPr>
            <p:cNvPr id="115857" name="Text Box 54">
              <a:extLst>
                <a:ext uri="{FF2B5EF4-FFF2-40B4-BE49-F238E27FC236}">
                  <a16:creationId xmlns:a16="http://schemas.microsoft.com/office/drawing/2014/main" xmlns="" id="{19B5C716-1147-C177-B3E6-584AE0D07296}"/>
                </a:ext>
              </a:extLst>
            </p:cNvPr>
            <p:cNvSpPr txBox="1">
              <a:spLocks noChangeArrowheads="1"/>
            </p:cNvSpPr>
            <p:nvPr/>
          </p:nvSpPr>
          <p:spPr bwMode="auto">
            <a:xfrm>
              <a:off x="4879281" y="4007261"/>
              <a:ext cx="1233033" cy="36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i="1" kern="1200">
                  <a:solidFill>
                    <a:srgbClr val="000099"/>
                  </a:solidFill>
                  <a:latin typeface="Arial" panose="020B0604020202020204" pitchFamily="34" charset="0"/>
                  <a:cs typeface="+mn-cs"/>
                </a:rPr>
                <a:t>destination</a:t>
              </a:r>
              <a:endParaRPr lang="en-US" altLang="en-US" sz="1500" i="1" kern="1200">
                <a:solidFill>
                  <a:srgbClr val="000099"/>
                </a:solidFill>
                <a:latin typeface="Arial" panose="020B0604020202020204" pitchFamily="34" charset="0"/>
                <a:cs typeface="+mn-cs"/>
              </a:endParaRPr>
            </a:p>
          </p:txBody>
        </p:sp>
        <p:grpSp>
          <p:nvGrpSpPr>
            <p:cNvPr id="115858" name="Group 2">
              <a:extLst>
                <a:ext uri="{FF2B5EF4-FFF2-40B4-BE49-F238E27FC236}">
                  <a16:creationId xmlns:a16="http://schemas.microsoft.com/office/drawing/2014/main" xmlns="" id="{61F5A8A6-3E5F-CC75-D4AB-1595B1DD14F6}"/>
                </a:ext>
              </a:extLst>
            </p:cNvPr>
            <p:cNvGrpSpPr>
              <a:grpSpLocks/>
            </p:cNvGrpSpPr>
            <p:nvPr/>
          </p:nvGrpSpPr>
          <p:grpSpPr bwMode="auto">
            <a:xfrm>
              <a:off x="4927179" y="4293078"/>
              <a:ext cx="2002389" cy="1370772"/>
              <a:chOff x="1305623" y="4687783"/>
              <a:chExt cx="2002389" cy="1370772"/>
            </a:xfrm>
          </p:grpSpPr>
          <p:sp>
            <p:nvSpPr>
              <p:cNvPr id="115859" name="Freeform 10">
                <a:extLst>
                  <a:ext uri="{FF2B5EF4-FFF2-40B4-BE49-F238E27FC236}">
                    <a16:creationId xmlns:a16="http://schemas.microsoft.com/office/drawing/2014/main" xmlns="" id="{0CDE33BC-ABE4-0488-F9A4-1045A00E18CF}"/>
                  </a:ext>
                </a:extLst>
              </p:cNvPr>
              <p:cNvSpPr>
                <a:spLocks/>
              </p:cNvSpPr>
              <p:nvPr/>
            </p:nvSpPr>
            <p:spPr bwMode="auto">
              <a:xfrm>
                <a:off x="2432639" y="4689320"/>
                <a:ext cx="302067" cy="1369235"/>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0" name="Rectangle 23">
                <a:extLst>
                  <a:ext uri="{FF2B5EF4-FFF2-40B4-BE49-F238E27FC236}">
                    <a16:creationId xmlns:a16="http://schemas.microsoft.com/office/drawing/2014/main" xmlns="" id="{9F9A2DF1-124B-755C-177B-45BC14F8BD80}"/>
                  </a:ext>
                </a:extLst>
              </p:cNvPr>
              <p:cNvSpPr>
                <a:spLocks noChangeArrowheads="1"/>
              </p:cNvSpPr>
              <p:nvPr/>
            </p:nvSpPr>
            <p:spPr bwMode="auto">
              <a:xfrm>
                <a:off x="1381170" y="4687783"/>
                <a:ext cx="1076676" cy="135037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861" name="Rectangle 24">
                <a:extLst>
                  <a:ext uri="{FF2B5EF4-FFF2-40B4-BE49-F238E27FC236}">
                    <a16:creationId xmlns:a16="http://schemas.microsoft.com/office/drawing/2014/main" xmlns="" id="{8AD612B3-3C3C-B4D1-978A-FAC70E704D1D}"/>
                  </a:ext>
                </a:extLst>
              </p:cNvPr>
              <p:cNvSpPr>
                <a:spLocks noChangeArrowheads="1"/>
              </p:cNvSpPr>
              <p:nvPr/>
            </p:nvSpPr>
            <p:spPr bwMode="auto">
              <a:xfrm>
                <a:off x="1341249" y="4752754"/>
                <a:ext cx="1067215" cy="1231976"/>
              </a:xfrm>
              <a:prstGeom prst="rect">
                <a:avLst/>
              </a:prstGeom>
              <a:solidFill>
                <a:schemeClr val="bg1"/>
              </a:solidFill>
              <a:ln w="2857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862" name="Line 25">
                <a:extLst>
                  <a:ext uri="{FF2B5EF4-FFF2-40B4-BE49-F238E27FC236}">
                    <a16:creationId xmlns:a16="http://schemas.microsoft.com/office/drawing/2014/main" xmlns="" id="{6948AA01-44FE-0330-A3DD-73E002F6952A}"/>
                  </a:ext>
                </a:extLst>
              </p:cNvPr>
              <p:cNvSpPr>
                <a:spLocks noChangeShapeType="1"/>
              </p:cNvSpPr>
              <p:nvPr/>
            </p:nvSpPr>
            <p:spPr bwMode="auto">
              <a:xfrm>
                <a:off x="1341249" y="50313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73" name="Text Box 26">
                <a:extLst>
                  <a:ext uri="{FF2B5EF4-FFF2-40B4-BE49-F238E27FC236}">
                    <a16:creationId xmlns:a16="http://schemas.microsoft.com/office/drawing/2014/main" xmlns="" id="{4274ECF3-EDDD-A326-6DBC-CB1CC6D50E4A}"/>
                  </a:ext>
                </a:extLst>
              </p:cNvPr>
              <p:cNvSpPr txBox="1">
                <a:spLocks noChangeArrowheads="1"/>
              </p:cNvSpPr>
              <p:nvPr/>
            </p:nvSpPr>
            <p:spPr bwMode="auto">
              <a:xfrm>
                <a:off x="1305623" y="4722494"/>
                <a:ext cx="1104328" cy="1289076"/>
              </a:xfrm>
              <a:prstGeom prst="rect">
                <a:avLst/>
              </a:prstGeom>
              <a:noFill/>
              <a:ln>
                <a:noFill/>
              </a:ln>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application</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transport</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network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link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physical</a:t>
                </a:r>
              </a:p>
            </p:txBody>
          </p:sp>
          <p:grpSp>
            <p:nvGrpSpPr>
              <p:cNvPr id="115864" name="Group 190">
                <a:extLst>
                  <a:ext uri="{FF2B5EF4-FFF2-40B4-BE49-F238E27FC236}">
                    <a16:creationId xmlns:a16="http://schemas.microsoft.com/office/drawing/2014/main" xmlns="" id="{2F1AD8BD-0957-C089-40F3-433A78E43B33}"/>
                  </a:ext>
                </a:extLst>
              </p:cNvPr>
              <p:cNvGrpSpPr>
                <a:grpSpLocks/>
              </p:cNvGrpSpPr>
              <p:nvPr/>
            </p:nvGrpSpPr>
            <p:grpSpPr bwMode="auto">
              <a:xfrm flipH="1">
                <a:off x="2634682" y="5076164"/>
                <a:ext cx="673330" cy="701684"/>
                <a:chOff x="-44" y="1473"/>
                <a:chExt cx="981" cy="1105"/>
              </a:xfrm>
            </p:grpSpPr>
            <p:pic>
              <p:nvPicPr>
                <p:cNvPr id="115868" name="Picture 191" descr="desktop_computer_stylized_medium">
                  <a:extLst>
                    <a:ext uri="{FF2B5EF4-FFF2-40B4-BE49-F238E27FC236}">
                      <a16:creationId xmlns:a16="http://schemas.microsoft.com/office/drawing/2014/main" xmlns="" id="{316A67A3-E2AB-5142-E37E-19D26C538C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869" name="Freeform 192">
                  <a:extLst>
                    <a:ext uri="{FF2B5EF4-FFF2-40B4-BE49-F238E27FC236}">
                      <a16:creationId xmlns:a16="http://schemas.microsoft.com/office/drawing/2014/main" xmlns="" id="{52A8EB78-8DD2-7400-EE04-38B2B291A560}"/>
                    </a:ext>
                  </a:extLst>
                </p:cNvPr>
                <p:cNvSpPr>
                  <a:spLocks/>
                </p:cNvSpPr>
                <p:nvPr/>
              </p:nvSpPr>
              <p:spPr bwMode="auto">
                <a:xfrm flipH="1">
                  <a:off x="374" y="1579"/>
                  <a:ext cx="477" cy="506"/>
                </a:xfrm>
                <a:custGeom>
                  <a:avLst/>
                  <a:gdLst>
                    <a:gd name="T0" fmla="*/ 0 w 356"/>
                    <a:gd name="T1" fmla="*/ 0 h 368"/>
                    <a:gd name="T2" fmla="*/ 58127 w 356"/>
                    <a:gd name="T3" fmla="*/ 4362 h 368"/>
                    <a:gd name="T4" fmla="*/ 68956 w 356"/>
                    <a:gd name="T5" fmla="*/ 90881 h 368"/>
                    <a:gd name="T6" fmla="*/ 15197 w 356"/>
                    <a:gd name="T7" fmla="*/ 11365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5865" name="Line 25">
                <a:extLst>
                  <a:ext uri="{FF2B5EF4-FFF2-40B4-BE49-F238E27FC236}">
                    <a16:creationId xmlns:a16="http://schemas.microsoft.com/office/drawing/2014/main" xmlns="" id="{C661A99F-C573-B2F6-5D86-20DBDDDDE005}"/>
                  </a:ext>
                </a:extLst>
              </p:cNvPr>
              <p:cNvSpPr>
                <a:spLocks noChangeShapeType="1"/>
              </p:cNvSpPr>
              <p:nvPr/>
            </p:nvSpPr>
            <p:spPr bwMode="auto">
              <a:xfrm>
                <a:off x="1345720" y="5260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6" name="Line 25">
                <a:extLst>
                  <a:ext uri="{FF2B5EF4-FFF2-40B4-BE49-F238E27FC236}">
                    <a16:creationId xmlns:a16="http://schemas.microsoft.com/office/drawing/2014/main" xmlns="" id="{7DBA1CE4-685E-8232-2A52-63D907A416A4}"/>
                  </a:ext>
                </a:extLst>
              </p:cNvPr>
              <p:cNvSpPr>
                <a:spLocks noChangeShapeType="1"/>
              </p:cNvSpPr>
              <p:nvPr/>
            </p:nvSpPr>
            <p:spPr bwMode="auto">
              <a:xfrm>
                <a:off x="1350191" y="54891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7" name="Line 25">
                <a:extLst>
                  <a:ext uri="{FF2B5EF4-FFF2-40B4-BE49-F238E27FC236}">
                    <a16:creationId xmlns:a16="http://schemas.microsoft.com/office/drawing/2014/main" xmlns="" id="{BE4D9594-B1B0-F420-E49B-197AFB84BC99}"/>
                  </a:ext>
                </a:extLst>
              </p:cNvPr>
              <p:cNvSpPr>
                <a:spLocks noChangeShapeType="1"/>
              </p:cNvSpPr>
              <p:nvPr/>
            </p:nvSpPr>
            <p:spPr bwMode="auto">
              <a:xfrm>
                <a:off x="1354662" y="5728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sp>
        <p:nvSpPr>
          <p:cNvPr id="115730" name="Freeform 2">
            <a:extLst>
              <a:ext uri="{FF2B5EF4-FFF2-40B4-BE49-F238E27FC236}">
                <a16:creationId xmlns:a16="http://schemas.microsoft.com/office/drawing/2014/main" xmlns="" id="{C26EC8A6-7AD9-9DE4-115D-A4C6ED5E790C}"/>
              </a:ext>
            </a:extLst>
          </p:cNvPr>
          <p:cNvSpPr>
            <a:spLocks/>
          </p:cNvSpPr>
          <p:nvPr/>
        </p:nvSpPr>
        <p:spPr bwMode="auto">
          <a:xfrm>
            <a:off x="2796779" y="3920729"/>
            <a:ext cx="2137172" cy="1110853"/>
          </a:xfrm>
          <a:custGeom>
            <a:avLst/>
            <a:gdLst>
              <a:gd name="T0" fmla="*/ 2147483646 w 1794"/>
              <a:gd name="T1" fmla="*/ 2147483646 h 933"/>
              <a:gd name="T2" fmla="*/ 2147483646 w 1794"/>
              <a:gd name="T3" fmla="*/ 2147483646 h 933"/>
              <a:gd name="T4" fmla="*/ 2147483646 w 1794"/>
              <a:gd name="T5" fmla="*/ 2147483646 h 933"/>
              <a:gd name="T6" fmla="*/ 2147483646 w 1794"/>
              <a:gd name="T7" fmla="*/ 2147483646 h 933"/>
              <a:gd name="T8" fmla="*/ 2147483646 w 1794"/>
              <a:gd name="T9" fmla="*/ 2147483646 h 933"/>
              <a:gd name="T10" fmla="*/ 2147483646 w 1794"/>
              <a:gd name="T11" fmla="*/ 2147483646 h 933"/>
              <a:gd name="T12" fmla="*/ 2147483646 w 1794"/>
              <a:gd name="T13" fmla="*/ 2147483646 h 933"/>
              <a:gd name="T14" fmla="*/ 2147483646 w 1794"/>
              <a:gd name="T15" fmla="*/ 2147483646 h 933"/>
              <a:gd name="T16" fmla="*/ 2147483646 w 1794"/>
              <a:gd name="T17" fmla="*/ 2147483646 h 933"/>
              <a:gd name="T18" fmla="*/ 2147483646 w 1794"/>
              <a:gd name="T19" fmla="*/ 2147483646 h 933"/>
              <a:gd name="T20" fmla="*/ 2147483646 w 1794"/>
              <a:gd name="T21" fmla="*/ 2147483646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31" name="Freeform 6">
            <a:extLst>
              <a:ext uri="{FF2B5EF4-FFF2-40B4-BE49-F238E27FC236}">
                <a16:creationId xmlns:a16="http://schemas.microsoft.com/office/drawing/2014/main" xmlns="" id="{5D8BD2E6-EC21-EF19-D6FE-E13F91A933CB}"/>
              </a:ext>
            </a:extLst>
          </p:cNvPr>
          <p:cNvSpPr>
            <a:spLocks/>
          </p:cNvSpPr>
          <p:nvPr/>
        </p:nvSpPr>
        <p:spPr bwMode="auto">
          <a:xfrm>
            <a:off x="3275410" y="4148138"/>
            <a:ext cx="407194" cy="221456"/>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15732" name="Group 7">
            <a:extLst>
              <a:ext uri="{FF2B5EF4-FFF2-40B4-BE49-F238E27FC236}">
                <a16:creationId xmlns:a16="http://schemas.microsoft.com/office/drawing/2014/main" xmlns="" id="{66BC99DF-03ED-8D56-1666-6DB078C69B72}"/>
              </a:ext>
            </a:extLst>
          </p:cNvPr>
          <p:cNvGrpSpPr>
            <a:grpSpLocks/>
          </p:cNvGrpSpPr>
          <p:nvPr/>
        </p:nvGrpSpPr>
        <p:grpSpPr bwMode="auto">
          <a:xfrm>
            <a:off x="2905125" y="4279107"/>
            <a:ext cx="376238" cy="175022"/>
            <a:chOff x="3600" y="219"/>
            <a:chExt cx="360" cy="175"/>
          </a:xfrm>
        </p:grpSpPr>
        <p:sp>
          <p:nvSpPr>
            <p:cNvPr id="115844" name="Oval 8">
              <a:extLst>
                <a:ext uri="{FF2B5EF4-FFF2-40B4-BE49-F238E27FC236}">
                  <a16:creationId xmlns:a16="http://schemas.microsoft.com/office/drawing/2014/main" xmlns="" id="{E89FE285-0181-53A1-E760-C89C98EB9DC0}"/>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45" name="Line 9">
              <a:extLst>
                <a:ext uri="{FF2B5EF4-FFF2-40B4-BE49-F238E27FC236}">
                  <a16:creationId xmlns:a16="http://schemas.microsoft.com/office/drawing/2014/main" xmlns="" id="{E9FFE0B2-510C-B9E6-C8DA-0CC0DA7AAB50}"/>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6" name="Line 10">
              <a:extLst>
                <a:ext uri="{FF2B5EF4-FFF2-40B4-BE49-F238E27FC236}">
                  <a16:creationId xmlns:a16="http://schemas.microsoft.com/office/drawing/2014/main" xmlns="" id="{AE2685C8-FAF6-F3C8-6CDD-EB6A63541DD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7" name="Rectangle 11">
              <a:extLst>
                <a:ext uri="{FF2B5EF4-FFF2-40B4-BE49-F238E27FC236}">
                  <a16:creationId xmlns:a16="http://schemas.microsoft.com/office/drawing/2014/main" xmlns="" id="{59575F7F-5C73-0581-74E1-1AEDFB0E7FD8}"/>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48" name="Oval 12">
              <a:extLst>
                <a:ext uri="{FF2B5EF4-FFF2-40B4-BE49-F238E27FC236}">
                  <a16:creationId xmlns:a16="http://schemas.microsoft.com/office/drawing/2014/main" xmlns="" id="{3F9F977F-50B8-AEBC-46D5-CEE277C97B0D}"/>
                </a:ext>
              </a:extLst>
            </p:cNvPr>
            <p:cNvSpPr>
              <a:spLocks noChangeArrowheads="1"/>
            </p:cNvSpPr>
            <p:nvPr/>
          </p:nvSpPr>
          <p:spPr bwMode="auto">
            <a:xfrm>
              <a:off x="3603" y="219"/>
              <a:ext cx="354"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49" name="Group 13">
              <a:extLst>
                <a:ext uri="{FF2B5EF4-FFF2-40B4-BE49-F238E27FC236}">
                  <a16:creationId xmlns:a16="http://schemas.microsoft.com/office/drawing/2014/main" xmlns="" id="{9F6B7217-184D-AFDF-4346-0754057C8CAB}"/>
                </a:ext>
              </a:extLst>
            </p:cNvPr>
            <p:cNvGrpSpPr>
              <a:grpSpLocks/>
            </p:cNvGrpSpPr>
            <p:nvPr/>
          </p:nvGrpSpPr>
          <p:grpSpPr bwMode="auto">
            <a:xfrm>
              <a:off x="3686" y="244"/>
              <a:ext cx="177" cy="66"/>
              <a:chOff x="2848" y="848"/>
              <a:chExt cx="140" cy="98"/>
            </a:xfrm>
          </p:grpSpPr>
          <p:sp>
            <p:nvSpPr>
              <p:cNvPr id="115854" name="Line 14">
                <a:extLst>
                  <a:ext uri="{FF2B5EF4-FFF2-40B4-BE49-F238E27FC236}">
                    <a16:creationId xmlns:a16="http://schemas.microsoft.com/office/drawing/2014/main" xmlns="" id="{296E187D-FD0F-FEBC-0161-A0A8C54C60F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5" name="Line 15">
                <a:extLst>
                  <a:ext uri="{FF2B5EF4-FFF2-40B4-BE49-F238E27FC236}">
                    <a16:creationId xmlns:a16="http://schemas.microsoft.com/office/drawing/2014/main" xmlns="" id="{17D57196-B1BF-9B88-0CA4-A3D6A130D8EB}"/>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6" name="Line 16">
                <a:extLst>
                  <a:ext uri="{FF2B5EF4-FFF2-40B4-BE49-F238E27FC236}">
                    <a16:creationId xmlns:a16="http://schemas.microsoft.com/office/drawing/2014/main" xmlns="" id="{AC75E453-6181-2055-40C7-73371FE1779F}"/>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50" name="Group 17">
              <a:extLst>
                <a:ext uri="{FF2B5EF4-FFF2-40B4-BE49-F238E27FC236}">
                  <a16:creationId xmlns:a16="http://schemas.microsoft.com/office/drawing/2014/main" xmlns="" id="{7B4F5E2D-D880-692B-B14C-1CE28D2B3531}"/>
                </a:ext>
              </a:extLst>
            </p:cNvPr>
            <p:cNvGrpSpPr>
              <a:grpSpLocks/>
            </p:cNvGrpSpPr>
            <p:nvPr/>
          </p:nvGrpSpPr>
          <p:grpSpPr bwMode="auto">
            <a:xfrm flipV="1">
              <a:off x="3686" y="243"/>
              <a:ext cx="177" cy="66"/>
              <a:chOff x="2848" y="848"/>
              <a:chExt cx="140" cy="98"/>
            </a:xfrm>
          </p:grpSpPr>
          <p:sp>
            <p:nvSpPr>
              <p:cNvPr id="115851" name="Line 18">
                <a:extLst>
                  <a:ext uri="{FF2B5EF4-FFF2-40B4-BE49-F238E27FC236}">
                    <a16:creationId xmlns:a16="http://schemas.microsoft.com/office/drawing/2014/main" xmlns="" id="{4A46DBE7-A19C-CB1A-84EF-5567D73BB2DD}"/>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2" name="Line 19">
                <a:extLst>
                  <a:ext uri="{FF2B5EF4-FFF2-40B4-BE49-F238E27FC236}">
                    <a16:creationId xmlns:a16="http://schemas.microsoft.com/office/drawing/2014/main" xmlns="" id="{81B4C1C8-C1AB-898A-CD77-EE8E66E69D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3" name="Line 20">
                <a:extLst>
                  <a:ext uri="{FF2B5EF4-FFF2-40B4-BE49-F238E27FC236}">
                    <a16:creationId xmlns:a16="http://schemas.microsoft.com/office/drawing/2014/main" xmlns="" id="{2FFA3FF9-29E8-FC61-BE6C-B8387F8943F8}"/>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3" name="Group 21">
            <a:extLst>
              <a:ext uri="{FF2B5EF4-FFF2-40B4-BE49-F238E27FC236}">
                <a16:creationId xmlns:a16="http://schemas.microsoft.com/office/drawing/2014/main" xmlns="" id="{E3A9E18F-D19E-52BF-B173-C9CD3AAAD9B0}"/>
              </a:ext>
            </a:extLst>
          </p:cNvPr>
          <p:cNvGrpSpPr>
            <a:grpSpLocks/>
          </p:cNvGrpSpPr>
          <p:nvPr/>
        </p:nvGrpSpPr>
        <p:grpSpPr bwMode="auto">
          <a:xfrm>
            <a:off x="3169444" y="4757738"/>
            <a:ext cx="376238" cy="175022"/>
            <a:chOff x="3600" y="219"/>
            <a:chExt cx="360" cy="175"/>
          </a:xfrm>
        </p:grpSpPr>
        <p:sp>
          <p:nvSpPr>
            <p:cNvPr id="115831" name="Oval 22">
              <a:extLst>
                <a:ext uri="{FF2B5EF4-FFF2-40B4-BE49-F238E27FC236}">
                  <a16:creationId xmlns:a16="http://schemas.microsoft.com/office/drawing/2014/main" xmlns="" id="{FD7315A0-4081-176E-2CA5-6205DD8BB638}"/>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32" name="Line 23">
              <a:extLst>
                <a:ext uri="{FF2B5EF4-FFF2-40B4-BE49-F238E27FC236}">
                  <a16:creationId xmlns:a16="http://schemas.microsoft.com/office/drawing/2014/main" xmlns="" id="{86986A7C-7BF8-5A76-E5AF-9685CC638865}"/>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3" name="Line 24">
              <a:extLst>
                <a:ext uri="{FF2B5EF4-FFF2-40B4-BE49-F238E27FC236}">
                  <a16:creationId xmlns:a16="http://schemas.microsoft.com/office/drawing/2014/main" xmlns="" id="{EA762EA6-6353-E8F5-9AF8-9D1D567646C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4" name="Rectangle 25">
              <a:extLst>
                <a:ext uri="{FF2B5EF4-FFF2-40B4-BE49-F238E27FC236}">
                  <a16:creationId xmlns:a16="http://schemas.microsoft.com/office/drawing/2014/main" xmlns="" id="{E875866A-FA3A-303A-AEA9-823DE80AB437}"/>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35" name="Oval 26">
              <a:extLst>
                <a:ext uri="{FF2B5EF4-FFF2-40B4-BE49-F238E27FC236}">
                  <a16:creationId xmlns:a16="http://schemas.microsoft.com/office/drawing/2014/main" xmlns="" id="{DC5E2168-5546-435D-8C4D-C552E8FAEBB4}"/>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36" name="Group 27">
              <a:extLst>
                <a:ext uri="{FF2B5EF4-FFF2-40B4-BE49-F238E27FC236}">
                  <a16:creationId xmlns:a16="http://schemas.microsoft.com/office/drawing/2014/main" xmlns="" id="{A0B6E4D5-A859-E76F-D36B-2ED1D18740B0}"/>
                </a:ext>
              </a:extLst>
            </p:cNvPr>
            <p:cNvGrpSpPr>
              <a:grpSpLocks/>
            </p:cNvGrpSpPr>
            <p:nvPr/>
          </p:nvGrpSpPr>
          <p:grpSpPr bwMode="auto">
            <a:xfrm>
              <a:off x="3686" y="244"/>
              <a:ext cx="177" cy="66"/>
              <a:chOff x="2848" y="848"/>
              <a:chExt cx="140" cy="98"/>
            </a:xfrm>
          </p:grpSpPr>
          <p:sp>
            <p:nvSpPr>
              <p:cNvPr id="115841" name="Line 28">
                <a:extLst>
                  <a:ext uri="{FF2B5EF4-FFF2-40B4-BE49-F238E27FC236}">
                    <a16:creationId xmlns:a16="http://schemas.microsoft.com/office/drawing/2014/main" xmlns="" id="{B087FE42-05AC-F72C-E8EF-4112E11DE86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2" name="Line 29">
                <a:extLst>
                  <a:ext uri="{FF2B5EF4-FFF2-40B4-BE49-F238E27FC236}">
                    <a16:creationId xmlns:a16="http://schemas.microsoft.com/office/drawing/2014/main" xmlns="" id="{089F6E42-A8F9-78F6-44FB-3C0AA2B12891}"/>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3" name="Line 30">
                <a:extLst>
                  <a:ext uri="{FF2B5EF4-FFF2-40B4-BE49-F238E27FC236}">
                    <a16:creationId xmlns:a16="http://schemas.microsoft.com/office/drawing/2014/main" xmlns="" id="{7D7D5D9C-C771-58EB-197E-D966CC55DDFC}"/>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37" name="Group 31">
              <a:extLst>
                <a:ext uri="{FF2B5EF4-FFF2-40B4-BE49-F238E27FC236}">
                  <a16:creationId xmlns:a16="http://schemas.microsoft.com/office/drawing/2014/main" xmlns="" id="{613B551B-972A-5523-D9EF-BF7A8D48F26E}"/>
                </a:ext>
              </a:extLst>
            </p:cNvPr>
            <p:cNvGrpSpPr>
              <a:grpSpLocks/>
            </p:cNvGrpSpPr>
            <p:nvPr/>
          </p:nvGrpSpPr>
          <p:grpSpPr bwMode="auto">
            <a:xfrm flipV="1">
              <a:off x="3686" y="243"/>
              <a:ext cx="177" cy="66"/>
              <a:chOff x="2848" y="848"/>
              <a:chExt cx="140" cy="98"/>
            </a:xfrm>
          </p:grpSpPr>
          <p:sp>
            <p:nvSpPr>
              <p:cNvPr id="115838" name="Line 32">
                <a:extLst>
                  <a:ext uri="{FF2B5EF4-FFF2-40B4-BE49-F238E27FC236}">
                    <a16:creationId xmlns:a16="http://schemas.microsoft.com/office/drawing/2014/main" xmlns="" id="{F796472D-420C-536C-471C-660856A0E738}"/>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9" name="Line 33">
                <a:extLst>
                  <a:ext uri="{FF2B5EF4-FFF2-40B4-BE49-F238E27FC236}">
                    <a16:creationId xmlns:a16="http://schemas.microsoft.com/office/drawing/2014/main" xmlns="" id="{098CD8E9-AD08-0751-37DD-49BAC3AE2E7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0" name="Line 34">
                <a:extLst>
                  <a:ext uri="{FF2B5EF4-FFF2-40B4-BE49-F238E27FC236}">
                    <a16:creationId xmlns:a16="http://schemas.microsoft.com/office/drawing/2014/main" xmlns="" id="{528C5AE9-D7AC-FE60-0F95-5B4254997BAD}"/>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4" name="Group 35">
            <a:extLst>
              <a:ext uri="{FF2B5EF4-FFF2-40B4-BE49-F238E27FC236}">
                <a16:creationId xmlns:a16="http://schemas.microsoft.com/office/drawing/2014/main" xmlns="" id="{771E3647-2C69-747F-77B4-E3789E65E6CD}"/>
              </a:ext>
            </a:extLst>
          </p:cNvPr>
          <p:cNvGrpSpPr>
            <a:grpSpLocks/>
          </p:cNvGrpSpPr>
          <p:nvPr/>
        </p:nvGrpSpPr>
        <p:grpSpPr bwMode="auto">
          <a:xfrm>
            <a:off x="3675459" y="4050507"/>
            <a:ext cx="376238" cy="175022"/>
            <a:chOff x="3600" y="219"/>
            <a:chExt cx="360" cy="175"/>
          </a:xfrm>
        </p:grpSpPr>
        <p:sp>
          <p:nvSpPr>
            <p:cNvPr id="115818" name="Oval 36">
              <a:extLst>
                <a:ext uri="{FF2B5EF4-FFF2-40B4-BE49-F238E27FC236}">
                  <a16:creationId xmlns:a16="http://schemas.microsoft.com/office/drawing/2014/main" xmlns="" id="{E7528756-DAAE-1F5F-E6D6-D1267B88953B}"/>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19" name="Line 37">
              <a:extLst>
                <a:ext uri="{FF2B5EF4-FFF2-40B4-BE49-F238E27FC236}">
                  <a16:creationId xmlns:a16="http://schemas.microsoft.com/office/drawing/2014/main" xmlns="" id="{AEF99F72-D453-C4AF-5F79-619C40E1976A}"/>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0" name="Line 38">
              <a:extLst>
                <a:ext uri="{FF2B5EF4-FFF2-40B4-BE49-F238E27FC236}">
                  <a16:creationId xmlns:a16="http://schemas.microsoft.com/office/drawing/2014/main" xmlns="" id="{48A7871E-FDD9-F7A9-21D6-473F5156F27B}"/>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1" name="Rectangle 39">
              <a:extLst>
                <a:ext uri="{FF2B5EF4-FFF2-40B4-BE49-F238E27FC236}">
                  <a16:creationId xmlns:a16="http://schemas.microsoft.com/office/drawing/2014/main" xmlns="" id="{2002B1E1-F276-0E40-08FB-34C2775BCA12}"/>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22" name="Oval 40">
              <a:extLst>
                <a:ext uri="{FF2B5EF4-FFF2-40B4-BE49-F238E27FC236}">
                  <a16:creationId xmlns:a16="http://schemas.microsoft.com/office/drawing/2014/main" xmlns="" id="{AD47A52B-3097-4BE9-8A9D-8280AEA092EE}"/>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23" name="Group 41">
              <a:extLst>
                <a:ext uri="{FF2B5EF4-FFF2-40B4-BE49-F238E27FC236}">
                  <a16:creationId xmlns:a16="http://schemas.microsoft.com/office/drawing/2014/main" xmlns="" id="{61CEDFDC-8050-EBA8-CB35-FA1D6D1A1108}"/>
                </a:ext>
              </a:extLst>
            </p:cNvPr>
            <p:cNvGrpSpPr>
              <a:grpSpLocks/>
            </p:cNvGrpSpPr>
            <p:nvPr/>
          </p:nvGrpSpPr>
          <p:grpSpPr bwMode="auto">
            <a:xfrm>
              <a:off x="3686" y="244"/>
              <a:ext cx="177" cy="66"/>
              <a:chOff x="2848" y="848"/>
              <a:chExt cx="140" cy="98"/>
            </a:xfrm>
          </p:grpSpPr>
          <p:sp>
            <p:nvSpPr>
              <p:cNvPr id="115828" name="Line 42">
                <a:extLst>
                  <a:ext uri="{FF2B5EF4-FFF2-40B4-BE49-F238E27FC236}">
                    <a16:creationId xmlns:a16="http://schemas.microsoft.com/office/drawing/2014/main" xmlns="" id="{362FD4FE-E2BC-FDF0-EF62-DDE9460BE05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9" name="Line 43">
                <a:extLst>
                  <a:ext uri="{FF2B5EF4-FFF2-40B4-BE49-F238E27FC236}">
                    <a16:creationId xmlns:a16="http://schemas.microsoft.com/office/drawing/2014/main" xmlns="" id="{4466330E-A7ED-5A3D-6876-5D1F2160D610}"/>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0" name="Line 44">
                <a:extLst>
                  <a:ext uri="{FF2B5EF4-FFF2-40B4-BE49-F238E27FC236}">
                    <a16:creationId xmlns:a16="http://schemas.microsoft.com/office/drawing/2014/main" xmlns="" id="{944CE818-5662-1324-B935-329E7DBF2CA6}"/>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24" name="Group 45">
              <a:extLst>
                <a:ext uri="{FF2B5EF4-FFF2-40B4-BE49-F238E27FC236}">
                  <a16:creationId xmlns:a16="http://schemas.microsoft.com/office/drawing/2014/main" xmlns="" id="{C231453B-3FF0-2CD2-B2D9-2CFEC8B0E3EB}"/>
                </a:ext>
              </a:extLst>
            </p:cNvPr>
            <p:cNvGrpSpPr>
              <a:grpSpLocks/>
            </p:cNvGrpSpPr>
            <p:nvPr/>
          </p:nvGrpSpPr>
          <p:grpSpPr bwMode="auto">
            <a:xfrm flipV="1">
              <a:off x="3686" y="243"/>
              <a:ext cx="177" cy="66"/>
              <a:chOff x="2848" y="848"/>
              <a:chExt cx="140" cy="98"/>
            </a:xfrm>
          </p:grpSpPr>
          <p:sp>
            <p:nvSpPr>
              <p:cNvPr id="115825" name="Line 46">
                <a:extLst>
                  <a:ext uri="{FF2B5EF4-FFF2-40B4-BE49-F238E27FC236}">
                    <a16:creationId xmlns:a16="http://schemas.microsoft.com/office/drawing/2014/main" xmlns="" id="{E490B653-6678-474C-D769-919B3D622C20}"/>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6" name="Line 47">
                <a:extLst>
                  <a:ext uri="{FF2B5EF4-FFF2-40B4-BE49-F238E27FC236}">
                    <a16:creationId xmlns:a16="http://schemas.microsoft.com/office/drawing/2014/main" xmlns="" id="{5D87AA96-756F-6628-AAD0-244EB4545F7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7" name="Line 48">
                <a:extLst>
                  <a:ext uri="{FF2B5EF4-FFF2-40B4-BE49-F238E27FC236}">
                    <a16:creationId xmlns:a16="http://schemas.microsoft.com/office/drawing/2014/main" xmlns="" id="{3A6DA247-0606-991F-FACB-5E24A3E3B1A0}"/>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5" name="Group 18">
            <a:extLst>
              <a:ext uri="{FF2B5EF4-FFF2-40B4-BE49-F238E27FC236}">
                <a16:creationId xmlns:a16="http://schemas.microsoft.com/office/drawing/2014/main" xmlns="" id="{39FFA7AD-13C6-8391-445E-8370FD8C3541}"/>
              </a:ext>
            </a:extLst>
          </p:cNvPr>
          <p:cNvGrpSpPr>
            <a:grpSpLocks/>
          </p:cNvGrpSpPr>
          <p:nvPr/>
        </p:nvGrpSpPr>
        <p:grpSpPr bwMode="auto">
          <a:xfrm>
            <a:off x="3608785" y="4549378"/>
            <a:ext cx="375047" cy="175022"/>
            <a:chOff x="2269009" y="6392060"/>
            <a:chExt cx="500221" cy="233326"/>
          </a:xfrm>
        </p:grpSpPr>
        <p:sp>
          <p:nvSpPr>
            <p:cNvPr id="115805" name="Oval 50">
              <a:extLst>
                <a:ext uri="{FF2B5EF4-FFF2-40B4-BE49-F238E27FC236}">
                  <a16:creationId xmlns:a16="http://schemas.microsoft.com/office/drawing/2014/main" xmlns="" id="{F534D97B-EB60-5F06-60B8-843A3D4BD836}"/>
                </a:ext>
              </a:extLst>
            </p:cNvPr>
            <p:cNvSpPr>
              <a:spLocks noChangeArrowheads="1"/>
            </p:cNvSpPr>
            <p:nvPr/>
          </p:nvSpPr>
          <p:spPr bwMode="auto">
            <a:xfrm>
              <a:off x="2275957" y="6497390"/>
              <a:ext cx="493273" cy="127996"/>
            </a:xfrm>
            <a:prstGeom prst="ellipse">
              <a:avLst/>
            </a:prstGeom>
            <a:solidFill>
              <a:srgbClr val="CC0000"/>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06" name="Line 51">
              <a:extLst>
                <a:ext uri="{FF2B5EF4-FFF2-40B4-BE49-F238E27FC236}">
                  <a16:creationId xmlns:a16="http://schemas.microsoft.com/office/drawing/2014/main" xmlns="" id="{A7CB6329-7D9C-EA37-39D7-4FD76D9DFAA0}"/>
                </a:ext>
              </a:extLst>
            </p:cNvPr>
            <p:cNvSpPr>
              <a:spLocks noChangeShapeType="1"/>
            </p:cNvSpPr>
            <p:nvPr/>
          </p:nvSpPr>
          <p:spPr bwMode="auto">
            <a:xfrm>
              <a:off x="2275957"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7" name="Line 52">
              <a:extLst>
                <a:ext uri="{FF2B5EF4-FFF2-40B4-BE49-F238E27FC236}">
                  <a16:creationId xmlns:a16="http://schemas.microsoft.com/office/drawing/2014/main" xmlns="" id="{B3C057FB-2122-1B4B-545A-0374B5CB5DD7}"/>
                </a:ext>
              </a:extLst>
            </p:cNvPr>
            <p:cNvSpPr>
              <a:spLocks noChangeShapeType="1"/>
            </p:cNvSpPr>
            <p:nvPr/>
          </p:nvSpPr>
          <p:spPr bwMode="auto">
            <a:xfrm>
              <a:off x="2769229"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8" name="Rectangle 53">
              <a:extLst>
                <a:ext uri="{FF2B5EF4-FFF2-40B4-BE49-F238E27FC236}">
                  <a16:creationId xmlns:a16="http://schemas.microsoft.com/office/drawing/2014/main" xmlns="" id="{A22C2A46-1837-051A-DCA2-DC022AB7A70A}"/>
                </a:ext>
              </a:extLst>
            </p:cNvPr>
            <p:cNvSpPr>
              <a:spLocks noChangeArrowheads="1"/>
            </p:cNvSpPr>
            <p:nvPr/>
          </p:nvSpPr>
          <p:spPr bwMode="auto">
            <a:xfrm>
              <a:off x="2275957" y="6485390"/>
              <a:ext cx="489104" cy="773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09" name="Oval 54">
              <a:extLst>
                <a:ext uri="{FF2B5EF4-FFF2-40B4-BE49-F238E27FC236}">
                  <a16:creationId xmlns:a16="http://schemas.microsoft.com/office/drawing/2014/main" xmlns="" id="{7EACD8F9-F08C-432C-2C13-FB7BBD948D2C}"/>
                </a:ext>
              </a:extLst>
            </p:cNvPr>
            <p:cNvSpPr>
              <a:spLocks noChangeArrowheads="1"/>
            </p:cNvSpPr>
            <p:nvPr/>
          </p:nvSpPr>
          <p:spPr bwMode="auto">
            <a:xfrm>
              <a:off x="2269009" y="6392060"/>
              <a:ext cx="494662" cy="150662"/>
            </a:xfrm>
            <a:prstGeom prst="ellipse">
              <a:avLst/>
            </a:prstGeom>
            <a:solidFill>
              <a:srgbClr val="CC0000"/>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10" name="Group 55">
              <a:extLst>
                <a:ext uri="{FF2B5EF4-FFF2-40B4-BE49-F238E27FC236}">
                  <a16:creationId xmlns:a16="http://schemas.microsoft.com/office/drawing/2014/main" xmlns="" id="{A6005CC2-B37C-A8BA-FF0E-BC42A64223B0}"/>
                </a:ext>
              </a:extLst>
            </p:cNvPr>
            <p:cNvGrpSpPr>
              <a:grpSpLocks/>
            </p:cNvGrpSpPr>
            <p:nvPr/>
          </p:nvGrpSpPr>
          <p:grpSpPr bwMode="auto">
            <a:xfrm>
              <a:off x="2388506" y="6425391"/>
              <a:ext cx="245942" cy="86201"/>
              <a:chOff x="2848" y="848"/>
              <a:chExt cx="140" cy="96"/>
            </a:xfrm>
          </p:grpSpPr>
          <p:sp>
            <p:nvSpPr>
              <p:cNvPr id="115815" name="Line 56">
                <a:extLst>
                  <a:ext uri="{FF2B5EF4-FFF2-40B4-BE49-F238E27FC236}">
                    <a16:creationId xmlns:a16="http://schemas.microsoft.com/office/drawing/2014/main" xmlns="" id="{54BB9CE5-751D-2CB0-7B52-EDDD147A9B55}"/>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6" name="Line 57">
                <a:extLst>
                  <a:ext uri="{FF2B5EF4-FFF2-40B4-BE49-F238E27FC236}">
                    <a16:creationId xmlns:a16="http://schemas.microsoft.com/office/drawing/2014/main" xmlns="" id="{62F4AE97-A45A-A5B5-FA6A-6891EC18B55C}"/>
                  </a:ext>
                </a:extLst>
              </p:cNvPr>
              <p:cNvSpPr>
                <a:spLocks noChangeShapeType="1"/>
              </p:cNvSpPr>
              <p:nvPr/>
            </p:nvSpPr>
            <p:spPr bwMode="auto">
              <a:xfrm>
                <a:off x="2944" y="942"/>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7" name="Line 58">
                <a:extLst>
                  <a:ext uri="{FF2B5EF4-FFF2-40B4-BE49-F238E27FC236}">
                    <a16:creationId xmlns:a16="http://schemas.microsoft.com/office/drawing/2014/main" xmlns="" id="{FBC6433F-BD96-633C-FA05-5F3EF763FD6B}"/>
                  </a:ext>
                </a:extLst>
              </p:cNvPr>
              <p:cNvSpPr>
                <a:spLocks noChangeShapeType="1"/>
              </p:cNvSpPr>
              <p:nvPr/>
            </p:nvSpPr>
            <p:spPr bwMode="auto">
              <a:xfrm>
                <a:off x="2894" y="850"/>
                <a:ext cx="52" cy="94"/>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11" name="Group 59">
              <a:extLst>
                <a:ext uri="{FF2B5EF4-FFF2-40B4-BE49-F238E27FC236}">
                  <a16:creationId xmlns:a16="http://schemas.microsoft.com/office/drawing/2014/main" xmlns="" id="{38376A4F-2016-D359-0489-A7EF47F59521}"/>
                </a:ext>
              </a:extLst>
            </p:cNvPr>
            <p:cNvGrpSpPr>
              <a:grpSpLocks/>
            </p:cNvGrpSpPr>
            <p:nvPr/>
          </p:nvGrpSpPr>
          <p:grpSpPr bwMode="auto">
            <a:xfrm flipV="1">
              <a:off x="2388506" y="6424059"/>
              <a:ext cx="245942" cy="87997"/>
              <a:chOff x="2848" y="848"/>
              <a:chExt cx="140" cy="98"/>
            </a:xfrm>
          </p:grpSpPr>
          <p:sp>
            <p:nvSpPr>
              <p:cNvPr id="115812" name="Line 60">
                <a:extLst>
                  <a:ext uri="{FF2B5EF4-FFF2-40B4-BE49-F238E27FC236}">
                    <a16:creationId xmlns:a16="http://schemas.microsoft.com/office/drawing/2014/main" xmlns="" id="{2CB24467-3A3E-D6CA-0979-DAD402A2907F}"/>
                  </a:ext>
                </a:extLst>
              </p:cNvPr>
              <p:cNvSpPr>
                <a:spLocks noChangeShapeType="1"/>
              </p:cNvSpPr>
              <p:nvPr/>
            </p:nvSpPr>
            <p:spPr bwMode="auto">
              <a:xfrm flipV="1">
                <a:off x="2848" y="846"/>
                <a:ext cx="50" cy="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3" name="Line 61">
                <a:extLst>
                  <a:ext uri="{FF2B5EF4-FFF2-40B4-BE49-F238E27FC236}">
                    <a16:creationId xmlns:a16="http://schemas.microsoft.com/office/drawing/2014/main" xmlns="" id="{7FE0A7CE-E4D2-074F-B4BD-761AB6EEBBD8}"/>
                  </a:ext>
                </a:extLst>
              </p:cNvPr>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4" name="Line 62">
                <a:extLst>
                  <a:ext uri="{FF2B5EF4-FFF2-40B4-BE49-F238E27FC236}">
                    <a16:creationId xmlns:a16="http://schemas.microsoft.com/office/drawing/2014/main" xmlns="" id="{28C961F2-964A-6B33-AF86-60A1FFF521AD}"/>
                  </a:ext>
                </a:extLst>
              </p:cNvPr>
              <p:cNvSpPr>
                <a:spLocks noChangeShapeType="1"/>
              </p:cNvSpPr>
              <p:nvPr/>
            </p:nvSpPr>
            <p:spPr bwMode="auto">
              <a:xfrm>
                <a:off x="2894" y="849"/>
                <a:ext cx="52" cy="9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6" name="Group 63">
            <a:extLst>
              <a:ext uri="{FF2B5EF4-FFF2-40B4-BE49-F238E27FC236}">
                <a16:creationId xmlns:a16="http://schemas.microsoft.com/office/drawing/2014/main" xmlns="" id="{16BE52FD-FCDB-12EB-6E6C-734447BCA396}"/>
              </a:ext>
            </a:extLst>
          </p:cNvPr>
          <p:cNvGrpSpPr>
            <a:grpSpLocks/>
          </p:cNvGrpSpPr>
          <p:nvPr/>
        </p:nvGrpSpPr>
        <p:grpSpPr bwMode="auto">
          <a:xfrm>
            <a:off x="4093369" y="4772026"/>
            <a:ext cx="377428" cy="175022"/>
            <a:chOff x="3600" y="219"/>
            <a:chExt cx="360" cy="175"/>
          </a:xfrm>
        </p:grpSpPr>
        <p:sp>
          <p:nvSpPr>
            <p:cNvPr id="115792" name="Oval 64">
              <a:extLst>
                <a:ext uri="{FF2B5EF4-FFF2-40B4-BE49-F238E27FC236}">
                  <a16:creationId xmlns:a16="http://schemas.microsoft.com/office/drawing/2014/main" xmlns="" id="{90426591-7DEC-0F69-0877-46777A0F0B94}"/>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793" name="Line 65">
              <a:extLst>
                <a:ext uri="{FF2B5EF4-FFF2-40B4-BE49-F238E27FC236}">
                  <a16:creationId xmlns:a16="http://schemas.microsoft.com/office/drawing/2014/main" xmlns="" id="{90C4AE77-70AB-D676-9B3E-168DF180D4FD}"/>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4" name="Line 66">
              <a:extLst>
                <a:ext uri="{FF2B5EF4-FFF2-40B4-BE49-F238E27FC236}">
                  <a16:creationId xmlns:a16="http://schemas.microsoft.com/office/drawing/2014/main" xmlns="" id="{BD2F7268-C2A1-0903-249A-868B976A8B7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5" name="Rectangle 67">
              <a:extLst>
                <a:ext uri="{FF2B5EF4-FFF2-40B4-BE49-F238E27FC236}">
                  <a16:creationId xmlns:a16="http://schemas.microsoft.com/office/drawing/2014/main" xmlns="" id="{2A702F90-EDB2-2A91-7818-235BC2E7AB2A}"/>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796" name="Oval 68">
              <a:extLst>
                <a:ext uri="{FF2B5EF4-FFF2-40B4-BE49-F238E27FC236}">
                  <a16:creationId xmlns:a16="http://schemas.microsoft.com/office/drawing/2014/main" xmlns="" id="{EAD04C46-E430-5034-1A1F-CBFA793FA4F8}"/>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797" name="Group 69">
              <a:extLst>
                <a:ext uri="{FF2B5EF4-FFF2-40B4-BE49-F238E27FC236}">
                  <a16:creationId xmlns:a16="http://schemas.microsoft.com/office/drawing/2014/main" xmlns="" id="{887D4D82-A485-1BC0-F159-5DE2AACE1312}"/>
                </a:ext>
              </a:extLst>
            </p:cNvPr>
            <p:cNvGrpSpPr>
              <a:grpSpLocks/>
            </p:cNvGrpSpPr>
            <p:nvPr/>
          </p:nvGrpSpPr>
          <p:grpSpPr bwMode="auto">
            <a:xfrm>
              <a:off x="3686" y="244"/>
              <a:ext cx="177" cy="66"/>
              <a:chOff x="2848" y="848"/>
              <a:chExt cx="140" cy="98"/>
            </a:xfrm>
          </p:grpSpPr>
          <p:sp>
            <p:nvSpPr>
              <p:cNvPr id="115802" name="Line 70">
                <a:extLst>
                  <a:ext uri="{FF2B5EF4-FFF2-40B4-BE49-F238E27FC236}">
                    <a16:creationId xmlns:a16="http://schemas.microsoft.com/office/drawing/2014/main" xmlns="" id="{160D0049-59EC-3B0E-8801-6327D4CD8A5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3" name="Line 71">
                <a:extLst>
                  <a:ext uri="{FF2B5EF4-FFF2-40B4-BE49-F238E27FC236}">
                    <a16:creationId xmlns:a16="http://schemas.microsoft.com/office/drawing/2014/main" xmlns="" id="{025EF1AD-E8D7-DA12-641A-BE0EF8C8C33C}"/>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4" name="Line 72">
                <a:extLst>
                  <a:ext uri="{FF2B5EF4-FFF2-40B4-BE49-F238E27FC236}">
                    <a16:creationId xmlns:a16="http://schemas.microsoft.com/office/drawing/2014/main" xmlns="" id="{0EA6AFA2-A719-4898-3DFA-4B620F033A64}"/>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798" name="Group 73">
              <a:extLst>
                <a:ext uri="{FF2B5EF4-FFF2-40B4-BE49-F238E27FC236}">
                  <a16:creationId xmlns:a16="http://schemas.microsoft.com/office/drawing/2014/main" xmlns="" id="{1AA1ED5F-74D4-C290-F9B3-3281E9F5CA2D}"/>
                </a:ext>
              </a:extLst>
            </p:cNvPr>
            <p:cNvGrpSpPr>
              <a:grpSpLocks/>
            </p:cNvGrpSpPr>
            <p:nvPr/>
          </p:nvGrpSpPr>
          <p:grpSpPr bwMode="auto">
            <a:xfrm flipV="1">
              <a:off x="3686" y="243"/>
              <a:ext cx="177" cy="66"/>
              <a:chOff x="2848" y="848"/>
              <a:chExt cx="140" cy="98"/>
            </a:xfrm>
          </p:grpSpPr>
          <p:sp>
            <p:nvSpPr>
              <p:cNvPr id="115799" name="Line 74">
                <a:extLst>
                  <a:ext uri="{FF2B5EF4-FFF2-40B4-BE49-F238E27FC236}">
                    <a16:creationId xmlns:a16="http://schemas.microsoft.com/office/drawing/2014/main" xmlns="" id="{876828AC-2F75-134C-CFB3-5026FC31DF8A}"/>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0" name="Line 75">
                <a:extLst>
                  <a:ext uri="{FF2B5EF4-FFF2-40B4-BE49-F238E27FC236}">
                    <a16:creationId xmlns:a16="http://schemas.microsoft.com/office/drawing/2014/main" xmlns="" id="{EB2162A0-6E58-90ED-F0DD-E0ED645640C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1" name="Line 76">
                <a:extLst>
                  <a:ext uri="{FF2B5EF4-FFF2-40B4-BE49-F238E27FC236}">
                    <a16:creationId xmlns:a16="http://schemas.microsoft.com/office/drawing/2014/main" xmlns="" id="{52CFC888-065E-540A-6774-715BFAED5201}"/>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7" name="Group 77">
            <a:extLst>
              <a:ext uri="{FF2B5EF4-FFF2-40B4-BE49-F238E27FC236}">
                <a16:creationId xmlns:a16="http://schemas.microsoft.com/office/drawing/2014/main" xmlns="" id="{BBA96C3C-95F8-0D14-4C5D-3143111FBA90}"/>
              </a:ext>
            </a:extLst>
          </p:cNvPr>
          <p:cNvGrpSpPr>
            <a:grpSpLocks/>
          </p:cNvGrpSpPr>
          <p:nvPr/>
        </p:nvGrpSpPr>
        <p:grpSpPr bwMode="auto">
          <a:xfrm>
            <a:off x="4427934" y="4280297"/>
            <a:ext cx="376238" cy="175022"/>
            <a:chOff x="3600" y="219"/>
            <a:chExt cx="360" cy="175"/>
          </a:xfrm>
        </p:grpSpPr>
        <p:sp>
          <p:nvSpPr>
            <p:cNvPr id="115779" name="Oval 78">
              <a:extLst>
                <a:ext uri="{FF2B5EF4-FFF2-40B4-BE49-F238E27FC236}">
                  <a16:creationId xmlns:a16="http://schemas.microsoft.com/office/drawing/2014/main" xmlns="" id="{15BECEE6-41DA-0438-7D28-300CB9578713}"/>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780" name="Line 79">
              <a:extLst>
                <a:ext uri="{FF2B5EF4-FFF2-40B4-BE49-F238E27FC236}">
                  <a16:creationId xmlns:a16="http://schemas.microsoft.com/office/drawing/2014/main" xmlns="" id="{D2B2FD99-A899-C1A9-3D6A-1515C98D26E9}"/>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1" name="Line 80">
              <a:extLst>
                <a:ext uri="{FF2B5EF4-FFF2-40B4-BE49-F238E27FC236}">
                  <a16:creationId xmlns:a16="http://schemas.microsoft.com/office/drawing/2014/main" xmlns="" id="{6E076246-596B-3DEA-6023-1264A801AD7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2" name="Rectangle 81">
              <a:extLst>
                <a:ext uri="{FF2B5EF4-FFF2-40B4-BE49-F238E27FC236}">
                  <a16:creationId xmlns:a16="http://schemas.microsoft.com/office/drawing/2014/main" xmlns="" id="{C773C230-8555-4FBA-C583-C7B449BDE697}"/>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783" name="Oval 82">
              <a:extLst>
                <a:ext uri="{FF2B5EF4-FFF2-40B4-BE49-F238E27FC236}">
                  <a16:creationId xmlns:a16="http://schemas.microsoft.com/office/drawing/2014/main" xmlns="" id="{D67A50B9-9F3F-DC68-C9FB-F94B106A0D08}"/>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784" name="Group 83">
              <a:extLst>
                <a:ext uri="{FF2B5EF4-FFF2-40B4-BE49-F238E27FC236}">
                  <a16:creationId xmlns:a16="http://schemas.microsoft.com/office/drawing/2014/main" xmlns="" id="{C00EB43D-9BC9-666F-26CA-861471094883}"/>
                </a:ext>
              </a:extLst>
            </p:cNvPr>
            <p:cNvGrpSpPr>
              <a:grpSpLocks/>
            </p:cNvGrpSpPr>
            <p:nvPr/>
          </p:nvGrpSpPr>
          <p:grpSpPr bwMode="auto">
            <a:xfrm>
              <a:off x="3686" y="244"/>
              <a:ext cx="177" cy="66"/>
              <a:chOff x="2848" y="848"/>
              <a:chExt cx="140" cy="98"/>
            </a:xfrm>
          </p:grpSpPr>
          <p:sp>
            <p:nvSpPr>
              <p:cNvPr id="115789" name="Line 84">
                <a:extLst>
                  <a:ext uri="{FF2B5EF4-FFF2-40B4-BE49-F238E27FC236}">
                    <a16:creationId xmlns:a16="http://schemas.microsoft.com/office/drawing/2014/main" xmlns="" id="{B872FDC2-131B-BA35-64C2-319E7139F3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0" name="Line 85">
                <a:extLst>
                  <a:ext uri="{FF2B5EF4-FFF2-40B4-BE49-F238E27FC236}">
                    <a16:creationId xmlns:a16="http://schemas.microsoft.com/office/drawing/2014/main" xmlns="" id="{F5D8CC20-9B12-4BC2-FCF7-A3A414A4CD23}"/>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1" name="Line 86">
                <a:extLst>
                  <a:ext uri="{FF2B5EF4-FFF2-40B4-BE49-F238E27FC236}">
                    <a16:creationId xmlns:a16="http://schemas.microsoft.com/office/drawing/2014/main" xmlns="" id="{49FF29BF-CFE6-ED62-5FE7-B8A2E37A86BC}"/>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785" name="Group 87">
              <a:extLst>
                <a:ext uri="{FF2B5EF4-FFF2-40B4-BE49-F238E27FC236}">
                  <a16:creationId xmlns:a16="http://schemas.microsoft.com/office/drawing/2014/main" xmlns="" id="{E702B4EF-3C2C-02C1-02C2-4BB6919EF8A6}"/>
                </a:ext>
              </a:extLst>
            </p:cNvPr>
            <p:cNvGrpSpPr>
              <a:grpSpLocks/>
            </p:cNvGrpSpPr>
            <p:nvPr/>
          </p:nvGrpSpPr>
          <p:grpSpPr bwMode="auto">
            <a:xfrm flipV="1">
              <a:off x="3686" y="243"/>
              <a:ext cx="177" cy="66"/>
              <a:chOff x="2848" y="848"/>
              <a:chExt cx="140" cy="98"/>
            </a:xfrm>
          </p:grpSpPr>
          <p:sp>
            <p:nvSpPr>
              <p:cNvPr id="115786" name="Line 88">
                <a:extLst>
                  <a:ext uri="{FF2B5EF4-FFF2-40B4-BE49-F238E27FC236}">
                    <a16:creationId xmlns:a16="http://schemas.microsoft.com/office/drawing/2014/main" xmlns="" id="{AFA588AE-7165-3243-DE5C-4532BDD42349}"/>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7" name="Line 89">
                <a:extLst>
                  <a:ext uri="{FF2B5EF4-FFF2-40B4-BE49-F238E27FC236}">
                    <a16:creationId xmlns:a16="http://schemas.microsoft.com/office/drawing/2014/main" xmlns="" id="{29CA1A9F-E07A-B88E-4988-46E5D7E9F6C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8" name="Line 90">
                <a:extLst>
                  <a:ext uri="{FF2B5EF4-FFF2-40B4-BE49-F238E27FC236}">
                    <a16:creationId xmlns:a16="http://schemas.microsoft.com/office/drawing/2014/main" xmlns="" id="{378D1AEE-0BDE-358C-F846-7FD6186005BF}"/>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sp>
        <p:nvSpPr>
          <p:cNvPr id="115738" name="Freeform 91">
            <a:extLst>
              <a:ext uri="{FF2B5EF4-FFF2-40B4-BE49-F238E27FC236}">
                <a16:creationId xmlns:a16="http://schemas.microsoft.com/office/drawing/2014/main" xmlns="" id="{C6EE4022-F79B-056F-E74C-5B0CD56E8C6C}"/>
              </a:ext>
            </a:extLst>
          </p:cNvPr>
          <p:cNvSpPr>
            <a:spLocks/>
          </p:cNvSpPr>
          <p:nvPr/>
        </p:nvSpPr>
        <p:spPr bwMode="auto">
          <a:xfrm>
            <a:off x="4056460" y="4143376"/>
            <a:ext cx="379810" cy="230981"/>
          </a:xfrm>
          <a:custGeom>
            <a:avLst/>
            <a:gdLst>
              <a:gd name="T0" fmla="*/ 0 w 318"/>
              <a:gd name="T1" fmla="*/ 0 h 194"/>
              <a:gd name="T2" fmla="*/ 2147483646 w 318"/>
              <a:gd name="T3" fmla="*/ 2147483646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39" name="Freeform 92">
            <a:extLst>
              <a:ext uri="{FF2B5EF4-FFF2-40B4-BE49-F238E27FC236}">
                <a16:creationId xmlns:a16="http://schemas.microsoft.com/office/drawing/2014/main" xmlns="" id="{55BE17E9-AA0E-7491-DFA5-D2B2C52BF9F9}"/>
              </a:ext>
            </a:extLst>
          </p:cNvPr>
          <p:cNvSpPr>
            <a:spLocks/>
          </p:cNvSpPr>
          <p:nvPr/>
        </p:nvSpPr>
        <p:spPr bwMode="auto">
          <a:xfrm>
            <a:off x="3257550" y="4437460"/>
            <a:ext cx="360759" cy="178594"/>
          </a:xfrm>
          <a:custGeom>
            <a:avLst/>
            <a:gdLst>
              <a:gd name="T0" fmla="*/ 0 w 294"/>
              <a:gd name="T1" fmla="*/ 0 h 174"/>
              <a:gd name="T2" fmla="*/ 2147483646 w 294"/>
              <a:gd name="T3" fmla="*/ 2147483646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0" name="Freeform 93">
            <a:extLst>
              <a:ext uri="{FF2B5EF4-FFF2-40B4-BE49-F238E27FC236}">
                <a16:creationId xmlns:a16="http://schemas.microsoft.com/office/drawing/2014/main" xmlns="" id="{7EEB697E-E711-9D37-44F3-95204B95D119}"/>
              </a:ext>
            </a:extLst>
          </p:cNvPr>
          <p:cNvSpPr>
            <a:spLocks/>
          </p:cNvSpPr>
          <p:nvPr/>
        </p:nvSpPr>
        <p:spPr bwMode="auto">
          <a:xfrm>
            <a:off x="3968353" y="4419600"/>
            <a:ext cx="472679" cy="185738"/>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1" name="Freeform 94">
            <a:extLst>
              <a:ext uri="{FF2B5EF4-FFF2-40B4-BE49-F238E27FC236}">
                <a16:creationId xmlns:a16="http://schemas.microsoft.com/office/drawing/2014/main" xmlns="" id="{8069460D-81E1-1A19-8653-9617A173DF8D}"/>
              </a:ext>
            </a:extLst>
          </p:cNvPr>
          <p:cNvSpPr>
            <a:spLocks/>
          </p:cNvSpPr>
          <p:nvPr/>
        </p:nvSpPr>
        <p:spPr bwMode="auto">
          <a:xfrm>
            <a:off x="4469607" y="4460081"/>
            <a:ext cx="154781" cy="381000"/>
          </a:xfrm>
          <a:custGeom>
            <a:avLst/>
            <a:gdLst>
              <a:gd name="T0" fmla="*/ 0 w 118"/>
              <a:gd name="T1" fmla="*/ 2147483646 h 500"/>
              <a:gd name="T2" fmla="*/ 2147483646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2" name="Freeform 95">
            <a:extLst>
              <a:ext uri="{FF2B5EF4-FFF2-40B4-BE49-F238E27FC236}">
                <a16:creationId xmlns:a16="http://schemas.microsoft.com/office/drawing/2014/main" xmlns="" id="{434BF06B-488C-A58D-7183-D71BDEFCF2F1}"/>
              </a:ext>
            </a:extLst>
          </p:cNvPr>
          <p:cNvSpPr>
            <a:spLocks/>
          </p:cNvSpPr>
          <p:nvPr/>
        </p:nvSpPr>
        <p:spPr bwMode="auto">
          <a:xfrm>
            <a:off x="3542109" y="4860132"/>
            <a:ext cx="552450" cy="55960"/>
          </a:xfrm>
          <a:custGeom>
            <a:avLst/>
            <a:gdLst>
              <a:gd name="T0" fmla="*/ 2147483646 w 370"/>
              <a:gd name="T1" fmla="*/ 2147483646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3" name="Freeform 96">
            <a:extLst>
              <a:ext uri="{FF2B5EF4-FFF2-40B4-BE49-F238E27FC236}">
                <a16:creationId xmlns:a16="http://schemas.microsoft.com/office/drawing/2014/main" xmlns="" id="{EA9CA342-9309-9867-9E41-F2C5C41C1477}"/>
              </a:ext>
            </a:extLst>
          </p:cNvPr>
          <p:cNvSpPr>
            <a:spLocks/>
          </p:cNvSpPr>
          <p:nvPr/>
        </p:nvSpPr>
        <p:spPr bwMode="auto">
          <a:xfrm>
            <a:off x="3139679" y="4455319"/>
            <a:ext cx="145256" cy="319088"/>
          </a:xfrm>
          <a:custGeom>
            <a:avLst/>
            <a:gdLst>
              <a:gd name="T0" fmla="*/ 2147483646 w 176"/>
              <a:gd name="T1" fmla="*/ 2147483646 h 412"/>
              <a:gd name="T2" fmla="*/ 2147483646 w 176"/>
              <a:gd name="T3" fmla="*/ 2147483646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4" name="Freeform 7">
            <a:extLst>
              <a:ext uri="{FF2B5EF4-FFF2-40B4-BE49-F238E27FC236}">
                <a16:creationId xmlns:a16="http://schemas.microsoft.com/office/drawing/2014/main" xmlns="" id="{168F3B07-9549-4008-659C-8763A8B835AF}"/>
              </a:ext>
            </a:extLst>
          </p:cNvPr>
          <p:cNvSpPr>
            <a:spLocks/>
          </p:cNvSpPr>
          <p:nvPr/>
        </p:nvSpPr>
        <p:spPr bwMode="auto">
          <a:xfrm>
            <a:off x="2306241" y="3449241"/>
            <a:ext cx="3867150" cy="1132284"/>
          </a:xfrm>
          <a:custGeom>
            <a:avLst/>
            <a:gdLst>
              <a:gd name="T0" fmla="*/ 0 w 5156094"/>
              <a:gd name="T1" fmla="*/ 0 h 1509215"/>
              <a:gd name="T2" fmla="*/ 6961 w 5156094"/>
              <a:gd name="T3" fmla="*/ 1168432 h 1509215"/>
              <a:gd name="T4" fmla="*/ 1131038 w 5156094"/>
              <a:gd name="T5" fmla="*/ 1170774 h 1509215"/>
              <a:gd name="T6" fmla="*/ 1755057 w 5156094"/>
              <a:gd name="T7" fmla="*/ 1490776 h 1509215"/>
              <a:gd name="T8" fmla="*/ 2207343 w 5156094"/>
              <a:gd name="T9" fmla="*/ 1511203 h 1509215"/>
              <a:gd name="T10" fmla="*/ 2989006 w 5156094"/>
              <a:gd name="T11" fmla="*/ 1199132 h 1509215"/>
              <a:gd name="T12" fmla="*/ 3391744 w 5156094"/>
              <a:gd name="T13" fmla="*/ 1210729 h 1509215"/>
              <a:gd name="T14" fmla="*/ 5156518 w 5156094"/>
              <a:gd name="T15" fmla="*/ 1200036 h 1509215"/>
              <a:gd name="T16" fmla="*/ 5126801 w 5156094"/>
              <a:gd name="T17" fmla="*/ 64168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56094" h="1509215">
                <a:moveTo>
                  <a:pt x="0" y="0"/>
                </a:moveTo>
                <a:cubicBezTo>
                  <a:pt x="2320" y="388965"/>
                  <a:pt x="4641" y="777929"/>
                  <a:pt x="6961" y="1166894"/>
                </a:cubicBezTo>
                <a:lnTo>
                  <a:pt x="1130946" y="1169234"/>
                </a:lnTo>
                <a:lnTo>
                  <a:pt x="1754913" y="1488814"/>
                </a:lnTo>
                <a:lnTo>
                  <a:pt x="2207163" y="1509215"/>
                </a:lnTo>
                <a:lnTo>
                  <a:pt x="2988762" y="1197554"/>
                </a:lnTo>
                <a:lnTo>
                  <a:pt x="3391464" y="1209136"/>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22" name="Group 21">
            <a:extLst>
              <a:ext uri="{FF2B5EF4-FFF2-40B4-BE49-F238E27FC236}">
                <a16:creationId xmlns:a16="http://schemas.microsoft.com/office/drawing/2014/main" xmlns="" id="{8E60E502-DB25-C986-CFA6-C265B3F28E00}"/>
              </a:ext>
            </a:extLst>
          </p:cNvPr>
          <p:cNvGrpSpPr>
            <a:grpSpLocks/>
          </p:cNvGrpSpPr>
          <p:nvPr/>
        </p:nvGrpSpPr>
        <p:grpSpPr bwMode="auto">
          <a:xfrm>
            <a:off x="1875234" y="4382701"/>
            <a:ext cx="1120379" cy="253917"/>
            <a:chOff x="1502428" y="5844331"/>
            <a:chExt cx="1493249" cy="338338"/>
          </a:xfrm>
        </p:grpSpPr>
        <p:grpSp>
          <p:nvGrpSpPr>
            <p:cNvPr id="115771" name="Group 274">
              <a:extLst>
                <a:ext uri="{FF2B5EF4-FFF2-40B4-BE49-F238E27FC236}">
                  <a16:creationId xmlns:a16="http://schemas.microsoft.com/office/drawing/2014/main" xmlns="" id="{5E81B5CA-AD3B-8A03-ACC7-52A894B668F0}"/>
                </a:ext>
              </a:extLst>
            </p:cNvPr>
            <p:cNvGrpSpPr>
              <a:grpSpLocks/>
            </p:cNvGrpSpPr>
            <p:nvPr/>
          </p:nvGrpSpPr>
          <p:grpSpPr bwMode="auto">
            <a:xfrm>
              <a:off x="1502428" y="5844331"/>
              <a:ext cx="1493249" cy="338338"/>
              <a:chOff x="3621632" y="5775938"/>
              <a:chExt cx="1493249" cy="338338"/>
            </a:xfrm>
          </p:grpSpPr>
          <p:grpSp>
            <p:nvGrpSpPr>
              <p:cNvPr id="115773" name="Group 275">
                <a:extLst>
                  <a:ext uri="{FF2B5EF4-FFF2-40B4-BE49-F238E27FC236}">
                    <a16:creationId xmlns:a16="http://schemas.microsoft.com/office/drawing/2014/main" xmlns="" id="{73F4AA39-1781-9270-6D8E-1AD9B2C48648}"/>
                  </a:ext>
                </a:extLst>
              </p:cNvPr>
              <p:cNvGrpSpPr>
                <a:grpSpLocks/>
              </p:cNvGrpSpPr>
              <p:nvPr/>
            </p:nvGrpSpPr>
            <p:grpSpPr bwMode="auto">
              <a:xfrm>
                <a:off x="3999159" y="5783287"/>
                <a:ext cx="806697" cy="257416"/>
                <a:chOff x="-2975754" y="4128742"/>
                <a:chExt cx="1258600" cy="450696"/>
              </a:xfrm>
            </p:grpSpPr>
            <p:sp>
              <p:nvSpPr>
                <p:cNvPr id="278" name="Rectangle 277">
                  <a:extLst>
                    <a:ext uri="{FF2B5EF4-FFF2-40B4-BE49-F238E27FC236}">
                      <a16:creationId xmlns:a16="http://schemas.microsoft.com/office/drawing/2014/main" xmlns="" id="{ABF95ADE-CDB7-BFDB-967D-B5E1A08C2BC5}"/>
                    </a:ext>
                  </a:extLst>
                </p:cNvPr>
                <p:cNvSpPr/>
                <p:nvPr/>
              </p:nvSpPr>
              <p:spPr>
                <a:xfrm>
                  <a:off x="-2903722" y="4135317"/>
                  <a:ext cx="1151258" cy="341655"/>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79" name="Rectangle 278">
                  <a:extLst>
                    <a:ext uri="{FF2B5EF4-FFF2-40B4-BE49-F238E27FC236}">
                      <a16:creationId xmlns:a16="http://schemas.microsoft.com/office/drawing/2014/main" xmlns="" id="{C5B7DC55-8D40-60F3-16D8-5B1340D3E501}"/>
                    </a:ext>
                  </a:extLst>
                </p:cNvPr>
                <p:cNvSpPr/>
                <p:nvPr/>
              </p:nvSpPr>
              <p:spPr>
                <a:xfrm>
                  <a:off x="-2968093" y="4221426"/>
                  <a:ext cx="1148783" cy="344432"/>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80" name="Freeform 279">
                  <a:extLst>
                    <a:ext uri="{FF2B5EF4-FFF2-40B4-BE49-F238E27FC236}">
                      <a16:creationId xmlns:a16="http://schemas.microsoft.com/office/drawing/2014/main" xmlns="" id="{35980D87-6B25-B6AC-0607-3340AD143EF3}"/>
                    </a:ext>
                  </a:extLst>
                </p:cNvPr>
                <p:cNvSpPr/>
                <p:nvPr/>
              </p:nvSpPr>
              <p:spPr>
                <a:xfrm>
                  <a:off x="-2975522" y="4129762"/>
                  <a:ext cx="1223057" cy="94441"/>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81" name="Freeform 280">
                  <a:extLst>
                    <a:ext uri="{FF2B5EF4-FFF2-40B4-BE49-F238E27FC236}">
                      <a16:creationId xmlns:a16="http://schemas.microsoft.com/office/drawing/2014/main" xmlns="" id="{E7A92921-58AC-E6B7-6480-C8F8BDD91AD8}"/>
                    </a:ext>
                  </a:extLst>
                </p:cNvPr>
                <p:cNvSpPr/>
                <p:nvPr/>
              </p:nvSpPr>
              <p:spPr>
                <a:xfrm rot="21211447" flipV="1">
                  <a:off x="-1853972" y="4146428"/>
                  <a:ext cx="136170" cy="433318"/>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grpSp>
          <p:sp>
            <p:nvSpPr>
              <p:cNvPr id="115774" name="TextBox 276">
                <a:extLst>
                  <a:ext uri="{FF2B5EF4-FFF2-40B4-BE49-F238E27FC236}">
                    <a16:creationId xmlns:a16="http://schemas.microsoft.com/office/drawing/2014/main" xmlns="" id="{E03B015F-5B14-A5CA-7F6A-6FD63DE6C12C}"/>
                  </a:ext>
                </a:extLst>
              </p:cNvPr>
              <p:cNvSpPr txBox="1">
                <a:spLocks noChangeArrowheads="1"/>
              </p:cNvSpPr>
              <p:nvPr/>
            </p:nvSpPr>
            <p:spPr bwMode="auto">
              <a:xfrm>
                <a:off x="3621632" y="5775938"/>
                <a:ext cx="1493249" cy="3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ECN=00</a:t>
                </a:r>
              </a:p>
            </p:txBody>
          </p:sp>
        </p:grpSp>
        <p:cxnSp>
          <p:nvCxnSpPr>
            <p:cNvPr id="115772" name="Straight Arrow Connector 15">
              <a:extLst>
                <a:ext uri="{FF2B5EF4-FFF2-40B4-BE49-F238E27FC236}">
                  <a16:creationId xmlns:a16="http://schemas.microsoft.com/office/drawing/2014/main" xmlns="" id="{66C3EA23-4A2D-C977-7B59-CAD566374497}"/>
                </a:ext>
              </a:extLst>
            </p:cNvPr>
            <p:cNvCxnSpPr>
              <a:cxnSpLocks noChangeShapeType="1"/>
            </p:cNvCxnSpPr>
            <p:nvPr/>
          </p:nvCxnSpPr>
          <p:spPr bwMode="auto">
            <a:xfrm flipV="1">
              <a:off x="2150568" y="6133267"/>
              <a:ext cx="612066" cy="1"/>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Group 22">
            <a:extLst>
              <a:ext uri="{FF2B5EF4-FFF2-40B4-BE49-F238E27FC236}">
                <a16:creationId xmlns:a16="http://schemas.microsoft.com/office/drawing/2014/main" xmlns="" id="{25E01568-3F15-3D31-C73B-B7946726F7DE}"/>
              </a:ext>
            </a:extLst>
          </p:cNvPr>
          <p:cNvGrpSpPr>
            <a:grpSpLocks/>
          </p:cNvGrpSpPr>
          <p:nvPr/>
        </p:nvGrpSpPr>
        <p:grpSpPr bwMode="auto">
          <a:xfrm>
            <a:off x="3464719" y="4331494"/>
            <a:ext cx="1120378" cy="269081"/>
            <a:chOff x="3621632" y="5775938"/>
            <a:chExt cx="1493249" cy="357723"/>
          </a:xfrm>
        </p:grpSpPr>
        <p:grpSp>
          <p:nvGrpSpPr>
            <p:cNvPr id="115763" name="Group 13">
              <a:extLst>
                <a:ext uri="{FF2B5EF4-FFF2-40B4-BE49-F238E27FC236}">
                  <a16:creationId xmlns:a16="http://schemas.microsoft.com/office/drawing/2014/main" xmlns="" id="{AC03F628-ECCA-FF80-90F5-46ACFD85AACB}"/>
                </a:ext>
              </a:extLst>
            </p:cNvPr>
            <p:cNvGrpSpPr>
              <a:grpSpLocks/>
            </p:cNvGrpSpPr>
            <p:nvPr/>
          </p:nvGrpSpPr>
          <p:grpSpPr bwMode="auto">
            <a:xfrm>
              <a:off x="3621632" y="5775938"/>
              <a:ext cx="1493249" cy="337561"/>
              <a:chOff x="3621632" y="5775938"/>
              <a:chExt cx="1493249" cy="337561"/>
            </a:xfrm>
          </p:grpSpPr>
          <p:grpSp>
            <p:nvGrpSpPr>
              <p:cNvPr id="115765" name="Group 11">
                <a:extLst>
                  <a:ext uri="{FF2B5EF4-FFF2-40B4-BE49-F238E27FC236}">
                    <a16:creationId xmlns:a16="http://schemas.microsoft.com/office/drawing/2014/main" xmlns="" id="{EF55A837-0C70-F667-CBB9-E740BC9206E3}"/>
                  </a:ext>
                </a:extLst>
              </p:cNvPr>
              <p:cNvGrpSpPr>
                <a:grpSpLocks/>
              </p:cNvGrpSpPr>
              <p:nvPr/>
            </p:nvGrpSpPr>
            <p:grpSpPr bwMode="auto">
              <a:xfrm>
                <a:off x="3999159" y="5783287"/>
                <a:ext cx="806697" cy="257416"/>
                <a:chOff x="-2975754" y="4128742"/>
                <a:chExt cx="1258600" cy="450696"/>
              </a:xfrm>
            </p:grpSpPr>
            <p:sp>
              <p:nvSpPr>
                <p:cNvPr id="268" name="Rectangle 267">
                  <a:extLst>
                    <a:ext uri="{FF2B5EF4-FFF2-40B4-BE49-F238E27FC236}">
                      <a16:creationId xmlns:a16="http://schemas.microsoft.com/office/drawing/2014/main" xmlns="" id="{41F9C534-01A1-C7F7-E2CB-EEE318FCAA7F}"/>
                    </a:ext>
                  </a:extLst>
                </p:cNvPr>
                <p:cNvSpPr/>
                <p:nvPr/>
              </p:nvSpPr>
              <p:spPr>
                <a:xfrm>
                  <a:off x="-2903723" y="4135274"/>
                  <a:ext cx="1151259" cy="340871"/>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xmlns="" id="{8C223CBC-6DF4-0883-36C6-5CD5A3B0E4BB}"/>
                    </a:ext>
                  </a:extLst>
                </p:cNvPr>
                <p:cNvSpPr/>
                <p:nvPr/>
              </p:nvSpPr>
              <p:spPr>
                <a:xfrm>
                  <a:off x="-2968095" y="4221184"/>
                  <a:ext cx="1148783" cy="343644"/>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10" name="Freeform 9">
                  <a:extLst>
                    <a:ext uri="{FF2B5EF4-FFF2-40B4-BE49-F238E27FC236}">
                      <a16:creationId xmlns:a16="http://schemas.microsoft.com/office/drawing/2014/main" xmlns="" id="{F0CECABC-140A-4358-ABE4-D51B2417436C}"/>
                    </a:ext>
                  </a:extLst>
                </p:cNvPr>
                <p:cNvSpPr/>
                <p:nvPr/>
              </p:nvSpPr>
              <p:spPr>
                <a:xfrm>
                  <a:off x="-2975522" y="4129732"/>
                  <a:ext cx="1223057" cy="94225"/>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70" name="Freeform 269">
                  <a:extLst>
                    <a:ext uri="{FF2B5EF4-FFF2-40B4-BE49-F238E27FC236}">
                      <a16:creationId xmlns:a16="http://schemas.microsoft.com/office/drawing/2014/main" xmlns="" id="{C0F33673-BC90-D6A9-E9A3-A56B1264CD5F}"/>
                    </a:ext>
                  </a:extLst>
                </p:cNvPr>
                <p:cNvSpPr/>
                <p:nvPr/>
              </p:nvSpPr>
              <p:spPr>
                <a:xfrm rot="21211447" flipV="1">
                  <a:off x="-1853974" y="4146360"/>
                  <a:ext cx="136171" cy="432326"/>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grpSp>
          <p:sp>
            <p:nvSpPr>
              <p:cNvPr id="115766" name="TextBox 12">
                <a:extLst>
                  <a:ext uri="{FF2B5EF4-FFF2-40B4-BE49-F238E27FC236}">
                    <a16:creationId xmlns:a16="http://schemas.microsoft.com/office/drawing/2014/main" xmlns="" id="{0613FA84-E808-EE55-7DE1-B1E342CDB080}"/>
                  </a:ext>
                </a:extLst>
              </p:cNvPr>
              <p:cNvSpPr txBox="1">
                <a:spLocks noChangeArrowheads="1"/>
              </p:cNvSpPr>
              <p:nvPr/>
            </p:nvSpPr>
            <p:spPr bwMode="auto">
              <a:xfrm>
                <a:off x="3621632" y="5775938"/>
                <a:ext cx="1493249" cy="33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ECN=</a:t>
                </a:r>
                <a:r>
                  <a:rPr lang="en-US" altLang="en-US" sz="1050" kern="1200">
                    <a:solidFill>
                      <a:srgbClr val="FF0000"/>
                    </a:solidFill>
                    <a:latin typeface="Tahoma" panose="020B0604030504040204" pitchFamily="34" charset="0"/>
                    <a:cs typeface="+mn-cs"/>
                  </a:rPr>
                  <a:t>11</a:t>
                </a:r>
              </a:p>
            </p:txBody>
          </p:sp>
        </p:grpSp>
        <p:cxnSp>
          <p:nvCxnSpPr>
            <p:cNvPr id="115764" name="Straight Arrow Connector 286">
              <a:extLst>
                <a:ext uri="{FF2B5EF4-FFF2-40B4-BE49-F238E27FC236}">
                  <a16:creationId xmlns:a16="http://schemas.microsoft.com/office/drawing/2014/main" xmlns="" id="{C404328E-7E5A-B1A6-D389-6E51036681EB}"/>
                </a:ext>
              </a:extLst>
            </p:cNvPr>
            <p:cNvCxnSpPr>
              <a:cxnSpLocks noChangeShapeType="1"/>
            </p:cNvCxnSpPr>
            <p:nvPr/>
          </p:nvCxnSpPr>
          <p:spPr bwMode="auto">
            <a:xfrm flipV="1">
              <a:off x="4483694" y="5949896"/>
              <a:ext cx="457353" cy="183765"/>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Group 28">
            <a:extLst>
              <a:ext uri="{FF2B5EF4-FFF2-40B4-BE49-F238E27FC236}">
                <a16:creationId xmlns:a16="http://schemas.microsoft.com/office/drawing/2014/main" xmlns="" id="{C1EDFC89-29F9-7494-C546-A0145D7CF53E}"/>
              </a:ext>
            </a:extLst>
          </p:cNvPr>
          <p:cNvGrpSpPr>
            <a:grpSpLocks/>
          </p:cNvGrpSpPr>
          <p:nvPr/>
        </p:nvGrpSpPr>
        <p:grpSpPr bwMode="auto">
          <a:xfrm>
            <a:off x="2499122" y="3400425"/>
            <a:ext cx="2987279" cy="284560"/>
            <a:chOff x="2334273" y="4534486"/>
            <a:chExt cx="3981995" cy="378689"/>
          </a:xfrm>
        </p:grpSpPr>
        <p:grpSp>
          <p:nvGrpSpPr>
            <p:cNvPr id="115755" name="Group 27">
              <a:extLst>
                <a:ext uri="{FF2B5EF4-FFF2-40B4-BE49-F238E27FC236}">
                  <a16:creationId xmlns:a16="http://schemas.microsoft.com/office/drawing/2014/main" xmlns="" id="{6FD0A531-E236-3008-E56C-AB589651CD4F}"/>
                </a:ext>
              </a:extLst>
            </p:cNvPr>
            <p:cNvGrpSpPr>
              <a:grpSpLocks/>
            </p:cNvGrpSpPr>
            <p:nvPr/>
          </p:nvGrpSpPr>
          <p:grpSpPr bwMode="auto">
            <a:xfrm>
              <a:off x="3508876" y="4534486"/>
              <a:ext cx="1493249" cy="337908"/>
              <a:chOff x="3508876" y="4414358"/>
              <a:chExt cx="1493249" cy="337908"/>
            </a:xfrm>
          </p:grpSpPr>
          <p:sp>
            <p:nvSpPr>
              <p:cNvPr id="298" name="Rectangle 297">
                <a:extLst>
                  <a:ext uri="{FF2B5EF4-FFF2-40B4-BE49-F238E27FC236}">
                    <a16:creationId xmlns:a16="http://schemas.microsoft.com/office/drawing/2014/main" xmlns="" id="{0CC61CA8-E3BD-C2A8-3661-309A212132BC}"/>
                  </a:ext>
                </a:extLst>
              </p:cNvPr>
              <p:cNvSpPr/>
              <p:nvPr/>
            </p:nvSpPr>
            <p:spPr>
              <a:xfrm>
                <a:off x="3907074" y="4428619"/>
                <a:ext cx="736407" cy="194890"/>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115759" name="Rectangle 298">
                <a:extLst>
                  <a:ext uri="{FF2B5EF4-FFF2-40B4-BE49-F238E27FC236}">
                    <a16:creationId xmlns:a16="http://schemas.microsoft.com/office/drawing/2014/main" xmlns="" id="{1AA5537D-8589-F65E-C0E5-D555CE43A768}"/>
                  </a:ext>
                </a:extLst>
              </p:cNvPr>
              <p:cNvSpPr>
                <a:spLocks noChangeArrowheads="1"/>
              </p:cNvSpPr>
              <p:nvPr/>
            </p:nvSpPr>
            <p:spPr bwMode="auto">
              <a:xfrm>
                <a:off x="3863891" y="4478563"/>
                <a:ext cx="737073" cy="196032"/>
              </a:xfrm>
              <a:prstGeom prst="rect">
                <a:avLst/>
              </a:prstGeom>
              <a:solidFill>
                <a:srgbClr val="0000FF"/>
              </a:solidFill>
              <a:ln w="12700">
                <a:solidFill>
                  <a:srgbClr val="000090"/>
                </a:solidFill>
                <a:miter lim="800000"/>
                <a:headEnd/>
                <a:tailEnd/>
              </a:ln>
            </p:spPr>
            <p:txBody>
              <a:bodyPr wrap="none"/>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60" name="Freeform 299">
                <a:extLst>
                  <a:ext uri="{FF2B5EF4-FFF2-40B4-BE49-F238E27FC236}">
                    <a16:creationId xmlns:a16="http://schemas.microsoft.com/office/drawing/2014/main" xmlns="" id="{901742B5-358B-C96F-A96C-C03422597F14}"/>
                  </a:ext>
                </a:extLst>
              </p:cNvPr>
              <p:cNvSpPr>
                <a:spLocks/>
              </p:cNvSpPr>
              <p:nvPr/>
            </p:nvSpPr>
            <p:spPr bwMode="auto">
              <a:xfrm>
                <a:off x="3859775" y="4425511"/>
                <a:ext cx="783947" cy="53534"/>
              </a:xfrm>
              <a:custGeom>
                <a:avLst/>
                <a:gdLst>
                  <a:gd name="T0" fmla="*/ 0 w 1223105"/>
                  <a:gd name="T1" fmla="*/ 5412 h 93730"/>
                  <a:gd name="T2" fmla="*/ 7604 w 1223105"/>
                  <a:gd name="T3" fmla="*/ 0 h 93730"/>
                  <a:gd name="T4" fmla="*/ 132306 w 1223105"/>
                  <a:gd name="T5" fmla="*/ 285 h 93730"/>
                  <a:gd name="T6" fmla="*/ 123688 w 1223105"/>
                  <a:gd name="T7" fmla="*/ 5697 h 93730"/>
                  <a:gd name="T8" fmla="*/ 0 w 1223105"/>
                  <a:gd name="T9" fmla="*/ 5412 h 937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3105" h="93730">
                    <a:moveTo>
                      <a:pt x="0" y="89042"/>
                    </a:moveTo>
                    <a:lnTo>
                      <a:pt x="70293" y="0"/>
                    </a:lnTo>
                    <a:lnTo>
                      <a:pt x="1223105" y="4687"/>
                    </a:lnTo>
                    <a:lnTo>
                      <a:pt x="1143439" y="93730"/>
                    </a:lnTo>
                    <a:lnTo>
                      <a:pt x="0" y="89042"/>
                    </a:lnTo>
                    <a:close/>
                  </a:path>
                </a:pathLst>
              </a:custGeom>
              <a:solidFill>
                <a:srgbClr val="3366FF"/>
              </a:solidFill>
              <a:ln w="9525">
                <a:solidFill>
                  <a:srgbClr val="000090"/>
                </a:solidFill>
                <a:round/>
                <a:headEnd/>
                <a:tailEnd/>
              </a:ln>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61" name="Freeform 300">
                <a:extLst>
                  <a:ext uri="{FF2B5EF4-FFF2-40B4-BE49-F238E27FC236}">
                    <a16:creationId xmlns:a16="http://schemas.microsoft.com/office/drawing/2014/main" xmlns="" id="{4BC4C10C-0592-DB7D-0B5B-35B9881417C3}"/>
                  </a:ext>
                </a:extLst>
              </p:cNvPr>
              <p:cNvSpPr>
                <a:spLocks/>
              </p:cNvSpPr>
              <p:nvPr/>
            </p:nvSpPr>
            <p:spPr bwMode="auto">
              <a:xfrm rot="21211447" flipV="1">
                <a:off x="4579084" y="4434448"/>
                <a:ext cx="87388" cy="248479"/>
              </a:xfrm>
              <a:custGeom>
                <a:avLst/>
                <a:gdLst>
                  <a:gd name="T0" fmla="*/ 3896 w 136342"/>
                  <a:gd name="T1" fmla="*/ 1227 h 891908"/>
                  <a:gd name="T2" fmla="*/ 0 w 136342"/>
                  <a:gd name="T3" fmla="*/ 0 h 891908"/>
                  <a:gd name="T4" fmla="*/ 10915 w 136342"/>
                  <a:gd name="T5" fmla="*/ 289 h 891908"/>
                  <a:gd name="T6" fmla="*/ 14748 w 136342"/>
                  <a:gd name="T7" fmla="*/ 1497 h 891908"/>
                  <a:gd name="T8" fmla="*/ 3896 w 136342"/>
                  <a:gd name="T9" fmla="*/ 1227 h 8919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342" h="891908">
                    <a:moveTo>
                      <a:pt x="36019" y="731496"/>
                    </a:moveTo>
                    <a:lnTo>
                      <a:pt x="0" y="1"/>
                    </a:lnTo>
                    <a:lnTo>
                      <a:pt x="100909" y="172120"/>
                    </a:lnTo>
                    <a:lnTo>
                      <a:pt x="136342" y="891907"/>
                    </a:lnTo>
                    <a:lnTo>
                      <a:pt x="36019" y="731496"/>
                    </a:lnTo>
                    <a:close/>
                  </a:path>
                </a:pathLst>
              </a:custGeom>
              <a:solidFill>
                <a:srgbClr val="3366FF"/>
              </a:solidFill>
              <a:ln w="9525">
                <a:solidFill>
                  <a:srgbClr val="000090"/>
                </a:solidFill>
                <a:round/>
                <a:headEnd/>
                <a:tailEnd/>
              </a:ln>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62" name="TextBox 296">
                <a:extLst>
                  <a:ext uri="{FF2B5EF4-FFF2-40B4-BE49-F238E27FC236}">
                    <a16:creationId xmlns:a16="http://schemas.microsoft.com/office/drawing/2014/main" xmlns="" id="{65EF6628-A750-20C7-61A0-72BB4D469A92}"/>
                  </a:ext>
                </a:extLst>
              </p:cNvPr>
              <p:cNvSpPr txBox="1">
                <a:spLocks noChangeArrowheads="1"/>
              </p:cNvSpPr>
              <p:nvPr/>
            </p:nvSpPr>
            <p:spPr bwMode="auto">
              <a:xfrm>
                <a:off x="3508876" y="4414358"/>
                <a:ext cx="1493249" cy="337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ECE=</a:t>
                </a:r>
                <a:r>
                  <a:rPr lang="en-US" altLang="en-US" sz="1050" kern="1200">
                    <a:solidFill>
                      <a:srgbClr val="FF0000"/>
                    </a:solidFill>
                    <a:latin typeface="Tahoma" panose="020B0604030504040204" pitchFamily="34" charset="0"/>
                    <a:cs typeface="+mn-cs"/>
                  </a:rPr>
                  <a:t>1</a:t>
                </a:r>
              </a:p>
            </p:txBody>
          </p:sp>
        </p:grpSp>
        <p:cxnSp>
          <p:nvCxnSpPr>
            <p:cNvPr id="115756" name="Straight Arrow Connector 294">
              <a:extLst>
                <a:ext uri="{FF2B5EF4-FFF2-40B4-BE49-F238E27FC236}">
                  <a16:creationId xmlns:a16="http://schemas.microsoft.com/office/drawing/2014/main" xmlns="" id="{AE9195E4-A249-5648-8206-88526E68DE7D}"/>
                </a:ext>
              </a:extLst>
            </p:cNvPr>
            <p:cNvCxnSpPr>
              <a:cxnSpLocks noChangeShapeType="1"/>
            </p:cNvCxnSpPr>
            <p:nvPr/>
          </p:nvCxnSpPr>
          <p:spPr bwMode="auto">
            <a:xfrm flipH="1" flipV="1">
              <a:off x="3801047" y="4905427"/>
              <a:ext cx="697737" cy="774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57" name="Straight Arrow Connector 25">
              <a:extLst>
                <a:ext uri="{FF2B5EF4-FFF2-40B4-BE49-F238E27FC236}">
                  <a16:creationId xmlns:a16="http://schemas.microsoft.com/office/drawing/2014/main" xmlns="" id="{7E011B35-B8DC-06FC-2E07-0517C22027F4}"/>
                </a:ext>
              </a:extLst>
            </p:cNvPr>
            <p:cNvCxnSpPr>
              <a:cxnSpLocks noChangeShapeType="1"/>
            </p:cNvCxnSpPr>
            <p:nvPr/>
          </p:nvCxnSpPr>
          <p:spPr bwMode="auto">
            <a:xfrm flipH="1">
              <a:off x="2334273" y="4839428"/>
              <a:ext cx="3981995" cy="0"/>
            </a:xfrm>
            <a:prstGeom prst="straightConnector1">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Group 32">
            <a:extLst>
              <a:ext uri="{FF2B5EF4-FFF2-40B4-BE49-F238E27FC236}">
                <a16:creationId xmlns:a16="http://schemas.microsoft.com/office/drawing/2014/main" xmlns="" id="{33AEA1DD-34D1-1AA9-FBE4-2F998FDD2257}"/>
              </a:ext>
            </a:extLst>
          </p:cNvPr>
          <p:cNvGrpSpPr>
            <a:grpSpLocks/>
          </p:cNvGrpSpPr>
          <p:nvPr/>
        </p:nvGrpSpPr>
        <p:grpSpPr bwMode="auto">
          <a:xfrm>
            <a:off x="1402535" y="4620819"/>
            <a:ext cx="915636" cy="369687"/>
            <a:chOff x="872227" y="6160831"/>
            <a:chExt cx="1220749" cy="493197"/>
          </a:xfrm>
        </p:grpSpPr>
        <p:sp>
          <p:nvSpPr>
            <p:cNvPr id="115753" name="TextBox 29">
              <a:extLst>
                <a:ext uri="{FF2B5EF4-FFF2-40B4-BE49-F238E27FC236}">
                  <a16:creationId xmlns:a16="http://schemas.microsoft.com/office/drawing/2014/main" xmlns="" id="{BDAEBE7F-565F-2BCD-9074-C50AD27501AB}"/>
                </a:ext>
              </a:extLst>
            </p:cNvPr>
            <p:cNvSpPr txBox="1">
              <a:spLocks noChangeArrowheads="1"/>
            </p:cNvSpPr>
            <p:nvPr/>
          </p:nvSpPr>
          <p:spPr bwMode="auto">
            <a:xfrm>
              <a:off x="872227" y="6315280"/>
              <a:ext cx="1220749" cy="33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000000"/>
                  </a:solidFill>
                  <a:latin typeface="Tahoma" panose="020B0604030504040204" pitchFamily="34" charset="0"/>
                  <a:cs typeface="+mn-cs"/>
                </a:rPr>
                <a:t>IP datagram</a:t>
              </a:r>
            </a:p>
          </p:txBody>
        </p:sp>
        <p:cxnSp>
          <p:nvCxnSpPr>
            <p:cNvPr id="115754" name="Straight Connector 31">
              <a:extLst>
                <a:ext uri="{FF2B5EF4-FFF2-40B4-BE49-F238E27FC236}">
                  <a16:creationId xmlns:a16="http://schemas.microsoft.com/office/drawing/2014/main" xmlns="" id="{DC180FF7-B087-9BDA-ECAE-8925711F2DBF}"/>
                </a:ext>
              </a:extLst>
            </p:cNvPr>
            <p:cNvCxnSpPr>
              <a:cxnSpLocks noChangeShapeType="1"/>
            </p:cNvCxnSpPr>
            <p:nvPr/>
          </p:nvCxnSpPr>
          <p:spPr bwMode="auto">
            <a:xfrm flipH="1">
              <a:off x="1785033" y="6160831"/>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4" name="Group 33">
            <a:extLst>
              <a:ext uri="{FF2B5EF4-FFF2-40B4-BE49-F238E27FC236}">
                <a16:creationId xmlns:a16="http://schemas.microsoft.com/office/drawing/2014/main" xmlns="" id="{BC0B7862-7C42-F81F-E0A5-6ED343A3AAEB}"/>
              </a:ext>
            </a:extLst>
          </p:cNvPr>
          <p:cNvGrpSpPr>
            <a:grpSpLocks/>
          </p:cNvGrpSpPr>
          <p:nvPr/>
        </p:nvGrpSpPr>
        <p:grpSpPr bwMode="auto">
          <a:xfrm>
            <a:off x="4132224" y="2996804"/>
            <a:ext cx="1247457" cy="386953"/>
            <a:chOff x="4510678" y="3996483"/>
            <a:chExt cx="1663399" cy="514832"/>
          </a:xfrm>
        </p:grpSpPr>
        <p:sp>
          <p:nvSpPr>
            <p:cNvPr id="115751" name="TextBox 312">
              <a:extLst>
                <a:ext uri="{FF2B5EF4-FFF2-40B4-BE49-F238E27FC236}">
                  <a16:creationId xmlns:a16="http://schemas.microsoft.com/office/drawing/2014/main" xmlns="" id="{675E7409-C9E4-91B8-8FA9-B135608CD159}"/>
                </a:ext>
              </a:extLst>
            </p:cNvPr>
            <p:cNvSpPr txBox="1">
              <a:spLocks noChangeArrowheads="1"/>
            </p:cNvSpPr>
            <p:nvPr/>
          </p:nvSpPr>
          <p:spPr bwMode="auto">
            <a:xfrm>
              <a:off x="4510678" y="3996483"/>
              <a:ext cx="1663399" cy="33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000000"/>
                  </a:solidFill>
                  <a:latin typeface="Tahoma" panose="020B0604030504040204" pitchFamily="34" charset="0"/>
                  <a:cs typeface="+mn-cs"/>
                </a:rPr>
                <a:t>TCP ACK segment</a:t>
              </a:r>
            </a:p>
          </p:txBody>
        </p:sp>
        <p:cxnSp>
          <p:nvCxnSpPr>
            <p:cNvPr id="115752" name="Straight Connector 313">
              <a:extLst>
                <a:ext uri="{FF2B5EF4-FFF2-40B4-BE49-F238E27FC236}">
                  <a16:creationId xmlns:a16="http://schemas.microsoft.com/office/drawing/2014/main" xmlns="" id="{BD48732B-598C-79C9-898A-166344B50F57}"/>
                </a:ext>
              </a:extLst>
            </p:cNvPr>
            <p:cNvCxnSpPr>
              <a:cxnSpLocks noChangeShapeType="1"/>
            </p:cNvCxnSpPr>
            <p:nvPr/>
          </p:nvCxnSpPr>
          <p:spPr bwMode="auto">
            <a:xfrm flipH="1">
              <a:off x="4632144" y="4271060"/>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right)">
                                      <p:cBhvr>
                                        <p:cTn id="21" dur="500"/>
                                        <p:tgtEl>
                                          <p:spTgt spid="29"/>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dissolve">
                                      <p:cBhvr>
                                        <p:cTn id="2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65E779-09E4-0F19-C65B-F75891BAFAF5}"/>
            </a:ext>
          </a:extLst>
        </p:cNvPr>
        <p:cNvGrpSpPr/>
        <p:nvPr/>
      </p:nvGrpSpPr>
      <p:grpSpPr>
        <a:xfrm>
          <a:off x="0" y="0"/>
          <a:ext cx="0" cy="0"/>
          <a:chOff x="0" y="0"/>
          <a:chExt cx="0" cy="0"/>
        </a:xfrm>
      </p:grpSpPr>
      <p:sp>
        <p:nvSpPr>
          <p:cNvPr id="109584" name="Rectangle 43">
            <a:extLst>
              <a:ext uri="{FF2B5EF4-FFF2-40B4-BE49-F238E27FC236}">
                <a16:creationId xmlns:a16="http://schemas.microsoft.com/office/drawing/2014/main" xmlns="" id="{CC959AF1-E361-D915-AE9D-68DD419C0E6C}"/>
              </a:ext>
            </a:extLst>
          </p:cNvPr>
          <p:cNvSpPr>
            <a:spLocks noGrp="1" noChangeArrowheads="1"/>
          </p:cNvSpPr>
          <p:nvPr>
            <p:ph type="title" idx="4294967295"/>
          </p:nvPr>
        </p:nvSpPr>
        <p:spPr>
          <a:xfrm>
            <a:off x="0" y="107950"/>
            <a:ext cx="8229600" cy="857250"/>
          </a:xfrm>
        </p:spPr>
        <p:txBody>
          <a:bodyPr vert="horz" lIns="91440" tIns="45720" rIns="91440" bIns="45720" rtlCol="0" anchor="ctr">
            <a:noAutofit/>
          </a:bodyPr>
          <a:lstStyle/>
          <a:p>
            <a:r>
              <a:rPr lang="en-US" sz="4000" b="1" dirty="0"/>
              <a:t>Explicit Congestion </a:t>
            </a:r>
            <a:r>
              <a:rPr lang="en-US" sz="4000" b="1"/>
              <a:t>Notification </a:t>
            </a:r>
            <a:r>
              <a:rPr lang="en-US" sz="4000" b="1" dirty="0"/>
              <a:t>(ECN)</a:t>
            </a:r>
          </a:p>
        </p:txBody>
      </p:sp>
      <p:sp>
        <p:nvSpPr>
          <p:cNvPr id="115719" name="Text Box 8">
            <a:extLst>
              <a:ext uri="{FF2B5EF4-FFF2-40B4-BE49-F238E27FC236}">
                <a16:creationId xmlns:a16="http://schemas.microsoft.com/office/drawing/2014/main" xmlns="" id="{8373E822-CC74-1CCF-9030-37838C9CB56A}"/>
              </a:ext>
            </a:extLst>
          </p:cNvPr>
          <p:cNvSpPr txBox="1">
            <a:spLocks noChangeArrowheads="1"/>
          </p:cNvSpPr>
          <p:nvPr/>
        </p:nvSpPr>
        <p:spPr bwMode="auto">
          <a:xfrm>
            <a:off x="1738608" y="3068242"/>
            <a:ext cx="6447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i="1" kern="1200">
                <a:solidFill>
                  <a:srgbClr val="000099"/>
                </a:solidFill>
                <a:latin typeface="Arial" panose="020B0604020202020204" pitchFamily="34" charset="0"/>
                <a:cs typeface="+mn-cs"/>
              </a:rPr>
              <a:t>source</a:t>
            </a:r>
            <a:endParaRPr lang="en-US" altLang="en-US" sz="1500" i="1" kern="1200">
              <a:solidFill>
                <a:srgbClr val="000099"/>
              </a:solidFill>
              <a:latin typeface="Arial" panose="020B0604020202020204" pitchFamily="34" charset="0"/>
              <a:cs typeface="+mn-cs"/>
            </a:endParaRPr>
          </a:p>
        </p:txBody>
      </p:sp>
      <p:sp>
        <p:nvSpPr>
          <p:cNvPr id="115720" name="Freeform 10">
            <a:extLst>
              <a:ext uri="{FF2B5EF4-FFF2-40B4-BE49-F238E27FC236}">
                <a16:creationId xmlns:a16="http://schemas.microsoft.com/office/drawing/2014/main" xmlns="" id="{1614D739-03BB-9398-E0D4-ACEA83F98A75}"/>
              </a:ext>
            </a:extLst>
          </p:cNvPr>
          <p:cNvSpPr>
            <a:spLocks/>
          </p:cNvSpPr>
          <p:nvPr/>
        </p:nvSpPr>
        <p:spPr bwMode="auto">
          <a:xfrm flipH="1">
            <a:off x="1390651" y="3287316"/>
            <a:ext cx="277415" cy="1026319"/>
          </a:xfrm>
          <a:custGeom>
            <a:avLst/>
            <a:gdLst>
              <a:gd name="T0" fmla="*/ 2147483646 w 12213"/>
              <a:gd name="T1" fmla="*/ 2147483646 h 10000"/>
              <a:gd name="T2" fmla="*/ 0 w 12213"/>
              <a:gd name="T3" fmla="*/ 0 h 10000"/>
              <a:gd name="T4" fmla="*/ 0 w 12213"/>
              <a:gd name="T5" fmla="*/ 2147483646 h 10000"/>
              <a:gd name="T6" fmla="*/ 2147483646 w 12213"/>
              <a:gd name="T7" fmla="*/ 2147483646 h 10000"/>
              <a:gd name="T8" fmla="*/ 2147483646 w 12213"/>
              <a:gd name="T9" fmla="*/ 2147483646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13" h="10000">
                <a:moveTo>
                  <a:pt x="11726" y="4661"/>
                </a:moveTo>
                <a:lnTo>
                  <a:pt x="0" y="0"/>
                </a:lnTo>
                <a:lnTo>
                  <a:pt x="0" y="10000"/>
                </a:lnTo>
                <a:lnTo>
                  <a:pt x="12213" y="6473"/>
                </a:lnTo>
                <a:lnTo>
                  <a:pt x="11726" y="4661"/>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1" name="Rectangle 23">
            <a:extLst>
              <a:ext uri="{FF2B5EF4-FFF2-40B4-BE49-F238E27FC236}">
                <a16:creationId xmlns:a16="http://schemas.microsoft.com/office/drawing/2014/main" xmlns="" id="{F8E0598C-CE9B-B048-2C80-F7C585D6A96B}"/>
              </a:ext>
            </a:extLst>
          </p:cNvPr>
          <p:cNvSpPr>
            <a:spLocks noChangeArrowheads="1"/>
          </p:cNvSpPr>
          <p:nvPr/>
        </p:nvSpPr>
        <p:spPr bwMode="auto">
          <a:xfrm>
            <a:off x="1670447" y="3286126"/>
            <a:ext cx="807244" cy="101203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22" name="Rectangle 24">
            <a:extLst>
              <a:ext uri="{FF2B5EF4-FFF2-40B4-BE49-F238E27FC236}">
                <a16:creationId xmlns:a16="http://schemas.microsoft.com/office/drawing/2014/main" xmlns="" id="{60773790-21F7-AE93-4DF5-F8ACC7B463C5}"/>
              </a:ext>
            </a:extLst>
          </p:cNvPr>
          <p:cNvSpPr>
            <a:spLocks noChangeArrowheads="1"/>
          </p:cNvSpPr>
          <p:nvPr/>
        </p:nvSpPr>
        <p:spPr bwMode="auto">
          <a:xfrm>
            <a:off x="1640682" y="3334941"/>
            <a:ext cx="800100" cy="923925"/>
          </a:xfrm>
          <a:prstGeom prst="rect">
            <a:avLst/>
          </a:prstGeom>
          <a:solidFill>
            <a:schemeClr val="bg1"/>
          </a:solidFill>
          <a:ln w="2857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23" name="Line 25">
            <a:extLst>
              <a:ext uri="{FF2B5EF4-FFF2-40B4-BE49-F238E27FC236}">
                <a16:creationId xmlns:a16="http://schemas.microsoft.com/office/drawing/2014/main" xmlns="" id="{9925CD8C-9224-8D17-6F05-5445238D93E4}"/>
              </a:ext>
            </a:extLst>
          </p:cNvPr>
          <p:cNvSpPr>
            <a:spLocks noChangeShapeType="1"/>
          </p:cNvSpPr>
          <p:nvPr/>
        </p:nvSpPr>
        <p:spPr bwMode="auto">
          <a:xfrm>
            <a:off x="1640681" y="354330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46" name="Text Box 26">
            <a:extLst>
              <a:ext uri="{FF2B5EF4-FFF2-40B4-BE49-F238E27FC236}">
                <a16:creationId xmlns:a16="http://schemas.microsoft.com/office/drawing/2014/main" xmlns="" id="{0B0DD6C9-7F5B-E340-3F72-897A1FBBE1ED}"/>
              </a:ext>
            </a:extLst>
          </p:cNvPr>
          <p:cNvSpPr txBox="1">
            <a:spLocks noChangeArrowheads="1"/>
          </p:cNvSpPr>
          <p:nvPr/>
        </p:nvSpPr>
        <p:spPr bwMode="auto">
          <a:xfrm>
            <a:off x="1613297" y="3311129"/>
            <a:ext cx="828675" cy="967252"/>
          </a:xfrm>
          <a:prstGeom prst="rect">
            <a:avLst/>
          </a:prstGeom>
          <a:noFill/>
          <a:ln>
            <a:noFill/>
          </a:ln>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application</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transport</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network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link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physical</a:t>
            </a:r>
          </a:p>
        </p:txBody>
      </p:sp>
      <p:grpSp>
        <p:nvGrpSpPr>
          <p:cNvPr id="115725" name="Group 190">
            <a:extLst>
              <a:ext uri="{FF2B5EF4-FFF2-40B4-BE49-F238E27FC236}">
                <a16:creationId xmlns:a16="http://schemas.microsoft.com/office/drawing/2014/main" xmlns="" id="{C5C9616D-BCEA-E4C6-C755-01C38E3766D2}"/>
              </a:ext>
            </a:extLst>
          </p:cNvPr>
          <p:cNvGrpSpPr>
            <a:grpSpLocks/>
          </p:cNvGrpSpPr>
          <p:nvPr/>
        </p:nvGrpSpPr>
        <p:grpSpPr bwMode="auto">
          <a:xfrm flipH="1">
            <a:off x="1143000" y="3690938"/>
            <a:ext cx="504825" cy="526256"/>
            <a:chOff x="-44" y="1473"/>
            <a:chExt cx="981" cy="1105"/>
          </a:xfrm>
        </p:grpSpPr>
        <p:pic>
          <p:nvPicPr>
            <p:cNvPr id="115870" name="Picture 191" descr="desktop_computer_stylized_medium">
              <a:extLst>
                <a:ext uri="{FF2B5EF4-FFF2-40B4-BE49-F238E27FC236}">
                  <a16:creationId xmlns:a16="http://schemas.microsoft.com/office/drawing/2014/main" xmlns="" id="{D450532C-2F81-2FCA-F99F-84B947F8F7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871" name="Freeform 192">
              <a:extLst>
                <a:ext uri="{FF2B5EF4-FFF2-40B4-BE49-F238E27FC236}">
                  <a16:creationId xmlns:a16="http://schemas.microsoft.com/office/drawing/2014/main" xmlns="" id="{0AB9A329-251F-7370-062B-59C3CEA9A5B7}"/>
                </a:ext>
              </a:extLst>
            </p:cNvPr>
            <p:cNvSpPr>
              <a:spLocks/>
            </p:cNvSpPr>
            <p:nvPr/>
          </p:nvSpPr>
          <p:spPr bwMode="auto">
            <a:xfrm flipH="1">
              <a:off x="374" y="1579"/>
              <a:ext cx="477" cy="506"/>
            </a:xfrm>
            <a:custGeom>
              <a:avLst/>
              <a:gdLst>
                <a:gd name="T0" fmla="*/ 0 w 356"/>
                <a:gd name="T1" fmla="*/ 0 h 368"/>
                <a:gd name="T2" fmla="*/ 58127 w 356"/>
                <a:gd name="T3" fmla="*/ 4362 h 368"/>
                <a:gd name="T4" fmla="*/ 68956 w 356"/>
                <a:gd name="T5" fmla="*/ 90881 h 368"/>
                <a:gd name="T6" fmla="*/ 15197 w 356"/>
                <a:gd name="T7" fmla="*/ 11365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5726" name="Line 25">
            <a:extLst>
              <a:ext uri="{FF2B5EF4-FFF2-40B4-BE49-F238E27FC236}">
                <a16:creationId xmlns:a16="http://schemas.microsoft.com/office/drawing/2014/main" xmlns="" id="{598E20AD-D086-86AF-2D89-5E0DB60D3BBF}"/>
              </a:ext>
            </a:extLst>
          </p:cNvPr>
          <p:cNvSpPr>
            <a:spLocks noChangeShapeType="1"/>
          </p:cNvSpPr>
          <p:nvPr/>
        </p:nvSpPr>
        <p:spPr bwMode="auto">
          <a:xfrm>
            <a:off x="1644254" y="371475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7" name="Line 25">
            <a:extLst>
              <a:ext uri="{FF2B5EF4-FFF2-40B4-BE49-F238E27FC236}">
                <a16:creationId xmlns:a16="http://schemas.microsoft.com/office/drawing/2014/main" xmlns="" id="{9C312464-5B3E-A4AB-35B8-8036D3865E5E}"/>
              </a:ext>
            </a:extLst>
          </p:cNvPr>
          <p:cNvSpPr>
            <a:spLocks noChangeShapeType="1"/>
          </p:cNvSpPr>
          <p:nvPr/>
        </p:nvSpPr>
        <p:spPr bwMode="auto">
          <a:xfrm>
            <a:off x="1647825" y="3886201"/>
            <a:ext cx="794147"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28" name="Line 25">
            <a:extLst>
              <a:ext uri="{FF2B5EF4-FFF2-40B4-BE49-F238E27FC236}">
                <a16:creationId xmlns:a16="http://schemas.microsoft.com/office/drawing/2014/main" xmlns="" id="{F65FE3B7-E49E-0726-2040-481CDC04C608}"/>
              </a:ext>
            </a:extLst>
          </p:cNvPr>
          <p:cNvSpPr>
            <a:spLocks noChangeShapeType="1"/>
          </p:cNvSpPr>
          <p:nvPr/>
        </p:nvSpPr>
        <p:spPr bwMode="auto">
          <a:xfrm>
            <a:off x="1650206" y="4065985"/>
            <a:ext cx="795338" cy="23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15729" name="Group 3">
            <a:extLst>
              <a:ext uri="{FF2B5EF4-FFF2-40B4-BE49-F238E27FC236}">
                <a16:creationId xmlns:a16="http://schemas.microsoft.com/office/drawing/2014/main" xmlns="" id="{516E27EA-B31F-1CF0-1E10-F64E2EF526A7}"/>
              </a:ext>
            </a:extLst>
          </p:cNvPr>
          <p:cNvGrpSpPr>
            <a:grpSpLocks/>
          </p:cNvGrpSpPr>
          <p:nvPr/>
        </p:nvGrpSpPr>
        <p:grpSpPr bwMode="auto">
          <a:xfrm>
            <a:off x="5373068" y="3076575"/>
            <a:ext cx="1538511" cy="1243013"/>
            <a:chOff x="4879281" y="4007261"/>
            <a:chExt cx="2050287" cy="1656589"/>
          </a:xfrm>
        </p:grpSpPr>
        <p:sp>
          <p:nvSpPr>
            <p:cNvPr id="115857" name="Text Box 54">
              <a:extLst>
                <a:ext uri="{FF2B5EF4-FFF2-40B4-BE49-F238E27FC236}">
                  <a16:creationId xmlns:a16="http://schemas.microsoft.com/office/drawing/2014/main" xmlns="" id="{69195F15-1334-2FC8-BC81-2F9198D1B253}"/>
                </a:ext>
              </a:extLst>
            </p:cNvPr>
            <p:cNvSpPr txBox="1">
              <a:spLocks noChangeArrowheads="1"/>
            </p:cNvSpPr>
            <p:nvPr/>
          </p:nvSpPr>
          <p:spPr bwMode="auto">
            <a:xfrm>
              <a:off x="4879281" y="4007261"/>
              <a:ext cx="1233033" cy="36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200" i="1" kern="1200">
                  <a:solidFill>
                    <a:srgbClr val="000099"/>
                  </a:solidFill>
                  <a:latin typeface="Arial" panose="020B0604020202020204" pitchFamily="34" charset="0"/>
                  <a:cs typeface="+mn-cs"/>
                </a:rPr>
                <a:t>destination</a:t>
              </a:r>
              <a:endParaRPr lang="en-US" altLang="en-US" sz="1500" i="1" kern="1200">
                <a:solidFill>
                  <a:srgbClr val="000099"/>
                </a:solidFill>
                <a:latin typeface="Arial" panose="020B0604020202020204" pitchFamily="34" charset="0"/>
                <a:cs typeface="+mn-cs"/>
              </a:endParaRPr>
            </a:p>
          </p:txBody>
        </p:sp>
        <p:grpSp>
          <p:nvGrpSpPr>
            <p:cNvPr id="115858" name="Group 2">
              <a:extLst>
                <a:ext uri="{FF2B5EF4-FFF2-40B4-BE49-F238E27FC236}">
                  <a16:creationId xmlns:a16="http://schemas.microsoft.com/office/drawing/2014/main" xmlns="" id="{5B863F5F-E225-AECD-A876-619DC801824B}"/>
                </a:ext>
              </a:extLst>
            </p:cNvPr>
            <p:cNvGrpSpPr>
              <a:grpSpLocks/>
            </p:cNvGrpSpPr>
            <p:nvPr/>
          </p:nvGrpSpPr>
          <p:grpSpPr bwMode="auto">
            <a:xfrm>
              <a:off x="4927179" y="4293078"/>
              <a:ext cx="2002389" cy="1370772"/>
              <a:chOff x="1305623" y="4687783"/>
              <a:chExt cx="2002389" cy="1370772"/>
            </a:xfrm>
          </p:grpSpPr>
          <p:sp>
            <p:nvSpPr>
              <p:cNvPr id="115859" name="Freeform 10">
                <a:extLst>
                  <a:ext uri="{FF2B5EF4-FFF2-40B4-BE49-F238E27FC236}">
                    <a16:creationId xmlns:a16="http://schemas.microsoft.com/office/drawing/2014/main" xmlns="" id="{4585FE0F-8DB9-C1D3-0FAC-FE06427A3F53}"/>
                  </a:ext>
                </a:extLst>
              </p:cNvPr>
              <p:cNvSpPr>
                <a:spLocks/>
              </p:cNvSpPr>
              <p:nvPr/>
            </p:nvSpPr>
            <p:spPr bwMode="auto">
              <a:xfrm>
                <a:off x="2432639" y="4689320"/>
                <a:ext cx="302067" cy="1369235"/>
              </a:xfrm>
              <a:custGeom>
                <a:avLst/>
                <a:gdLst>
                  <a:gd name="T0" fmla="*/ 2147483646 w 267"/>
                  <a:gd name="T1" fmla="*/ 2147483646 h 1186"/>
                  <a:gd name="T2" fmla="*/ 0 w 267"/>
                  <a:gd name="T3" fmla="*/ 0 h 1186"/>
                  <a:gd name="T4" fmla="*/ 0 w 267"/>
                  <a:gd name="T5" fmla="*/ 2147483646 h 1186"/>
                  <a:gd name="T6" fmla="*/ 2147483646 w 267"/>
                  <a:gd name="T7" fmla="*/ 2147483646 h 1186"/>
                  <a:gd name="T8" fmla="*/ 2147483646 w 267"/>
                  <a:gd name="T9" fmla="*/ 2147483646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0" name="Rectangle 23">
                <a:extLst>
                  <a:ext uri="{FF2B5EF4-FFF2-40B4-BE49-F238E27FC236}">
                    <a16:creationId xmlns:a16="http://schemas.microsoft.com/office/drawing/2014/main" xmlns="" id="{5F7C7AE9-90DB-C7A8-932B-5ED745875762}"/>
                  </a:ext>
                </a:extLst>
              </p:cNvPr>
              <p:cNvSpPr>
                <a:spLocks noChangeArrowheads="1"/>
              </p:cNvSpPr>
              <p:nvPr/>
            </p:nvSpPr>
            <p:spPr bwMode="auto">
              <a:xfrm>
                <a:off x="1381170" y="4687783"/>
                <a:ext cx="1076676" cy="1350371"/>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861" name="Rectangle 24">
                <a:extLst>
                  <a:ext uri="{FF2B5EF4-FFF2-40B4-BE49-F238E27FC236}">
                    <a16:creationId xmlns:a16="http://schemas.microsoft.com/office/drawing/2014/main" xmlns="" id="{3F5CCF01-B0C4-1A05-5E08-F522A21263FB}"/>
                  </a:ext>
                </a:extLst>
              </p:cNvPr>
              <p:cNvSpPr>
                <a:spLocks noChangeArrowheads="1"/>
              </p:cNvSpPr>
              <p:nvPr/>
            </p:nvSpPr>
            <p:spPr bwMode="auto">
              <a:xfrm>
                <a:off x="1341249" y="4752754"/>
                <a:ext cx="1067215" cy="1231976"/>
              </a:xfrm>
              <a:prstGeom prst="rect">
                <a:avLst/>
              </a:prstGeom>
              <a:solidFill>
                <a:schemeClr val="bg1"/>
              </a:solidFill>
              <a:ln w="2857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862" name="Line 25">
                <a:extLst>
                  <a:ext uri="{FF2B5EF4-FFF2-40B4-BE49-F238E27FC236}">
                    <a16:creationId xmlns:a16="http://schemas.microsoft.com/office/drawing/2014/main" xmlns="" id="{30B95E08-0C6E-B91E-0CA4-DE4262BCC7A4}"/>
                  </a:ext>
                </a:extLst>
              </p:cNvPr>
              <p:cNvSpPr>
                <a:spLocks noChangeShapeType="1"/>
              </p:cNvSpPr>
              <p:nvPr/>
            </p:nvSpPr>
            <p:spPr bwMode="auto">
              <a:xfrm>
                <a:off x="1341249" y="50313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73" name="Text Box 26">
                <a:extLst>
                  <a:ext uri="{FF2B5EF4-FFF2-40B4-BE49-F238E27FC236}">
                    <a16:creationId xmlns:a16="http://schemas.microsoft.com/office/drawing/2014/main" xmlns="" id="{7DF8E09A-6CE8-7B80-DD55-765E606C3BBA}"/>
                  </a:ext>
                </a:extLst>
              </p:cNvPr>
              <p:cNvSpPr txBox="1">
                <a:spLocks noChangeArrowheads="1"/>
              </p:cNvSpPr>
              <p:nvPr/>
            </p:nvSpPr>
            <p:spPr bwMode="auto">
              <a:xfrm>
                <a:off x="1305623" y="4722494"/>
                <a:ext cx="1104328" cy="1289076"/>
              </a:xfrm>
              <a:prstGeom prst="rect">
                <a:avLst/>
              </a:prstGeom>
              <a:noFill/>
              <a:ln>
                <a:noFill/>
              </a:ln>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application</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transport</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network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link</a:t>
                </a:r>
              </a:p>
              <a:p>
                <a:pPr algn="ctr" defTabSz="685800" rtl="0" eaLnBrk="0" fontAlgn="base" hangingPunct="0">
                  <a:lnSpc>
                    <a:spcPct val="110000"/>
                  </a:lnSpc>
                  <a:spcBef>
                    <a:spcPct val="0"/>
                  </a:spcBef>
                  <a:spcAft>
                    <a:spcPct val="0"/>
                  </a:spcAft>
                  <a:defRPr/>
                </a:pPr>
                <a:r>
                  <a:rPr lang="en-US" sz="1050" kern="1200" dirty="0">
                    <a:solidFill>
                      <a:srgbClr val="FFFFFF">
                        <a:lumMod val="75000"/>
                      </a:srgbClr>
                    </a:solidFill>
                  </a:rPr>
                  <a:t>physical</a:t>
                </a:r>
              </a:p>
            </p:txBody>
          </p:sp>
          <p:grpSp>
            <p:nvGrpSpPr>
              <p:cNvPr id="115864" name="Group 190">
                <a:extLst>
                  <a:ext uri="{FF2B5EF4-FFF2-40B4-BE49-F238E27FC236}">
                    <a16:creationId xmlns:a16="http://schemas.microsoft.com/office/drawing/2014/main" xmlns="" id="{0F8B3ED4-5791-25E7-7BBD-B5D8448F844F}"/>
                  </a:ext>
                </a:extLst>
              </p:cNvPr>
              <p:cNvGrpSpPr>
                <a:grpSpLocks/>
              </p:cNvGrpSpPr>
              <p:nvPr/>
            </p:nvGrpSpPr>
            <p:grpSpPr bwMode="auto">
              <a:xfrm flipH="1">
                <a:off x="2634682" y="5076164"/>
                <a:ext cx="673330" cy="701684"/>
                <a:chOff x="-44" y="1473"/>
                <a:chExt cx="981" cy="1105"/>
              </a:xfrm>
            </p:grpSpPr>
            <p:pic>
              <p:nvPicPr>
                <p:cNvPr id="115868" name="Picture 191" descr="desktop_computer_stylized_medium">
                  <a:extLst>
                    <a:ext uri="{FF2B5EF4-FFF2-40B4-BE49-F238E27FC236}">
                      <a16:creationId xmlns:a16="http://schemas.microsoft.com/office/drawing/2014/main" xmlns="" id="{DE645E20-4C02-32E3-67E3-A13CEC9E71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869" name="Freeform 192">
                  <a:extLst>
                    <a:ext uri="{FF2B5EF4-FFF2-40B4-BE49-F238E27FC236}">
                      <a16:creationId xmlns:a16="http://schemas.microsoft.com/office/drawing/2014/main" xmlns="" id="{C5AD8CC4-F6B7-61C6-33AF-B226B0ACC5FC}"/>
                    </a:ext>
                  </a:extLst>
                </p:cNvPr>
                <p:cNvSpPr>
                  <a:spLocks/>
                </p:cNvSpPr>
                <p:nvPr/>
              </p:nvSpPr>
              <p:spPr bwMode="auto">
                <a:xfrm flipH="1">
                  <a:off x="374" y="1579"/>
                  <a:ext cx="477" cy="506"/>
                </a:xfrm>
                <a:custGeom>
                  <a:avLst/>
                  <a:gdLst>
                    <a:gd name="T0" fmla="*/ 0 w 356"/>
                    <a:gd name="T1" fmla="*/ 0 h 368"/>
                    <a:gd name="T2" fmla="*/ 58127 w 356"/>
                    <a:gd name="T3" fmla="*/ 4362 h 368"/>
                    <a:gd name="T4" fmla="*/ 68956 w 356"/>
                    <a:gd name="T5" fmla="*/ 90881 h 368"/>
                    <a:gd name="T6" fmla="*/ 15197 w 356"/>
                    <a:gd name="T7" fmla="*/ 11365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sp>
            <p:nvSpPr>
              <p:cNvPr id="115865" name="Line 25">
                <a:extLst>
                  <a:ext uri="{FF2B5EF4-FFF2-40B4-BE49-F238E27FC236}">
                    <a16:creationId xmlns:a16="http://schemas.microsoft.com/office/drawing/2014/main" xmlns="" id="{FAEB6AD8-8865-BDD4-C1A2-DEB7414B2B73}"/>
                  </a:ext>
                </a:extLst>
              </p:cNvPr>
              <p:cNvSpPr>
                <a:spLocks noChangeShapeType="1"/>
              </p:cNvSpPr>
              <p:nvPr/>
            </p:nvSpPr>
            <p:spPr bwMode="auto">
              <a:xfrm>
                <a:off x="1345720" y="5260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6" name="Line 25">
                <a:extLst>
                  <a:ext uri="{FF2B5EF4-FFF2-40B4-BE49-F238E27FC236}">
                    <a16:creationId xmlns:a16="http://schemas.microsoft.com/office/drawing/2014/main" xmlns="" id="{F85463CE-AE88-13A5-5920-5DEF28D80826}"/>
                  </a:ext>
                </a:extLst>
              </p:cNvPr>
              <p:cNvSpPr>
                <a:spLocks noChangeShapeType="1"/>
              </p:cNvSpPr>
              <p:nvPr/>
            </p:nvSpPr>
            <p:spPr bwMode="auto">
              <a:xfrm>
                <a:off x="1350191" y="54891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67" name="Line 25">
                <a:extLst>
                  <a:ext uri="{FF2B5EF4-FFF2-40B4-BE49-F238E27FC236}">
                    <a16:creationId xmlns:a16="http://schemas.microsoft.com/office/drawing/2014/main" xmlns="" id="{D7AEFDEC-B04D-6070-8EE3-50623C45E620}"/>
                  </a:ext>
                </a:extLst>
              </p:cNvPr>
              <p:cNvSpPr>
                <a:spLocks noChangeShapeType="1"/>
              </p:cNvSpPr>
              <p:nvPr/>
            </p:nvSpPr>
            <p:spPr bwMode="auto">
              <a:xfrm>
                <a:off x="1354662" y="5728213"/>
                <a:ext cx="1059231" cy="28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sp>
        <p:nvSpPr>
          <p:cNvPr id="115730" name="Freeform 2">
            <a:extLst>
              <a:ext uri="{FF2B5EF4-FFF2-40B4-BE49-F238E27FC236}">
                <a16:creationId xmlns:a16="http://schemas.microsoft.com/office/drawing/2014/main" xmlns="" id="{D9C931B8-3EBE-B5B4-8311-3FFFE39736C3}"/>
              </a:ext>
            </a:extLst>
          </p:cNvPr>
          <p:cNvSpPr>
            <a:spLocks/>
          </p:cNvSpPr>
          <p:nvPr/>
        </p:nvSpPr>
        <p:spPr bwMode="auto">
          <a:xfrm>
            <a:off x="2796779" y="3920729"/>
            <a:ext cx="2137172" cy="1110853"/>
          </a:xfrm>
          <a:custGeom>
            <a:avLst/>
            <a:gdLst>
              <a:gd name="T0" fmla="*/ 2147483646 w 1794"/>
              <a:gd name="T1" fmla="*/ 2147483646 h 933"/>
              <a:gd name="T2" fmla="*/ 2147483646 w 1794"/>
              <a:gd name="T3" fmla="*/ 2147483646 h 933"/>
              <a:gd name="T4" fmla="*/ 2147483646 w 1794"/>
              <a:gd name="T5" fmla="*/ 2147483646 h 933"/>
              <a:gd name="T6" fmla="*/ 2147483646 w 1794"/>
              <a:gd name="T7" fmla="*/ 2147483646 h 933"/>
              <a:gd name="T8" fmla="*/ 2147483646 w 1794"/>
              <a:gd name="T9" fmla="*/ 2147483646 h 933"/>
              <a:gd name="T10" fmla="*/ 2147483646 w 1794"/>
              <a:gd name="T11" fmla="*/ 2147483646 h 933"/>
              <a:gd name="T12" fmla="*/ 2147483646 w 1794"/>
              <a:gd name="T13" fmla="*/ 2147483646 h 933"/>
              <a:gd name="T14" fmla="*/ 2147483646 w 1794"/>
              <a:gd name="T15" fmla="*/ 2147483646 h 933"/>
              <a:gd name="T16" fmla="*/ 2147483646 w 1794"/>
              <a:gd name="T17" fmla="*/ 2147483646 h 933"/>
              <a:gd name="T18" fmla="*/ 2147483646 w 1794"/>
              <a:gd name="T19" fmla="*/ 2147483646 h 933"/>
              <a:gd name="T20" fmla="*/ 2147483646 w 1794"/>
              <a:gd name="T21" fmla="*/ 2147483646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31" name="Freeform 6">
            <a:extLst>
              <a:ext uri="{FF2B5EF4-FFF2-40B4-BE49-F238E27FC236}">
                <a16:creationId xmlns:a16="http://schemas.microsoft.com/office/drawing/2014/main" xmlns="" id="{BE382779-3257-43B7-8272-36AE9EFF081F}"/>
              </a:ext>
            </a:extLst>
          </p:cNvPr>
          <p:cNvSpPr>
            <a:spLocks/>
          </p:cNvSpPr>
          <p:nvPr/>
        </p:nvSpPr>
        <p:spPr bwMode="auto">
          <a:xfrm>
            <a:off x="3275410" y="4148138"/>
            <a:ext cx="407194" cy="221456"/>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115732" name="Group 7">
            <a:extLst>
              <a:ext uri="{FF2B5EF4-FFF2-40B4-BE49-F238E27FC236}">
                <a16:creationId xmlns:a16="http://schemas.microsoft.com/office/drawing/2014/main" xmlns="" id="{43EFFD0E-FAD8-84CE-5B34-07BF9E72569C}"/>
              </a:ext>
            </a:extLst>
          </p:cNvPr>
          <p:cNvGrpSpPr>
            <a:grpSpLocks/>
          </p:cNvGrpSpPr>
          <p:nvPr/>
        </p:nvGrpSpPr>
        <p:grpSpPr bwMode="auto">
          <a:xfrm>
            <a:off x="2905125" y="4279107"/>
            <a:ext cx="376238" cy="175022"/>
            <a:chOff x="3600" y="219"/>
            <a:chExt cx="360" cy="175"/>
          </a:xfrm>
        </p:grpSpPr>
        <p:sp>
          <p:nvSpPr>
            <p:cNvPr id="115844" name="Oval 8">
              <a:extLst>
                <a:ext uri="{FF2B5EF4-FFF2-40B4-BE49-F238E27FC236}">
                  <a16:creationId xmlns:a16="http://schemas.microsoft.com/office/drawing/2014/main" xmlns="" id="{55495991-1768-EF18-99F0-5428B91ED528}"/>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45" name="Line 9">
              <a:extLst>
                <a:ext uri="{FF2B5EF4-FFF2-40B4-BE49-F238E27FC236}">
                  <a16:creationId xmlns:a16="http://schemas.microsoft.com/office/drawing/2014/main" xmlns="" id="{6D41F803-852F-4D8C-20FD-8386757A361D}"/>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6" name="Line 10">
              <a:extLst>
                <a:ext uri="{FF2B5EF4-FFF2-40B4-BE49-F238E27FC236}">
                  <a16:creationId xmlns:a16="http://schemas.microsoft.com/office/drawing/2014/main" xmlns="" id="{D5526735-394E-BF9A-CE72-2192ED95DAB7}"/>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7" name="Rectangle 11">
              <a:extLst>
                <a:ext uri="{FF2B5EF4-FFF2-40B4-BE49-F238E27FC236}">
                  <a16:creationId xmlns:a16="http://schemas.microsoft.com/office/drawing/2014/main" xmlns="" id="{BB349D73-8AB6-F4F9-9A61-EE33378B8900}"/>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48" name="Oval 12">
              <a:extLst>
                <a:ext uri="{FF2B5EF4-FFF2-40B4-BE49-F238E27FC236}">
                  <a16:creationId xmlns:a16="http://schemas.microsoft.com/office/drawing/2014/main" xmlns="" id="{005F3768-E0CA-DC0A-44B3-7353E5327653}"/>
                </a:ext>
              </a:extLst>
            </p:cNvPr>
            <p:cNvSpPr>
              <a:spLocks noChangeArrowheads="1"/>
            </p:cNvSpPr>
            <p:nvPr/>
          </p:nvSpPr>
          <p:spPr bwMode="auto">
            <a:xfrm>
              <a:off x="3603" y="219"/>
              <a:ext cx="354"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49" name="Group 13">
              <a:extLst>
                <a:ext uri="{FF2B5EF4-FFF2-40B4-BE49-F238E27FC236}">
                  <a16:creationId xmlns:a16="http://schemas.microsoft.com/office/drawing/2014/main" xmlns="" id="{FB4EAC97-DCA7-0590-FBFE-10152FF4319B}"/>
                </a:ext>
              </a:extLst>
            </p:cNvPr>
            <p:cNvGrpSpPr>
              <a:grpSpLocks/>
            </p:cNvGrpSpPr>
            <p:nvPr/>
          </p:nvGrpSpPr>
          <p:grpSpPr bwMode="auto">
            <a:xfrm>
              <a:off x="3686" y="244"/>
              <a:ext cx="177" cy="66"/>
              <a:chOff x="2848" y="848"/>
              <a:chExt cx="140" cy="98"/>
            </a:xfrm>
          </p:grpSpPr>
          <p:sp>
            <p:nvSpPr>
              <p:cNvPr id="115854" name="Line 14">
                <a:extLst>
                  <a:ext uri="{FF2B5EF4-FFF2-40B4-BE49-F238E27FC236}">
                    <a16:creationId xmlns:a16="http://schemas.microsoft.com/office/drawing/2014/main" xmlns="" id="{6B00A0B8-6964-EC21-903C-CDB364C161C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5" name="Line 15">
                <a:extLst>
                  <a:ext uri="{FF2B5EF4-FFF2-40B4-BE49-F238E27FC236}">
                    <a16:creationId xmlns:a16="http://schemas.microsoft.com/office/drawing/2014/main" xmlns="" id="{3B8C5CDE-ABFB-20FD-079D-6A839F86F8B3}"/>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6" name="Line 16">
                <a:extLst>
                  <a:ext uri="{FF2B5EF4-FFF2-40B4-BE49-F238E27FC236}">
                    <a16:creationId xmlns:a16="http://schemas.microsoft.com/office/drawing/2014/main" xmlns="" id="{7BCD9CF3-E16E-5A3D-82B8-4B68532F299C}"/>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50" name="Group 17">
              <a:extLst>
                <a:ext uri="{FF2B5EF4-FFF2-40B4-BE49-F238E27FC236}">
                  <a16:creationId xmlns:a16="http://schemas.microsoft.com/office/drawing/2014/main" xmlns="" id="{C0D05EF5-27E2-9C4A-CFF5-4EA528776615}"/>
                </a:ext>
              </a:extLst>
            </p:cNvPr>
            <p:cNvGrpSpPr>
              <a:grpSpLocks/>
            </p:cNvGrpSpPr>
            <p:nvPr/>
          </p:nvGrpSpPr>
          <p:grpSpPr bwMode="auto">
            <a:xfrm flipV="1">
              <a:off x="3686" y="243"/>
              <a:ext cx="177" cy="66"/>
              <a:chOff x="2848" y="848"/>
              <a:chExt cx="140" cy="98"/>
            </a:xfrm>
          </p:grpSpPr>
          <p:sp>
            <p:nvSpPr>
              <p:cNvPr id="115851" name="Line 18">
                <a:extLst>
                  <a:ext uri="{FF2B5EF4-FFF2-40B4-BE49-F238E27FC236}">
                    <a16:creationId xmlns:a16="http://schemas.microsoft.com/office/drawing/2014/main" xmlns="" id="{BB3B8BFC-D8D3-EF5C-950B-BBAADE6053FB}"/>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2" name="Line 19">
                <a:extLst>
                  <a:ext uri="{FF2B5EF4-FFF2-40B4-BE49-F238E27FC236}">
                    <a16:creationId xmlns:a16="http://schemas.microsoft.com/office/drawing/2014/main" xmlns="" id="{29E76FC9-C1CF-D1A7-5A86-19FA504C986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53" name="Line 20">
                <a:extLst>
                  <a:ext uri="{FF2B5EF4-FFF2-40B4-BE49-F238E27FC236}">
                    <a16:creationId xmlns:a16="http://schemas.microsoft.com/office/drawing/2014/main" xmlns="" id="{B97B0DE5-0AB1-35A6-1D62-054C92BDFDE2}"/>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3" name="Group 21">
            <a:extLst>
              <a:ext uri="{FF2B5EF4-FFF2-40B4-BE49-F238E27FC236}">
                <a16:creationId xmlns:a16="http://schemas.microsoft.com/office/drawing/2014/main" xmlns="" id="{20472994-4AB9-2D5E-1EF0-145027380B64}"/>
              </a:ext>
            </a:extLst>
          </p:cNvPr>
          <p:cNvGrpSpPr>
            <a:grpSpLocks/>
          </p:cNvGrpSpPr>
          <p:nvPr/>
        </p:nvGrpSpPr>
        <p:grpSpPr bwMode="auto">
          <a:xfrm>
            <a:off x="3169444" y="4757738"/>
            <a:ext cx="376238" cy="175022"/>
            <a:chOff x="3600" y="219"/>
            <a:chExt cx="360" cy="175"/>
          </a:xfrm>
        </p:grpSpPr>
        <p:sp>
          <p:nvSpPr>
            <p:cNvPr id="115831" name="Oval 22">
              <a:extLst>
                <a:ext uri="{FF2B5EF4-FFF2-40B4-BE49-F238E27FC236}">
                  <a16:creationId xmlns:a16="http://schemas.microsoft.com/office/drawing/2014/main" xmlns="" id="{3690C0A8-CB89-7886-4B7B-218CC14AA015}"/>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32" name="Line 23">
              <a:extLst>
                <a:ext uri="{FF2B5EF4-FFF2-40B4-BE49-F238E27FC236}">
                  <a16:creationId xmlns:a16="http://schemas.microsoft.com/office/drawing/2014/main" xmlns="" id="{3A3670CD-67B2-AD4E-4A23-4E4DDED91183}"/>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3" name="Line 24">
              <a:extLst>
                <a:ext uri="{FF2B5EF4-FFF2-40B4-BE49-F238E27FC236}">
                  <a16:creationId xmlns:a16="http://schemas.microsoft.com/office/drawing/2014/main" xmlns="" id="{7B31E6B5-1358-DE0D-E5A5-4F74A82E059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4" name="Rectangle 25">
              <a:extLst>
                <a:ext uri="{FF2B5EF4-FFF2-40B4-BE49-F238E27FC236}">
                  <a16:creationId xmlns:a16="http://schemas.microsoft.com/office/drawing/2014/main" xmlns="" id="{D3D19AB3-B7FC-C8B3-28AE-4BD331F8EF17}"/>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35" name="Oval 26">
              <a:extLst>
                <a:ext uri="{FF2B5EF4-FFF2-40B4-BE49-F238E27FC236}">
                  <a16:creationId xmlns:a16="http://schemas.microsoft.com/office/drawing/2014/main" xmlns="" id="{F9BF7C3A-CE0B-101B-D1D3-5BDC1342A557}"/>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36" name="Group 27">
              <a:extLst>
                <a:ext uri="{FF2B5EF4-FFF2-40B4-BE49-F238E27FC236}">
                  <a16:creationId xmlns:a16="http://schemas.microsoft.com/office/drawing/2014/main" xmlns="" id="{5386176F-828E-A3DE-63F2-1F55DAA9F21A}"/>
                </a:ext>
              </a:extLst>
            </p:cNvPr>
            <p:cNvGrpSpPr>
              <a:grpSpLocks/>
            </p:cNvGrpSpPr>
            <p:nvPr/>
          </p:nvGrpSpPr>
          <p:grpSpPr bwMode="auto">
            <a:xfrm>
              <a:off x="3686" y="244"/>
              <a:ext cx="177" cy="66"/>
              <a:chOff x="2848" y="848"/>
              <a:chExt cx="140" cy="98"/>
            </a:xfrm>
          </p:grpSpPr>
          <p:sp>
            <p:nvSpPr>
              <p:cNvPr id="115841" name="Line 28">
                <a:extLst>
                  <a:ext uri="{FF2B5EF4-FFF2-40B4-BE49-F238E27FC236}">
                    <a16:creationId xmlns:a16="http://schemas.microsoft.com/office/drawing/2014/main" xmlns="" id="{59AFC901-B54D-CB70-2A77-1CAE8AE77A6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2" name="Line 29">
                <a:extLst>
                  <a:ext uri="{FF2B5EF4-FFF2-40B4-BE49-F238E27FC236}">
                    <a16:creationId xmlns:a16="http://schemas.microsoft.com/office/drawing/2014/main" xmlns="" id="{A734F5D9-A4CE-BCB4-AB62-F3D4D09163EE}"/>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3" name="Line 30">
                <a:extLst>
                  <a:ext uri="{FF2B5EF4-FFF2-40B4-BE49-F238E27FC236}">
                    <a16:creationId xmlns:a16="http://schemas.microsoft.com/office/drawing/2014/main" xmlns="" id="{88075026-7FA5-6C9C-D19B-C5A9006C0518}"/>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37" name="Group 31">
              <a:extLst>
                <a:ext uri="{FF2B5EF4-FFF2-40B4-BE49-F238E27FC236}">
                  <a16:creationId xmlns:a16="http://schemas.microsoft.com/office/drawing/2014/main" xmlns="" id="{123B8AF5-1E60-3274-1B21-0AC09195A9A3}"/>
                </a:ext>
              </a:extLst>
            </p:cNvPr>
            <p:cNvGrpSpPr>
              <a:grpSpLocks/>
            </p:cNvGrpSpPr>
            <p:nvPr/>
          </p:nvGrpSpPr>
          <p:grpSpPr bwMode="auto">
            <a:xfrm flipV="1">
              <a:off x="3686" y="243"/>
              <a:ext cx="177" cy="66"/>
              <a:chOff x="2848" y="848"/>
              <a:chExt cx="140" cy="98"/>
            </a:xfrm>
          </p:grpSpPr>
          <p:sp>
            <p:nvSpPr>
              <p:cNvPr id="115838" name="Line 32">
                <a:extLst>
                  <a:ext uri="{FF2B5EF4-FFF2-40B4-BE49-F238E27FC236}">
                    <a16:creationId xmlns:a16="http://schemas.microsoft.com/office/drawing/2014/main" xmlns="" id="{22B23C86-0FE0-8EF0-0694-6E79E83D485A}"/>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9" name="Line 33">
                <a:extLst>
                  <a:ext uri="{FF2B5EF4-FFF2-40B4-BE49-F238E27FC236}">
                    <a16:creationId xmlns:a16="http://schemas.microsoft.com/office/drawing/2014/main" xmlns="" id="{CEC86A01-2695-7916-C53A-6675A6DC1FD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40" name="Line 34">
                <a:extLst>
                  <a:ext uri="{FF2B5EF4-FFF2-40B4-BE49-F238E27FC236}">
                    <a16:creationId xmlns:a16="http://schemas.microsoft.com/office/drawing/2014/main" xmlns="" id="{C9AE6DAC-0868-4F7B-8E38-D12FF3A9EEB6}"/>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4" name="Group 35">
            <a:extLst>
              <a:ext uri="{FF2B5EF4-FFF2-40B4-BE49-F238E27FC236}">
                <a16:creationId xmlns:a16="http://schemas.microsoft.com/office/drawing/2014/main" xmlns="" id="{CDE6FEA1-025D-B1A0-34D7-C405D6D65318}"/>
              </a:ext>
            </a:extLst>
          </p:cNvPr>
          <p:cNvGrpSpPr>
            <a:grpSpLocks/>
          </p:cNvGrpSpPr>
          <p:nvPr/>
        </p:nvGrpSpPr>
        <p:grpSpPr bwMode="auto">
          <a:xfrm>
            <a:off x="3675459" y="4050507"/>
            <a:ext cx="376238" cy="175022"/>
            <a:chOff x="3600" y="219"/>
            <a:chExt cx="360" cy="175"/>
          </a:xfrm>
        </p:grpSpPr>
        <p:sp>
          <p:nvSpPr>
            <p:cNvPr id="115818" name="Oval 36">
              <a:extLst>
                <a:ext uri="{FF2B5EF4-FFF2-40B4-BE49-F238E27FC236}">
                  <a16:creationId xmlns:a16="http://schemas.microsoft.com/office/drawing/2014/main" xmlns="" id="{30C39841-9E56-4CA5-DA07-E66B7F89AADB}"/>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19" name="Line 37">
              <a:extLst>
                <a:ext uri="{FF2B5EF4-FFF2-40B4-BE49-F238E27FC236}">
                  <a16:creationId xmlns:a16="http://schemas.microsoft.com/office/drawing/2014/main" xmlns="" id="{6685C657-707A-7348-09F0-EDFB0BC01DFD}"/>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0" name="Line 38">
              <a:extLst>
                <a:ext uri="{FF2B5EF4-FFF2-40B4-BE49-F238E27FC236}">
                  <a16:creationId xmlns:a16="http://schemas.microsoft.com/office/drawing/2014/main" xmlns="" id="{417FC9AE-F970-6964-DD73-650493CE951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1" name="Rectangle 39">
              <a:extLst>
                <a:ext uri="{FF2B5EF4-FFF2-40B4-BE49-F238E27FC236}">
                  <a16:creationId xmlns:a16="http://schemas.microsoft.com/office/drawing/2014/main" xmlns="" id="{20BF9DCD-63A0-6B8D-7369-1F1B14B99AD5}"/>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22" name="Oval 40">
              <a:extLst>
                <a:ext uri="{FF2B5EF4-FFF2-40B4-BE49-F238E27FC236}">
                  <a16:creationId xmlns:a16="http://schemas.microsoft.com/office/drawing/2014/main" xmlns="" id="{251E686F-AF5C-360E-840A-3832818B087B}"/>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23" name="Group 41">
              <a:extLst>
                <a:ext uri="{FF2B5EF4-FFF2-40B4-BE49-F238E27FC236}">
                  <a16:creationId xmlns:a16="http://schemas.microsoft.com/office/drawing/2014/main" xmlns="" id="{B71F2423-A2D0-B673-E3A9-F5C2C99CC9FA}"/>
                </a:ext>
              </a:extLst>
            </p:cNvPr>
            <p:cNvGrpSpPr>
              <a:grpSpLocks/>
            </p:cNvGrpSpPr>
            <p:nvPr/>
          </p:nvGrpSpPr>
          <p:grpSpPr bwMode="auto">
            <a:xfrm>
              <a:off x="3686" y="244"/>
              <a:ext cx="177" cy="66"/>
              <a:chOff x="2848" y="848"/>
              <a:chExt cx="140" cy="98"/>
            </a:xfrm>
          </p:grpSpPr>
          <p:sp>
            <p:nvSpPr>
              <p:cNvPr id="115828" name="Line 42">
                <a:extLst>
                  <a:ext uri="{FF2B5EF4-FFF2-40B4-BE49-F238E27FC236}">
                    <a16:creationId xmlns:a16="http://schemas.microsoft.com/office/drawing/2014/main" xmlns="" id="{87DB984F-D3A9-9DF1-E7C7-30F5BEDB9C0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9" name="Line 43">
                <a:extLst>
                  <a:ext uri="{FF2B5EF4-FFF2-40B4-BE49-F238E27FC236}">
                    <a16:creationId xmlns:a16="http://schemas.microsoft.com/office/drawing/2014/main" xmlns="" id="{83494445-DC9A-B7E7-F2B2-E38F26B9C295}"/>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30" name="Line 44">
                <a:extLst>
                  <a:ext uri="{FF2B5EF4-FFF2-40B4-BE49-F238E27FC236}">
                    <a16:creationId xmlns:a16="http://schemas.microsoft.com/office/drawing/2014/main" xmlns="" id="{4AD4ED36-E7BF-92A1-8917-E13EF33B5B8C}"/>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24" name="Group 45">
              <a:extLst>
                <a:ext uri="{FF2B5EF4-FFF2-40B4-BE49-F238E27FC236}">
                  <a16:creationId xmlns:a16="http://schemas.microsoft.com/office/drawing/2014/main" xmlns="" id="{ED353188-5881-C842-AE1C-B029206C42FC}"/>
                </a:ext>
              </a:extLst>
            </p:cNvPr>
            <p:cNvGrpSpPr>
              <a:grpSpLocks/>
            </p:cNvGrpSpPr>
            <p:nvPr/>
          </p:nvGrpSpPr>
          <p:grpSpPr bwMode="auto">
            <a:xfrm flipV="1">
              <a:off x="3686" y="243"/>
              <a:ext cx="177" cy="66"/>
              <a:chOff x="2848" y="848"/>
              <a:chExt cx="140" cy="98"/>
            </a:xfrm>
          </p:grpSpPr>
          <p:sp>
            <p:nvSpPr>
              <p:cNvPr id="115825" name="Line 46">
                <a:extLst>
                  <a:ext uri="{FF2B5EF4-FFF2-40B4-BE49-F238E27FC236}">
                    <a16:creationId xmlns:a16="http://schemas.microsoft.com/office/drawing/2014/main" xmlns="" id="{05169A5A-684C-8418-6A39-AF9C18C0F928}"/>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6" name="Line 47">
                <a:extLst>
                  <a:ext uri="{FF2B5EF4-FFF2-40B4-BE49-F238E27FC236}">
                    <a16:creationId xmlns:a16="http://schemas.microsoft.com/office/drawing/2014/main" xmlns="" id="{48AFEB2E-AAB9-A305-048D-7DE44AF2684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27" name="Line 48">
                <a:extLst>
                  <a:ext uri="{FF2B5EF4-FFF2-40B4-BE49-F238E27FC236}">
                    <a16:creationId xmlns:a16="http://schemas.microsoft.com/office/drawing/2014/main" xmlns="" id="{41105E58-AF8B-5F85-0B04-DBBA26A3323E}"/>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5" name="Group 18">
            <a:extLst>
              <a:ext uri="{FF2B5EF4-FFF2-40B4-BE49-F238E27FC236}">
                <a16:creationId xmlns:a16="http://schemas.microsoft.com/office/drawing/2014/main" xmlns="" id="{69DA71B0-3434-DA03-4CF7-B09DB0D61E37}"/>
              </a:ext>
            </a:extLst>
          </p:cNvPr>
          <p:cNvGrpSpPr>
            <a:grpSpLocks/>
          </p:cNvGrpSpPr>
          <p:nvPr/>
        </p:nvGrpSpPr>
        <p:grpSpPr bwMode="auto">
          <a:xfrm>
            <a:off x="3608785" y="4549378"/>
            <a:ext cx="375047" cy="175022"/>
            <a:chOff x="2269009" y="6392060"/>
            <a:chExt cx="500221" cy="233326"/>
          </a:xfrm>
        </p:grpSpPr>
        <p:sp>
          <p:nvSpPr>
            <p:cNvPr id="115805" name="Oval 50">
              <a:extLst>
                <a:ext uri="{FF2B5EF4-FFF2-40B4-BE49-F238E27FC236}">
                  <a16:creationId xmlns:a16="http://schemas.microsoft.com/office/drawing/2014/main" xmlns="" id="{3FAB95A3-D8DA-0968-5C02-3AA7F94594BF}"/>
                </a:ext>
              </a:extLst>
            </p:cNvPr>
            <p:cNvSpPr>
              <a:spLocks noChangeArrowheads="1"/>
            </p:cNvSpPr>
            <p:nvPr/>
          </p:nvSpPr>
          <p:spPr bwMode="auto">
            <a:xfrm>
              <a:off x="2275957" y="6497390"/>
              <a:ext cx="493273" cy="127996"/>
            </a:xfrm>
            <a:prstGeom prst="ellipse">
              <a:avLst/>
            </a:prstGeom>
            <a:solidFill>
              <a:srgbClr val="CC0000"/>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806" name="Line 51">
              <a:extLst>
                <a:ext uri="{FF2B5EF4-FFF2-40B4-BE49-F238E27FC236}">
                  <a16:creationId xmlns:a16="http://schemas.microsoft.com/office/drawing/2014/main" xmlns="" id="{079D9140-BE9B-8E3B-D398-1B9AC55E30E4}"/>
                </a:ext>
              </a:extLst>
            </p:cNvPr>
            <p:cNvSpPr>
              <a:spLocks noChangeShapeType="1"/>
            </p:cNvSpPr>
            <p:nvPr/>
          </p:nvSpPr>
          <p:spPr bwMode="auto">
            <a:xfrm>
              <a:off x="2275957"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7" name="Line 52">
              <a:extLst>
                <a:ext uri="{FF2B5EF4-FFF2-40B4-BE49-F238E27FC236}">
                  <a16:creationId xmlns:a16="http://schemas.microsoft.com/office/drawing/2014/main" xmlns="" id="{334F0D5B-C5CB-48BB-07E4-738CA7CFD3DA}"/>
                </a:ext>
              </a:extLst>
            </p:cNvPr>
            <p:cNvSpPr>
              <a:spLocks noChangeShapeType="1"/>
            </p:cNvSpPr>
            <p:nvPr/>
          </p:nvSpPr>
          <p:spPr bwMode="auto">
            <a:xfrm>
              <a:off x="2769229" y="6485390"/>
              <a:ext cx="0" cy="7999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8" name="Rectangle 53">
              <a:extLst>
                <a:ext uri="{FF2B5EF4-FFF2-40B4-BE49-F238E27FC236}">
                  <a16:creationId xmlns:a16="http://schemas.microsoft.com/office/drawing/2014/main" xmlns="" id="{2D20BBAB-71F5-0889-D855-0498D7CB7D26}"/>
                </a:ext>
              </a:extLst>
            </p:cNvPr>
            <p:cNvSpPr>
              <a:spLocks noChangeArrowheads="1"/>
            </p:cNvSpPr>
            <p:nvPr/>
          </p:nvSpPr>
          <p:spPr bwMode="auto">
            <a:xfrm>
              <a:off x="2275957" y="6485390"/>
              <a:ext cx="489104" cy="77331"/>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809" name="Oval 54">
              <a:extLst>
                <a:ext uri="{FF2B5EF4-FFF2-40B4-BE49-F238E27FC236}">
                  <a16:creationId xmlns:a16="http://schemas.microsoft.com/office/drawing/2014/main" xmlns="" id="{4889E3D1-F328-5838-6242-CF59EC59D73B}"/>
                </a:ext>
              </a:extLst>
            </p:cNvPr>
            <p:cNvSpPr>
              <a:spLocks noChangeArrowheads="1"/>
            </p:cNvSpPr>
            <p:nvPr/>
          </p:nvSpPr>
          <p:spPr bwMode="auto">
            <a:xfrm>
              <a:off x="2269009" y="6392060"/>
              <a:ext cx="494662" cy="150662"/>
            </a:xfrm>
            <a:prstGeom prst="ellipse">
              <a:avLst/>
            </a:prstGeom>
            <a:solidFill>
              <a:srgbClr val="CC0000"/>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810" name="Group 55">
              <a:extLst>
                <a:ext uri="{FF2B5EF4-FFF2-40B4-BE49-F238E27FC236}">
                  <a16:creationId xmlns:a16="http://schemas.microsoft.com/office/drawing/2014/main" xmlns="" id="{BCFD0162-6C10-5775-3DF0-20C10C46FA17}"/>
                </a:ext>
              </a:extLst>
            </p:cNvPr>
            <p:cNvGrpSpPr>
              <a:grpSpLocks/>
            </p:cNvGrpSpPr>
            <p:nvPr/>
          </p:nvGrpSpPr>
          <p:grpSpPr bwMode="auto">
            <a:xfrm>
              <a:off x="2388506" y="6425391"/>
              <a:ext cx="245942" cy="86201"/>
              <a:chOff x="2848" y="848"/>
              <a:chExt cx="140" cy="96"/>
            </a:xfrm>
          </p:grpSpPr>
          <p:sp>
            <p:nvSpPr>
              <p:cNvPr id="115815" name="Line 56">
                <a:extLst>
                  <a:ext uri="{FF2B5EF4-FFF2-40B4-BE49-F238E27FC236}">
                    <a16:creationId xmlns:a16="http://schemas.microsoft.com/office/drawing/2014/main" xmlns="" id="{5B6AED44-80FC-278F-D78D-5A78C00E3D21}"/>
                  </a:ext>
                </a:extLst>
              </p:cNvPr>
              <p:cNvSpPr>
                <a:spLocks noChangeShapeType="1"/>
              </p:cNvSpPr>
              <p:nvPr/>
            </p:nvSpPr>
            <p:spPr bwMode="auto">
              <a:xfrm flipV="1">
                <a:off x="2848" y="848"/>
                <a:ext cx="50" cy="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6" name="Line 57">
                <a:extLst>
                  <a:ext uri="{FF2B5EF4-FFF2-40B4-BE49-F238E27FC236}">
                    <a16:creationId xmlns:a16="http://schemas.microsoft.com/office/drawing/2014/main" xmlns="" id="{E80F94AB-2105-7E63-B303-84D943AC6858}"/>
                  </a:ext>
                </a:extLst>
              </p:cNvPr>
              <p:cNvSpPr>
                <a:spLocks noChangeShapeType="1"/>
              </p:cNvSpPr>
              <p:nvPr/>
            </p:nvSpPr>
            <p:spPr bwMode="auto">
              <a:xfrm>
                <a:off x="2944" y="942"/>
                <a:ext cx="44"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7" name="Line 58">
                <a:extLst>
                  <a:ext uri="{FF2B5EF4-FFF2-40B4-BE49-F238E27FC236}">
                    <a16:creationId xmlns:a16="http://schemas.microsoft.com/office/drawing/2014/main" xmlns="" id="{2781C2DA-885D-39C9-FC49-15F449373238}"/>
                  </a:ext>
                </a:extLst>
              </p:cNvPr>
              <p:cNvSpPr>
                <a:spLocks noChangeShapeType="1"/>
              </p:cNvSpPr>
              <p:nvPr/>
            </p:nvSpPr>
            <p:spPr bwMode="auto">
              <a:xfrm>
                <a:off x="2894" y="850"/>
                <a:ext cx="52" cy="94"/>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811" name="Group 59">
              <a:extLst>
                <a:ext uri="{FF2B5EF4-FFF2-40B4-BE49-F238E27FC236}">
                  <a16:creationId xmlns:a16="http://schemas.microsoft.com/office/drawing/2014/main" xmlns="" id="{91AB5E7B-627B-7130-B052-BE208F982376}"/>
                </a:ext>
              </a:extLst>
            </p:cNvPr>
            <p:cNvGrpSpPr>
              <a:grpSpLocks/>
            </p:cNvGrpSpPr>
            <p:nvPr/>
          </p:nvGrpSpPr>
          <p:grpSpPr bwMode="auto">
            <a:xfrm flipV="1">
              <a:off x="2388506" y="6424059"/>
              <a:ext cx="245942" cy="87997"/>
              <a:chOff x="2848" y="848"/>
              <a:chExt cx="140" cy="98"/>
            </a:xfrm>
          </p:grpSpPr>
          <p:sp>
            <p:nvSpPr>
              <p:cNvPr id="115812" name="Line 60">
                <a:extLst>
                  <a:ext uri="{FF2B5EF4-FFF2-40B4-BE49-F238E27FC236}">
                    <a16:creationId xmlns:a16="http://schemas.microsoft.com/office/drawing/2014/main" xmlns="" id="{0B634AD7-D7D7-960A-DEF0-7A18A384B583}"/>
                  </a:ext>
                </a:extLst>
              </p:cNvPr>
              <p:cNvSpPr>
                <a:spLocks noChangeShapeType="1"/>
              </p:cNvSpPr>
              <p:nvPr/>
            </p:nvSpPr>
            <p:spPr bwMode="auto">
              <a:xfrm flipV="1">
                <a:off x="2848" y="846"/>
                <a:ext cx="50" cy="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3" name="Line 61">
                <a:extLst>
                  <a:ext uri="{FF2B5EF4-FFF2-40B4-BE49-F238E27FC236}">
                    <a16:creationId xmlns:a16="http://schemas.microsoft.com/office/drawing/2014/main" xmlns="" id="{313572DA-88D1-CDB6-A014-AD5A751905C1}"/>
                  </a:ext>
                </a:extLst>
              </p:cNvPr>
              <p:cNvSpPr>
                <a:spLocks noChangeShapeType="1"/>
              </p:cNvSpPr>
              <p:nvPr/>
            </p:nvSpPr>
            <p:spPr bwMode="auto">
              <a:xfrm>
                <a:off x="2944" y="946"/>
                <a:ext cx="44" cy="0"/>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14" name="Line 62">
                <a:extLst>
                  <a:ext uri="{FF2B5EF4-FFF2-40B4-BE49-F238E27FC236}">
                    <a16:creationId xmlns:a16="http://schemas.microsoft.com/office/drawing/2014/main" xmlns="" id="{F9E36597-98F0-76F6-EC78-D2F57D4449D5}"/>
                  </a:ext>
                </a:extLst>
              </p:cNvPr>
              <p:cNvSpPr>
                <a:spLocks noChangeShapeType="1"/>
              </p:cNvSpPr>
              <p:nvPr/>
            </p:nvSpPr>
            <p:spPr bwMode="auto">
              <a:xfrm>
                <a:off x="2894" y="849"/>
                <a:ext cx="52" cy="97"/>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6" name="Group 63">
            <a:extLst>
              <a:ext uri="{FF2B5EF4-FFF2-40B4-BE49-F238E27FC236}">
                <a16:creationId xmlns:a16="http://schemas.microsoft.com/office/drawing/2014/main" xmlns="" id="{3B8231C0-0952-9779-1227-D367CAA404F0}"/>
              </a:ext>
            </a:extLst>
          </p:cNvPr>
          <p:cNvGrpSpPr>
            <a:grpSpLocks/>
          </p:cNvGrpSpPr>
          <p:nvPr/>
        </p:nvGrpSpPr>
        <p:grpSpPr bwMode="auto">
          <a:xfrm>
            <a:off x="4093369" y="4772026"/>
            <a:ext cx="377428" cy="175022"/>
            <a:chOff x="3600" y="219"/>
            <a:chExt cx="360" cy="175"/>
          </a:xfrm>
        </p:grpSpPr>
        <p:sp>
          <p:nvSpPr>
            <p:cNvPr id="115792" name="Oval 64">
              <a:extLst>
                <a:ext uri="{FF2B5EF4-FFF2-40B4-BE49-F238E27FC236}">
                  <a16:creationId xmlns:a16="http://schemas.microsoft.com/office/drawing/2014/main" xmlns="" id="{AC13246E-83D8-7548-F02A-887A8953DAAB}"/>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793" name="Line 65">
              <a:extLst>
                <a:ext uri="{FF2B5EF4-FFF2-40B4-BE49-F238E27FC236}">
                  <a16:creationId xmlns:a16="http://schemas.microsoft.com/office/drawing/2014/main" xmlns="" id="{00A3AE7D-0A80-E439-7994-6FDD4BED460B}"/>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4" name="Line 66">
              <a:extLst>
                <a:ext uri="{FF2B5EF4-FFF2-40B4-BE49-F238E27FC236}">
                  <a16:creationId xmlns:a16="http://schemas.microsoft.com/office/drawing/2014/main" xmlns="" id="{F4937FD8-2F39-4590-843A-C6ED054C7CD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5" name="Rectangle 67">
              <a:extLst>
                <a:ext uri="{FF2B5EF4-FFF2-40B4-BE49-F238E27FC236}">
                  <a16:creationId xmlns:a16="http://schemas.microsoft.com/office/drawing/2014/main" xmlns="" id="{FA37BFEF-529F-032B-C139-D4007AF19089}"/>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796" name="Oval 68">
              <a:extLst>
                <a:ext uri="{FF2B5EF4-FFF2-40B4-BE49-F238E27FC236}">
                  <a16:creationId xmlns:a16="http://schemas.microsoft.com/office/drawing/2014/main" xmlns="" id="{DC824BD3-5CBA-B274-9826-A3347025C68B}"/>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797" name="Group 69">
              <a:extLst>
                <a:ext uri="{FF2B5EF4-FFF2-40B4-BE49-F238E27FC236}">
                  <a16:creationId xmlns:a16="http://schemas.microsoft.com/office/drawing/2014/main" xmlns="" id="{2E9B98EE-9E11-5FA4-0DAE-F612F26AAC84}"/>
                </a:ext>
              </a:extLst>
            </p:cNvPr>
            <p:cNvGrpSpPr>
              <a:grpSpLocks/>
            </p:cNvGrpSpPr>
            <p:nvPr/>
          </p:nvGrpSpPr>
          <p:grpSpPr bwMode="auto">
            <a:xfrm>
              <a:off x="3686" y="244"/>
              <a:ext cx="177" cy="66"/>
              <a:chOff x="2848" y="848"/>
              <a:chExt cx="140" cy="98"/>
            </a:xfrm>
          </p:grpSpPr>
          <p:sp>
            <p:nvSpPr>
              <p:cNvPr id="115802" name="Line 70">
                <a:extLst>
                  <a:ext uri="{FF2B5EF4-FFF2-40B4-BE49-F238E27FC236}">
                    <a16:creationId xmlns:a16="http://schemas.microsoft.com/office/drawing/2014/main" xmlns="" id="{68C65DF8-1659-0180-C4A4-23FE80560F3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3" name="Line 71">
                <a:extLst>
                  <a:ext uri="{FF2B5EF4-FFF2-40B4-BE49-F238E27FC236}">
                    <a16:creationId xmlns:a16="http://schemas.microsoft.com/office/drawing/2014/main" xmlns="" id="{06298F86-BCF8-F8FF-3071-DBBB28AA012B}"/>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4" name="Line 72">
                <a:extLst>
                  <a:ext uri="{FF2B5EF4-FFF2-40B4-BE49-F238E27FC236}">
                    <a16:creationId xmlns:a16="http://schemas.microsoft.com/office/drawing/2014/main" xmlns="" id="{37860088-1CED-0E0E-5806-3614D2444904}"/>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798" name="Group 73">
              <a:extLst>
                <a:ext uri="{FF2B5EF4-FFF2-40B4-BE49-F238E27FC236}">
                  <a16:creationId xmlns:a16="http://schemas.microsoft.com/office/drawing/2014/main" xmlns="" id="{8D395060-CEE0-4499-84D6-BA15C1D646A9}"/>
                </a:ext>
              </a:extLst>
            </p:cNvPr>
            <p:cNvGrpSpPr>
              <a:grpSpLocks/>
            </p:cNvGrpSpPr>
            <p:nvPr/>
          </p:nvGrpSpPr>
          <p:grpSpPr bwMode="auto">
            <a:xfrm flipV="1">
              <a:off x="3686" y="243"/>
              <a:ext cx="177" cy="66"/>
              <a:chOff x="2848" y="848"/>
              <a:chExt cx="140" cy="98"/>
            </a:xfrm>
          </p:grpSpPr>
          <p:sp>
            <p:nvSpPr>
              <p:cNvPr id="115799" name="Line 74">
                <a:extLst>
                  <a:ext uri="{FF2B5EF4-FFF2-40B4-BE49-F238E27FC236}">
                    <a16:creationId xmlns:a16="http://schemas.microsoft.com/office/drawing/2014/main" xmlns="" id="{5C2FD3A7-73DE-AD88-798B-424EBEFD9BA3}"/>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0" name="Line 75">
                <a:extLst>
                  <a:ext uri="{FF2B5EF4-FFF2-40B4-BE49-F238E27FC236}">
                    <a16:creationId xmlns:a16="http://schemas.microsoft.com/office/drawing/2014/main" xmlns="" id="{D03AD38E-E1E6-5470-1D5B-CD4EEBEBF3C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801" name="Line 76">
                <a:extLst>
                  <a:ext uri="{FF2B5EF4-FFF2-40B4-BE49-F238E27FC236}">
                    <a16:creationId xmlns:a16="http://schemas.microsoft.com/office/drawing/2014/main" xmlns="" id="{48EA6EDF-CF88-D327-7FA3-7D6717DDDD2A}"/>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grpSp>
        <p:nvGrpSpPr>
          <p:cNvPr id="115737" name="Group 77">
            <a:extLst>
              <a:ext uri="{FF2B5EF4-FFF2-40B4-BE49-F238E27FC236}">
                <a16:creationId xmlns:a16="http://schemas.microsoft.com/office/drawing/2014/main" xmlns="" id="{9C1C8A2C-F661-21D2-AC53-04D9886003B5}"/>
              </a:ext>
            </a:extLst>
          </p:cNvPr>
          <p:cNvGrpSpPr>
            <a:grpSpLocks/>
          </p:cNvGrpSpPr>
          <p:nvPr/>
        </p:nvGrpSpPr>
        <p:grpSpPr bwMode="auto">
          <a:xfrm>
            <a:off x="4427934" y="4280297"/>
            <a:ext cx="376238" cy="175022"/>
            <a:chOff x="3600" y="219"/>
            <a:chExt cx="360" cy="175"/>
          </a:xfrm>
        </p:grpSpPr>
        <p:sp>
          <p:nvSpPr>
            <p:cNvPr id="115779" name="Oval 78">
              <a:extLst>
                <a:ext uri="{FF2B5EF4-FFF2-40B4-BE49-F238E27FC236}">
                  <a16:creationId xmlns:a16="http://schemas.microsoft.com/office/drawing/2014/main" xmlns="" id="{62B31905-AC2C-0CF5-4846-5439D2A0FAC6}"/>
                </a:ext>
              </a:extLst>
            </p:cNvPr>
            <p:cNvSpPr>
              <a:spLocks noChangeArrowheads="1"/>
            </p:cNvSpPr>
            <p:nvPr/>
          </p:nvSpPr>
          <p:spPr bwMode="auto">
            <a:xfrm>
              <a:off x="3605" y="298"/>
              <a:ext cx="355" cy="96"/>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sp>
          <p:nvSpPr>
            <p:cNvPr id="115780" name="Line 79">
              <a:extLst>
                <a:ext uri="{FF2B5EF4-FFF2-40B4-BE49-F238E27FC236}">
                  <a16:creationId xmlns:a16="http://schemas.microsoft.com/office/drawing/2014/main" xmlns="" id="{E761C9CC-FEC1-B702-5D23-91A2967D6811}"/>
                </a:ext>
              </a:extLst>
            </p:cNvPr>
            <p:cNvSpPr>
              <a:spLocks noChangeShapeType="1"/>
            </p:cNvSpPr>
            <p:nvPr/>
          </p:nvSpPr>
          <p:spPr bwMode="auto">
            <a:xfrm>
              <a:off x="3605"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1" name="Line 80">
              <a:extLst>
                <a:ext uri="{FF2B5EF4-FFF2-40B4-BE49-F238E27FC236}">
                  <a16:creationId xmlns:a16="http://schemas.microsoft.com/office/drawing/2014/main" xmlns="" id="{3C363463-C5FD-6C39-61A9-793D9E464370}"/>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2" name="Rectangle 81">
              <a:extLst>
                <a:ext uri="{FF2B5EF4-FFF2-40B4-BE49-F238E27FC236}">
                  <a16:creationId xmlns:a16="http://schemas.microsoft.com/office/drawing/2014/main" xmlns="" id="{970D4062-588A-D674-13D1-F88C9A989AEF}"/>
                </a:ext>
              </a:extLst>
            </p:cNvPr>
            <p:cNvSpPr>
              <a:spLocks noChangeArrowheads="1"/>
            </p:cNvSpPr>
            <p:nvPr/>
          </p:nvSpPr>
          <p:spPr bwMode="auto">
            <a:xfrm>
              <a:off x="3605" y="289"/>
              <a:ext cx="352" cy="5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imes New Roman" panose="02020603050405020304" pitchFamily="18" charset="0"/>
                <a:cs typeface="+mn-cs"/>
              </a:endParaRPr>
            </a:p>
          </p:txBody>
        </p:sp>
        <p:sp>
          <p:nvSpPr>
            <p:cNvPr id="115783" name="Oval 82">
              <a:extLst>
                <a:ext uri="{FF2B5EF4-FFF2-40B4-BE49-F238E27FC236}">
                  <a16:creationId xmlns:a16="http://schemas.microsoft.com/office/drawing/2014/main" xmlns="" id="{88231A6A-1367-2365-98DB-774A0A0659DB}"/>
                </a:ext>
              </a:extLst>
            </p:cNvPr>
            <p:cNvSpPr>
              <a:spLocks noChangeArrowheads="1"/>
            </p:cNvSpPr>
            <p:nvPr/>
          </p:nvSpPr>
          <p:spPr bwMode="auto">
            <a:xfrm>
              <a:off x="3600" y="219"/>
              <a:ext cx="355" cy="113"/>
            </a:xfrm>
            <a:prstGeom prst="ellipse">
              <a:avLst/>
            </a:prstGeom>
            <a:solidFill>
              <a:schemeClr val="hlink"/>
            </a:solidFill>
            <a:ln w="12700">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350" kern="1200">
                <a:solidFill>
                  <a:srgbClr val="000000"/>
                </a:solidFill>
                <a:latin typeface="Tahoma" panose="020B0604030504040204" pitchFamily="34" charset="0"/>
                <a:cs typeface="+mn-cs"/>
              </a:endParaRPr>
            </a:p>
          </p:txBody>
        </p:sp>
        <p:grpSp>
          <p:nvGrpSpPr>
            <p:cNvPr id="115784" name="Group 83">
              <a:extLst>
                <a:ext uri="{FF2B5EF4-FFF2-40B4-BE49-F238E27FC236}">
                  <a16:creationId xmlns:a16="http://schemas.microsoft.com/office/drawing/2014/main" xmlns="" id="{CDF99A10-7973-48FE-6D0D-0E6106CA8393}"/>
                </a:ext>
              </a:extLst>
            </p:cNvPr>
            <p:cNvGrpSpPr>
              <a:grpSpLocks/>
            </p:cNvGrpSpPr>
            <p:nvPr/>
          </p:nvGrpSpPr>
          <p:grpSpPr bwMode="auto">
            <a:xfrm>
              <a:off x="3686" y="244"/>
              <a:ext cx="177" cy="66"/>
              <a:chOff x="2848" y="848"/>
              <a:chExt cx="140" cy="98"/>
            </a:xfrm>
          </p:grpSpPr>
          <p:sp>
            <p:nvSpPr>
              <p:cNvPr id="115789" name="Line 84">
                <a:extLst>
                  <a:ext uri="{FF2B5EF4-FFF2-40B4-BE49-F238E27FC236}">
                    <a16:creationId xmlns:a16="http://schemas.microsoft.com/office/drawing/2014/main" xmlns="" id="{219856DA-DFFC-4F44-61AB-C16B9F6018A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0" name="Line 85">
                <a:extLst>
                  <a:ext uri="{FF2B5EF4-FFF2-40B4-BE49-F238E27FC236}">
                    <a16:creationId xmlns:a16="http://schemas.microsoft.com/office/drawing/2014/main" xmlns="" id="{AA88FD32-D272-039D-8AD2-91C8B67A4CC9}"/>
                  </a:ext>
                </a:extLst>
              </p:cNvPr>
              <p:cNvSpPr>
                <a:spLocks noChangeShapeType="1"/>
              </p:cNvSpPr>
              <p:nvPr/>
            </p:nvSpPr>
            <p:spPr bwMode="auto">
              <a:xfrm>
                <a:off x="2944" y="942"/>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91" name="Line 86">
                <a:extLst>
                  <a:ext uri="{FF2B5EF4-FFF2-40B4-BE49-F238E27FC236}">
                    <a16:creationId xmlns:a16="http://schemas.microsoft.com/office/drawing/2014/main" xmlns="" id="{26FB906C-20A0-B384-8E0A-FA2E624CFA97}"/>
                  </a:ext>
                </a:extLst>
              </p:cNvPr>
              <p:cNvSpPr>
                <a:spLocks noChangeShapeType="1"/>
              </p:cNvSpPr>
              <p:nvPr/>
            </p:nvSpPr>
            <p:spPr bwMode="auto">
              <a:xfrm>
                <a:off x="2894" y="850"/>
                <a:ext cx="52" cy="9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nvGrpSpPr>
            <p:cNvPr id="115785" name="Group 87">
              <a:extLst>
                <a:ext uri="{FF2B5EF4-FFF2-40B4-BE49-F238E27FC236}">
                  <a16:creationId xmlns:a16="http://schemas.microsoft.com/office/drawing/2014/main" xmlns="" id="{16000898-FB2C-A728-EAF0-A1719BE88531}"/>
                </a:ext>
              </a:extLst>
            </p:cNvPr>
            <p:cNvGrpSpPr>
              <a:grpSpLocks/>
            </p:cNvGrpSpPr>
            <p:nvPr/>
          </p:nvGrpSpPr>
          <p:grpSpPr bwMode="auto">
            <a:xfrm flipV="1">
              <a:off x="3686" y="243"/>
              <a:ext cx="177" cy="66"/>
              <a:chOff x="2848" y="848"/>
              <a:chExt cx="140" cy="98"/>
            </a:xfrm>
          </p:grpSpPr>
          <p:sp>
            <p:nvSpPr>
              <p:cNvPr id="115786" name="Line 88">
                <a:extLst>
                  <a:ext uri="{FF2B5EF4-FFF2-40B4-BE49-F238E27FC236}">
                    <a16:creationId xmlns:a16="http://schemas.microsoft.com/office/drawing/2014/main" xmlns="" id="{EAF347F2-EF6C-0E30-8FE0-419AF18A5267}"/>
                  </a:ext>
                </a:extLst>
              </p:cNvPr>
              <p:cNvSpPr>
                <a:spLocks noChangeShapeType="1"/>
              </p:cNvSpPr>
              <p:nvPr/>
            </p:nvSpPr>
            <p:spPr bwMode="auto">
              <a:xfrm flipV="1">
                <a:off x="2848" y="846"/>
                <a:ext cx="50" cy="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7" name="Line 89">
                <a:extLst>
                  <a:ext uri="{FF2B5EF4-FFF2-40B4-BE49-F238E27FC236}">
                    <a16:creationId xmlns:a16="http://schemas.microsoft.com/office/drawing/2014/main" xmlns="" id="{FE4DD690-0F11-9A54-D387-A24C3A21F0F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88" name="Line 90">
                <a:extLst>
                  <a:ext uri="{FF2B5EF4-FFF2-40B4-BE49-F238E27FC236}">
                    <a16:creationId xmlns:a16="http://schemas.microsoft.com/office/drawing/2014/main" xmlns="" id="{B780DC12-4DC3-13FF-CC6C-B0BE5C93CC96}"/>
                  </a:ext>
                </a:extLst>
              </p:cNvPr>
              <p:cNvSpPr>
                <a:spLocks noChangeShapeType="1"/>
              </p:cNvSpPr>
              <p:nvPr/>
            </p:nvSpPr>
            <p:spPr bwMode="auto">
              <a:xfrm>
                <a:off x="2894" y="849"/>
                <a:ext cx="52" cy="9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grpSp>
      <p:sp>
        <p:nvSpPr>
          <p:cNvPr id="115738" name="Freeform 91">
            <a:extLst>
              <a:ext uri="{FF2B5EF4-FFF2-40B4-BE49-F238E27FC236}">
                <a16:creationId xmlns:a16="http://schemas.microsoft.com/office/drawing/2014/main" xmlns="" id="{A4FE909B-4A59-3BC3-17EA-B02783464514}"/>
              </a:ext>
            </a:extLst>
          </p:cNvPr>
          <p:cNvSpPr>
            <a:spLocks/>
          </p:cNvSpPr>
          <p:nvPr/>
        </p:nvSpPr>
        <p:spPr bwMode="auto">
          <a:xfrm>
            <a:off x="4056460" y="4143376"/>
            <a:ext cx="379810" cy="230981"/>
          </a:xfrm>
          <a:custGeom>
            <a:avLst/>
            <a:gdLst>
              <a:gd name="T0" fmla="*/ 0 w 318"/>
              <a:gd name="T1" fmla="*/ 0 h 194"/>
              <a:gd name="T2" fmla="*/ 2147483646 w 318"/>
              <a:gd name="T3" fmla="*/ 2147483646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39" name="Freeform 92">
            <a:extLst>
              <a:ext uri="{FF2B5EF4-FFF2-40B4-BE49-F238E27FC236}">
                <a16:creationId xmlns:a16="http://schemas.microsoft.com/office/drawing/2014/main" xmlns="" id="{3C736D32-43DD-9B0B-4D51-50FD406C250F}"/>
              </a:ext>
            </a:extLst>
          </p:cNvPr>
          <p:cNvSpPr>
            <a:spLocks/>
          </p:cNvSpPr>
          <p:nvPr/>
        </p:nvSpPr>
        <p:spPr bwMode="auto">
          <a:xfrm>
            <a:off x="3257550" y="4437460"/>
            <a:ext cx="360759" cy="178594"/>
          </a:xfrm>
          <a:custGeom>
            <a:avLst/>
            <a:gdLst>
              <a:gd name="T0" fmla="*/ 0 w 294"/>
              <a:gd name="T1" fmla="*/ 0 h 174"/>
              <a:gd name="T2" fmla="*/ 2147483646 w 294"/>
              <a:gd name="T3" fmla="*/ 2147483646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0" name="Freeform 93">
            <a:extLst>
              <a:ext uri="{FF2B5EF4-FFF2-40B4-BE49-F238E27FC236}">
                <a16:creationId xmlns:a16="http://schemas.microsoft.com/office/drawing/2014/main" xmlns="" id="{E386FD72-3C9A-A78E-90E1-7371B2735490}"/>
              </a:ext>
            </a:extLst>
          </p:cNvPr>
          <p:cNvSpPr>
            <a:spLocks/>
          </p:cNvSpPr>
          <p:nvPr/>
        </p:nvSpPr>
        <p:spPr bwMode="auto">
          <a:xfrm>
            <a:off x="3968353" y="4419600"/>
            <a:ext cx="472679" cy="185738"/>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1" name="Freeform 94">
            <a:extLst>
              <a:ext uri="{FF2B5EF4-FFF2-40B4-BE49-F238E27FC236}">
                <a16:creationId xmlns:a16="http://schemas.microsoft.com/office/drawing/2014/main" xmlns="" id="{CB374BC3-DA39-1A00-CDA8-7C8A56BBE493}"/>
              </a:ext>
            </a:extLst>
          </p:cNvPr>
          <p:cNvSpPr>
            <a:spLocks/>
          </p:cNvSpPr>
          <p:nvPr/>
        </p:nvSpPr>
        <p:spPr bwMode="auto">
          <a:xfrm>
            <a:off x="4469607" y="4460081"/>
            <a:ext cx="154781" cy="381000"/>
          </a:xfrm>
          <a:custGeom>
            <a:avLst/>
            <a:gdLst>
              <a:gd name="T0" fmla="*/ 0 w 118"/>
              <a:gd name="T1" fmla="*/ 2147483646 h 500"/>
              <a:gd name="T2" fmla="*/ 2147483646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2" name="Freeform 95">
            <a:extLst>
              <a:ext uri="{FF2B5EF4-FFF2-40B4-BE49-F238E27FC236}">
                <a16:creationId xmlns:a16="http://schemas.microsoft.com/office/drawing/2014/main" xmlns="" id="{13D52C8D-430B-0F01-6EE3-AF9A42908C86}"/>
              </a:ext>
            </a:extLst>
          </p:cNvPr>
          <p:cNvSpPr>
            <a:spLocks/>
          </p:cNvSpPr>
          <p:nvPr/>
        </p:nvSpPr>
        <p:spPr bwMode="auto">
          <a:xfrm>
            <a:off x="3542109" y="4860132"/>
            <a:ext cx="552450" cy="55960"/>
          </a:xfrm>
          <a:custGeom>
            <a:avLst/>
            <a:gdLst>
              <a:gd name="T0" fmla="*/ 2147483646 w 370"/>
              <a:gd name="T1" fmla="*/ 2147483646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3" name="Freeform 96">
            <a:extLst>
              <a:ext uri="{FF2B5EF4-FFF2-40B4-BE49-F238E27FC236}">
                <a16:creationId xmlns:a16="http://schemas.microsoft.com/office/drawing/2014/main" xmlns="" id="{D5C18479-AE0D-335B-AC2F-F8289DF1707B}"/>
              </a:ext>
            </a:extLst>
          </p:cNvPr>
          <p:cNvSpPr>
            <a:spLocks/>
          </p:cNvSpPr>
          <p:nvPr/>
        </p:nvSpPr>
        <p:spPr bwMode="auto">
          <a:xfrm>
            <a:off x="3139679" y="4455319"/>
            <a:ext cx="145256" cy="319088"/>
          </a:xfrm>
          <a:custGeom>
            <a:avLst/>
            <a:gdLst>
              <a:gd name="T0" fmla="*/ 2147483646 w 176"/>
              <a:gd name="T1" fmla="*/ 2147483646 h 412"/>
              <a:gd name="T2" fmla="*/ 2147483646 w 176"/>
              <a:gd name="T3" fmla="*/ 2147483646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44" name="Freeform 7">
            <a:extLst>
              <a:ext uri="{FF2B5EF4-FFF2-40B4-BE49-F238E27FC236}">
                <a16:creationId xmlns:a16="http://schemas.microsoft.com/office/drawing/2014/main" xmlns="" id="{7227CBDB-E564-80C2-A659-96336A3FFF11}"/>
              </a:ext>
            </a:extLst>
          </p:cNvPr>
          <p:cNvSpPr>
            <a:spLocks/>
          </p:cNvSpPr>
          <p:nvPr/>
        </p:nvSpPr>
        <p:spPr bwMode="auto">
          <a:xfrm>
            <a:off x="2306241" y="3449241"/>
            <a:ext cx="3867150" cy="1132284"/>
          </a:xfrm>
          <a:custGeom>
            <a:avLst/>
            <a:gdLst>
              <a:gd name="T0" fmla="*/ 0 w 5156094"/>
              <a:gd name="T1" fmla="*/ 0 h 1509215"/>
              <a:gd name="T2" fmla="*/ 6961 w 5156094"/>
              <a:gd name="T3" fmla="*/ 1168432 h 1509215"/>
              <a:gd name="T4" fmla="*/ 1131038 w 5156094"/>
              <a:gd name="T5" fmla="*/ 1170774 h 1509215"/>
              <a:gd name="T6" fmla="*/ 1755057 w 5156094"/>
              <a:gd name="T7" fmla="*/ 1490776 h 1509215"/>
              <a:gd name="T8" fmla="*/ 2207343 w 5156094"/>
              <a:gd name="T9" fmla="*/ 1511203 h 1509215"/>
              <a:gd name="T10" fmla="*/ 2989006 w 5156094"/>
              <a:gd name="T11" fmla="*/ 1199132 h 1509215"/>
              <a:gd name="T12" fmla="*/ 3391744 w 5156094"/>
              <a:gd name="T13" fmla="*/ 1210729 h 1509215"/>
              <a:gd name="T14" fmla="*/ 5156518 w 5156094"/>
              <a:gd name="T15" fmla="*/ 1200036 h 1509215"/>
              <a:gd name="T16" fmla="*/ 5126801 w 5156094"/>
              <a:gd name="T17" fmla="*/ 64168 h 15092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56094" h="1509215">
                <a:moveTo>
                  <a:pt x="0" y="0"/>
                </a:moveTo>
                <a:cubicBezTo>
                  <a:pt x="2320" y="388965"/>
                  <a:pt x="4641" y="777929"/>
                  <a:pt x="6961" y="1166894"/>
                </a:cubicBezTo>
                <a:lnTo>
                  <a:pt x="1130946" y="1169234"/>
                </a:lnTo>
                <a:lnTo>
                  <a:pt x="1754913" y="1488814"/>
                </a:lnTo>
                <a:lnTo>
                  <a:pt x="2207163" y="1509215"/>
                </a:lnTo>
                <a:lnTo>
                  <a:pt x="2988762" y="1197554"/>
                </a:lnTo>
                <a:lnTo>
                  <a:pt x="3391464" y="1209136"/>
                </a:lnTo>
                <a:lnTo>
                  <a:pt x="5156094" y="1198456"/>
                </a:lnTo>
                <a:lnTo>
                  <a:pt x="5126381" y="64084"/>
                </a:lnTo>
              </a:path>
            </a:pathLst>
          </a:custGeom>
          <a:noFill/>
          <a:ln w="22225">
            <a:solidFill>
              <a:srgbClr val="000090"/>
            </a:solidFill>
            <a:round/>
            <a:headEnd/>
            <a:tailEnd/>
          </a:ln>
          <a:extLst>
            <a:ext uri="{909E8E84-426E-40DD-AFC4-6F175D3DCCD1}">
              <a14:hiddenFill xmlns:a14="http://schemas.microsoft.com/office/drawing/2010/main">
                <a:solidFill>
                  <a:srgbClr val="FFFFFF"/>
                </a:solidFill>
              </a14:hiddenFill>
            </a:ext>
          </a:extLst>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grpSp>
        <p:nvGrpSpPr>
          <p:cNvPr id="22" name="Group 21">
            <a:extLst>
              <a:ext uri="{FF2B5EF4-FFF2-40B4-BE49-F238E27FC236}">
                <a16:creationId xmlns:a16="http://schemas.microsoft.com/office/drawing/2014/main" xmlns="" id="{7F8C8010-999C-C7B5-FA6E-3DFC49A417FB}"/>
              </a:ext>
            </a:extLst>
          </p:cNvPr>
          <p:cNvGrpSpPr>
            <a:grpSpLocks/>
          </p:cNvGrpSpPr>
          <p:nvPr/>
        </p:nvGrpSpPr>
        <p:grpSpPr bwMode="auto">
          <a:xfrm>
            <a:off x="1875234" y="4382701"/>
            <a:ext cx="1120379" cy="253917"/>
            <a:chOff x="1502428" y="5844331"/>
            <a:chExt cx="1493249" cy="338338"/>
          </a:xfrm>
        </p:grpSpPr>
        <p:grpSp>
          <p:nvGrpSpPr>
            <p:cNvPr id="115771" name="Group 274">
              <a:extLst>
                <a:ext uri="{FF2B5EF4-FFF2-40B4-BE49-F238E27FC236}">
                  <a16:creationId xmlns:a16="http://schemas.microsoft.com/office/drawing/2014/main" xmlns="" id="{01CA9A0A-5307-B3E3-F8E0-92F9C08DEF59}"/>
                </a:ext>
              </a:extLst>
            </p:cNvPr>
            <p:cNvGrpSpPr>
              <a:grpSpLocks/>
            </p:cNvGrpSpPr>
            <p:nvPr/>
          </p:nvGrpSpPr>
          <p:grpSpPr bwMode="auto">
            <a:xfrm>
              <a:off x="1502428" y="5844331"/>
              <a:ext cx="1493249" cy="338338"/>
              <a:chOff x="3621632" y="5775938"/>
              <a:chExt cx="1493249" cy="338338"/>
            </a:xfrm>
          </p:grpSpPr>
          <p:grpSp>
            <p:nvGrpSpPr>
              <p:cNvPr id="115773" name="Group 275">
                <a:extLst>
                  <a:ext uri="{FF2B5EF4-FFF2-40B4-BE49-F238E27FC236}">
                    <a16:creationId xmlns:a16="http://schemas.microsoft.com/office/drawing/2014/main" xmlns="" id="{9467110B-114C-1758-12F4-020B01CB25B2}"/>
                  </a:ext>
                </a:extLst>
              </p:cNvPr>
              <p:cNvGrpSpPr>
                <a:grpSpLocks/>
              </p:cNvGrpSpPr>
              <p:nvPr/>
            </p:nvGrpSpPr>
            <p:grpSpPr bwMode="auto">
              <a:xfrm>
                <a:off x="3999159" y="5783287"/>
                <a:ext cx="806697" cy="257416"/>
                <a:chOff x="-2975754" y="4128742"/>
                <a:chExt cx="1258600" cy="450696"/>
              </a:xfrm>
            </p:grpSpPr>
            <p:sp>
              <p:nvSpPr>
                <p:cNvPr id="278" name="Rectangle 277">
                  <a:extLst>
                    <a:ext uri="{FF2B5EF4-FFF2-40B4-BE49-F238E27FC236}">
                      <a16:creationId xmlns:a16="http://schemas.microsoft.com/office/drawing/2014/main" xmlns="" id="{607F872E-4E87-357E-DA2A-068FC8196D60}"/>
                    </a:ext>
                  </a:extLst>
                </p:cNvPr>
                <p:cNvSpPr/>
                <p:nvPr/>
              </p:nvSpPr>
              <p:spPr>
                <a:xfrm>
                  <a:off x="-2903722" y="4135317"/>
                  <a:ext cx="1151258" cy="341655"/>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79" name="Rectangle 278">
                  <a:extLst>
                    <a:ext uri="{FF2B5EF4-FFF2-40B4-BE49-F238E27FC236}">
                      <a16:creationId xmlns:a16="http://schemas.microsoft.com/office/drawing/2014/main" xmlns="" id="{C37F8347-F86D-D109-203B-227A50AB16C7}"/>
                    </a:ext>
                  </a:extLst>
                </p:cNvPr>
                <p:cNvSpPr/>
                <p:nvPr/>
              </p:nvSpPr>
              <p:spPr>
                <a:xfrm>
                  <a:off x="-2968093" y="4221426"/>
                  <a:ext cx="1148783" cy="344432"/>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80" name="Freeform 279">
                  <a:extLst>
                    <a:ext uri="{FF2B5EF4-FFF2-40B4-BE49-F238E27FC236}">
                      <a16:creationId xmlns:a16="http://schemas.microsoft.com/office/drawing/2014/main" xmlns="" id="{18BD8EFB-C8C2-5D15-0784-ABE4C2DDF5CC}"/>
                    </a:ext>
                  </a:extLst>
                </p:cNvPr>
                <p:cNvSpPr/>
                <p:nvPr/>
              </p:nvSpPr>
              <p:spPr>
                <a:xfrm>
                  <a:off x="-2975522" y="4129762"/>
                  <a:ext cx="1223057" cy="94441"/>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81" name="Freeform 280">
                  <a:extLst>
                    <a:ext uri="{FF2B5EF4-FFF2-40B4-BE49-F238E27FC236}">
                      <a16:creationId xmlns:a16="http://schemas.microsoft.com/office/drawing/2014/main" xmlns="" id="{1654174D-C5D5-0AD8-DFCA-68B569B56587}"/>
                    </a:ext>
                  </a:extLst>
                </p:cNvPr>
                <p:cNvSpPr/>
                <p:nvPr/>
              </p:nvSpPr>
              <p:spPr>
                <a:xfrm rot="21211447" flipV="1">
                  <a:off x="-1853972" y="4146428"/>
                  <a:ext cx="136170" cy="433318"/>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grpSp>
          <p:sp>
            <p:nvSpPr>
              <p:cNvPr id="115774" name="TextBox 276">
                <a:extLst>
                  <a:ext uri="{FF2B5EF4-FFF2-40B4-BE49-F238E27FC236}">
                    <a16:creationId xmlns:a16="http://schemas.microsoft.com/office/drawing/2014/main" xmlns="" id="{0A3493C3-26F6-57E3-C008-406E19FBABEB}"/>
                  </a:ext>
                </a:extLst>
              </p:cNvPr>
              <p:cNvSpPr txBox="1">
                <a:spLocks noChangeArrowheads="1"/>
              </p:cNvSpPr>
              <p:nvPr/>
            </p:nvSpPr>
            <p:spPr bwMode="auto">
              <a:xfrm>
                <a:off x="3621632" y="5775938"/>
                <a:ext cx="1493249" cy="3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ECN=00</a:t>
                </a:r>
              </a:p>
            </p:txBody>
          </p:sp>
        </p:grpSp>
        <p:cxnSp>
          <p:nvCxnSpPr>
            <p:cNvPr id="115772" name="Straight Arrow Connector 15">
              <a:extLst>
                <a:ext uri="{FF2B5EF4-FFF2-40B4-BE49-F238E27FC236}">
                  <a16:creationId xmlns:a16="http://schemas.microsoft.com/office/drawing/2014/main" xmlns="" id="{8773CA20-5682-6CAA-E48D-FC55E5C82257}"/>
                </a:ext>
              </a:extLst>
            </p:cNvPr>
            <p:cNvCxnSpPr>
              <a:cxnSpLocks noChangeShapeType="1"/>
            </p:cNvCxnSpPr>
            <p:nvPr/>
          </p:nvCxnSpPr>
          <p:spPr bwMode="auto">
            <a:xfrm flipV="1">
              <a:off x="2150568" y="6133267"/>
              <a:ext cx="612066" cy="1"/>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Group 22">
            <a:extLst>
              <a:ext uri="{FF2B5EF4-FFF2-40B4-BE49-F238E27FC236}">
                <a16:creationId xmlns:a16="http://schemas.microsoft.com/office/drawing/2014/main" xmlns="" id="{5ED3382E-69BF-E2D3-3849-0B7AE1496B13}"/>
              </a:ext>
            </a:extLst>
          </p:cNvPr>
          <p:cNvGrpSpPr>
            <a:grpSpLocks/>
          </p:cNvGrpSpPr>
          <p:nvPr/>
        </p:nvGrpSpPr>
        <p:grpSpPr bwMode="auto">
          <a:xfrm>
            <a:off x="3464719" y="4331494"/>
            <a:ext cx="1120378" cy="269081"/>
            <a:chOff x="3621632" y="5775938"/>
            <a:chExt cx="1493249" cy="357723"/>
          </a:xfrm>
        </p:grpSpPr>
        <p:grpSp>
          <p:nvGrpSpPr>
            <p:cNvPr id="115763" name="Group 13">
              <a:extLst>
                <a:ext uri="{FF2B5EF4-FFF2-40B4-BE49-F238E27FC236}">
                  <a16:creationId xmlns:a16="http://schemas.microsoft.com/office/drawing/2014/main" xmlns="" id="{8176E9BE-3271-972E-D389-2E6067B3F9DB}"/>
                </a:ext>
              </a:extLst>
            </p:cNvPr>
            <p:cNvGrpSpPr>
              <a:grpSpLocks/>
            </p:cNvGrpSpPr>
            <p:nvPr/>
          </p:nvGrpSpPr>
          <p:grpSpPr bwMode="auto">
            <a:xfrm>
              <a:off x="3621632" y="5775938"/>
              <a:ext cx="1493249" cy="337561"/>
              <a:chOff x="3621632" y="5775938"/>
              <a:chExt cx="1493249" cy="337561"/>
            </a:xfrm>
          </p:grpSpPr>
          <p:grpSp>
            <p:nvGrpSpPr>
              <p:cNvPr id="115765" name="Group 11">
                <a:extLst>
                  <a:ext uri="{FF2B5EF4-FFF2-40B4-BE49-F238E27FC236}">
                    <a16:creationId xmlns:a16="http://schemas.microsoft.com/office/drawing/2014/main" xmlns="" id="{72C5C587-BD45-E719-D804-A0C6F3E2B25E}"/>
                  </a:ext>
                </a:extLst>
              </p:cNvPr>
              <p:cNvGrpSpPr>
                <a:grpSpLocks/>
              </p:cNvGrpSpPr>
              <p:nvPr/>
            </p:nvGrpSpPr>
            <p:grpSpPr bwMode="auto">
              <a:xfrm>
                <a:off x="3999159" y="5783287"/>
                <a:ext cx="806697" cy="257416"/>
                <a:chOff x="-2975754" y="4128742"/>
                <a:chExt cx="1258600" cy="450696"/>
              </a:xfrm>
            </p:grpSpPr>
            <p:sp>
              <p:nvSpPr>
                <p:cNvPr id="268" name="Rectangle 267">
                  <a:extLst>
                    <a:ext uri="{FF2B5EF4-FFF2-40B4-BE49-F238E27FC236}">
                      <a16:creationId xmlns:a16="http://schemas.microsoft.com/office/drawing/2014/main" xmlns="" id="{D4C24BE2-181E-95E4-1E5E-721786F9E7C0}"/>
                    </a:ext>
                  </a:extLst>
                </p:cNvPr>
                <p:cNvSpPr/>
                <p:nvPr/>
              </p:nvSpPr>
              <p:spPr>
                <a:xfrm>
                  <a:off x="-2903723" y="4135274"/>
                  <a:ext cx="1151259" cy="340871"/>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xmlns="" id="{9E7D0AF0-B77F-E650-70C7-4040DFD4180C}"/>
                    </a:ext>
                  </a:extLst>
                </p:cNvPr>
                <p:cNvSpPr/>
                <p:nvPr/>
              </p:nvSpPr>
              <p:spPr>
                <a:xfrm>
                  <a:off x="-2968095" y="4221184"/>
                  <a:ext cx="1148783" cy="343644"/>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10" name="Freeform 9">
                  <a:extLst>
                    <a:ext uri="{FF2B5EF4-FFF2-40B4-BE49-F238E27FC236}">
                      <a16:creationId xmlns:a16="http://schemas.microsoft.com/office/drawing/2014/main" xmlns="" id="{43BD686A-9F5F-7876-12CA-3CEE90489769}"/>
                    </a:ext>
                  </a:extLst>
                </p:cNvPr>
                <p:cNvSpPr/>
                <p:nvPr/>
              </p:nvSpPr>
              <p:spPr>
                <a:xfrm>
                  <a:off x="-2975522" y="4129732"/>
                  <a:ext cx="1223057" cy="94225"/>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93730">
                      <a:moveTo>
                        <a:pt x="0" y="89042"/>
                      </a:moveTo>
                      <a:lnTo>
                        <a:pt x="70293" y="0"/>
                      </a:lnTo>
                      <a:lnTo>
                        <a:pt x="1223105" y="4687"/>
                      </a:lnTo>
                      <a:lnTo>
                        <a:pt x="1143439" y="93730"/>
                      </a:lnTo>
                      <a:lnTo>
                        <a:pt x="0" y="89042"/>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270" name="Freeform 269">
                  <a:extLst>
                    <a:ext uri="{FF2B5EF4-FFF2-40B4-BE49-F238E27FC236}">
                      <a16:creationId xmlns:a16="http://schemas.microsoft.com/office/drawing/2014/main" xmlns="" id="{6E2F6133-0459-169D-B3B2-AC74585A7DEB}"/>
                    </a:ext>
                  </a:extLst>
                </p:cNvPr>
                <p:cNvSpPr/>
                <p:nvPr/>
              </p:nvSpPr>
              <p:spPr>
                <a:xfrm rot="21211447" flipV="1">
                  <a:off x="-1853974" y="4146360"/>
                  <a:ext cx="136171" cy="432326"/>
                </a:xfrm>
                <a:custGeom>
                  <a:avLst/>
                  <a:gdLst>
                    <a:gd name="connsiteX0" fmla="*/ 0 w 1223105"/>
                    <a:gd name="connsiteY0" fmla="*/ 89042 h 89042"/>
                    <a:gd name="connsiteX1" fmla="*/ 70293 w 1223105"/>
                    <a:gd name="connsiteY1" fmla="*/ 0 h 89042"/>
                    <a:gd name="connsiteX2" fmla="*/ 1223105 w 1223105"/>
                    <a:gd name="connsiteY2" fmla="*/ 4687 h 89042"/>
                    <a:gd name="connsiteX3" fmla="*/ 1148126 w 1223105"/>
                    <a:gd name="connsiteY3" fmla="*/ 84356 h 89042"/>
                    <a:gd name="connsiteX4" fmla="*/ 0 w 1223105"/>
                    <a:gd name="connsiteY4" fmla="*/ 89042 h 89042"/>
                    <a:gd name="connsiteX0" fmla="*/ 0 w 1223105"/>
                    <a:gd name="connsiteY0" fmla="*/ 89042 h 103102"/>
                    <a:gd name="connsiteX1" fmla="*/ 70293 w 1223105"/>
                    <a:gd name="connsiteY1" fmla="*/ 0 h 103102"/>
                    <a:gd name="connsiteX2" fmla="*/ 1223105 w 1223105"/>
                    <a:gd name="connsiteY2" fmla="*/ 4687 h 103102"/>
                    <a:gd name="connsiteX3" fmla="*/ 1148126 w 1223105"/>
                    <a:gd name="connsiteY3" fmla="*/ 103102 h 103102"/>
                    <a:gd name="connsiteX4" fmla="*/ 0 w 1223105"/>
                    <a:gd name="connsiteY4" fmla="*/ 89042 h 103102"/>
                    <a:gd name="connsiteX0" fmla="*/ 0 w 1223105"/>
                    <a:gd name="connsiteY0" fmla="*/ 89042 h 93730"/>
                    <a:gd name="connsiteX1" fmla="*/ 70293 w 1223105"/>
                    <a:gd name="connsiteY1" fmla="*/ 0 h 93730"/>
                    <a:gd name="connsiteX2" fmla="*/ 1223105 w 1223105"/>
                    <a:gd name="connsiteY2" fmla="*/ 4687 h 93730"/>
                    <a:gd name="connsiteX3" fmla="*/ 1143439 w 1223105"/>
                    <a:gd name="connsiteY3" fmla="*/ 93730 h 93730"/>
                    <a:gd name="connsiteX4" fmla="*/ 0 w 1223105"/>
                    <a:gd name="connsiteY4" fmla="*/ 89042 h 93730"/>
                    <a:gd name="connsiteX0" fmla="*/ 0 w 1143439"/>
                    <a:gd name="connsiteY0" fmla="*/ 604462 h 609150"/>
                    <a:gd name="connsiteX1" fmla="*/ 70293 w 1143439"/>
                    <a:gd name="connsiteY1" fmla="*/ 515420 h 609150"/>
                    <a:gd name="connsiteX2" fmla="*/ 1048102 w 1143439"/>
                    <a:gd name="connsiteY2" fmla="*/ 0 h 609150"/>
                    <a:gd name="connsiteX3" fmla="*/ 1143439 w 1143439"/>
                    <a:gd name="connsiteY3" fmla="*/ 609150 h 609150"/>
                    <a:gd name="connsiteX4" fmla="*/ 0 w 1143439"/>
                    <a:gd name="connsiteY4" fmla="*/ 604462 h 609150"/>
                    <a:gd name="connsiteX0" fmla="*/ 0 w 1143439"/>
                    <a:gd name="connsiteY0" fmla="*/ 750108 h 754796"/>
                    <a:gd name="connsiteX1" fmla="*/ 958091 w 1143439"/>
                    <a:gd name="connsiteY1" fmla="*/ 0 h 754796"/>
                    <a:gd name="connsiteX2" fmla="*/ 1048102 w 1143439"/>
                    <a:gd name="connsiteY2" fmla="*/ 145646 h 754796"/>
                    <a:gd name="connsiteX3" fmla="*/ 1143439 w 1143439"/>
                    <a:gd name="connsiteY3" fmla="*/ 754796 h 754796"/>
                    <a:gd name="connsiteX4" fmla="*/ 0 w 1143439"/>
                    <a:gd name="connsiteY4" fmla="*/ 750108 h 754796"/>
                    <a:gd name="connsiteX0" fmla="*/ 28193 w 185348"/>
                    <a:gd name="connsiteY0" fmla="*/ 675301 h 754796"/>
                    <a:gd name="connsiteX1" fmla="*/ 0 w 185348"/>
                    <a:gd name="connsiteY1" fmla="*/ 0 h 754796"/>
                    <a:gd name="connsiteX2" fmla="*/ 90011 w 185348"/>
                    <a:gd name="connsiteY2" fmla="*/ 145646 h 754796"/>
                    <a:gd name="connsiteX3" fmla="*/ 185348 w 185348"/>
                    <a:gd name="connsiteY3" fmla="*/ 754796 h 754796"/>
                    <a:gd name="connsiteX4" fmla="*/ 28193 w 185348"/>
                    <a:gd name="connsiteY4" fmla="*/ 675301 h 754796"/>
                    <a:gd name="connsiteX0" fmla="*/ 28193 w 133700"/>
                    <a:gd name="connsiteY0" fmla="*/ 675301 h 844174"/>
                    <a:gd name="connsiteX1" fmla="*/ 0 w 133700"/>
                    <a:gd name="connsiteY1" fmla="*/ 0 h 844174"/>
                    <a:gd name="connsiteX2" fmla="*/ 90011 w 133700"/>
                    <a:gd name="connsiteY2" fmla="*/ 145646 h 844174"/>
                    <a:gd name="connsiteX3" fmla="*/ 133700 w 133700"/>
                    <a:gd name="connsiteY3" fmla="*/ 844173 h 844174"/>
                    <a:gd name="connsiteX4" fmla="*/ 28193 w 133700"/>
                    <a:gd name="connsiteY4" fmla="*/ 675301 h 844174"/>
                    <a:gd name="connsiteX0" fmla="*/ 33377 w 133700"/>
                    <a:gd name="connsiteY0" fmla="*/ 683762 h 844174"/>
                    <a:gd name="connsiteX1" fmla="*/ 0 w 133700"/>
                    <a:gd name="connsiteY1" fmla="*/ 0 h 844174"/>
                    <a:gd name="connsiteX2" fmla="*/ 90011 w 133700"/>
                    <a:gd name="connsiteY2" fmla="*/ 145646 h 844174"/>
                    <a:gd name="connsiteX3" fmla="*/ 133700 w 133700"/>
                    <a:gd name="connsiteY3" fmla="*/ 844173 h 844174"/>
                    <a:gd name="connsiteX4" fmla="*/ 33377 w 133700"/>
                    <a:gd name="connsiteY4" fmla="*/ 683762 h 844174"/>
                    <a:gd name="connsiteX0" fmla="*/ 87868 w 188191"/>
                    <a:gd name="connsiteY0" fmla="*/ 816127 h 976539"/>
                    <a:gd name="connsiteX1" fmla="*/ 0 w 188191"/>
                    <a:gd name="connsiteY1" fmla="*/ 0 h 976539"/>
                    <a:gd name="connsiteX2" fmla="*/ 144502 w 188191"/>
                    <a:gd name="connsiteY2" fmla="*/ 278011 h 976539"/>
                    <a:gd name="connsiteX3" fmla="*/ 188191 w 188191"/>
                    <a:gd name="connsiteY3" fmla="*/ 976538 h 976539"/>
                    <a:gd name="connsiteX4" fmla="*/ 87868 w 188191"/>
                    <a:gd name="connsiteY4" fmla="*/ 816127 h 976539"/>
                    <a:gd name="connsiteX0" fmla="*/ 32848 w 133171"/>
                    <a:gd name="connsiteY0" fmla="*/ 674219 h 834631"/>
                    <a:gd name="connsiteX1" fmla="*/ 0 w 133171"/>
                    <a:gd name="connsiteY1" fmla="*/ 1 h 834631"/>
                    <a:gd name="connsiteX2" fmla="*/ 89482 w 133171"/>
                    <a:gd name="connsiteY2" fmla="*/ 136103 h 834631"/>
                    <a:gd name="connsiteX3" fmla="*/ 133171 w 133171"/>
                    <a:gd name="connsiteY3" fmla="*/ 834630 h 834631"/>
                    <a:gd name="connsiteX4" fmla="*/ 32848 w 133171"/>
                    <a:gd name="connsiteY4" fmla="*/ 674219 h 834631"/>
                    <a:gd name="connsiteX0" fmla="*/ 32848 w 133171"/>
                    <a:gd name="connsiteY0" fmla="*/ 674219 h 834631"/>
                    <a:gd name="connsiteX1" fmla="*/ 0 w 133171"/>
                    <a:gd name="connsiteY1" fmla="*/ 1 h 834631"/>
                    <a:gd name="connsiteX2" fmla="*/ 97738 w 133171"/>
                    <a:gd name="connsiteY2" fmla="*/ 114843 h 834631"/>
                    <a:gd name="connsiteX3" fmla="*/ 133171 w 133171"/>
                    <a:gd name="connsiteY3" fmla="*/ 834630 h 834631"/>
                    <a:gd name="connsiteX4" fmla="*/ 32848 w 133171"/>
                    <a:gd name="connsiteY4" fmla="*/ 674219 h 834631"/>
                    <a:gd name="connsiteX0" fmla="*/ 36019 w 136342"/>
                    <a:gd name="connsiteY0" fmla="*/ 731496 h 891908"/>
                    <a:gd name="connsiteX1" fmla="*/ 0 w 136342"/>
                    <a:gd name="connsiteY1" fmla="*/ 1 h 891908"/>
                    <a:gd name="connsiteX2" fmla="*/ 100909 w 136342"/>
                    <a:gd name="connsiteY2" fmla="*/ 172120 h 891908"/>
                    <a:gd name="connsiteX3" fmla="*/ 136342 w 136342"/>
                    <a:gd name="connsiteY3" fmla="*/ 891907 h 891908"/>
                    <a:gd name="connsiteX4" fmla="*/ 36019 w 136342"/>
                    <a:gd name="connsiteY4" fmla="*/ 731496 h 8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42" h="891908">
                      <a:moveTo>
                        <a:pt x="36019" y="731496"/>
                      </a:moveTo>
                      <a:lnTo>
                        <a:pt x="0" y="1"/>
                      </a:lnTo>
                      <a:lnTo>
                        <a:pt x="100909" y="172120"/>
                      </a:lnTo>
                      <a:lnTo>
                        <a:pt x="136342" y="891907"/>
                      </a:lnTo>
                      <a:lnTo>
                        <a:pt x="36019" y="731496"/>
                      </a:lnTo>
                      <a:close/>
                    </a:path>
                  </a:pathLst>
                </a:custGeom>
                <a:solidFill>
                  <a:schemeClr val="accent5">
                    <a:lumMod val="50000"/>
                  </a:schemeClr>
                </a:solidFill>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grpSp>
          <p:sp>
            <p:nvSpPr>
              <p:cNvPr id="115766" name="TextBox 12">
                <a:extLst>
                  <a:ext uri="{FF2B5EF4-FFF2-40B4-BE49-F238E27FC236}">
                    <a16:creationId xmlns:a16="http://schemas.microsoft.com/office/drawing/2014/main" xmlns="" id="{E876B8BD-D5E9-C10F-7631-1AE2D0B428F8}"/>
                  </a:ext>
                </a:extLst>
              </p:cNvPr>
              <p:cNvSpPr txBox="1">
                <a:spLocks noChangeArrowheads="1"/>
              </p:cNvSpPr>
              <p:nvPr/>
            </p:nvSpPr>
            <p:spPr bwMode="auto">
              <a:xfrm>
                <a:off x="3621632" y="5775938"/>
                <a:ext cx="1493249" cy="33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ECN=</a:t>
                </a:r>
                <a:r>
                  <a:rPr lang="en-US" altLang="en-US" sz="1050" kern="1200">
                    <a:solidFill>
                      <a:srgbClr val="FF0000"/>
                    </a:solidFill>
                    <a:latin typeface="Tahoma" panose="020B0604030504040204" pitchFamily="34" charset="0"/>
                    <a:cs typeface="+mn-cs"/>
                  </a:rPr>
                  <a:t>11</a:t>
                </a:r>
              </a:p>
            </p:txBody>
          </p:sp>
        </p:grpSp>
        <p:cxnSp>
          <p:nvCxnSpPr>
            <p:cNvPr id="115764" name="Straight Arrow Connector 286">
              <a:extLst>
                <a:ext uri="{FF2B5EF4-FFF2-40B4-BE49-F238E27FC236}">
                  <a16:creationId xmlns:a16="http://schemas.microsoft.com/office/drawing/2014/main" xmlns="" id="{A78D689E-993C-3F45-4A5E-AC66B7DF5FC2}"/>
                </a:ext>
              </a:extLst>
            </p:cNvPr>
            <p:cNvCxnSpPr>
              <a:cxnSpLocks noChangeShapeType="1"/>
            </p:cNvCxnSpPr>
            <p:nvPr/>
          </p:nvCxnSpPr>
          <p:spPr bwMode="auto">
            <a:xfrm flipV="1">
              <a:off x="4483694" y="5949896"/>
              <a:ext cx="457353" cy="183765"/>
            </a:xfrm>
            <a:prstGeom prst="straightConnector1">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 name="Group 28">
            <a:extLst>
              <a:ext uri="{FF2B5EF4-FFF2-40B4-BE49-F238E27FC236}">
                <a16:creationId xmlns:a16="http://schemas.microsoft.com/office/drawing/2014/main" xmlns="" id="{74C02999-CB2C-3985-4DAB-4D6770E38824}"/>
              </a:ext>
            </a:extLst>
          </p:cNvPr>
          <p:cNvGrpSpPr>
            <a:grpSpLocks/>
          </p:cNvGrpSpPr>
          <p:nvPr/>
        </p:nvGrpSpPr>
        <p:grpSpPr bwMode="auto">
          <a:xfrm>
            <a:off x="2499122" y="3400425"/>
            <a:ext cx="2987279" cy="284560"/>
            <a:chOff x="2334273" y="4534486"/>
            <a:chExt cx="3981995" cy="378689"/>
          </a:xfrm>
        </p:grpSpPr>
        <p:grpSp>
          <p:nvGrpSpPr>
            <p:cNvPr id="115755" name="Group 27">
              <a:extLst>
                <a:ext uri="{FF2B5EF4-FFF2-40B4-BE49-F238E27FC236}">
                  <a16:creationId xmlns:a16="http://schemas.microsoft.com/office/drawing/2014/main" xmlns="" id="{BBEAD696-788A-831C-A696-03CDDB335982}"/>
                </a:ext>
              </a:extLst>
            </p:cNvPr>
            <p:cNvGrpSpPr>
              <a:grpSpLocks/>
            </p:cNvGrpSpPr>
            <p:nvPr/>
          </p:nvGrpSpPr>
          <p:grpSpPr bwMode="auto">
            <a:xfrm>
              <a:off x="3508876" y="4534486"/>
              <a:ext cx="1493249" cy="337908"/>
              <a:chOff x="3508876" y="4414358"/>
              <a:chExt cx="1493249" cy="337908"/>
            </a:xfrm>
          </p:grpSpPr>
          <p:sp>
            <p:nvSpPr>
              <p:cNvPr id="298" name="Rectangle 297">
                <a:extLst>
                  <a:ext uri="{FF2B5EF4-FFF2-40B4-BE49-F238E27FC236}">
                    <a16:creationId xmlns:a16="http://schemas.microsoft.com/office/drawing/2014/main" xmlns="" id="{BD2BB3B8-E42D-086B-C5DC-749C9E2E177D}"/>
                  </a:ext>
                </a:extLst>
              </p:cNvPr>
              <p:cNvSpPr/>
              <p:nvPr/>
            </p:nvSpPr>
            <p:spPr>
              <a:xfrm>
                <a:off x="3907074" y="4428619"/>
                <a:ext cx="736407" cy="194890"/>
              </a:xfrm>
              <a:prstGeom prst="rect">
                <a:avLst/>
              </a:prstGeom>
              <a:solidFill>
                <a:srgbClr val="008000"/>
              </a:solidFill>
              <a:ln w="12700">
                <a:solidFill>
                  <a:schemeClr val="accent1">
                    <a:lumMod val="50000"/>
                  </a:schemeClr>
                </a:solidFill>
              </a:ln>
            </p:spPr>
            <p:txBody>
              <a:bodyPr wrap="none"/>
              <a:lstStyle/>
              <a:p>
                <a:pPr algn="ctr" defTabSz="685800" rtl="0" eaLnBrk="0" fontAlgn="base" hangingPunct="0">
                  <a:spcBef>
                    <a:spcPct val="0"/>
                  </a:spcBef>
                  <a:spcAft>
                    <a:spcPct val="0"/>
                  </a:spcAft>
                  <a:defRPr/>
                </a:pPr>
                <a:endParaRPr lang="en-US" sz="1200" kern="1200">
                  <a:solidFill>
                    <a:srgbClr val="000000"/>
                  </a:solidFill>
                  <a:latin typeface="Tahoma" panose="020B0604030504040204" pitchFamily="34" charset="0"/>
                  <a:ea typeface="ＭＳ Ｐゴシック" charset="0"/>
                  <a:cs typeface="ＭＳ Ｐゴシック" charset="0"/>
                </a:endParaRPr>
              </a:p>
            </p:txBody>
          </p:sp>
          <p:sp>
            <p:nvSpPr>
              <p:cNvPr id="115759" name="Rectangle 298">
                <a:extLst>
                  <a:ext uri="{FF2B5EF4-FFF2-40B4-BE49-F238E27FC236}">
                    <a16:creationId xmlns:a16="http://schemas.microsoft.com/office/drawing/2014/main" xmlns="" id="{B994D7BE-DE9A-E6EA-F1FC-EA221B89E233}"/>
                  </a:ext>
                </a:extLst>
              </p:cNvPr>
              <p:cNvSpPr>
                <a:spLocks noChangeArrowheads="1"/>
              </p:cNvSpPr>
              <p:nvPr/>
            </p:nvSpPr>
            <p:spPr bwMode="auto">
              <a:xfrm>
                <a:off x="3863891" y="4478563"/>
                <a:ext cx="737073" cy="196032"/>
              </a:xfrm>
              <a:prstGeom prst="rect">
                <a:avLst/>
              </a:prstGeom>
              <a:solidFill>
                <a:srgbClr val="0000FF"/>
              </a:solidFill>
              <a:ln w="12700">
                <a:solidFill>
                  <a:srgbClr val="000090"/>
                </a:solidFill>
                <a:miter lim="800000"/>
                <a:headEnd/>
                <a:tailEnd/>
              </a:ln>
            </p:spPr>
            <p:txBody>
              <a:bodyPr wrap="none"/>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endParaRPr lang="en-US" altLang="en-US" sz="1200" kern="1200">
                  <a:solidFill>
                    <a:srgbClr val="000000"/>
                  </a:solidFill>
                  <a:latin typeface="Tahoma" panose="020B0604030504040204" pitchFamily="34" charset="0"/>
                  <a:cs typeface="+mn-cs"/>
                </a:endParaRPr>
              </a:p>
            </p:txBody>
          </p:sp>
          <p:sp>
            <p:nvSpPr>
              <p:cNvPr id="115760" name="Freeform 299">
                <a:extLst>
                  <a:ext uri="{FF2B5EF4-FFF2-40B4-BE49-F238E27FC236}">
                    <a16:creationId xmlns:a16="http://schemas.microsoft.com/office/drawing/2014/main" xmlns="" id="{A34780A1-9E58-EB80-AFFA-E263E71D1A6A}"/>
                  </a:ext>
                </a:extLst>
              </p:cNvPr>
              <p:cNvSpPr>
                <a:spLocks/>
              </p:cNvSpPr>
              <p:nvPr/>
            </p:nvSpPr>
            <p:spPr bwMode="auto">
              <a:xfrm>
                <a:off x="3859775" y="4425511"/>
                <a:ext cx="783947" cy="53534"/>
              </a:xfrm>
              <a:custGeom>
                <a:avLst/>
                <a:gdLst>
                  <a:gd name="T0" fmla="*/ 0 w 1223105"/>
                  <a:gd name="T1" fmla="*/ 5412 h 93730"/>
                  <a:gd name="T2" fmla="*/ 7604 w 1223105"/>
                  <a:gd name="T3" fmla="*/ 0 h 93730"/>
                  <a:gd name="T4" fmla="*/ 132306 w 1223105"/>
                  <a:gd name="T5" fmla="*/ 285 h 93730"/>
                  <a:gd name="T6" fmla="*/ 123688 w 1223105"/>
                  <a:gd name="T7" fmla="*/ 5697 h 93730"/>
                  <a:gd name="T8" fmla="*/ 0 w 1223105"/>
                  <a:gd name="T9" fmla="*/ 5412 h 937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3105" h="93730">
                    <a:moveTo>
                      <a:pt x="0" y="89042"/>
                    </a:moveTo>
                    <a:lnTo>
                      <a:pt x="70293" y="0"/>
                    </a:lnTo>
                    <a:lnTo>
                      <a:pt x="1223105" y="4687"/>
                    </a:lnTo>
                    <a:lnTo>
                      <a:pt x="1143439" y="93730"/>
                    </a:lnTo>
                    <a:lnTo>
                      <a:pt x="0" y="89042"/>
                    </a:lnTo>
                    <a:close/>
                  </a:path>
                </a:pathLst>
              </a:custGeom>
              <a:solidFill>
                <a:srgbClr val="3366FF"/>
              </a:solidFill>
              <a:ln w="9525">
                <a:solidFill>
                  <a:srgbClr val="000090"/>
                </a:solidFill>
                <a:round/>
                <a:headEnd/>
                <a:tailEnd/>
              </a:ln>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61" name="Freeform 300">
                <a:extLst>
                  <a:ext uri="{FF2B5EF4-FFF2-40B4-BE49-F238E27FC236}">
                    <a16:creationId xmlns:a16="http://schemas.microsoft.com/office/drawing/2014/main" xmlns="" id="{1F871955-A0E2-6FD8-C605-BB141C3DBBF9}"/>
                  </a:ext>
                </a:extLst>
              </p:cNvPr>
              <p:cNvSpPr>
                <a:spLocks/>
              </p:cNvSpPr>
              <p:nvPr/>
            </p:nvSpPr>
            <p:spPr bwMode="auto">
              <a:xfrm rot="21211447" flipV="1">
                <a:off x="4579084" y="4434448"/>
                <a:ext cx="87388" cy="248479"/>
              </a:xfrm>
              <a:custGeom>
                <a:avLst/>
                <a:gdLst>
                  <a:gd name="T0" fmla="*/ 3896 w 136342"/>
                  <a:gd name="T1" fmla="*/ 1227 h 891908"/>
                  <a:gd name="T2" fmla="*/ 0 w 136342"/>
                  <a:gd name="T3" fmla="*/ 0 h 891908"/>
                  <a:gd name="T4" fmla="*/ 10915 w 136342"/>
                  <a:gd name="T5" fmla="*/ 289 h 891908"/>
                  <a:gd name="T6" fmla="*/ 14748 w 136342"/>
                  <a:gd name="T7" fmla="*/ 1497 h 891908"/>
                  <a:gd name="T8" fmla="*/ 3896 w 136342"/>
                  <a:gd name="T9" fmla="*/ 1227 h 8919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342" h="891908">
                    <a:moveTo>
                      <a:pt x="36019" y="731496"/>
                    </a:moveTo>
                    <a:lnTo>
                      <a:pt x="0" y="1"/>
                    </a:lnTo>
                    <a:lnTo>
                      <a:pt x="100909" y="172120"/>
                    </a:lnTo>
                    <a:lnTo>
                      <a:pt x="136342" y="891907"/>
                    </a:lnTo>
                    <a:lnTo>
                      <a:pt x="36019" y="731496"/>
                    </a:lnTo>
                    <a:close/>
                  </a:path>
                </a:pathLst>
              </a:custGeom>
              <a:solidFill>
                <a:srgbClr val="3366FF"/>
              </a:solidFill>
              <a:ln w="9525">
                <a:solidFill>
                  <a:srgbClr val="000090"/>
                </a:solidFill>
                <a:round/>
                <a:headEnd/>
                <a:tailEnd/>
              </a:ln>
            </p:spPr>
            <p:txBody>
              <a:bodyPr wrap="none"/>
              <a:lstStyle/>
              <a:p>
                <a:pPr algn="l" defTabSz="685800" rtl="0" eaLnBrk="0" fontAlgn="base" hangingPunct="0">
                  <a:spcBef>
                    <a:spcPct val="0"/>
                  </a:spcBef>
                  <a:spcAft>
                    <a:spcPct val="0"/>
                  </a:spcAft>
                </a:pPr>
                <a:endParaRPr lang="en-IN" sz="1200" kern="1200">
                  <a:solidFill>
                    <a:srgbClr val="000000"/>
                  </a:solidFill>
                  <a:latin typeface="Tahoma" panose="020B0604030504040204" pitchFamily="34" charset="0"/>
                  <a:ea typeface="MS PGothic" panose="020B0600070205080204" pitchFamily="34" charset="-128"/>
                  <a:cs typeface="+mn-cs"/>
                </a:endParaRPr>
              </a:p>
            </p:txBody>
          </p:sp>
          <p:sp>
            <p:nvSpPr>
              <p:cNvPr id="115762" name="TextBox 296">
                <a:extLst>
                  <a:ext uri="{FF2B5EF4-FFF2-40B4-BE49-F238E27FC236}">
                    <a16:creationId xmlns:a16="http://schemas.microsoft.com/office/drawing/2014/main" xmlns="" id="{94A47D67-0EE4-BA67-21B0-1A0179CE5470}"/>
                  </a:ext>
                </a:extLst>
              </p:cNvPr>
              <p:cNvSpPr txBox="1">
                <a:spLocks noChangeArrowheads="1"/>
              </p:cNvSpPr>
              <p:nvPr/>
            </p:nvSpPr>
            <p:spPr bwMode="auto">
              <a:xfrm>
                <a:off x="3508876" y="4414358"/>
                <a:ext cx="1493249" cy="337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FFFFFF"/>
                    </a:solidFill>
                    <a:latin typeface="Tahoma" panose="020B0604030504040204" pitchFamily="34" charset="0"/>
                    <a:cs typeface="+mn-cs"/>
                  </a:rPr>
                  <a:t>ECE=</a:t>
                </a:r>
                <a:r>
                  <a:rPr lang="en-US" altLang="en-US" sz="1050" kern="1200">
                    <a:solidFill>
                      <a:srgbClr val="FF0000"/>
                    </a:solidFill>
                    <a:latin typeface="Tahoma" panose="020B0604030504040204" pitchFamily="34" charset="0"/>
                    <a:cs typeface="+mn-cs"/>
                  </a:rPr>
                  <a:t>1</a:t>
                </a:r>
              </a:p>
            </p:txBody>
          </p:sp>
        </p:grpSp>
        <p:cxnSp>
          <p:nvCxnSpPr>
            <p:cNvPr id="115756" name="Straight Arrow Connector 294">
              <a:extLst>
                <a:ext uri="{FF2B5EF4-FFF2-40B4-BE49-F238E27FC236}">
                  <a16:creationId xmlns:a16="http://schemas.microsoft.com/office/drawing/2014/main" xmlns="" id="{56E2D390-D3DD-8CDC-7579-82F8129FA318}"/>
                </a:ext>
              </a:extLst>
            </p:cNvPr>
            <p:cNvCxnSpPr>
              <a:cxnSpLocks noChangeShapeType="1"/>
            </p:cNvCxnSpPr>
            <p:nvPr/>
          </p:nvCxnSpPr>
          <p:spPr bwMode="auto">
            <a:xfrm flipH="1" flipV="1">
              <a:off x="3801047" y="4905427"/>
              <a:ext cx="697737" cy="7748"/>
            </a:xfrm>
            <a:prstGeom prst="straightConnector1">
              <a:avLst/>
            </a:prstGeom>
            <a:noFill/>
            <a:ln w="952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5757" name="Straight Arrow Connector 25">
              <a:extLst>
                <a:ext uri="{FF2B5EF4-FFF2-40B4-BE49-F238E27FC236}">
                  <a16:creationId xmlns:a16="http://schemas.microsoft.com/office/drawing/2014/main" xmlns="" id="{378AD9ED-10ED-F07F-FFB1-4012D55FFC8A}"/>
                </a:ext>
              </a:extLst>
            </p:cNvPr>
            <p:cNvCxnSpPr>
              <a:cxnSpLocks noChangeShapeType="1"/>
            </p:cNvCxnSpPr>
            <p:nvPr/>
          </p:nvCxnSpPr>
          <p:spPr bwMode="auto">
            <a:xfrm flipH="1">
              <a:off x="2334273" y="4839428"/>
              <a:ext cx="3981995" cy="0"/>
            </a:xfrm>
            <a:prstGeom prst="straightConnector1">
              <a:avLst/>
            </a:prstGeom>
            <a:noFill/>
            <a:ln w="127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Group 32">
            <a:extLst>
              <a:ext uri="{FF2B5EF4-FFF2-40B4-BE49-F238E27FC236}">
                <a16:creationId xmlns:a16="http://schemas.microsoft.com/office/drawing/2014/main" xmlns="" id="{C50B09AF-E870-FA0B-EDD8-446E36536A19}"/>
              </a:ext>
            </a:extLst>
          </p:cNvPr>
          <p:cNvGrpSpPr>
            <a:grpSpLocks/>
          </p:cNvGrpSpPr>
          <p:nvPr/>
        </p:nvGrpSpPr>
        <p:grpSpPr bwMode="auto">
          <a:xfrm>
            <a:off x="1402535" y="4620819"/>
            <a:ext cx="915636" cy="369687"/>
            <a:chOff x="872227" y="6160831"/>
            <a:chExt cx="1220749" cy="493197"/>
          </a:xfrm>
        </p:grpSpPr>
        <p:sp>
          <p:nvSpPr>
            <p:cNvPr id="115753" name="TextBox 29">
              <a:extLst>
                <a:ext uri="{FF2B5EF4-FFF2-40B4-BE49-F238E27FC236}">
                  <a16:creationId xmlns:a16="http://schemas.microsoft.com/office/drawing/2014/main" xmlns="" id="{0154E480-706C-B22C-5526-88DC91C6F61E}"/>
                </a:ext>
              </a:extLst>
            </p:cNvPr>
            <p:cNvSpPr txBox="1">
              <a:spLocks noChangeArrowheads="1"/>
            </p:cNvSpPr>
            <p:nvPr/>
          </p:nvSpPr>
          <p:spPr bwMode="auto">
            <a:xfrm>
              <a:off x="872227" y="6315280"/>
              <a:ext cx="1220749" cy="33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000000"/>
                  </a:solidFill>
                  <a:latin typeface="Tahoma" panose="020B0604030504040204" pitchFamily="34" charset="0"/>
                  <a:cs typeface="+mn-cs"/>
                </a:rPr>
                <a:t>IP datagram</a:t>
              </a:r>
            </a:p>
          </p:txBody>
        </p:sp>
        <p:cxnSp>
          <p:nvCxnSpPr>
            <p:cNvPr id="115754" name="Straight Connector 31">
              <a:extLst>
                <a:ext uri="{FF2B5EF4-FFF2-40B4-BE49-F238E27FC236}">
                  <a16:creationId xmlns:a16="http://schemas.microsoft.com/office/drawing/2014/main" xmlns="" id="{776995EA-A508-9C7E-41A1-835D1A0BE2E4}"/>
                </a:ext>
              </a:extLst>
            </p:cNvPr>
            <p:cNvCxnSpPr>
              <a:cxnSpLocks noChangeShapeType="1"/>
            </p:cNvCxnSpPr>
            <p:nvPr/>
          </p:nvCxnSpPr>
          <p:spPr bwMode="auto">
            <a:xfrm flipH="1">
              <a:off x="1785033" y="6160831"/>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4" name="Group 33">
            <a:extLst>
              <a:ext uri="{FF2B5EF4-FFF2-40B4-BE49-F238E27FC236}">
                <a16:creationId xmlns:a16="http://schemas.microsoft.com/office/drawing/2014/main" xmlns="" id="{09735D1D-AD48-CDFC-5021-47F581EB9A81}"/>
              </a:ext>
            </a:extLst>
          </p:cNvPr>
          <p:cNvGrpSpPr>
            <a:grpSpLocks/>
          </p:cNvGrpSpPr>
          <p:nvPr/>
        </p:nvGrpSpPr>
        <p:grpSpPr bwMode="auto">
          <a:xfrm>
            <a:off x="4132224" y="2996804"/>
            <a:ext cx="1247457" cy="386953"/>
            <a:chOff x="4510678" y="3996483"/>
            <a:chExt cx="1663399" cy="514832"/>
          </a:xfrm>
        </p:grpSpPr>
        <p:sp>
          <p:nvSpPr>
            <p:cNvPr id="115751" name="TextBox 312">
              <a:extLst>
                <a:ext uri="{FF2B5EF4-FFF2-40B4-BE49-F238E27FC236}">
                  <a16:creationId xmlns:a16="http://schemas.microsoft.com/office/drawing/2014/main" xmlns="" id="{F579B234-3F2C-0214-2378-4C82B17BE09F}"/>
                </a:ext>
              </a:extLst>
            </p:cNvPr>
            <p:cNvSpPr txBox="1">
              <a:spLocks noChangeArrowheads="1"/>
            </p:cNvSpPr>
            <p:nvPr/>
          </p:nvSpPr>
          <p:spPr bwMode="auto">
            <a:xfrm>
              <a:off x="4510678" y="3996483"/>
              <a:ext cx="1663399" cy="33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defTabSz="685800" rtl="0" eaLnBrk="0" fontAlgn="base" hangingPunct="0">
                <a:lnSpc>
                  <a:spcPct val="100000"/>
                </a:lnSpc>
                <a:spcBef>
                  <a:spcPct val="0"/>
                </a:spcBef>
                <a:spcAft>
                  <a:spcPct val="0"/>
                </a:spcAft>
                <a:buClrTx/>
                <a:buSzTx/>
                <a:buNone/>
              </a:pPr>
              <a:r>
                <a:rPr lang="en-US" altLang="en-US" sz="1050" kern="1200">
                  <a:solidFill>
                    <a:srgbClr val="000000"/>
                  </a:solidFill>
                  <a:latin typeface="Tahoma" panose="020B0604030504040204" pitchFamily="34" charset="0"/>
                  <a:cs typeface="+mn-cs"/>
                </a:rPr>
                <a:t>TCP ACK segment</a:t>
              </a:r>
            </a:p>
          </p:txBody>
        </p:sp>
        <p:cxnSp>
          <p:nvCxnSpPr>
            <p:cNvPr id="115752" name="Straight Connector 313">
              <a:extLst>
                <a:ext uri="{FF2B5EF4-FFF2-40B4-BE49-F238E27FC236}">
                  <a16:creationId xmlns:a16="http://schemas.microsoft.com/office/drawing/2014/main" xmlns="" id="{CEAA8956-8FE7-9F90-00DF-8BA787163EDB}"/>
                </a:ext>
              </a:extLst>
            </p:cNvPr>
            <p:cNvCxnSpPr>
              <a:cxnSpLocks noChangeShapeType="1"/>
            </p:cNvCxnSpPr>
            <p:nvPr/>
          </p:nvCxnSpPr>
          <p:spPr bwMode="auto">
            <a:xfrm flipH="1">
              <a:off x="4632144" y="4271060"/>
              <a:ext cx="274620" cy="2402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4" name="Picture 3">
            <a:extLst>
              <a:ext uri="{FF2B5EF4-FFF2-40B4-BE49-F238E27FC236}">
                <a16:creationId xmlns:a16="http://schemas.microsoft.com/office/drawing/2014/main" xmlns="" id="{05FC3A62-0A5F-445B-955F-7950F0A74B6A}"/>
              </a:ext>
            </a:extLst>
          </p:cNvPr>
          <p:cNvPicPr>
            <a:picLocks noChangeAspect="1"/>
          </p:cNvPicPr>
          <p:nvPr/>
        </p:nvPicPr>
        <p:blipFill>
          <a:blip r:embed="rId3"/>
          <a:stretch>
            <a:fillRect/>
          </a:stretch>
        </p:blipFill>
        <p:spPr>
          <a:xfrm>
            <a:off x="568849" y="895350"/>
            <a:ext cx="3463183" cy="1800000"/>
          </a:xfrm>
          <a:prstGeom prst="rect">
            <a:avLst/>
          </a:prstGeom>
          <a:ln>
            <a:solidFill>
              <a:schemeClr val="tx1"/>
            </a:solidFill>
          </a:ln>
        </p:spPr>
      </p:pic>
      <p:pic>
        <p:nvPicPr>
          <p:cNvPr id="6" name="Picture 5">
            <a:extLst>
              <a:ext uri="{FF2B5EF4-FFF2-40B4-BE49-F238E27FC236}">
                <a16:creationId xmlns:a16="http://schemas.microsoft.com/office/drawing/2014/main" xmlns="" id="{02647A22-C088-96A6-668B-2FC7A71456D3}"/>
              </a:ext>
            </a:extLst>
          </p:cNvPr>
          <p:cNvPicPr>
            <a:picLocks noChangeAspect="1"/>
          </p:cNvPicPr>
          <p:nvPr/>
        </p:nvPicPr>
        <p:blipFill>
          <a:blip r:embed="rId4"/>
          <a:stretch>
            <a:fillRect/>
          </a:stretch>
        </p:blipFill>
        <p:spPr>
          <a:xfrm>
            <a:off x="4795951" y="924150"/>
            <a:ext cx="3433649" cy="1800000"/>
          </a:xfrm>
          <a:prstGeom prst="rect">
            <a:avLst/>
          </a:prstGeom>
          <a:ln>
            <a:solidFill>
              <a:schemeClr val="tx1"/>
            </a:solidFill>
          </a:ln>
        </p:spPr>
      </p:pic>
      <p:sp>
        <p:nvSpPr>
          <p:cNvPr id="5" name="TextBox 4">
            <a:extLst>
              <a:ext uri="{FF2B5EF4-FFF2-40B4-BE49-F238E27FC236}">
                <a16:creationId xmlns:a16="http://schemas.microsoft.com/office/drawing/2014/main" xmlns="" id="{141C1A6E-CE86-8D04-E57B-FD76880B4E5D}"/>
              </a:ext>
            </a:extLst>
          </p:cNvPr>
          <p:cNvSpPr txBox="1"/>
          <p:nvPr/>
        </p:nvSpPr>
        <p:spPr>
          <a:xfrm>
            <a:off x="6807234" y="2732029"/>
            <a:ext cx="2252055" cy="1384995"/>
          </a:xfrm>
          <a:prstGeom prst="rect">
            <a:avLst/>
          </a:prstGeom>
          <a:noFill/>
        </p:spPr>
        <p:txBody>
          <a:bodyPr wrap="square">
            <a:spAutoFit/>
          </a:bodyPr>
          <a:lstStyle/>
          <a:p>
            <a:pPr marL="171450" indent="-171450" algn="just" fontAlgn="base">
              <a:buFont typeface="Arial" panose="020B0604020202020204" pitchFamily="34" charset="0"/>
              <a:buChar char="•"/>
            </a:pPr>
            <a:r>
              <a:rPr lang="en-US" sz="1200" b="1" i="1" dirty="0">
                <a:solidFill>
                  <a:srgbClr val="FF0000"/>
                </a:solidFill>
                <a:effectLst/>
                <a:latin typeface="Cambria" panose="02040503050406030204" pitchFamily="18" charset="0"/>
                <a:ea typeface="Cambria" panose="02040503050406030204" pitchFamily="18" charset="0"/>
              </a:rPr>
              <a:t>CWR: Congestion Window Reduced Flag</a:t>
            </a:r>
          </a:p>
          <a:p>
            <a:pPr marL="171450" indent="-171450" algn="just" fontAlgn="base">
              <a:buFont typeface="Arial" panose="020B0604020202020204" pitchFamily="34" charset="0"/>
              <a:buChar char="•"/>
            </a:pPr>
            <a:r>
              <a:rPr lang="en-US" sz="1200" b="1" i="1" dirty="0">
                <a:solidFill>
                  <a:srgbClr val="FF0000"/>
                </a:solidFill>
                <a:effectLst/>
                <a:latin typeface="Cambria" panose="02040503050406030204" pitchFamily="18" charset="0"/>
                <a:ea typeface="Cambria" panose="02040503050406030204" pitchFamily="18" charset="0"/>
              </a:rPr>
              <a:t>ECE: ECE Echo</a:t>
            </a:r>
          </a:p>
          <a:p>
            <a:pPr marL="171450" indent="-171450" algn="just" fontAlgn="base">
              <a:buFont typeface="Arial" panose="020B0604020202020204" pitchFamily="34" charset="0"/>
              <a:buChar char="•"/>
            </a:pPr>
            <a:r>
              <a:rPr lang="en-US" sz="1200" b="1" i="1" dirty="0">
                <a:solidFill>
                  <a:srgbClr val="FF0000"/>
                </a:solidFill>
                <a:effectLst/>
                <a:latin typeface="Cambria" panose="02040503050406030204" pitchFamily="18" charset="0"/>
                <a:ea typeface="Cambria" panose="02040503050406030204" pitchFamily="18" charset="0"/>
              </a:rPr>
              <a:t>ECT: ECN Capable Transport</a:t>
            </a:r>
          </a:p>
          <a:p>
            <a:pPr marL="171450" indent="-171450" algn="just" fontAlgn="base">
              <a:buFont typeface="Arial" panose="020B0604020202020204" pitchFamily="34" charset="0"/>
              <a:buChar char="•"/>
            </a:pPr>
            <a:r>
              <a:rPr lang="en-US" sz="1200" b="1" i="1" dirty="0">
                <a:solidFill>
                  <a:srgbClr val="FF0000"/>
                </a:solidFill>
                <a:effectLst/>
                <a:latin typeface="Cambria" panose="02040503050406030204" pitchFamily="18" charset="0"/>
                <a:ea typeface="Cambria" panose="02040503050406030204" pitchFamily="18" charset="0"/>
              </a:rPr>
              <a:t>CE: Congestion Experienced</a:t>
            </a:r>
          </a:p>
          <a:p>
            <a:pPr marL="171450" indent="-171450" algn="just" fontAlgn="base">
              <a:buFont typeface="Arial" panose="020B0604020202020204" pitchFamily="34" charset="0"/>
              <a:buChar char="•"/>
            </a:pPr>
            <a:endParaRPr lang="en-US" sz="1200" b="1" i="1" dirty="0">
              <a:solidFill>
                <a:srgbClr val="FF0000"/>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143053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dissolve">
                                      <p:cBhvr>
                                        <p:cTn id="11" dur="500"/>
                                        <p:tgtEl>
                                          <p:spTgt spid="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left)">
                                      <p:cBhvr>
                                        <p:cTn id="16" dur="500"/>
                                        <p:tgtEl>
                                          <p:spTgt spid="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2"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right)">
                                      <p:cBhvr>
                                        <p:cTn id="21" dur="500"/>
                                        <p:tgtEl>
                                          <p:spTgt spid="29"/>
                                        </p:tgtEl>
                                      </p:cBhvr>
                                    </p:animEffect>
                                  </p:childTnLst>
                                </p:cTn>
                              </p:par>
                            </p:childTnLst>
                          </p:cTn>
                        </p:par>
                        <p:par>
                          <p:cTn id="22" fill="hold" nodeType="afterGroup">
                            <p:stCondLst>
                              <p:cond delay="500"/>
                            </p:stCondLst>
                            <p:childTnLst>
                              <p:par>
                                <p:cTn id="23" presetID="9"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dissolve">
                                      <p:cBhvr>
                                        <p:cTn id="2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C5C907-FF0D-2284-5408-9CCD41A1AE63}"/>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xmlns="" id="{CC3AF3D4-4474-B762-85F8-A7A03A9BE94F}"/>
              </a:ext>
            </a:extLst>
          </p:cNvPr>
          <p:cNvSpPr txBox="1">
            <a:spLocks/>
          </p:cNvSpPr>
          <p:nvPr/>
        </p:nvSpPr>
        <p:spPr>
          <a:xfrm>
            <a:off x="1485900" y="2008214"/>
            <a:ext cx="6172200" cy="902221"/>
          </a:xfrm>
          <a:prstGeom prst="rect">
            <a:avLst/>
          </a:prstGeom>
        </p:spPr>
        <p:txBody>
          <a:bodyPr vert="horz" lIns="68580" tIns="34290" rIns="68580" bIns="34290" rtlCol="0">
            <a:noAutofit/>
          </a:bodyPr>
          <a:lstStyle>
            <a:lvl1pPr marL="342900" indent="-342900" algn="l" defTabSz="914400" rtl="0" eaLnBrk="1" latinLnBrk="0" hangingPunct="1">
              <a:spcBef>
                <a:spcPct val="20000"/>
              </a:spcBef>
              <a:buFont typeface="Arial"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002060"/>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None/>
              <a:defRPr/>
            </a:pPr>
            <a:r>
              <a:rPr lang="en-US" sz="8250" dirty="0">
                <a:solidFill>
                  <a:schemeClr val="tx1"/>
                </a:solidFill>
                <a:latin typeface="Brush Script MT" panose="03060802040406070304" pitchFamily="66" charset="0"/>
              </a:rPr>
              <a:t>Thank You!</a:t>
            </a:r>
          </a:p>
        </p:txBody>
      </p:sp>
    </p:spTree>
    <p:extLst>
      <p:ext uri="{BB962C8B-B14F-4D97-AF65-F5344CB8AC3E}">
        <p14:creationId xmlns:p14="http://schemas.microsoft.com/office/powerpoint/2010/main" val="1125461152"/>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CAB33A-F716-08E3-5D0B-14667BFE625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1083AF4-2AC1-BCA4-1D24-9D19A8735B73}"/>
              </a:ext>
            </a:extLst>
          </p:cNvPr>
          <p:cNvPicPr>
            <a:picLocks noChangeAspect="1"/>
          </p:cNvPicPr>
          <p:nvPr/>
        </p:nvPicPr>
        <p:blipFill>
          <a:blip r:embed="rId2">
            <a:extLst>
              <a:ext uri="{28A0092B-C50C-407E-A947-70E740481C1C}">
                <a14:useLocalDpi xmlns:a14="http://schemas.microsoft.com/office/drawing/2010/main" val="0"/>
              </a:ext>
            </a:extLst>
          </a:blip>
          <a:srcRect l="22007" t="24444" r="27368" b="15557"/>
          <a:stretch>
            <a:fillRect/>
          </a:stretch>
        </p:blipFill>
        <p:spPr>
          <a:xfrm>
            <a:off x="2211707" y="1424554"/>
            <a:ext cx="5137712" cy="2521607"/>
          </a:xfrm>
          <a:prstGeom prst="rect">
            <a:avLst/>
          </a:prstGeom>
        </p:spPr>
      </p:pic>
      <p:sp>
        <p:nvSpPr>
          <p:cNvPr id="6" name="Text Placeholder 5">
            <a:extLst>
              <a:ext uri="{FF2B5EF4-FFF2-40B4-BE49-F238E27FC236}">
                <a16:creationId xmlns:a16="http://schemas.microsoft.com/office/drawing/2014/main" xmlns="" id="{83DFAEEB-2CE4-BC6E-563A-E2FA06913213}"/>
              </a:ext>
            </a:extLst>
          </p:cNvPr>
          <p:cNvSpPr txBox="1">
            <a:spLocks/>
          </p:cNvSpPr>
          <p:nvPr/>
        </p:nvSpPr>
        <p:spPr>
          <a:xfrm>
            <a:off x="1143000" y="521541"/>
            <a:ext cx="6858000" cy="43408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850" b="1" dirty="0">
                <a:latin typeface="Times New Roman" panose="02020603050405020304" pitchFamily="18" charset="0"/>
                <a:cs typeface="Times New Roman" panose="02020603050405020304" pitchFamily="18" charset="0"/>
              </a:rPr>
              <a:t>END the session before leaving </a:t>
            </a:r>
          </a:p>
        </p:txBody>
      </p:sp>
    </p:spTree>
    <p:extLst>
      <p:ext uri="{BB962C8B-B14F-4D97-AF65-F5344CB8AC3E}">
        <p14:creationId xmlns:p14="http://schemas.microsoft.com/office/powerpoint/2010/main" val="150470553"/>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9002533A2C464CBD7F5B3D09DA59C7" ma:contentTypeVersion="28" ma:contentTypeDescription="Create a new document." ma:contentTypeScope="" ma:versionID="1685237c5012c7d90733e3feefc4a729">
  <xsd:schema xmlns:xsd="http://www.w3.org/2001/XMLSchema" xmlns:xs="http://www.w3.org/2001/XMLSchema" xmlns:p="http://schemas.microsoft.com/office/2006/metadata/properties" xmlns:ns2="6fdd37d2-8c27-4924-b2e6-c1d2ce638cc3" targetNamespace="http://schemas.microsoft.com/office/2006/metadata/properties" ma:root="true" ma:fieldsID="c68d5ebc5661ba923e8f5fcf6ca981fc" ns2:_="">
    <xsd:import namespace="6fdd37d2-8c27-4924-b2e6-c1d2ce638c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dd37d2-8c27-4924-b2e6-c1d2ce638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Has_Teacher_Only_SectionGroup xmlns="6fdd37d2-8c27-4924-b2e6-c1d2ce638cc3" xsi:nil="true"/>
    <NotebookType xmlns="6fdd37d2-8c27-4924-b2e6-c1d2ce638cc3" xsi:nil="true"/>
    <LMS_Mappings xmlns="6fdd37d2-8c27-4924-b2e6-c1d2ce638cc3" xsi:nil="true"/>
    <Teams_Channel_Section_Location xmlns="6fdd37d2-8c27-4924-b2e6-c1d2ce638cc3" xsi:nil="true"/>
    <FolderType xmlns="6fdd37d2-8c27-4924-b2e6-c1d2ce638cc3" xsi:nil="true"/>
    <CultureName xmlns="6fdd37d2-8c27-4924-b2e6-c1d2ce638cc3" xsi:nil="true"/>
    <Owner xmlns="6fdd37d2-8c27-4924-b2e6-c1d2ce638cc3">
      <UserInfo>
        <DisplayName/>
        <AccountId xsi:nil="true"/>
        <AccountType/>
      </UserInfo>
    </Owner>
    <Invited_Students xmlns="6fdd37d2-8c27-4924-b2e6-c1d2ce638cc3" xsi:nil="true"/>
    <Math_Settings xmlns="6fdd37d2-8c27-4924-b2e6-c1d2ce638cc3" xsi:nil="true"/>
    <Templates xmlns="6fdd37d2-8c27-4924-b2e6-c1d2ce638cc3" xsi:nil="true"/>
    <AppVersion xmlns="6fdd37d2-8c27-4924-b2e6-c1d2ce638cc3" xsi:nil="true"/>
    <Self_Registration_Enabled xmlns="6fdd37d2-8c27-4924-b2e6-c1d2ce638cc3" xsi:nil="true"/>
    <Distribution_Groups xmlns="6fdd37d2-8c27-4924-b2e6-c1d2ce638cc3" xsi:nil="true"/>
    <TeamsChannelId xmlns="6fdd37d2-8c27-4924-b2e6-c1d2ce638cc3" xsi:nil="true"/>
    <Invited_Teachers xmlns="6fdd37d2-8c27-4924-b2e6-c1d2ce638cc3" xsi:nil="true"/>
    <IsNotebookLocked xmlns="6fdd37d2-8c27-4924-b2e6-c1d2ce638cc3" xsi:nil="true"/>
    <Teachers xmlns="6fdd37d2-8c27-4924-b2e6-c1d2ce638cc3">
      <UserInfo>
        <DisplayName/>
        <AccountId xsi:nil="true"/>
        <AccountType/>
      </UserInfo>
    </Teachers>
    <Students xmlns="6fdd37d2-8c27-4924-b2e6-c1d2ce638cc3">
      <UserInfo>
        <DisplayName/>
        <AccountId xsi:nil="true"/>
        <AccountType/>
      </UserInfo>
    </Students>
    <Student_Groups xmlns="6fdd37d2-8c27-4924-b2e6-c1d2ce638cc3">
      <UserInfo>
        <DisplayName/>
        <AccountId xsi:nil="true"/>
        <AccountType/>
      </UserInfo>
    </Student_Groups>
    <DefaultSectionNames xmlns="6fdd37d2-8c27-4924-b2e6-c1d2ce638cc3" xsi:nil="true"/>
    <Is_Collaboration_Space_Locked xmlns="6fdd37d2-8c27-4924-b2e6-c1d2ce638cc3" xsi:nil="true"/>
  </documentManagement>
</p:properties>
</file>

<file path=customXml/itemProps1.xml><?xml version="1.0" encoding="utf-8"?>
<ds:datastoreItem xmlns:ds="http://schemas.openxmlformats.org/officeDocument/2006/customXml" ds:itemID="{C3386158-99F1-46C6-8771-8DDA36791E79}"/>
</file>

<file path=customXml/itemProps2.xml><?xml version="1.0" encoding="utf-8"?>
<ds:datastoreItem xmlns:ds="http://schemas.openxmlformats.org/officeDocument/2006/customXml" ds:itemID="{5918E35A-CBA6-49DF-B69B-57F9F0110122}"/>
</file>

<file path=customXml/itemProps3.xml><?xml version="1.0" encoding="utf-8"?>
<ds:datastoreItem xmlns:ds="http://schemas.openxmlformats.org/officeDocument/2006/customXml" ds:itemID="{67FCB429-268E-45CB-8925-C2B224858051}"/>
</file>

<file path=docProps/app.xml><?xml version="1.0" encoding="utf-8"?>
<Properties xmlns="http://schemas.openxmlformats.org/officeDocument/2006/extended-properties" xmlns:vt="http://schemas.openxmlformats.org/officeDocument/2006/docPropsVTypes">
  <Template/>
  <TotalTime>598</TotalTime>
  <Words>2505</Words>
  <Application>Microsoft Office PowerPoint</Application>
  <PresentationFormat>On-screen Show (16:9)</PresentationFormat>
  <Paragraphs>544</Paragraphs>
  <Slides>38</Slides>
  <Notes>17</Notes>
  <HiddenSlides>1</HiddenSlides>
  <MMClips>0</MMClips>
  <ScaleCrop>false</ScaleCrop>
  <HeadingPairs>
    <vt:vector size="6" baseType="variant">
      <vt:variant>
        <vt:lpstr>Fonts Used</vt:lpstr>
      </vt:variant>
      <vt:variant>
        <vt:i4>25</vt:i4>
      </vt:variant>
      <vt:variant>
        <vt:lpstr>Theme</vt:lpstr>
      </vt:variant>
      <vt:variant>
        <vt:i4>2</vt:i4>
      </vt:variant>
      <vt:variant>
        <vt:lpstr>Slide Titles</vt:lpstr>
      </vt:variant>
      <vt:variant>
        <vt:i4>38</vt:i4>
      </vt:variant>
    </vt:vector>
  </HeadingPairs>
  <TitlesOfParts>
    <vt:vector size="65" baseType="lpstr">
      <vt:lpstr>ＭＳ Ｐゴシック</vt:lpstr>
      <vt:lpstr>ＭＳ Ｐゴシック</vt:lpstr>
      <vt:lpstr>SimSun</vt:lpstr>
      <vt:lpstr>游ゴシック Light</vt:lpstr>
      <vt:lpstr>Aptos</vt:lpstr>
      <vt:lpstr>Arial</vt:lpstr>
      <vt:lpstr>Brush Script MT</vt:lpstr>
      <vt:lpstr>Calibri</vt:lpstr>
      <vt:lpstr>Calibri </vt:lpstr>
      <vt:lpstr>Calibri Light</vt:lpstr>
      <vt:lpstr>Cambria</vt:lpstr>
      <vt:lpstr>Comic Sans MS</vt:lpstr>
      <vt:lpstr>Courier</vt:lpstr>
      <vt:lpstr>Courier New</vt:lpstr>
      <vt:lpstr>Courier10PitchBT-Roman</vt:lpstr>
      <vt:lpstr>Gill Sans MT</vt:lpstr>
      <vt:lpstr>MS Mincho</vt:lpstr>
      <vt:lpstr>Symbol</vt:lpstr>
      <vt:lpstr>Tahoma</vt:lpstr>
      <vt:lpstr>Times New Roman</vt:lpstr>
      <vt:lpstr>Times-Bold</vt:lpstr>
      <vt:lpstr>Times-Roman</vt:lpstr>
      <vt:lpstr>Ubuntu</vt:lpstr>
      <vt:lpstr>Wingdings</vt:lpstr>
      <vt:lpstr>Wingdings 3</vt:lpstr>
      <vt:lpstr>Office Theme</vt:lpstr>
      <vt:lpstr>1_Office Theme</vt:lpstr>
      <vt:lpstr>Computer Networks</vt:lpstr>
      <vt:lpstr>PowerPoint Presentation</vt:lpstr>
      <vt:lpstr>PowerPoint Presentation</vt:lpstr>
      <vt:lpstr>PowerPoint Presentation</vt:lpstr>
      <vt:lpstr>Flow Control vs Congestion Control</vt:lpstr>
      <vt:lpstr>Flow Control vs Congestion Control</vt:lpstr>
      <vt:lpstr>Principles of congestion control</vt:lpstr>
      <vt:lpstr>Causes/costs of congestion: scenario 1 </vt:lpstr>
      <vt:lpstr>Causes/costs of congestion: scenario 2</vt:lpstr>
      <vt:lpstr>Causes/costs of congestion: scenario 2</vt:lpstr>
      <vt:lpstr>Causes/costs of congestion: scenario 2</vt:lpstr>
      <vt:lpstr>Causes/costs of congestion: scenario 2</vt:lpstr>
      <vt:lpstr>Causes/costs of congestion: scenario 2</vt:lpstr>
      <vt:lpstr>Causes/costs of congestion: scenario 2</vt:lpstr>
      <vt:lpstr>Causes/costs of congestion: scenario 3</vt:lpstr>
      <vt:lpstr>Causes/costs of congestion: scenario 3</vt:lpstr>
      <vt:lpstr>Causes/costs of congestion: insights</vt:lpstr>
      <vt:lpstr>Approaches towards congestion control</vt:lpstr>
      <vt:lpstr>Approaches towards congestion control</vt:lpstr>
      <vt:lpstr>PowerPoint Presentation</vt:lpstr>
      <vt:lpstr>PowerPoint Presentation</vt:lpstr>
      <vt:lpstr>TCP congestion control: details</vt:lpstr>
      <vt:lpstr>TCP slow start </vt:lpstr>
      <vt:lpstr>TCP: detecting, reacting to loss</vt:lpstr>
      <vt:lpstr>Consider the below figure. Assuming TCPReno is the protocol experiencing the behavior shown above, answer the following questions. In all cases, you should provide a short discussion justifying your answer. </vt:lpstr>
      <vt:lpstr>PowerPoint Presentation</vt:lpstr>
      <vt:lpstr>TCP: from slow start to congestion avoidance</vt:lpstr>
      <vt:lpstr>Summary: TCP Congestion Control</vt:lpstr>
      <vt:lpstr>TCP throughput</vt:lpstr>
      <vt:lpstr>TCP Futures: TCP over “long, fat pipes”</vt:lpstr>
      <vt:lpstr>A TCP Reno connection operates with the following parameters: MSS is 1000 bytes, RTT is 50 ms, and Packet loss probability (L) is 0.0009. Assuming the standard TCP Reno throughput approximation model, calculate the expected throughput of the connection in: a) Bytes per second b) Mbps</vt:lpstr>
      <vt:lpstr>TCP Fairness</vt:lpstr>
      <vt:lpstr>Why is TCP fair?</vt:lpstr>
      <vt:lpstr>Fairness (more)</vt:lpstr>
      <vt:lpstr>Explicit Congestion Notification (ECN)</vt:lpstr>
      <vt:lpstr>Explicit Congestion Notification (ECN)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 Session-7.pptx</dc:title>
  <dc:creator>hp</dc:creator>
  <cp:lastModifiedBy>Prabhu S</cp:lastModifiedBy>
  <cp:revision>62</cp:revision>
  <dcterms:created xsi:type="dcterms:W3CDTF">2025-01-02T05:25:20Z</dcterms:created>
  <dcterms:modified xsi:type="dcterms:W3CDTF">2026-03-13T07:53:14Z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2025-01-02T00:00:00Z</vt:filetime>
  </property>
  <property fmtid="{D5CDD505-2E9C-101B-9397-08002B2CF9AE}" pid="3" name="Creator">
    <vt:lpwstr>Google</vt:lpwstr>
  </property>
  <property fmtid="{D5CDD505-2E9C-101B-9397-08002B2CF9AE}" pid="4" name="LastSaved">
    <vt:filetime>2025-01-02T00:00:00Z</vt:filetime>
  </property>
  <property fmtid="{D5CDD505-2E9C-101B-9397-08002B2CF9AE}" pid="5" name="ContentTypeId">
    <vt:lpwstr>0x0101006F9002533A2C464CBD7F5B3D09DA59C7</vt:lpwstr>
  </property>
</Properties>
</file>