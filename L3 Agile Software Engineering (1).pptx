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sldIdLst>
    <p:sldId id="279" r:id="rId2"/>
    <p:sldId id="282" r:id="rId3"/>
    <p:sldId id="283" r:id="rId4"/>
    <p:sldId id="284" r:id="rId5"/>
    <p:sldId id="285" r:id="rId6"/>
    <p:sldId id="286" r:id="rId7"/>
    <p:sldId id="287" r:id="rId8"/>
    <p:sldId id="293" r:id="rId9"/>
    <p:sldId id="288" r:id="rId10"/>
    <p:sldId id="289" r:id="rId11"/>
    <p:sldId id="290" r:id="rId12"/>
    <p:sldId id="297" r:id="rId13"/>
    <p:sldId id="292" r:id="rId14"/>
    <p:sldId id="294" r:id="rId15"/>
    <p:sldId id="295" r:id="rId16"/>
    <p:sldId id="29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p:scale>
          <a:sx n="60" d="100"/>
          <a:sy n="60" d="100"/>
        </p:scale>
        <p:origin x="-744"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4794"/>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82D831-27D1-4804-BBE6-E7E773617FD4}" type="datetimeFigureOut">
              <a:rPr lang="en-IN" smtClean="0"/>
              <a:pPr/>
              <a:t>27-02-2014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C9D2F-5FCE-4B4F-80E6-E39EED6BD8E1}" type="slidenum">
              <a:rPr lang="en-IN" smtClean="0"/>
              <a:pPr/>
              <a:t>‹#›</a:t>
            </a:fld>
            <a:endParaRPr lang="en-IN"/>
          </a:p>
        </p:txBody>
      </p:sp>
    </p:spTree>
    <p:extLst>
      <p:ext uri="{BB962C8B-B14F-4D97-AF65-F5344CB8AC3E}">
        <p14:creationId xmlns:p14="http://schemas.microsoft.com/office/powerpoint/2010/main" xmlns="" val="229976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cstate="print"/>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endParaRPr lang="en-US" dirty="0">
              <a:solidFill>
                <a:prstClr val="white"/>
              </a:solidFill>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26" name="Picture 25"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31" name="TextBox 30"/>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5" name="TextBox 14"/>
          <p:cNvSpPr txBox="1"/>
          <p:nvPr userDrawn="1"/>
        </p:nvSpPr>
        <p:spPr>
          <a:xfrm>
            <a:off x="152400" y="56666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extLst>
      <p:ext uri="{BB962C8B-B14F-4D97-AF65-F5344CB8AC3E}">
        <p14:creationId xmlns:p14="http://schemas.microsoft.com/office/powerpoint/2010/main" xmlns=""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a:solidFill>
                  <a:prstClr val="white"/>
                </a:solidFill>
                <a:latin typeface="Arial"/>
                <a:cs typeface="Arial"/>
              </a:rPr>
              <a:t>BITS</a:t>
            </a:r>
            <a:r>
              <a:rPr lang="en-US" sz="2900" spc="-150" dirty="0">
                <a:solidFill>
                  <a:prstClr val="white"/>
                </a:solidFill>
                <a:latin typeface="Arial"/>
                <a:cs typeface="Arial"/>
              </a:rPr>
              <a:t> Pilani</a:t>
            </a: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r>
              <a:rPr lang="en-US" sz="1200" dirty="0">
                <a:solidFill>
                  <a:srgbClr val="FFFFFF"/>
                </a:solidFill>
                <a:latin typeface="Arial"/>
                <a:cs typeface="Arial"/>
              </a:rPr>
              <a:t>Pilani Campus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4"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7"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3"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5"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10"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grpSp>
        <p:nvGrpSpPr>
          <p:cNvPr id="4"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endParaRPr>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DCCD2C9F-C9E6-4259-B717-C697DD84AFFA}" type="datetimeFigureOut">
              <a:rPr lang="en-IN" smtClean="0"/>
              <a:pPr/>
              <a:t>27-02-2014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49E289D-DC59-4E92-9168-68DEA9CBDC1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fld id="{0F2899A1-5BFA-4D14-B690-5DD6CFCAE8DC}" type="datetime1">
              <a:rPr lang="en-IN" smtClean="0">
                <a:solidFill>
                  <a:prstClr val="black">
                    <a:tint val="75000"/>
                  </a:prstClr>
                </a:solidFill>
              </a:rPr>
              <a:pPr/>
              <a:t>27-02-2014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r>
              <a:rPr lang="en-US" smtClean="0">
                <a:solidFill>
                  <a:prstClr val="black">
                    <a:tint val="75000"/>
                  </a:prstClr>
                </a:solidFill>
              </a:rPr>
              <a:t>&lt;Course Code&gt;</a:t>
            </a: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solidFill>
                  <a:prstClr val="black">
                    <a:tint val="75000"/>
                  </a:prstClr>
                </a:solidFill>
              </a:rPr>
              <a:pPr/>
              <a:t>‹#›</a:t>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Course Name : Software Engineering</a:t>
            </a:r>
            <a:endParaRPr lang="en-US" dirty="0"/>
          </a:p>
        </p:txBody>
      </p:sp>
      <p:sp>
        <p:nvSpPr>
          <p:cNvPr id="6" name="Content Placeholder 5"/>
          <p:cNvSpPr>
            <a:spLocks noGrp="1"/>
          </p:cNvSpPr>
          <p:nvPr>
            <p:ph sz="quarter" idx="13"/>
          </p:nvPr>
        </p:nvSpPr>
        <p:spPr>
          <a:xfrm>
            <a:off x="2267744" y="5410200"/>
            <a:ext cx="6266656" cy="533400"/>
          </a:xfrm>
        </p:spPr>
        <p:txBody>
          <a:bodyPr/>
          <a:lstStyle/>
          <a:p>
            <a:r>
              <a:rPr lang="en-US" dirty="0" smtClean="0"/>
              <a:t>T V Rao</a:t>
            </a:r>
          </a:p>
          <a:p>
            <a:r>
              <a:rPr lang="en-US" dirty="0" smtClean="0"/>
              <a:t>Concept of Agility</a:t>
            </a:r>
            <a:endParaRPr lang="en-US" dirty="0"/>
          </a:p>
        </p:txBody>
      </p:sp>
    </p:spTree>
    <p:extLst>
      <p:ext uri="{BB962C8B-B14F-4D97-AF65-F5344CB8AC3E}">
        <p14:creationId xmlns:p14="http://schemas.microsoft.com/office/powerpoint/2010/main" xmlns=""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1567333"/>
            <a:ext cx="8229600" cy="4525963"/>
          </a:xfrm>
        </p:spPr>
        <p:txBody>
          <a:bodyPr>
            <a:normAutofit fontScale="92500" lnSpcReduction="20000"/>
          </a:bodyPr>
          <a:lstStyle/>
          <a:p>
            <a:r>
              <a:rPr lang="en-US" dirty="0" smtClean="0"/>
              <a:t>Because software, like all capital, is embodied knowledge, and because that knowledge is initially dispersed, tacit, latent, and incomplete in large measure, software development is a social learning process. The process is a dialogue in which the knowledge that must become software is brought together and embodied in the software.</a:t>
            </a:r>
          </a:p>
          <a:p>
            <a:endParaRPr lang="en-US" dirty="0" smtClean="0"/>
          </a:p>
          <a:p>
            <a:pPr algn="r">
              <a:buNone/>
            </a:pPr>
            <a:r>
              <a:rPr lang="en-US" dirty="0" smtClean="0"/>
              <a:t>-Howard </a:t>
            </a:r>
            <a:r>
              <a:rPr lang="en-US" dirty="0" err="1" smtClean="0"/>
              <a:t>Baetjer</a:t>
            </a:r>
            <a:r>
              <a:rPr lang="en-US" dirty="0" smtClean="0"/>
              <a:t> (economist)</a:t>
            </a:r>
            <a:endParaRPr lang="en-IN" dirty="0"/>
          </a:p>
        </p:txBody>
      </p:sp>
      <p:sp>
        <p:nvSpPr>
          <p:cNvPr id="2" name="Title 1"/>
          <p:cNvSpPr>
            <a:spLocks noGrp="1"/>
          </p:cNvSpPr>
          <p:nvPr>
            <p:ph type="title" idx="4294967295"/>
          </p:nvPr>
        </p:nvSpPr>
        <p:spPr>
          <a:xfrm>
            <a:off x="0" y="274638"/>
            <a:ext cx="7092280" cy="633412"/>
          </a:xfrm>
        </p:spPr>
        <p:txBody>
          <a:bodyPr>
            <a:normAutofit fontScale="90000"/>
          </a:bodyPr>
          <a:lstStyle/>
          <a:p>
            <a:r>
              <a:rPr lang="en-US" dirty="0" smtClean="0"/>
              <a:t>A </a:t>
            </a:r>
            <a:r>
              <a:rPr lang="en-US" dirty="0" smtClean="0"/>
              <a:t>View on Software Process</a:t>
            </a:r>
            <a:endParaRPr lang="en-I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1567333"/>
            <a:ext cx="8229600" cy="4525963"/>
          </a:xfrm>
        </p:spPr>
        <p:txBody>
          <a:bodyPr>
            <a:normAutofit fontScale="85000" lnSpcReduction="20000"/>
          </a:bodyPr>
          <a:lstStyle/>
          <a:p>
            <a:r>
              <a:rPr lang="en-US" dirty="0" smtClean="0">
                <a:latin typeface="+mj-lt"/>
              </a:rPr>
              <a:t>Rapid development and delivery is now often the most important requirement for software systems</a:t>
            </a:r>
          </a:p>
          <a:p>
            <a:pPr lvl="1"/>
            <a:r>
              <a:rPr lang="en-US" dirty="0" smtClean="0">
                <a:latin typeface="+mj-lt"/>
              </a:rPr>
              <a:t>Businesses operate in a fast –changing requirement and it is practically impossible to produce a set of stable software requirements</a:t>
            </a:r>
          </a:p>
          <a:p>
            <a:pPr lvl="1"/>
            <a:r>
              <a:rPr lang="en-US" dirty="0" smtClean="0">
                <a:latin typeface="+mj-lt"/>
              </a:rPr>
              <a:t>Software has to evolve quickly to reflect changing business needs.</a:t>
            </a:r>
          </a:p>
          <a:p>
            <a:r>
              <a:rPr lang="en-US" dirty="0" smtClean="0">
                <a:latin typeface="+mj-lt"/>
              </a:rPr>
              <a:t>Rapid software development</a:t>
            </a:r>
          </a:p>
          <a:p>
            <a:pPr lvl="1"/>
            <a:r>
              <a:rPr lang="en-US" dirty="0" smtClean="0">
                <a:latin typeface="+mj-lt"/>
              </a:rPr>
              <a:t>Specification, design and implementation are inter-leaved</a:t>
            </a:r>
          </a:p>
          <a:p>
            <a:pPr lvl="1"/>
            <a:r>
              <a:rPr lang="en-US" dirty="0" smtClean="0">
                <a:latin typeface="+mj-lt"/>
              </a:rPr>
              <a:t>System is developed as a series of versions with stakeholders involved in version evaluation</a:t>
            </a:r>
          </a:p>
          <a:p>
            <a:pPr lvl="1"/>
            <a:r>
              <a:rPr lang="en-US" dirty="0" smtClean="0">
                <a:latin typeface="+mj-lt"/>
              </a:rPr>
              <a:t>User interfaces are often developed using an IDE and graphical toolset.</a:t>
            </a:r>
          </a:p>
        </p:txBody>
      </p:sp>
      <p:sp>
        <p:nvSpPr>
          <p:cNvPr id="2" name="Title 1"/>
          <p:cNvSpPr>
            <a:spLocks noGrp="1"/>
          </p:cNvSpPr>
          <p:nvPr>
            <p:ph type="title" idx="4294967295"/>
          </p:nvPr>
        </p:nvSpPr>
        <p:spPr>
          <a:xfrm>
            <a:off x="0" y="345728"/>
            <a:ext cx="6012160" cy="635000"/>
          </a:xfrm>
        </p:spPr>
        <p:txBody>
          <a:bodyPr>
            <a:normAutofit fontScale="90000"/>
          </a:bodyPr>
          <a:lstStyle/>
          <a:p>
            <a:r>
              <a:rPr lang="en-US" dirty="0" smtClean="0"/>
              <a:t>Rapid software development</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6339" name="Rectangle 3"/>
          <p:cNvSpPr>
            <a:spLocks noGrp="1" noChangeArrowheads="1"/>
          </p:cNvSpPr>
          <p:nvPr>
            <p:ph idx="4294967295"/>
          </p:nvPr>
        </p:nvSpPr>
        <p:spPr>
          <a:xfrm>
            <a:off x="304800" y="1493837"/>
            <a:ext cx="8229600" cy="4525963"/>
          </a:xfrm>
        </p:spPr>
        <p:txBody>
          <a:bodyPr/>
          <a:lstStyle/>
          <a:p>
            <a:r>
              <a:rPr lang="en-US" sz="2400" dirty="0"/>
              <a:t>Dissatisfaction with the overheads involved in</a:t>
            </a:r>
            <a:r>
              <a:rPr lang="en-US" sz="2400" dirty="0" smtClean="0"/>
              <a:t> software design </a:t>
            </a:r>
            <a:r>
              <a:rPr lang="en-US" sz="2400" dirty="0"/>
              <a:t>methods</a:t>
            </a:r>
            <a:r>
              <a:rPr lang="en-US" sz="2400" dirty="0" smtClean="0"/>
              <a:t> of the 1980s and 1990s led </a:t>
            </a:r>
            <a:r>
              <a:rPr lang="en-US" sz="2400" dirty="0"/>
              <a:t>to the creation of agile methods. These methods:</a:t>
            </a:r>
          </a:p>
          <a:p>
            <a:pPr lvl="1"/>
            <a:r>
              <a:rPr lang="en-US" sz="2000" dirty="0"/>
              <a:t>Focus on the code rather than the </a:t>
            </a:r>
            <a:r>
              <a:rPr lang="en-US" sz="2000" dirty="0" smtClean="0"/>
              <a:t>design</a:t>
            </a:r>
          </a:p>
          <a:p>
            <a:pPr lvl="1"/>
            <a:r>
              <a:rPr lang="en-US" sz="2000" dirty="0"/>
              <a:t>Are based on an iterative approach to software </a:t>
            </a:r>
            <a:r>
              <a:rPr lang="en-US" sz="2000" dirty="0" smtClean="0"/>
              <a:t>development</a:t>
            </a:r>
          </a:p>
          <a:p>
            <a:pPr lvl="1"/>
            <a:r>
              <a:rPr lang="en-US" sz="2000" dirty="0"/>
              <a:t>Are intended to deliver working software quickly and evolve this quickly to meet changing requirements</a:t>
            </a:r>
            <a:r>
              <a:rPr lang="en-US" sz="2000" dirty="0" smtClean="0"/>
              <a:t>.</a:t>
            </a:r>
          </a:p>
          <a:p>
            <a:pPr lvl="1"/>
            <a:endParaRPr lang="en-US" sz="2000" dirty="0" smtClean="0"/>
          </a:p>
          <a:p>
            <a:r>
              <a:rPr lang="en-US" sz="2400" dirty="0" smtClean="0"/>
              <a:t>The aim of agile methods is to reduce overheads in the software process (e.g. by limiting documentation) and to be able to respond quickly to changing requirements without excessive rework.</a:t>
            </a:r>
            <a:endParaRPr lang="en-US" sz="2400" dirty="0"/>
          </a:p>
        </p:txBody>
      </p:sp>
      <p:sp>
        <p:nvSpPr>
          <p:cNvPr id="1166338" name="Rectangle 2"/>
          <p:cNvSpPr>
            <a:spLocks noGrp="1" noChangeArrowheads="1"/>
          </p:cNvSpPr>
          <p:nvPr>
            <p:ph type="title" idx="4294967295"/>
          </p:nvPr>
        </p:nvSpPr>
        <p:spPr>
          <a:xfrm>
            <a:off x="0" y="273720"/>
            <a:ext cx="3563888" cy="635000"/>
          </a:xfrm>
        </p:spPr>
        <p:txBody>
          <a:bodyPr>
            <a:normAutofit fontScale="90000"/>
          </a:bodyPr>
          <a:lstStyle/>
          <a:p>
            <a:r>
              <a:rPr lang="en-US" dirty="0"/>
              <a:t>Agile </a:t>
            </a:r>
            <a:r>
              <a:rPr lang="en-US" dirty="0" smtClean="0"/>
              <a:t>methods</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Rot="1" noChangeArrowheads="1"/>
          </p:cNvSpPr>
          <p:nvPr>
            <p:ph type="title" idx="4294967295"/>
          </p:nvPr>
        </p:nvSpPr>
        <p:spPr>
          <a:xfrm>
            <a:off x="107504" y="188913"/>
            <a:ext cx="5904656" cy="939800"/>
          </a:xfrm>
        </p:spPr>
        <p:txBody>
          <a:bodyPr>
            <a:normAutofit fontScale="90000"/>
          </a:bodyPr>
          <a:lstStyle/>
          <a:p>
            <a:pPr>
              <a:lnSpc>
                <a:spcPts val="3600"/>
              </a:lnSpc>
            </a:pPr>
            <a:r>
              <a:rPr lang="en-US" dirty="0"/>
              <a:t>The Manifesto for </a:t>
            </a:r>
            <a:br>
              <a:rPr lang="en-US" dirty="0"/>
            </a:br>
            <a:r>
              <a:rPr lang="en-US" dirty="0"/>
              <a:t>Agile Software Development</a:t>
            </a:r>
          </a:p>
        </p:txBody>
      </p:sp>
      <p:sp>
        <p:nvSpPr>
          <p:cNvPr id="829443" name="Text Box 3"/>
          <p:cNvSpPr txBox="1">
            <a:spLocks noChangeArrowheads="1"/>
          </p:cNvSpPr>
          <p:nvPr/>
        </p:nvSpPr>
        <p:spPr bwMode="auto">
          <a:xfrm>
            <a:off x="683568" y="1628800"/>
            <a:ext cx="7848871" cy="3877985"/>
          </a:xfrm>
          <a:prstGeom prst="rect">
            <a:avLst/>
          </a:prstGeom>
          <a:noFill/>
          <a:ln w="12700">
            <a:noFill/>
            <a:miter lim="800000"/>
            <a:headEnd/>
            <a:tailEnd/>
          </a:ln>
          <a:effectLst/>
        </p:spPr>
        <p:txBody>
          <a:bodyPr wrap="square">
            <a:spAutoFit/>
          </a:bodyPr>
          <a:lstStyle/>
          <a:p>
            <a:pPr>
              <a:spcBef>
                <a:spcPts val="600"/>
              </a:spcBef>
              <a:spcAft>
                <a:spcPts val="1200"/>
              </a:spcAft>
            </a:pPr>
            <a:r>
              <a:rPr lang="en-US" sz="2400" dirty="0">
                <a:ea typeface="+mj-ea"/>
                <a:cs typeface="+mj-cs"/>
              </a:rPr>
              <a:t>“We are uncovering better ways of developing software by doing it and helping others do it.  Through this work we have come to value: </a:t>
            </a:r>
          </a:p>
          <a:p>
            <a:pPr lvl="1">
              <a:spcBef>
                <a:spcPts val="300"/>
              </a:spcBef>
              <a:buFontTx/>
              <a:buChar char="•"/>
            </a:pPr>
            <a:r>
              <a:rPr lang="en-US" sz="2400" dirty="0">
                <a:ea typeface="+mj-ea"/>
                <a:cs typeface="+mj-cs"/>
              </a:rPr>
              <a:t>Individuals and interactions </a:t>
            </a:r>
            <a:r>
              <a:rPr lang="en-US" dirty="0">
                <a:ea typeface="+mj-ea"/>
                <a:cs typeface="+mj-cs"/>
              </a:rPr>
              <a:t>over</a:t>
            </a:r>
            <a:r>
              <a:rPr lang="en-US" sz="2400" dirty="0">
                <a:ea typeface="+mj-ea"/>
                <a:cs typeface="+mj-cs"/>
              </a:rPr>
              <a:t> processes and tools </a:t>
            </a:r>
          </a:p>
          <a:p>
            <a:pPr lvl="1">
              <a:spcBef>
                <a:spcPts val="300"/>
              </a:spcBef>
              <a:buFontTx/>
              <a:buChar char="•"/>
            </a:pPr>
            <a:r>
              <a:rPr lang="en-US" sz="2400" dirty="0">
                <a:ea typeface="+mj-ea"/>
                <a:cs typeface="+mj-cs"/>
              </a:rPr>
              <a:t>Working software </a:t>
            </a:r>
            <a:r>
              <a:rPr lang="en-US" dirty="0">
                <a:ea typeface="+mj-ea"/>
                <a:cs typeface="+mj-cs"/>
              </a:rPr>
              <a:t>over</a:t>
            </a:r>
            <a:r>
              <a:rPr lang="en-US" sz="2400" dirty="0">
                <a:ea typeface="+mj-ea"/>
                <a:cs typeface="+mj-cs"/>
              </a:rPr>
              <a:t> comprehensive documentation </a:t>
            </a:r>
          </a:p>
          <a:p>
            <a:pPr lvl="1">
              <a:spcBef>
                <a:spcPts val="300"/>
              </a:spcBef>
              <a:buFontTx/>
              <a:buChar char="•"/>
            </a:pPr>
            <a:r>
              <a:rPr lang="en-US" sz="2400" dirty="0">
                <a:ea typeface="+mj-ea"/>
                <a:cs typeface="+mj-cs"/>
              </a:rPr>
              <a:t>Customer collaboration </a:t>
            </a:r>
            <a:r>
              <a:rPr lang="en-US" dirty="0">
                <a:ea typeface="+mj-ea"/>
                <a:cs typeface="+mj-cs"/>
              </a:rPr>
              <a:t>over</a:t>
            </a:r>
            <a:r>
              <a:rPr lang="en-US" sz="2400" dirty="0">
                <a:ea typeface="+mj-ea"/>
                <a:cs typeface="+mj-cs"/>
              </a:rPr>
              <a:t> contract negotiation </a:t>
            </a:r>
          </a:p>
          <a:p>
            <a:pPr lvl="1">
              <a:spcBef>
                <a:spcPts val="300"/>
              </a:spcBef>
              <a:buFontTx/>
              <a:buChar char="•"/>
            </a:pPr>
            <a:r>
              <a:rPr lang="en-US" sz="2400" dirty="0">
                <a:ea typeface="+mj-ea"/>
                <a:cs typeface="+mj-cs"/>
              </a:rPr>
              <a:t>Responding to change </a:t>
            </a:r>
            <a:r>
              <a:rPr lang="en-US" dirty="0">
                <a:ea typeface="+mj-ea"/>
                <a:cs typeface="+mj-cs"/>
              </a:rPr>
              <a:t>over</a:t>
            </a:r>
            <a:r>
              <a:rPr lang="en-US" sz="2400" dirty="0">
                <a:ea typeface="+mj-ea"/>
                <a:cs typeface="+mj-cs"/>
              </a:rPr>
              <a:t> following a plan </a:t>
            </a:r>
          </a:p>
          <a:p>
            <a:pPr>
              <a:spcBef>
                <a:spcPts val="1200"/>
              </a:spcBef>
            </a:pPr>
            <a:r>
              <a:rPr lang="en-US" sz="2400" dirty="0">
                <a:ea typeface="+mj-ea"/>
                <a:cs typeface="+mj-cs"/>
              </a:rPr>
              <a:t>That is, while there is value in the items on the right, we value the items on the left more.”</a:t>
            </a:r>
          </a:p>
        </p:txBody>
      </p:sp>
      <p:sp>
        <p:nvSpPr>
          <p:cNvPr id="829444" name="Text Box 4"/>
          <p:cNvSpPr txBox="1">
            <a:spLocks noChangeArrowheads="1"/>
          </p:cNvSpPr>
          <p:nvPr/>
        </p:nvSpPr>
        <p:spPr bwMode="auto">
          <a:xfrm>
            <a:off x="5643944" y="5373216"/>
            <a:ext cx="2024400" cy="461665"/>
          </a:xfrm>
          <a:prstGeom prst="rect">
            <a:avLst/>
          </a:prstGeom>
          <a:noFill/>
          <a:ln w="12700">
            <a:noFill/>
            <a:miter lim="800000"/>
            <a:headEnd/>
            <a:tailEnd/>
          </a:ln>
          <a:effectLst/>
        </p:spPr>
        <p:txBody>
          <a:bodyPr wrap="none">
            <a:spAutoFit/>
          </a:bodyPr>
          <a:lstStyle/>
          <a:p>
            <a:r>
              <a:rPr lang="en-US" sz="2400" dirty="0">
                <a:ea typeface="+mj-ea"/>
                <a:cs typeface="+mj-cs"/>
              </a:rPr>
              <a:t>Kent Beck et al</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7" name="Rectangle 3"/>
          <p:cNvSpPr>
            <a:spLocks noGrp="1" noRot="1" noChangeArrowheads="1"/>
          </p:cNvSpPr>
          <p:nvPr>
            <p:ph idx="4294967295"/>
          </p:nvPr>
        </p:nvSpPr>
        <p:spPr>
          <a:xfrm>
            <a:off x="304800" y="1493837"/>
            <a:ext cx="8229600" cy="4525963"/>
          </a:xfrm>
        </p:spPr>
        <p:txBody>
          <a:bodyPr>
            <a:normAutofit fontScale="92500" lnSpcReduction="10000"/>
          </a:bodyPr>
          <a:lstStyle/>
          <a:p>
            <a:r>
              <a:rPr lang="en-US" dirty="0"/>
              <a:t>Effective (rapid and adaptive) response to change</a:t>
            </a:r>
          </a:p>
          <a:p>
            <a:r>
              <a:rPr lang="en-US" dirty="0"/>
              <a:t>Effective communication among all stakeholders</a:t>
            </a:r>
          </a:p>
          <a:p>
            <a:r>
              <a:rPr lang="en-US" dirty="0"/>
              <a:t>Drawing the customer onto the team</a:t>
            </a:r>
          </a:p>
          <a:p>
            <a:r>
              <a:rPr lang="en-US" dirty="0"/>
              <a:t>Organizing a team so that it is in control of the work performed</a:t>
            </a:r>
          </a:p>
          <a:p>
            <a:pPr>
              <a:spcBef>
                <a:spcPts val="1200"/>
              </a:spcBef>
              <a:spcAft>
                <a:spcPts val="1200"/>
              </a:spcAft>
              <a:buFont typeface="Wingdings" pitchFamily="2" charset="2"/>
              <a:buNone/>
            </a:pPr>
            <a:r>
              <a:rPr lang="en-US" i="1" dirty="0"/>
              <a:t>Yielding …</a:t>
            </a:r>
            <a:endParaRPr lang="en-US" dirty="0"/>
          </a:p>
          <a:p>
            <a:r>
              <a:rPr lang="en-US" dirty="0"/>
              <a:t>Rapid, incremental delivery of software</a:t>
            </a:r>
          </a:p>
        </p:txBody>
      </p:sp>
      <p:sp>
        <p:nvSpPr>
          <p:cNvPr id="830466" name="Rectangle 2"/>
          <p:cNvSpPr>
            <a:spLocks noGrp="1" noRot="1" noChangeArrowheads="1"/>
          </p:cNvSpPr>
          <p:nvPr>
            <p:ph type="title" idx="4294967295"/>
          </p:nvPr>
        </p:nvSpPr>
        <p:spPr>
          <a:xfrm>
            <a:off x="107504" y="274737"/>
            <a:ext cx="3907804" cy="561975"/>
          </a:xfrm>
        </p:spPr>
        <p:txBody>
          <a:bodyPr>
            <a:normAutofit fontScale="90000"/>
          </a:bodyPr>
          <a:lstStyle/>
          <a:p>
            <a:r>
              <a:rPr lang="en-US" dirty="0"/>
              <a:t>What is “Agility”?</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1" name="Rectangle 3"/>
          <p:cNvSpPr>
            <a:spLocks noGrp="1" noRot="1" noChangeArrowheads="1"/>
          </p:cNvSpPr>
          <p:nvPr>
            <p:ph idx="4294967295"/>
          </p:nvPr>
        </p:nvSpPr>
        <p:spPr>
          <a:xfrm>
            <a:off x="304800" y="1493837"/>
            <a:ext cx="8229600" cy="4525963"/>
          </a:xfrm>
        </p:spPr>
        <p:txBody>
          <a:bodyPr/>
          <a:lstStyle/>
          <a:p>
            <a:r>
              <a:rPr lang="en-US" dirty="0"/>
              <a:t>Is driven by customer descriptions of what is required (scenarios)</a:t>
            </a:r>
          </a:p>
          <a:p>
            <a:r>
              <a:rPr lang="en-US" dirty="0"/>
              <a:t>Recognizes that plans are short-lived</a:t>
            </a:r>
          </a:p>
          <a:p>
            <a:r>
              <a:rPr lang="en-US" dirty="0"/>
              <a:t>Develops software iteratively with a heavy emphasis on construction activities</a:t>
            </a:r>
          </a:p>
          <a:p>
            <a:r>
              <a:rPr lang="en-US" dirty="0"/>
              <a:t>Delivers multiple ‘software increments’</a:t>
            </a:r>
          </a:p>
          <a:p>
            <a:r>
              <a:rPr lang="en-US" dirty="0"/>
              <a:t>Adapts as changes occur</a:t>
            </a:r>
          </a:p>
        </p:txBody>
      </p:sp>
      <p:sp>
        <p:nvSpPr>
          <p:cNvPr id="831490" name="Rectangle 2"/>
          <p:cNvSpPr>
            <a:spLocks noGrp="1" noRot="1" noChangeArrowheads="1"/>
          </p:cNvSpPr>
          <p:nvPr>
            <p:ph type="title" idx="4294967295"/>
          </p:nvPr>
        </p:nvSpPr>
        <p:spPr>
          <a:xfrm>
            <a:off x="107504" y="274638"/>
            <a:ext cx="3623518" cy="633412"/>
          </a:xfrm>
        </p:spPr>
        <p:txBody>
          <a:bodyPr>
            <a:normAutofit fontScale="90000"/>
          </a:bodyPr>
          <a:lstStyle/>
          <a:p>
            <a:r>
              <a:rPr lang="en-US" dirty="0"/>
              <a:t>An Agile Process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a:spLocks noGrp="1"/>
          </p:cNvSpPr>
          <p:nvPr>
            <p:ph idx="4294967295"/>
          </p:nvPr>
        </p:nvSpPr>
        <p:spPr>
          <a:xfrm>
            <a:off x="304800" y="1493837"/>
            <a:ext cx="8229600" cy="4525963"/>
          </a:xfrm>
        </p:spPr>
        <p:txBody>
          <a:bodyPr>
            <a:normAutofit fontScale="85000" lnSpcReduction="20000"/>
          </a:bodyPr>
          <a:lstStyle/>
          <a:p>
            <a:pPr>
              <a:spcAft>
                <a:spcPts val="600"/>
              </a:spcAft>
            </a:pPr>
            <a:r>
              <a:rPr lang="en-US" dirty="0" smtClean="0">
                <a:latin typeface="+mn-lt"/>
              </a:rPr>
              <a:t>Plan-driven development</a:t>
            </a:r>
          </a:p>
          <a:p>
            <a:pPr lvl="1">
              <a:spcAft>
                <a:spcPts val="600"/>
              </a:spcAft>
            </a:pPr>
            <a:r>
              <a:rPr lang="en-US" dirty="0" smtClean="0">
                <a:latin typeface="+mn-lt"/>
              </a:rPr>
              <a:t>A plan-driven approach to software engineering is based around separate development stages with the outputs to be produced at each of these stages planned in advance.</a:t>
            </a:r>
          </a:p>
          <a:p>
            <a:pPr lvl="1">
              <a:spcAft>
                <a:spcPts val="600"/>
              </a:spcAft>
            </a:pPr>
            <a:r>
              <a:rPr lang="en-US" dirty="0" smtClean="0">
                <a:latin typeface="+mn-lt"/>
              </a:rPr>
              <a:t>Not necessarily waterfall model – plan-driven, incremental development is possible</a:t>
            </a:r>
          </a:p>
          <a:p>
            <a:pPr lvl="1">
              <a:spcAft>
                <a:spcPts val="600"/>
              </a:spcAft>
            </a:pPr>
            <a:r>
              <a:rPr lang="en-US" dirty="0" smtClean="0">
                <a:latin typeface="+mn-lt"/>
              </a:rPr>
              <a:t>Iteration occurs within activities. </a:t>
            </a:r>
          </a:p>
          <a:p>
            <a:pPr>
              <a:spcAft>
                <a:spcPts val="600"/>
              </a:spcAft>
            </a:pPr>
            <a:r>
              <a:rPr lang="en-US" dirty="0" smtClean="0">
                <a:latin typeface="+mn-lt"/>
              </a:rPr>
              <a:t>Agile development</a:t>
            </a:r>
          </a:p>
          <a:p>
            <a:pPr lvl="1">
              <a:spcAft>
                <a:spcPts val="600"/>
              </a:spcAft>
            </a:pPr>
            <a:r>
              <a:rPr lang="en-US" dirty="0" smtClean="0">
                <a:latin typeface="+mn-lt"/>
              </a:rPr>
              <a:t>Specification, design, implementation and testing are inter-leaved and the outputs from the development process are decided through a process of negotiation during the software development process.</a:t>
            </a:r>
            <a:endParaRPr lang="en-US" dirty="0">
              <a:latin typeface="+mn-lt"/>
            </a:endParaRPr>
          </a:p>
        </p:txBody>
      </p:sp>
      <p:sp>
        <p:nvSpPr>
          <p:cNvPr id="2" name="Title 1"/>
          <p:cNvSpPr>
            <a:spLocks noGrp="1"/>
          </p:cNvSpPr>
          <p:nvPr>
            <p:ph type="title" idx="4294967295"/>
          </p:nvPr>
        </p:nvSpPr>
        <p:spPr>
          <a:xfrm>
            <a:off x="0" y="202407"/>
            <a:ext cx="4211960" cy="922337"/>
          </a:xfrm>
        </p:spPr>
        <p:txBody>
          <a:bodyPr>
            <a:normAutofit/>
          </a:bodyPr>
          <a:lstStyle/>
          <a:p>
            <a:pPr>
              <a:lnSpc>
                <a:spcPts val="3200"/>
              </a:lnSpc>
            </a:pPr>
            <a:r>
              <a:rPr lang="en-US" dirty="0" smtClean="0">
                <a:latin typeface="+mj-lt"/>
              </a:rPr>
              <a:t>Plan-driven versus Agile Development</a:t>
            </a:r>
            <a:endParaRPr lang="en-IN" dirty="0">
              <a:latin typeface="+mj-l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1" name="Rectangle 3"/>
          <p:cNvSpPr>
            <a:spLocks noGrp="1" noRot="1" noChangeArrowheads="1"/>
          </p:cNvSpPr>
          <p:nvPr>
            <p:ph idx="4294967295"/>
          </p:nvPr>
        </p:nvSpPr>
        <p:spPr>
          <a:xfrm>
            <a:off x="304800" y="1412776"/>
            <a:ext cx="8229600" cy="4095403"/>
          </a:xfrm>
        </p:spPr>
        <p:txBody>
          <a:bodyPr>
            <a:noAutofit/>
          </a:bodyPr>
          <a:lstStyle/>
          <a:p>
            <a:r>
              <a:rPr lang="en-US" sz="2200" dirty="0" smtClean="0">
                <a:latin typeface="+mn-lt"/>
              </a:rPr>
              <a:t>Our highest priority is to satisfy the customer through early and continuous delivery of valuable software</a:t>
            </a:r>
            <a:endParaRPr lang="en-US" sz="2200" dirty="0">
              <a:latin typeface="+mn-lt"/>
            </a:endParaRPr>
          </a:p>
          <a:p>
            <a:r>
              <a:rPr lang="en-US" sz="2200" dirty="0" smtClean="0">
                <a:latin typeface="+mn-lt"/>
              </a:rPr>
              <a:t>Welcome changing requirements, even late in development. Agile processes harness change for the customer’s competitive advantage</a:t>
            </a:r>
            <a:endParaRPr lang="en-US" sz="2200" dirty="0">
              <a:latin typeface="+mn-lt"/>
            </a:endParaRPr>
          </a:p>
          <a:p>
            <a:r>
              <a:rPr lang="en-US" sz="2200" dirty="0" smtClean="0">
                <a:latin typeface="+mn-lt"/>
              </a:rPr>
              <a:t>Deliver working software frequently, from a couple of weeks to a couple of months, with a preference to the shorter timescale.</a:t>
            </a:r>
            <a:endParaRPr lang="en-US" sz="2200" dirty="0">
              <a:latin typeface="+mn-lt"/>
            </a:endParaRPr>
          </a:p>
          <a:p>
            <a:r>
              <a:rPr lang="en-US" sz="2200" dirty="0" smtClean="0">
                <a:latin typeface="+mn-lt"/>
              </a:rPr>
              <a:t>Business people and developers must work together daily throughout the project. </a:t>
            </a:r>
          </a:p>
          <a:p>
            <a:r>
              <a:rPr lang="en-US" sz="2200" dirty="0" smtClean="0">
                <a:latin typeface="+mn-lt"/>
              </a:rPr>
              <a:t>Build projects around motivated individuals. Give them the environment and support they need, and trust them to get the job done.</a:t>
            </a:r>
            <a:endParaRPr lang="en-US" sz="2200" dirty="0">
              <a:latin typeface="+mn-lt"/>
            </a:endParaRPr>
          </a:p>
          <a:p>
            <a:r>
              <a:rPr lang="en-US" sz="2200" dirty="0" smtClean="0">
                <a:latin typeface="+mn-lt"/>
              </a:rPr>
              <a:t>The most efficient and effective method of conveying information to and within a development team is face-to-face conversation.</a:t>
            </a:r>
            <a:endParaRPr lang="en-US" sz="2200" dirty="0">
              <a:latin typeface="+mn-lt"/>
            </a:endParaRPr>
          </a:p>
        </p:txBody>
      </p:sp>
      <p:sp>
        <p:nvSpPr>
          <p:cNvPr id="831490" name="Rectangle 2"/>
          <p:cNvSpPr>
            <a:spLocks noGrp="1" noRot="1" noChangeArrowheads="1"/>
          </p:cNvSpPr>
          <p:nvPr>
            <p:ph type="title" idx="4294967295"/>
          </p:nvPr>
        </p:nvSpPr>
        <p:spPr>
          <a:xfrm>
            <a:off x="0" y="332656"/>
            <a:ext cx="4883150" cy="519113"/>
          </a:xfrm>
        </p:spPr>
        <p:txBody>
          <a:bodyPr>
            <a:normAutofit fontScale="90000"/>
          </a:bodyPr>
          <a:lstStyle/>
          <a:p>
            <a:r>
              <a:rPr lang="en-US" dirty="0" smtClean="0"/>
              <a:t>Agility Principles</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1" name="Rectangle 3"/>
          <p:cNvSpPr>
            <a:spLocks noGrp="1" noRot="1" noChangeArrowheads="1"/>
          </p:cNvSpPr>
          <p:nvPr>
            <p:ph idx="4294967295"/>
          </p:nvPr>
        </p:nvSpPr>
        <p:spPr>
          <a:xfrm>
            <a:off x="304800" y="1493837"/>
            <a:ext cx="8229600" cy="4525963"/>
          </a:xfrm>
        </p:spPr>
        <p:txBody>
          <a:bodyPr>
            <a:normAutofit fontScale="92500"/>
          </a:bodyPr>
          <a:lstStyle/>
          <a:p>
            <a:r>
              <a:rPr lang="en-US" sz="2400" dirty="0" smtClean="0">
                <a:latin typeface="+mj-lt"/>
              </a:rPr>
              <a:t>Working software is the primary measure of progress.</a:t>
            </a:r>
            <a:endParaRPr lang="en-US" sz="2400" dirty="0">
              <a:latin typeface="+mj-lt"/>
            </a:endParaRPr>
          </a:p>
          <a:p>
            <a:r>
              <a:rPr lang="en-US" sz="2400" dirty="0" smtClean="0">
                <a:latin typeface="+mj-lt"/>
              </a:rPr>
              <a:t>Agile processes promote sustainable development. The sponsors, developers, and users should be able to maintain a constant pace indefinitely.</a:t>
            </a:r>
            <a:endParaRPr lang="en-US" sz="2400" dirty="0">
              <a:latin typeface="+mj-lt"/>
            </a:endParaRPr>
          </a:p>
          <a:p>
            <a:r>
              <a:rPr lang="en-US" sz="2400" dirty="0" smtClean="0">
                <a:latin typeface="+mj-lt"/>
              </a:rPr>
              <a:t>Continuous attention to technical excellence and good design enhances agility.</a:t>
            </a:r>
          </a:p>
          <a:p>
            <a:r>
              <a:rPr lang="en-US" sz="2400" dirty="0" smtClean="0">
                <a:latin typeface="+mj-lt"/>
              </a:rPr>
              <a:t>Simplicity – the art of maximizing the amount of work not done – is essential.</a:t>
            </a:r>
          </a:p>
          <a:p>
            <a:r>
              <a:rPr lang="en-US" sz="2400" dirty="0" smtClean="0">
                <a:latin typeface="+mj-lt"/>
              </a:rPr>
              <a:t>The best architectures, requirements, and designs emerge from self-organizing teams.</a:t>
            </a:r>
          </a:p>
          <a:p>
            <a:r>
              <a:rPr lang="en-US" sz="2400" dirty="0" smtClean="0">
                <a:latin typeface="+mj-lt"/>
              </a:rPr>
              <a:t>At regular intervals, the team reflects on how to become more effective, then tunes and adjusts its behavior accordingly.</a:t>
            </a:r>
            <a:endParaRPr lang="en-US" sz="2400" dirty="0">
              <a:latin typeface="+mj-lt"/>
            </a:endParaRPr>
          </a:p>
        </p:txBody>
      </p:sp>
      <p:sp>
        <p:nvSpPr>
          <p:cNvPr id="831490" name="Rectangle 2"/>
          <p:cNvSpPr>
            <a:spLocks noGrp="1" noRot="1" noChangeArrowheads="1"/>
          </p:cNvSpPr>
          <p:nvPr>
            <p:ph type="title" idx="4294967295"/>
          </p:nvPr>
        </p:nvSpPr>
        <p:spPr>
          <a:xfrm>
            <a:off x="0" y="332656"/>
            <a:ext cx="4883150" cy="606425"/>
          </a:xfrm>
        </p:spPr>
        <p:txBody>
          <a:bodyPr vert="horz" lIns="91440" tIns="45720" rIns="91440" bIns="45720" rtlCol="0" anchor="ctr">
            <a:normAutofit fontScale="90000"/>
          </a:bodyPr>
          <a:lstStyle/>
          <a:p>
            <a:r>
              <a:rPr lang="en-US" dirty="0"/>
              <a:t>Agility Principles </a:t>
            </a:r>
            <a:r>
              <a:rPr lang="en-US" sz="2200" dirty="0"/>
              <a:t>(</a:t>
            </a:r>
            <a:r>
              <a:rPr lang="en-US" sz="2200" dirty="0" err="1"/>
              <a:t>contd</a:t>
            </a:r>
            <a:r>
              <a:rPr lang="en-US" sz="2200" dirty="0"/>
              <a:t>)</a:t>
            </a:r>
            <a:endParaRPr lang="en-US" sz="40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1" name="Rectangle 3"/>
          <p:cNvSpPr>
            <a:spLocks noGrp="1" noRot="1" noChangeArrowheads="1"/>
          </p:cNvSpPr>
          <p:nvPr>
            <p:ph idx="4294967295"/>
          </p:nvPr>
        </p:nvSpPr>
        <p:spPr>
          <a:xfrm>
            <a:off x="304800" y="1493837"/>
            <a:ext cx="8229600" cy="4525963"/>
          </a:xfrm>
        </p:spPr>
        <p:txBody>
          <a:bodyPr>
            <a:noAutofit/>
          </a:bodyPr>
          <a:lstStyle/>
          <a:p>
            <a:r>
              <a:rPr lang="en-US" sz="2400" dirty="0" smtClean="0"/>
              <a:t>The process molds to the needs of the people and team, not the other way around.</a:t>
            </a:r>
            <a:endParaRPr lang="en-US" sz="2400" dirty="0"/>
          </a:p>
          <a:p>
            <a:r>
              <a:rPr lang="en-US" sz="2400" dirty="0" smtClean="0"/>
              <a:t>Some key traits must exist among the people on an agile team</a:t>
            </a:r>
            <a:endParaRPr lang="en-US" sz="2400" dirty="0"/>
          </a:p>
          <a:p>
            <a:pPr lvl="1"/>
            <a:r>
              <a:rPr lang="en-US" sz="2200" dirty="0" smtClean="0"/>
              <a:t>Competence</a:t>
            </a:r>
          </a:p>
          <a:p>
            <a:pPr lvl="1"/>
            <a:r>
              <a:rPr lang="en-US" sz="2200" dirty="0" smtClean="0"/>
              <a:t>Common focus</a:t>
            </a:r>
          </a:p>
          <a:p>
            <a:pPr lvl="1"/>
            <a:r>
              <a:rPr lang="en-US" sz="2200" dirty="0" smtClean="0"/>
              <a:t>Collaboration</a:t>
            </a:r>
          </a:p>
          <a:p>
            <a:pPr lvl="1"/>
            <a:r>
              <a:rPr lang="en-US" sz="2200" dirty="0" smtClean="0"/>
              <a:t>Decision-making ability</a:t>
            </a:r>
          </a:p>
          <a:p>
            <a:pPr lvl="1"/>
            <a:r>
              <a:rPr lang="en-US" sz="2200" dirty="0" smtClean="0"/>
              <a:t>Fuzzy problem-solving ability</a:t>
            </a:r>
          </a:p>
          <a:p>
            <a:pPr lvl="1"/>
            <a:r>
              <a:rPr lang="en-US" sz="2200" dirty="0" smtClean="0"/>
              <a:t>Mutual trust and respect</a:t>
            </a:r>
          </a:p>
          <a:p>
            <a:pPr lvl="1"/>
            <a:r>
              <a:rPr lang="en-US" sz="2200" dirty="0" smtClean="0"/>
              <a:t>Self-organization</a:t>
            </a:r>
            <a:endParaRPr lang="en-US" sz="2200" dirty="0"/>
          </a:p>
        </p:txBody>
      </p:sp>
      <p:sp>
        <p:nvSpPr>
          <p:cNvPr id="831490" name="Rectangle 2"/>
          <p:cNvSpPr>
            <a:spLocks noGrp="1" noRot="1" noChangeArrowheads="1"/>
          </p:cNvSpPr>
          <p:nvPr>
            <p:ph type="title" idx="4294967295"/>
          </p:nvPr>
        </p:nvSpPr>
        <p:spPr>
          <a:xfrm>
            <a:off x="35496" y="302295"/>
            <a:ext cx="5018633" cy="606425"/>
          </a:xfrm>
        </p:spPr>
        <p:txBody>
          <a:bodyPr>
            <a:normAutofit fontScale="90000"/>
          </a:bodyPr>
          <a:lstStyle/>
          <a:p>
            <a:r>
              <a:rPr lang="en-US" dirty="0" smtClean="0"/>
              <a:t>Agility Human Factors</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0" name="AutoShape 12"/>
          <p:cNvSpPr>
            <a:spLocks noChangeShapeType="1"/>
          </p:cNvSpPr>
          <p:nvPr/>
        </p:nvSpPr>
        <p:spPr bwMode="auto">
          <a:xfrm>
            <a:off x="1960185" y="5566551"/>
            <a:ext cx="5572125" cy="0"/>
          </a:xfrm>
          <a:prstGeom prst="straightConnector1">
            <a:avLst/>
          </a:prstGeom>
          <a:noFill/>
          <a:ln w="2857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059" name="AutoShape 11"/>
          <p:cNvSpPr>
            <a:spLocks noChangeShapeType="1"/>
          </p:cNvSpPr>
          <p:nvPr/>
        </p:nvSpPr>
        <p:spPr bwMode="auto">
          <a:xfrm flipV="1">
            <a:off x="1960185" y="2175651"/>
            <a:ext cx="0" cy="3390900"/>
          </a:xfrm>
          <a:prstGeom prst="straightConnector1">
            <a:avLst/>
          </a:prstGeom>
          <a:noFill/>
          <a:ln w="2857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sp>
        <p:nvSpPr>
          <p:cNvPr id="2058" name="Freeform 10"/>
          <p:cNvSpPr>
            <a:spLocks/>
          </p:cNvSpPr>
          <p:nvPr/>
        </p:nvSpPr>
        <p:spPr bwMode="auto">
          <a:xfrm>
            <a:off x="1948056" y="2477276"/>
            <a:ext cx="4524375" cy="3038475"/>
          </a:xfrm>
          <a:custGeom>
            <a:avLst/>
            <a:gdLst/>
            <a:ahLst/>
            <a:cxnLst>
              <a:cxn ang="0">
                <a:pos x="0" y="5340"/>
              </a:cxn>
              <a:cxn ang="0">
                <a:pos x="4804" y="3856"/>
              </a:cxn>
              <a:cxn ang="0">
                <a:pos x="7424" y="0"/>
              </a:cxn>
            </a:cxnLst>
            <a:rect l="0" t="0" r="r" b="b"/>
            <a:pathLst>
              <a:path w="7424" h="5340">
                <a:moveTo>
                  <a:pt x="0" y="5340"/>
                </a:moveTo>
                <a:cubicBezTo>
                  <a:pt x="1783" y="5043"/>
                  <a:pt x="3567" y="4746"/>
                  <a:pt x="4804" y="3856"/>
                </a:cubicBezTo>
                <a:cubicBezTo>
                  <a:pt x="6041" y="2966"/>
                  <a:pt x="6987" y="643"/>
                  <a:pt x="7424" y="0"/>
                </a:cubicBezTo>
              </a:path>
            </a:pathLst>
          </a:custGeom>
          <a:noFill/>
          <a:ln w="28575">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7" name="Freeform 9"/>
          <p:cNvSpPr>
            <a:spLocks/>
          </p:cNvSpPr>
          <p:nvPr/>
        </p:nvSpPr>
        <p:spPr bwMode="auto">
          <a:xfrm>
            <a:off x="1960185" y="3556776"/>
            <a:ext cx="5032375" cy="1882775"/>
          </a:xfrm>
          <a:custGeom>
            <a:avLst/>
            <a:gdLst/>
            <a:ahLst/>
            <a:cxnLst>
              <a:cxn ang="0">
                <a:pos x="0" y="3264"/>
              </a:cxn>
              <a:cxn ang="0">
                <a:pos x="2644" y="1680"/>
              </a:cxn>
              <a:cxn ang="0">
                <a:pos x="5444" y="1240"/>
              </a:cxn>
              <a:cxn ang="0">
                <a:pos x="8504" y="0"/>
              </a:cxn>
            </a:cxnLst>
            <a:rect l="0" t="0" r="r" b="b"/>
            <a:pathLst>
              <a:path w="8504" h="3264">
                <a:moveTo>
                  <a:pt x="0" y="3264"/>
                </a:moveTo>
                <a:cubicBezTo>
                  <a:pt x="868" y="2640"/>
                  <a:pt x="1737" y="2017"/>
                  <a:pt x="2644" y="1680"/>
                </a:cubicBezTo>
                <a:cubicBezTo>
                  <a:pt x="3551" y="1343"/>
                  <a:pt x="4467" y="1520"/>
                  <a:pt x="5444" y="1240"/>
                </a:cubicBezTo>
                <a:cubicBezTo>
                  <a:pt x="6421" y="960"/>
                  <a:pt x="7994" y="207"/>
                  <a:pt x="8504" y="0"/>
                </a:cubicBezTo>
              </a:path>
            </a:pathLst>
          </a:custGeom>
          <a:noFill/>
          <a:ln w="28575">
            <a:solidFill>
              <a:srgbClr val="7F7F7F"/>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6" name="Freeform 8"/>
          <p:cNvSpPr>
            <a:spLocks/>
          </p:cNvSpPr>
          <p:nvPr/>
        </p:nvSpPr>
        <p:spPr bwMode="auto">
          <a:xfrm>
            <a:off x="1960185" y="4633101"/>
            <a:ext cx="5133975" cy="854075"/>
          </a:xfrm>
          <a:custGeom>
            <a:avLst/>
            <a:gdLst/>
            <a:ahLst/>
            <a:cxnLst>
              <a:cxn ang="0">
                <a:pos x="0" y="1345"/>
              </a:cxn>
              <a:cxn ang="0">
                <a:pos x="2684" y="221"/>
              </a:cxn>
              <a:cxn ang="0">
                <a:pos x="8644" y="21"/>
              </a:cxn>
            </a:cxnLst>
            <a:rect l="0" t="0" r="r" b="b"/>
            <a:pathLst>
              <a:path w="8644" h="1345">
                <a:moveTo>
                  <a:pt x="0" y="1345"/>
                </a:moveTo>
                <a:cubicBezTo>
                  <a:pt x="621" y="893"/>
                  <a:pt x="1243" y="442"/>
                  <a:pt x="2684" y="221"/>
                </a:cubicBezTo>
                <a:cubicBezTo>
                  <a:pt x="4125" y="0"/>
                  <a:pt x="6384" y="10"/>
                  <a:pt x="8644" y="21"/>
                </a:cubicBezTo>
              </a:path>
            </a:pathLst>
          </a:custGeom>
          <a:noFill/>
          <a:ln w="9525">
            <a:solidFill>
              <a:srgbClr val="000000"/>
            </a:solidFill>
            <a:prstDash val="dashDot"/>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5" name="Text Box 7"/>
          <p:cNvSpPr txBox="1">
            <a:spLocks noChangeArrowheads="1"/>
          </p:cNvSpPr>
          <p:nvPr/>
        </p:nvSpPr>
        <p:spPr bwMode="auto">
          <a:xfrm>
            <a:off x="1403648" y="2461401"/>
            <a:ext cx="480337" cy="1975711"/>
          </a:xfrm>
          <a:prstGeom prst="rect">
            <a:avLst/>
          </a:prstGeom>
          <a:solidFill>
            <a:srgbClr val="FFFFFF"/>
          </a:solidFill>
          <a:ln w="9525">
            <a:noFill/>
            <a:miter lim="800000"/>
            <a:headEnd/>
            <a:tailEnd/>
          </a:ln>
        </p:spPr>
        <p:txBody>
          <a:bodyPr vert="vert270"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Development Cost</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2061" name="Text Box 13"/>
          <p:cNvSpPr txBox="1">
            <a:spLocks noChangeArrowheads="1"/>
          </p:cNvSpPr>
          <p:nvPr/>
        </p:nvSpPr>
        <p:spPr bwMode="auto">
          <a:xfrm>
            <a:off x="3347864" y="5733256"/>
            <a:ext cx="3136696" cy="36004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Calibri" pitchFamily="34" charset="0"/>
                <a:ea typeface="Calibri" pitchFamily="34" charset="0"/>
                <a:cs typeface="Times New Roman" pitchFamily="18" charset="0"/>
              </a:rPr>
              <a:t>Development Schedule Progress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
        <p:nvSpPr>
          <p:cNvPr id="2054" name="Text Box 6"/>
          <p:cNvSpPr txBox="1">
            <a:spLocks noChangeArrowheads="1"/>
          </p:cNvSpPr>
          <p:nvPr/>
        </p:nvSpPr>
        <p:spPr bwMode="auto">
          <a:xfrm>
            <a:off x="2357060" y="3401201"/>
            <a:ext cx="2124075" cy="4762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Cost of change using agile processes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53" name="Text Box 5"/>
          <p:cNvSpPr txBox="1">
            <a:spLocks noChangeArrowheads="1"/>
          </p:cNvSpPr>
          <p:nvPr/>
        </p:nvSpPr>
        <p:spPr bwMode="auto">
          <a:xfrm>
            <a:off x="4033460" y="1877201"/>
            <a:ext cx="2228850" cy="58420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Cost of change using conventional software processes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52" name="Text Box 4"/>
          <p:cNvSpPr txBox="1">
            <a:spLocks noChangeArrowheads="1"/>
          </p:cNvSpPr>
          <p:nvPr/>
        </p:nvSpPr>
        <p:spPr bwMode="auto">
          <a:xfrm>
            <a:off x="5697160" y="4963301"/>
            <a:ext cx="2124075" cy="476250"/>
          </a:xfrm>
          <a:prstGeom prst="rect">
            <a:avLst/>
          </a:prstGeom>
          <a:solidFill>
            <a:srgbClr val="FFFFFF"/>
          </a:solid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Calibri" pitchFamily="34" charset="0"/>
                <a:ea typeface="Calibri" pitchFamily="34" charset="0"/>
                <a:cs typeface="Times New Roman" pitchFamily="18" charset="0"/>
              </a:rPr>
              <a:t>Idealized use of change using agile processes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051" name="AutoShape 3"/>
          <p:cNvSpPr>
            <a:spLocks noChangeShapeType="1"/>
          </p:cNvSpPr>
          <p:nvPr/>
        </p:nvSpPr>
        <p:spPr bwMode="auto">
          <a:xfrm flipH="1" flipV="1">
            <a:off x="4922460" y="2375676"/>
            <a:ext cx="1130300" cy="520700"/>
          </a:xfrm>
          <a:prstGeom prst="straightConnector1">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50" name="AutoShape 2"/>
          <p:cNvSpPr>
            <a:spLocks noChangeShapeType="1"/>
          </p:cNvSpPr>
          <p:nvPr/>
        </p:nvSpPr>
        <p:spPr bwMode="auto">
          <a:xfrm flipH="1" flipV="1">
            <a:off x="3830260" y="3706001"/>
            <a:ext cx="825500" cy="574675"/>
          </a:xfrm>
          <a:prstGeom prst="straightConnector1">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49" name="AutoShape 1"/>
          <p:cNvSpPr>
            <a:spLocks noChangeShapeType="1"/>
          </p:cNvSpPr>
          <p:nvPr/>
        </p:nvSpPr>
        <p:spPr bwMode="auto">
          <a:xfrm flipH="1" flipV="1">
            <a:off x="5265360" y="4715651"/>
            <a:ext cx="438150" cy="450850"/>
          </a:xfrm>
          <a:prstGeom prst="straightConnector1">
            <a:avLst/>
          </a:prstGeom>
          <a:noFill/>
          <a:ln w="12700">
            <a:solidFill>
              <a:srgbClr val="000000"/>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62" name="Rectangle 14"/>
          <p:cNvSpPr>
            <a:spLocks noChangeArrowheads="1"/>
          </p:cNvSpPr>
          <p:nvPr/>
        </p:nvSpPr>
        <p:spPr bwMode="auto">
          <a:xfrm>
            <a:off x="252536"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itle 1"/>
          <p:cNvSpPr txBox="1">
            <a:spLocks/>
          </p:cNvSpPr>
          <p:nvPr/>
        </p:nvSpPr>
        <p:spPr>
          <a:xfrm>
            <a:off x="0" y="207045"/>
            <a:ext cx="3779912" cy="701675"/>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1200" cap="none" spc="-150" normalizeH="0" baseline="0" noProof="0" smtClean="0">
                <a:ln>
                  <a:noFill/>
                </a:ln>
                <a:solidFill>
                  <a:schemeClr val="tx1"/>
                </a:solidFill>
                <a:effectLst/>
                <a:uLnTx/>
                <a:uFillTx/>
                <a:latin typeface="+mj-lt"/>
                <a:ea typeface="+mj-ea"/>
                <a:cs typeface="Arial" pitchFamily="34" charset="0"/>
              </a:rPr>
              <a:t>Cost of Change</a:t>
            </a:r>
            <a:endParaRPr kumimoji="0" lang="en-IN" sz="4000" b="1" i="0" u="none" strike="noStrike" kern="1200" cap="none" spc="-150" normalizeH="0" baseline="0" noProof="0" dirty="0">
              <a:ln>
                <a:noFill/>
              </a:ln>
              <a:solidFill>
                <a:schemeClr val="tx1"/>
              </a:solidFill>
              <a:effectLst/>
              <a:uLnTx/>
              <a:uFillTx/>
              <a:latin typeface="+mj-lt"/>
              <a:ea typeface="+mj-ea"/>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13420"/>
            <a:ext cx="4644008" cy="495300"/>
          </a:xfrm>
        </p:spPr>
        <p:txBody>
          <a:bodyPr>
            <a:noAutofit/>
          </a:bodyPr>
          <a:lstStyle/>
          <a:p>
            <a:pPr>
              <a:lnSpc>
                <a:spcPts val="3600"/>
              </a:lnSpc>
            </a:pPr>
            <a:r>
              <a:rPr lang="en-IN" sz="4000" dirty="0" smtClean="0">
                <a:latin typeface="+mj-lt"/>
              </a:rPr>
              <a:t>An Agile Concept - Time Boxing</a:t>
            </a:r>
            <a:endParaRPr lang="en-IN" sz="4000" dirty="0">
              <a:latin typeface="+mj-lt"/>
            </a:endParaRPr>
          </a:p>
        </p:txBody>
      </p:sp>
      <p:sp>
        <p:nvSpPr>
          <p:cNvPr id="6" name="TextBox 5"/>
          <p:cNvSpPr txBox="1"/>
          <p:nvPr/>
        </p:nvSpPr>
        <p:spPr>
          <a:xfrm>
            <a:off x="611560" y="1692091"/>
            <a:ext cx="8208912" cy="4401205"/>
          </a:xfrm>
          <a:prstGeom prst="rect">
            <a:avLst/>
          </a:prstGeom>
          <a:noFill/>
        </p:spPr>
        <p:txBody>
          <a:bodyPr wrap="square" rtlCol="0">
            <a:spAutoFit/>
          </a:bodyPr>
          <a:lstStyle/>
          <a:p>
            <a:r>
              <a:rPr lang="en-IN" sz="2800" dirty="0" smtClean="0"/>
              <a:t>... teams are managing the triple constraints that face any organisation - time, quality, scope. When using a fixed duration, we are telling everyone involved, 'time is urgent and we are going to include as much as we can within this time framework.' Since quality cannot be compromised, the only variable is scope. 'Time boxing' creates a sense of urgency and criticality for the entire organization</a:t>
            </a:r>
          </a:p>
          <a:p>
            <a:endParaRPr lang="en-US" sz="2800" dirty="0" smtClean="0"/>
          </a:p>
          <a:p>
            <a:r>
              <a:rPr lang="it-IT" sz="2800" dirty="0" smtClean="0"/>
              <a:t>—Mark P. Dangelo,  Author: </a:t>
            </a:r>
            <a:r>
              <a:rPr lang="it-IT" sz="2800" i="1" dirty="0" smtClean="0"/>
              <a:t>Innovative relevance</a:t>
            </a:r>
            <a:endParaRPr lang="en-IN"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3" name="Rectangle 3"/>
          <p:cNvSpPr>
            <a:spLocks noGrp="1" noRot="1" noChangeArrowheads="1"/>
          </p:cNvSpPr>
          <p:nvPr>
            <p:ph idx="4294967295"/>
          </p:nvPr>
        </p:nvSpPr>
        <p:spPr>
          <a:xfrm>
            <a:off x="304800" y="1493837"/>
            <a:ext cx="8229600" cy="4525963"/>
          </a:xfrm>
        </p:spPr>
        <p:txBody>
          <a:bodyPr>
            <a:normAutofit lnSpcReduction="10000"/>
          </a:bodyPr>
          <a:lstStyle/>
          <a:p>
            <a:r>
              <a:rPr lang="en-US" dirty="0">
                <a:latin typeface="+mj-lt"/>
              </a:rPr>
              <a:t>Originally proposed by Scott Ambler</a:t>
            </a:r>
          </a:p>
          <a:p>
            <a:r>
              <a:rPr lang="en-US" dirty="0">
                <a:latin typeface="+mj-lt"/>
              </a:rPr>
              <a:t>Suggests a set of agile modeling principles</a:t>
            </a:r>
          </a:p>
          <a:p>
            <a:pPr lvl="1"/>
            <a:r>
              <a:rPr lang="en-US" dirty="0">
                <a:latin typeface="+mj-lt"/>
              </a:rPr>
              <a:t>Model with a purpose</a:t>
            </a:r>
          </a:p>
          <a:p>
            <a:pPr lvl="1"/>
            <a:r>
              <a:rPr lang="en-US" dirty="0">
                <a:latin typeface="+mj-lt"/>
              </a:rPr>
              <a:t>Use multiple models</a:t>
            </a:r>
          </a:p>
          <a:p>
            <a:pPr lvl="1"/>
            <a:r>
              <a:rPr lang="en-US" dirty="0">
                <a:latin typeface="+mj-lt"/>
              </a:rPr>
              <a:t>Travel light</a:t>
            </a:r>
          </a:p>
          <a:p>
            <a:pPr lvl="1"/>
            <a:r>
              <a:rPr lang="en-US" dirty="0">
                <a:latin typeface="+mj-lt"/>
              </a:rPr>
              <a:t>Content is more important than representation</a:t>
            </a:r>
          </a:p>
          <a:p>
            <a:pPr lvl="1"/>
            <a:r>
              <a:rPr lang="en-US" dirty="0">
                <a:latin typeface="+mj-lt"/>
              </a:rPr>
              <a:t>Know the models and the tools you use to create them</a:t>
            </a:r>
          </a:p>
          <a:p>
            <a:pPr lvl="1"/>
            <a:r>
              <a:rPr lang="en-US" dirty="0">
                <a:latin typeface="+mj-lt"/>
              </a:rPr>
              <a:t>Adapt locally</a:t>
            </a:r>
          </a:p>
        </p:txBody>
      </p:sp>
      <p:sp>
        <p:nvSpPr>
          <p:cNvPr id="844802" name="Rectangle 2"/>
          <p:cNvSpPr>
            <a:spLocks noGrp="1" noRot="1" noChangeArrowheads="1"/>
          </p:cNvSpPr>
          <p:nvPr>
            <p:ph type="title" idx="4294967295"/>
          </p:nvPr>
        </p:nvSpPr>
        <p:spPr>
          <a:xfrm>
            <a:off x="107504" y="346175"/>
            <a:ext cx="3204418" cy="490537"/>
          </a:xfrm>
        </p:spPr>
        <p:txBody>
          <a:bodyPr>
            <a:normAutofit fontScale="90000"/>
          </a:bodyPr>
          <a:lstStyle/>
          <a:p>
            <a:r>
              <a:rPr lang="en-US" dirty="0"/>
              <a:t>Agile Modeling</a:t>
            </a:r>
          </a:p>
        </p:txBody>
      </p:sp>
      <p:sp>
        <p:nvSpPr>
          <p:cNvPr id="4" name="Slide Number Placeholder 5"/>
          <p:cNvSpPr txBox="1">
            <a:spLocks/>
          </p:cNvSpPr>
          <p:nvPr/>
        </p:nvSpPr>
        <p:spPr>
          <a:xfrm>
            <a:off x="7010400" y="6629400"/>
            <a:ext cx="2133600" cy="228600"/>
          </a:xfrm>
          <a:prstGeom prst="rect">
            <a:avLst/>
          </a:prstGeom>
        </p:spPr>
        <p:txBody>
          <a:bodyPr anchor="ctr"/>
          <a:lstStyle/>
          <a:p>
            <a:pPr algn="r" fontAlgn="auto">
              <a:spcBef>
                <a:spcPts val="0"/>
              </a:spcBef>
              <a:spcAft>
                <a:spcPts val="0"/>
              </a:spcAft>
              <a:defRPr/>
            </a:pPr>
            <a:fld id="{7078C7A1-9E93-449E-BB32-863C6539FBC3}" type="slidenum">
              <a:rPr lang="en-US" sz="1000">
                <a:solidFill>
                  <a:schemeClr val="tx1"/>
                </a:solidFill>
                <a:latin typeface="+mn-lt"/>
                <a:cs typeface="+mn-cs"/>
              </a:rPr>
              <a:pPr algn="r" fontAlgn="auto">
                <a:spcBef>
                  <a:spcPts val="0"/>
                </a:spcBef>
                <a:spcAft>
                  <a:spcPts val="0"/>
                </a:spcAft>
                <a:defRPr/>
              </a:pPr>
              <a:t>14</a:t>
            </a:fld>
            <a:endParaRPr lang="en-US" sz="1050" dirty="0">
              <a:solidFill>
                <a:schemeClr val="tx1"/>
              </a:solidFill>
              <a:latin typeface="+mn-lt"/>
              <a:cs typeface="+mn-cs"/>
            </a:endParaRPr>
          </a:p>
        </p:txBody>
      </p:sp>
      <p:sp>
        <p:nvSpPr>
          <p:cNvPr id="5" name="Date Placeholder 3"/>
          <p:cNvSpPr txBox="1">
            <a:spLocks/>
          </p:cNvSpPr>
          <p:nvPr/>
        </p:nvSpPr>
        <p:spPr>
          <a:xfrm>
            <a:off x="0" y="6629400"/>
            <a:ext cx="2133600" cy="228600"/>
          </a:xfrm>
          <a:prstGeom prst="rect">
            <a:avLst/>
          </a:prstGeom>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4EB9CE69-E311-403F-AC9D-CD2CD918B851}" type="datetime4">
              <a:rPr kumimoji="0" lang="en-US" sz="1000" b="0" i="0" u="none" strike="noStrike" kern="1200" cap="none" spc="0" normalizeH="0" baseline="0" noProof="0" smtClean="0">
                <a:ln>
                  <a:noFill/>
                </a:ln>
                <a:solidFill>
                  <a:schemeClr val="tx1"/>
                </a:solidFill>
                <a:effectLst/>
                <a:uLnTx/>
                <a:uFillTx/>
                <a:latin typeface="Times New Roman" pitchFamily="18" charset="0"/>
                <a:ea typeface="+mn-ea"/>
                <a:cs typeface="+mn-cs"/>
              </a:rPr>
              <a:pPr marL="0" marR="0" lvl="0" indent="0" algn="l" defTabSz="914400" rtl="0" eaLnBrk="0" fontAlgn="base" latinLnBrk="0" hangingPunct="0">
                <a:lnSpc>
                  <a:spcPct val="100000"/>
                </a:lnSpc>
                <a:spcBef>
                  <a:spcPct val="0"/>
                </a:spcBef>
                <a:spcAft>
                  <a:spcPct val="0"/>
                </a:spcAft>
                <a:buClrTx/>
                <a:buSzTx/>
                <a:buFontTx/>
                <a:buNone/>
                <a:tabLst/>
                <a:defRPr/>
              </a:pPr>
              <a:t>February 27, 2014</a:t>
            </a:fld>
            <a:endParaRPr kumimoji="0" lang="en-US" sz="1050"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idx="4294967295"/>
          </p:nvPr>
        </p:nvSpPr>
        <p:spPr>
          <a:xfrm>
            <a:off x="0" y="274638"/>
            <a:ext cx="8229600" cy="1143000"/>
          </a:xfrm>
        </p:spPr>
        <p:txBody>
          <a:bodyPr/>
          <a:lstStyle/>
          <a:p>
            <a:r>
              <a:rPr lang="en-US" sz="3600" b="1" dirty="0" smtClean="0"/>
              <a:t>Thank You…</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r>
              <a:rPr lang="en-IN" sz="4000" b="1" dirty="0" smtClean="0"/>
              <a:t>Credits </a:t>
            </a:r>
            <a:endParaRPr lang="en-IN" sz="4000" dirty="0"/>
          </a:p>
        </p:txBody>
      </p:sp>
      <p:sp>
        <p:nvSpPr>
          <p:cNvPr id="3" name="Content Placeholder 2"/>
          <p:cNvSpPr>
            <a:spLocks noGrp="1"/>
          </p:cNvSpPr>
          <p:nvPr>
            <p:ph idx="4294967295"/>
          </p:nvPr>
        </p:nvSpPr>
        <p:spPr>
          <a:xfrm>
            <a:off x="0" y="1600200"/>
            <a:ext cx="8229600" cy="4525963"/>
          </a:xfrm>
        </p:spPr>
        <p:txBody>
          <a:bodyPr/>
          <a:lstStyle/>
          <a:p>
            <a:endParaRPr lang="en-IN" dirty="0" smtClean="0"/>
          </a:p>
          <a:p>
            <a:endParaRPr lang="en-IN" dirty="0" smtClean="0"/>
          </a:p>
          <a:p>
            <a:r>
              <a:rPr lang="en-IN" dirty="0" smtClean="0"/>
              <a:t>Software Engineering 7/</a:t>
            </a:r>
            <a:r>
              <a:rPr lang="en-IN" dirty="0" err="1" smtClean="0"/>
              <a:t>ed</a:t>
            </a:r>
            <a:r>
              <a:rPr lang="en-IN" dirty="0" smtClean="0"/>
              <a:t> by Roger Pressman – Reference </a:t>
            </a:r>
          </a:p>
          <a:p>
            <a:endParaRPr lang="en-IN"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TotalTime>
  <Words>941</Words>
  <Application>Microsoft Office PowerPoint</Application>
  <PresentationFormat>On-screen Show (4:3)</PresentationFormat>
  <Paragraphs>100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1_Office Theme</vt:lpstr>
      <vt:lpstr>Course Name : Software Engineering</vt:lpstr>
      <vt:lpstr>A View on Software Process</vt:lpstr>
      <vt:lpstr>Rapid software development</vt:lpstr>
      <vt:lpstr>Agile methods</vt:lpstr>
      <vt:lpstr>The Manifesto for  Agile Software Development</vt:lpstr>
      <vt:lpstr>What is “Agility”?</vt:lpstr>
      <vt:lpstr>An Agile Process</vt:lpstr>
      <vt:lpstr>Plan-driven versus Agile Development</vt:lpstr>
      <vt:lpstr>Agility Principles</vt:lpstr>
      <vt:lpstr>Agility Principles (contd)</vt:lpstr>
      <vt:lpstr>Agility Human Factors</vt:lpstr>
      <vt:lpstr>Slide 12</vt:lpstr>
      <vt:lpstr>An Agile Concept - Time Boxing</vt:lpstr>
      <vt:lpstr>Agile Modeling</vt:lpstr>
      <vt:lpstr>Thank You…</vt:lpstr>
      <vt:lpstr>Credits </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lakshya</dc:creator>
  <cp:lastModifiedBy>T V Rao</cp:lastModifiedBy>
  <cp:revision>18</cp:revision>
  <dcterms:created xsi:type="dcterms:W3CDTF">2012-01-02T05:05:52Z</dcterms:created>
  <dcterms:modified xsi:type="dcterms:W3CDTF">2014-02-27T10:19:20Z</dcterms:modified>
</cp:coreProperties>
</file>