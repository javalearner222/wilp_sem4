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79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281" r:id="rId21"/>
    <p:sldId id="300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780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2D831-27D1-4804-BBE6-E7E773617FD4}" type="datetimeFigureOut">
              <a:rPr lang="en-IN" smtClean="0"/>
              <a:pPr/>
              <a:t>26-02-2014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C9D2F-5FCE-4B4F-80E6-E39EED6BD8E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299762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9F7563-BFAD-435F-BDC9-8A3667AAA700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lIns="91432" tIns="45716" rIns="91432" bIns="45716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B1F9F8-2F33-48A0-B6E1-CBD34DA86FA7}" type="datetime1">
              <a:rPr lang="en-IN" smtClean="0"/>
              <a:pPr/>
              <a:t>26-02-2014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95736" y="6237312"/>
            <a:ext cx="4392488" cy="365125"/>
          </a:xfrm>
          <a:prstGeom prst="rect">
            <a:avLst/>
          </a:prstGeom>
        </p:spPr>
        <p:txBody>
          <a:bodyPr/>
          <a:lstStyle>
            <a:lvl1pPr>
              <a:defRPr sz="1200" b="1"/>
            </a:lvl1pPr>
          </a:lstStyle>
          <a:p>
            <a:pPr algn="ctr"/>
            <a:r>
              <a:rPr lang="en-US" smtClean="0"/>
              <a:t>SS ZG516 -Computer Organization and Software Systems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fld id="{67F776DB-C4B4-46F1-926D-41EFCFC3A86A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38AF320-491D-4762-9CEF-3E1E34D8F95D}" type="datetime1">
              <a:rPr lang="en-IN" smtClean="0"/>
              <a:pPr/>
              <a:t>26-02-2014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2208E44-E056-4529-AB17-D5D4ED060997}" type="datetime1">
              <a:rPr lang="en-IN" smtClean="0"/>
              <a:pPr/>
              <a:t>26-02-2014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19CFB88-53D3-4CA9-98AE-144A38B513BC}" type="datetime1">
              <a:rPr lang="en-IN" smtClean="0"/>
              <a:pPr/>
              <a:t>26-02-2014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D0D0566-7D22-4575-A4D4-6F2EADBD37EA}" type="datetime1">
              <a:rPr lang="en-IN" smtClean="0"/>
              <a:pPr/>
              <a:t>26-02-2014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8F8992E-3A7A-498B-BA4F-ED4E9E99F9C5}" type="datetime1">
              <a:rPr lang="en-IN" smtClean="0"/>
              <a:pPr/>
              <a:t>26-02-2014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4542FCF-AAF1-43F7-BF4B-ACFF6C5E1F9E}" type="datetime1">
              <a:rPr lang="en-IN" smtClean="0"/>
              <a:pPr/>
              <a:t>26-02-2014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22291EF-5C9A-4DA0-9BCB-C3A40F654C61}" type="datetime1">
              <a:rPr lang="en-IN" smtClean="0"/>
              <a:pPr/>
              <a:t>26-02-2014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F9511ED-0BE1-4F2B-B63D-1D3DD25330C5}" type="datetime1">
              <a:rPr lang="en-IN" smtClean="0"/>
              <a:pPr/>
              <a:t>26-02-2014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5D982D4-3B7D-49CC-89D2-CE37596BBCA6}" type="datetime1">
              <a:rPr lang="en-IN" smtClean="0"/>
              <a:pPr/>
              <a:t>26-02-2014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IN" smtClean="0"/>
              <a:t>&lt;Course Code&gt;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</p:spTree>
    <p:extLst>
      <p:ext uri="{BB962C8B-B14F-4D97-AF65-F5344CB8AC3E}">
        <p14:creationId xmlns="" xmlns:p14="http://schemas.microsoft.com/office/powerpoint/2010/main" val="113624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858000" y="7620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086600" y="11708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4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0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5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8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3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Group 24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7"/>
          <p:cNvGrpSpPr/>
          <p:nvPr userDrawn="1"/>
        </p:nvGrpSpPr>
        <p:grpSpPr>
          <a:xfrm rot="5400000">
            <a:off x="5006340" y="2567940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48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9BCDE-E798-4B3C-A0DC-857F10E231BD}" type="datetimeFigureOut">
              <a:rPr lang="en-IN" smtClean="0"/>
              <a:pPr/>
              <a:t>26-02-2014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19B2-D999-42E9-9C6B-E3B34769D977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8" name="Picture 7" descr="Picture 7.png"/>
          <p:cNvPicPr>
            <a:picLocks noChangeAspect="1"/>
          </p:cNvPicPr>
          <p:nvPr userDrawn="1"/>
        </p:nvPicPr>
        <p:blipFill>
          <a:blip r:embed="rId1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0F2899A1-5BFA-4D14-B690-5DD6CFCAE8DC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26-02-2014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>
                <a:solidFill>
                  <a:prstClr val="black">
                    <a:tint val="75000"/>
                  </a:prstClr>
                </a:solidFill>
              </a:rPr>
              <a:t>&lt;Course Code&gt;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Name : Software Engineering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267744" y="5410200"/>
            <a:ext cx="6266656" cy="533400"/>
          </a:xfrm>
        </p:spPr>
        <p:txBody>
          <a:bodyPr/>
          <a:lstStyle/>
          <a:p>
            <a:r>
              <a:rPr lang="en-US" dirty="0" smtClean="0"/>
              <a:t>T V Rao</a:t>
            </a:r>
          </a:p>
          <a:p>
            <a:r>
              <a:rPr lang="en-US" dirty="0" smtClean="0"/>
              <a:t>Software </a:t>
            </a:r>
            <a:r>
              <a:rPr lang="en-US" smtClean="0"/>
              <a:t>Engineering Definitions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44564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28600"/>
            <a:ext cx="7772400" cy="608013"/>
          </a:xfrm>
        </p:spPr>
        <p:txBody>
          <a:bodyPr>
            <a:normAutofit fontScale="90000"/>
          </a:bodyPr>
          <a:lstStyle/>
          <a:p>
            <a:r>
              <a:rPr lang="en-US" sz="3600" b="1" smtClean="0">
                <a:latin typeface="Arial" charset="0"/>
              </a:rPr>
              <a:t>Software Engineering - Definitions</a:t>
            </a:r>
            <a:endParaRPr lang="en-US" sz="2800" b="1" smtClean="0">
              <a:latin typeface="Arial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8313" y="1412776"/>
            <a:ext cx="8153400" cy="467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dirty="0">
                <a:latin typeface="+mn-lt"/>
                <a:cs typeface="+mn-cs"/>
              </a:rPr>
              <a:t> (1969 – Fritz Bauer) </a:t>
            </a:r>
            <a:r>
              <a:rPr lang="en-US" sz="2400" dirty="0">
                <a:latin typeface="+mn-lt"/>
                <a:cs typeface="+mn-cs"/>
              </a:rPr>
              <a:t>Software engineering is the establishment and use of </a:t>
            </a:r>
            <a:r>
              <a:rPr lang="en-US" sz="2400" i="1" dirty="0">
                <a:latin typeface="+mn-lt"/>
                <a:cs typeface="+mn-cs"/>
              </a:rPr>
              <a:t>sound engineering principles </a:t>
            </a:r>
            <a:r>
              <a:rPr lang="en-US" sz="2400" dirty="0">
                <a:latin typeface="+mn-lt"/>
                <a:cs typeface="+mn-cs"/>
              </a:rPr>
              <a:t>in order to obtain </a:t>
            </a:r>
            <a:r>
              <a:rPr lang="en-US" sz="2400" i="1" dirty="0">
                <a:latin typeface="+mn-lt"/>
                <a:cs typeface="+mn-cs"/>
              </a:rPr>
              <a:t>economically</a:t>
            </a:r>
            <a:r>
              <a:rPr lang="en-US" sz="2400" dirty="0">
                <a:latin typeface="+mn-lt"/>
                <a:cs typeface="+mn-cs"/>
              </a:rPr>
              <a:t> software that is </a:t>
            </a:r>
            <a:r>
              <a:rPr lang="en-US" sz="2400" i="1" dirty="0">
                <a:latin typeface="+mn-lt"/>
                <a:cs typeface="+mn-cs"/>
              </a:rPr>
              <a:t>reliable</a:t>
            </a:r>
            <a:r>
              <a:rPr lang="en-US" sz="2400" dirty="0">
                <a:latin typeface="+mn-lt"/>
                <a:cs typeface="+mn-cs"/>
              </a:rPr>
              <a:t> and works </a:t>
            </a:r>
            <a:r>
              <a:rPr lang="en-US" sz="2400" i="1" dirty="0">
                <a:latin typeface="+mn-lt"/>
                <a:cs typeface="+mn-cs"/>
              </a:rPr>
              <a:t>efficiently</a:t>
            </a:r>
            <a:r>
              <a:rPr lang="en-US" sz="2400" dirty="0">
                <a:latin typeface="+mn-lt"/>
                <a:cs typeface="+mn-cs"/>
              </a:rPr>
              <a:t> on </a:t>
            </a:r>
            <a:r>
              <a:rPr lang="en-US" sz="2400" i="1" dirty="0">
                <a:latin typeface="+mn-lt"/>
                <a:cs typeface="+mn-cs"/>
              </a:rPr>
              <a:t>real machines</a:t>
            </a:r>
          </a:p>
          <a:p>
            <a:pPr marL="800100" lvl="1" indent="-342900" eaLnBrk="0" hangingPunct="0">
              <a:spcBef>
                <a:spcPct val="20000"/>
              </a:spcBef>
              <a:buFont typeface="Courier New" pitchFamily="49" charset="0"/>
              <a:buChar char="o"/>
              <a:defRPr/>
            </a:pPr>
            <a:r>
              <a:rPr lang="en-US" sz="2000" dirty="0">
                <a:latin typeface="+mn-lt"/>
                <a:cs typeface="+mn-cs"/>
              </a:rPr>
              <a:t>Some may want to have technical aspects, customer satisfaction, timeliness, measurements, process included in the definition</a:t>
            </a:r>
          </a:p>
          <a:p>
            <a:pPr marL="800100" lvl="1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endParaRPr lang="en-US" sz="2000" dirty="0">
              <a:latin typeface="+mn-lt"/>
              <a:cs typeface="+mn-cs"/>
            </a:endParaRP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000" dirty="0">
                <a:latin typeface="+mn-lt"/>
                <a:cs typeface="+mn-cs"/>
              </a:rPr>
              <a:t>(IEEE</a:t>
            </a:r>
            <a:r>
              <a:rPr lang="en-US" sz="2400" dirty="0">
                <a:latin typeface="+mn-lt"/>
                <a:cs typeface="+mn-cs"/>
              </a:rPr>
              <a:t>) The application of a </a:t>
            </a:r>
            <a:r>
              <a:rPr lang="en-US" sz="2400" i="1" dirty="0">
                <a:latin typeface="+mn-lt"/>
                <a:cs typeface="+mn-cs"/>
              </a:rPr>
              <a:t>systematic, disciplined, quantifiable </a:t>
            </a:r>
            <a:r>
              <a:rPr lang="en-US" sz="2400" dirty="0">
                <a:latin typeface="+mn-lt"/>
                <a:cs typeface="+mn-cs"/>
              </a:rPr>
              <a:t>approach to the </a:t>
            </a:r>
            <a:r>
              <a:rPr lang="en-US" sz="2400" i="1" dirty="0">
                <a:latin typeface="+mn-lt"/>
                <a:cs typeface="+mn-cs"/>
              </a:rPr>
              <a:t>development, operation, and maintenance </a:t>
            </a:r>
            <a:r>
              <a:rPr lang="en-US" sz="2400" dirty="0">
                <a:latin typeface="+mn-lt"/>
                <a:cs typeface="+mn-cs"/>
              </a:rPr>
              <a:t>of software; that is, the application of engineering to software</a:t>
            </a:r>
          </a:p>
          <a:p>
            <a:pPr marL="800100" lvl="1" indent="-342900" eaLnBrk="0" hangingPunct="0">
              <a:spcBef>
                <a:spcPct val="20000"/>
              </a:spcBef>
              <a:buFont typeface="Courier New" pitchFamily="49" charset="0"/>
              <a:buChar char="o"/>
              <a:defRPr/>
            </a:pPr>
            <a:r>
              <a:rPr lang="en-US" sz="2000" dirty="0">
                <a:latin typeface="+mn-lt"/>
                <a:cs typeface="+mn-cs"/>
              </a:rPr>
              <a:t>Some may consider </a:t>
            </a:r>
            <a:r>
              <a:rPr lang="en-US" sz="2000" i="1" dirty="0">
                <a:latin typeface="+mn-lt"/>
                <a:cs typeface="+mn-cs"/>
              </a:rPr>
              <a:t>adaptability and agility  </a:t>
            </a:r>
            <a:r>
              <a:rPr lang="en-US" sz="2000" dirty="0">
                <a:latin typeface="+mn-lt"/>
                <a:cs typeface="+mn-cs"/>
              </a:rPr>
              <a:t>more important than </a:t>
            </a:r>
            <a:r>
              <a:rPr lang="en-US" sz="2000" i="1" dirty="0">
                <a:latin typeface="+mn-lt"/>
                <a:cs typeface="+mn-cs"/>
              </a:rPr>
              <a:t>systematic, disciplined, quantifiable approach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0" y="333375"/>
            <a:ext cx="4276725" cy="604838"/>
          </a:xfrm>
        </p:spPr>
        <p:txBody>
          <a:bodyPr wrap="none" lIns="63500" tIns="25400" rIns="63500" bIns="25400" anchor="t">
            <a:spAutoFit/>
          </a:bodyPr>
          <a:lstStyle/>
          <a:p>
            <a:pPr eaLnBrk="1" hangingPunct="1"/>
            <a:r>
              <a:rPr lang="en-US" sz="3600" b="1" smtClean="0"/>
              <a:t>A Layered Technology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2928938" y="2200275"/>
            <a:ext cx="3355975" cy="4175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r>
              <a:rPr lang="en-US" sz="2400" dirty="0">
                <a:latin typeface="Palatino"/>
              </a:rPr>
              <a:t>Software Engineering</a:t>
            </a:r>
          </a:p>
        </p:txBody>
      </p:sp>
      <p:sp>
        <p:nvSpPr>
          <p:cNvPr id="15" name="Oval 4"/>
          <p:cNvSpPr>
            <a:spLocks noChangeArrowheads="1"/>
          </p:cNvSpPr>
          <p:nvPr/>
        </p:nvSpPr>
        <p:spPr bwMode="auto">
          <a:xfrm>
            <a:off x="774700" y="3798888"/>
            <a:ext cx="7620000" cy="1143000"/>
          </a:xfrm>
          <a:prstGeom prst="ellipse">
            <a:avLst/>
          </a:prstGeom>
          <a:solidFill>
            <a:srgbClr val="FFFF00"/>
          </a:solidFill>
          <a:ln w="12700">
            <a:noFill/>
            <a:round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Oval 5"/>
          <p:cNvSpPr>
            <a:spLocks noChangeArrowheads="1"/>
          </p:cNvSpPr>
          <p:nvPr/>
        </p:nvSpPr>
        <p:spPr bwMode="auto">
          <a:xfrm>
            <a:off x="1231900" y="3417888"/>
            <a:ext cx="6629400" cy="1066800"/>
          </a:xfrm>
          <a:prstGeom prst="ellipse">
            <a:avLst/>
          </a:prstGeom>
          <a:solidFill>
            <a:srgbClr val="00B050"/>
          </a:solidFill>
          <a:ln w="12700">
            <a:noFill/>
            <a:round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7" name="Oval 6"/>
          <p:cNvSpPr>
            <a:spLocks noChangeArrowheads="1"/>
          </p:cNvSpPr>
          <p:nvPr/>
        </p:nvSpPr>
        <p:spPr bwMode="auto">
          <a:xfrm>
            <a:off x="1765300" y="3036888"/>
            <a:ext cx="5486400" cy="914400"/>
          </a:xfrm>
          <a:prstGeom prst="ellipse">
            <a:avLst/>
          </a:prstGeom>
          <a:solidFill>
            <a:srgbClr val="FF0000"/>
          </a:solidFill>
          <a:ln w="12700">
            <a:noFill/>
            <a:round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  <a:cs typeface="+mn-cs"/>
            </a:endParaRPr>
          </a:p>
        </p:txBody>
      </p:sp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2146300" y="2808288"/>
            <a:ext cx="4724400" cy="6096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noFill/>
            <a:round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3427413" y="4546600"/>
            <a:ext cx="2232983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atin typeface="Palatino" charset="0"/>
                <a:cs typeface="+mn-cs"/>
              </a:rPr>
              <a:t>a “quality” focus</a:t>
            </a:r>
          </a:p>
        </p:txBody>
      </p:sp>
      <p:sp>
        <p:nvSpPr>
          <p:cNvPr id="20" name="Rectangle 9"/>
          <p:cNvSpPr>
            <a:spLocks noChangeArrowheads="1"/>
          </p:cNvSpPr>
          <p:nvPr/>
        </p:nvSpPr>
        <p:spPr bwMode="auto">
          <a:xfrm>
            <a:off x="3529013" y="4013200"/>
            <a:ext cx="1992532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atin typeface="Palatino" charset="0"/>
                <a:cs typeface="+mn-cs"/>
              </a:rPr>
              <a:t>process model</a:t>
            </a: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3884613" y="3479800"/>
            <a:ext cx="125194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atin typeface="Palatino" charset="0"/>
                <a:cs typeface="+mn-cs"/>
              </a:rPr>
              <a:t>methods</a:t>
            </a:r>
          </a:p>
        </p:txBody>
      </p:sp>
      <p:sp>
        <p:nvSpPr>
          <p:cNvPr id="22" name="Rectangle 11"/>
          <p:cNvSpPr>
            <a:spLocks noChangeArrowheads="1"/>
          </p:cNvSpPr>
          <p:nvPr/>
        </p:nvSpPr>
        <p:spPr bwMode="auto">
          <a:xfrm>
            <a:off x="4189413" y="2946400"/>
            <a:ext cx="823912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latin typeface="Palatino" charset="0"/>
                <a:cs typeface="+mn-cs"/>
              </a:rPr>
              <a:t>tools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187871"/>
            <a:ext cx="7772400" cy="504825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>Process, Methods, and Tools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611188" y="1413793"/>
            <a:ext cx="7924800" cy="453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dirty="0">
                <a:latin typeface="+mn-lt"/>
                <a:cs typeface="+mn-cs"/>
              </a:rPr>
              <a:t>Process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dirty="0">
                <a:latin typeface="+mn-lt"/>
                <a:cs typeface="+mn-cs"/>
              </a:rPr>
              <a:t>Provides the glue that holds the layers together; enables rational and timely development; provides a framework for effective delivery of technology; forms the basis for management; provides the context for technical methods, work products, milestones, quality measures, and change management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endParaRPr lang="en-US" sz="20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dirty="0">
                <a:latin typeface="+mn-lt"/>
                <a:cs typeface="+mn-cs"/>
              </a:rPr>
              <a:t>Methods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dirty="0">
                <a:latin typeface="+mn-lt"/>
                <a:cs typeface="+mn-cs"/>
              </a:rPr>
              <a:t>Provide the technical "how to" for building software; rely on a set of basic principles; encompass a broad array of tasks; include modeling activities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endParaRPr lang="en-US" sz="20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dirty="0">
                <a:latin typeface="+mn-lt"/>
                <a:cs typeface="+mn-cs"/>
              </a:rPr>
              <a:t>Tools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dirty="0">
                <a:latin typeface="+mn-lt"/>
                <a:cs typeface="+mn-cs"/>
              </a:rPr>
              <a:t>Provide automated or semi-automated support for the process and methods (i.e., CASE tools)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96850" y="1706711"/>
            <a:ext cx="3033713" cy="47466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lvl="1">
              <a:lnSpc>
                <a:spcPct val="115000"/>
              </a:lnSpc>
              <a:defRPr/>
            </a:pPr>
            <a:endParaRPr 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Palatino" charset="0"/>
            </a:endParaRPr>
          </a:p>
        </p:txBody>
      </p:sp>
      <p:sp>
        <p:nvSpPr>
          <p:cNvPr id="817154" name="Rectangle 2"/>
          <p:cNvSpPr>
            <a:spLocks noChangeArrowheads="1"/>
          </p:cNvSpPr>
          <p:nvPr/>
        </p:nvSpPr>
        <p:spPr bwMode="auto">
          <a:xfrm>
            <a:off x="3970338" y="2751286"/>
            <a:ext cx="4943475" cy="36293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lvl="1">
              <a:lnSpc>
                <a:spcPct val="115000"/>
              </a:lnSpc>
              <a:defRPr/>
            </a:pPr>
            <a:endParaRPr lang="en-US" sz="2400">
              <a:effectLst>
                <a:outerShdw blurRad="38100" dist="38100" dir="2700000" algn="tl">
                  <a:srgbClr val="000000"/>
                </a:outerShdw>
              </a:effectLst>
              <a:latin typeface="Palatino" charset="0"/>
            </a:endParaRPr>
          </a:p>
        </p:txBody>
      </p:sp>
      <p:sp>
        <p:nvSpPr>
          <p:cNvPr id="817155" name="Rectangle 3"/>
          <p:cNvSpPr>
            <a:spLocks noChangeArrowheads="1"/>
          </p:cNvSpPr>
          <p:nvPr/>
        </p:nvSpPr>
        <p:spPr bwMode="auto">
          <a:xfrm>
            <a:off x="4071938" y="2825898"/>
            <a:ext cx="4683125" cy="29638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Helvetica" charset="0"/>
            </a:endParaRPr>
          </a:p>
        </p:txBody>
      </p:sp>
      <p:sp>
        <p:nvSpPr>
          <p:cNvPr id="24582" name="Rectangle 4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323528" y="142875"/>
            <a:ext cx="5046662" cy="60483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>A Process Framework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07975" y="2249636"/>
            <a:ext cx="2789238" cy="40322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lvl="1">
              <a:lnSpc>
                <a:spcPct val="115000"/>
              </a:lnSpc>
              <a:defRPr/>
            </a:pPr>
            <a:endParaRPr 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Palatino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28638" y="2832248"/>
            <a:ext cx="2233612" cy="13430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Helvetica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944938" y="2252389"/>
            <a:ext cx="5056187" cy="406624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  <a:defRPr/>
            </a:pPr>
            <a:r>
              <a:rPr lang="en-US" sz="2400" b="1" dirty="0">
                <a:latin typeface="Palatino" charset="0"/>
              </a:rPr>
              <a:t>Process framework</a:t>
            </a:r>
            <a:endParaRPr lang="en-US" sz="2400" b="1" dirty="0">
              <a:solidFill>
                <a:schemeClr val="bg1"/>
              </a:solidFill>
              <a:latin typeface="Palatino" charset="0"/>
            </a:endParaRPr>
          </a:p>
          <a:p>
            <a:pPr marL="432000" lvl="1">
              <a:lnSpc>
                <a:spcPct val="115000"/>
              </a:lnSpc>
              <a:defRPr/>
            </a:pPr>
            <a:r>
              <a:rPr lang="en-US" sz="2400" b="1" dirty="0">
                <a:latin typeface="Palatino" charset="0"/>
              </a:rPr>
              <a:t>Framework activities</a:t>
            </a:r>
          </a:p>
          <a:p>
            <a:pPr marL="360000" lvl="1" indent="360000">
              <a:lnSpc>
                <a:spcPct val="115000"/>
              </a:lnSpc>
              <a:defRPr/>
            </a:pPr>
            <a:r>
              <a:rPr lang="en-US" sz="2400" b="1" dirty="0">
                <a:latin typeface="Palatino" charset="0"/>
              </a:rPr>
              <a:t> </a:t>
            </a:r>
            <a:r>
              <a:rPr lang="en-US" sz="2400" b="1" dirty="0" smtClean="0">
                <a:latin typeface="Palatino" charset="0"/>
              </a:rPr>
              <a:t> work </a:t>
            </a:r>
            <a:r>
              <a:rPr lang="en-US" sz="2400" b="1" dirty="0">
                <a:latin typeface="Palatino" charset="0"/>
              </a:rPr>
              <a:t>tasks</a:t>
            </a:r>
          </a:p>
          <a:p>
            <a:pPr marL="360000" lvl="2" indent="360000">
              <a:lnSpc>
                <a:spcPct val="115000"/>
              </a:lnSpc>
              <a:defRPr/>
            </a:pPr>
            <a:r>
              <a:rPr lang="en-US" sz="2400" b="1" dirty="0">
                <a:latin typeface="Palatino" charset="0"/>
              </a:rPr>
              <a:t>  work products</a:t>
            </a:r>
          </a:p>
          <a:p>
            <a:pPr marL="360000" lvl="2" indent="360000">
              <a:lnSpc>
                <a:spcPct val="115000"/>
              </a:lnSpc>
              <a:defRPr/>
            </a:pPr>
            <a:r>
              <a:rPr lang="en-US" sz="2400" b="1" dirty="0">
                <a:latin typeface="Palatino" charset="0"/>
              </a:rPr>
              <a:t>  milestones &amp; deliverables</a:t>
            </a:r>
          </a:p>
          <a:p>
            <a:pPr marL="360000" lvl="2" indent="360000">
              <a:lnSpc>
                <a:spcPct val="115000"/>
              </a:lnSpc>
              <a:defRPr/>
            </a:pPr>
            <a:r>
              <a:rPr lang="en-US" sz="2400" b="1" dirty="0">
                <a:latin typeface="Palatino" charset="0"/>
              </a:rPr>
              <a:t>  QA checkpoints</a:t>
            </a:r>
          </a:p>
          <a:p>
            <a:pPr lvl="2">
              <a:lnSpc>
                <a:spcPct val="115000"/>
              </a:lnSpc>
              <a:defRPr/>
            </a:pPr>
            <a:endParaRPr lang="en-US" sz="2400" b="1" dirty="0">
              <a:latin typeface="Palatino" charset="0"/>
            </a:endParaRPr>
          </a:p>
          <a:p>
            <a:pPr lvl="1">
              <a:lnSpc>
                <a:spcPct val="115000"/>
              </a:lnSpc>
              <a:defRPr/>
            </a:pPr>
            <a:endParaRPr lang="en-US" sz="2400" b="1" dirty="0">
              <a:latin typeface="Palatino" charset="0"/>
            </a:endParaRPr>
          </a:p>
          <a:p>
            <a:pPr lvl="1">
              <a:lnSpc>
                <a:spcPct val="115000"/>
              </a:lnSpc>
              <a:defRPr/>
            </a:pPr>
            <a:r>
              <a:rPr lang="en-US" sz="2400" b="1" dirty="0">
                <a:latin typeface="Palatino" charset="0"/>
              </a:rPr>
              <a:t>Umbrella Activities</a:t>
            </a:r>
          </a:p>
        </p:txBody>
      </p:sp>
      <p:sp>
        <p:nvSpPr>
          <p:cNvPr id="817157" name="Rectangle 5"/>
          <p:cNvSpPr>
            <a:spLocks noChangeArrowheads="1"/>
          </p:cNvSpPr>
          <p:nvPr/>
        </p:nvSpPr>
        <p:spPr bwMode="auto">
          <a:xfrm>
            <a:off x="455613" y="1867048"/>
            <a:ext cx="2425700" cy="348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sz="1600" b="1" dirty="0">
                <a:latin typeface="Palatino" charset="0"/>
              </a:rPr>
              <a:t>Process framework</a:t>
            </a:r>
            <a:endParaRPr lang="en-US" sz="1600" b="1" dirty="0">
              <a:solidFill>
                <a:schemeClr val="bg1"/>
              </a:solidFill>
              <a:latin typeface="Palatino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561975" y="4341961"/>
            <a:ext cx="2235200" cy="134143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Helvetica" charset="0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422275" y="5832623"/>
            <a:ext cx="2424113" cy="348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sz="1600" b="1" dirty="0">
                <a:latin typeface="Palatino" charset="0"/>
              </a:rPr>
              <a:t>Umbrella Activities</a:t>
            </a:r>
            <a:endParaRPr lang="en-US" sz="1600" b="1" dirty="0">
              <a:solidFill>
                <a:schemeClr val="bg1"/>
              </a:solidFill>
              <a:latin typeface="Palatino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558800" y="2990998"/>
            <a:ext cx="2425700" cy="655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sz="1600" b="1" dirty="0">
                <a:latin typeface="Palatino" charset="0"/>
              </a:rPr>
              <a:t>Framework activity 1</a:t>
            </a:r>
          </a:p>
          <a:p>
            <a:pPr>
              <a:lnSpc>
                <a:spcPct val="115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Palatino" charset="0"/>
              </a:rPr>
              <a:t>	</a:t>
            </a:r>
            <a:endParaRPr lang="en-US" sz="1200" b="1" dirty="0">
              <a:solidFill>
                <a:schemeClr val="bg1"/>
              </a:solidFill>
              <a:latin typeface="Palatino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571500" y="4551511"/>
            <a:ext cx="2424113" cy="348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sz="1600" b="1" dirty="0">
                <a:latin typeface="Palatino" charset="0"/>
              </a:rPr>
              <a:t>Framework activity  n</a:t>
            </a:r>
            <a:endParaRPr lang="en-US" sz="1600" b="1" dirty="0">
              <a:solidFill>
                <a:schemeClr val="bg1"/>
              </a:solidFill>
              <a:latin typeface="Palatino" charset="0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166688" y="1319361"/>
            <a:ext cx="2424112" cy="348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sz="1600" b="1" dirty="0">
                <a:latin typeface="Palatino" charset="0"/>
              </a:rPr>
              <a:t>Software Process</a:t>
            </a:r>
            <a:endParaRPr lang="en-US" sz="1600" b="1" dirty="0">
              <a:solidFill>
                <a:schemeClr val="bg1"/>
              </a:solidFill>
              <a:latin typeface="Palatino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90" name="Rectangle 2"/>
          <p:cNvSpPr>
            <a:spLocks noChangeArrowheads="1"/>
          </p:cNvSpPr>
          <p:nvPr/>
        </p:nvSpPr>
        <p:spPr bwMode="auto">
          <a:xfrm>
            <a:off x="71438" y="2396257"/>
            <a:ext cx="4167187" cy="2381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Helvetica" charset="0"/>
            </a:endParaRPr>
          </a:p>
        </p:txBody>
      </p:sp>
      <p:sp>
        <p:nvSpPr>
          <p:cNvPr id="831491" name="Rectangle 3"/>
          <p:cNvSpPr>
            <a:spLocks noChangeArrowheads="1"/>
          </p:cNvSpPr>
          <p:nvPr/>
        </p:nvSpPr>
        <p:spPr bwMode="auto">
          <a:xfrm>
            <a:off x="376238" y="2428007"/>
            <a:ext cx="3857625" cy="16541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Helvetica" charset="0"/>
            </a:endParaRPr>
          </a:p>
        </p:txBody>
      </p:sp>
      <p:sp>
        <p:nvSpPr>
          <p:cNvPr id="25605" name="Rectangle 4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323528" y="142875"/>
            <a:ext cx="4443387" cy="60483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>A Process Framework</a:t>
            </a:r>
          </a:p>
        </p:txBody>
      </p:sp>
      <p:sp>
        <p:nvSpPr>
          <p:cNvPr id="831493" name="Rectangle 5"/>
          <p:cNvSpPr>
            <a:spLocks noChangeArrowheads="1"/>
          </p:cNvSpPr>
          <p:nvPr/>
        </p:nvSpPr>
        <p:spPr bwMode="auto">
          <a:xfrm>
            <a:off x="349250" y="1981919"/>
            <a:ext cx="3722688" cy="277819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sz="2000" b="1" dirty="0">
                <a:latin typeface="Palatino" charset="0"/>
              </a:rPr>
              <a:t>Process framework</a:t>
            </a:r>
            <a:endParaRPr lang="en-US" sz="2000" b="1" dirty="0">
              <a:solidFill>
                <a:schemeClr val="bg1"/>
              </a:solidFill>
              <a:latin typeface="Palatino" charset="0"/>
            </a:endParaRPr>
          </a:p>
          <a:p>
            <a:pPr lvl="1">
              <a:defRPr/>
            </a:pPr>
            <a:r>
              <a:rPr lang="en-US" b="1" dirty="0">
                <a:latin typeface="Palatino" charset="0"/>
              </a:rPr>
              <a:t>Framework activities</a:t>
            </a:r>
          </a:p>
          <a:p>
            <a:pPr lvl="2">
              <a:defRPr/>
            </a:pPr>
            <a:r>
              <a:rPr lang="en-US" b="1" dirty="0">
                <a:latin typeface="Palatino" charset="0"/>
              </a:rPr>
              <a:t>work tasks</a:t>
            </a:r>
          </a:p>
          <a:p>
            <a:pPr lvl="2">
              <a:defRPr/>
            </a:pPr>
            <a:r>
              <a:rPr lang="en-US" b="1" dirty="0">
                <a:latin typeface="Palatino" charset="0"/>
              </a:rPr>
              <a:t>work products</a:t>
            </a:r>
          </a:p>
          <a:p>
            <a:pPr lvl="2">
              <a:defRPr/>
            </a:pPr>
            <a:r>
              <a:rPr lang="en-US" b="1" dirty="0">
                <a:latin typeface="Palatino" charset="0"/>
              </a:rPr>
              <a:t>milestones &amp; deliverables</a:t>
            </a:r>
          </a:p>
          <a:p>
            <a:pPr lvl="2">
              <a:defRPr/>
            </a:pPr>
            <a:r>
              <a:rPr lang="en-US" b="1" dirty="0">
                <a:latin typeface="Palatino" charset="0"/>
              </a:rPr>
              <a:t>QA checkpoints</a:t>
            </a:r>
          </a:p>
          <a:p>
            <a:pPr lvl="2">
              <a:lnSpc>
                <a:spcPct val="115000"/>
              </a:lnSpc>
              <a:defRPr/>
            </a:pPr>
            <a:endParaRPr lang="en-US" b="1" dirty="0">
              <a:latin typeface="Palatino" charset="0"/>
            </a:endParaRPr>
          </a:p>
          <a:p>
            <a:pPr lvl="1">
              <a:lnSpc>
                <a:spcPct val="115000"/>
              </a:lnSpc>
              <a:defRPr/>
            </a:pPr>
            <a:r>
              <a:rPr lang="en-US" sz="2000" b="1" dirty="0">
                <a:latin typeface="Palatino" charset="0"/>
              </a:rPr>
              <a:t>Umbrella Activities</a:t>
            </a:r>
          </a:p>
        </p:txBody>
      </p:sp>
      <p:sp>
        <p:nvSpPr>
          <p:cNvPr id="831494" name="Rectangle 6"/>
          <p:cNvSpPr>
            <a:spLocks noChangeArrowheads="1"/>
          </p:cNvSpPr>
          <p:nvPr/>
        </p:nvSpPr>
        <p:spPr bwMode="auto">
          <a:xfrm>
            <a:off x="4357688" y="1664419"/>
            <a:ext cx="4692650" cy="47720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Helvetica" charset="0"/>
            </a:endParaRPr>
          </a:p>
        </p:txBody>
      </p:sp>
      <p:sp>
        <p:nvSpPr>
          <p:cNvPr id="831495" name="Rectangle 7"/>
          <p:cNvSpPr>
            <a:spLocks noChangeArrowheads="1"/>
          </p:cNvSpPr>
          <p:nvPr/>
        </p:nvSpPr>
        <p:spPr bwMode="auto">
          <a:xfrm>
            <a:off x="4476750" y="1727919"/>
            <a:ext cx="4452938" cy="43275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Helvetica" charset="0"/>
            </a:endParaRPr>
          </a:p>
        </p:txBody>
      </p:sp>
      <p:sp>
        <p:nvSpPr>
          <p:cNvPr id="831496" name="Rectangle 8"/>
          <p:cNvSpPr>
            <a:spLocks noChangeArrowheads="1"/>
          </p:cNvSpPr>
          <p:nvPr/>
        </p:nvSpPr>
        <p:spPr bwMode="auto">
          <a:xfrm>
            <a:off x="4533900" y="1339552"/>
            <a:ext cx="4110038" cy="5257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b="1" dirty="0">
                <a:latin typeface="Palatino" charset="0"/>
              </a:rPr>
              <a:t>Process framework</a:t>
            </a:r>
            <a:endParaRPr lang="en-US" b="1" dirty="0">
              <a:solidFill>
                <a:schemeClr val="bg1"/>
              </a:solidFill>
              <a:latin typeface="Palatino" charset="0"/>
            </a:endParaRPr>
          </a:p>
          <a:p>
            <a:pPr>
              <a:lnSpc>
                <a:spcPct val="115000"/>
              </a:lnSpc>
              <a:defRPr/>
            </a:pPr>
            <a:r>
              <a:rPr lang="en-US" b="1" dirty="0">
                <a:solidFill>
                  <a:schemeClr val="bg1"/>
                </a:solidFill>
                <a:latin typeface="Palatino" charset="0"/>
              </a:rPr>
              <a:t>  </a:t>
            </a:r>
            <a:r>
              <a:rPr lang="en-US" sz="1600" b="1" dirty="0">
                <a:latin typeface="Palatino" charset="0"/>
              </a:rPr>
              <a:t>Modeling activity</a:t>
            </a:r>
          </a:p>
          <a:p>
            <a:pPr lvl="1">
              <a:lnSpc>
                <a:spcPct val="115000"/>
              </a:lnSpc>
              <a:defRPr/>
            </a:pPr>
            <a:r>
              <a:rPr lang="en-US" sz="1200" b="1" dirty="0">
                <a:latin typeface="Palatino" charset="0"/>
              </a:rPr>
              <a:t>Software Engineering action</a:t>
            </a:r>
            <a:r>
              <a:rPr lang="en-US" sz="1600" b="1" dirty="0">
                <a:latin typeface="Palatino" charset="0"/>
              </a:rPr>
              <a:t>: Analysis </a:t>
            </a:r>
          </a:p>
          <a:p>
            <a:pPr lvl="1">
              <a:lnSpc>
                <a:spcPct val="115000"/>
              </a:lnSpc>
              <a:defRPr/>
            </a:pPr>
            <a:r>
              <a:rPr lang="en-US" sz="1600" b="1" dirty="0">
                <a:latin typeface="Palatino" charset="0"/>
              </a:rPr>
              <a:t>       </a:t>
            </a:r>
            <a:r>
              <a:rPr lang="en-US" sz="1200" b="1" dirty="0">
                <a:latin typeface="Palatino" charset="0"/>
              </a:rPr>
              <a:t>work tasks: </a:t>
            </a:r>
            <a:r>
              <a:rPr lang="en-US" sz="1400" b="1" dirty="0">
                <a:latin typeface="Palatino" charset="0"/>
              </a:rPr>
              <a:t>requirements gathering, </a:t>
            </a:r>
          </a:p>
          <a:p>
            <a:pPr lvl="2">
              <a:lnSpc>
                <a:spcPct val="115000"/>
              </a:lnSpc>
              <a:defRPr/>
            </a:pPr>
            <a:r>
              <a:rPr lang="en-US" sz="1400" b="1" dirty="0">
                <a:latin typeface="Palatino" charset="0"/>
              </a:rPr>
              <a:t>            elaboration, negotiation,</a:t>
            </a:r>
          </a:p>
          <a:p>
            <a:pPr lvl="2">
              <a:lnSpc>
                <a:spcPct val="115000"/>
              </a:lnSpc>
              <a:defRPr/>
            </a:pPr>
            <a:r>
              <a:rPr lang="en-US" sz="1400" b="1" dirty="0">
                <a:latin typeface="Palatino" charset="0"/>
              </a:rPr>
              <a:t>            specification, validation</a:t>
            </a:r>
          </a:p>
          <a:p>
            <a:pPr lvl="2">
              <a:lnSpc>
                <a:spcPct val="115000"/>
              </a:lnSpc>
              <a:defRPr/>
            </a:pPr>
            <a:r>
              <a:rPr lang="en-US" sz="1200" b="1" dirty="0">
                <a:latin typeface="Palatino" charset="0"/>
              </a:rPr>
              <a:t>work products: </a:t>
            </a:r>
            <a:r>
              <a:rPr lang="en-US" sz="1400" b="1" dirty="0">
                <a:latin typeface="Palatino" charset="0"/>
              </a:rPr>
              <a:t>analysis model and/or </a:t>
            </a:r>
          </a:p>
          <a:p>
            <a:pPr lvl="2">
              <a:lnSpc>
                <a:spcPct val="115000"/>
              </a:lnSpc>
              <a:defRPr/>
            </a:pPr>
            <a:r>
              <a:rPr lang="en-US" sz="1400" b="1" dirty="0">
                <a:latin typeface="Palatino" charset="0"/>
              </a:rPr>
              <a:t>              requirements specification</a:t>
            </a:r>
            <a:endParaRPr lang="en-US" sz="1200" b="1" dirty="0">
              <a:latin typeface="Palatino" charset="0"/>
            </a:endParaRPr>
          </a:p>
          <a:p>
            <a:pPr lvl="2">
              <a:lnSpc>
                <a:spcPct val="115000"/>
              </a:lnSpc>
              <a:defRPr/>
            </a:pPr>
            <a:r>
              <a:rPr lang="en-US" sz="1600" b="1" dirty="0">
                <a:latin typeface="Palatino" charset="0"/>
              </a:rPr>
              <a:t>milestones &amp; deliverables</a:t>
            </a:r>
          </a:p>
          <a:p>
            <a:pPr lvl="2">
              <a:lnSpc>
                <a:spcPct val="115000"/>
              </a:lnSpc>
              <a:defRPr/>
            </a:pPr>
            <a:r>
              <a:rPr lang="en-US" sz="1600" b="1" dirty="0">
                <a:latin typeface="Palatino" charset="0"/>
              </a:rPr>
              <a:t>QA checkpoints</a:t>
            </a:r>
          </a:p>
          <a:p>
            <a:pPr lvl="2">
              <a:lnSpc>
                <a:spcPct val="115000"/>
              </a:lnSpc>
              <a:defRPr/>
            </a:pPr>
            <a:endParaRPr lang="en-US" sz="1600" b="1" dirty="0">
              <a:latin typeface="Palatino" charset="0"/>
            </a:endParaRPr>
          </a:p>
          <a:p>
            <a:pPr lvl="1">
              <a:lnSpc>
                <a:spcPct val="115000"/>
              </a:lnSpc>
              <a:defRPr/>
            </a:pPr>
            <a:r>
              <a:rPr lang="en-US" sz="1200" b="1" dirty="0">
                <a:latin typeface="Helvetica" charset="0"/>
              </a:rPr>
              <a:t>Software Engineering action</a:t>
            </a:r>
            <a:r>
              <a:rPr lang="en-US" sz="1600" b="1" dirty="0">
                <a:latin typeface="Helvetica" charset="0"/>
              </a:rPr>
              <a:t>: Design</a:t>
            </a:r>
          </a:p>
          <a:p>
            <a:pPr lvl="1">
              <a:lnSpc>
                <a:spcPct val="115000"/>
              </a:lnSpc>
              <a:defRPr/>
            </a:pPr>
            <a:r>
              <a:rPr lang="en-US" b="1" dirty="0">
                <a:latin typeface="Helvetica" charset="0"/>
              </a:rPr>
              <a:t>      </a:t>
            </a:r>
            <a:r>
              <a:rPr lang="en-US" sz="1200" b="1" dirty="0">
                <a:latin typeface="Helvetica" charset="0"/>
              </a:rPr>
              <a:t>work tasks:</a:t>
            </a:r>
            <a:r>
              <a:rPr lang="en-US" sz="1400" b="1" dirty="0">
                <a:latin typeface="Helvetica" charset="0"/>
              </a:rPr>
              <a:t> data design, architectural,</a:t>
            </a:r>
          </a:p>
          <a:p>
            <a:pPr lvl="1">
              <a:lnSpc>
                <a:spcPct val="115000"/>
              </a:lnSpc>
              <a:defRPr/>
            </a:pPr>
            <a:r>
              <a:rPr lang="en-US" sz="1400" b="1" dirty="0">
                <a:latin typeface="Helvetica" charset="0"/>
              </a:rPr>
              <a:t>                     interface design,</a:t>
            </a:r>
          </a:p>
          <a:p>
            <a:pPr lvl="1">
              <a:lnSpc>
                <a:spcPct val="115000"/>
              </a:lnSpc>
              <a:defRPr/>
            </a:pPr>
            <a:r>
              <a:rPr lang="en-US" sz="1400" b="1" dirty="0">
                <a:latin typeface="Helvetica" charset="0"/>
              </a:rPr>
              <a:t>                     component design</a:t>
            </a:r>
            <a:endParaRPr lang="en-US" b="1" dirty="0">
              <a:latin typeface="Helvetica" charset="0"/>
            </a:endParaRPr>
          </a:p>
          <a:p>
            <a:pPr lvl="2">
              <a:defRPr/>
            </a:pPr>
            <a:r>
              <a:rPr lang="en-US" sz="1200" b="1" dirty="0">
                <a:latin typeface="Helvetica" charset="0"/>
              </a:rPr>
              <a:t>  work products:</a:t>
            </a:r>
            <a:r>
              <a:rPr lang="en-US" b="1" dirty="0">
                <a:latin typeface="Helvetica" charset="0"/>
              </a:rPr>
              <a:t> </a:t>
            </a:r>
            <a:r>
              <a:rPr lang="en-US" sz="1400" b="1" dirty="0">
                <a:latin typeface="Helvetica" charset="0"/>
              </a:rPr>
              <a:t>design model</a:t>
            </a:r>
          </a:p>
          <a:p>
            <a:pPr lvl="2">
              <a:defRPr/>
            </a:pPr>
            <a:r>
              <a:rPr lang="en-US" sz="1400" b="1" dirty="0">
                <a:latin typeface="Helvetica" charset="0"/>
              </a:rPr>
              <a:t>            and/or  design specification</a:t>
            </a:r>
          </a:p>
          <a:p>
            <a:pPr lvl="2">
              <a:lnSpc>
                <a:spcPts val="1200"/>
              </a:lnSpc>
              <a:defRPr/>
            </a:pPr>
            <a:endParaRPr lang="en-US" sz="1400" b="1" dirty="0">
              <a:latin typeface="Helvetica" charset="0"/>
            </a:endParaRPr>
          </a:p>
          <a:p>
            <a:pPr lvl="1">
              <a:lnSpc>
                <a:spcPct val="115000"/>
              </a:lnSpc>
              <a:defRPr/>
            </a:pPr>
            <a:r>
              <a:rPr lang="en-US" b="1" dirty="0">
                <a:latin typeface="Palatino" charset="0"/>
              </a:rPr>
              <a:t>Umbrella Activities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47638"/>
            <a:ext cx="7772400" cy="617537"/>
          </a:xfrm>
        </p:spPr>
        <p:txBody>
          <a:bodyPr>
            <a:normAutofit fontScale="90000"/>
          </a:bodyPr>
          <a:lstStyle/>
          <a:p>
            <a:r>
              <a:rPr lang="en-US" sz="3600" b="1" smtClean="0"/>
              <a:t>Framework Activities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28600" y="1411883"/>
            <a:ext cx="8610600" cy="489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dirty="0">
                <a:latin typeface="+mn-lt"/>
                <a:cs typeface="+mn-cs"/>
              </a:rPr>
              <a:t>Communication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dirty="0">
                <a:latin typeface="+mn-lt"/>
                <a:cs typeface="+mn-cs"/>
              </a:rPr>
              <a:t>Involves communication among the customer and other stake holders; encompasses requirements gathering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dirty="0">
                <a:latin typeface="+mn-lt"/>
                <a:cs typeface="+mn-cs"/>
              </a:rPr>
              <a:t>Planning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dirty="0">
                <a:latin typeface="+mn-lt"/>
                <a:cs typeface="+mn-cs"/>
              </a:rPr>
              <a:t>Establishes a plan for software engineering work; addresses technical tasks, resources, work products, and work schedule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dirty="0">
                <a:latin typeface="+mn-lt"/>
                <a:cs typeface="+mn-cs"/>
              </a:rPr>
              <a:t>Modeling (Analyze, Design)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dirty="0">
                <a:latin typeface="+mn-lt"/>
                <a:cs typeface="+mn-cs"/>
              </a:rPr>
              <a:t>Encompasses the creation of models to better understand the requirements and the design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dirty="0">
                <a:latin typeface="+mn-lt"/>
                <a:cs typeface="+mn-cs"/>
              </a:rPr>
              <a:t>Construction (Code, Test)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dirty="0">
                <a:latin typeface="+mn-lt"/>
                <a:cs typeface="+mn-cs"/>
              </a:rPr>
              <a:t>Combines code generation and testing to uncover errors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dirty="0">
                <a:latin typeface="+mn-lt"/>
                <a:cs typeface="+mn-cs"/>
              </a:rPr>
              <a:t>Deployment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000" dirty="0">
                <a:latin typeface="+mn-lt"/>
                <a:cs typeface="+mn-cs"/>
              </a:rPr>
              <a:t>Involves delivery of software to the customer for evaluation and feedback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88913"/>
            <a:ext cx="7772400" cy="612775"/>
          </a:xfrm>
        </p:spPr>
        <p:txBody>
          <a:bodyPr>
            <a:normAutofit fontScale="90000"/>
          </a:bodyPr>
          <a:lstStyle/>
          <a:p>
            <a:r>
              <a:rPr lang="en-US" sz="3600" b="1" smtClean="0"/>
              <a:t>Umbrella Activities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685800" y="1449288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charset="0"/>
              <a:buChar char="•"/>
              <a:defRPr/>
            </a:pPr>
            <a:r>
              <a:rPr lang="en-US" sz="2400" dirty="0">
                <a:latin typeface="+mn-lt"/>
                <a:cs typeface="+mn-cs"/>
              </a:rPr>
              <a:t>Software project tracking and control</a:t>
            </a:r>
          </a:p>
          <a:p>
            <a:pPr marL="800100" lvl="1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Calibri" pitchFamily="34" charset="0"/>
              <a:buChar char="–"/>
              <a:defRPr/>
            </a:pPr>
            <a:r>
              <a:rPr lang="en-US" sz="2000" dirty="0">
                <a:latin typeface="+mn-lt"/>
                <a:cs typeface="+mn-cs"/>
              </a:rPr>
              <a:t>Assess progress against the plan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600"/>
              </a:spcBef>
              <a:spcAft>
                <a:spcPts val="900"/>
              </a:spcAft>
              <a:buFont typeface="Arial" charset="0"/>
              <a:buChar char="•"/>
              <a:defRPr/>
            </a:pPr>
            <a:r>
              <a:rPr lang="en-US" sz="2400" dirty="0">
                <a:latin typeface="+mn-lt"/>
                <a:cs typeface="+mn-cs"/>
              </a:rPr>
              <a:t>Software quality assurance</a:t>
            </a:r>
          </a:p>
          <a:p>
            <a:pPr marL="800100" lvl="1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Calibri" pitchFamily="34" charset="0"/>
              <a:buChar char="–"/>
              <a:defRPr/>
            </a:pPr>
            <a:r>
              <a:rPr lang="en-US" sz="2000" dirty="0">
                <a:latin typeface="+mn-lt"/>
                <a:cs typeface="+mn-cs"/>
              </a:rPr>
              <a:t>Activities required to ensure quality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600"/>
              </a:spcBef>
              <a:spcAft>
                <a:spcPts val="900"/>
              </a:spcAft>
              <a:buFont typeface="Arial" charset="0"/>
              <a:buChar char="•"/>
              <a:defRPr/>
            </a:pPr>
            <a:r>
              <a:rPr lang="en-US" sz="2400" dirty="0">
                <a:latin typeface="+mn-lt"/>
                <a:cs typeface="+mn-cs"/>
              </a:rPr>
              <a:t>Software configuration management</a:t>
            </a:r>
          </a:p>
          <a:p>
            <a:pPr marL="800100" lvl="1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Calibri" pitchFamily="34" charset="0"/>
              <a:buChar char="–"/>
              <a:defRPr/>
            </a:pPr>
            <a:r>
              <a:rPr lang="en-US" sz="2000" dirty="0">
                <a:latin typeface="+mn-lt"/>
                <a:cs typeface="+mn-cs"/>
              </a:rPr>
              <a:t>Manage effects of change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600"/>
              </a:spcBef>
              <a:spcAft>
                <a:spcPts val="900"/>
              </a:spcAft>
              <a:buFont typeface="Arial" charset="0"/>
              <a:buChar char="•"/>
              <a:defRPr/>
            </a:pPr>
            <a:r>
              <a:rPr lang="en-US" sz="2400" dirty="0">
                <a:latin typeface="+mn-lt"/>
                <a:cs typeface="+mn-cs"/>
              </a:rPr>
              <a:t>Technical Reviews</a:t>
            </a:r>
          </a:p>
          <a:p>
            <a:pPr marL="800100" lvl="1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Calibri" pitchFamily="34" charset="0"/>
              <a:buChar char="–"/>
              <a:defRPr/>
            </a:pPr>
            <a:r>
              <a:rPr lang="en-US" sz="2000" dirty="0">
                <a:latin typeface="+mn-lt"/>
                <a:cs typeface="+mn-cs"/>
              </a:rPr>
              <a:t>Uncover errors before going to next activity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600"/>
              </a:spcBef>
              <a:spcAft>
                <a:spcPts val="900"/>
              </a:spcAft>
              <a:buFont typeface="Arial" charset="0"/>
              <a:buChar char="•"/>
              <a:defRPr/>
            </a:pPr>
            <a:r>
              <a:rPr lang="en-US" sz="2400" dirty="0">
                <a:latin typeface="+mn-lt"/>
                <a:cs typeface="+mn-cs"/>
              </a:rPr>
              <a:t>Formal technical reviews</a:t>
            </a:r>
          </a:p>
          <a:p>
            <a:pPr marL="800100" lvl="1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Calibri" pitchFamily="34" charset="0"/>
              <a:buChar char="–"/>
              <a:defRPr/>
            </a:pPr>
            <a:r>
              <a:rPr lang="en-US" sz="2000" dirty="0">
                <a:latin typeface="+mn-lt"/>
                <a:cs typeface="+mn-cs"/>
              </a:rPr>
              <a:t>Assess work products to uncover errors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88913"/>
            <a:ext cx="7772400" cy="612775"/>
          </a:xfrm>
        </p:spPr>
        <p:txBody>
          <a:bodyPr>
            <a:normAutofit fontScale="90000"/>
          </a:bodyPr>
          <a:lstStyle/>
          <a:p>
            <a:r>
              <a:rPr lang="en-US" sz="3600" b="1" smtClean="0"/>
              <a:t>Umbrella Activities </a:t>
            </a:r>
            <a:r>
              <a:rPr lang="en-US" sz="2000" smtClean="0"/>
              <a:t>(contd)</a:t>
            </a:r>
            <a:endParaRPr lang="en-US" sz="3600" smtClean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685800" y="1214438"/>
            <a:ext cx="7772400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charset="0"/>
              <a:buChar char="•"/>
              <a:defRPr/>
            </a:pPr>
            <a:endParaRPr lang="en-US" sz="2000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charset="0"/>
              <a:buChar char="•"/>
              <a:defRPr/>
            </a:pPr>
            <a:r>
              <a:rPr lang="en-US" sz="2400" dirty="0">
                <a:latin typeface="+mn-lt"/>
                <a:cs typeface="+mn-cs"/>
              </a:rPr>
              <a:t>Risk management</a:t>
            </a:r>
          </a:p>
          <a:p>
            <a:pPr marL="800100" lvl="1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Calibri" pitchFamily="34" charset="0"/>
              <a:buChar char="–"/>
              <a:defRPr/>
            </a:pPr>
            <a:r>
              <a:rPr lang="en-US" sz="2000" dirty="0">
                <a:latin typeface="+mn-lt"/>
                <a:cs typeface="+mn-cs"/>
              </a:rPr>
              <a:t>Assess risks that may affect quality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600"/>
              </a:spcBef>
              <a:spcAft>
                <a:spcPts val="900"/>
              </a:spcAft>
              <a:buFont typeface="Arial" charset="0"/>
              <a:buChar char="•"/>
              <a:defRPr/>
            </a:pPr>
            <a:r>
              <a:rPr lang="en-US" sz="2400" dirty="0">
                <a:latin typeface="+mn-lt"/>
                <a:cs typeface="+mn-cs"/>
              </a:rPr>
              <a:t>Measurement – process, project, product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600"/>
              </a:spcBef>
              <a:spcAft>
                <a:spcPts val="900"/>
              </a:spcAft>
              <a:buFont typeface="Arial" charset="0"/>
              <a:buChar char="•"/>
              <a:defRPr/>
            </a:pPr>
            <a:r>
              <a:rPr lang="en-US" sz="2400" dirty="0">
                <a:latin typeface="+mn-lt"/>
                <a:cs typeface="+mn-cs"/>
              </a:rPr>
              <a:t>Reusability management (component reuse)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600"/>
              </a:spcBef>
              <a:spcAft>
                <a:spcPts val="900"/>
              </a:spcAft>
              <a:buFont typeface="Arial" charset="0"/>
              <a:buChar char="•"/>
              <a:defRPr/>
            </a:pPr>
            <a:r>
              <a:rPr lang="en-US" sz="2400" dirty="0">
                <a:latin typeface="+mn-lt"/>
                <a:cs typeface="+mn-cs"/>
              </a:rPr>
              <a:t>Work product preparation and production</a:t>
            </a:r>
          </a:p>
          <a:p>
            <a:pPr marL="800100" lvl="1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Calibri" pitchFamily="34" charset="0"/>
              <a:buChar char="–"/>
              <a:defRPr/>
            </a:pPr>
            <a:r>
              <a:rPr lang="en-US" sz="2000" dirty="0">
                <a:latin typeface="+mn-lt"/>
                <a:cs typeface="+mn-cs"/>
              </a:rPr>
              <a:t>Models, documents, logs</a:t>
            </a:r>
            <a:r>
              <a:rPr lang="en-US" sz="2000" dirty="0" smtClean="0">
                <a:latin typeface="+mn-lt"/>
                <a:cs typeface="+mn-cs"/>
              </a:rPr>
              <a:t>, forms</a:t>
            </a:r>
            <a:r>
              <a:rPr lang="en-US" sz="2000" dirty="0">
                <a:latin typeface="+mn-lt"/>
                <a:cs typeface="+mn-cs"/>
              </a:rPr>
              <a:t>, lists…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600"/>
              </a:spcBef>
              <a:spcAft>
                <a:spcPts val="900"/>
              </a:spcAft>
              <a:defRPr/>
            </a:pPr>
            <a:r>
              <a:rPr lang="en-US" sz="2400" dirty="0">
                <a:latin typeface="+mn-lt"/>
                <a:cs typeface="+mn-cs"/>
              </a:rPr>
              <a:t>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8313" y="1443186"/>
            <a:ext cx="8351837" cy="50101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defRPr/>
            </a:pPr>
            <a:r>
              <a:rPr lang="en-US" sz="2000" dirty="0"/>
              <a:t>While all Process Models take same framework and umbrella activities, they differ with regard to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•"/>
              <a:defRPr/>
            </a:pPr>
            <a:r>
              <a:rPr lang="en-US" sz="2000" dirty="0"/>
              <a:t>Overall flow of activities, actions, and tasks and the interdependencies among them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•"/>
              <a:defRPr/>
            </a:pPr>
            <a:r>
              <a:rPr lang="en-US" sz="2000" dirty="0"/>
              <a:t>Degree to which actions and tasks are defined within each framework activity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•"/>
              <a:defRPr/>
            </a:pPr>
            <a:r>
              <a:rPr lang="en-US" sz="2000" dirty="0"/>
              <a:t>Degree to which work products are identified and required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•"/>
              <a:defRPr/>
            </a:pPr>
            <a:r>
              <a:rPr lang="en-US" sz="2000" dirty="0"/>
              <a:t>Manner in which quality assurance activities are applied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•"/>
              <a:defRPr/>
            </a:pPr>
            <a:r>
              <a:rPr lang="en-US" sz="2000" dirty="0"/>
              <a:t>Manner in which project tracking and control activities are applied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•"/>
              <a:defRPr/>
            </a:pPr>
            <a:r>
              <a:rPr lang="en-US" sz="2000" dirty="0"/>
              <a:t>Overall degree of detail and rigor with which the process is described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•"/>
              <a:defRPr/>
            </a:pPr>
            <a:r>
              <a:rPr lang="en-US" sz="2000" dirty="0"/>
              <a:t>Degree to which customer and other stakeholders are involved in the </a:t>
            </a:r>
            <a:r>
              <a:rPr lang="en-US" sz="2000" dirty="0" smtClean="0"/>
              <a:t>project</a:t>
            </a:r>
            <a:endParaRPr lang="en-US" sz="2000" dirty="0"/>
          </a:p>
          <a:p>
            <a:pPr marL="342900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•"/>
              <a:defRPr/>
            </a:pPr>
            <a:r>
              <a:rPr lang="en-US" sz="2000" dirty="0"/>
              <a:t>Level of autonomy given to the software team</a:t>
            </a:r>
          </a:p>
          <a:p>
            <a:pPr marL="342900" indent="-342900" eaLnBrk="0" hangingPunct="0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•"/>
              <a:defRPr/>
            </a:pPr>
            <a:r>
              <a:rPr lang="en-US" sz="2000" dirty="0"/>
              <a:t>Degree to which team organization and roles are prescribed</a:t>
            </a: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88913"/>
            <a:ext cx="7772400" cy="431800"/>
          </a:xfrm>
        </p:spPr>
        <p:txBody>
          <a:bodyPr>
            <a:normAutofit fontScale="90000"/>
          </a:bodyPr>
          <a:lstStyle/>
          <a:p>
            <a:r>
              <a:rPr lang="en-US" sz="3600" b="1" smtClean="0"/>
              <a:t>How Process Models Differ?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490537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/>
              <a:t>Process Patterns</a:t>
            </a:r>
            <a:endParaRPr lang="en-IN" sz="4000" b="1" dirty="0" smtClean="0"/>
          </a:p>
        </p:txBody>
      </p:sp>
      <p:sp>
        <p:nvSpPr>
          <p:cNvPr id="30723" name="Content Placeholder 2"/>
          <p:cNvSpPr>
            <a:spLocks noGrp="1"/>
          </p:cNvSpPr>
          <p:nvPr>
            <p:ph idx="4294967295"/>
          </p:nvPr>
        </p:nvSpPr>
        <p:spPr>
          <a:xfrm>
            <a:off x="214064" y="1362670"/>
            <a:ext cx="8534400" cy="4946650"/>
          </a:xfrm>
        </p:spPr>
        <p:txBody>
          <a:bodyPr/>
          <a:lstStyle/>
          <a:p>
            <a:r>
              <a:rPr lang="en-US" dirty="0" smtClean="0"/>
              <a:t>A proven solution to a problem</a:t>
            </a:r>
          </a:p>
          <a:p>
            <a:pPr lvl="1"/>
            <a:r>
              <a:rPr lang="en-US" sz="2400" dirty="0" smtClean="0"/>
              <a:t>Describes process-related problem </a:t>
            </a:r>
          </a:p>
          <a:p>
            <a:pPr lvl="1"/>
            <a:r>
              <a:rPr lang="en-US" sz="2400" dirty="0" smtClean="0"/>
              <a:t>Environment in which it was encountered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A template to describe solution</a:t>
            </a:r>
          </a:p>
          <a:p>
            <a:pPr lvl="1">
              <a:spcBef>
                <a:spcPts val="1200"/>
              </a:spcBef>
            </a:pPr>
            <a:r>
              <a:rPr lang="en-US" sz="2400" dirty="0" smtClean="0"/>
              <a:t>Ambler proposed a template for describing a process pattern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Can be defined at any level of abstraction</a:t>
            </a:r>
          </a:p>
          <a:p>
            <a:pPr lvl="1"/>
            <a:r>
              <a:rPr lang="en-US" sz="2400" dirty="0" smtClean="0"/>
              <a:t>Complete process model (e.g. Prototyping)</a:t>
            </a:r>
          </a:p>
          <a:p>
            <a:pPr lvl="1"/>
            <a:r>
              <a:rPr lang="en-US" sz="2400" dirty="0" smtClean="0"/>
              <a:t>Frame work activity (e.g. Planning)</a:t>
            </a:r>
          </a:p>
          <a:p>
            <a:pPr lvl="1"/>
            <a:r>
              <a:rPr lang="en-US" sz="2400" dirty="0" smtClean="0"/>
              <a:t>An action within framework activity (e.g. Estimation)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 idx="4294967295"/>
          </p:nvPr>
        </p:nvSpPr>
        <p:spPr>
          <a:xfrm>
            <a:off x="0" y="142875"/>
            <a:ext cx="6444208" cy="582613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Process Patterns – Ambler’s Template</a:t>
            </a:r>
            <a:endParaRPr lang="en-IN" sz="2800" b="1" dirty="0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4294967295"/>
          </p:nvPr>
        </p:nvSpPr>
        <p:spPr>
          <a:xfrm>
            <a:off x="389706" y="1381844"/>
            <a:ext cx="8286750" cy="5143500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en-US" sz="2800" dirty="0" smtClean="0"/>
              <a:t>Pattern Name</a:t>
            </a:r>
          </a:p>
          <a:p>
            <a:pPr>
              <a:spcBef>
                <a:spcPts val="600"/>
              </a:spcBef>
            </a:pPr>
            <a:r>
              <a:rPr lang="en-US" sz="2800" dirty="0" smtClean="0"/>
              <a:t>Forces</a:t>
            </a:r>
          </a:p>
          <a:p>
            <a:pPr lvl="1">
              <a:spcBef>
                <a:spcPct val="0"/>
              </a:spcBef>
            </a:pPr>
            <a:r>
              <a:rPr lang="en-US" sz="2000" dirty="0" smtClean="0"/>
              <a:t>Describes environment of the problem </a:t>
            </a:r>
          </a:p>
          <a:p>
            <a:pPr>
              <a:spcBef>
                <a:spcPts val="600"/>
              </a:spcBef>
            </a:pPr>
            <a:r>
              <a:rPr lang="en-US" sz="2800" dirty="0" smtClean="0"/>
              <a:t>Type</a:t>
            </a:r>
          </a:p>
          <a:p>
            <a:pPr lvl="1">
              <a:spcBef>
                <a:spcPct val="0"/>
              </a:spcBef>
            </a:pPr>
            <a:r>
              <a:rPr lang="en-US" sz="2000" dirty="0" smtClean="0"/>
              <a:t>Phase (e.g. Prototyping), Stage (e.g. Planning), or Task (e.g. Estimation)</a:t>
            </a:r>
          </a:p>
          <a:p>
            <a:pPr>
              <a:spcBef>
                <a:spcPts val="600"/>
              </a:spcBef>
            </a:pPr>
            <a:r>
              <a:rPr lang="en-US" sz="2800" dirty="0" smtClean="0"/>
              <a:t>Initial Context</a:t>
            </a:r>
          </a:p>
          <a:p>
            <a:pPr>
              <a:spcBef>
                <a:spcPts val="600"/>
              </a:spcBef>
            </a:pPr>
            <a:r>
              <a:rPr lang="en-US" sz="2800" dirty="0" smtClean="0"/>
              <a:t>Problem</a:t>
            </a:r>
          </a:p>
          <a:p>
            <a:pPr>
              <a:spcBef>
                <a:spcPts val="600"/>
              </a:spcBef>
            </a:pPr>
            <a:r>
              <a:rPr lang="en-US" sz="2800" dirty="0" smtClean="0"/>
              <a:t>Solution</a:t>
            </a:r>
          </a:p>
          <a:p>
            <a:pPr>
              <a:spcBef>
                <a:spcPts val="600"/>
              </a:spcBef>
            </a:pPr>
            <a:r>
              <a:rPr lang="en-US" sz="2800" dirty="0" smtClean="0"/>
              <a:t>Resulting Context</a:t>
            </a:r>
          </a:p>
          <a:p>
            <a:pPr>
              <a:spcBef>
                <a:spcPts val="600"/>
              </a:spcBef>
            </a:pPr>
            <a:r>
              <a:rPr lang="en-US" sz="2800" dirty="0" smtClean="0"/>
              <a:t>Related Patterns</a:t>
            </a:r>
          </a:p>
          <a:p>
            <a:pPr>
              <a:spcBef>
                <a:spcPts val="600"/>
              </a:spcBef>
            </a:pPr>
            <a:r>
              <a:rPr lang="en-US" sz="2800" dirty="0" smtClean="0"/>
              <a:t>Known  uses &amp; examples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504" y="260921"/>
            <a:ext cx="6338664" cy="359767"/>
          </a:xfrm>
        </p:spPr>
        <p:txBody>
          <a:bodyPr>
            <a:normAutofit fontScale="90000"/>
          </a:bodyPr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b="1" dirty="0" smtClean="0"/>
              <a:t>Software Engineering Context</a:t>
            </a:r>
            <a:endParaRPr lang="en-GB" sz="2400" b="1" dirty="0" smtClean="0"/>
          </a:p>
        </p:txBody>
      </p:sp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1835696" y="2689225"/>
            <a:ext cx="1333500" cy="762000"/>
          </a:xfrm>
          <a:prstGeom prst="hexagon">
            <a:avLst>
              <a:gd name="adj" fmla="val 43750"/>
              <a:gd name="vf" fmla="val 115470"/>
            </a:avLst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spcAft>
                <a:spcPts val="1000"/>
              </a:spcAft>
            </a:pPr>
            <a:r>
              <a:rPr lang="en-US" sz="1400" b="1">
                <a:latin typeface="Times New Roman" pitchFamily="18" charset="0"/>
                <a:cs typeface="Times New Roman" pitchFamily="18" charset="0"/>
              </a:rPr>
              <a:t>Theories</a:t>
            </a:r>
            <a:endParaRPr lang="en-US" sz="1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3493046" y="2689225"/>
            <a:ext cx="1511300" cy="762000"/>
          </a:xfrm>
          <a:prstGeom prst="hexagon">
            <a:avLst>
              <a:gd name="adj" fmla="val 43725"/>
              <a:gd name="vf" fmla="val 115470"/>
            </a:avLst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spcAft>
                <a:spcPts val="1000"/>
              </a:spcAft>
            </a:pPr>
            <a:r>
              <a:rPr lang="en-US" sz="1400" b="1">
                <a:latin typeface="Times New Roman" pitchFamily="18" charset="0"/>
                <a:cs typeface="Times New Roman" pitchFamily="18" charset="0"/>
              </a:rPr>
              <a:t>Computer Functions</a:t>
            </a:r>
            <a:endParaRPr lang="en-US" sz="1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5436146" y="2708275"/>
            <a:ext cx="1333500" cy="762000"/>
          </a:xfrm>
          <a:prstGeom prst="hexagon">
            <a:avLst>
              <a:gd name="adj" fmla="val 43750"/>
              <a:gd name="vf" fmla="val 115470"/>
            </a:avLst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spcAft>
                <a:spcPts val="1000"/>
              </a:spcAft>
            </a:pPr>
            <a:r>
              <a:rPr lang="en-US" sz="1400" b="1">
                <a:latin typeface="Times New Roman" pitchFamily="18" charset="0"/>
                <a:cs typeface="Times New Roman" pitchFamily="18" charset="0"/>
              </a:rPr>
              <a:t>Problem</a:t>
            </a:r>
            <a:endParaRPr lang="en-US" sz="1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3348584" y="5213350"/>
            <a:ext cx="1871662" cy="952500"/>
          </a:xfrm>
          <a:prstGeom prst="hexagon">
            <a:avLst>
              <a:gd name="adj" fmla="val 40492"/>
              <a:gd name="vf" fmla="val 115470"/>
            </a:avLst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sz="1400" b="1">
                <a:latin typeface="Times New Roman" pitchFamily="18" charset="0"/>
                <a:cs typeface="Times New Roman" pitchFamily="18" charset="0"/>
              </a:rPr>
              <a:t>Tools and techniques to solve problem</a:t>
            </a:r>
            <a:endParaRPr lang="en-US" sz="1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569246" y="4079875"/>
            <a:ext cx="1495425" cy="53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sz="1400" b="1">
                <a:latin typeface="Times New Roman" pitchFamily="18" charset="0"/>
                <a:cs typeface="Times New Roman" pitchFamily="18" charset="0"/>
              </a:rPr>
              <a:t>Software Engineering</a:t>
            </a:r>
            <a:endParaRPr lang="en-US" sz="1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2140496" y="1700213"/>
            <a:ext cx="2409825" cy="38893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spcAft>
                <a:spcPts val="1000"/>
              </a:spcAft>
            </a:pPr>
            <a:r>
              <a:rPr lang="en-US" sz="1400" b="1">
                <a:latin typeface="Times New Roman" pitchFamily="18" charset="0"/>
                <a:cs typeface="Times New Roman" pitchFamily="18" charset="0"/>
              </a:rPr>
              <a:t>Computer Science</a:t>
            </a:r>
            <a:endParaRPr lang="en-US" sz="1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226596" y="1700213"/>
            <a:ext cx="1790700" cy="388937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ctr">
              <a:spcAft>
                <a:spcPts val="1000"/>
              </a:spcAft>
            </a:pPr>
            <a:r>
              <a:rPr lang="en-US" sz="1400" b="1">
                <a:latin typeface="Times New Roman" pitchFamily="18" charset="0"/>
                <a:cs typeface="Times New Roman" pitchFamily="18" charset="0"/>
              </a:rPr>
              <a:t>Customer</a:t>
            </a:r>
            <a:endParaRPr lang="en-US" sz="14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AutoShape 9"/>
          <p:cNvCxnSpPr>
            <a:cxnSpLocks noChangeShapeType="1"/>
          </p:cNvCxnSpPr>
          <p:nvPr/>
        </p:nvCxnSpPr>
        <p:spPr bwMode="auto">
          <a:xfrm>
            <a:off x="2511971" y="2089150"/>
            <a:ext cx="0" cy="60007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2" name="AutoShape 10"/>
          <p:cNvCxnSpPr>
            <a:cxnSpLocks noChangeShapeType="1"/>
          </p:cNvCxnSpPr>
          <p:nvPr/>
        </p:nvCxnSpPr>
        <p:spPr bwMode="auto">
          <a:xfrm>
            <a:off x="4216946" y="2089150"/>
            <a:ext cx="0" cy="600075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3" name="AutoShape 11"/>
          <p:cNvCxnSpPr>
            <a:cxnSpLocks noChangeShapeType="1"/>
          </p:cNvCxnSpPr>
          <p:nvPr/>
        </p:nvCxnSpPr>
        <p:spPr bwMode="auto">
          <a:xfrm>
            <a:off x="4283621" y="4629150"/>
            <a:ext cx="0" cy="60007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4" name="AutoShape 12"/>
          <p:cNvCxnSpPr>
            <a:cxnSpLocks noChangeShapeType="1"/>
          </p:cNvCxnSpPr>
          <p:nvPr/>
        </p:nvCxnSpPr>
        <p:spPr bwMode="auto">
          <a:xfrm>
            <a:off x="4283621" y="3448050"/>
            <a:ext cx="0" cy="628650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5" name="AutoShape 13"/>
          <p:cNvCxnSpPr>
            <a:cxnSpLocks noChangeShapeType="1"/>
          </p:cNvCxnSpPr>
          <p:nvPr/>
        </p:nvCxnSpPr>
        <p:spPr bwMode="auto">
          <a:xfrm>
            <a:off x="6064796" y="2108200"/>
            <a:ext cx="0" cy="600075"/>
          </a:xfrm>
          <a:prstGeom prst="straightConnector1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6" name="AutoShape 14"/>
          <p:cNvCxnSpPr>
            <a:cxnSpLocks noChangeShapeType="1"/>
          </p:cNvCxnSpPr>
          <p:nvPr/>
        </p:nvCxnSpPr>
        <p:spPr bwMode="auto">
          <a:xfrm>
            <a:off x="2511971" y="3451225"/>
            <a:ext cx="1057275" cy="895350"/>
          </a:xfrm>
          <a:prstGeom prst="curvedConnector3">
            <a:avLst>
              <a:gd name="adj1" fmla="val -1380"/>
            </a:avLst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17" name="AutoShape 15"/>
          <p:cNvCxnSpPr>
            <a:cxnSpLocks noChangeShapeType="1"/>
          </p:cNvCxnSpPr>
          <p:nvPr/>
        </p:nvCxnSpPr>
        <p:spPr bwMode="auto">
          <a:xfrm rot="10800000" flipV="1">
            <a:off x="5064671" y="3451225"/>
            <a:ext cx="1066800" cy="895350"/>
          </a:xfrm>
          <a:prstGeom prst="curvedConnector3">
            <a:avLst>
              <a:gd name="adj1" fmla="val 889"/>
            </a:avLst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9513" y="152400"/>
            <a:ext cx="6048671" cy="900113"/>
          </a:xfrm>
        </p:spPr>
        <p:txBody>
          <a:bodyPr>
            <a:normAutofit fontScale="90000"/>
          </a:bodyPr>
          <a:lstStyle/>
          <a:p>
            <a:pPr>
              <a:lnSpc>
                <a:spcPts val="3200"/>
              </a:lnSpc>
            </a:pPr>
            <a:r>
              <a:rPr lang="en-US" sz="3400" b="1" dirty="0" smtClean="0"/>
              <a:t>Seven Core Principles for Software Engineering  </a:t>
            </a:r>
            <a:r>
              <a:rPr lang="en-US" sz="2000" dirty="0" smtClean="0"/>
              <a:t>(David Hooker – 1996)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533400" y="1376958"/>
            <a:ext cx="8229600" cy="4932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Tx/>
              <a:buAutoNum type="arabicParenR"/>
              <a:defRPr/>
            </a:pPr>
            <a:r>
              <a:rPr lang="en-US" sz="2000" dirty="0">
                <a:latin typeface="+mn-lt"/>
                <a:cs typeface="+mn-cs"/>
              </a:rPr>
              <a:t>Remember the reason that the software exists</a:t>
            </a:r>
          </a:p>
          <a:p>
            <a:pPr marL="742950" lvl="1" indent="-285750" eaLnBrk="0" hangingPunct="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dirty="0">
                <a:latin typeface="+mn-lt"/>
                <a:cs typeface="+mn-cs"/>
              </a:rPr>
              <a:t>The software should provide value to its users and satisfy the requirements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Tx/>
              <a:buAutoNum type="arabicParenR"/>
              <a:defRPr/>
            </a:pPr>
            <a:r>
              <a:rPr lang="en-US" sz="2000" dirty="0">
                <a:latin typeface="+mn-lt"/>
                <a:cs typeface="+mn-cs"/>
              </a:rPr>
              <a:t>Keep it simple, stupid (KISS)</a:t>
            </a:r>
          </a:p>
          <a:p>
            <a:pPr marL="742950" lvl="1" indent="-285750" eaLnBrk="0" hangingPunct="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dirty="0">
                <a:latin typeface="+mn-lt"/>
                <a:cs typeface="+mn-cs"/>
              </a:rPr>
              <a:t>All design and implementation should be as simple as possible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Tx/>
              <a:buAutoNum type="arabicParenR"/>
              <a:defRPr/>
            </a:pPr>
            <a:r>
              <a:rPr lang="en-US" sz="2000" dirty="0">
                <a:latin typeface="+mn-lt"/>
                <a:cs typeface="+mn-cs"/>
              </a:rPr>
              <a:t>Maintain the vision of the project</a:t>
            </a:r>
          </a:p>
          <a:p>
            <a:pPr marL="742950" lvl="1" indent="-285750" eaLnBrk="0" hangingPunct="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dirty="0">
                <a:latin typeface="+mn-lt"/>
                <a:cs typeface="+mn-cs"/>
              </a:rPr>
              <a:t>A clear vision is essential to the project’s success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Tx/>
              <a:buAutoNum type="arabicParenR"/>
              <a:defRPr/>
            </a:pPr>
            <a:r>
              <a:rPr lang="en-US" sz="2000" dirty="0">
                <a:latin typeface="+mn-lt"/>
                <a:cs typeface="+mn-cs"/>
              </a:rPr>
              <a:t>Others will consume what you produce </a:t>
            </a:r>
          </a:p>
          <a:p>
            <a:pPr marL="742950" lvl="1" indent="-285750" eaLnBrk="0" hangingPunct="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dirty="0">
                <a:latin typeface="+mn-lt"/>
                <a:cs typeface="+mn-cs"/>
              </a:rPr>
              <a:t>Always specify, design, and implement knowing that someone else will later have to understand and modify what you did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Tx/>
              <a:buAutoNum type="arabicParenR"/>
              <a:defRPr/>
            </a:pPr>
            <a:r>
              <a:rPr lang="en-US" sz="2000" dirty="0">
                <a:latin typeface="+mn-lt"/>
                <a:cs typeface="+mn-cs"/>
              </a:rPr>
              <a:t>Be open to the future</a:t>
            </a:r>
          </a:p>
          <a:p>
            <a:pPr marL="742950" lvl="1" indent="-285750" eaLnBrk="0" hangingPunct="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dirty="0">
                <a:latin typeface="+mn-lt"/>
                <a:cs typeface="+mn-cs"/>
              </a:rPr>
              <a:t>Never design yourself into a corner; build software that can be easily changed and adapted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Tx/>
              <a:buAutoNum type="arabicParenR"/>
              <a:defRPr/>
            </a:pPr>
            <a:r>
              <a:rPr lang="en-US" sz="2000" dirty="0">
                <a:latin typeface="+mn-lt"/>
                <a:cs typeface="+mn-cs"/>
              </a:rPr>
              <a:t>Plan ahead for software reuse</a:t>
            </a:r>
          </a:p>
          <a:p>
            <a:pPr marL="742950" lvl="1" indent="-285750" eaLnBrk="0" hangingPunct="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dirty="0">
                <a:latin typeface="+mn-lt"/>
                <a:cs typeface="+mn-cs"/>
              </a:rPr>
              <a:t>Reuse of software reduces the long-term cost and increases the value of the program and the reusable components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Tx/>
              <a:buAutoNum type="arabicParenR"/>
              <a:defRPr/>
            </a:pPr>
            <a:r>
              <a:rPr lang="en-US" sz="2000" dirty="0">
                <a:latin typeface="+mn-lt"/>
                <a:cs typeface="+mn-cs"/>
              </a:rPr>
              <a:t>Think, then act</a:t>
            </a:r>
          </a:p>
          <a:p>
            <a:pPr marL="742950" lvl="1" indent="-285750" eaLnBrk="0" hangingPunct="0">
              <a:lnSpc>
                <a:spcPct val="8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dirty="0">
                <a:latin typeface="+mn-lt"/>
                <a:cs typeface="+mn-cs"/>
              </a:rPr>
              <a:t>Placing clear, complete thought before action will almost always produce better results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28600"/>
            <a:ext cx="7772400" cy="752475"/>
          </a:xfrm>
        </p:spPr>
        <p:txBody>
          <a:bodyPr/>
          <a:lstStyle/>
          <a:p>
            <a:r>
              <a:rPr lang="en-US" sz="3600" b="1" smtClean="0"/>
              <a:t>Software Myths - Management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031" y="1484907"/>
            <a:ext cx="8353425" cy="482441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 smtClean="0"/>
              <a:t>"We already have a book that is full of standards and procedures for building software.  Won't that provide my people with everything they need to know?"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Not used, not up to date, not complete, not focused on quality, time, and money</a:t>
            </a:r>
          </a:p>
          <a:p>
            <a:pPr lvl="1">
              <a:lnSpc>
                <a:spcPct val="90000"/>
              </a:lnSpc>
              <a:buFont typeface="Arial" charset="0"/>
              <a:buNone/>
            </a:pPr>
            <a:endParaRPr lang="en-US" sz="2000" dirty="0" smtClean="0"/>
          </a:p>
          <a:p>
            <a:pPr>
              <a:lnSpc>
                <a:spcPct val="90000"/>
              </a:lnSpc>
            </a:pPr>
            <a:r>
              <a:rPr lang="en-US" sz="2400" dirty="0" smtClean="0"/>
              <a:t>"If we get behind, we can add more programmers and catch up"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Adding people to a late software project makes it later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Training time, increased communication lines</a:t>
            </a:r>
          </a:p>
          <a:p>
            <a:pPr lvl="1">
              <a:lnSpc>
                <a:spcPct val="90000"/>
              </a:lnSpc>
              <a:buFont typeface="Arial" charset="0"/>
              <a:buNone/>
            </a:pPr>
            <a:endParaRPr lang="en-US" sz="2000" dirty="0" smtClean="0"/>
          </a:p>
          <a:p>
            <a:pPr>
              <a:lnSpc>
                <a:spcPct val="90000"/>
              </a:lnSpc>
            </a:pPr>
            <a:r>
              <a:rPr lang="en-US" sz="2400" dirty="0" smtClean="0"/>
              <a:t>"If I decide to outsource the software project to a third party, I can just relax and let that firm build it"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Software projects need to be controlled and managed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706437"/>
          </a:xfrm>
        </p:spPr>
        <p:txBody>
          <a:bodyPr/>
          <a:lstStyle/>
          <a:p>
            <a:r>
              <a:rPr lang="en-US" sz="3600" b="1" smtClean="0"/>
              <a:t>Software Myths - Customer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1690688"/>
            <a:ext cx="7772400" cy="360997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 smtClean="0"/>
              <a:t>"A general statement of objectives is sufficient to begin writing programs – we can fill in the details later"	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Ambiguous statement of objectives spells disaster</a:t>
            </a:r>
          </a:p>
          <a:p>
            <a:pPr lvl="1">
              <a:lnSpc>
                <a:spcPct val="90000"/>
              </a:lnSpc>
              <a:buFont typeface="Arial" charset="0"/>
              <a:buNone/>
            </a:pPr>
            <a:endParaRPr lang="en-US" sz="2000" dirty="0" smtClean="0"/>
          </a:p>
          <a:p>
            <a:pPr>
              <a:lnSpc>
                <a:spcPct val="90000"/>
              </a:lnSpc>
            </a:pPr>
            <a:r>
              <a:rPr lang="en-US" sz="2400" dirty="0" smtClean="0"/>
              <a:t>"Project requirements continually change, but change can be easily accommodated because software is flexible"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Impact of change depends on where and when it occurs in the software life cycle (requirements analysis, design, code, test)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31775"/>
            <a:ext cx="4481513" cy="533400"/>
          </a:xfrm>
          <a:noFill/>
        </p:spPr>
        <p:txBody>
          <a:bodyPr>
            <a:normAutofit fontScale="90000"/>
          </a:bodyPr>
          <a:lstStyle/>
          <a:p>
            <a:r>
              <a:rPr lang="en-US" sz="3600" b="1" smtClean="0"/>
              <a:t>The Cost of Change</a:t>
            </a:r>
          </a:p>
        </p:txBody>
      </p:sp>
      <p:cxnSp>
        <p:nvCxnSpPr>
          <p:cNvPr id="4" name="AutoShape 2"/>
          <p:cNvCxnSpPr>
            <a:cxnSpLocks noChangeShapeType="1"/>
          </p:cNvCxnSpPr>
          <p:nvPr/>
        </p:nvCxnSpPr>
        <p:spPr bwMode="auto">
          <a:xfrm flipV="1">
            <a:off x="2123728" y="1999382"/>
            <a:ext cx="0" cy="3409950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</p:spPr>
      </p:cxnSp>
      <p:cxnSp>
        <p:nvCxnSpPr>
          <p:cNvPr id="5" name="AutoShape 3"/>
          <p:cNvCxnSpPr>
            <a:cxnSpLocks noChangeShapeType="1"/>
          </p:cNvCxnSpPr>
          <p:nvPr/>
        </p:nvCxnSpPr>
        <p:spPr bwMode="auto">
          <a:xfrm>
            <a:off x="2123728" y="5409332"/>
            <a:ext cx="4657725" cy="0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</p:cxnSp>
      <p:sp>
        <p:nvSpPr>
          <p:cNvPr id="6" name="Rectangle 4" descr="Light downward diagonal"/>
          <p:cNvSpPr>
            <a:spLocks noChangeArrowheads="1"/>
          </p:cNvSpPr>
          <p:nvPr/>
        </p:nvSpPr>
        <p:spPr bwMode="auto">
          <a:xfrm>
            <a:off x="4152553" y="4571132"/>
            <a:ext cx="1028700" cy="838200"/>
          </a:xfrm>
          <a:prstGeom prst="rect">
            <a:avLst/>
          </a:prstGeom>
          <a:pattFill prst="ltDnDiag">
            <a:fgClr>
              <a:srgbClr val="000000"/>
            </a:fgClr>
            <a:bgClr>
              <a:srgbClr val="FFFFFF"/>
            </a:bgClr>
          </a:patt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400">
              <a:latin typeface="Calibri" pitchFamily="34" charset="0"/>
            </a:endParaRPr>
          </a:p>
        </p:txBody>
      </p:sp>
      <p:sp>
        <p:nvSpPr>
          <p:cNvPr id="7" name="Rectangle 5" descr="5%"/>
          <p:cNvSpPr>
            <a:spLocks noChangeArrowheads="1"/>
          </p:cNvSpPr>
          <p:nvPr/>
        </p:nvSpPr>
        <p:spPr bwMode="auto">
          <a:xfrm>
            <a:off x="2733328" y="4971182"/>
            <a:ext cx="1028700" cy="438150"/>
          </a:xfrm>
          <a:prstGeom prst="rect">
            <a:avLst/>
          </a:prstGeom>
          <a:pattFill prst="pct5">
            <a:fgClr>
              <a:srgbClr val="000000"/>
            </a:fgClr>
            <a:bgClr>
              <a:srgbClr val="FFFFFF"/>
            </a:bgClr>
          </a:patt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400">
              <a:latin typeface="Calibri" pitchFamily="34" charset="0"/>
            </a:endParaRPr>
          </a:p>
        </p:txBody>
      </p:sp>
      <p:sp>
        <p:nvSpPr>
          <p:cNvPr id="8" name="AutoShape 6" descr="Dashed downward diagonal"/>
          <p:cNvSpPr>
            <a:spLocks noChangeArrowheads="1"/>
          </p:cNvSpPr>
          <p:nvPr/>
        </p:nvSpPr>
        <p:spPr bwMode="auto">
          <a:xfrm>
            <a:off x="5614641" y="2412132"/>
            <a:ext cx="1003300" cy="1058863"/>
          </a:xfrm>
          <a:prstGeom prst="flowChartDocument">
            <a:avLst/>
          </a:prstGeom>
          <a:pattFill prst="dashDnDiag">
            <a:fgClr>
              <a:srgbClr val="000000"/>
            </a:fgClr>
            <a:bgClr>
              <a:srgbClr val="FFFFFF"/>
            </a:bgClr>
          </a:patt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400">
              <a:latin typeface="Calibri" pitchFamily="34" charset="0"/>
            </a:endParaRPr>
          </a:p>
        </p:txBody>
      </p:sp>
      <p:sp>
        <p:nvSpPr>
          <p:cNvPr id="9" name="AutoShape 7" descr="Dashed downward diagonal"/>
          <p:cNvSpPr>
            <a:spLocks noChangeArrowheads="1"/>
          </p:cNvSpPr>
          <p:nvPr/>
        </p:nvSpPr>
        <p:spPr bwMode="auto">
          <a:xfrm rot="10800000">
            <a:off x="5587653" y="3724995"/>
            <a:ext cx="1030288" cy="1684337"/>
          </a:xfrm>
          <a:prstGeom prst="flowChartDocument">
            <a:avLst/>
          </a:prstGeom>
          <a:pattFill prst="dashDnDiag">
            <a:fgClr>
              <a:srgbClr val="000000"/>
            </a:fgClr>
            <a:bgClr>
              <a:srgbClr val="FFFFFF"/>
            </a:bgClr>
          </a:patt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sz="1400">
              <a:latin typeface="Calibri" pitchFamily="34" charset="0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733328" y="5599832"/>
            <a:ext cx="10287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sz="1400">
                <a:latin typeface="Calibri" pitchFamily="34" charset="0"/>
              </a:rPr>
              <a:t>Definition</a:t>
            </a:r>
            <a:endParaRPr lang="en-US" sz="1400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4044603" y="5599832"/>
            <a:ext cx="1225550" cy="2778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sz="1400">
                <a:latin typeface="Calibri" pitchFamily="34" charset="0"/>
              </a:rPr>
              <a:t>Development</a:t>
            </a:r>
            <a:endParaRPr lang="en-US" sz="1400"/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587653" y="5599832"/>
            <a:ext cx="1338263" cy="27781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sz="1400">
                <a:latin typeface="Calibri" pitchFamily="34" charset="0"/>
              </a:rPr>
              <a:t>After release</a:t>
            </a:r>
            <a:endParaRPr lang="en-US" sz="1400"/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2733328" y="4469532"/>
            <a:ext cx="10287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Aft>
                <a:spcPts val="1000"/>
              </a:spcAft>
            </a:pPr>
            <a:r>
              <a:rPr lang="en-US" sz="1400">
                <a:latin typeface="Calibri" pitchFamily="34" charset="0"/>
              </a:rPr>
              <a:t>1x</a:t>
            </a:r>
            <a:endParaRPr lang="en-US" sz="1400"/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4152553" y="4075832"/>
            <a:ext cx="10287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Aft>
                <a:spcPts val="1000"/>
              </a:spcAft>
            </a:pPr>
            <a:r>
              <a:rPr lang="en-US" sz="1400">
                <a:latin typeface="Calibri" pitchFamily="34" charset="0"/>
              </a:rPr>
              <a:t>1.5-6x</a:t>
            </a:r>
            <a:endParaRPr lang="en-US" sz="1400"/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5587653" y="1916832"/>
            <a:ext cx="1028700" cy="304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Aft>
                <a:spcPts val="1000"/>
              </a:spcAft>
            </a:pPr>
            <a:r>
              <a:rPr lang="en-US" sz="1400">
                <a:latin typeface="Calibri" pitchFamily="34" charset="0"/>
              </a:rPr>
              <a:t>60-100x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9512" y="115888"/>
            <a:ext cx="6080720" cy="711200"/>
          </a:xfrm>
        </p:spPr>
        <p:txBody>
          <a:bodyPr/>
          <a:lstStyle/>
          <a:p>
            <a:r>
              <a:rPr lang="en-US" sz="3600" b="1" dirty="0" smtClean="0"/>
              <a:t>Software Myths - Practitioner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1520" y="1413024"/>
            <a:ext cx="8207375" cy="5040312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sz="2400" dirty="0" smtClean="0"/>
              <a:t>"Once we write the program and get it to work, our job is done"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60% to 80% of all effort expended on software occurs after it is delivered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"Until I get the program running, I have no way of assessing its quality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Formal technical reviews of requirements analysis documents, design documents, and source code (more effective than actual testing)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"The only deliverable work product for a successful project is the working program"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Software, documentation, test drivers, test results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"Software engineering will make us create voluminous and unnecessary documentation and will invariably slow us down"</a:t>
            </a:r>
          </a:p>
          <a:p>
            <a:pPr lvl="1">
              <a:lnSpc>
                <a:spcPct val="90000"/>
              </a:lnSpc>
            </a:pPr>
            <a:r>
              <a:rPr lang="en-US" sz="2000" dirty="0" smtClean="0"/>
              <a:t>Creates quality, not documents; quality reduces rework and provides software on time and within the budget</a:t>
            </a:r>
          </a:p>
          <a:p>
            <a:pPr lvl="1">
              <a:lnSpc>
                <a:spcPct val="90000"/>
              </a:lnSpc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Thank You…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 smtClean="0"/>
              <a:t>Credits 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Software Engineering 7/</a:t>
            </a:r>
            <a:r>
              <a:rPr lang="en-IN" dirty="0" err="1" smtClean="0"/>
              <a:t>ed</a:t>
            </a:r>
            <a:r>
              <a:rPr lang="en-IN" dirty="0" smtClean="0"/>
              <a:t> by Roger Pressman – Reference 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1222</Words>
  <Application>Microsoft Office PowerPoint</Application>
  <PresentationFormat>On-screen Show (4:3)</PresentationFormat>
  <Paragraphs>194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1_Office Theme</vt:lpstr>
      <vt:lpstr>Course Name : Software Engineering</vt:lpstr>
      <vt:lpstr>Software Engineering - Definitions</vt:lpstr>
      <vt:lpstr>A Layered Technology</vt:lpstr>
      <vt:lpstr>Process, Methods, and Tools</vt:lpstr>
      <vt:lpstr>A Process Framework</vt:lpstr>
      <vt:lpstr>A Process Framework</vt:lpstr>
      <vt:lpstr>Framework Activities</vt:lpstr>
      <vt:lpstr>Umbrella Activities</vt:lpstr>
      <vt:lpstr>Umbrella Activities (contd)</vt:lpstr>
      <vt:lpstr>How Process Models Differ?</vt:lpstr>
      <vt:lpstr>Process Patterns</vt:lpstr>
      <vt:lpstr>Process Patterns – Ambler’s Template</vt:lpstr>
      <vt:lpstr>Software Engineering Context</vt:lpstr>
      <vt:lpstr>Seven Core Principles for Software Engineering  (David Hooker – 1996)</vt:lpstr>
      <vt:lpstr>Software Myths - Management</vt:lpstr>
      <vt:lpstr>Software Myths - Customer</vt:lpstr>
      <vt:lpstr>The Cost of Change</vt:lpstr>
      <vt:lpstr>Software Myths - Practitioner</vt:lpstr>
      <vt:lpstr>Thank You…</vt:lpstr>
      <vt:lpstr>Credits 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 Pilani presentation</dc:title>
  <dc:creator>lakshya</dc:creator>
  <cp:lastModifiedBy>T V Rao</cp:lastModifiedBy>
  <cp:revision>26</cp:revision>
  <dcterms:created xsi:type="dcterms:W3CDTF">2012-01-02T05:05:52Z</dcterms:created>
  <dcterms:modified xsi:type="dcterms:W3CDTF">2014-02-26T09:12:40Z</dcterms:modified>
</cp:coreProperties>
</file>