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layout1.xml" ContentType="application/vnd.openxmlformats-officedocument.drawingml.diagram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7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72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B6176DA-5AEF-4367-A8AC-A2E19D3A9F00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5E8A7B6-1AC3-48A4-BA34-9EC872D0F3FD}">
      <dgm:prSet phldrT="[Text]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endParaRPr lang="en-IN" dirty="0"/>
        </a:p>
      </dgm:t>
    </dgm:pt>
    <dgm:pt modelId="{352D695D-7B38-4B55-B5D9-B618AE9C4966}" type="parTrans" cxnId="{C582F9DD-8E7F-4819-B5E8-C303CD0F3223}">
      <dgm:prSet/>
      <dgm:spPr/>
      <dgm:t>
        <a:bodyPr/>
        <a:lstStyle/>
        <a:p>
          <a:endParaRPr lang="en-IN"/>
        </a:p>
      </dgm:t>
    </dgm:pt>
    <dgm:pt modelId="{F25BE6E0-3B89-4ED5-98C3-F7627691F7E8}" type="sibTrans" cxnId="{C582F9DD-8E7F-4819-B5E8-C303CD0F3223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326E5AE7-83B4-43F5-BD6C-868B752E63A8}">
      <dgm:prSet phldrT="[Text]" custT="1"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 sz="2400" dirty="0"/>
        </a:p>
      </dgm:t>
    </dgm:pt>
    <dgm:pt modelId="{34D9C49E-1FC1-49BF-9831-F3DD846985F6}" type="parTrans" cxnId="{1D15F958-DD75-46A8-8164-B6BC14F5090F}">
      <dgm:prSet/>
      <dgm:spPr/>
      <dgm:t>
        <a:bodyPr/>
        <a:lstStyle/>
        <a:p>
          <a:endParaRPr lang="en-IN"/>
        </a:p>
      </dgm:t>
    </dgm:pt>
    <dgm:pt modelId="{3070B5DE-7AEF-446F-BC06-24062199067E}" type="sibTrans" cxnId="{1D15F958-DD75-46A8-8164-B6BC14F5090F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5232FD48-B6BC-4F03-AE34-CC47162D1A77}">
      <dgm:prSet>
        <dgm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 dirty="0"/>
        </a:p>
      </dgm:t>
    </dgm:pt>
    <dgm:pt modelId="{8C5289C4-5786-4E4D-A6FC-5EB56B7FA8F5}" type="parTrans" cxnId="{D2BF102F-F145-47DA-9E17-D98512066F59}">
      <dgm:prSet/>
      <dgm:spPr/>
      <dgm:t>
        <a:bodyPr/>
        <a:lstStyle/>
        <a:p>
          <a:endParaRPr lang="en-IN"/>
        </a:p>
      </dgm:t>
    </dgm:pt>
    <dgm:pt modelId="{7CA1B006-428A-44EF-8D61-E577D03956BE}" type="sibTrans" cxnId="{D2BF102F-F145-47DA-9E17-D98512066F59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116E16A0-2087-4ECD-B9C5-E8C5E586DC16}">
      <dgm:prSet>
        <dgm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 dirty="0"/>
        </a:p>
      </dgm:t>
    </dgm:pt>
    <dgm:pt modelId="{F64D913F-BF5F-4355-9B64-6B8D622EDB14}" type="parTrans" cxnId="{AC75F682-9C9D-4769-8A29-C8FDE42FE81E}">
      <dgm:prSet/>
      <dgm:spPr/>
      <dgm:t>
        <a:bodyPr/>
        <a:lstStyle/>
        <a:p>
          <a:endParaRPr lang="en-IN"/>
        </a:p>
      </dgm:t>
    </dgm:pt>
    <dgm:pt modelId="{05E265B1-76F4-46CD-ABAB-947A087F0893}" type="sibTrans" cxnId="{AC75F682-9C9D-4769-8A29-C8FDE42FE81E}">
      <dgm:prSet/>
      <dgm:spPr/>
      <dgm:t>
        <a:bodyPr/>
        <a:lstStyle/>
        <a:p>
          <a:endParaRPr lang="en-IN"/>
        </a:p>
      </dgm:t>
    </dgm:pt>
    <dgm:pt modelId="{F647F6DF-DA0C-4F54-A3E7-BA32CE4D4A65}">
      <dgm:prSet phldrT="[Text]">
        <dgm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dgm:style>
      </dgm:prSet>
      <dgm:spPr/>
      <dgm:t>
        <a:bodyPr/>
        <a:lstStyle/>
        <a:p>
          <a:pPr algn="ctr"/>
          <a:endParaRPr lang="en-IN" dirty="0"/>
        </a:p>
      </dgm:t>
    </dgm:pt>
    <dgm:pt modelId="{31BA1F83-2AD1-44A2-BA49-7EEFB6E85DD6}" type="sibTrans" cxnId="{1BD2F27B-74F3-4B29-BE45-74A9575E3DC2}">
      <dgm:prSet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IN"/>
        </a:p>
      </dgm:t>
    </dgm:pt>
    <dgm:pt modelId="{2B89CF82-E1C4-4384-94D7-A7E2C1BA1BB8}" type="parTrans" cxnId="{1BD2F27B-74F3-4B29-BE45-74A9575E3DC2}">
      <dgm:prSet/>
      <dgm:spPr/>
      <dgm:t>
        <a:bodyPr/>
        <a:lstStyle/>
        <a:p>
          <a:endParaRPr lang="en-IN"/>
        </a:p>
      </dgm:t>
    </dgm:pt>
    <dgm:pt modelId="{0AE4AA57-989C-4C89-AC91-8408EC60089F}" type="pres">
      <dgm:prSet presAssocID="{EB6176DA-5AEF-4367-A8AC-A2E19D3A9F00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IN"/>
        </a:p>
      </dgm:t>
    </dgm:pt>
    <dgm:pt modelId="{70D4683D-5203-404D-85F8-BE89D095DF0E}" type="pres">
      <dgm:prSet presAssocID="{EB6176DA-5AEF-4367-A8AC-A2E19D3A9F00}" presName="dummyMaxCanvas" presStyleCnt="0">
        <dgm:presLayoutVars/>
      </dgm:prSet>
      <dgm:spPr/>
    </dgm:pt>
    <dgm:pt modelId="{D17FCFF9-58BF-4F79-8416-DB0C6420E5C6}" type="pres">
      <dgm:prSet presAssocID="{EB6176DA-5AEF-4367-A8AC-A2E19D3A9F00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98BC121B-3BCE-44C9-9688-A886A59CA4F2}" type="pres">
      <dgm:prSet presAssocID="{EB6176DA-5AEF-4367-A8AC-A2E19D3A9F00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CE6E07A8-4F38-4DE0-9D17-D33473384051}" type="pres">
      <dgm:prSet presAssocID="{EB6176DA-5AEF-4367-A8AC-A2E19D3A9F00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1A6D70A4-6A3D-42A3-874D-328ABEB5C760}" type="pres">
      <dgm:prSet presAssocID="{EB6176DA-5AEF-4367-A8AC-A2E19D3A9F00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41187E6-C02C-47C0-9976-FEC68C96F40C}" type="pres">
      <dgm:prSet presAssocID="{EB6176DA-5AEF-4367-A8AC-A2E19D3A9F00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C89AB20-048C-4829-89B3-80265AC9ED2B}" type="pres">
      <dgm:prSet presAssocID="{EB6176DA-5AEF-4367-A8AC-A2E19D3A9F00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06439432-3FF4-4342-BFCD-B89BC31303EB}" type="pres">
      <dgm:prSet presAssocID="{EB6176DA-5AEF-4367-A8AC-A2E19D3A9F00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A938D27E-3ACF-4146-81F1-9A717F34E16C}" type="pres">
      <dgm:prSet presAssocID="{EB6176DA-5AEF-4367-A8AC-A2E19D3A9F00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B3FA745F-E4E7-45D0-9C23-19369C4CA39A}" type="pres">
      <dgm:prSet presAssocID="{EB6176DA-5AEF-4367-A8AC-A2E19D3A9F00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2BD36349-BD45-4A0B-BAC8-04C28F192818}" type="pres">
      <dgm:prSet presAssocID="{EB6176DA-5AEF-4367-A8AC-A2E19D3A9F00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F99570F2-F142-4AD8-ACA8-9E729F6AFE92}" type="pres">
      <dgm:prSet presAssocID="{EB6176DA-5AEF-4367-A8AC-A2E19D3A9F00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5F07D2AB-EDA4-4186-8081-D4F99BBAD8CA}" type="pres">
      <dgm:prSet presAssocID="{EB6176DA-5AEF-4367-A8AC-A2E19D3A9F00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EAA4747B-92E9-4EEF-87CD-16F1698FEBCF}" type="pres">
      <dgm:prSet presAssocID="{EB6176DA-5AEF-4367-A8AC-A2E19D3A9F00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  <dgm:pt modelId="{8AACE0FD-38C7-41FF-A523-36D64010B73B}" type="pres">
      <dgm:prSet presAssocID="{EB6176DA-5AEF-4367-A8AC-A2E19D3A9F00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IN"/>
        </a:p>
      </dgm:t>
    </dgm:pt>
  </dgm:ptLst>
  <dgm:cxnLst>
    <dgm:cxn modelId="{4EF4F850-36BF-485A-B020-4D82A0888693}" type="presOf" srcId="{65E8A7B6-1AC3-48A4-BA34-9EC872D0F3FD}" destId="{F99570F2-F142-4AD8-ACA8-9E729F6AFE92}" srcOrd="1" destOrd="0" presId="urn:microsoft.com/office/officeart/2005/8/layout/vProcess5"/>
    <dgm:cxn modelId="{C0B1F84D-2F0E-4DAF-AC24-C30A576E516C}" type="presOf" srcId="{EB6176DA-5AEF-4367-A8AC-A2E19D3A9F00}" destId="{0AE4AA57-989C-4C89-AC91-8408EC60089F}" srcOrd="0" destOrd="0" presId="urn:microsoft.com/office/officeart/2005/8/layout/vProcess5"/>
    <dgm:cxn modelId="{E6CEADE8-FDB7-4A62-8FE3-E704DBD0EED2}" type="presOf" srcId="{116E16A0-2087-4ECD-B9C5-E8C5E586DC16}" destId="{841187E6-C02C-47C0-9976-FEC68C96F40C}" srcOrd="0" destOrd="0" presId="urn:microsoft.com/office/officeart/2005/8/layout/vProcess5"/>
    <dgm:cxn modelId="{C582F9DD-8E7F-4819-B5E8-C303CD0F3223}" srcId="{EB6176DA-5AEF-4367-A8AC-A2E19D3A9F00}" destId="{65E8A7B6-1AC3-48A4-BA34-9EC872D0F3FD}" srcOrd="1" destOrd="0" parTransId="{352D695D-7B38-4B55-B5D9-B618AE9C4966}" sibTransId="{F25BE6E0-3B89-4ED5-98C3-F7627691F7E8}"/>
    <dgm:cxn modelId="{F00C8E95-76C0-4017-93D6-0539FE1BEB6F}" type="presOf" srcId="{326E5AE7-83B4-43F5-BD6C-868B752E63A8}" destId="{5F07D2AB-EDA4-4186-8081-D4F99BBAD8CA}" srcOrd="1" destOrd="0" presId="urn:microsoft.com/office/officeart/2005/8/layout/vProcess5"/>
    <dgm:cxn modelId="{9D7D4252-7C41-4E10-9694-F75E95988EDE}" type="presOf" srcId="{31BA1F83-2AD1-44A2-BA49-7EEFB6E85DD6}" destId="{BC89AB20-048C-4829-89B3-80265AC9ED2B}" srcOrd="0" destOrd="0" presId="urn:microsoft.com/office/officeart/2005/8/layout/vProcess5"/>
    <dgm:cxn modelId="{970B3780-EC4B-4925-A11F-F4F84F07971C}" type="presOf" srcId="{F647F6DF-DA0C-4F54-A3E7-BA32CE4D4A65}" destId="{D17FCFF9-58BF-4F79-8416-DB0C6420E5C6}" srcOrd="0" destOrd="0" presId="urn:microsoft.com/office/officeart/2005/8/layout/vProcess5"/>
    <dgm:cxn modelId="{6C4AEFB4-D5D6-4AF8-BD98-A06B680427F7}" type="presOf" srcId="{F25BE6E0-3B89-4ED5-98C3-F7627691F7E8}" destId="{06439432-3FF4-4342-BFCD-B89BC31303EB}" srcOrd="0" destOrd="0" presId="urn:microsoft.com/office/officeart/2005/8/layout/vProcess5"/>
    <dgm:cxn modelId="{1D15F958-DD75-46A8-8164-B6BC14F5090F}" srcId="{EB6176DA-5AEF-4367-A8AC-A2E19D3A9F00}" destId="{326E5AE7-83B4-43F5-BD6C-868B752E63A8}" srcOrd="2" destOrd="0" parTransId="{34D9C49E-1FC1-49BF-9831-F3DD846985F6}" sibTransId="{3070B5DE-7AEF-446F-BC06-24062199067E}"/>
    <dgm:cxn modelId="{527DD2B2-8F03-42AE-BAB5-605D618B3E53}" type="presOf" srcId="{65E8A7B6-1AC3-48A4-BA34-9EC872D0F3FD}" destId="{98BC121B-3BCE-44C9-9688-A886A59CA4F2}" srcOrd="0" destOrd="0" presId="urn:microsoft.com/office/officeart/2005/8/layout/vProcess5"/>
    <dgm:cxn modelId="{D7D4A229-D1E1-4C09-AB1E-83A76F7A0551}" type="presOf" srcId="{326E5AE7-83B4-43F5-BD6C-868B752E63A8}" destId="{CE6E07A8-4F38-4DE0-9D17-D33473384051}" srcOrd="0" destOrd="0" presId="urn:microsoft.com/office/officeart/2005/8/layout/vProcess5"/>
    <dgm:cxn modelId="{8ED93763-750D-4EA1-B5F1-11A09007404F}" type="presOf" srcId="{F647F6DF-DA0C-4F54-A3E7-BA32CE4D4A65}" destId="{2BD36349-BD45-4A0B-BAC8-04C28F192818}" srcOrd="1" destOrd="0" presId="urn:microsoft.com/office/officeart/2005/8/layout/vProcess5"/>
    <dgm:cxn modelId="{0656A415-E7B3-49FD-9AB4-A071DD555250}" type="presOf" srcId="{7CA1B006-428A-44EF-8D61-E577D03956BE}" destId="{B3FA745F-E4E7-45D0-9C23-19369C4CA39A}" srcOrd="0" destOrd="0" presId="urn:microsoft.com/office/officeart/2005/8/layout/vProcess5"/>
    <dgm:cxn modelId="{AC75F682-9C9D-4769-8A29-C8FDE42FE81E}" srcId="{EB6176DA-5AEF-4367-A8AC-A2E19D3A9F00}" destId="{116E16A0-2087-4ECD-B9C5-E8C5E586DC16}" srcOrd="4" destOrd="0" parTransId="{F64D913F-BF5F-4355-9B64-6B8D622EDB14}" sibTransId="{05E265B1-76F4-46CD-ABAB-947A087F0893}"/>
    <dgm:cxn modelId="{EC56EB8F-B998-45B8-ACBA-5D0213A03F9B}" type="presOf" srcId="{5232FD48-B6BC-4F03-AE34-CC47162D1A77}" destId="{1A6D70A4-6A3D-42A3-874D-328ABEB5C760}" srcOrd="0" destOrd="0" presId="urn:microsoft.com/office/officeart/2005/8/layout/vProcess5"/>
    <dgm:cxn modelId="{1BD2F27B-74F3-4B29-BE45-74A9575E3DC2}" srcId="{EB6176DA-5AEF-4367-A8AC-A2E19D3A9F00}" destId="{F647F6DF-DA0C-4F54-A3E7-BA32CE4D4A65}" srcOrd="0" destOrd="0" parTransId="{2B89CF82-E1C4-4384-94D7-A7E2C1BA1BB8}" sibTransId="{31BA1F83-2AD1-44A2-BA49-7EEFB6E85DD6}"/>
    <dgm:cxn modelId="{6DC0A3AB-5D11-44E4-8561-754321E51893}" type="presOf" srcId="{5232FD48-B6BC-4F03-AE34-CC47162D1A77}" destId="{EAA4747B-92E9-4EEF-87CD-16F1698FEBCF}" srcOrd="1" destOrd="0" presId="urn:microsoft.com/office/officeart/2005/8/layout/vProcess5"/>
    <dgm:cxn modelId="{68D9CFE0-9D25-48EE-844D-0B2CABF4FF8A}" type="presOf" srcId="{116E16A0-2087-4ECD-B9C5-E8C5E586DC16}" destId="{8AACE0FD-38C7-41FF-A523-36D64010B73B}" srcOrd="1" destOrd="0" presId="urn:microsoft.com/office/officeart/2005/8/layout/vProcess5"/>
    <dgm:cxn modelId="{D2BF102F-F145-47DA-9E17-D98512066F59}" srcId="{EB6176DA-5AEF-4367-A8AC-A2E19D3A9F00}" destId="{5232FD48-B6BC-4F03-AE34-CC47162D1A77}" srcOrd="3" destOrd="0" parTransId="{8C5289C4-5786-4E4D-A6FC-5EB56B7FA8F5}" sibTransId="{7CA1B006-428A-44EF-8D61-E577D03956BE}"/>
    <dgm:cxn modelId="{4AA97748-F024-490E-987C-0C572D0C259C}" type="presOf" srcId="{3070B5DE-7AEF-446F-BC06-24062199067E}" destId="{A938D27E-3ACF-4146-81F1-9A717F34E16C}" srcOrd="0" destOrd="0" presId="urn:microsoft.com/office/officeart/2005/8/layout/vProcess5"/>
    <dgm:cxn modelId="{B195A04E-F235-46AB-AD03-BB16AA9BE361}" type="presParOf" srcId="{0AE4AA57-989C-4C89-AC91-8408EC60089F}" destId="{70D4683D-5203-404D-85F8-BE89D095DF0E}" srcOrd="0" destOrd="0" presId="urn:microsoft.com/office/officeart/2005/8/layout/vProcess5"/>
    <dgm:cxn modelId="{CC75F49C-9C91-4C7E-A4FC-3267C5CC016B}" type="presParOf" srcId="{0AE4AA57-989C-4C89-AC91-8408EC60089F}" destId="{D17FCFF9-58BF-4F79-8416-DB0C6420E5C6}" srcOrd="1" destOrd="0" presId="urn:microsoft.com/office/officeart/2005/8/layout/vProcess5"/>
    <dgm:cxn modelId="{5A0022E9-F32C-4910-B12E-D8083C9BE828}" type="presParOf" srcId="{0AE4AA57-989C-4C89-AC91-8408EC60089F}" destId="{98BC121B-3BCE-44C9-9688-A886A59CA4F2}" srcOrd="2" destOrd="0" presId="urn:microsoft.com/office/officeart/2005/8/layout/vProcess5"/>
    <dgm:cxn modelId="{7B99AD53-9045-4051-BA7A-F6CDF0DC41D5}" type="presParOf" srcId="{0AE4AA57-989C-4C89-AC91-8408EC60089F}" destId="{CE6E07A8-4F38-4DE0-9D17-D33473384051}" srcOrd="3" destOrd="0" presId="urn:microsoft.com/office/officeart/2005/8/layout/vProcess5"/>
    <dgm:cxn modelId="{9A591971-0D6F-4408-817F-26BF80454ADB}" type="presParOf" srcId="{0AE4AA57-989C-4C89-AC91-8408EC60089F}" destId="{1A6D70A4-6A3D-42A3-874D-328ABEB5C760}" srcOrd="4" destOrd="0" presId="urn:microsoft.com/office/officeart/2005/8/layout/vProcess5"/>
    <dgm:cxn modelId="{CA7D29B8-7F07-40F8-9993-3624AADE0D7C}" type="presParOf" srcId="{0AE4AA57-989C-4C89-AC91-8408EC60089F}" destId="{841187E6-C02C-47C0-9976-FEC68C96F40C}" srcOrd="5" destOrd="0" presId="urn:microsoft.com/office/officeart/2005/8/layout/vProcess5"/>
    <dgm:cxn modelId="{264A6F98-A896-4201-B022-7261A6BB2AB6}" type="presParOf" srcId="{0AE4AA57-989C-4C89-AC91-8408EC60089F}" destId="{BC89AB20-048C-4829-89B3-80265AC9ED2B}" srcOrd="6" destOrd="0" presId="urn:microsoft.com/office/officeart/2005/8/layout/vProcess5"/>
    <dgm:cxn modelId="{69C93F1E-4799-4113-A753-FB1029A0F29E}" type="presParOf" srcId="{0AE4AA57-989C-4C89-AC91-8408EC60089F}" destId="{06439432-3FF4-4342-BFCD-B89BC31303EB}" srcOrd="7" destOrd="0" presId="urn:microsoft.com/office/officeart/2005/8/layout/vProcess5"/>
    <dgm:cxn modelId="{0D790FD2-E14F-4C2C-BCB3-83F1D0C4E1D4}" type="presParOf" srcId="{0AE4AA57-989C-4C89-AC91-8408EC60089F}" destId="{A938D27E-3ACF-4146-81F1-9A717F34E16C}" srcOrd="8" destOrd="0" presId="urn:microsoft.com/office/officeart/2005/8/layout/vProcess5"/>
    <dgm:cxn modelId="{10E24EF8-31AE-4677-850C-A7C8D23DFF32}" type="presParOf" srcId="{0AE4AA57-989C-4C89-AC91-8408EC60089F}" destId="{B3FA745F-E4E7-45D0-9C23-19369C4CA39A}" srcOrd="9" destOrd="0" presId="urn:microsoft.com/office/officeart/2005/8/layout/vProcess5"/>
    <dgm:cxn modelId="{BBC73935-D7F2-48C6-9893-0ED85F60871D}" type="presParOf" srcId="{0AE4AA57-989C-4C89-AC91-8408EC60089F}" destId="{2BD36349-BD45-4A0B-BAC8-04C28F192818}" srcOrd="10" destOrd="0" presId="urn:microsoft.com/office/officeart/2005/8/layout/vProcess5"/>
    <dgm:cxn modelId="{85A826DC-1812-4AA1-8D44-DE35FEE5F715}" type="presParOf" srcId="{0AE4AA57-989C-4C89-AC91-8408EC60089F}" destId="{F99570F2-F142-4AD8-ACA8-9E729F6AFE92}" srcOrd="11" destOrd="0" presId="urn:microsoft.com/office/officeart/2005/8/layout/vProcess5"/>
    <dgm:cxn modelId="{E373535C-9F60-4BF3-BD08-051B7FC71E4F}" type="presParOf" srcId="{0AE4AA57-989C-4C89-AC91-8408EC60089F}" destId="{5F07D2AB-EDA4-4186-8081-D4F99BBAD8CA}" srcOrd="12" destOrd="0" presId="urn:microsoft.com/office/officeart/2005/8/layout/vProcess5"/>
    <dgm:cxn modelId="{7511CF37-AF07-4BF0-A65D-60518F70AFCD}" type="presParOf" srcId="{0AE4AA57-989C-4C89-AC91-8408EC60089F}" destId="{EAA4747B-92E9-4EEF-87CD-16F1698FEBCF}" srcOrd="13" destOrd="0" presId="urn:microsoft.com/office/officeart/2005/8/layout/vProcess5"/>
    <dgm:cxn modelId="{FDAD5356-9F0B-403B-AF65-98C4825D555C}" type="presParOf" srcId="{0AE4AA57-989C-4C89-AC91-8408EC60089F}" destId="{8AACE0FD-38C7-41FF-A523-36D64010B73B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D17FCFF9-58BF-4F79-8416-DB0C6420E5C6}">
      <dsp:nvSpPr>
        <dsp:cNvPr id="0" name=""/>
        <dsp:cNvSpPr/>
      </dsp:nvSpPr>
      <dsp:spPr>
        <a:xfrm>
          <a:off x="0" y="0"/>
          <a:ext cx="5347548" cy="86739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2">
                <a:tint val="50000"/>
                <a:satMod val="300000"/>
              </a:schemeClr>
            </a:gs>
            <a:gs pos="35000">
              <a:schemeClr val="accent2">
                <a:tint val="37000"/>
                <a:satMod val="300000"/>
              </a:schemeClr>
            </a:gs>
            <a:gs pos="100000">
              <a:schemeClr val="accent2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2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700" kern="1200" dirty="0"/>
        </a:p>
      </dsp:txBody>
      <dsp:txXfrm>
        <a:off x="0" y="0"/>
        <a:ext cx="4360881" cy="867399"/>
      </dsp:txXfrm>
    </dsp:sp>
    <dsp:sp modelId="{98BC121B-3BCE-44C9-9688-A886A59CA4F2}">
      <dsp:nvSpPr>
        <dsp:cNvPr id="0" name=""/>
        <dsp:cNvSpPr/>
      </dsp:nvSpPr>
      <dsp:spPr>
        <a:xfrm>
          <a:off x="399329" y="987872"/>
          <a:ext cx="5347548" cy="86739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700" kern="1200" dirty="0"/>
        </a:p>
      </dsp:txBody>
      <dsp:txXfrm>
        <a:off x="399329" y="987872"/>
        <a:ext cx="4384408" cy="867399"/>
      </dsp:txXfrm>
    </dsp:sp>
    <dsp:sp modelId="{CE6E07A8-4F38-4DE0-9D17-D33473384051}">
      <dsp:nvSpPr>
        <dsp:cNvPr id="0" name=""/>
        <dsp:cNvSpPr/>
      </dsp:nvSpPr>
      <dsp:spPr>
        <a:xfrm>
          <a:off x="798659" y="1975744"/>
          <a:ext cx="5347548" cy="86739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6">
                <a:tint val="50000"/>
                <a:satMod val="300000"/>
              </a:schemeClr>
            </a:gs>
            <a:gs pos="35000">
              <a:schemeClr val="accent6">
                <a:tint val="37000"/>
                <a:satMod val="300000"/>
              </a:schemeClr>
            </a:gs>
            <a:gs pos="100000">
              <a:schemeClr val="accent6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400" kern="1200" dirty="0"/>
        </a:p>
      </dsp:txBody>
      <dsp:txXfrm>
        <a:off x="798659" y="1975744"/>
        <a:ext cx="4384408" cy="867399"/>
      </dsp:txXfrm>
    </dsp:sp>
    <dsp:sp modelId="{1A6D70A4-6A3D-42A3-874D-328ABEB5C760}">
      <dsp:nvSpPr>
        <dsp:cNvPr id="0" name=""/>
        <dsp:cNvSpPr/>
      </dsp:nvSpPr>
      <dsp:spPr>
        <a:xfrm>
          <a:off x="1197989" y="2963616"/>
          <a:ext cx="5347548" cy="86739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1">
                <a:tint val="50000"/>
                <a:satMod val="300000"/>
              </a:schemeClr>
            </a:gs>
            <a:gs pos="35000">
              <a:schemeClr val="accent1">
                <a:tint val="37000"/>
                <a:satMod val="300000"/>
              </a:schemeClr>
            </a:gs>
            <a:gs pos="100000">
              <a:schemeClr val="accent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1"/>
        </a:lnRef>
        <a:fillRef idx="2">
          <a:schemeClr val="accent1"/>
        </a:fillRef>
        <a:effectRef idx="1">
          <a:schemeClr val="accent1"/>
        </a:effectRef>
        <a:fontRef idx="minor">
          <a:schemeClr val="dk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700" kern="1200" dirty="0"/>
        </a:p>
      </dsp:txBody>
      <dsp:txXfrm>
        <a:off x="1197989" y="2963616"/>
        <a:ext cx="4384408" cy="867399"/>
      </dsp:txXfrm>
    </dsp:sp>
    <dsp:sp modelId="{841187E6-C02C-47C0-9976-FEC68C96F40C}">
      <dsp:nvSpPr>
        <dsp:cNvPr id="0" name=""/>
        <dsp:cNvSpPr/>
      </dsp:nvSpPr>
      <dsp:spPr>
        <a:xfrm>
          <a:off x="1597319" y="3951488"/>
          <a:ext cx="5347548" cy="867399"/>
        </a:xfrm>
        <a:prstGeom prst="roundRect">
          <a:avLst>
            <a:gd name="adj" fmla="val 10000"/>
          </a:avLst>
        </a:prstGeom>
        <a:gradFill rotWithShape="1">
          <a:gsLst>
            <a:gs pos="0">
              <a:schemeClr val="accent4">
                <a:tint val="50000"/>
                <a:satMod val="300000"/>
              </a:schemeClr>
            </a:gs>
            <a:gs pos="35000">
              <a:schemeClr val="accent4">
                <a:tint val="37000"/>
                <a:satMod val="300000"/>
              </a:schemeClr>
            </a:gs>
            <a:gs pos="100000">
              <a:schemeClr val="accent4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4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accent4"/>
        </a:lnRef>
        <a:fillRef idx="2">
          <a:schemeClr val="accent4"/>
        </a:fillRef>
        <a:effectRef idx="1">
          <a:schemeClr val="accent4"/>
        </a:effectRef>
        <a:fontRef idx="minor">
          <a:schemeClr val="dk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3700" kern="1200" dirty="0"/>
        </a:p>
      </dsp:txBody>
      <dsp:txXfrm>
        <a:off x="1597319" y="3951488"/>
        <a:ext cx="4384408" cy="867399"/>
      </dsp:txXfrm>
    </dsp:sp>
    <dsp:sp modelId="{BC89AB20-048C-4829-89B3-80265AC9ED2B}">
      <dsp:nvSpPr>
        <dsp:cNvPr id="0" name=""/>
        <dsp:cNvSpPr/>
      </dsp:nvSpPr>
      <dsp:spPr>
        <a:xfrm>
          <a:off x="4783738" y="633683"/>
          <a:ext cx="563809" cy="563809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500" kern="1200"/>
        </a:p>
      </dsp:txBody>
      <dsp:txXfrm>
        <a:off x="4783738" y="633683"/>
        <a:ext cx="563809" cy="563809"/>
      </dsp:txXfrm>
    </dsp:sp>
    <dsp:sp modelId="{06439432-3FF4-4342-BFCD-B89BC31303EB}">
      <dsp:nvSpPr>
        <dsp:cNvPr id="0" name=""/>
        <dsp:cNvSpPr/>
      </dsp:nvSpPr>
      <dsp:spPr>
        <a:xfrm>
          <a:off x="5183068" y="1621555"/>
          <a:ext cx="563809" cy="563809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500" kern="1200"/>
        </a:p>
      </dsp:txBody>
      <dsp:txXfrm>
        <a:off x="5183068" y="1621555"/>
        <a:ext cx="563809" cy="563809"/>
      </dsp:txXfrm>
    </dsp:sp>
    <dsp:sp modelId="{A938D27E-3ACF-4146-81F1-9A717F34E16C}">
      <dsp:nvSpPr>
        <dsp:cNvPr id="0" name=""/>
        <dsp:cNvSpPr/>
      </dsp:nvSpPr>
      <dsp:spPr>
        <a:xfrm>
          <a:off x="5582398" y="2594971"/>
          <a:ext cx="563809" cy="563809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500" kern="1200"/>
        </a:p>
      </dsp:txBody>
      <dsp:txXfrm>
        <a:off x="5582398" y="2594971"/>
        <a:ext cx="563809" cy="563809"/>
      </dsp:txXfrm>
    </dsp:sp>
    <dsp:sp modelId="{B3FA745F-E4E7-45D0-9C23-19369C4CA39A}">
      <dsp:nvSpPr>
        <dsp:cNvPr id="0" name=""/>
        <dsp:cNvSpPr/>
      </dsp:nvSpPr>
      <dsp:spPr>
        <a:xfrm>
          <a:off x="5981728" y="3592481"/>
          <a:ext cx="563809" cy="563809"/>
        </a:xfrm>
        <a:prstGeom prst="downArrow">
          <a:avLst>
            <a:gd name="adj1" fmla="val 55000"/>
            <a:gd name="adj2" fmla="val 45000"/>
          </a:avLst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31750" tIns="31750" rIns="31750" bIns="31750" numCol="1" spcCol="1270" anchor="ctr" anchorCtr="0">
          <a:noAutofit/>
        </a:bodyPr>
        <a:lstStyle/>
        <a:p>
          <a:pPr lvl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IN" sz="2500" kern="1200"/>
        </a:p>
      </dsp:txBody>
      <dsp:txXfrm>
        <a:off x="5981728" y="3592481"/>
        <a:ext cx="563809" cy="56380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16846F-04BA-4B61-99D3-B70A544C2683}" type="datetimeFigureOut">
              <a:rPr lang="en-IN" smtClean="0"/>
              <a:t>26-02-2014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66779-3BE7-4DC1-B6E5-7ED1CDF6EBB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5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2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wrap="none" anchor="ctr"/>
          <a:lstStyle/>
          <a:p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5710-1DFD-44D4-996E-FE565B59E575}" type="datetimeFigureOut">
              <a:rPr lang="en-IN" smtClean="0"/>
              <a:t>26-02-2014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0483-B713-4C87-8E97-058067358F5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5710-1DFD-44D4-996E-FE565B59E575}" type="datetimeFigureOut">
              <a:rPr lang="en-IN" smtClean="0"/>
              <a:t>26-02-2014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0483-B713-4C87-8E97-058067358F5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5710-1DFD-44D4-996E-FE565B59E575}" type="datetimeFigureOut">
              <a:rPr lang="en-IN" smtClean="0"/>
              <a:t>26-02-2014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0483-B713-4C87-8E97-058067358F5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5710-1DFD-44D4-996E-FE565B59E575}" type="datetimeFigureOut">
              <a:rPr lang="en-IN" smtClean="0"/>
              <a:t>26-02-2014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0483-B713-4C87-8E97-058067358F5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5710-1DFD-44D4-996E-FE565B59E575}" type="datetimeFigureOut">
              <a:rPr lang="en-IN" smtClean="0"/>
              <a:t>26-02-2014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0483-B713-4C87-8E97-058067358F5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5710-1DFD-44D4-996E-FE565B59E575}" type="datetimeFigureOut">
              <a:rPr lang="en-IN" smtClean="0"/>
              <a:t>26-02-2014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0483-B713-4C87-8E97-058067358F5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5710-1DFD-44D4-996E-FE565B59E575}" type="datetimeFigureOut">
              <a:rPr lang="en-IN" smtClean="0"/>
              <a:t>26-02-2014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0483-B713-4C87-8E97-058067358F5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5710-1DFD-44D4-996E-FE565B59E575}" type="datetimeFigureOut">
              <a:rPr lang="en-IN" smtClean="0"/>
              <a:t>26-02-2014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0483-B713-4C87-8E97-058067358F5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5710-1DFD-44D4-996E-FE565B59E575}" type="datetimeFigureOut">
              <a:rPr lang="en-IN" smtClean="0"/>
              <a:t>26-02-2014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0483-B713-4C87-8E97-058067358F5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5710-1DFD-44D4-996E-FE565B59E575}" type="datetimeFigureOut">
              <a:rPr lang="en-IN" smtClean="0"/>
              <a:t>26-02-2014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0483-B713-4C87-8E97-058067358F5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B5710-1DFD-44D4-996E-FE565B59E575}" type="datetimeFigureOut">
              <a:rPr lang="en-IN" smtClean="0"/>
              <a:t>26-02-2014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0483-B713-4C87-8E97-058067358F52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2" name="Group 11"/>
          <p:cNvGrpSpPr/>
          <p:nvPr userDrawn="1"/>
        </p:nvGrpSpPr>
        <p:grpSpPr>
          <a:xfrm>
            <a:off x="2083888" y="6550671"/>
            <a:ext cx="7060112" cy="48665"/>
            <a:chOff x="2083888" y="6550671"/>
            <a:chExt cx="7060112" cy="48665"/>
          </a:xfrm>
        </p:grpSpPr>
        <p:sp>
          <p:nvSpPr>
            <p:cNvPr id="5" name="Rectangle 4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4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9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4" name="Rectangle 1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  <p:pic>
        <p:nvPicPr>
          <p:cNvPr id="13" name="Picture 12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-76200" y="5257800"/>
            <a:ext cx="2209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900" b="1" spc="-150" dirty="0">
                <a:solidFill>
                  <a:prstClr val="white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prstClr val="white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152400" y="5666601"/>
            <a:ext cx="1905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</p:spTree>
    <p:extLst>
      <p:ext uri="{BB962C8B-B14F-4D97-AF65-F5344CB8AC3E}">
        <p14:creationId xmlns:p14="http://schemas.microsoft.com/office/powerpoint/2010/main" xmlns="" val="113624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B5710-1DFD-44D4-996E-FE565B59E575}" type="datetimeFigureOut">
              <a:rPr lang="en-IN" smtClean="0"/>
              <a:t>26-02-2014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AB0483-B713-4C87-8E97-058067358F52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Name :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Software </a:t>
            </a:r>
            <a:r>
              <a:rPr lang="en-US" dirty="0" smtClean="0"/>
              <a:t>Engineering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267744" y="5410200"/>
            <a:ext cx="6266656" cy="533400"/>
          </a:xfrm>
        </p:spPr>
        <p:txBody>
          <a:bodyPr/>
          <a:lstStyle/>
          <a:p>
            <a:r>
              <a:rPr lang="en-US" dirty="0" smtClean="0"/>
              <a:t>T V Rao</a:t>
            </a:r>
          </a:p>
          <a:p>
            <a:r>
              <a:rPr lang="en-US" dirty="0" smtClean="0"/>
              <a:t>Prescriptive Process Flows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445644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763587" y="1905000"/>
            <a:ext cx="7770813" cy="4113213"/>
          </a:xfrm>
        </p:spPr>
        <p:txBody>
          <a:bodyPr/>
          <a:lstStyle/>
          <a:p>
            <a:pPr>
              <a:buNone/>
            </a:pPr>
            <a:r>
              <a:rPr lang="en-IN" dirty="0" smtClean="0"/>
              <a:t>A process defines who does what, when and how in order to achieve a preset goal </a:t>
            </a:r>
          </a:p>
          <a:p>
            <a:pPr>
              <a:buNone/>
            </a:pPr>
            <a:endParaRPr lang="en-US" dirty="0" smtClean="0"/>
          </a:p>
          <a:p>
            <a:pPr algn="r">
              <a:buNone/>
            </a:pPr>
            <a:r>
              <a:rPr lang="en-US" sz="2400" dirty="0" smtClean="0"/>
              <a:t>- Jacobson et al [99]</a:t>
            </a:r>
            <a:endParaRPr lang="en-IN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 idx="4294967295"/>
          </p:nvPr>
        </p:nvSpPr>
        <p:spPr>
          <a:xfrm>
            <a:off x="1" y="304800"/>
            <a:ext cx="6629399" cy="6096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b="1" dirty="0" smtClean="0">
                <a:latin typeface="Calibri" pitchFamily="34" charset="0"/>
              </a:rPr>
              <a:t>Prescriptive and Agile Processes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4294967295"/>
          </p:nvPr>
        </p:nvSpPr>
        <p:spPr>
          <a:xfrm>
            <a:off x="533400" y="1449387"/>
            <a:ext cx="8229600" cy="4799013"/>
          </a:xfrm>
        </p:spPr>
        <p:txBody>
          <a:bodyPr/>
          <a:lstStyle/>
          <a:p>
            <a:pPr eaLnBrk="1" hangingPunct="1"/>
            <a:r>
              <a:rPr lang="en-GB" sz="2800" dirty="0" smtClean="0"/>
              <a:t>Prescriptive processes are processes where all of the process activities are planned in advance and progress is measured against this plan. </a:t>
            </a:r>
          </a:p>
          <a:p>
            <a:pPr eaLnBrk="1" hangingPunct="1"/>
            <a:r>
              <a:rPr lang="en-GB" sz="2800" dirty="0" smtClean="0"/>
              <a:t>In agile processes, planning is incremental and it is easier to change the process to reflect changing customer requirements. </a:t>
            </a:r>
          </a:p>
          <a:p>
            <a:pPr eaLnBrk="1" hangingPunct="1"/>
            <a:r>
              <a:rPr lang="en-GB" sz="2800" dirty="0" smtClean="0"/>
              <a:t>In practice, most practical processes may include elements of both plan-driven and agile approaches. </a:t>
            </a:r>
          </a:p>
          <a:p>
            <a:pPr eaLnBrk="1" hangingPunct="1"/>
            <a:endParaRPr lang="en-GB" sz="2800" dirty="0" smtClean="0"/>
          </a:p>
          <a:p>
            <a:pPr eaLnBrk="1" hangingPunct="1"/>
            <a:r>
              <a:rPr lang="en-GB" sz="2800" i="1" dirty="0" smtClean="0"/>
              <a:t>There are NO right or wrong software processes.</a:t>
            </a:r>
            <a:endParaRPr lang="en-US" sz="2800" i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28600"/>
            <a:ext cx="6096000" cy="762000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3000"/>
              </a:lnSpc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b="1" dirty="0" smtClean="0">
                <a:latin typeface="Calibri" pitchFamily="34" charset="0"/>
              </a:rPr>
              <a:t>Prescriptive Process Model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255984" y="1765920"/>
            <a:ext cx="7772400" cy="2743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5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dirty="0" smtClean="0"/>
              <a:t>Defines a distinct set of activities, actions, tasks, milestones, and work products that are required to engineer high-quality software</a:t>
            </a:r>
          </a:p>
          <a:p>
            <a:pPr eaLnBrk="1" hangingPunct="1">
              <a:lnSpc>
                <a:spcPct val="95000"/>
              </a:lnSpc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800" dirty="0" smtClean="0"/>
          </a:p>
          <a:p>
            <a:pPr eaLnBrk="1" hangingPunct="1">
              <a:spcBef>
                <a:spcPts val="700"/>
              </a:spcBef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800" dirty="0" smtClean="0"/>
              <a:t>The activities may be linear, incremental, or evolutionary </a:t>
            </a:r>
          </a:p>
          <a:p>
            <a:pPr eaLnBrk="1" hangingPunct="1">
              <a:spcBef>
                <a:spcPts val="700"/>
              </a:spcBef>
              <a:buFont typeface="Times New Roman" pitchFamily="18" charset="0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sz="2800" dirty="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8389" y="1434179"/>
            <a:ext cx="8087011" cy="4966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533400" y="4004608"/>
            <a:ext cx="2438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An important 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variation among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process models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comes from flow </a:t>
            </a:r>
          </a:p>
          <a:p>
            <a:r>
              <a:rPr lang="en-US" dirty="0" smtClean="0">
                <a:solidFill>
                  <a:schemeClr val="tx1"/>
                </a:solidFill>
                <a:latin typeface="+mj-lt"/>
              </a:rPr>
              <a:t>of activities </a:t>
            </a:r>
            <a:endParaRPr lang="en-IN" dirty="0">
              <a:latin typeface="+mj-lt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52401" y="228600"/>
            <a:ext cx="525779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572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r>
              <a:rPr kumimoji="0" lang="en-US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Process Models</a:t>
            </a:r>
            <a:endParaRPr kumimoji="0" lang="en-IN" sz="4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/>
          <p:cNvGraphicFramePr/>
          <p:nvPr/>
        </p:nvGraphicFramePr>
        <p:xfrm>
          <a:off x="1066800" y="1512427"/>
          <a:ext cx="6944868" cy="48188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07162" y="1752698"/>
            <a:ext cx="1794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 smtClean="0">
                <a:solidFill>
                  <a:schemeClr val="tx1"/>
                </a:solidFill>
              </a:rPr>
              <a:t>Communication: 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76600" y="1588630"/>
            <a:ext cx="27109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IN" sz="1800" dirty="0" smtClean="0">
                <a:solidFill>
                  <a:schemeClr val="tx1"/>
                </a:solidFill>
              </a:rPr>
              <a:t> Project Initiation</a:t>
            </a:r>
          </a:p>
          <a:p>
            <a:pPr>
              <a:buFont typeface="Wingdings" pitchFamily="2" charset="2"/>
              <a:buChar char="q"/>
            </a:pPr>
            <a:r>
              <a:rPr lang="en-IN" sz="1800" dirty="0" smtClean="0">
                <a:solidFill>
                  <a:schemeClr val="tx1"/>
                </a:solidFill>
              </a:rPr>
              <a:t> Requirement Gatherings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00200" y="280336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 smtClean="0">
                <a:solidFill>
                  <a:schemeClr val="tx1"/>
                </a:solidFill>
              </a:rPr>
              <a:t>Planning: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31942" y="2514600"/>
            <a:ext cx="14863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IN" sz="1800" dirty="0" smtClean="0">
                <a:solidFill>
                  <a:schemeClr val="tx1"/>
                </a:solidFill>
              </a:rPr>
              <a:t> Estimation</a:t>
            </a:r>
          </a:p>
          <a:p>
            <a:pPr>
              <a:buFont typeface="Wingdings" pitchFamily="2" charset="2"/>
              <a:buChar char="q"/>
            </a:pPr>
            <a:r>
              <a:rPr lang="en-IN" sz="1800" dirty="0" smtClean="0">
                <a:solidFill>
                  <a:schemeClr val="tx1"/>
                </a:solidFill>
              </a:rPr>
              <a:t> Scheduling</a:t>
            </a:r>
          </a:p>
          <a:p>
            <a:pPr>
              <a:buFont typeface="Wingdings" pitchFamily="2" charset="2"/>
              <a:buChar char="q"/>
            </a:pPr>
            <a:r>
              <a:rPr lang="en-IN" sz="1800" dirty="0" smtClean="0">
                <a:solidFill>
                  <a:schemeClr val="tx1"/>
                </a:solidFill>
              </a:rPr>
              <a:t> Tracking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452553" y="3581400"/>
            <a:ext cx="12427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IN" sz="1800" dirty="0" smtClean="0">
                <a:solidFill>
                  <a:schemeClr val="tx1"/>
                </a:solidFill>
              </a:rPr>
              <a:t> Analysis</a:t>
            </a:r>
          </a:p>
          <a:p>
            <a:pPr>
              <a:buFont typeface="Wingdings" pitchFamily="2" charset="2"/>
              <a:buChar char="q"/>
            </a:pPr>
            <a:r>
              <a:rPr lang="en-IN" sz="1800" dirty="0" smtClean="0">
                <a:solidFill>
                  <a:schemeClr val="tx1"/>
                </a:solidFill>
              </a:rPr>
              <a:t> Design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438403" y="4724400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 smtClean="0">
                <a:solidFill>
                  <a:schemeClr val="tx1"/>
                </a:solidFill>
              </a:rPr>
              <a:t>Construction: 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43400" y="4572000"/>
            <a:ext cx="9348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IN" sz="1800" dirty="0" smtClean="0">
                <a:solidFill>
                  <a:schemeClr val="tx1"/>
                </a:solidFill>
              </a:rPr>
              <a:t> Code</a:t>
            </a:r>
          </a:p>
          <a:p>
            <a:pPr>
              <a:buFont typeface="Wingdings" pitchFamily="2" charset="2"/>
              <a:buChar char="q"/>
            </a:pPr>
            <a:r>
              <a:rPr lang="en-IN" sz="1800" dirty="0" smtClean="0">
                <a:solidFill>
                  <a:schemeClr val="tx1"/>
                </a:solidFill>
              </a:rPr>
              <a:t> Test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77076" y="5715000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 smtClean="0">
                <a:solidFill>
                  <a:schemeClr val="tx1"/>
                </a:solidFill>
              </a:rPr>
              <a:t>Deployment: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87384" y="5486400"/>
            <a:ext cx="13324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IN" sz="1800" dirty="0" smtClean="0">
                <a:solidFill>
                  <a:schemeClr val="tx1"/>
                </a:solidFill>
              </a:rPr>
              <a:t> Delivery</a:t>
            </a:r>
          </a:p>
          <a:p>
            <a:pPr>
              <a:buFont typeface="Wingdings" pitchFamily="2" charset="2"/>
              <a:buChar char="q"/>
            </a:pPr>
            <a:r>
              <a:rPr lang="en-IN" sz="1800" dirty="0" smtClean="0">
                <a:solidFill>
                  <a:schemeClr val="tx1"/>
                </a:solidFill>
              </a:rPr>
              <a:t> Support</a:t>
            </a:r>
          </a:p>
          <a:p>
            <a:pPr>
              <a:buFont typeface="Wingdings" pitchFamily="2" charset="2"/>
              <a:buChar char="q"/>
            </a:pPr>
            <a:r>
              <a:rPr lang="en-IN" sz="1800" dirty="0" smtClean="0">
                <a:solidFill>
                  <a:schemeClr val="tx1"/>
                </a:solidFill>
              </a:rPr>
              <a:t> Feedback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30876" y="3745468"/>
            <a:ext cx="1210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 smtClean="0">
                <a:solidFill>
                  <a:schemeClr val="tx1"/>
                </a:solidFill>
              </a:rPr>
              <a:t>Modelling:</a:t>
            </a:r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6200" y="228601"/>
            <a:ext cx="4038600" cy="685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572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Waterfall Model</a:t>
            </a:r>
            <a:br>
              <a:rPr kumimoji="0" lang="en-GB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GB" sz="16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(Diagram)</a:t>
            </a:r>
            <a:endParaRPr kumimoji="0" lang="en-GB" sz="40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0" y="212725"/>
            <a:ext cx="6096000" cy="54927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600" b="1" dirty="0" smtClean="0"/>
              <a:t>Critique of the waterfall model</a:t>
            </a:r>
          </a:p>
        </p:txBody>
      </p:sp>
      <p:sp>
        <p:nvSpPr>
          <p:cNvPr id="18435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152400" y="1377950"/>
            <a:ext cx="8229600" cy="50990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z="2400" dirty="0" smtClean="0"/>
              <a:t>The model implies that you should attempt to complete a given stage before moving on to the next stage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dirty="0" smtClean="0"/>
              <a:t>Does not account for the fact that requirements constantly change. </a:t>
            </a:r>
          </a:p>
          <a:p>
            <a:pPr lvl="1" eaLnBrk="1" hangingPunct="1">
              <a:lnSpc>
                <a:spcPct val="90000"/>
              </a:lnSpc>
            </a:pPr>
            <a:r>
              <a:rPr lang="en-GB" sz="2000" dirty="0" smtClean="0"/>
              <a:t>It also means that customers can not use anything until the entire system is complete.</a:t>
            </a:r>
            <a:r>
              <a:rPr lang="en-US" sz="2000" dirty="0" smtClean="0"/>
              <a:t> 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GB" sz="2400" dirty="0" smtClean="0"/>
              <a:t>The model makes no allowances for prototyping.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US" sz="2400" dirty="0" smtClean="0"/>
              <a:t>Assumes understanding of problem and full requirements early on</a:t>
            </a:r>
            <a:r>
              <a:rPr lang="en-GB" sz="2400" dirty="0" smtClean="0"/>
              <a:t> 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GB" sz="2400" dirty="0" smtClean="0"/>
              <a:t>It implies that you can get the requirements right by simply writing them down and reviewing them.</a:t>
            </a:r>
            <a:r>
              <a:rPr lang="en-US" sz="2400" dirty="0" smtClean="0"/>
              <a:t> 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GB" sz="2400" dirty="0" smtClean="0"/>
              <a:t>Inflexible partitioning of the project into distinct stages makes it difficult to respond to changing customer requirements.</a:t>
            </a: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" y="152400"/>
            <a:ext cx="6324599" cy="8382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4000" b="1" dirty="0" smtClean="0"/>
              <a:t>Critique of Waterfall Model</a:t>
            </a:r>
            <a:r>
              <a:rPr lang="en-US" sz="2000" dirty="0" smtClean="0">
                <a:solidFill>
                  <a:srgbClr val="FF6699"/>
                </a:solidFill>
              </a:rPr>
              <a:t>   </a:t>
            </a:r>
            <a:r>
              <a:rPr lang="en-US" sz="2000" dirty="0" smtClean="0">
                <a:solidFill>
                  <a:schemeClr val="tx1"/>
                </a:solidFill>
              </a:rPr>
              <a:t>continued</a:t>
            </a:r>
          </a:p>
        </p:txBody>
      </p:sp>
      <p:sp>
        <p:nvSpPr>
          <p:cNvPr id="19459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153987" y="1525588"/>
            <a:ext cx="7770813" cy="457041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US" sz="2400" dirty="0" smtClean="0"/>
              <a:t>Follows systematic approach to development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GB" sz="2400" dirty="0" smtClean="0"/>
              <a:t>The model implies that once the product is finished, everything else is maintenance.</a:t>
            </a:r>
            <a:r>
              <a:rPr lang="en-US" sz="2400" dirty="0" smtClean="0"/>
              <a:t> 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US" sz="2400" dirty="0" smtClean="0"/>
              <a:t>Assumes patience from customer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US" sz="2400" dirty="0" smtClean="0"/>
              <a:t>Surprises at the end are very expensive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US" sz="2400" dirty="0" smtClean="0"/>
              <a:t>Some teams sit idle for other teams to finish</a:t>
            </a:r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r>
              <a:rPr lang="en-GB" sz="2400" dirty="0" smtClean="0"/>
              <a:t>Therefore, this model is only appropriate when the requirements are well-understood and changes will be fairly limited during the design process.</a:t>
            </a:r>
            <a:endParaRPr lang="en-US" sz="2400" dirty="0" smtClean="0"/>
          </a:p>
          <a:p>
            <a:pPr eaLnBrk="1" hangingPunct="1">
              <a:lnSpc>
                <a:spcPct val="90000"/>
              </a:lnSpc>
              <a:spcBef>
                <a:spcPts val="1800"/>
              </a:spcBef>
            </a:pP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9150" y="1733550"/>
            <a:ext cx="7639050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1"/>
          <p:cNvSpPr txBox="1">
            <a:spLocks/>
          </p:cNvSpPr>
          <p:nvPr/>
        </p:nvSpPr>
        <p:spPr bwMode="auto">
          <a:xfrm>
            <a:off x="76200" y="228600"/>
            <a:ext cx="24384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V-Model</a:t>
            </a:r>
            <a:endParaRPr kumimoji="0" lang="en-IN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487995"/>
            <a:ext cx="7688961" cy="48366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0" y="228600"/>
            <a:ext cx="5638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572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40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Incremental Model</a:t>
            </a:r>
            <a:r>
              <a:rPr kumimoji="0" 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GB" sz="4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GB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(Diagram)</a:t>
            </a:r>
            <a:endParaRPr kumimoji="0" lang="en-GB" sz="44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rrowheads="1"/>
          </p:cNvSpPr>
          <p:nvPr>
            <p:ph type="title" idx="4294967295"/>
          </p:nvPr>
        </p:nvSpPr>
        <p:spPr>
          <a:xfrm>
            <a:off x="152400" y="384175"/>
            <a:ext cx="4267200" cy="5302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3200" b="1" dirty="0" smtClean="0"/>
              <a:t>The Incremental Model</a:t>
            </a:r>
          </a:p>
        </p:txBody>
      </p:sp>
      <p:sp>
        <p:nvSpPr>
          <p:cNvPr id="22531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152400" y="1414463"/>
            <a:ext cx="8229600" cy="5062537"/>
          </a:xfrm>
        </p:spPr>
        <p:txBody>
          <a:bodyPr/>
          <a:lstStyle/>
          <a:p>
            <a:pPr eaLnBrk="1" hangingPunct="1"/>
            <a:r>
              <a:rPr lang="en-GB" sz="2000" dirty="0" smtClean="0"/>
              <a:t>Rather than deliver the system as a single delivery, the development and delivery is broken down into increments with each increment delivering part of the required functionality.</a:t>
            </a:r>
            <a:endParaRPr lang="en-US" sz="2000" dirty="0" smtClean="0"/>
          </a:p>
          <a:p>
            <a:pPr eaLnBrk="1" hangingPunct="1"/>
            <a:r>
              <a:rPr lang="en-US" sz="2000" dirty="0" smtClean="0"/>
              <a:t>First Increment is often core product</a:t>
            </a:r>
          </a:p>
          <a:p>
            <a:pPr lvl="1" eaLnBrk="1" hangingPunct="1"/>
            <a:r>
              <a:rPr lang="en-US" sz="1800" dirty="0" smtClean="0"/>
              <a:t>Includes basic requirement</a:t>
            </a:r>
          </a:p>
          <a:p>
            <a:pPr lvl="1" eaLnBrk="1" hangingPunct="1"/>
            <a:r>
              <a:rPr lang="en-US" sz="1800" dirty="0" smtClean="0"/>
              <a:t>Many supplementary features (known &amp; unknown) remain undelivered</a:t>
            </a:r>
          </a:p>
          <a:p>
            <a:pPr eaLnBrk="1" hangingPunct="1"/>
            <a:r>
              <a:rPr lang="en-US" sz="2000" dirty="0" smtClean="0"/>
              <a:t>First Increment is used or evaluated</a:t>
            </a:r>
          </a:p>
          <a:p>
            <a:pPr eaLnBrk="1" hangingPunct="1"/>
            <a:r>
              <a:rPr lang="en-US" sz="2000" dirty="0" smtClean="0"/>
              <a:t>A plan of next increment is prepared</a:t>
            </a:r>
          </a:p>
          <a:p>
            <a:pPr lvl="1" eaLnBrk="1" hangingPunct="1"/>
            <a:r>
              <a:rPr lang="en-US" sz="1800" dirty="0" smtClean="0"/>
              <a:t>Modifications of the first increment</a:t>
            </a:r>
          </a:p>
          <a:p>
            <a:pPr lvl="1" eaLnBrk="1" hangingPunct="1"/>
            <a:r>
              <a:rPr lang="en-US" sz="1800" dirty="0" smtClean="0"/>
              <a:t>Additional features of the first increment</a:t>
            </a:r>
          </a:p>
          <a:p>
            <a:pPr eaLnBrk="1" hangingPunct="1"/>
            <a:r>
              <a:rPr lang="en-US" sz="2000" dirty="0" smtClean="0"/>
              <a:t>It is particularly useful when enough staffing is not available for the whole project</a:t>
            </a:r>
          </a:p>
          <a:p>
            <a:pPr eaLnBrk="1" hangingPunct="1"/>
            <a:r>
              <a:rPr lang="en-US" sz="2000" dirty="0" smtClean="0"/>
              <a:t>Increment can be planned to manage technical risks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152400" y="1484313"/>
            <a:ext cx="8229600" cy="4535487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GB" sz="2000" dirty="0" smtClean="0"/>
              <a:t>User requirements are prioritised and the highest priority requirements are included in early increments.</a:t>
            </a:r>
          </a:p>
          <a:p>
            <a:pPr eaLnBrk="1" hangingPunct="1">
              <a:spcBef>
                <a:spcPts val="600"/>
              </a:spcBef>
              <a:buFont typeface="Wingdings" pitchFamily="2" charset="2"/>
              <a:buNone/>
            </a:pPr>
            <a:endParaRPr lang="en-GB" sz="700" dirty="0" smtClean="0"/>
          </a:p>
          <a:p>
            <a:pPr eaLnBrk="1" hangingPunct="1">
              <a:spcBef>
                <a:spcPts val="600"/>
              </a:spcBef>
            </a:pPr>
            <a:r>
              <a:rPr lang="en-GB" sz="2000" dirty="0" smtClean="0"/>
              <a:t>Once the development of an increment is started, the requirements are frozen though requirements for later increments can continue to evolve.</a:t>
            </a:r>
          </a:p>
          <a:p>
            <a:pPr eaLnBrk="1" hangingPunct="1">
              <a:spcBef>
                <a:spcPts val="600"/>
              </a:spcBef>
            </a:pPr>
            <a:r>
              <a:rPr lang="en-GB" sz="2000" dirty="0" smtClean="0"/>
              <a:t>Customer value can be delivered with each increment so system functionality is available earlier.</a:t>
            </a:r>
          </a:p>
          <a:p>
            <a:pPr eaLnBrk="1" hangingPunct="1">
              <a:spcBef>
                <a:spcPts val="600"/>
              </a:spcBef>
              <a:buFont typeface="Wingdings" pitchFamily="2" charset="2"/>
              <a:buNone/>
            </a:pPr>
            <a:endParaRPr lang="en-GB" sz="600" dirty="0" smtClean="0"/>
          </a:p>
          <a:p>
            <a:pPr eaLnBrk="1" hangingPunct="1">
              <a:spcBef>
                <a:spcPts val="600"/>
              </a:spcBef>
            </a:pPr>
            <a:r>
              <a:rPr lang="en-GB" sz="2000" dirty="0" smtClean="0"/>
              <a:t>Early increments act as a prototype to help elicit requirements for later increments.</a:t>
            </a:r>
          </a:p>
          <a:p>
            <a:pPr eaLnBrk="1" hangingPunct="1">
              <a:spcBef>
                <a:spcPts val="600"/>
              </a:spcBef>
              <a:buFont typeface="Wingdings" pitchFamily="2" charset="2"/>
              <a:buNone/>
            </a:pPr>
            <a:endParaRPr lang="en-GB" sz="600" dirty="0" smtClean="0"/>
          </a:p>
          <a:p>
            <a:pPr eaLnBrk="1" hangingPunct="1">
              <a:spcBef>
                <a:spcPts val="600"/>
              </a:spcBef>
            </a:pPr>
            <a:r>
              <a:rPr lang="en-GB" sz="2000" dirty="0" smtClean="0"/>
              <a:t>Lower risk of overall project failure.</a:t>
            </a:r>
          </a:p>
          <a:p>
            <a:pPr eaLnBrk="1" hangingPunct="1">
              <a:spcBef>
                <a:spcPts val="600"/>
              </a:spcBef>
              <a:buFont typeface="Wingdings" pitchFamily="2" charset="2"/>
              <a:buNone/>
            </a:pPr>
            <a:endParaRPr lang="en-GB" sz="600" dirty="0" smtClean="0"/>
          </a:p>
          <a:p>
            <a:pPr eaLnBrk="1" hangingPunct="1">
              <a:spcBef>
                <a:spcPts val="600"/>
              </a:spcBef>
            </a:pPr>
            <a:r>
              <a:rPr lang="en-GB" sz="2000" dirty="0" smtClean="0"/>
              <a:t>The highest priority system services tend to receive the most testing.</a:t>
            </a:r>
            <a:endParaRPr lang="en-US" sz="2000" dirty="0" smtClean="0"/>
          </a:p>
        </p:txBody>
      </p:sp>
      <p:sp>
        <p:nvSpPr>
          <p:cNvPr id="4" name="Rectangle 2"/>
          <p:cNvSpPr txBox="1">
            <a:spLocks noRot="1" noChangeArrowheads="1"/>
          </p:cNvSpPr>
          <p:nvPr/>
        </p:nvSpPr>
        <p:spPr bwMode="auto">
          <a:xfrm>
            <a:off x="152400" y="384175"/>
            <a:ext cx="42672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Incremental Model</a:t>
            </a:r>
            <a:endParaRPr kumimoji="0" lang="en-US" sz="3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95375" y="1514475"/>
            <a:ext cx="6953250" cy="481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0" y="195263"/>
            <a:ext cx="4572000" cy="871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572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Prototyping Model</a:t>
            </a:r>
            <a:r>
              <a:rPr kumimoji="0" lang="en-GB" sz="4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GB" sz="4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GB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(Diagram)</a:t>
            </a:r>
            <a:endParaRPr kumimoji="0" lang="en-GB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19063"/>
            <a:ext cx="4648200" cy="871537"/>
          </a:xfrm>
        </p:spPr>
        <p:txBody>
          <a:bodyPr/>
          <a:lstStyle/>
          <a:p>
            <a:pPr eaLnBrk="1" hangingPunct="1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b="1" dirty="0" smtClean="0"/>
              <a:t>Prototyping </a:t>
            </a:r>
            <a:r>
              <a:rPr lang="en-GB" sz="4000" b="1" dirty="0" smtClean="0"/>
              <a:t>Model</a:t>
            </a:r>
            <a:endParaRPr lang="en-GB" dirty="0" smtClean="0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533400" y="1752600"/>
            <a:ext cx="8382000" cy="3581400"/>
          </a:xfrm>
        </p:spPr>
        <p:txBody>
          <a:bodyPr/>
          <a:lstStyle/>
          <a:p>
            <a:pPr eaLnBrk="1" hangingPunct="1">
              <a:lnSpc>
                <a:spcPct val="95000"/>
              </a:lnSpc>
              <a:spcBef>
                <a:spcPts val="700"/>
              </a:spcBef>
              <a:spcAft>
                <a:spcPts val="12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Follows an evolutionary and iterative approach</a:t>
            </a:r>
          </a:p>
          <a:p>
            <a:pPr eaLnBrk="1" hangingPunct="1">
              <a:spcBef>
                <a:spcPts val="700"/>
              </a:spcBef>
              <a:spcAft>
                <a:spcPts val="12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Used when requirements are </a:t>
            </a:r>
            <a:r>
              <a:rPr lang="en-GB" sz="2400" u="sng" dirty="0" smtClean="0"/>
              <a:t>not</a:t>
            </a:r>
            <a:r>
              <a:rPr lang="en-GB" sz="2400" dirty="0" smtClean="0"/>
              <a:t> well understood</a:t>
            </a:r>
          </a:p>
          <a:p>
            <a:pPr eaLnBrk="1" hangingPunct="1">
              <a:spcBef>
                <a:spcPts val="700"/>
              </a:spcBef>
              <a:spcAft>
                <a:spcPts val="12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Serves as a mechanism for identifying software requirements</a:t>
            </a:r>
          </a:p>
          <a:p>
            <a:pPr eaLnBrk="1" hangingPunct="1">
              <a:spcBef>
                <a:spcPts val="700"/>
              </a:spcBef>
              <a:spcAft>
                <a:spcPts val="12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Focuses on those aspects of the software that are visible to the customer/user</a:t>
            </a:r>
          </a:p>
          <a:p>
            <a:pPr eaLnBrk="1" hangingPunct="1">
              <a:spcBef>
                <a:spcPts val="700"/>
              </a:spcBef>
              <a:spcAft>
                <a:spcPts val="12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Feedback is used to refine the prototype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1463"/>
            <a:ext cx="4495800" cy="871537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b="1" dirty="0" smtClean="0"/>
              <a:t>Prototyping Model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sz="1800" dirty="0" smtClean="0"/>
              <a:t>(Potential Problems)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447800"/>
            <a:ext cx="8382000" cy="4419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The customer sees a "working version" of the software, wants to stop all development and then buy the prototype after a "few fixes" are made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Developers often make implementation compromises to get the software running quickly (e.g., language choice, user interface, operating system choice, inefficient algorithms)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400" dirty="0" smtClean="0"/>
              <a:t>Important Considerations: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 smtClean="0"/>
              <a:t>Define the rules up front on the final disposition of the prototype before it is built</a:t>
            </a:r>
          </a:p>
          <a:p>
            <a:pPr lvl="1"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 smtClean="0"/>
              <a:t>In most circumstances, plan to discard the prototype and engineer the actual production software with a goal toward quality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23925" y="1571625"/>
            <a:ext cx="7296150" cy="4752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76200" y="304800"/>
            <a:ext cx="3352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457200" rtl="0" eaLnBrk="1" fontAlgn="base" latinLnBrk="0" hangingPunct="1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kumimoji="0" lang="en-GB" sz="4000" b="1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Spiral Model</a:t>
            </a:r>
            <a:r>
              <a:rPr kumimoji="0" lang="en-GB" sz="4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GB" sz="4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GB" sz="18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(Diagram)</a:t>
            </a:r>
            <a:endParaRPr kumimoji="0" lang="en-GB" sz="1800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47663"/>
            <a:ext cx="2971800" cy="566737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4000" b="1" dirty="0" smtClean="0"/>
              <a:t>Spiral Model</a:t>
            </a:r>
            <a:r>
              <a:rPr lang="en-GB" dirty="0" smtClean="0"/>
              <a:t/>
            </a:r>
            <a:br>
              <a:rPr lang="en-GB" dirty="0" smtClean="0"/>
            </a:br>
            <a:endParaRPr lang="en-GB" sz="1800" dirty="0" smtClean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676400"/>
            <a:ext cx="8305800" cy="4343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 smtClean="0"/>
              <a:t>Proposed by Dr. Barry Boehm in 1988 while working at TRW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 smtClean="0"/>
              <a:t>Follows an evolutionary approach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 smtClean="0"/>
              <a:t>Used when requirements are </a:t>
            </a:r>
            <a:r>
              <a:rPr lang="en-GB" sz="2000" u="sng" dirty="0" smtClean="0"/>
              <a:t>not</a:t>
            </a:r>
            <a:r>
              <a:rPr lang="en-GB" sz="2000" dirty="0" smtClean="0"/>
              <a:t> well understood and risks are high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 smtClean="0"/>
              <a:t>Inner spirals focus on identifying software requirements and project risks; may also incorporate prototyping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 smtClean="0"/>
              <a:t>Outer spirals take on a classical waterfall approach after requirements have been defined, but permit iterative growth of the software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 smtClean="0"/>
              <a:t>Operates as a risk-driven model…a go/no-go decision occurs after each complete spiral in order to react to risk determinations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 smtClean="0"/>
              <a:t>Requires considerable expertise in risk assessment</a:t>
            </a:r>
          </a:p>
          <a:p>
            <a:pPr eaLnBrk="1" hangingPunct="1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sz="2000" dirty="0" smtClean="0"/>
              <a:t>Serves as a realistic model for large-scale software development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76200"/>
            <a:ext cx="5943600" cy="1066800"/>
          </a:xfrm>
        </p:spPr>
        <p:txBody>
          <a:bodyPr>
            <a:normAutofit fontScale="90000"/>
          </a:bodyPr>
          <a:lstStyle/>
          <a:p>
            <a:pPr eaLnBrk="1" hangingPunct="1">
              <a:lnSpc>
                <a:spcPct val="95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3600" b="1" dirty="0" smtClean="0"/>
              <a:t>General Weaknesses of Evolutionary Process Models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609600" y="1447800"/>
            <a:ext cx="8153400" cy="4800600"/>
          </a:xfrm>
        </p:spPr>
        <p:txBody>
          <a:bodyPr/>
          <a:lstStyle/>
          <a:p>
            <a:pPr marL="531813" indent="-531813" eaLnBrk="1" hangingPunct="1">
              <a:lnSpc>
                <a:spcPct val="90000"/>
              </a:lnSpc>
              <a:spcBef>
                <a:spcPts val="600"/>
              </a:spcBef>
              <a:buNone/>
              <a:tabLst>
                <a:tab pos="1101725" algn="l"/>
                <a:tab pos="2016125" algn="l"/>
                <a:tab pos="2930525" algn="l"/>
                <a:tab pos="3844925" algn="l"/>
                <a:tab pos="4759325" algn="l"/>
                <a:tab pos="5673725" algn="l"/>
                <a:tab pos="6588125" algn="l"/>
                <a:tab pos="7502525" algn="l"/>
                <a:tab pos="8416925" algn="l"/>
                <a:tab pos="9331325" algn="l"/>
                <a:tab pos="10245725" algn="l"/>
              </a:tabLst>
            </a:pPr>
            <a:r>
              <a:rPr lang="en-GB" sz="2400" dirty="0" smtClean="0"/>
              <a:t>As per </a:t>
            </a:r>
            <a:r>
              <a:rPr lang="en-GB" sz="2400" dirty="0" err="1" smtClean="0"/>
              <a:t>Nogueira</a:t>
            </a:r>
            <a:r>
              <a:rPr lang="en-GB" sz="2400" dirty="0" smtClean="0"/>
              <a:t> et al,</a:t>
            </a:r>
          </a:p>
          <a:p>
            <a:pPr marL="931863" lvl="1" indent="-531813" eaLnBrk="1" hangingPunct="1">
              <a:lnSpc>
                <a:spcPct val="90000"/>
              </a:lnSpc>
              <a:spcBef>
                <a:spcPts val="600"/>
              </a:spcBef>
              <a:buFont typeface="Times New Roman" pitchFamily="18" charset="0"/>
              <a:buAutoNum type="arabicParenR"/>
              <a:tabLst>
                <a:tab pos="1101725" algn="l"/>
                <a:tab pos="2016125" algn="l"/>
                <a:tab pos="2930525" algn="l"/>
                <a:tab pos="3844925" algn="l"/>
                <a:tab pos="4759325" algn="l"/>
                <a:tab pos="5673725" algn="l"/>
                <a:tab pos="6588125" algn="l"/>
                <a:tab pos="7502525" algn="l"/>
                <a:tab pos="8416925" algn="l"/>
                <a:tab pos="9331325" algn="l"/>
                <a:tab pos="10245725" algn="l"/>
              </a:tabLst>
            </a:pPr>
            <a:r>
              <a:rPr lang="en-GB" sz="2400" dirty="0" smtClean="0"/>
              <a:t>Evolutionary models pose a problem to project planning because of the uncertain number of iterations required to construct the product</a:t>
            </a:r>
          </a:p>
          <a:p>
            <a:pPr marL="931863" lvl="1" indent="-531813" eaLnBrk="1" hangingPunct="1">
              <a:lnSpc>
                <a:spcPct val="90000"/>
              </a:lnSpc>
              <a:spcBef>
                <a:spcPts val="600"/>
              </a:spcBef>
              <a:buFont typeface="Times New Roman" pitchFamily="18" charset="0"/>
              <a:buAutoNum type="arabicParenR"/>
              <a:tabLst>
                <a:tab pos="1101725" algn="l"/>
                <a:tab pos="2016125" algn="l"/>
                <a:tab pos="2930525" algn="l"/>
                <a:tab pos="3844925" algn="l"/>
                <a:tab pos="4759325" algn="l"/>
                <a:tab pos="5673725" algn="l"/>
                <a:tab pos="6588125" algn="l"/>
                <a:tab pos="7502525" algn="l"/>
                <a:tab pos="8416925" algn="l"/>
                <a:tab pos="9331325" algn="l"/>
                <a:tab pos="10245725" algn="l"/>
              </a:tabLst>
            </a:pPr>
            <a:r>
              <a:rPr lang="en-GB" sz="2400" dirty="0" smtClean="0"/>
              <a:t>Evolutionary software processes do not establish the maximum speed of the evolution</a:t>
            </a:r>
          </a:p>
          <a:p>
            <a:pPr marL="1316037" lvl="2" indent="-457200" eaLnBrk="1" hangingPunct="1">
              <a:lnSpc>
                <a:spcPct val="90000"/>
              </a:lnSpc>
              <a:spcBef>
                <a:spcPts val="500"/>
              </a:spcBef>
              <a:tabLst>
                <a:tab pos="1101725" algn="l"/>
                <a:tab pos="2016125" algn="l"/>
                <a:tab pos="2930525" algn="l"/>
                <a:tab pos="3844925" algn="l"/>
                <a:tab pos="4759325" algn="l"/>
                <a:tab pos="5673725" algn="l"/>
                <a:tab pos="6588125" algn="l"/>
                <a:tab pos="7502525" algn="l"/>
                <a:tab pos="8416925" algn="l"/>
                <a:tab pos="9331325" algn="l"/>
                <a:tab pos="10245725" algn="l"/>
              </a:tabLst>
            </a:pPr>
            <a:r>
              <a:rPr lang="en-GB" sz="1800" dirty="0" smtClean="0"/>
              <a:t>If too fast, the process will fall into chaos</a:t>
            </a:r>
          </a:p>
          <a:p>
            <a:pPr marL="1316037" lvl="2" indent="-457200" eaLnBrk="1" hangingPunct="1">
              <a:lnSpc>
                <a:spcPct val="90000"/>
              </a:lnSpc>
              <a:spcBef>
                <a:spcPts val="500"/>
              </a:spcBef>
              <a:tabLst>
                <a:tab pos="1101725" algn="l"/>
                <a:tab pos="2016125" algn="l"/>
                <a:tab pos="2930525" algn="l"/>
                <a:tab pos="3844925" algn="l"/>
                <a:tab pos="4759325" algn="l"/>
                <a:tab pos="5673725" algn="l"/>
                <a:tab pos="6588125" algn="l"/>
                <a:tab pos="7502525" algn="l"/>
                <a:tab pos="8416925" algn="l"/>
                <a:tab pos="9331325" algn="l"/>
                <a:tab pos="10245725" algn="l"/>
              </a:tabLst>
            </a:pPr>
            <a:r>
              <a:rPr lang="en-GB" sz="1800" dirty="0" smtClean="0"/>
              <a:t>If too slow, productivity could be affected</a:t>
            </a:r>
          </a:p>
          <a:p>
            <a:pPr marL="931863" lvl="1" indent="-531813" eaLnBrk="1" hangingPunct="1">
              <a:lnSpc>
                <a:spcPct val="90000"/>
              </a:lnSpc>
              <a:spcBef>
                <a:spcPts val="600"/>
              </a:spcBef>
              <a:buFont typeface="Times New Roman" pitchFamily="18" charset="0"/>
              <a:buAutoNum type="arabicParenR"/>
              <a:tabLst>
                <a:tab pos="1101725" algn="l"/>
                <a:tab pos="2016125" algn="l"/>
                <a:tab pos="2930525" algn="l"/>
                <a:tab pos="3844925" algn="l"/>
                <a:tab pos="4759325" algn="l"/>
                <a:tab pos="5673725" algn="l"/>
                <a:tab pos="6588125" algn="l"/>
                <a:tab pos="7502525" algn="l"/>
                <a:tab pos="8416925" algn="l"/>
                <a:tab pos="9331325" algn="l"/>
                <a:tab pos="10245725" algn="l"/>
              </a:tabLst>
            </a:pPr>
            <a:r>
              <a:rPr lang="en-GB" sz="2400" dirty="0" smtClean="0"/>
              <a:t>Software processes should focus first on flexibility and extensibility, and second on high quality</a:t>
            </a:r>
          </a:p>
          <a:p>
            <a:pPr marL="1316037" lvl="2" indent="-457200" eaLnBrk="1" hangingPunct="1">
              <a:lnSpc>
                <a:spcPct val="90000"/>
              </a:lnSpc>
              <a:spcBef>
                <a:spcPts val="500"/>
              </a:spcBef>
              <a:tabLst>
                <a:tab pos="1101725" algn="l"/>
                <a:tab pos="2016125" algn="l"/>
                <a:tab pos="2930525" algn="l"/>
                <a:tab pos="3844925" algn="l"/>
                <a:tab pos="4759325" algn="l"/>
                <a:tab pos="5673725" algn="l"/>
                <a:tab pos="6588125" algn="l"/>
                <a:tab pos="7502525" algn="l"/>
                <a:tab pos="8416925" algn="l"/>
                <a:tab pos="9331325" algn="l"/>
                <a:tab pos="10245725" algn="l"/>
              </a:tabLst>
            </a:pPr>
            <a:r>
              <a:rPr lang="en-GB" sz="1800" dirty="0" smtClean="0"/>
              <a:t>We should prioritize the speed of the development over zero defects</a:t>
            </a:r>
          </a:p>
          <a:p>
            <a:pPr marL="1316037" lvl="2" indent="-457200" eaLnBrk="1" hangingPunct="1">
              <a:lnSpc>
                <a:spcPct val="90000"/>
              </a:lnSpc>
              <a:spcBef>
                <a:spcPts val="500"/>
              </a:spcBef>
              <a:tabLst>
                <a:tab pos="1101725" algn="l"/>
                <a:tab pos="2016125" algn="l"/>
                <a:tab pos="2930525" algn="l"/>
                <a:tab pos="3844925" algn="l"/>
                <a:tab pos="4759325" algn="l"/>
                <a:tab pos="5673725" algn="l"/>
                <a:tab pos="6588125" algn="l"/>
                <a:tab pos="7502525" algn="l"/>
                <a:tab pos="8416925" algn="l"/>
                <a:tab pos="9331325" algn="l"/>
                <a:tab pos="10245725" algn="l"/>
              </a:tabLst>
            </a:pPr>
            <a:r>
              <a:rPr lang="en-GB" sz="1800" dirty="0" smtClean="0"/>
              <a:t>Extending the development in order to reach higher quality could result in late delivery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3059832" cy="850106"/>
          </a:xfrm>
        </p:spPr>
        <p:txBody>
          <a:bodyPr/>
          <a:lstStyle/>
          <a:p>
            <a:r>
              <a:rPr lang="en-US" sz="3600" b="1" dirty="0" smtClean="0"/>
              <a:t>Thank You…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2843808" cy="778098"/>
          </a:xfrm>
        </p:spPr>
        <p:txBody>
          <a:bodyPr/>
          <a:lstStyle/>
          <a:p>
            <a:r>
              <a:rPr lang="en-IN" sz="4000" b="1" dirty="0" smtClean="0"/>
              <a:t>Credits </a:t>
            </a:r>
            <a:endParaRPr lang="en-IN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Software Engineering 7/</a:t>
            </a:r>
            <a:r>
              <a:rPr lang="en-IN" dirty="0" err="1" smtClean="0"/>
              <a:t>ed</a:t>
            </a:r>
            <a:r>
              <a:rPr lang="en-IN" dirty="0" smtClean="0"/>
              <a:t> by Roger Pressman – Reference </a:t>
            </a:r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911</Words>
  <Application>Microsoft Office PowerPoint</Application>
  <PresentationFormat>On-screen Show (4:3)</PresentationFormat>
  <Paragraphs>116</Paragraphs>
  <Slides>20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Course Name :  Software Engineering</vt:lpstr>
      <vt:lpstr>Slide 2</vt:lpstr>
      <vt:lpstr>Prescriptive and Agile Processes</vt:lpstr>
      <vt:lpstr>Prescriptive Process Model</vt:lpstr>
      <vt:lpstr>Slide 5</vt:lpstr>
      <vt:lpstr>Slide 6</vt:lpstr>
      <vt:lpstr>Critique of the waterfall model</vt:lpstr>
      <vt:lpstr>Critique of Waterfall Model   continued</vt:lpstr>
      <vt:lpstr>Slide 9</vt:lpstr>
      <vt:lpstr>Slide 10</vt:lpstr>
      <vt:lpstr>The Incremental Model</vt:lpstr>
      <vt:lpstr>Slide 12</vt:lpstr>
      <vt:lpstr>Slide 13</vt:lpstr>
      <vt:lpstr>Prototyping Model</vt:lpstr>
      <vt:lpstr>Prototyping Model (Potential Problems)</vt:lpstr>
      <vt:lpstr>Slide 16</vt:lpstr>
      <vt:lpstr>Spiral Model </vt:lpstr>
      <vt:lpstr>General Weaknesses of Evolutionary Process Models</vt:lpstr>
      <vt:lpstr>Thank You…</vt:lpstr>
      <vt:lpstr>Credits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 V Rao</dc:creator>
  <cp:lastModifiedBy>T V Rao</cp:lastModifiedBy>
  <cp:revision>2</cp:revision>
  <dcterms:created xsi:type="dcterms:W3CDTF">2014-02-26T13:29:33Z</dcterms:created>
  <dcterms:modified xsi:type="dcterms:W3CDTF">2014-02-26T13:33:31Z</dcterms:modified>
</cp:coreProperties>
</file>