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JPG" ContentType="image/.jp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  <p:sldMasterId id="2147483673" r:id="rId4"/>
    <p:sldMasterId id="2147483685" r:id="rId5"/>
    <p:sldMasterId id="2147483697" r:id="rId6"/>
    <p:sldMasterId id="2147483709" r:id="rId7"/>
    <p:sldMasterId id="2147483721" r:id="rId8"/>
  </p:sldMasterIdLst>
  <p:notesMasterIdLst>
    <p:notesMasterId r:id="rId47"/>
  </p:notesMasterIdLst>
  <p:handoutMasterIdLst>
    <p:handoutMasterId r:id="rId48"/>
  </p:handoutMasterIdLst>
  <p:sldIdLst>
    <p:sldId id="718" r:id="rId9"/>
    <p:sldId id="366" r:id="rId10"/>
    <p:sldId id="698" r:id="rId11"/>
    <p:sldId id="697" r:id="rId12"/>
    <p:sldId id="267" r:id="rId13"/>
    <p:sldId id="699" r:id="rId14"/>
    <p:sldId id="700" r:id="rId15"/>
    <p:sldId id="706" r:id="rId16"/>
    <p:sldId id="701" r:id="rId17"/>
    <p:sldId id="702" r:id="rId18"/>
    <p:sldId id="707" r:id="rId19"/>
    <p:sldId id="708" r:id="rId20"/>
    <p:sldId id="709" r:id="rId21"/>
    <p:sldId id="710" r:id="rId22"/>
    <p:sldId id="711" r:id="rId23"/>
    <p:sldId id="703" r:id="rId24"/>
    <p:sldId id="704" r:id="rId25"/>
    <p:sldId id="712" r:id="rId26"/>
    <p:sldId id="713" r:id="rId27"/>
    <p:sldId id="714" r:id="rId28"/>
    <p:sldId id="719" r:id="rId29"/>
    <p:sldId id="720" r:id="rId30"/>
    <p:sldId id="721" r:id="rId31"/>
    <p:sldId id="715" r:id="rId32"/>
    <p:sldId id="716" r:id="rId33"/>
    <p:sldId id="705" r:id="rId34"/>
    <p:sldId id="717" r:id="rId35"/>
    <p:sldId id="725" r:id="rId36"/>
    <p:sldId id="726" r:id="rId37"/>
    <p:sldId id="727" r:id="rId38"/>
    <p:sldId id="728" r:id="rId39"/>
    <p:sldId id="729" r:id="rId40"/>
    <p:sldId id="730" r:id="rId41"/>
    <p:sldId id="735" r:id="rId42"/>
    <p:sldId id="734" r:id="rId43"/>
    <p:sldId id="731" r:id="rId44"/>
    <p:sldId id="723" r:id="rId45"/>
    <p:sldId id="724" r:id="rId46"/>
  </p:sldIdLst>
  <p:sldSz cx="9144000" cy="6858000" type="screen4x3"/>
  <p:notesSz cx="9236075" cy="7010400"/>
  <p:embeddedFontLst>
    <p:embeddedFont>
      <p:font typeface="Arial Narrow" panose="020B0706020202030204" pitchFamily="34" charset="0"/>
      <p:regular r:id="rId52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Arial" panose="020B0704020202020204" pitchFamily="34" charset="0"/>
        <a:ea typeface="SimSun" pitchFamily="2" charset="-122"/>
        <a:cs typeface="+mn-cs"/>
        <a:sym typeface="Arial" panose="020B07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7" autoAdjust="0"/>
    <p:restoredTop sz="35842" autoAdjust="0"/>
  </p:normalViewPr>
  <p:slideViewPr>
    <p:cSldViewPr showGuides="1">
      <p:cViewPr varScale="1">
        <p:scale>
          <a:sx n="82" d="100"/>
          <a:sy n="82" d="100"/>
        </p:scale>
        <p:origin x="1478" y="72"/>
      </p:cViewPr>
      <p:guideLst>
        <p:guide orient="horz" pos="2182"/>
        <p:guide pos="291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2" Type="http://schemas.openxmlformats.org/officeDocument/2006/relationships/font" Target="fonts/font1.fntdata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0" name="Rectangle 8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t" anchorCtr="0" compatLnSpc="1"/>
          <a:lstStyle>
            <a:lvl1pPr>
              <a:defRPr sz="1200">
                <a:latin typeface="Arial" panose="020B0704020202020204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9391" name="Rectangle 815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2400" y="0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t" anchorCtr="0" compatLnSpc="1"/>
          <a:lstStyle>
            <a:lvl1pPr algn="r">
              <a:defRPr sz="1200">
                <a:latin typeface="Arial" panose="020B0704020202020204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9392" name="Rectangle 816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b" anchorCtr="0" compatLnSpc="1"/>
          <a:lstStyle>
            <a:lvl1pPr>
              <a:defRPr sz="1200">
                <a:latin typeface="Arial" panose="020B0704020202020204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9393" name="Rectangle 817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2400" y="6657975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b" anchorCtr="0" compatLnSpc="1"/>
          <a:lstStyle>
            <a:lvl1pPr algn="r">
              <a:defRPr sz="1200">
                <a:latin typeface="Arial" panose="020B0704020202020204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D39B61A6-2C67-4B73-AA15-9ED9CB9F94E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4" name="Rectangle 80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t" anchorCtr="0" compatLnSpc="1"/>
          <a:lstStyle>
            <a:lvl1pPr>
              <a:defRPr sz="1200">
                <a:latin typeface="Calibri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9385" name="Rectangle 809"/>
          <p:cNvSpPr>
            <a:spLocks noGrp="1" noChangeArrowheads="1"/>
          </p:cNvSpPr>
          <p:nvPr>
            <p:ph type="dt" idx="1"/>
          </p:nvPr>
        </p:nvSpPr>
        <p:spPr bwMode="auto">
          <a:xfrm>
            <a:off x="5232400" y="0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t" anchorCtr="0" compatLnSpc="1"/>
          <a:lstStyle>
            <a:lvl1pPr algn="r">
              <a:defRPr sz="1200">
                <a:latin typeface="Calibri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5780" name="Rectangle 810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2865438" y="525463"/>
            <a:ext cx="3505200" cy="26289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</p:spPr>
      </p:sp>
      <p:sp>
        <p:nvSpPr>
          <p:cNvPr id="1049387" name="Rectangle 81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3330575"/>
            <a:ext cx="7388225" cy="3154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t" anchorCtr="0" compatLnSpc="1"/>
          <a:lstStyle/>
          <a:p>
            <a:pPr lvl="0"/>
            <a:r>
              <a:rPr lang="en-US" altLang="en-US" noProof="0">
                <a:sym typeface="Arial" panose="020B0704020202020204" pitchFamily="34" charset="0"/>
              </a:rPr>
              <a:t>Click to edit Master text styles</a:t>
            </a:r>
            <a:endParaRPr lang="en-US" altLang="en-US" noProof="0">
              <a:sym typeface="Arial" panose="020B0704020202020204" pitchFamily="34" charset="0"/>
            </a:endParaRPr>
          </a:p>
          <a:p>
            <a:pPr lvl="1"/>
            <a:r>
              <a:rPr lang="en-US" altLang="en-US" noProof="0">
                <a:sym typeface="Arial" panose="020B0704020202020204" pitchFamily="34" charset="0"/>
              </a:rPr>
              <a:t>Second level</a:t>
            </a:r>
            <a:endParaRPr lang="en-US" altLang="en-US" noProof="0">
              <a:sym typeface="Arial" panose="020B0704020202020204" pitchFamily="34" charset="0"/>
            </a:endParaRPr>
          </a:p>
          <a:p>
            <a:pPr lvl="2"/>
            <a:r>
              <a:rPr lang="en-US" altLang="en-US" noProof="0">
                <a:sym typeface="Arial" panose="020B0704020202020204" pitchFamily="34" charset="0"/>
              </a:rPr>
              <a:t>Third level</a:t>
            </a:r>
            <a:endParaRPr lang="en-US" altLang="en-US" noProof="0">
              <a:sym typeface="Arial" panose="020B0704020202020204" pitchFamily="34" charset="0"/>
            </a:endParaRPr>
          </a:p>
          <a:p>
            <a:pPr lvl="3"/>
            <a:r>
              <a:rPr lang="en-US" altLang="en-US" noProof="0">
                <a:sym typeface="Arial" panose="020B0704020202020204" pitchFamily="34" charset="0"/>
              </a:rPr>
              <a:t>Fourth level</a:t>
            </a:r>
            <a:endParaRPr lang="en-US" altLang="en-US" noProof="0">
              <a:sym typeface="Arial" panose="020B0704020202020204" pitchFamily="34" charset="0"/>
            </a:endParaRPr>
          </a:p>
          <a:p>
            <a:pPr lvl="4"/>
            <a:r>
              <a:rPr lang="en-US" altLang="en-US" noProof="0">
                <a:sym typeface="Arial" panose="020B0704020202020204" pitchFamily="34" charset="0"/>
              </a:rPr>
              <a:t>Fifth level</a:t>
            </a:r>
            <a:endParaRPr lang="en-US" altLang="en-US" noProof="0">
              <a:sym typeface="Arial" panose="020B0704020202020204" pitchFamily="34" charset="0"/>
            </a:endParaRPr>
          </a:p>
        </p:txBody>
      </p:sp>
      <p:sp>
        <p:nvSpPr>
          <p:cNvPr id="1049388" name="Rectangle 8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b" anchorCtr="0" compatLnSpc="1"/>
          <a:lstStyle>
            <a:lvl1pPr>
              <a:defRPr sz="1200">
                <a:latin typeface="Calibri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49389" name="Rectangle 8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32400" y="6657975"/>
            <a:ext cx="4002088" cy="35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830" tIns="46415" rIns="92830" bIns="46415" numCol="1" anchor="b" anchorCtr="0" compatLnSpc="1"/>
          <a:lstStyle>
            <a:lvl1pPr algn="r">
              <a:defRPr sz="1200">
                <a:latin typeface="Calibri" pitchFamily="34" charset="0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C72DFB74-CFE3-442A-BBF9-DC2730A8B032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itchFamily="34" charset="0"/>
        <a:ea typeface="SimSun" pitchFamily="2" charset="-122"/>
        <a:cs typeface="+mn-cs"/>
        <a:sym typeface="Arial" panose="020B07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itchFamily="34" charset="0"/>
        <a:ea typeface="SimSun" pitchFamily="2" charset="-122"/>
        <a:cs typeface="+mn-cs"/>
        <a:sym typeface="Arial" panose="020B07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itchFamily="34" charset="0"/>
        <a:ea typeface="SimSun" pitchFamily="2" charset="-122"/>
        <a:cs typeface="+mn-cs"/>
        <a:sym typeface="Arial" panose="020B07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itchFamily="34" charset="0"/>
        <a:ea typeface="SimSun" pitchFamily="2" charset="-122"/>
        <a:cs typeface="+mn-cs"/>
        <a:sym typeface="Arial" panose="020B07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rgbClr val="000000"/>
        </a:solidFill>
        <a:latin typeface="Calibri" pitchFamily="34" charset="0"/>
        <a:ea typeface="SimSun" pitchFamily="2" charset="-122"/>
        <a:cs typeface="+mn-cs"/>
        <a:sym typeface="Arial" panose="020B07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E4C60-505D-471A-909D-326AAEAF3F2B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9809A-2AF1-4590-83BC-6B05C7F637E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1952CA-1830-4EF1-B28F-D27FA9D82801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8731F-1F66-42C7-8158-034F41E1CF8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21282-5012-4F10-9D9E-25E7534A0A2A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EA9C4-730E-4F65-A150-F32BED34623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48C0F-AE07-4AE1-88D4-6AE2048ED85C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5C15C-E239-4378-B788-C509BFE2663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4E219-2BB0-4758-8FC8-6272E1487094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8E71A-09A5-4E7C-A2FF-05748733911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DCE74-F201-4F0D-BAFF-8423C6FD55B5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06EBC-56E2-4C5E-AC28-53D64B9C5B9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32779-E370-4E29-9D1F-126DA5C61487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C8AD0-52CF-4F53-B141-664276BEAC0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13950-C6E2-4508-B6B9-F44A8D26243B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30F36E-86CD-44BF-985B-788A2BEF8A7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5638C-4EC1-43AA-AAD3-1945DD6C0555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8822EA-BD01-4ED2-A48C-1A1AC334485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4594F-F29C-4DC4-8327-A19B5F76DFF1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4BB12-A699-4D8E-B971-EC5E4DD1F79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1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1C2880-C454-4909-A369-BBC6D2F6EC20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2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2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0EFAC-52EF-4E5E-8B8C-84D4B380558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4425" y="44450"/>
            <a:ext cx="7850188" cy="9366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79388" y="1052513"/>
            <a:ext cx="8785225" cy="5400675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C1B33-AAC4-4350-8300-DFC13E19A81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A5BCE-8A68-4251-A874-F5FA25B150FC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EE0483-7052-465C-AA7F-C290B92879B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C2ABB-8AE7-42BD-BA4F-222112E336BC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46960-B51C-470C-BC2F-099234D1D35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323CC-9C64-44BE-BC07-B2E6E0C80BF3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25244-29A8-437A-83D7-850C5A2693C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A68D4-10A6-4179-B040-C727E65121ED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131FF-3A6A-4BD3-ADDD-76179E1215B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6D63D-1308-4C3E-A64F-AC0B3CF8A73E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2C28E-AD51-42C7-BDE5-0C430346025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D9FE75-A142-4AA9-99F1-8602708796E7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5A3921-1558-4505-927D-6674E4E51E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10D1F-522D-42E2-A6C2-88CC57EA663D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DF588-C96D-4942-9BDF-DF476F67216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D1D76-4312-42AC-85D1-34A28A561E08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549313-ADCD-4550-BFAA-4A6790FA178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CC636-C6AC-4976-9E4B-10EBF9E4A3D0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998B3-24F6-41F1-A81C-B934600DC2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398E84-ADF6-4E20-92A2-A50A29B9DE67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F7417-39EA-4FCA-B44C-04ECA7C2E48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2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D2105-FF0D-441C-9E4E-EC643CDB7DC7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95BCBF-1DD7-40EC-BB6A-B0DC79E5508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8408C-0B1B-4045-8F77-624A963BF836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997D21-79F7-4665-BB9D-ED3CD25BD8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F69D4-CCC5-4664-A014-069960207005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4D6FE-0031-47EE-A6BF-A6201CA3287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30D60-8B07-4A59-8DEB-642F3F3D9148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77C81-1E16-4EEE-811B-44F47E6433B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E700B-3DF5-4235-A7CF-AEC465583E1E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49325-7CA9-434E-8F0F-65023E92A7D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6539D-14F6-4F38-BB4C-A97A2A5C27D3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9E2B3E-559F-4D1C-AE09-132DE8749EA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76A47-C7C5-4F9E-9BC5-986E4DB62517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FFE56-BA52-4195-BCA0-8FFAE5E97E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67966-6697-4E74-8C91-417A05AF67C9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16CCF-A4C2-496C-9B13-34DAD193FB8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FE0A9-1BB3-451F-9AB8-413281CB6C01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7222B-C898-449D-AEFB-42597E597A4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E6A3C-4059-4471-865B-F418C62ADF28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1D3F7-D650-434D-A703-8189F7C7F86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06BA0-8199-4DB2-8A7D-EC390EA15F0A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1360F-8EE2-41D0-8204-EFF0EB5D2A8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4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B398-5DCD-451B-9C0D-AF7129D20402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5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AA2E5-2984-47CC-99E5-52C4D7DC24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8761E6-2EE7-4D9B-AEDA-D9FEA8F62A1C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690775-514F-41E2-A78A-371D8043093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E0887B-F5F6-492F-8DC7-80149BB9DD72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13631-88CD-4CA8-AB8A-C0B41A3476D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E47D6-EC8F-49F6-8F4A-C33DFA90B757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0CBFA-B002-4836-8E9D-4C6A8D1FA67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7E1D96-0E9F-4357-8681-A2AD5920A9F0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EA664-D5C8-49D9-A4C2-857FD51C39C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A3BB7-3556-42F0-9B53-2C88AC4A8D69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F1896-CEE1-401F-A984-E574115215C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F1139-ACB8-4F31-A66E-4330EC40E305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81D86-5770-4E00-894B-F806B3F0B5F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B7B5E-43FB-42B0-AF8E-5848090B8CEB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F1528-0068-4D59-9ABC-9D111B652AC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A66B9-2FD5-426D-9510-D1031398651F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4A7D4-DDA2-442E-A83A-06E54216CCE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52707-6975-42D2-978E-AC4942673018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8C1E3-C2D6-4050-86EE-40E970B9481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15EBE-BDF3-4990-A7F9-A0FC4D851F5C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1F560-BE09-4E06-B480-845EAB9034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5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77AFD-B405-4DCC-A16E-EDD975A0CB32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6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6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B3A43-BB1B-490D-8D03-5807E92B8DF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324A60-A364-4ACC-9A40-E66A3C0A14E8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39C96-6CCF-4BA8-B7CB-8BD6D613103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C96D8-C6F0-41C8-B9B5-A2CDCB45F0F0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F81BB6-3718-456B-8066-24C4154F1D5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C6952F-BC31-4260-9E3D-06CEFD277060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420F4-149F-4A27-9B9E-D148CD179C7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F66BE6-C780-43A1-B971-DEFDBB6EDFC4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FA992-715E-442D-9E84-4CC5F68B16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EABE5-6899-4E70-A049-EA352EB4BA70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A653D-A7D3-43FF-ABA1-D225F087629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BF78EB-76E0-4BDF-9383-873D718F4FBD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DDBBAA-870A-4D7D-9663-F0463ED1F2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10188-6DA9-472D-BA60-CD238833E91A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770CAA-7656-4FBE-B70C-6A7559CA2F7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0B8EF-DFD2-459A-B13F-F3FBF949B8E7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153B-02EB-4805-855F-F97E8D0ED28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290F0-7FE1-4E5E-B103-E192104B29ED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DAAC8A-AD28-4105-B07B-28AB1C2292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33379-27FB-4DD7-87CB-3F54431E8B45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3BB42-6056-413E-B313-4CEF9991265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6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B3DFE-B9F0-4EA0-9E0E-681D0BDD4BB4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7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7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2699E-8498-4909-905C-2BEF10E7A85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7DFEB-6373-4F16-9FBE-3FD5E9EF3398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739E2-CCC3-4DBA-A0E1-E2C808C33D8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5F1A5-68CA-4D3B-853C-E6E624AC2A08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23940-31A0-4D02-B147-681413D6537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9DBDB-8E37-4578-836D-745D0471DE59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0E6FD-639C-4F3D-BF56-155D9A71A57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7499F1-9F17-4603-85CB-4C8885D11F07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1F87D-E46A-4B12-98A1-755FA4B0B2E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34BD1-1700-4532-8B9B-87D62E4AD7E3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9CC88-22B9-4671-BA3E-D7818A4F921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0319C-6BEB-4C77-AA78-EDFD27F6A647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DD87B-F222-498D-98D4-724AB411D7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12247-2C52-4731-958B-77862077363A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67D57-4731-45E5-AF73-F8082E71CF7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F62F5-D508-4E68-8FBC-456F14EEFCD3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FF6C4-79DB-46FA-96F7-EC77D79165D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B49BD2-6062-4ECE-85D0-42E133ADC90A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3A1818-349A-4F97-BCD9-75466FF5459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653A5F-3DCA-4ECD-AADF-1D4E1A5BE871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75DE6-D9B7-4612-BD38-F2E35582906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7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7D22C-D4CD-4A1C-940F-D4BC6257A61F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8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50AF-34B0-4176-917C-33897A682B7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7BDD6-341A-4938-8E86-9FE2C06CCC8C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009B6-A25F-481D-B9D4-71A1A69EDBB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AEC5-3AED-4F58-9E2E-6F8784F4BE85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4E3A5-03E6-41BC-B2BC-00F0EF1E9AE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C1037-00E1-4CF2-ABDE-9AC475A98EC7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632D9-E031-4835-94BC-E17721E67B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73D3F-217A-4EDA-8F35-341BAA00CBEE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705DF-C135-49F7-9300-CCDB905A60B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05DF6-EEDF-4A2F-9C09-E07339E5BCD5}" type="datetimeFigureOut">
              <a:rPr lang="en-US" altLang="en-US"/>
            </a:fld>
            <a:endParaRPr lang="en-US" altLang="en-US" b="1" i="1"/>
          </a:p>
        </p:txBody>
      </p:sp>
      <p:sp>
        <p:nvSpPr>
          <p:cNvPr id="8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F17F5-C15D-4C7A-AD12-6ED756D8240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A97DDF-232C-4C8C-9C2B-EC5CE41149A2}" type="datetimeFigureOut">
              <a:rPr lang="en-US" altLang="en-US"/>
            </a:fld>
            <a:endParaRPr lang="en-US" altLang="en-US" b="1" i="1"/>
          </a:p>
        </p:txBody>
      </p:sp>
      <p:sp>
        <p:nvSpPr>
          <p:cNvPr id="4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0FE15-6495-4D64-A07F-101CE915B2C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15A7C-02FF-45EB-B692-09B7A926AC87}" type="datetimeFigureOut">
              <a:rPr lang="en-US" altLang="en-US"/>
            </a:fld>
            <a:endParaRPr lang="en-US" altLang="en-US" b="1" i="1"/>
          </a:p>
        </p:txBody>
      </p:sp>
      <p:sp>
        <p:nvSpPr>
          <p:cNvPr id="3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CA784-0533-4506-8095-89E5FF2EEC3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E864A-20C2-4434-B5A9-034A0B59C8A4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8D4D34-6EAA-4818-8C37-C4B85ADD6C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A5C3C-8496-44C5-BEA0-6860B3FEDEFF}" type="datetimeFigureOut">
              <a:rPr lang="en-US" altLang="en-US"/>
            </a:fld>
            <a:endParaRPr lang="en-US" altLang="en-US" b="1" i="1"/>
          </a:p>
        </p:txBody>
      </p:sp>
      <p:sp>
        <p:nvSpPr>
          <p:cNvPr id="6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F8EB0-32D8-4F05-B346-16C813B4075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7E87A-C1CC-4CF1-AEBD-2BFE4D158377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2FB4F-A42B-4DD8-85E1-89BEB478851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8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D617A-E683-4CD3-B04C-EC0DA8642B68}" type="datetimeFigureOut">
              <a:rPr lang="en-US" altLang="en-US"/>
            </a:fld>
            <a:endParaRPr lang="en-US" altLang="en-US" b="1" i="1"/>
          </a:p>
        </p:txBody>
      </p:sp>
      <p:sp>
        <p:nvSpPr>
          <p:cNvPr id="5" name="Rectangle 49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49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D857C-C650-4232-BF95-B0DF1FC4B8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4" Type="http://schemas.openxmlformats.org/officeDocument/2006/relationships/theme" Target="../theme/theme6.xml"/><Relationship Id="rId13" Type="http://schemas.openxmlformats.org/officeDocument/2006/relationships/image" Target="../media/image4.png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2.xml"/><Relationship Id="rId4" Type="http://schemas.openxmlformats.org/officeDocument/2006/relationships/slideLayout" Target="../slideLayouts/slideLayout71.xml"/><Relationship Id="rId3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9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angle 29"/>
          <p:cNvSpPr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en-US" sz="1100" b="1">
                <a:solidFill>
                  <a:srgbClr val="101141"/>
                </a:solidFill>
                <a:latin typeface="Calibri" pitchFamily="34" charset="0"/>
                <a:ea typeface="+mn-ea"/>
                <a:cs typeface="Arial" panose="020B0704020202020204" pitchFamily="34" charset="0"/>
              </a:rPr>
              <a:t>BITS </a:t>
            </a:r>
            <a:r>
              <a:rPr lang="en-US" altLang="en-US" sz="1100">
                <a:solidFill>
                  <a:srgbClr val="101141"/>
                </a:solidFill>
                <a:latin typeface="Calibri" pitchFamily="34" charset="0"/>
                <a:ea typeface="+mn-ea"/>
                <a:cs typeface="Arial" panose="020B0704020202020204" pitchFamily="34" charset="0"/>
              </a:rPr>
              <a:t>Pilani, Deemed to be University under Section 3 of UGC Act, 1956</a:t>
            </a:r>
            <a:endParaRPr lang="en-US" altLang="en-US">
              <a:ea typeface="+mn-ea"/>
              <a:cs typeface="Arial" panose="020B0704020202020204" pitchFamily="34" charset="0"/>
            </a:endParaRPr>
          </a:p>
        </p:txBody>
      </p:sp>
      <p:pic>
        <p:nvPicPr>
          <p:cNvPr id="9219" name="Picture 3" descr="Picture 7.png"/>
          <p:cNvPicPr>
            <a:picLocks noChangeAspect="1" noChangeArrowheads="1"/>
          </p:cNvPicPr>
          <p:nvPr/>
        </p:nvPicPr>
        <p:blipFill>
          <a:blip r:embed="rId13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220" name="Group -902"/>
          <p:cNvGrpSpPr/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8606" name="Rectangle 30"/>
            <p:cNvSpPr>
              <a:spLocks noChangeArrowheads="1"/>
            </p:cNvSpPr>
            <p:nvPr/>
          </p:nvSpPr>
          <p:spPr bwMode="auto"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8607" name="Rectangle 31"/>
            <p:cNvSpPr>
              <a:spLocks noChangeArrowheads="1"/>
            </p:cNvSpPr>
            <p:nvPr/>
          </p:nvSpPr>
          <p:spPr bwMode="auto"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8608" name="Rectangle 32"/>
            <p:cNvSpPr>
              <a:spLocks noChangeArrowheads="1"/>
            </p:cNvSpPr>
            <p:nvPr/>
          </p:nvSpPr>
          <p:spPr bwMode="auto"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</p:grpSp>
      <p:grpSp>
        <p:nvGrpSpPr>
          <p:cNvPr id="9221" name="Group -901"/>
          <p:cNvGrpSpPr/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48609" name="Rectangle 33"/>
            <p:cNvSpPr>
              <a:spLocks noChangeArrowheads="1"/>
            </p:cNvSpPr>
            <p:nvPr/>
          </p:nvSpPr>
          <p:spPr bwMode="auto"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8610" name="Rectangle 34"/>
            <p:cNvSpPr>
              <a:spLocks noChangeArrowheads="1"/>
            </p:cNvSpPr>
            <p:nvPr/>
          </p:nvSpPr>
          <p:spPr bwMode="auto"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8611" name="Rectangle 35"/>
            <p:cNvSpPr>
              <a:spLocks noChangeArrowheads="1"/>
            </p:cNvSpPr>
            <p:nvPr/>
          </p:nvSpPr>
          <p:spPr bwMode="auto"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</p:grpSp>
      <p:sp>
        <p:nvSpPr>
          <p:cNvPr id="9222" name="Rectangle 41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23" name="Rectangle 4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19" name="Rectangle 41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92F21E21-395C-4A1B-B41A-717953DF7A15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21" name="Rectangle 4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23" name="Rectangle 42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3DC09412-6521-42E6-A8F5-3F8D8E9ABB8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7" name="Rectangle 771"/>
          <p:cNvSpPr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lang="en-US" altLang="en-US" sz="1100" b="1">
                <a:solidFill>
                  <a:srgbClr val="101141"/>
                </a:solidFill>
                <a:latin typeface="Calibri" pitchFamily="34" charset="0"/>
                <a:ea typeface="+mn-ea"/>
                <a:cs typeface="Arial" panose="020B0704020202020204" pitchFamily="34" charset="0"/>
              </a:rPr>
              <a:t>BITS </a:t>
            </a:r>
            <a:r>
              <a:rPr lang="en-US" altLang="en-US" sz="1100">
                <a:solidFill>
                  <a:srgbClr val="101141"/>
                </a:solidFill>
                <a:latin typeface="Calibri" pitchFamily="34" charset="0"/>
                <a:ea typeface="+mn-ea"/>
                <a:cs typeface="Arial" panose="020B0704020202020204" pitchFamily="34" charset="0"/>
              </a:rPr>
              <a:t>Pilani, Deemed to be University under Section 3 of UGC Act, 1956</a:t>
            </a:r>
            <a:endParaRPr lang="en-US" altLang="en-US">
              <a:ea typeface="+mn-ea"/>
              <a:cs typeface="Arial" panose="020B0704020202020204" pitchFamily="34" charset="0"/>
            </a:endParaRPr>
          </a:p>
        </p:txBody>
      </p:sp>
      <p:pic>
        <p:nvPicPr>
          <p:cNvPr id="10243" name="Picture 71" descr="Picture 7.png"/>
          <p:cNvPicPr>
            <a:picLocks noChangeAspect="1" noChangeArrowheads="1"/>
          </p:cNvPicPr>
          <p:nvPr/>
        </p:nvPicPr>
        <p:blipFill>
          <a:blip r:embed="rId12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244" name="Group -753"/>
          <p:cNvGrpSpPr/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9348" name="Rectangle 772"/>
            <p:cNvSpPr>
              <a:spLocks noChangeArrowheads="1"/>
            </p:cNvSpPr>
            <p:nvPr/>
          </p:nvSpPr>
          <p:spPr bwMode="auto"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9349" name="Rectangle 773"/>
            <p:cNvSpPr>
              <a:spLocks noChangeArrowheads="1"/>
            </p:cNvSpPr>
            <p:nvPr/>
          </p:nvSpPr>
          <p:spPr bwMode="auto"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9350" name="Rectangle 774"/>
            <p:cNvSpPr>
              <a:spLocks noChangeArrowheads="1"/>
            </p:cNvSpPr>
            <p:nvPr/>
          </p:nvSpPr>
          <p:spPr bwMode="auto"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</p:grpSp>
      <p:grpSp>
        <p:nvGrpSpPr>
          <p:cNvPr id="10245" name="Group -752"/>
          <p:cNvGrpSpPr/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49351" name="Rectangle 775"/>
            <p:cNvSpPr>
              <a:spLocks noChangeArrowheads="1"/>
            </p:cNvSpPr>
            <p:nvPr/>
          </p:nvSpPr>
          <p:spPr bwMode="auto"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9352" name="Rectangle 776"/>
            <p:cNvSpPr>
              <a:spLocks noChangeArrowheads="1"/>
            </p:cNvSpPr>
            <p:nvPr/>
          </p:nvSpPr>
          <p:spPr bwMode="auto"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9353" name="Rectangle 777"/>
            <p:cNvSpPr>
              <a:spLocks noChangeArrowheads="1"/>
            </p:cNvSpPr>
            <p:nvPr/>
          </p:nvSpPr>
          <p:spPr bwMode="auto"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</a:ln>
          </p:spPr>
          <p:txBody>
            <a:bodyPr anchor="ctr"/>
            <a:lstStyle/>
            <a:p>
              <a:pPr algn="ctr">
                <a:defRPr/>
              </a:pPr>
              <a:endParaRPr lang="en-US" altLang="en-US">
                <a:solidFill>
                  <a:srgbClr val="FFFFFF"/>
                </a:solidFill>
                <a:latin typeface="Calibri" pitchFamily="34" charset="0"/>
                <a:ea typeface="+mn-ea"/>
                <a:cs typeface="Arial" panose="020B0704020202020204" pitchFamily="34" charset="0"/>
              </a:endParaRPr>
            </a:p>
          </p:txBody>
        </p:sp>
      </p:grpSp>
      <p:sp>
        <p:nvSpPr>
          <p:cNvPr id="10246" name="Rectangle 42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47" name="Rectangle 42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29" name="Rectangle 42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947331C5-9EA6-4D11-8029-33B2D1799DF9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31" name="Rectangle 4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33" name="Rectangle 4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22725EFD-35B6-4588-A0E2-1CC7600295CA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72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344488" y="6324600"/>
            <a:ext cx="849312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44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1268" name="Rectangle 44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49" name="Rectangle 44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72002255-14B6-41E1-BFDF-4734BF46634C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51" name="Rectangle 45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53" name="Rectangle 45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72E3E0CD-458B-4F45-B1D8-C0365770631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5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2291" name="Rectangle 4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59" name="Rectangle 45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8ED65BAD-C05B-476B-A18D-A8AF329D5631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61" name="Rectangle 46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63" name="Rectangle 46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546D1576-5A55-48AF-B642-20E93BE366B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6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3315" name="Rectangle 46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69" name="Rectangle 46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80122389-8C90-419A-9DFD-C714C7E10201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71" name="Rectangle 47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73" name="Rectangle 47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250275B5-AE07-4B76-8705-0ED74B09184A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5"/>
          <p:cNvSpPr>
            <a:spLocks noChangeArrowheads="1"/>
          </p:cNvSpPr>
          <p:nvPr/>
        </p:nvSpPr>
        <p:spPr bwMode="auto"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048582" name="Rectangle 6"/>
          <p:cNvSpPr>
            <a:spLocks noChangeArrowheads="1"/>
          </p:cNvSpPr>
          <p:nvPr/>
        </p:nvSpPr>
        <p:spPr bwMode="auto"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048583" name="Rectangle 7"/>
          <p:cNvSpPr>
            <a:spLocks noChangeArrowheads="1"/>
          </p:cNvSpPr>
          <p:nvPr/>
        </p:nvSpPr>
        <p:spPr bwMode="auto"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048584" name="Rectangle 8"/>
          <p:cNvSpPr>
            <a:spLocks noChangeArrowheads="1"/>
          </p:cNvSpPr>
          <p:nvPr/>
        </p:nvSpPr>
        <p:spPr bwMode="auto"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pic>
        <p:nvPicPr>
          <p:cNvPr id="14342" name="Picture 0" descr="BITS_university_logo_whitevert.png"/>
          <p:cNvPicPr>
            <a:picLocks noChangeAspect="1" noChangeArrowheads="1"/>
          </p:cNvPicPr>
          <p:nvPr/>
        </p:nvPicPr>
        <p:blipFill>
          <a:blip r:embed="rId13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343" name="Group -996"/>
          <p:cNvGrpSpPr/>
          <p:nvPr/>
        </p:nvGrpSpPr>
        <p:grpSpPr bwMode="auto"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048585" name="Rectangle 9"/>
            <p:cNvSpPr>
              <a:spLocks noChangeArrowheads="1"/>
            </p:cNvSpPr>
            <p:nvPr/>
          </p:nvSpPr>
          <p:spPr bwMode="auto">
            <a:xfrm>
              <a:off x="76200" y="2209800"/>
              <a:ext cx="2209800" cy="523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en-US" sz="2900" b="1">
                  <a:solidFill>
                    <a:srgbClr val="FFFFFF"/>
                  </a:solidFill>
                  <a:latin typeface="Calibri" pitchFamily="34" charset="0"/>
                  <a:ea typeface="+mn-ea"/>
                  <a:cs typeface="Arial" panose="020B0704020202020204" pitchFamily="34" charset="0"/>
                </a:rPr>
                <a:t>BITS</a:t>
              </a:r>
              <a:r>
                <a:rPr lang="en-US" altLang="en-US" sz="2900">
                  <a:solidFill>
                    <a:srgbClr val="FFFFFF"/>
                  </a:solidFill>
                  <a:latin typeface="Calibri" pitchFamily="34" charset="0"/>
                  <a:ea typeface="+mn-ea"/>
                  <a:cs typeface="Arial" panose="020B0704020202020204" pitchFamily="34" charset="0"/>
                </a:rPr>
                <a:t> Pilani</a:t>
              </a:r>
              <a:endParaRPr lang="en-US" altLang="en-US"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8586" name="Rectangle 10"/>
            <p:cNvSpPr>
              <a:spLocks noChangeArrowheads="1"/>
            </p:cNvSpPr>
            <p:nvPr/>
          </p:nvSpPr>
          <p:spPr bwMode="auto">
            <a:xfrm>
              <a:off x="228600" y="2665413"/>
              <a:ext cx="1905000" cy="2301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en-US" sz="900">
                  <a:solidFill>
                    <a:srgbClr val="FFFFFF"/>
                  </a:solidFill>
                  <a:latin typeface="Calibri" pitchFamily="34" charset="0"/>
                  <a:ea typeface="+mn-ea"/>
                  <a:cs typeface="Arial" panose="020B0704020202020204" pitchFamily="34" charset="0"/>
                </a:rPr>
                <a:t>Pilani | Dubai | Goa | Hyderabad</a:t>
              </a:r>
              <a:endParaRPr lang="en-US" altLang="en-US">
                <a:ea typeface="+mn-ea"/>
                <a:cs typeface="Arial" panose="020B0704020202020204" pitchFamily="34" charset="0"/>
              </a:endParaRPr>
            </a:p>
          </p:txBody>
        </p:sp>
      </p:grpSp>
      <p:sp>
        <p:nvSpPr>
          <p:cNvPr id="14344" name="Rectangle 47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4345" name="Rectangle 47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79" name="Rectangle 47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35026237-8CB2-4AC7-B70A-D209964C444C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81" name="Rectangle 4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83" name="Rectangle 48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7DBE303A-54DC-4474-9EDC-664E84270EA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93" name="Rectangle 17"/>
          <p:cNvSpPr/>
          <p:nvPr/>
        </p:nvSpPr>
        <p:spPr bwMode="auto">
          <a:xfrm>
            <a:off x="0" y="4281488"/>
            <a:ext cx="9144000" cy="2576512"/>
          </a:xfrm>
          <a:prstGeom prst="rect">
            <a:avLst/>
          </a:prstGeom>
          <a:solidFill>
            <a:srgbClr val="FFFFFF"/>
          </a:solidFill>
          <a:ln w="9525">
            <a:solidFill>
              <a:srgbClr val="4A7EBB"/>
            </a:solidFill>
            <a:miter lim="800000"/>
          </a:ln>
          <a:effectLst>
            <a:outerShdw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pic>
        <p:nvPicPr>
          <p:cNvPr id="15364" name="Picture 2" descr="Picture 7.png"/>
          <p:cNvPicPr>
            <a:picLocks noChangeAspect="1" noChangeArrowheads="1"/>
          </p:cNvPicPr>
          <p:nvPr/>
        </p:nvPicPr>
        <p:blipFill>
          <a:blip r:embed="rId13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94" name="Rectangle 18"/>
          <p:cNvSpPr>
            <a:spLocks noChangeArrowheads="1"/>
          </p:cNvSpPr>
          <p:nvPr/>
        </p:nvSpPr>
        <p:spPr bwMode="auto"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048595" name="Rectangle 19"/>
          <p:cNvSpPr>
            <a:spLocks noChangeArrowheads="1"/>
          </p:cNvSpPr>
          <p:nvPr/>
        </p:nvSpPr>
        <p:spPr bwMode="auto"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sp>
        <p:nvSpPr>
          <p:cNvPr id="1048596" name="Rectangle 20"/>
          <p:cNvSpPr>
            <a:spLocks noChangeArrowheads="1"/>
          </p:cNvSpPr>
          <p:nvPr/>
        </p:nvSpPr>
        <p:spPr bwMode="auto"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</a:ln>
        </p:spPr>
        <p:txBody>
          <a:bodyPr anchor="ctr"/>
          <a:lstStyle/>
          <a:p>
            <a:pPr algn="ctr">
              <a:defRPr/>
            </a:pPr>
            <a:endParaRPr lang="en-US" altLang="en-US">
              <a:solidFill>
                <a:srgbClr val="FFFFFF"/>
              </a:solidFill>
              <a:latin typeface="Calibri" pitchFamily="34" charset="0"/>
              <a:ea typeface="+mn-ea"/>
              <a:cs typeface="Arial" panose="020B0704020202020204" pitchFamily="34" charset="0"/>
            </a:endParaRPr>
          </a:p>
        </p:txBody>
      </p:sp>
      <p:grpSp>
        <p:nvGrpSpPr>
          <p:cNvPr id="15368" name="Group -908"/>
          <p:cNvGrpSpPr/>
          <p:nvPr/>
        </p:nvGrpSpPr>
        <p:grpSpPr bwMode="auto"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048597" name="Rectangle 21"/>
            <p:cNvSpPr>
              <a:spLocks noChangeArrowheads="1"/>
            </p:cNvSpPr>
            <p:nvPr/>
          </p:nvSpPr>
          <p:spPr bwMode="auto">
            <a:xfrm>
              <a:off x="76200" y="2209800"/>
              <a:ext cx="2209800" cy="5238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en-US" sz="2900" b="1">
                  <a:solidFill>
                    <a:srgbClr val="FFFFFF"/>
                  </a:solidFill>
                  <a:latin typeface="Calibri" pitchFamily="34" charset="0"/>
                  <a:ea typeface="+mn-ea"/>
                  <a:cs typeface="Arial" panose="020B0704020202020204" pitchFamily="34" charset="0"/>
                </a:rPr>
                <a:t>BITS</a:t>
              </a:r>
              <a:r>
                <a:rPr lang="en-US" altLang="en-US" sz="2900">
                  <a:solidFill>
                    <a:srgbClr val="FFFFFF"/>
                  </a:solidFill>
                  <a:latin typeface="Calibri" pitchFamily="34" charset="0"/>
                  <a:ea typeface="+mn-ea"/>
                  <a:cs typeface="Arial" panose="020B0704020202020204" pitchFamily="34" charset="0"/>
                </a:rPr>
                <a:t> Pilani</a:t>
              </a:r>
              <a:endParaRPr lang="en-US" altLang="en-US">
                <a:ea typeface="+mn-ea"/>
                <a:cs typeface="Arial" panose="020B0704020202020204" pitchFamily="34" charset="0"/>
              </a:endParaRPr>
            </a:p>
          </p:txBody>
        </p:sp>
        <p:sp>
          <p:nvSpPr>
            <p:cNvPr id="1048598" name="Rectangle 22"/>
            <p:cNvSpPr>
              <a:spLocks noChangeArrowheads="1"/>
            </p:cNvSpPr>
            <p:nvPr/>
          </p:nvSpPr>
          <p:spPr bwMode="auto">
            <a:xfrm>
              <a:off x="228600" y="2665413"/>
              <a:ext cx="1905000" cy="23018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en-US" sz="900">
                  <a:solidFill>
                    <a:srgbClr val="FFFFFF"/>
                  </a:solidFill>
                  <a:latin typeface="Calibri" pitchFamily="34" charset="0"/>
                  <a:ea typeface="+mn-ea"/>
                  <a:cs typeface="Arial" panose="020B0704020202020204" pitchFamily="34" charset="0"/>
                </a:rPr>
                <a:t>Pilani | Dubai | Goa | Hyderabad</a:t>
              </a:r>
              <a:endParaRPr lang="en-US" altLang="en-US">
                <a:ea typeface="+mn-ea"/>
                <a:cs typeface="Arial" panose="020B0704020202020204" pitchFamily="34" charset="0"/>
              </a:endParaRPr>
            </a:p>
          </p:txBody>
        </p:sp>
      </p:grpSp>
      <p:sp>
        <p:nvSpPr>
          <p:cNvPr id="15369" name="Rectangle 48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5370" name="Rectangle 48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50089" name="Rectangle 4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2383EDF9-620A-4199-9162-F19030A045A9}" type="datetimeFigureOut">
              <a:rPr lang="en-US" altLang="en-US"/>
            </a:fld>
            <a:endParaRPr lang="en-US" altLang="en-US" b="1" i="1"/>
          </a:p>
        </p:txBody>
      </p:sp>
      <p:sp>
        <p:nvSpPr>
          <p:cNvPr id="1050091" name="Rectangle 49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0093" name="Rectangle 49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b="1" i="1">
                <a:solidFill>
                  <a:srgbClr val="898989"/>
                </a:solidFill>
                <a:latin typeface="+mn-lt"/>
                <a:ea typeface="+mn-ea"/>
                <a:cs typeface="Arial" panose="020B0704020202020204" pitchFamily="34" charset="0"/>
                <a:sym typeface="Arial" panose="020B0704020202020204" pitchFamily="34" charset="0"/>
              </a:defRPr>
            </a:lvl1pPr>
          </a:lstStyle>
          <a:p>
            <a:pPr>
              <a:defRPr/>
            </a:pPr>
            <a:fld id="{90CAADFE-F892-46D2-BD61-D361BF39B729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+mj-lt"/>
          <a:ea typeface="SimSun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 Light"/>
          <a:ea typeface="SimSun" pitchFamily="2" charset="-122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000000"/>
          </a:solidFill>
          <a:latin typeface="Calibri" pitchFamily="34" charset="0"/>
          <a:ea typeface="SimSun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3200">
          <a:solidFill>
            <a:srgbClr val="000000"/>
          </a:solidFill>
          <a:latin typeface="+mn-lt"/>
          <a:ea typeface="SimSun" pitchFamily="2" charset="-122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800">
          <a:solidFill>
            <a:srgbClr val="000000"/>
          </a:solidFill>
          <a:latin typeface="+mn-lt"/>
          <a:ea typeface="SimSun" pitchFamily="2" charset="-122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•"/>
        <a:defRPr sz="2400">
          <a:solidFill>
            <a:srgbClr val="000000"/>
          </a:solidFill>
          <a:latin typeface="+mn-lt"/>
          <a:ea typeface="SimSun" pitchFamily="2" charset="-122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–"/>
        <a:defRPr sz="2000">
          <a:solidFill>
            <a:srgbClr val="000000"/>
          </a:solidFill>
          <a:latin typeface="+mn-lt"/>
          <a:ea typeface="SimSun" pitchFamily="2" charset="-122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SimSun" pitchFamily="2" charset="-122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Font typeface="Arial" panose="020B0704020202020204" pitchFamily="34" charset="0"/>
        <a:buChar char="»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about:blank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19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3656222"/>
            <a:ext cx="6248400" cy="2005026"/>
          </a:xfrm>
        </p:spPr>
        <p:txBody>
          <a:bodyPr/>
          <a:lstStyle/>
          <a:p>
            <a:pPr eaLnBrk="1" latinLnBrk="0" hangingPunct="1">
              <a:lnSpc>
                <a:spcPts val="4000"/>
              </a:lnSpc>
            </a:pPr>
            <a:br>
              <a:rPr lang="en-IN" altLang="en-US" sz="3600" b="1" dirty="0">
                <a:solidFill>
                  <a:schemeClr val="bg1"/>
                </a:solidFill>
                <a:latin typeface="Calibri" pitchFamily="34" charset="0"/>
                <a:sym typeface="Arial" panose="020B0704020202020204" pitchFamily="34" charset="0"/>
              </a:rPr>
            </a:br>
            <a:r>
              <a:rPr lang="en-IN" altLang="en-US" sz="3600" b="1" dirty="0">
                <a:solidFill>
                  <a:schemeClr val="bg1"/>
                </a:solidFill>
                <a:latin typeface="Calibri" pitchFamily="34" charset="0"/>
                <a:sym typeface="Arial" panose="020B0704020202020204" pitchFamily="34" charset="0"/>
              </a:rPr>
              <a:t>Compiler Design</a:t>
            </a:r>
            <a:br>
              <a:rPr lang="en-IN" altLang="en-US" sz="3600" b="1" dirty="0">
                <a:solidFill>
                  <a:schemeClr val="bg1"/>
                </a:solidFill>
                <a:latin typeface="Calibri" pitchFamily="34" charset="0"/>
                <a:sym typeface="Arial" panose="020B0704020202020204" pitchFamily="34" charset="0"/>
              </a:rPr>
            </a:br>
            <a:br>
              <a:rPr lang="en-IN" altLang="en-US" sz="3600" b="1" dirty="0">
                <a:solidFill>
                  <a:schemeClr val="bg1"/>
                </a:solidFill>
                <a:latin typeface="Calibri" pitchFamily="34" charset="0"/>
                <a:sym typeface="Arial" panose="020B0704020202020204" pitchFamily="34" charset="0"/>
              </a:rPr>
            </a:br>
            <a:r>
              <a:rPr lang="en-IN" altLang="en-US" sz="3600" b="1" dirty="0">
                <a:solidFill>
                  <a:schemeClr val="bg1"/>
                </a:solidFill>
                <a:latin typeface="Calibri" pitchFamily="34" charset="0"/>
                <a:sym typeface="Arial" panose="020B0704020202020204" pitchFamily="34" charset="0"/>
              </a:rPr>
              <a:t>SSWTZC373</a:t>
            </a:r>
            <a:br>
              <a:rPr lang="en-IN" altLang="en-US" sz="3600" b="1" dirty="0">
                <a:solidFill>
                  <a:schemeClr val="bg1"/>
                </a:solidFill>
                <a:latin typeface="Calibri" pitchFamily="34" charset="0"/>
                <a:sym typeface="Arial" panose="020B0704020202020204" pitchFamily="34" charset="0"/>
              </a:rPr>
            </a:br>
            <a:endParaRPr lang="en-US" alt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21"/>
          <p:cNvSpPr>
            <a:spLocks noGrp="1" noChangeArrowheads="1"/>
          </p:cNvSpPr>
          <p:nvPr>
            <p:ph sz="quarter" idx="4294967295"/>
          </p:nvPr>
        </p:nvSpPr>
        <p:spPr>
          <a:xfrm>
            <a:off x="357158" y="4643446"/>
            <a:ext cx="8458200" cy="1428760"/>
          </a:xfrm>
        </p:spPr>
        <p:txBody>
          <a:bodyPr/>
          <a:lstStyle/>
          <a:p>
            <a:pPr marL="0" indent="0" algn="ctr" eaLnBrk="1" hangingPunct="1">
              <a:lnSpc>
                <a:spcPts val="4200"/>
              </a:lnSpc>
              <a:spcBef>
                <a:spcPct val="0"/>
              </a:spcBef>
              <a:buFont typeface="Arial" panose="020B0704020202020204" pitchFamily="34" charset="0"/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704020202020204" pitchFamily="34" charset="0"/>
                <a:cs typeface="Arial" panose="020B0704020202020204" pitchFamily="34" charset="0"/>
              </a:rPr>
              <a:t>Contact Session - 2</a:t>
            </a:r>
            <a:endParaRPr lang="en-US" altLang="en-US" b="1" dirty="0">
              <a:solidFill>
                <a:srgbClr val="FF0000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  <a:p>
            <a:pPr marL="0" indent="0" algn="ctr" eaLnBrk="1" hangingPunct="1">
              <a:lnSpc>
                <a:spcPts val="4200"/>
              </a:lnSpc>
              <a:spcBef>
                <a:spcPct val="0"/>
              </a:spcBef>
              <a:buNone/>
            </a:pPr>
            <a:r>
              <a:rPr lang="en-US" sz="4000" b="1" dirty="0">
                <a:solidFill>
                  <a:srgbClr val="0033CC"/>
                </a:solidFill>
                <a:ea typeface="MS PGothic" pitchFamily="34" charset="-128"/>
              </a:rPr>
              <a:t>Introduction to Lexical Analyzer</a:t>
            </a:r>
            <a:endParaRPr lang="en-US" altLang="en-US" b="1" dirty="0">
              <a:solidFill>
                <a:srgbClr val="0033CC"/>
              </a:solidFill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l" eaLnBrk="1" hangingPunct="1"/>
            <a:fld id="{448AB7E6-DAD9-4C96-9B92-1FFCF6857E89}" type="slidenum">
              <a:rPr lang="en-US" sz="1200">
                <a:solidFill>
                  <a:srgbClr val="898989"/>
                </a:solidFill>
              </a:rPr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404495"/>
            <a:ext cx="6847840" cy="487045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</a:rPr>
              <a:t>Lexical Analyzer (A.k.a. Scanner</a:t>
            </a:r>
            <a:r>
              <a:rPr lang="en-US" sz="3200" b="1" dirty="0"/>
              <a:t>)</a:t>
            </a:r>
            <a:endParaRPr lang="en-US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070" y="1435735"/>
            <a:ext cx="8785225" cy="4729480"/>
          </a:xfrm>
        </p:spPr>
        <p:txBody>
          <a:bodyPr/>
          <a:lstStyle/>
          <a:p>
            <a:pPr eaLnBrk="1" hangingPunct="1">
              <a:lnSpc>
                <a:spcPct val="105000"/>
              </a:lnSpc>
            </a:pPr>
            <a:r>
              <a:rPr lang="en-US" sz="2000" dirty="0"/>
              <a:t>The only part of a compiler that looks at each character of     the source text and does a linear analysis</a:t>
            </a:r>
            <a:endParaRPr lang="en-US" sz="2000" dirty="0"/>
          </a:p>
          <a:p>
            <a:pPr eaLnBrk="1" hangingPunct="1">
              <a:lnSpc>
                <a:spcPct val="105000"/>
              </a:lnSpc>
            </a:pPr>
            <a:r>
              <a:rPr lang="en-US" sz="2000" dirty="0"/>
              <a:t>Reads source text and produces </a:t>
            </a:r>
            <a:endParaRPr lang="en-US" sz="2000" u="sng" dirty="0"/>
          </a:p>
          <a:p>
            <a:pPr eaLnBrk="1" hangingPunct="1">
              <a:lnSpc>
                <a:spcPct val="105000"/>
              </a:lnSpc>
            </a:pPr>
            <a:r>
              <a:rPr lang="en-US" sz="2000" u="sng" dirty="0"/>
              <a:t>Also keeps track of the source-coordinates </a:t>
            </a:r>
            <a:r>
              <a:rPr lang="en-US" sz="2000" dirty="0"/>
              <a:t>of each token    - which file name, line number and position </a:t>
            </a:r>
            <a:endParaRPr lang="en-US" sz="2000" dirty="0"/>
          </a:p>
          <a:p>
            <a:pPr lvl="1" eaLnBrk="1" hangingPunct="1">
              <a:lnSpc>
                <a:spcPct val="105000"/>
              </a:lnSpc>
            </a:pPr>
            <a:r>
              <a:rPr lang="en-US" sz="2000" dirty="0"/>
              <a:t>(This is useful for debugging &amp; error indication purposes.)</a:t>
            </a:r>
            <a:endParaRPr lang="en-US" sz="2000" dirty="0"/>
          </a:p>
          <a:p>
            <a:pPr eaLnBrk="1" hangingPunct="1">
              <a:lnSpc>
                <a:spcPct val="105000"/>
              </a:lnSpc>
            </a:pPr>
            <a:r>
              <a:rPr lang="en-US" sz="2000" dirty="0"/>
              <a:t>Advantages of a separate Lexical Analyzer:</a:t>
            </a:r>
            <a:endParaRPr lang="en-US" sz="2000" dirty="0"/>
          </a:p>
          <a:p>
            <a:pPr lvl="1" eaLnBrk="1" hangingPunct="1">
              <a:lnSpc>
                <a:spcPct val="105000"/>
              </a:lnSpc>
            </a:pPr>
            <a:r>
              <a:rPr lang="en-US" sz="2000" dirty="0"/>
              <a:t>Keeps Compiler design simple</a:t>
            </a:r>
            <a:endParaRPr lang="en-US" sz="2000" dirty="0"/>
          </a:p>
          <a:p>
            <a:pPr lvl="1" eaLnBrk="1" hangingPunct="1">
              <a:lnSpc>
                <a:spcPct val="105000"/>
              </a:lnSpc>
            </a:pPr>
            <a:r>
              <a:rPr lang="en-US" sz="2000" dirty="0"/>
              <a:t>Improves Efficiency and </a:t>
            </a:r>
            <a:endParaRPr lang="en-US" sz="2000" dirty="0"/>
          </a:p>
          <a:p>
            <a:pPr lvl="1" eaLnBrk="1" hangingPunct="1">
              <a:lnSpc>
                <a:spcPct val="105000"/>
              </a:lnSpc>
            </a:pPr>
            <a:r>
              <a:rPr lang="en-US" sz="2000" dirty="0"/>
              <a:t>Increases Portability  </a:t>
            </a:r>
            <a:endParaRPr lang="en-US" sz="2000" dirty="0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4499610" y="2060575"/>
            <a:ext cx="229171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no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sz="3200" dirty="0">
                <a:solidFill>
                  <a:schemeClr val="folHlink"/>
                </a:solidFill>
              </a:rPr>
              <a:t>TOKENS</a:t>
            </a:r>
            <a:endParaRPr lang="en-US" sz="32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  <p:bldP spid="1126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l" eaLnBrk="1" hangingPunct="1"/>
            <a:fld id="{42664083-B37E-46FB-937A-A7A20771820F}" type="slidenum">
              <a:rPr lang="en-US" sz="1200">
                <a:solidFill>
                  <a:srgbClr val="898989"/>
                </a:solidFill>
              </a:rPr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" y="274955"/>
            <a:ext cx="6353810" cy="644525"/>
          </a:xfrm>
        </p:spPr>
        <p:txBody>
          <a:bodyPr/>
          <a:lstStyle/>
          <a:p>
            <a:pPr eaLnBrk="1" hangingPunct="1"/>
            <a:r>
              <a:rPr lang="en-US" sz="3400">
                <a:solidFill>
                  <a:srgbClr val="FF0000"/>
                </a:solidFill>
              </a:rPr>
              <a:t>The Role of a Lexical Analyzer</a:t>
            </a:r>
            <a:endParaRPr lang="en-US" sz="3400">
              <a:solidFill>
                <a:srgbClr val="FF0000"/>
              </a:solidFill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676400" y="1371600"/>
            <a:ext cx="2743200" cy="5286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 b="1">
                <a:solidFill>
                  <a:srgbClr val="000000"/>
                </a:solidFill>
              </a:rPr>
              <a:t>Lexical analyzer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503988" y="2600325"/>
            <a:ext cx="1539875" cy="95567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 b="1">
                <a:solidFill>
                  <a:srgbClr val="000000"/>
                </a:solidFill>
              </a:rPr>
              <a:t>Syntax</a:t>
            </a:r>
            <a:endParaRPr lang="en-US" sz="2800" b="1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 b="1">
                <a:solidFill>
                  <a:srgbClr val="000000"/>
                </a:solidFill>
              </a:rPr>
              <a:t>analyzer</a:t>
            </a: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491038" y="4205288"/>
            <a:ext cx="1212850" cy="95567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 b="1">
                <a:solidFill>
                  <a:srgbClr val="000000"/>
                </a:solidFill>
              </a:rPr>
              <a:t>symbol</a:t>
            </a:r>
            <a:endParaRPr lang="en-US" sz="2800" b="1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 b="1">
                <a:solidFill>
                  <a:srgbClr val="000000"/>
                </a:solidFill>
              </a:rPr>
              <a:t>table</a:t>
            </a:r>
            <a:endParaRPr lang="en-US" sz="2800">
              <a:solidFill>
                <a:srgbClr val="000000"/>
              </a:solidFill>
            </a:endParaRPr>
          </a:p>
        </p:txBody>
      </p:sp>
      <p:cxnSp>
        <p:nvCxnSpPr>
          <p:cNvPr id="12294" name="AutoShape 6"/>
          <p:cNvCxnSpPr>
            <a:cxnSpLocks noChangeShapeType="1"/>
            <a:stCxn id="12292" idx="3"/>
          </p:cNvCxnSpPr>
          <p:nvPr/>
        </p:nvCxnSpPr>
        <p:spPr bwMode="auto">
          <a:xfrm>
            <a:off x="8043863" y="3078163"/>
            <a:ext cx="990600" cy="1587"/>
          </a:xfrm>
          <a:prstGeom prst="straightConnector1">
            <a:avLst/>
          </a:prstGeom>
          <a:noFill/>
          <a:ln w="28575">
            <a:solidFill>
              <a:schemeClr val="tx1"/>
            </a:solidFill>
            <a:prstDash val="sysDot"/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5" name="Line 7"/>
          <p:cNvSpPr>
            <a:spLocks noChangeShapeType="1"/>
          </p:cNvSpPr>
          <p:nvPr/>
        </p:nvSpPr>
        <p:spPr bwMode="auto">
          <a:xfrm flipH="1">
            <a:off x="3886200" y="3224213"/>
            <a:ext cx="2624138" cy="47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Text Box 8"/>
          <p:cNvSpPr txBox="1">
            <a:spLocks noChangeArrowheads="1"/>
          </p:cNvSpPr>
          <p:nvPr/>
        </p:nvSpPr>
        <p:spPr bwMode="auto">
          <a:xfrm>
            <a:off x="4552950" y="3200400"/>
            <a:ext cx="122078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en-US" sz="2800"/>
              <a:t>get next</a:t>
            </a:r>
            <a:endParaRPr lang="en-US" sz="2800"/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en-US" sz="2800"/>
              <a:t>token</a:t>
            </a:r>
            <a:endParaRPr lang="en-US" sz="2800"/>
          </a:p>
        </p:txBody>
      </p:sp>
      <p:sp>
        <p:nvSpPr>
          <p:cNvPr id="12297" name="AutoShape 9"/>
          <p:cNvSpPr>
            <a:spLocks noChangeArrowheads="1"/>
          </p:cNvSpPr>
          <p:nvPr/>
        </p:nvSpPr>
        <p:spPr bwMode="auto">
          <a:xfrm>
            <a:off x="179388" y="4054475"/>
            <a:ext cx="2305050" cy="977900"/>
          </a:xfrm>
          <a:prstGeom prst="flowChartPredefined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>
                <a:solidFill>
                  <a:srgbClr val="000000"/>
                </a:solidFill>
              </a:rPr>
              <a:t>Source</a:t>
            </a:r>
            <a:endParaRPr lang="en-US" sz="2800">
              <a:solidFill>
                <a:srgbClr val="000000"/>
              </a:solidFill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>
                <a:solidFill>
                  <a:srgbClr val="000000"/>
                </a:solidFill>
              </a:rPr>
              <a:t>Program</a:t>
            </a:r>
            <a:endParaRPr lang="en-US" sz="2800">
              <a:solidFill>
                <a:srgbClr val="000000"/>
              </a:solidFill>
            </a:endParaRPr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H="1" flipV="1">
            <a:off x="1404938" y="3089275"/>
            <a:ext cx="966787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 flipH="1">
            <a:off x="1404938" y="3089275"/>
            <a:ext cx="0" cy="9350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H="1" flipV="1">
            <a:off x="685800" y="2800350"/>
            <a:ext cx="1693863" cy="2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684213" y="2800350"/>
            <a:ext cx="0" cy="1223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2" name="Text Box 14"/>
          <p:cNvSpPr txBox="1">
            <a:spLocks noChangeArrowheads="1"/>
          </p:cNvSpPr>
          <p:nvPr/>
        </p:nvSpPr>
        <p:spPr bwMode="auto">
          <a:xfrm>
            <a:off x="1409700" y="3470275"/>
            <a:ext cx="107791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en-US" sz="2400"/>
              <a:t>get next</a:t>
            </a:r>
            <a:endParaRPr lang="en-US" sz="2400"/>
          </a:p>
          <a:p>
            <a:pPr algn="ctr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en-US" sz="2400"/>
              <a:t>char</a:t>
            </a:r>
            <a:endParaRPr lang="en-US" sz="2400"/>
          </a:p>
        </p:txBody>
      </p:sp>
      <p:sp>
        <p:nvSpPr>
          <p:cNvPr id="12303" name="Text Box 15"/>
          <p:cNvSpPr txBox="1">
            <a:spLocks noChangeArrowheads="1"/>
          </p:cNvSpPr>
          <p:nvPr/>
        </p:nvSpPr>
        <p:spPr bwMode="auto">
          <a:xfrm>
            <a:off x="944563" y="2459038"/>
            <a:ext cx="12160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en-US" sz="2400"/>
              <a:t>next char</a:t>
            </a:r>
            <a:endParaRPr lang="en-US" sz="2400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 flipV="1">
            <a:off x="3886200" y="2814638"/>
            <a:ext cx="2624138" cy="33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4343400" y="2476500"/>
            <a:ext cx="152876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en-US" sz="2800"/>
              <a:t>next token</a:t>
            </a:r>
            <a:endParaRPr lang="en-US" sz="2800"/>
          </a:p>
        </p:txBody>
      </p:sp>
      <p:cxnSp>
        <p:nvCxnSpPr>
          <p:cNvPr id="12306" name="AutoShape 18"/>
          <p:cNvCxnSpPr>
            <a:cxnSpLocks noChangeShapeType="1"/>
            <a:endCxn id="12293" idx="1"/>
          </p:cNvCxnSpPr>
          <p:nvPr/>
        </p:nvCxnSpPr>
        <p:spPr bwMode="auto">
          <a:xfrm>
            <a:off x="3276600" y="3762375"/>
            <a:ext cx="1214438" cy="920750"/>
          </a:xfrm>
          <a:prstGeom prst="straightConnector1">
            <a:avLst/>
          </a:prstGeom>
          <a:noFill/>
          <a:ln w="28575">
            <a:solidFill>
              <a:schemeClr val="folHlink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7" name="AutoShape 19"/>
          <p:cNvCxnSpPr>
            <a:cxnSpLocks noChangeShapeType="1"/>
            <a:stCxn id="12292" idx="2"/>
            <a:endCxn id="12293" idx="3"/>
          </p:cNvCxnSpPr>
          <p:nvPr/>
        </p:nvCxnSpPr>
        <p:spPr bwMode="auto">
          <a:xfrm flipH="1">
            <a:off x="5703888" y="3556000"/>
            <a:ext cx="1570037" cy="1127125"/>
          </a:xfrm>
          <a:prstGeom prst="straightConnector1">
            <a:avLst/>
          </a:prstGeom>
          <a:noFill/>
          <a:ln w="28575">
            <a:solidFill>
              <a:schemeClr val="folHlink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3748088" y="5073650"/>
            <a:ext cx="266223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/>
              <a:t>(Contains a record </a:t>
            </a:r>
            <a:endParaRPr lang="en-US" sz="2800"/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800"/>
              <a:t>for each identifier)</a:t>
            </a:r>
            <a:endParaRPr lang="en-US" sz="2800"/>
          </a:p>
        </p:txBody>
      </p:sp>
      <p:sp>
        <p:nvSpPr>
          <p:cNvPr id="12311" name="Lock"/>
          <p:cNvSpPr>
            <a:spLocks noEditPoints="1" noChangeArrowheads="1"/>
          </p:cNvSpPr>
          <p:nvPr/>
        </p:nvSpPr>
        <p:spPr bwMode="auto">
          <a:xfrm>
            <a:off x="2438400" y="2500313"/>
            <a:ext cx="381000" cy="304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44 w 21600"/>
              <a:gd name="T13" fmla="*/ 9904 h 21600"/>
              <a:gd name="T14" fmla="*/ 21134 w 21600"/>
              <a:gd name="T15" fmla="*/ 1533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FFFFCC"/>
          </a:solidFill>
          <a:ln w="38100">
            <a:solidFill>
              <a:srgbClr val="3366FF"/>
            </a:solidFill>
            <a:miter lim="800000"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 flipH="1">
            <a:off x="2286000" y="1933575"/>
            <a:ext cx="1524000" cy="1752600"/>
          </a:xfrm>
          <a:prstGeom prst="rect">
            <a:avLst/>
          </a:prstGeom>
          <a:solidFill>
            <a:srgbClr val="66FF66">
              <a:alpha val="54901"/>
            </a:srgbClr>
          </a:solidFill>
          <a:ln w="38100" cmpd="dbl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pic>
        <p:nvPicPr>
          <p:cNvPr id="12313" name="Picture 25" descr="j0173958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33575"/>
            <a:ext cx="13716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2" grpId="0" animBg="1"/>
      <p:bldP spid="12293" grpId="0" animBg="1"/>
      <p:bldP spid="12295" grpId="0" animBg="1"/>
      <p:bldP spid="12296" grpId="0" autoUpdateAnimBg="0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utoUpdateAnimBg="0"/>
      <p:bldP spid="12303" grpId="0" autoUpdateAnimBg="0"/>
      <p:bldP spid="12304" grpId="0" animBg="1"/>
      <p:bldP spid="12305" grpId="0" autoUpdateAnimBg="0"/>
      <p:bldP spid="12308" grpId="0"/>
      <p:bldP spid="12311" grpId="0" animBg="1"/>
      <p:bldP spid="123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0030" y="1506220"/>
            <a:ext cx="8523605" cy="4950460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2400" i="1" dirty="0"/>
              <a:t>Token</a:t>
            </a:r>
            <a:r>
              <a:rPr lang="en-US" altLang="en-US" sz="2400" dirty="0"/>
              <a:t>: a group of characters having a collective meaning. A </a:t>
            </a:r>
            <a:r>
              <a:rPr lang="en-US" altLang="en-US" sz="2400" i="1" dirty="0"/>
              <a:t>lexeme</a:t>
            </a:r>
            <a:r>
              <a:rPr lang="en-US" altLang="en-US" sz="2400" dirty="0"/>
              <a:t> is a particular instant of a token.</a:t>
            </a:r>
            <a:endParaRPr lang="en-US" altLang="en-US" sz="2400" dirty="0"/>
          </a:p>
          <a:p>
            <a:pPr lvl="2"/>
            <a:r>
              <a:rPr lang="en-US" altLang="en-US" sz="2400" dirty="0"/>
              <a:t>E.g. token: identifier, lexeme: pi, etc.</a:t>
            </a:r>
            <a:endParaRPr lang="en-US" altLang="en-US" sz="2400" dirty="0"/>
          </a:p>
          <a:p>
            <a:pPr marL="457200" lvl="1" indent="0">
              <a:buNone/>
            </a:pPr>
            <a:r>
              <a:rPr lang="en-US" altLang="en-US" sz="2400" i="1" dirty="0"/>
              <a:t>pattern</a:t>
            </a:r>
            <a:r>
              <a:rPr lang="en-US" altLang="en-US" sz="2400" dirty="0"/>
              <a:t>: the rule describing how a token can be formed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2"/>
            <a:r>
              <a:rPr lang="en-US" altLang="en-US" sz="2400" dirty="0" err="1"/>
              <a:t>E.g</a:t>
            </a:r>
            <a:r>
              <a:rPr lang="en-US" altLang="en-US" sz="2400" dirty="0"/>
              <a:t>: identifier:    ([a-z]|[A-Z]) ([a-z]|[A-Z]|[0-9])*</a:t>
            </a:r>
            <a:endParaRPr lang="en-US" altLang="en-US" sz="2400" dirty="0"/>
          </a:p>
          <a:p>
            <a:pPr lvl="2"/>
            <a:endParaRPr lang="en-US" altLang="en-US" sz="2400" dirty="0"/>
          </a:p>
          <a:p>
            <a:r>
              <a:rPr lang="en-US" altLang="en-US" sz="2400" dirty="0"/>
              <a:t>Lexical analyzer does not have to be an individual phase. But having a separate phase simplifies the design and improves the efficiency and portability</a:t>
            </a:r>
            <a:r>
              <a:rPr lang="en-US" altLang="en-US" sz="2400" dirty="0"/>
              <a:t>.</a:t>
            </a:r>
            <a:endParaRPr lang="en-US" altLang="en-US" sz="2400" dirty="0"/>
          </a:p>
        </p:txBody>
      </p:sp>
      <p:sp>
        <p:nvSpPr>
          <p:cNvPr id="2" name="Text Box 1"/>
          <p:cNvSpPr txBox="1"/>
          <p:nvPr/>
        </p:nvSpPr>
        <p:spPr>
          <a:xfrm>
            <a:off x="251460" y="188595"/>
            <a:ext cx="6162675" cy="678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3600" b="1" dirty="0">
                <a:solidFill>
                  <a:srgbClr val="FF0000"/>
                </a:solidFill>
                <a:sym typeface="+mn-ea"/>
              </a:rPr>
              <a:t>Some terminologies:</a:t>
            </a:r>
            <a:endParaRPr lang="en-US" altLang="en-US" sz="36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l" eaLnBrk="1" hangingPunct="1"/>
            <a:fld id="{19E7BDCA-4481-4884-A44D-50AC241188DB}" type="slidenum">
              <a:rPr lang="en-US" sz="1200">
                <a:solidFill>
                  <a:srgbClr val="898989"/>
                </a:solidFill>
              </a:rPr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070" y="332740"/>
            <a:ext cx="6238240" cy="715645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</a:rPr>
              <a:t>Tokens, Patterns and Lexemes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" y="1412240"/>
            <a:ext cx="9017635" cy="5687695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200" dirty="0"/>
              <a:t>What are Tokens ?</a:t>
            </a:r>
            <a:endParaRPr lang="en-US" sz="2200" dirty="0"/>
          </a:p>
          <a:p>
            <a:pPr lvl="1" eaLnBrk="1" hangingPunct="1">
              <a:lnSpc>
                <a:spcPct val="95000"/>
              </a:lnSpc>
            </a:pPr>
            <a:r>
              <a:rPr lang="en-US" sz="2200" dirty="0"/>
              <a:t>The basic lexical units of the language</a:t>
            </a:r>
            <a:endParaRPr lang="en-US" sz="2200" dirty="0"/>
          </a:p>
          <a:p>
            <a:pPr lvl="1" eaLnBrk="1" hangingPunct="1">
              <a:lnSpc>
                <a:spcPct val="95000"/>
              </a:lnSpc>
            </a:pPr>
            <a:r>
              <a:rPr lang="en-US" sz="2200" dirty="0"/>
              <a:t> A sequence of Abstract Characters that can be treated as a </a:t>
            </a:r>
            <a:endParaRPr lang="en-US" sz="2200" dirty="0"/>
          </a:p>
          <a:p>
            <a:pPr marL="457200" lvl="1" indent="0" eaLnBrk="1" hangingPunct="1">
              <a:lnSpc>
                <a:spcPct val="95000"/>
              </a:lnSpc>
              <a:buNone/>
            </a:pPr>
            <a:r>
              <a:rPr lang="en-US" sz="2200" dirty="0"/>
              <a:t> 	unit in the grammar of the language </a:t>
            </a:r>
            <a:endParaRPr lang="en-US" sz="2200" dirty="0"/>
          </a:p>
          <a:p>
            <a:pPr lvl="1" eaLnBrk="1" hangingPunct="1">
              <a:lnSpc>
                <a:spcPct val="95000"/>
              </a:lnSpc>
            </a:pPr>
            <a:r>
              <a:rPr lang="en-US" sz="2200" dirty="0"/>
              <a:t>A programming language classifies the tokens into a finite set      of token types</a:t>
            </a:r>
            <a:endParaRPr lang="en-US" sz="2200" dirty="0"/>
          </a:p>
          <a:p>
            <a:pPr eaLnBrk="1" hangingPunct="1">
              <a:lnSpc>
                <a:spcPct val="95000"/>
              </a:lnSpc>
            </a:pPr>
            <a:r>
              <a:rPr lang="en-US" sz="2200" dirty="0"/>
              <a:t>A note on Terminology</a:t>
            </a:r>
            <a:endParaRPr lang="en-US" sz="22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sz="2200" dirty="0"/>
              <a:t>	Some texts refer to</a:t>
            </a:r>
            <a:endParaRPr lang="en-US" sz="2200" dirty="0"/>
          </a:p>
          <a:p>
            <a:pPr lvl="1" eaLnBrk="1" hangingPunct="1">
              <a:lnSpc>
                <a:spcPct val="95000"/>
              </a:lnSpc>
            </a:pPr>
            <a:r>
              <a:rPr lang="en-US" sz="2200" dirty="0">
                <a:solidFill>
                  <a:srgbClr val="9900FF"/>
                </a:solidFill>
              </a:rPr>
              <a:t>token types</a:t>
            </a:r>
            <a:r>
              <a:rPr lang="en-US" sz="2200" dirty="0"/>
              <a:t> as </a:t>
            </a:r>
            <a:r>
              <a:rPr lang="en-US" sz="2200" dirty="0">
                <a:solidFill>
                  <a:srgbClr val="FF5050"/>
                </a:solidFill>
              </a:rPr>
              <a:t>tokens</a:t>
            </a:r>
            <a:r>
              <a:rPr lang="en-US" sz="2200" dirty="0">
                <a:solidFill>
                  <a:srgbClr val="FF9933"/>
                </a:solidFill>
              </a:rPr>
              <a:t> </a:t>
            </a:r>
            <a:r>
              <a:rPr lang="en-US" sz="2200" dirty="0"/>
              <a:t> &amp;</a:t>
            </a:r>
            <a:endParaRPr lang="en-US" sz="2200" dirty="0"/>
          </a:p>
          <a:p>
            <a:pPr lvl="1" eaLnBrk="1" hangingPunct="1">
              <a:lnSpc>
                <a:spcPct val="95000"/>
              </a:lnSpc>
            </a:pPr>
            <a:r>
              <a:rPr lang="en-US" sz="2200" dirty="0">
                <a:solidFill>
                  <a:srgbClr val="9900FF"/>
                </a:solidFill>
              </a:rPr>
              <a:t>tokens </a:t>
            </a:r>
            <a:r>
              <a:rPr lang="en-US" sz="2200" dirty="0"/>
              <a:t> as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r>
              <a:rPr lang="en-US" sz="2200" dirty="0">
                <a:solidFill>
                  <a:srgbClr val="FF5050"/>
                </a:solidFill>
              </a:rPr>
              <a:t>lexeme</a:t>
            </a:r>
            <a:endParaRPr lang="en-US" sz="2200" dirty="0">
              <a:solidFill>
                <a:srgbClr val="FF5050"/>
              </a:solidFill>
            </a:endParaRPr>
          </a:p>
          <a:p>
            <a:pPr lvl="1" eaLnBrk="1" hangingPunct="1">
              <a:lnSpc>
                <a:spcPct val="95000"/>
              </a:lnSpc>
            </a:pPr>
            <a:r>
              <a:rPr lang="en-US" sz="2200" i="1" dirty="0">
                <a:solidFill>
                  <a:schemeClr val="hlink"/>
                </a:solidFill>
              </a:rPr>
              <a:t>We will stick to the terms </a:t>
            </a:r>
            <a:endParaRPr lang="en-US" sz="2200" i="1" dirty="0">
              <a:solidFill>
                <a:schemeClr val="hlink"/>
              </a:solidFill>
            </a:endParaRPr>
          </a:p>
          <a:p>
            <a:pPr lvl="1" eaLnBrk="1" hangingPunct="1">
              <a:lnSpc>
                <a:spcPct val="95000"/>
              </a:lnSpc>
            </a:pPr>
            <a:r>
              <a:rPr lang="en-US" sz="2200" i="1" dirty="0">
                <a:solidFill>
                  <a:schemeClr val="hlink"/>
                </a:solidFill>
              </a:rPr>
              <a:t>Tokens and Token Types</a:t>
            </a:r>
            <a:endParaRPr lang="en-US" sz="2200" i="1" dirty="0">
              <a:solidFill>
                <a:schemeClr val="hlink"/>
              </a:solidFill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4932045" y="3572510"/>
            <a:ext cx="3926840" cy="2204085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 tIns="0" rIns="0" bIns="0">
            <a:no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282575" indent="-168275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Some tokens may have attributes</a:t>
            </a:r>
            <a:endParaRPr lang="en-US" sz="2200">
              <a:solidFill>
                <a:srgbClr val="000000"/>
              </a:solidFill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integer constant token will have the actual integer (17, 42)  as an attribute;</a:t>
            </a:r>
            <a:endParaRPr lang="en-US" sz="2200">
              <a:solidFill>
                <a:srgbClr val="000000"/>
              </a:solidFill>
            </a:endParaRPr>
          </a:p>
          <a:p>
            <a:pPr lvl="1" algn="ctr" eaLnBrk="1" hangingPunct="1">
              <a:buFont typeface="Wingdings" panose="05000000000000000000" pitchFamily="2" charset="2"/>
              <a:buNone/>
            </a:pPr>
            <a:r>
              <a:rPr lang="en-US" sz="2200">
                <a:solidFill>
                  <a:srgbClr val="000000"/>
                </a:solidFill>
              </a:rPr>
              <a:t>Identifiers will have a string with the actual id</a:t>
            </a:r>
            <a:endParaRPr lang="en-US" sz="22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3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6" grpId="0" animBg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l" eaLnBrk="1" hangingPunct="1"/>
            <a:fld id="{4E127712-A37B-4B6B-B912-825E9CF04FA2}" type="slidenum">
              <a:rPr lang="en-US" sz="1200">
                <a:solidFill>
                  <a:srgbClr val="898989"/>
                </a:solidFill>
              </a:rPr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" y="332740"/>
            <a:ext cx="4034155" cy="6985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</a:rPr>
              <a:t>Tokens Example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15" y="1340768"/>
            <a:ext cx="8496300" cy="561657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en-US" sz="2400" dirty="0"/>
              <a:t>Let us Consider the program segment:</a:t>
            </a:r>
            <a:endParaRPr lang="en-US" sz="2400" dirty="0"/>
          </a:p>
          <a:p>
            <a:pPr marL="609600" indent="-609600" eaLnBrk="1" hangingPunct="1">
              <a:lnSpc>
                <a:spcPct val="35000"/>
              </a:lnSpc>
              <a:buFont typeface="Wingdings" panose="05000000000000000000" pitchFamily="2" charset="2"/>
              <a:buNone/>
            </a:pPr>
            <a:endParaRPr lang="en-US" sz="2400" dirty="0"/>
          </a:p>
          <a:p>
            <a:pPr marL="1154430" lvl="1" indent="-53340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sz="2400" dirty="0">
                <a:solidFill>
                  <a:srgbClr val="990033"/>
                </a:solidFill>
              </a:rPr>
              <a:t>void main() {   </a:t>
            </a:r>
            <a:r>
              <a:rPr lang="en-US" sz="2400" dirty="0" err="1">
                <a:solidFill>
                  <a:srgbClr val="990033"/>
                </a:solidFill>
              </a:rPr>
              <a:t>printf</a:t>
            </a:r>
            <a:r>
              <a:rPr lang="en-US" sz="2400" dirty="0">
                <a:solidFill>
                  <a:srgbClr val="990033"/>
                </a:solidFill>
              </a:rPr>
              <a:t>("</a:t>
            </a:r>
            <a:r>
              <a:rPr lang="en-US" sz="2400" dirty="0"/>
              <a:t>Hello World\n</a:t>
            </a:r>
            <a:r>
              <a:rPr lang="en-US" sz="2400" dirty="0">
                <a:solidFill>
                  <a:srgbClr val="990033"/>
                </a:solidFill>
              </a:rPr>
              <a:t>");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1"/>
                </a:solidFill>
              </a:rPr>
              <a:t>}</a:t>
            </a:r>
            <a:endParaRPr lang="en-US" sz="2400" dirty="0">
              <a:solidFill>
                <a:schemeClr val="accent1"/>
              </a:solidFill>
            </a:endParaRPr>
          </a:p>
          <a:p>
            <a:pPr marL="1154430" lvl="1" indent="-533400">
              <a:lnSpc>
                <a:spcPct val="40000"/>
              </a:lnSpc>
              <a:spcBef>
                <a:spcPct val="0"/>
              </a:spcBef>
              <a:buFontTx/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609600" indent="-609600" eaLnBrk="1" hangingPunct="1">
              <a:lnSpc>
                <a:spcPct val="90000"/>
              </a:lnSpc>
            </a:pPr>
            <a:r>
              <a:rPr lang="en-US" sz="2400" dirty="0"/>
              <a:t>The tokens of this program segment are:</a:t>
            </a:r>
            <a:endParaRPr lang="en-US" sz="240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/>
              <a:t>void, </a:t>
            </a:r>
            <a:endParaRPr lang="en-US" sz="171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/>
              <a:t>main,</a:t>
            </a:r>
            <a:endParaRPr lang="en-US" sz="171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/>
              <a:t>(, </a:t>
            </a:r>
            <a:endParaRPr lang="en-US" sz="171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/>
              <a:t>), </a:t>
            </a:r>
            <a:endParaRPr lang="en-US" sz="171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/>
              <a:t>{</a:t>
            </a:r>
            <a:endParaRPr lang="en-US" sz="171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/>
              <a:t> </a:t>
            </a:r>
            <a:r>
              <a:rPr lang="en-US" sz="1710" dirty="0" err="1"/>
              <a:t>printf</a:t>
            </a:r>
            <a:r>
              <a:rPr lang="en-US" sz="1710" dirty="0"/>
              <a:t>, </a:t>
            </a:r>
            <a:endParaRPr lang="en-US" sz="1710" dirty="0"/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>
                <a:effectLst>
                  <a:outerShdw blurRad="38100" dist="38100" dir="2700000" algn="tl">
                    <a:srgbClr val="FFFFFF"/>
                  </a:outerShdw>
                </a:effectLst>
                <a:cs typeface="Arial" panose="020B0704020202020204" pitchFamily="34" charset="0"/>
                <a:sym typeface="+mn-ea"/>
              </a:rPr>
              <a:t> (, </a:t>
            </a:r>
            <a:endParaRPr lang="en-US" sz="1710" dirty="0">
              <a:effectLst>
                <a:outerShdw blurRad="38100" dist="38100" dir="2700000" algn="tl">
                  <a:srgbClr val="FFFFFF"/>
                </a:outerShdw>
              </a:effectLst>
              <a:cs typeface="Arial" panose="020B0704020202020204" pitchFamily="34" charset="0"/>
              <a:sym typeface="+mn-ea"/>
            </a:endParaRPr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>
                <a:effectLst>
                  <a:outerShdw blurRad="38100" dist="38100" dir="2700000" algn="tl">
                    <a:srgbClr val="FFFFFF"/>
                  </a:outerShdw>
                </a:effectLst>
                <a:cs typeface="Arial" panose="020B0704020202020204" pitchFamily="34" charset="0"/>
                <a:sym typeface="+mn-ea"/>
              </a:rPr>
              <a:t>"Hello World\n",</a:t>
            </a:r>
            <a:endParaRPr lang="en-US" sz="1710" dirty="0">
              <a:effectLst>
                <a:outerShdw blurRad="38100" dist="38100" dir="2700000" algn="tl">
                  <a:srgbClr val="FFFFFF"/>
                </a:outerShdw>
              </a:effectLst>
              <a:cs typeface="Arial" panose="020B0704020202020204" pitchFamily="34" charset="0"/>
              <a:sym typeface="+mn-ea"/>
            </a:endParaRPr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>
                <a:effectLst>
                  <a:outerShdw blurRad="38100" dist="38100" dir="2700000" algn="tl">
                    <a:srgbClr val="FFFFFF"/>
                  </a:outerShdw>
                </a:effectLst>
                <a:cs typeface="Arial" panose="020B0704020202020204" pitchFamily="34" charset="0"/>
                <a:sym typeface="+mn-ea"/>
              </a:rPr>
              <a:t>), </a:t>
            </a:r>
            <a:endParaRPr lang="en-US" sz="1710" dirty="0">
              <a:effectLst>
                <a:outerShdw blurRad="38100" dist="38100" dir="2700000" algn="tl">
                  <a:srgbClr val="FFFFFF"/>
                </a:outerShdw>
              </a:effectLst>
              <a:cs typeface="Arial" panose="020B0704020202020204" pitchFamily="34" charset="0"/>
              <a:sym typeface="+mn-ea"/>
            </a:endParaRPr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>
                <a:effectLst>
                  <a:outerShdw blurRad="38100" dist="38100" dir="2700000" algn="tl">
                    <a:srgbClr val="FFFFFF"/>
                  </a:outerShdw>
                </a:effectLst>
                <a:cs typeface="Arial" panose="020B0704020202020204" pitchFamily="34" charset="0"/>
                <a:sym typeface="+mn-ea"/>
              </a:rPr>
              <a:t>; and </a:t>
            </a:r>
            <a:endParaRPr lang="en-US" sz="1710" dirty="0">
              <a:effectLst>
                <a:outerShdw blurRad="38100" dist="38100" dir="2700000" algn="tl">
                  <a:srgbClr val="FFFFFF"/>
                </a:outerShdw>
              </a:effectLst>
              <a:cs typeface="Arial" panose="020B0704020202020204" pitchFamily="34" charset="0"/>
              <a:sym typeface="+mn-ea"/>
            </a:endParaRPr>
          </a:p>
          <a:p>
            <a:pPr marL="1611630" lvl="2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1710" dirty="0">
                <a:effectLst>
                  <a:outerShdw blurRad="38100" dist="38100" dir="2700000" algn="tl">
                    <a:srgbClr val="FFFFFF"/>
                  </a:outerShdw>
                </a:effectLst>
                <a:cs typeface="Arial" panose="020B0704020202020204" pitchFamily="34" charset="0"/>
                <a:sym typeface="+mn-ea"/>
              </a:rPr>
              <a:t>}</a:t>
            </a:r>
            <a:endParaRPr lang="en-US" sz="1710" dirty="0">
              <a:effectLst>
                <a:outerShdw blurRad="38100" dist="38100" dir="2700000" algn="tl">
                  <a:srgbClr val="FFFFFF"/>
                </a:outerShdw>
              </a:effectLst>
              <a:cs typeface="Arial" panose="020B0704020202020204" pitchFamily="34" charset="0"/>
            </a:endParaRPr>
          </a:p>
          <a:p>
            <a:pPr marL="1154430" lvl="1" indent="-533400" eaLnBrk="1" hangingPunct="1">
              <a:lnSpc>
                <a:spcPct val="90000"/>
              </a:lnSpc>
              <a:buFontTx/>
              <a:buAutoNum type="arabicPeriod"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05" y="332740"/>
            <a:ext cx="5875655" cy="549910"/>
          </a:xfrm>
        </p:spPr>
        <p:txBody>
          <a:bodyPr/>
          <a:lstStyle/>
          <a:p>
            <a:r>
              <a:rPr lang="en-US" altLang="en-US" sz="3400" b="1" dirty="0">
                <a:solidFill>
                  <a:srgbClr val="FF0000"/>
                </a:solidFill>
              </a:rPr>
              <a:t>Specifications of Tokens</a:t>
            </a:r>
            <a:endParaRPr lang="en-US" sz="3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605" y="1417955"/>
            <a:ext cx="8229600" cy="495681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i="1" dirty="0">
                <a:solidFill>
                  <a:srgbClr val="6600CC"/>
                </a:solidFill>
              </a:rPr>
              <a:t>String  </a:t>
            </a:r>
            <a:r>
              <a:rPr lang="en-US" altLang="en-US" sz="2400" i="1" dirty="0">
                <a:solidFill>
                  <a:srgbClr val="6600CC"/>
                </a:solidFill>
              </a:rPr>
              <a:t>  </a:t>
            </a:r>
            <a:r>
              <a:rPr lang="en-US" altLang="en-US" sz="2400" i="1" dirty="0">
                <a:solidFill>
                  <a:srgbClr val="FFFF00"/>
                </a:solidFill>
              </a:rPr>
              <a:t>			</a:t>
            </a:r>
            <a:r>
              <a:rPr lang="en-US" altLang="en-US" sz="2400" dirty="0">
                <a:solidFill>
                  <a:srgbClr val="6600CC"/>
                </a:solidFill>
              </a:rPr>
              <a:t>Words and Sentences</a:t>
            </a:r>
            <a:endParaRPr lang="en-US" altLang="en-US" sz="2400" dirty="0">
              <a:solidFill>
                <a:srgbClr val="6600CC"/>
              </a:solidFill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AutoNum type="arabicPeriod"/>
            </a:pPr>
            <a:r>
              <a:rPr lang="en-US" altLang="en-US" sz="2400" b="1" i="1" dirty="0">
                <a:solidFill>
                  <a:srgbClr val="006600"/>
                </a:solidFill>
                <a:latin typeface="Times New Roman" panose="02020603050405020304" pitchFamily="18" charset="0"/>
              </a:rPr>
              <a:t>Prefix of s</a:t>
            </a:r>
            <a:r>
              <a:rPr lang="en-US" altLang="en-US" sz="2400" i="1" dirty="0">
                <a:latin typeface="Times New Roman" panose="02020603050405020304" pitchFamily="18" charset="0"/>
              </a:rPr>
              <a:t>		          </a:t>
            </a:r>
            <a:r>
              <a:rPr lang="en-US" altLang="en-US" sz="2400" dirty="0"/>
              <a:t>A string obtained by deleting 					trailing symbols</a:t>
            </a:r>
            <a:endParaRPr lang="en-US" altLang="en-US" sz="2400" dirty="0"/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AutoNum type="arabicPeriod"/>
            </a:pPr>
            <a:r>
              <a:rPr lang="en-US" altLang="en-US" sz="2400" b="1" i="1" dirty="0">
                <a:solidFill>
                  <a:srgbClr val="9900CC"/>
                </a:solidFill>
                <a:latin typeface="Times New Roman" panose="02020603050405020304" pitchFamily="18" charset="0"/>
              </a:rPr>
              <a:t>suffix of s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</a:t>
            </a:r>
            <a:r>
              <a:rPr lang="en-US" altLang="en-US" sz="2400" i="1" dirty="0">
                <a:latin typeface="Times New Roman" panose="02020603050405020304" pitchFamily="18" charset="0"/>
              </a:rPr>
              <a:t>	           </a:t>
            </a:r>
            <a:r>
              <a:rPr lang="en-US" altLang="en-US" sz="2400" dirty="0"/>
              <a:t>A string obtained by deleting 					leading symbols</a:t>
            </a:r>
            <a:endParaRPr lang="en-US" altLang="en-US" sz="2400" dirty="0"/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AutoNum type="arabicPeriod"/>
            </a:pPr>
            <a:r>
              <a:rPr lang="en-US" altLang="en-US" sz="2400" b="1" i="1" dirty="0">
                <a:solidFill>
                  <a:srgbClr val="990099"/>
                </a:solidFill>
                <a:latin typeface="Times New Roman" panose="02020603050405020304" pitchFamily="18" charset="0"/>
              </a:rPr>
              <a:t>Substring of s</a:t>
            </a:r>
            <a:r>
              <a:rPr lang="en-US" altLang="en-US" sz="2400" i="1" dirty="0">
                <a:solidFill>
                  <a:srgbClr val="990099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i="1" dirty="0">
                <a:latin typeface="Times New Roman" panose="02020603050405020304" pitchFamily="18" charset="0"/>
              </a:rPr>
              <a:t>	</a:t>
            </a:r>
            <a:r>
              <a:rPr lang="en-US" altLang="en-US" sz="2400" dirty="0"/>
              <a:t>A string obtained by deleting 					a prefix &amp; a suffix</a:t>
            </a:r>
            <a:endParaRPr lang="en-US" altLang="en-US" sz="2400" dirty="0"/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AutoNum type="arabicPeriod"/>
            </a:pPr>
            <a:r>
              <a:rPr lang="en-US" altLang="en-US" sz="2400" b="1" i="1" dirty="0">
                <a:solidFill>
                  <a:srgbClr val="336600"/>
                </a:solidFill>
                <a:latin typeface="Times New Roman" panose="02020603050405020304" pitchFamily="18" charset="0"/>
              </a:rPr>
              <a:t>Proper</a:t>
            </a:r>
            <a:r>
              <a:rPr lang="en-US" altLang="en-US" sz="2400" i="1" dirty="0">
                <a:solidFill>
                  <a:srgbClr val="3366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400" i="1" dirty="0">
                <a:latin typeface="Times New Roman" panose="02020603050405020304" pitchFamily="18" charset="0"/>
              </a:rPr>
              <a:t>		</a:t>
            </a:r>
            <a:r>
              <a:rPr lang="en-US" altLang="en-US" sz="2400" dirty="0"/>
              <a:t>A prefix, suffix or sub string 				that is nonempty s.t s = x</a:t>
            </a:r>
            <a:endParaRPr lang="en-US" altLang="en-US" sz="2400" dirty="0"/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FontTx/>
              <a:buAutoNum type="arabicPeriod"/>
            </a:pPr>
            <a:r>
              <a:rPr lang="en-US" altLang="en-US" sz="2400" b="1" i="1" dirty="0">
                <a:solidFill>
                  <a:srgbClr val="808000"/>
                </a:solidFill>
                <a:latin typeface="Times New Roman" panose="02020603050405020304" pitchFamily="18" charset="0"/>
              </a:rPr>
              <a:t>Subsequence of s</a:t>
            </a:r>
            <a:r>
              <a:rPr lang="en-US" altLang="en-US" sz="2400" i="1" dirty="0">
                <a:latin typeface="Times New Roman" panose="02020603050405020304" pitchFamily="18" charset="0"/>
              </a:rPr>
              <a:t>	            </a:t>
            </a:r>
            <a:r>
              <a:rPr lang="en-US" altLang="en-US" sz="2400" dirty="0"/>
              <a:t>A string obtained by deleting 			symbols not necessarily contiguous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l" eaLnBrk="1" hangingPunct="1"/>
            <a:fld id="{C9E64375-21E8-414C-8EED-E6C6DD84F922}" type="slidenum">
              <a:rPr lang="en-US" sz="1200">
                <a:solidFill>
                  <a:srgbClr val="898989"/>
                </a:solidFill>
              </a:rPr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404495"/>
            <a:ext cx="6494780" cy="544830"/>
          </a:xfrm>
        </p:spPr>
        <p:txBody>
          <a:bodyPr/>
          <a:lstStyle/>
          <a:p>
            <a:pPr eaLnBrk="1" hangingPunct="1"/>
            <a:r>
              <a:rPr lang="en-US" sz="3200" b="1">
                <a:solidFill>
                  <a:srgbClr val="FF0000"/>
                </a:solidFill>
              </a:rPr>
              <a:t>The Principle of Longest match</a:t>
            </a:r>
            <a:endParaRPr lang="en-US" sz="3200" b="1">
              <a:solidFill>
                <a:srgbClr val="FF000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" y="1484630"/>
            <a:ext cx="8744585" cy="4775835"/>
          </a:xfrm>
        </p:spPr>
        <p:txBody>
          <a:bodyPr/>
          <a:lstStyle/>
          <a:p>
            <a:pPr eaLnBrk="1" hangingPunct="1"/>
            <a:r>
              <a:rPr lang="en-US" sz="2400" dirty="0"/>
              <a:t>In most languages, the scanner should pick the longest </a:t>
            </a:r>
            <a:endParaRPr lang="en-US" sz="2400" dirty="0"/>
          </a:p>
          <a:p>
            <a:pPr marL="0" indent="0" eaLnBrk="1" hangingPunct="1">
              <a:buNone/>
            </a:pPr>
            <a:r>
              <a:rPr lang="en-US" sz="2400" dirty="0"/>
              <a:t>    possible string to make up the next token if there is a choice</a:t>
            </a:r>
            <a:endParaRPr lang="en-US" sz="2400" dirty="0"/>
          </a:p>
          <a:p>
            <a:pPr eaLnBrk="1" hangingPunct="1"/>
            <a:r>
              <a:rPr lang="en-US" sz="2400" dirty="0"/>
              <a:t>Example</a:t>
            </a:r>
            <a:endParaRPr lang="en-US" sz="2400" dirty="0"/>
          </a:p>
          <a:p>
            <a:pPr eaLnBrk="1" hangingPunct="1"/>
            <a:endParaRPr lang="en-US" sz="2400" dirty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sz="2400" dirty="0"/>
              <a:t>return </a:t>
            </a:r>
            <a:r>
              <a:rPr lang="en-US" sz="2400" dirty="0" err="1"/>
              <a:t>foobar</a:t>
            </a:r>
            <a:r>
              <a:rPr lang="en-US" sz="2400" dirty="0"/>
              <a:t> != </a:t>
            </a:r>
            <a:r>
              <a:rPr lang="en-US" sz="2400" dirty="0" err="1"/>
              <a:t>hohum</a:t>
            </a:r>
            <a:r>
              <a:rPr lang="en-US" sz="2400" dirty="0"/>
              <a:t>;</a:t>
            </a:r>
            <a:endParaRPr lang="en-US" sz="2400" dirty="0"/>
          </a:p>
          <a:p>
            <a:pPr lvl="1" eaLnBrk="1" hangingPunct="1">
              <a:buFontTx/>
              <a:buNone/>
            </a:pPr>
            <a:r>
              <a:rPr lang="en-US" sz="2400" dirty="0"/>
              <a:t>	</a:t>
            </a:r>
            <a:r>
              <a:rPr lang="en-US" sz="2400" dirty="0"/>
              <a:t>should be recognized as 5 tokens</a:t>
            </a:r>
            <a:endParaRPr lang="en-US" sz="2400" dirty="0"/>
          </a:p>
          <a:p>
            <a:pPr lvl="1" eaLnBrk="1" hangingPunct="1">
              <a:buFontTx/>
              <a:buNone/>
            </a:pPr>
            <a:endParaRPr lang="en-US" sz="2400" dirty="0"/>
          </a:p>
          <a:p>
            <a:pPr lvl="1" eaLnBrk="1" hangingPunct="1">
              <a:buFontTx/>
              <a:buNone/>
            </a:pPr>
            <a:endParaRPr lang="en-US" sz="2400" dirty="0"/>
          </a:p>
          <a:p>
            <a:pPr lvl="1" eaLnBrk="1" hangingPunct="1">
              <a:buFontTx/>
              <a:buNone/>
            </a:pPr>
            <a:r>
              <a:rPr lang="en-US" sz="2400" dirty="0"/>
              <a:t>	</a:t>
            </a:r>
            <a:endParaRPr lang="en-US" sz="2400" dirty="0"/>
          </a:p>
          <a:p>
            <a:pPr lvl="1" eaLnBrk="1" hangingPunct="1">
              <a:buFontTx/>
              <a:buNone/>
            </a:pPr>
            <a:r>
              <a:rPr lang="en-US" sz="2400" dirty="0"/>
              <a:t>not more (i.e., not parts of words or identifiers, or ! and = as separate tokens</a:t>
            </a:r>
            <a:endParaRPr lang="en-US" sz="2400" dirty="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79388" y="4508500"/>
            <a:ext cx="1414462" cy="531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800"/>
              <a:t>RETURN</a:t>
            </a:r>
            <a:endParaRPr lang="en-US" sz="2800"/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835150" y="4513263"/>
            <a:ext cx="1670050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800"/>
              <a:t>ID(foobar)0</a:t>
            </a:r>
            <a:endParaRPr lang="en-US" sz="2800"/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3841750" y="4513263"/>
            <a:ext cx="830263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800"/>
              <a:t>NEQ</a:t>
            </a:r>
            <a:endParaRPr lang="en-US" sz="2800"/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5159375" y="4513263"/>
            <a:ext cx="1573213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800"/>
              <a:t>ID(hohum)</a:t>
            </a:r>
            <a:endParaRPr lang="en-US" sz="2800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7173913" y="4513263"/>
            <a:ext cx="1430337" cy="5318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sz="2800"/>
              <a:t>SCOLON</a:t>
            </a:r>
            <a:endParaRPr lang="en-US" sz="2800"/>
          </a:p>
        </p:txBody>
      </p:sp>
      <p:sp>
        <p:nvSpPr>
          <p:cNvPr id="16393" name="Rectangle 9"/>
          <p:cNvSpPr>
            <a:spLocks noChangeArrowheads="1"/>
          </p:cNvSpPr>
          <p:nvPr/>
        </p:nvSpPr>
        <p:spPr bwMode="auto">
          <a:xfrm>
            <a:off x="1258888" y="3284538"/>
            <a:ext cx="914400" cy="360362"/>
          </a:xfrm>
          <a:prstGeom prst="rect">
            <a:avLst/>
          </a:prstGeom>
          <a:solidFill>
            <a:srgbClr val="FF66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2195513" y="3284538"/>
            <a:ext cx="914400" cy="360362"/>
          </a:xfrm>
          <a:prstGeom prst="rect">
            <a:avLst/>
          </a:prstGeom>
          <a:solidFill>
            <a:srgbClr val="FF66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3513138" y="3356293"/>
            <a:ext cx="842962" cy="360362"/>
          </a:xfrm>
          <a:prstGeom prst="rect">
            <a:avLst/>
          </a:prstGeom>
          <a:solidFill>
            <a:srgbClr val="FF66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3081338" y="3356293"/>
            <a:ext cx="411162" cy="360362"/>
          </a:xfrm>
          <a:prstGeom prst="rect">
            <a:avLst/>
          </a:prstGeom>
          <a:solidFill>
            <a:srgbClr val="FF66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4356100" y="3284538"/>
            <a:ext cx="215900" cy="360362"/>
          </a:xfrm>
          <a:prstGeom prst="rect">
            <a:avLst/>
          </a:prstGeom>
          <a:solidFill>
            <a:srgbClr val="FF66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16388" grpId="0" animBg="1"/>
      <p:bldP spid="16389" grpId="0" animBg="1"/>
      <p:bldP spid="16390" grpId="0" animBg="1"/>
      <p:bldP spid="16391" grpId="0" animBg="1"/>
      <p:bldP spid="16392" grpId="0" animBg="1"/>
      <p:bldP spid="16393" grpId="0" bldLvl="0" animBg="1"/>
      <p:bldP spid="16393" grpId="1" bldLvl="0" animBg="1"/>
      <p:bldP spid="16394" grpId="0" bldLvl="0" animBg="1"/>
      <p:bldP spid="16394" grpId="1" bldLvl="0" animBg="1"/>
      <p:bldP spid="16395" grpId="0" bldLvl="0" animBg="1"/>
      <p:bldP spid="16395" grpId="1" bldLvl="0" animBg="1"/>
      <p:bldP spid="16396" grpId="0" bldLvl="0" animBg="1"/>
      <p:bldP spid="16396" grpId="1" bldLvl="0" animBg="1"/>
      <p:bldP spid="16397" grpId="0" bldLvl="0" animBg="1"/>
      <p:bldP spid="16397" grpId="1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l" eaLnBrk="1" hangingPunct="1"/>
            <a:fld id="{77C7F7B2-92BB-4278-9D85-D78D7DB53292}" type="slidenum">
              <a:rPr lang="en-US" sz="1200">
                <a:solidFill>
                  <a:srgbClr val="898989"/>
                </a:solidFill>
              </a:rPr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476250"/>
            <a:ext cx="8915400" cy="659765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0000"/>
                </a:solidFill>
              </a:rPr>
              <a:t>Typical Tokens in Programming Languages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735" y="1556385"/>
            <a:ext cx="8785225" cy="437896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/>
              <a:t>Operators &amp; Punctuation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+ - * / ( ) { } [ ] ; : :: &lt; &lt;= == = != ! …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Each of these is a distinct lexical class ( or token type )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r>
              <a:rPr lang="en-US" sz="2200"/>
              <a:t>Keywords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if  while  for  goto  return  switch  void  …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Each of these is also a distinct lexical class (not a string)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r>
              <a:rPr lang="en-US" sz="2200"/>
              <a:t>Identifiers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A single ID lexical class, but parameterized by actual id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r>
              <a:rPr lang="en-US" sz="2200"/>
              <a:t>Integer constants</a:t>
            </a:r>
            <a:endParaRPr lang="en-US" sz="2200"/>
          </a:p>
          <a:p>
            <a:pPr lvl="1" eaLnBrk="1" hangingPunct="1">
              <a:lnSpc>
                <a:spcPct val="90000"/>
              </a:lnSpc>
            </a:pPr>
            <a:r>
              <a:rPr lang="en-US" sz="2200"/>
              <a:t>A single INT lexical class, but parameterized by int value</a:t>
            </a:r>
            <a:endParaRPr lang="en-US" sz="2200"/>
          </a:p>
          <a:p>
            <a:pPr eaLnBrk="1" hangingPunct="1">
              <a:lnSpc>
                <a:spcPct val="90000"/>
              </a:lnSpc>
            </a:pPr>
            <a:r>
              <a:rPr lang="en-US" sz="2200"/>
              <a:t>Other constants, etc.</a:t>
            </a: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05AC4E40-E7DA-4727-9DDD-6DF7A4508B40}" type="slidenum">
              <a:rPr lang="en-US" altLang="en-US" sz="2800" smtClean="0">
                <a:solidFill>
                  <a:srgbClr val="FF99FF"/>
                </a:solidFill>
              </a:rPr>
            </a:fld>
            <a:endParaRPr lang="en-US" altLang="en-US" sz="2800" smtClean="0">
              <a:solidFill>
                <a:srgbClr val="FF99FF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" y="260350"/>
            <a:ext cx="6513830" cy="611505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FF0000"/>
                </a:solidFill>
              </a:rPr>
              <a:t>Tokens of a Typical Language</a:t>
            </a:r>
            <a:endParaRPr lang="en-US" altLang="en-US" sz="2800" b="1" dirty="0">
              <a:solidFill>
                <a:srgbClr val="FF0000"/>
              </a:solidFill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339975" y="5553075"/>
            <a:ext cx="6624638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, (Comma)   != (Noteq)  ( (Lparen) …….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179388" y="5553075"/>
            <a:ext cx="2160587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SYMBOLS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2339975" y="4652963"/>
            <a:ext cx="6624638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IF     DO    WHILE  INT ………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179388" y="4652963"/>
            <a:ext cx="2160587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KEYWORDS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339975" y="3752850"/>
            <a:ext cx="6624638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66.1    .5     10.   1e67    5.5e-10 ……..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179388" y="3752850"/>
            <a:ext cx="2160587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REAL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2339975" y="2852738"/>
            <a:ext cx="6624638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73 ,  0 ,  00 ,   515 ,    +2 ……..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179388" y="2852738"/>
            <a:ext cx="2160587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NUM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2339975" y="1952625"/>
            <a:ext cx="6624638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foo, n14,  a, temp……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179388" y="1952625"/>
            <a:ext cx="2160587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ID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2339975" y="1052513"/>
            <a:ext cx="6624638" cy="90011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FFFFFF"/>
                </a:solidFill>
              </a:rPr>
              <a:t>EXAMPLE</a:t>
            </a:r>
            <a:endParaRPr lang="en-US" altLang="en-US" sz="2800" b="1">
              <a:solidFill>
                <a:srgbClr val="FFFFFF"/>
              </a:solidFill>
            </a:endParaRP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179388" y="1052513"/>
            <a:ext cx="2160587" cy="90011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FFFFFF"/>
                </a:solidFill>
              </a:rPr>
              <a:t>TYPE</a:t>
            </a:r>
            <a:endParaRPr lang="en-US" altLang="en-US" sz="28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nimBg="1"/>
      <p:bldP spid="18436" grpId="0" animBg="1"/>
      <p:bldP spid="18437" grpId="0" animBg="1"/>
      <p:bldP spid="18438" grpId="0" animBg="1"/>
      <p:bldP spid="18439" grpId="0" animBg="1"/>
      <p:bldP spid="18440" grpId="0" animBg="1"/>
      <p:bldP spid="18441" grpId="0" animBg="1"/>
      <p:bldP spid="18442" grpId="0" animBg="1"/>
      <p:bldP spid="18443" grpId="0" animBg="1"/>
      <p:bldP spid="18444" grpId="0" animBg="1"/>
      <p:bldP spid="18445" grpId="0" animBg="1"/>
      <p:bldP spid="184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6D92B144-88B0-4235-96C4-0758FFDC5BBE}" type="slidenum">
              <a:rPr lang="en-US" altLang="en-US" sz="2400" smtClean="0">
                <a:solidFill>
                  <a:srgbClr val="FF99FF"/>
                </a:solidFill>
              </a:rPr>
            </a:fld>
            <a:endParaRPr lang="en-US" altLang="en-US" sz="2400" smtClean="0">
              <a:solidFill>
                <a:srgbClr val="FF99FF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260350"/>
            <a:ext cx="6303645" cy="705485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Tokens of a Typical Language</a:t>
            </a:r>
            <a:endParaRPr lang="en-US" altLang="en-US" sz="2400" dirty="0">
              <a:solidFill>
                <a:srgbClr val="FF0000"/>
              </a:solidFill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2339975" y="5553075"/>
            <a:ext cx="6624638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, (Comma)   != (Noteq)  ( (Lparen) …….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179388" y="5553075"/>
            <a:ext cx="2160587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SYMBOLS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2339975" y="4652963"/>
            <a:ext cx="6624638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IF     DO    WHILE  INT ………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179388" y="4652963"/>
            <a:ext cx="2160587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KEYWORDS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2339975" y="3752850"/>
            <a:ext cx="6624638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66.1    .5     10.   1e67    5.5e-10 ……..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179388" y="3752850"/>
            <a:ext cx="2160587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REAL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2339975" y="2852738"/>
            <a:ext cx="6624638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73 ,  0 ,  00 ,   515 ,    +2 ……..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19" name="Rectangle 10"/>
          <p:cNvSpPr>
            <a:spLocks noChangeArrowheads="1"/>
          </p:cNvSpPr>
          <p:nvPr/>
        </p:nvSpPr>
        <p:spPr bwMode="auto">
          <a:xfrm>
            <a:off x="179388" y="2852738"/>
            <a:ext cx="2160587" cy="900112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NUM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20" name="Rectangle 11"/>
          <p:cNvSpPr>
            <a:spLocks noChangeArrowheads="1"/>
          </p:cNvSpPr>
          <p:nvPr/>
        </p:nvSpPr>
        <p:spPr bwMode="auto">
          <a:xfrm>
            <a:off x="2339975" y="1952625"/>
            <a:ext cx="6624638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foo, n14,  a, temp……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21" name="Rectangle 12"/>
          <p:cNvSpPr>
            <a:spLocks noChangeArrowheads="1"/>
          </p:cNvSpPr>
          <p:nvPr/>
        </p:nvSpPr>
        <p:spPr bwMode="auto">
          <a:xfrm>
            <a:off x="179388" y="1952625"/>
            <a:ext cx="2160587" cy="9001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000000"/>
                </a:solidFill>
              </a:rPr>
              <a:t>ID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17422" name="Rectangle 13"/>
          <p:cNvSpPr>
            <a:spLocks noChangeArrowheads="1"/>
          </p:cNvSpPr>
          <p:nvPr/>
        </p:nvSpPr>
        <p:spPr bwMode="auto">
          <a:xfrm>
            <a:off x="2339975" y="1052513"/>
            <a:ext cx="6624638" cy="90011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EXAMPLE</a:t>
            </a:r>
            <a:endParaRPr lang="en-US" altLang="en-US" sz="2400" b="1">
              <a:solidFill>
                <a:srgbClr val="FFFFFF"/>
              </a:solidFill>
            </a:endParaRPr>
          </a:p>
        </p:txBody>
      </p:sp>
      <p:sp>
        <p:nvSpPr>
          <p:cNvPr id="17423" name="Rectangle 14"/>
          <p:cNvSpPr>
            <a:spLocks noChangeArrowheads="1"/>
          </p:cNvSpPr>
          <p:nvPr/>
        </p:nvSpPr>
        <p:spPr bwMode="auto">
          <a:xfrm>
            <a:off x="179388" y="1052513"/>
            <a:ext cx="2160587" cy="90011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rgbClr val="FFFFFF"/>
                </a:solidFill>
              </a:rPr>
              <a:t>TYPE</a:t>
            </a:r>
            <a:endParaRPr lang="en-US" altLang="en-US" sz="2400" b="1">
              <a:solidFill>
                <a:srgbClr val="FFFFFF"/>
              </a:solidFill>
            </a:endParaRP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 rot="-2072019">
            <a:off x="226060" y="2639060"/>
            <a:ext cx="8481695" cy="1469390"/>
          </a:xfrm>
          <a:prstGeom prst="rect">
            <a:avLst/>
          </a:prstGeom>
          <a:solidFill>
            <a:srgbClr val="0000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99FF"/>
                </a:solidFill>
              </a:rPr>
              <a:t>Question</a:t>
            </a:r>
            <a:r>
              <a:rPr lang="en-US" altLang="en-US" sz="2400">
                <a:solidFill>
                  <a:schemeClr val="hlink"/>
                </a:solidFill>
              </a:rPr>
              <a:t>: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rgbClr val="FFFFFF"/>
                </a:solidFill>
              </a:rPr>
              <a:t>How are tokens formally defined and recognized?</a:t>
            </a:r>
            <a:endParaRPr lang="en-US" altLang="en-US" sz="2400">
              <a:solidFill>
                <a:srgbClr val="FFFFFF"/>
              </a:solidFill>
            </a:endParaRPr>
          </a:p>
          <a:p>
            <a:pPr eaLnBrk="1" hangingPunct="1"/>
            <a:r>
              <a:rPr lang="en-US" altLang="en-US" sz="2400">
                <a:solidFill>
                  <a:srgbClr val="FF99FF"/>
                </a:solidFill>
              </a:rPr>
              <a:t>Answer</a:t>
            </a:r>
            <a:r>
              <a:rPr lang="en-US" altLang="en-US" sz="2400">
                <a:solidFill>
                  <a:schemeClr val="hlink"/>
                </a:solidFill>
              </a:rPr>
              <a:t>:</a:t>
            </a:r>
            <a:r>
              <a:rPr lang="en-US" altLang="en-US" sz="2400"/>
              <a:t> </a:t>
            </a:r>
            <a:r>
              <a:rPr lang="en-US" altLang="en-US" sz="2400">
                <a:solidFill>
                  <a:srgbClr val="FFFFFF"/>
                </a:solidFill>
              </a:rPr>
              <a:t>By using regular expressions to define a token as</a:t>
            </a:r>
            <a:endParaRPr lang="en-US" altLang="en-US" sz="2400">
              <a:solidFill>
                <a:srgbClr val="FFFF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rgbClr val="FFFF00"/>
                </a:solidFill>
              </a:rPr>
              <a:t>	 </a:t>
            </a:r>
            <a:r>
              <a:rPr lang="en-US" altLang="en-US" sz="2400" b="1">
                <a:solidFill>
                  <a:srgbClr val="FFFF00"/>
                </a:solidFill>
              </a:rPr>
              <a:t>a formal regular language</a:t>
            </a:r>
            <a:endParaRPr lang="en-US" altLang="en-US" sz="24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7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7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71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4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9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1" grpId="0" animBg="1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959BB9DE-4219-4992-B3DD-0DBAB9049289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" y="476250"/>
            <a:ext cx="6167120" cy="561975"/>
          </a:xfrm>
        </p:spPr>
        <p:txBody>
          <a:bodyPr/>
          <a:lstStyle/>
          <a:p>
            <a:pPr eaLnBrk="1" hangingPunct="1"/>
            <a:r>
              <a:rPr lang="en-US" altLang="en-US" sz="3200" dirty="0">
                <a:solidFill>
                  <a:srgbClr val="FF0000"/>
                </a:solidFill>
              </a:rPr>
              <a:t>Formal Definition of Languages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560" y="1341120"/>
            <a:ext cx="2305050" cy="21177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/>
              <a:t>Alphabet</a:t>
            </a:r>
            <a:endParaRPr lang="en-US" altLang="en-US" sz="2400"/>
          </a:p>
          <a:p>
            <a:pPr eaLnBrk="1" hangingPunct="1">
              <a:lnSpc>
                <a:spcPct val="110000"/>
              </a:lnSpc>
            </a:pPr>
            <a:endParaRPr lang="en-US" altLang="en-US" sz="2400"/>
          </a:p>
          <a:p>
            <a:pPr eaLnBrk="1" hangingPunct="1">
              <a:lnSpc>
                <a:spcPct val="110000"/>
              </a:lnSpc>
            </a:pPr>
            <a:r>
              <a:rPr lang="en-US" altLang="en-US" sz="2400"/>
              <a:t>String</a:t>
            </a:r>
            <a:endParaRPr lang="en-US" altLang="en-US" sz="2400"/>
          </a:p>
          <a:p>
            <a:pPr eaLnBrk="1" hangingPunct="1">
              <a:lnSpc>
                <a:spcPct val="20000"/>
              </a:lnSpc>
            </a:pPr>
            <a:endParaRPr lang="en-US" altLang="en-US" sz="2400"/>
          </a:p>
          <a:p>
            <a:pPr eaLnBrk="1" hangingPunct="1">
              <a:lnSpc>
                <a:spcPct val="130000"/>
              </a:lnSpc>
            </a:pPr>
            <a:r>
              <a:rPr lang="en-US" altLang="en-US" sz="2400"/>
              <a:t>Language</a:t>
            </a:r>
            <a:endParaRPr lang="en-US" altLang="en-US" sz="2400"/>
          </a:p>
          <a:p>
            <a:pPr eaLnBrk="1" hangingPunct="1">
              <a:lnSpc>
                <a:spcPct val="130000"/>
              </a:lnSpc>
            </a:pPr>
            <a:endParaRPr lang="en-US" altLang="en-US" sz="2400"/>
          </a:p>
          <a:p>
            <a:pPr eaLnBrk="1" hangingPunct="1">
              <a:lnSpc>
                <a:spcPct val="130000"/>
              </a:lnSpc>
            </a:pPr>
            <a:endParaRPr lang="en-US" altLang="en-US" sz="240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2123123" y="1341120"/>
            <a:ext cx="70199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F"/>
            </a:pPr>
            <a:r>
              <a:rPr lang="en-US" altLang="en-US" sz="2400"/>
              <a:t>A finite (non-empty) set of symbols denoted by </a:t>
            </a:r>
            <a:r>
              <a:rPr lang="el-GR" altLang="en-US" sz="2400"/>
              <a:t>Σ</a:t>
            </a:r>
            <a:endParaRPr lang="en-US" altLang="en-US" sz="2400"/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2051685" y="1872615"/>
            <a:ext cx="7129145" cy="81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F"/>
            </a:pPr>
            <a:r>
              <a:rPr lang="en-US" altLang="en-US" sz="2400" dirty="0"/>
              <a:t>A finite sequence of symbols from an alphabet which includes even the empty sequence (denoted by </a:t>
            </a:r>
            <a:r>
              <a:rPr lang="el-GR" altLang="en-US" sz="2400" dirty="0">
                <a:latin typeface="Arial" panose="020B0704020202020204" pitchFamily="34" charset="0"/>
              </a:rPr>
              <a:t>λ</a:t>
            </a:r>
            <a:r>
              <a:rPr lang="en-US" altLang="en-US" sz="2400" dirty="0"/>
              <a:t> )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F"/>
            </a:pPr>
            <a:endParaRPr lang="en-US" altLang="en-US" sz="2400" dirty="0"/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051050" y="2683510"/>
            <a:ext cx="701992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F"/>
            </a:pPr>
            <a:r>
              <a:rPr lang="en-US" altLang="en-US" sz="2400"/>
              <a:t>A set ( often infinite) of finite strings </a:t>
            </a:r>
            <a:endParaRPr lang="en-US" altLang="en-US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F"/>
            </a:pPr>
            <a:r>
              <a:rPr lang="en-US" altLang="en-US" sz="2400"/>
              <a:t>The set of all possible finite strings of elements of alphabet Σ ( including λ ) is denoted by Σ*</a:t>
            </a:r>
            <a:endParaRPr lang="en-US" altLang="en-US" sz="2400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179070" y="4255770"/>
            <a:ext cx="8964930" cy="1995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96875" indent="-3968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914400" indent="-403225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Finite specifications of (possibly infinite) languages is possible with</a:t>
            </a:r>
            <a:endParaRPr lang="en-US" altLang="en-US" sz="2200" dirty="0"/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200" dirty="0"/>
              <a:t>Automaton – a recognizer; a machine that accepts all strings in a language (and rejects all other strings)</a:t>
            </a:r>
            <a:endParaRPr lang="en-US" altLang="en-US" sz="2200" dirty="0"/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200" dirty="0"/>
              <a:t>Grammar – a generator; a system for producing all strings in the language (and no other strings)</a:t>
            </a:r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  <p:bldP spid="21508" grpId="0" bldLvl="2" autoUpdateAnimBg="0" build="p"/>
      <p:bldP spid="21509" grpId="0" bldLvl="2" autoUpdateAnimBg="0" build="p"/>
      <p:bldP spid="21510" grpId="0" bldLvl="2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8024BB51-F6BB-4FB9-95E9-EFC1FD4248E7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332105"/>
            <a:ext cx="6690360" cy="561340"/>
          </a:xfrm>
        </p:spPr>
        <p:txBody>
          <a:bodyPr/>
          <a:lstStyle/>
          <a:p>
            <a:pPr eaLnBrk="1" hangingPunct="1"/>
            <a:r>
              <a:rPr lang="en-US" altLang="en-US" sz="3000" dirty="0">
                <a:solidFill>
                  <a:srgbClr val="FF0000"/>
                </a:solidFill>
              </a:rPr>
              <a:t>Formal Language Definition ( Contd</a:t>
            </a:r>
            <a:r>
              <a:rPr lang="en-US" altLang="en-US" sz="3000" dirty="0"/>
              <a:t>. )</a:t>
            </a:r>
            <a:endParaRPr lang="en-US" altLang="en-US" sz="30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15" y="1412240"/>
            <a:ext cx="8861425" cy="4969510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 sz="2400"/>
              <a:t>As already defined A </a:t>
            </a:r>
            <a:r>
              <a:rPr lang="en-US" altLang="en-US" sz="2400" b="1" i="1">
                <a:solidFill>
                  <a:srgbClr val="9900FF"/>
                </a:solidFill>
              </a:rPr>
              <a:t>language</a:t>
            </a:r>
            <a:r>
              <a:rPr lang="en-US" altLang="en-US" sz="2400"/>
              <a:t> L over an alphabet </a:t>
            </a:r>
            <a:r>
              <a:rPr lang="en-US" altLang="en-US" sz="2400" b="1"/>
              <a:t>Σ</a:t>
            </a:r>
            <a:r>
              <a:rPr lang="en-US" altLang="en-US" sz="2400"/>
              <a:t> is a </a:t>
            </a:r>
            <a:endParaRPr lang="en-US" altLang="en-US" sz="2400"/>
          </a:p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2400"/>
              <a:t>    collection of strings of elements of </a:t>
            </a:r>
            <a:r>
              <a:rPr lang="en-US" altLang="en-US" sz="2400" b="1"/>
              <a:t>Σ</a:t>
            </a:r>
            <a:endParaRPr lang="en-US" altLang="en-US" sz="2400" b="1"/>
          </a:p>
          <a:p>
            <a:pPr lvl="1" eaLnBrk="1" hangingPunct="1">
              <a:lnSpc>
                <a:spcPct val="95000"/>
              </a:lnSpc>
            </a:pPr>
            <a:r>
              <a:rPr lang="en-US" altLang="en-US" sz="2400"/>
              <a:t>The PASCAL Language is the set of all strings that </a:t>
            </a:r>
            <a:endParaRPr lang="en-US" altLang="en-US" sz="2400"/>
          </a:p>
          <a:p>
            <a:pPr marL="457200" lvl="1" indent="0" eaLnBrk="1" hangingPunct="1">
              <a:lnSpc>
                <a:spcPct val="95000"/>
              </a:lnSpc>
              <a:buNone/>
            </a:pPr>
            <a:r>
              <a:rPr lang="en-US" altLang="en-US" sz="2400"/>
              <a:t>    constitute legal PASCAL programs (infinite set)</a:t>
            </a:r>
            <a:endParaRPr lang="en-US" altLang="en-US" sz="2400"/>
          </a:p>
          <a:p>
            <a:pPr lvl="1" eaLnBrk="1" hangingPunct="1">
              <a:lnSpc>
                <a:spcPct val="95000"/>
              </a:lnSpc>
            </a:pPr>
            <a:r>
              <a:rPr lang="en-US" altLang="en-US" sz="2400"/>
              <a:t>The Language of primes is a set of all decimal digit strings that constitute prime numbers (infinite set)</a:t>
            </a:r>
            <a:endParaRPr lang="en-US" altLang="en-US" sz="2400"/>
          </a:p>
          <a:p>
            <a:pPr lvl="1" eaLnBrk="1" hangingPunct="1">
              <a:lnSpc>
                <a:spcPct val="95000"/>
              </a:lnSpc>
            </a:pPr>
            <a:r>
              <a:rPr lang="en-US" altLang="en-US" sz="2400"/>
              <a:t>The language of C reserved words is the set of all </a:t>
            </a:r>
            <a:endParaRPr lang="en-US" altLang="en-US" sz="2400"/>
          </a:p>
          <a:p>
            <a:pPr marL="457200" lvl="1" indent="0" eaLnBrk="1" hangingPunct="1">
              <a:lnSpc>
                <a:spcPct val="95000"/>
              </a:lnSpc>
              <a:buNone/>
            </a:pPr>
            <a:r>
              <a:rPr lang="en-US" altLang="en-US" sz="2400"/>
              <a:t>  alphabetic strings that can not be used as identifiers in the     C programming language (finite set)</a:t>
            </a:r>
            <a:endParaRPr lang="en-US" altLang="en-US" sz="2400"/>
          </a:p>
          <a:p>
            <a:pPr eaLnBrk="1" hangingPunct="1">
              <a:lnSpc>
                <a:spcPct val="95000"/>
              </a:lnSpc>
            </a:pPr>
            <a:r>
              <a:rPr lang="en-US" altLang="en-US" sz="2400"/>
              <a:t>To specify some of these (possibly infinite) languages with </a:t>
            </a:r>
            <a:endParaRPr lang="en-US" altLang="en-US" sz="2400"/>
          </a:p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2400"/>
              <a:t>     finite description we use the notation of </a:t>
            </a:r>
            <a:endParaRPr lang="en-US" altLang="en-US" sz="240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/>
              <a:t>		</a:t>
            </a:r>
            <a:r>
              <a:rPr lang="en-US" altLang="en-US" sz="2400">
                <a:solidFill>
                  <a:srgbClr val="9900FF"/>
                </a:solidFill>
              </a:rPr>
              <a:t>Regular Expressions</a:t>
            </a:r>
            <a:endParaRPr lang="en-US" altLang="en-US" sz="2400">
              <a:solidFill>
                <a:srgbClr val="99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5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6F1C1625-B60E-4E7D-9558-206B0D6B5F34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495"/>
            <a:ext cx="4531995" cy="561975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Regular Expressions</a:t>
            </a:r>
            <a:endParaRPr lang="en-US" altLang="en-US" sz="3200" b="1" dirty="0">
              <a:solidFill>
                <a:srgbClr val="FF0000"/>
              </a:solidFill>
            </a:endParaRP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070" y="1700530"/>
            <a:ext cx="8964295" cy="4387850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 sz="2200" dirty="0"/>
              <a:t>Is always defined over some alphabet </a:t>
            </a:r>
            <a:r>
              <a:rPr lang="en-US" altLang="en-US" sz="2200" b="1" dirty="0"/>
              <a:t>Σ</a:t>
            </a:r>
            <a:r>
              <a:rPr lang="en-US" altLang="en-US" sz="2200" dirty="0"/>
              <a:t> </a:t>
            </a:r>
            <a:endParaRPr lang="en-US" altLang="en-US" sz="2200" dirty="0"/>
          </a:p>
          <a:p>
            <a:pPr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    (For programming languages, it is commonly ASCII or Unicode)</a:t>
            </a:r>
            <a:endParaRPr lang="en-US" altLang="en-US" sz="2200" dirty="0"/>
          </a:p>
          <a:p>
            <a:pPr eaLnBrk="1" hangingPunct="1">
              <a:lnSpc>
                <a:spcPct val="95000"/>
              </a:lnSpc>
            </a:pPr>
            <a:r>
              <a:rPr lang="en-US" altLang="en-US" sz="2200" dirty="0"/>
              <a:t>If E is a regular expression, L(E ) is the “language” </a:t>
            </a:r>
            <a:endParaRPr lang="en-US" altLang="en-US" sz="2200" dirty="0"/>
          </a:p>
          <a:p>
            <a:pPr marL="0" indent="0" eaLnBrk="1" hangingPunct="1">
              <a:lnSpc>
                <a:spcPct val="95000"/>
              </a:lnSpc>
              <a:buNone/>
            </a:pPr>
            <a:r>
              <a:rPr lang="en-US" altLang="en-US" sz="2200" dirty="0"/>
              <a:t>   (set of strings) generated by E</a:t>
            </a:r>
            <a:endParaRPr lang="en-US" altLang="en-US" sz="2200" dirty="0"/>
          </a:p>
          <a:p>
            <a:pPr eaLnBrk="1" hangingPunct="1">
              <a:lnSpc>
                <a:spcPct val="95000"/>
              </a:lnSpc>
            </a:pPr>
            <a:r>
              <a:rPr lang="en-US" altLang="en-US" sz="2200" dirty="0"/>
              <a:t>For Example – For each symbol ‘a’ in the alphabet of the language the regular expression {a} denotes the language containing just the string a ( Known as symbol)</a:t>
            </a:r>
            <a:endParaRPr lang="en-US" altLang="en-US" sz="2200" dirty="0"/>
          </a:p>
          <a:p>
            <a:pPr eaLnBrk="1" hangingPunct="1">
              <a:lnSpc>
                <a:spcPct val="95000"/>
              </a:lnSpc>
            </a:pPr>
            <a:r>
              <a:rPr lang="en-US" altLang="en-US" sz="2200" dirty="0"/>
              <a:t>A regular expression generated with empty sequence </a:t>
            </a:r>
            <a:r>
              <a:rPr lang="en-US" altLang="en-US" sz="2200" b="1" dirty="0"/>
              <a:t> </a:t>
            </a:r>
            <a:r>
              <a:rPr lang="el-GR" altLang="en-US" sz="2200" dirty="0">
                <a:latin typeface="Arial" panose="020B0704020202020204" pitchFamily="34" charset="0"/>
              </a:rPr>
              <a:t>λ</a:t>
            </a:r>
            <a:r>
              <a:rPr lang="en-US" altLang="en-US" sz="2200" dirty="0"/>
              <a:t> is denoted by </a:t>
            </a:r>
            <a:r>
              <a:rPr lang="el-GR" altLang="en-US" sz="2200" b="1" dirty="0">
                <a:solidFill>
                  <a:srgbClr val="9900FF"/>
                </a:solidFill>
              </a:rPr>
              <a:t>ε</a:t>
            </a:r>
            <a:endParaRPr lang="en-US" altLang="en-US" sz="2200" b="1" dirty="0">
              <a:solidFill>
                <a:srgbClr val="9900FF"/>
              </a:solidFill>
            </a:endParaRPr>
          </a:p>
          <a:p>
            <a:pPr lvl="1" eaLnBrk="1" hangingPunct="1">
              <a:lnSpc>
                <a:spcPct val="95000"/>
              </a:lnSpc>
            </a:pPr>
            <a:endParaRPr lang="el-GR" altLang="en-US" sz="2200" b="1" dirty="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6520" y="1340485"/>
            <a:ext cx="8775700" cy="5099050"/>
          </a:xfrm>
        </p:spPr>
        <p:txBody>
          <a:bodyPr/>
          <a:lstStyle/>
          <a:p>
            <a:r>
              <a:rPr lang="en-US" altLang="en-US" sz="2200" dirty="0"/>
              <a:t>Formal definition of Regular </a:t>
            </a:r>
            <a:r>
              <a:rPr lang="en-US" altLang="en-US" sz="2200" dirty="0" err="1"/>
              <a:t>expression:f</a:t>
            </a:r>
            <a:endParaRPr lang="en-US" altLang="en-US" sz="2200" dirty="0"/>
          </a:p>
          <a:p>
            <a:pPr lvl="2"/>
            <a:r>
              <a:rPr lang="en-US" altLang="en-US" sz="2200" dirty="0"/>
              <a:t>Given an alphabet         ,</a:t>
            </a:r>
            <a:endParaRPr lang="en-US" altLang="en-US" sz="2200" dirty="0"/>
          </a:p>
          <a:p>
            <a:pPr lvl="2"/>
            <a:r>
              <a:rPr lang="en-US" altLang="en-US" sz="2200" dirty="0"/>
              <a:t>(1)       is a regular expression that denote {     }, the set that contains the empty string.</a:t>
            </a:r>
            <a:endParaRPr lang="en-US" altLang="en-US" sz="2200" dirty="0"/>
          </a:p>
          <a:p>
            <a:pPr lvl="2"/>
            <a:r>
              <a:rPr lang="en-US" altLang="en-US" sz="2200" dirty="0"/>
              <a:t>(2) For each              , a is a regular expression denote {a}, </a:t>
            </a:r>
            <a:endParaRPr lang="en-US" altLang="en-US" sz="2200" dirty="0"/>
          </a:p>
          <a:p>
            <a:pPr marL="914400" lvl="2" indent="0">
              <a:buNone/>
            </a:pPr>
            <a:r>
              <a:rPr lang="en-US" altLang="en-US" sz="2200" dirty="0"/>
              <a:t>    the set containing the string a.</a:t>
            </a:r>
            <a:endParaRPr lang="en-US" altLang="en-US" sz="2200" dirty="0"/>
          </a:p>
          <a:p>
            <a:pPr lvl="2"/>
            <a:r>
              <a:rPr lang="en-US" altLang="en-US" sz="2200" dirty="0"/>
              <a:t>(3) r and s are regular expressions denoting the language </a:t>
            </a:r>
            <a:endParaRPr lang="en-US" altLang="en-US" sz="2200" dirty="0"/>
          </a:p>
          <a:p>
            <a:pPr marL="914400" lvl="2" indent="0">
              <a:buNone/>
            </a:pPr>
            <a:r>
              <a:rPr lang="en-US" altLang="en-US" sz="2200" dirty="0"/>
              <a:t>   (set) L(r ) and L(s ). Then</a:t>
            </a:r>
            <a:endParaRPr lang="en-US" altLang="en-US" sz="2200" dirty="0"/>
          </a:p>
          <a:p>
            <a:pPr lvl="3"/>
            <a:r>
              <a:rPr lang="en-US" altLang="en-US" sz="2200" dirty="0"/>
              <a:t>( r ) | ( s ) is a regular expression denoting  L( r ) U  L( s )</a:t>
            </a:r>
            <a:endParaRPr lang="en-US" altLang="en-US" sz="2200" dirty="0"/>
          </a:p>
          <a:p>
            <a:pPr lvl="3"/>
            <a:r>
              <a:rPr lang="en-US" altLang="en-US" sz="2200" dirty="0"/>
              <a:t>( r ) ( s )  is a regular expression denoting  L( r ) L ( s )</a:t>
            </a:r>
            <a:endParaRPr lang="en-US" altLang="en-US" sz="2200" dirty="0"/>
          </a:p>
          <a:p>
            <a:pPr lvl="3"/>
            <a:r>
              <a:rPr lang="en-US" altLang="en-US" sz="2200" dirty="0"/>
              <a:t>( r )*  is a regular expression denoting  (L ( r )) *</a:t>
            </a:r>
            <a:endParaRPr lang="en-US" altLang="en-US" sz="2200" dirty="0"/>
          </a:p>
          <a:p>
            <a:pPr lvl="2"/>
            <a:r>
              <a:rPr lang="en-US" altLang="en-US" sz="2200" dirty="0">
                <a:solidFill>
                  <a:srgbClr val="993300"/>
                </a:solidFill>
              </a:rPr>
              <a:t>Regular expression is defined together with the language it denotes.</a:t>
            </a:r>
            <a:r>
              <a:rPr lang="en-US" altLang="en-US" sz="2200" dirty="0"/>
              <a:t> </a:t>
            </a:r>
            <a:endParaRPr lang="en-US" altLang="en-US" sz="2200" dirty="0"/>
          </a:p>
        </p:txBody>
      </p:sp>
      <p:pic>
        <p:nvPicPr>
          <p:cNvPr id="7406" name="Picture 23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916430"/>
            <a:ext cx="5080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07" name="Picture 23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335" y="1992630"/>
            <a:ext cx="33020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08" name="Picture 24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70" y="2420620"/>
            <a:ext cx="33020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09" name="Picture 24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765" y="1916430"/>
            <a:ext cx="927100" cy="44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" y="1395095"/>
            <a:ext cx="8687435" cy="502348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let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dirty="0"/>
              <a:t>a | b 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dirty="0"/>
              <a:t>(a | b) (a | b)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dirty="0"/>
              <a:t>a *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dirty="0"/>
              <a:t>(a | b)*</a:t>
            </a:r>
            <a:endParaRPr lang="en-US" altLang="en-US" dirty="0"/>
          </a:p>
          <a:p>
            <a:pPr lvl="2">
              <a:buFontTx/>
              <a:buNone/>
            </a:pPr>
            <a:r>
              <a:rPr lang="en-US" altLang="en-US" dirty="0"/>
              <a:t>a | a*b</a:t>
            </a:r>
            <a:endParaRPr lang="en-US" altLang="en-US" dirty="0"/>
          </a:p>
          <a:p>
            <a:pPr lvl="1"/>
            <a:r>
              <a:rPr lang="en-US" altLang="en-US" sz="2400" dirty="0"/>
              <a:t>We assume that ‘*’ has the highest precedence and is  </a:t>
            </a:r>
            <a:endParaRPr lang="en-US" altLang="en-US" sz="2400" dirty="0"/>
          </a:p>
          <a:p>
            <a:pPr marL="457200" lvl="1" indent="0">
              <a:buNone/>
            </a:pPr>
            <a:r>
              <a:rPr lang="en-US" altLang="en-US" sz="2400" dirty="0"/>
              <a:t>left associative. Concatenation has second highest </a:t>
            </a:r>
            <a:endParaRPr lang="en-US" altLang="en-US" sz="2400" dirty="0"/>
          </a:p>
          <a:p>
            <a:pPr marL="457200" lvl="1" indent="0">
              <a:buNone/>
            </a:pPr>
            <a:r>
              <a:rPr lang="en-US" altLang="en-US" sz="2400" dirty="0"/>
              <a:t>precedence and is left associative and ‘|’ has the lowest  </a:t>
            </a:r>
            <a:endParaRPr lang="en-US" altLang="en-US" sz="2400" dirty="0"/>
          </a:p>
          <a:p>
            <a:pPr marL="457200" lvl="1" indent="0">
              <a:buNone/>
            </a:pPr>
            <a:r>
              <a:rPr lang="en-US" altLang="en-US" sz="2400" dirty="0"/>
              <a:t>precedence and is left associative</a:t>
            </a:r>
            <a:endParaRPr lang="en-US" altLang="en-US" sz="2400" dirty="0"/>
          </a:p>
          <a:p>
            <a:pPr lvl="2"/>
            <a:r>
              <a:rPr lang="en-US" altLang="en-US" dirty="0"/>
              <a:t>(a) | ((b)*(c ) ) = a | b*c  </a:t>
            </a:r>
            <a:endParaRPr lang="en-US" altLang="en-US" dirty="0"/>
          </a:p>
        </p:txBody>
      </p:sp>
      <p:pic>
        <p:nvPicPr>
          <p:cNvPr id="8253" name="Picture 6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484630"/>
            <a:ext cx="1244600" cy="46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2"/>
          <p:cNvSpPr txBox="1"/>
          <p:nvPr/>
        </p:nvSpPr>
        <p:spPr>
          <a:xfrm>
            <a:off x="395605" y="40449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dirty="0">
                <a:sym typeface="+mn-ea"/>
              </a:rPr>
              <a:t>Examples</a:t>
            </a:r>
            <a:endParaRPr lang="en-US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375385B2-C35F-4E09-BFBF-0D5A34AA071D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179070" y="332740"/>
            <a:ext cx="7426325" cy="563245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Operations with Regular Expressions</a:t>
            </a:r>
            <a:endParaRPr lang="en-US" altLang="en-US" sz="3200" b="1" dirty="0">
              <a:solidFill>
                <a:srgbClr val="FF0000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8753" y="1556068"/>
            <a:ext cx="8964612" cy="5688731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Given 2 regular expressions M &amp; N </a:t>
            </a:r>
            <a:endParaRPr lang="en-US" altLang="en-US" sz="2200" dirty="0"/>
          </a:p>
          <a:p>
            <a:pPr eaLnBrk="1" hangingPunct="1"/>
            <a:r>
              <a:rPr lang="en-US" altLang="en-US" sz="2200" b="1" dirty="0">
                <a:solidFill>
                  <a:srgbClr val="9900FF"/>
                </a:solidFill>
              </a:rPr>
              <a:t>Alternation ( d</a:t>
            </a:r>
            <a:r>
              <a:rPr lang="en-US" altLang="en-US" sz="2200" dirty="0">
                <a:solidFill>
                  <a:srgbClr val="9900FF"/>
                </a:solidFill>
              </a:rPr>
              <a:t>enoted by</a:t>
            </a:r>
            <a:r>
              <a:rPr lang="en-US" altLang="en-US" sz="2200" b="1" dirty="0">
                <a:solidFill>
                  <a:srgbClr val="9900FF"/>
                </a:solidFill>
              </a:rPr>
              <a:t>  | )</a:t>
            </a:r>
            <a:r>
              <a:rPr lang="en-US" altLang="en-US" sz="2200" b="1" dirty="0">
                <a:solidFill>
                  <a:srgbClr val="FFFF00"/>
                </a:solidFill>
              </a:rPr>
              <a:t>  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makes a new regular expression</a:t>
            </a:r>
            <a:r>
              <a:rPr lang="en-US" altLang="en-US" sz="2200" b="1" dirty="0">
                <a:solidFill>
                  <a:srgbClr val="FFFF00"/>
                </a:solidFill>
              </a:rPr>
              <a:t> </a:t>
            </a:r>
            <a:r>
              <a:rPr lang="en-US" altLang="en-US" sz="2200" b="1" dirty="0"/>
              <a:t>M | N </a:t>
            </a:r>
            <a:r>
              <a:rPr lang="en-US" altLang="en-US" sz="2200" dirty="0"/>
              <a:t>denoting a</a:t>
            </a:r>
            <a:endParaRPr lang="en-US" altLang="en-US" sz="22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 UNION” of languages L(M) and L(N). { L(M)      </a:t>
            </a:r>
            <a:r>
              <a:rPr lang="en-US" altLang="en-US" sz="2200" dirty="0">
                <a:latin typeface="Arial" panose="020B0704020202020204" pitchFamily="34" charset="0"/>
              </a:rPr>
              <a:t>L(N) }</a:t>
            </a:r>
            <a:endParaRPr lang="en-US" altLang="en-US" sz="2200" dirty="0">
              <a:latin typeface="Arial" panose="020B0704020202020204" pitchFamily="34" charset="0"/>
            </a:endParaRPr>
          </a:p>
          <a:p>
            <a:pPr eaLnBrk="1" hangingPunct="1"/>
            <a:r>
              <a:rPr lang="en-US" altLang="en-US" sz="2200" b="1" dirty="0">
                <a:solidFill>
                  <a:srgbClr val="9900FF"/>
                </a:solidFill>
              </a:rPr>
              <a:t>Concatenation ( </a:t>
            </a:r>
            <a:r>
              <a:rPr lang="en-US" altLang="en-US" sz="2200" dirty="0">
                <a:solidFill>
                  <a:srgbClr val="9900FF"/>
                </a:solidFill>
              </a:rPr>
              <a:t>denoted by</a:t>
            </a:r>
            <a:r>
              <a:rPr lang="en-US" altLang="en-US" sz="2200" b="1" dirty="0">
                <a:solidFill>
                  <a:srgbClr val="9900FF"/>
                </a:solidFill>
              </a:rPr>
              <a:t> . Or  )</a:t>
            </a:r>
            <a:endParaRPr lang="en-US" altLang="en-US" sz="2200" b="1" dirty="0">
              <a:solidFill>
                <a:srgbClr val="9900FF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dirty="0"/>
              <a:t>	makes a new regular expression MN denoting a language L(M) followed by L(N).</a:t>
            </a:r>
            <a:endParaRPr lang="en-US" altLang="en-US" sz="2200" dirty="0"/>
          </a:p>
          <a:p>
            <a:pPr eaLnBrk="1" hangingPunct="1"/>
            <a:r>
              <a:rPr lang="en-US" altLang="en-US" sz="2200" dirty="0"/>
              <a:t>The</a:t>
            </a:r>
            <a:r>
              <a:rPr lang="en-US" altLang="en-US" sz="2200" b="1" dirty="0">
                <a:solidFill>
                  <a:srgbClr val="FFFF00"/>
                </a:solidFill>
              </a:rPr>
              <a:t> </a:t>
            </a:r>
            <a:r>
              <a:rPr lang="en-US" altLang="en-US" sz="2200" b="1" dirty="0" err="1">
                <a:solidFill>
                  <a:srgbClr val="9900FF"/>
                </a:solidFill>
              </a:rPr>
              <a:t>Repetiton</a:t>
            </a:r>
            <a:r>
              <a:rPr lang="en-US" altLang="en-US" sz="2200" b="1" dirty="0">
                <a:solidFill>
                  <a:srgbClr val="9900FF"/>
                </a:solidFill>
              </a:rPr>
              <a:t> ( </a:t>
            </a:r>
            <a:r>
              <a:rPr lang="en-US" altLang="en-US" sz="2200" dirty="0">
                <a:solidFill>
                  <a:srgbClr val="9900FF"/>
                </a:solidFill>
              </a:rPr>
              <a:t>denoted y</a:t>
            </a:r>
            <a:r>
              <a:rPr lang="en-US" altLang="en-US" sz="2200" b="1" dirty="0">
                <a:solidFill>
                  <a:srgbClr val="9900FF"/>
                </a:solidFill>
              </a:rPr>
              <a:t>  * )</a:t>
            </a:r>
            <a:r>
              <a:rPr lang="en-US" altLang="en-US" sz="2200" b="1" dirty="0">
                <a:solidFill>
                  <a:srgbClr val="FFFF00"/>
                </a:solidFill>
              </a:rPr>
              <a:t> 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pPr marL="0" indent="0" eaLnBrk="1" hangingPunct="1">
              <a:buNone/>
            </a:pPr>
            <a:r>
              <a:rPr lang="en-US" altLang="en-US" sz="2200" dirty="0"/>
              <a:t>makes a new expression denoting a language that </a:t>
            </a:r>
            <a:endParaRPr lang="en-US" altLang="en-US" sz="2200" dirty="0"/>
          </a:p>
          <a:p>
            <a:pPr marL="0" indent="0" eaLnBrk="1" hangingPunct="1">
              <a:buNone/>
            </a:pPr>
            <a:r>
              <a:rPr lang="en-US" altLang="en-US" sz="2200" dirty="0"/>
              <a:t>has 0 or more occurrences (</a:t>
            </a:r>
            <a:r>
              <a:rPr lang="en-US" altLang="en-US" sz="2200" dirty="0" err="1"/>
              <a:t>Kleene</a:t>
            </a:r>
            <a:r>
              <a:rPr lang="en-US" altLang="en-US" sz="2200" dirty="0"/>
              <a:t> closure) of L(M)* </a:t>
            </a:r>
            <a:endParaRPr lang="en-US" altLang="en-US" sz="2200" dirty="0"/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2636912"/>
            <a:ext cx="576262" cy="525462"/>
          </a:xfrm>
          <a:prstGeom prst="rect">
            <a:avLst/>
          </a:prstGeom>
          <a:noFill/>
          <a:ln w="9525">
            <a:solidFill>
              <a:srgbClr val="B3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4B0B6309-F479-4023-ABE9-2892953B8B41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476250"/>
            <a:ext cx="8229600" cy="508000"/>
          </a:xfrm>
        </p:spPr>
        <p:txBody>
          <a:bodyPr/>
          <a:lstStyle/>
          <a:p>
            <a:pPr algn="l" eaLnBrk="1" hangingPunct="1"/>
            <a:r>
              <a:rPr lang="en-US" altLang="en-US" sz="3200" dirty="0">
                <a:solidFill>
                  <a:srgbClr val="FF0000"/>
                </a:solidFill>
              </a:rPr>
              <a:t>Regular Expression Example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75" y="1312545"/>
            <a:ext cx="8895080" cy="397954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solidFill>
                  <a:srgbClr val="006600"/>
                </a:solidFill>
              </a:rPr>
              <a:t>Expression</a:t>
            </a:r>
            <a:r>
              <a:rPr lang="en-US" altLang="en-US" sz="2400" dirty="0">
                <a:solidFill>
                  <a:srgbClr val="00FF00"/>
                </a:solidFill>
              </a:rPr>
              <a:t>    </a:t>
            </a:r>
            <a:r>
              <a:rPr lang="en-US" altLang="en-US" sz="2400" dirty="0">
                <a:solidFill>
                  <a:srgbClr val="006600"/>
                </a:solidFill>
              </a:rPr>
              <a:t>Language</a:t>
            </a:r>
            <a:r>
              <a:rPr lang="en-US" altLang="en-US" sz="2400" dirty="0">
                <a:solidFill>
                  <a:srgbClr val="00FF00"/>
                </a:solidFill>
              </a:rPr>
              <a:t>                </a:t>
            </a:r>
            <a:r>
              <a:rPr lang="en-US" altLang="en-US" sz="2400" dirty="0">
                <a:solidFill>
                  <a:srgbClr val="006600"/>
                </a:solidFill>
              </a:rPr>
              <a:t>Example Words</a:t>
            </a:r>
            <a:endParaRPr lang="en-US" altLang="en-US" sz="2400" dirty="0">
              <a:solidFill>
                <a:srgbClr val="0066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a | b              { a, b } 	      	a , b</a:t>
            </a: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</a:t>
            </a:r>
            <a:r>
              <a:rPr lang="en-US" altLang="en-US" sz="2400" dirty="0" err="1"/>
              <a:t>ab</a:t>
            </a:r>
            <a:r>
              <a:rPr lang="en-US" altLang="en-US" sz="2400" dirty="0"/>
              <a:t> * a	 {a} {b} * {a)        	</a:t>
            </a:r>
            <a:r>
              <a:rPr lang="en-US" altLang="en-US" sz="2400" dirty="0" err="1"/>
              <a:t>aa</a:t>
            </a:r>
            <a:r>
              <a:rPr lang="en-US" altLang="en-US" sz="2400" dirty="0"/>
              <a:t> , aba , </a:t>
            </a:r>
            <a:r>
              <a:rPr lang="en-US" altLang="en-US" sz="2400" dirty="0" err="1"/>
              <a:t>abba</a:t>
            </a:r>
            <a:r>
              <a:rPr lang="en-US" altLang="en-US" sz="2400" dirty="0"/>
              <a:t> , </a:t>
            </a:r>
            <a:r>
              <a:rPr lang="en-US" altLang="en-US" sz="2400" dirty="0" err="1"/>
              <a:t>abbba</a:t>
            </a:r>
            <a:r>
              <a:rPr lang="en-US" altLang="en-US" sz="2400" dirty="0"/>
              <a:t> </a:t>
            </a: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(</a:t>
            </a:r>
            <a:r>
              <a:rPr lang="en-US" altLang="en-US" sz="2400" dirty="0" err="1"/>
              <a:t>ab</a:t>
            </a:r>
            <a:r>
              <a:rPr lang="en-US" altLang="en-US" sz="2400" dirty="0"/>
              <a:t>)*             { </a:t>
            </a:r>
            <a:r>
              <a:rPr lang="en-US" altLang="en-US" sz="2400" dirty="0" err="1"/>
              <a:t>ab</a:t>
            </a:r>
            <a:r>
              <a:rPr lang="en-US" altLang="en-US" sz="2400" dirty="0"/>
              <a:t>} * 		</a:t>
            </a:r>
            <a:r>
              <a:rPr lang="el-GR" altLang="en-US" sz="2400" dirty="0"/>
              <a:t>ε</a:t>
            </a:r>
            <a:r>
              <a:rPr lang="en-US" altLang="en-US" sz="2400" dirty="0"/>
              <a:t> , </a:t>
            </a:r>
            <a:r>
              <a:rPr lang="en-US" altLang="en-US" sz="2400" dirty="0" err="1"/>
              <a:t>ab</a:t>
            </a:r>
            <a:r>
              <a:rPr lang="en-US" altLang="en-US" sz="2400" dirty="0"/>
              <a:t> , </a:t>
            </a:r>
            <a:r>
              <a:rPr lang="en-US" altLang="en-US" sz="2400" dirty="0" err="1"/>
              <a:t>abab</a:t>
            </a:r>
            <a:r>
              <a:rPr lang="en-US" altLang="en-US" sz="2400" dirty="0"/>
              <a:t> , </a:t>
            </a:r>
            <a:r>
              <a:rPr lang="en-US" altLang="en-US" sz="2400" dirty="0" err="1"/>
              <a:t>ababab</a:t>
            </a:r>
            <a:r>
              <a:rPr lang="en-US" altLang="en-US" sz="2400" dirty="0"/>
              <a:t> , …</a:t>
            </a: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 </a:t>
            </a:r>
            <a:r>
              <a:rPr lang="en-US" altLang="en-US" sz="2400" dirty="0" err="1"/>
              <a:t>abba</a:t>
            </a:r>
            <a:r>
              <a:rPr lang="en-US" altLang="en-US" sz="2400" dirty="0"/>
              <a:t>            { </a:t>
            </a:r>
            <a:r>
              <a:rPr lang="en-US" altLang="en-US" sz="2400" dirty="0" err="1"/>
              <a:t>abba</a:t>
            </a:r>
            <a:r>
              <a:rPr lang="en-US" altLang="en-US" sz="2400" dirty="0"/>
              <a:t> }              	</a:t>
            </a:r>
            <a:r>
              <a:rPr lang="en-US" altLang="en-US" sz="2400" dirty="0" err="1"/>
              <a:t>abba</a:t>
            </a: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/>
              <a:t> (0 | 1) * 0       { {0} {1} } * {0}       	0 , 00 , 10,  010, 110, </a:t>
            </a:r>
            <a:r>
              <a:rPr lang="en-US" altLang="en-US" dirty="0"/>
              <a:t>                                                   </a:t>
            </a:r>
            <a:r>
              <a:rPr lang="en-US" altLang="en-US" sz="2400" dirty="0"/>
              <a:t>( All binary Even numbers)</a:t>
            </a: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b*(abb*)*(a | ε)   Strings of a and b with NO consecutive a</a:t>
            </a:r>
            <a:endParaRPr lang="en-US" altLang="en-US" dirty="0"/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0" y="5457825"/>
            <a:ext cx="9144000" cy="1054735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lnSpc>
                <a:spcPct val="95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Similarly, using symbols,  | , . ,* and </a:t>
            </a:r>
            <a:r>
              <a:rPr lang="el-GR" altLang="en-US" sz="2200" b="1" dirty="0"/>
              <a:t>ε</a:t>
            </a:r>
            <a:r>
              <a:rPr lang="en-US" altLang="en-US" sz="2200" b="1" dirty="0"/>
              <a:t>, </a:t>
            </a:r>
            <a:r>
              <a:rPr lang="en-US" altLang="en-US" sz="2200" dirty="0"/>
              <a:t> we can specify the regular expressions corresponding to the  lexical tokens of a programming language using rules ( A.k.a. </a:t>
            </a:r>
            <a:r>
              <a:rPr lang="en-US" altLang="en-US" sz="2200" dirty="0">
                <a:solidFill>
                  <a:srgbClr val="FFFF00"/>
                </a:solidFill>
              </a:rPr>
              <a:t>Productions</a:t>
            </a:r>
            <a:r>
              <a:rPr lang="en-US" altLang="en-US" sz="2200" dirty="0"/>
              <a:t>)</a:t>
            </a:r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3000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26628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5DD26F95-2336-424C-A920-E01EB1D6E7A1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" y="31115"/>
            <a:ext cx="6800215" cy="595630"/>
          </a:xfrm>
        </p:spPr>
        <p:txBody>
          <a:bodyPr/>
          <a:lstStyle/>
          <a:p>
            <a:pPr eaLnBrk="1" hangingPunct="1"/>
            <a:r>
              <a:rPr lang="en-US" altLang="en-US" sz="3000" b="1" dirty="0">
                <a:solidFill>
                  <a:srgbClr val="FF0000"/>
                </a:solidFill>
              </a:rPr>
              <a:t>Table of Operators &amp; Abbreviations</a:t>
            </a:r>
            <a:endParaRPr lang="en-US" altLang="en-US" sz="3000" b="1" dirty="0">
              <a:solidFill>
                <a:srgbClr val="FF0000"/>
              </a:solidFill>
            </a:endParaRP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1314450" y="5861050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Stands for a single character ( except New line)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0" y="5861050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000000"/>
                </a:solidFill>
              </a:rPr>
              <a:t>.</a:t>
            </a:r>
            <a:endParaRPr lang="en-US" altLang="en-US" sz="2800" b="1">
              <a:solidFill>
                <a:srgbClr val="000000"/>
              </a:solidFill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1314450" y="5343525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One of the given characters (a|b|x|y|z) 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0" y="5343525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[abxyz]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1314450" y="4826000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Character set alteration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0" y="4826000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[a–z A–z ]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1314450" y="4308475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Optional (Zero or one Occurrence of M)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0" y="4308475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M?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1314450" y="3790950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Repetition ( one or more times)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0" y="3790950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M</a:t>
            </a:r>
            <a:r>
              <a:rPr lang="en-US" altLang="en-US" sz="2800" baseline="30000">
                <a:solidFill>
                  <a:srgbClr val="000000"/>
                </a:solidFill>
              </a:rPr>
              <a:t>+</a:t>
            </a:r>
            <a:endParaRPr lang="en-US" altLang="en-US" sz="2800" baseline="30000">
              <a:solidFill>
                <a:srgbClr val="000000"/>
              </a:solidFill>
            </a:endParaRP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1314450" y="3273425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Repetition ( Zero or more Times)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0" y="3273425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M*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1314450" y="2755900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Concatenation : An M followed by N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0" y="2755900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MN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1314450" y="2238375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Alternation; Choosing from M  OR  N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0" y="2238375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M | N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1314450" y="1720850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The empty String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0" y="1720850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l-GR" altLang="en-US" sz="2800">
                <a:solidFill>
                  <a:srgbClr val="000000"/>
                </a:solidFill>
              </a:rPr>
              <a:t>ε</a:t>
            </a:r>
            <a:endParaRPr lang="el-GR" altLang="en-US" sz="2800">
              <a:solidFill>
                <a:srgbClr val="000000"/>
              </a:solidFill>
            </a:endParaRPr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1314450" y="1203325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An ordinary character that stands for itself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0" y="1203325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a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1314450" y="685800"/>
            <a:ext cx="7829550" cy="517525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FFFFFF"/>
                </a:solidFill>
              </a:rPr>
              <a:t>Description</a:t>
            </a:r>
            <a:endParaRPr lang="en-US" altLang="en-US" sz="2800" b="1">
              <a:solidFill>
                <a:srgbClr val="FFFFFF"/>
              </a:solidFill>
            </a:endParaRPr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0" y="685800"/>
            <a:ext cx="1722438" cy="517525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FFFFFF"/>
                </a:solidFill>
              </a:rPr>
              <a:t>Notation</a:t>
            </a:r>
            <a:endParaRPr lang="en-US" altLang="en-US" sz="2800" b="1">
              <a:solidFill>
                <a:srgbClr val="FFFFFF"/>
              </a:solidFill>
            </a:endParaRP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1314450" y="6373813"/>
            <a:ext cx="7829550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Quotation: A string in quotes stands for itself literally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0" y="6373813"/>
            <a:ext cx="1722438" cy="5175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‘a.</a:t>
            </a:r>
            <a:r>
              <a:rPr lang="en-US" altLang="en-US" sz="2800" baseline="30000">
                <a:solidFill>
                  <a:srgbClr val="000000"/>
                </a:solidFill>
              </a:rPr>
              <a:t>+</a:t>
            </a:r>
            <a:r>
              <a:rPr lang="en-US" altLang="en-US" sz="2800">
                <a:solidFill>
                  <a:srgbClr val="000000"/>
                </a:solidFill>
              </a:rPr>
              <a:t>*’</a:t>
            </a:r>
            <a:endParaRPr lang="en-US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10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 animBg="1"/>
      <p:bldP spid="27653" grpId="0" animBg="1"/>
      <p:bldP spid="27654" grpId="0" animBg="1"/>
      <p:bldP spid="27655" grpId="0" animBg="1"/>
      <p:bldP spid="27656" grpId="0" animBg="1"/>
      <p:bldP spid="27657" grpId="0" animBg="1"/>
      <p:bldP spid="27658" grpId="0" animBg="1"/>
      <p:bldP spid="27659" grpId="0" animBg="1"/>
      <p:bldP spid="27660" grpId="0" animBg="1"/>
      <p:bldP spid="27661" grpId="0" animBg="1"/>
      <p:bldP spid="27662" grpId="0" animBg="1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 animBg="1"/>
      <p:bldP spid="2767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4273550" cy="648335"/>
          </a:xfrm>
        </p:spPr>
        <p:txBody>
          <a:bodyPr/>
          <a:lstStyle/>
          <a:p>
            <a:r>
              <a:rPr lang="en-US" sz="3400" b="1" dirty="0">
                <a:solidFill>
                  <a:srgbClr val="FF0000"/>
                </a:solidFill>
              </a:rPr>
              <a:t>Problems</a:t>
            </a:r>
            <a:endParaRPr lang="en-US" sz="3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600200"/>
            <a:ext cx="8363272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Design Regular expression for the following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Languages.</a:t>
            </a:r>
            <a:endParaRPr lang="en-US" sz="2600" dirty="0"/>
          </a:p>
          <a:p>
            <a:pPr marL="514350" indent="-514350">
              <a:buAutoNum type="arabicParenR"/>
            </a:pPr>
            <a:r>
              <a:rPr lang="en-US" sz="2600" dirty="0"/>
              <a:t>L = {w ϵ {a, b} * : every a in w is immediately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           preceded  and followed by b}.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2) L = {w ϵ {a, b} * : |w| is even}.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3) L = {w ϵ {0, 1} * : the third character is 0}.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4) L = {w ϵ {a, b} * :w contains an odd number of     	     a’s}.</a:t>
            </a:r>
            <a:r>
              <a:rPr lang="en-US" sz="2600" dirty="0"/>
              <a:t>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3290" cy="4526280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5) L = {w ϵ {0, 1} * </a:t>
            </a:r>
            <a:r>
              <a:rPr lang="en-US" sz="2600" dirty="0" err="1"/>
              <a:t>atmost</a:t>
            </a:r>
            <a:r>
              <a:rPr lang="en-US" sz="2600" dirty="0"/>
              <a:t> one pair consecutive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             1’s}.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6) L = {w ϵ {a, b} * : more than two letters with                   	    beginning and ending same letters}.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7) L = {w ϵ {0, 1} * : every pair of adjacent 0’s              	       appears before any pair of adjacent 1’s}.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8) L = {w ϵ {0, 1} * :length of w is odd }. 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2532380" cy="777875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Solution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sz="2500" dirty="0"/>
              <a:t>(b </a:t>
            </a:r>
            <a:r>
              <a:rPr lang="en-US" altLang="en-US" sz="2500" dirty="0"/>
              <a:t>| </a:t>
            </a:r>
            <a:r>
              <a:rPr lang="en-US" altLang="en-US" sz="2500" dirty="0" err="1"/>
              <a:t>bab</a:t>
            </a:r>
            <a:r>
              <a:rPr lang="en-US" altLang="en-US" sz="2500" dirty="0"/>
              <a:t>)*</a:t>
            </a:r>
            <a:endParaRPr lang="en-US" altLang="en-US" sz="2500" dirty="0"/>
          </a:p>
          <a:p>
            <a:pPr marL="0" indent="0">
              <a:buNone/>
            </a:pPr>
            <a:r>
              <a:rPr lang="en-US" sz="2500" dirty="0"/>
              <a:t>2) ((a </a:t>
            </a:r>
            <a:r>
              <a:rPr lang="en-US" altLang="en-US" sz="2500" dirty="0"/>
              <a:t>| b) (a |b))*  or (</a:t>
            </a:r>
            <a:r>
              <a:rPr lang="en-US" altLang="en-US" sz="2500" dirty="0" err="1"/>
              <a:t>aa</a:t>
            </a:r>
            <a:r>
              <a:rPr lang="en-US" altLang="en-US" sz="2500" dirty="0"/>
              <a:t> |</a:t>
            </a:r>
            <a:r>
              <a:rPr lang="en-US" altLang="en-US" sz="2500" dirty="0" err="1"/>
              <a:t>ab</a:t>
            </a:r>
            <a:r>
              <a:rPr lang="en-US" altLang="en-US" sz="2500" dirty="0"/>
              <a:t> |</a:t>
            </a:r>
            <a:r>
              <a:rPr lang="en-US" altLang="en-US" sz="2500" dirty="0" err="1"/>
              <a:t>ba</a:t>
            </a:r>
            <a:r>
              <a:rPr lang="en-US" altLang="en-US" sz="2500" dirty="0"/>
              <a:t> |bb)*</a:t>
            </a:r>
            <a:endParaRPr lang="en-US" altLang="en-US" sz="2500" dirty="0"/>
          </a:p>
          <a:p>
            <a:pPr marL="0" indent="0">
              <a:buNone/>
            </a:pPr>
            <a:r>
              <a:rPr lang="en-US" sz="2500" dirty="0"/>
              <a:t>3) (0 </a:t>
            </a:r>
            <a:r>
              <a:rPr lang="en-US" altLang="en-US" sz="2500" dirty="0"/>
              <a:t>|1) </a:t>
            </a:r>
            <a:r>
              <a:rPr lang="en-US" sz="2500" dirty="0"/>
              <a:t>(0 </a:t>
            </a:r>
            <a:r>
              <a:rPr lang="en-US" altLang="en-US" sz="2500" dirty="0"/>
              <a:t>|1) 0 </a:t>
            </a:r>
            <a:r>
              <a:rPr lang="en-US" sz="2500" dirty="0"/>
              <a:t>(0 </a:t>
            </a:r>
            <a:r>
              <a:rPr lang="en-US" altLang="en-US" sz="2500" dirty="0"/>
              <a:t>|1)*</a:t>
            </a:r>
            <a:endParaRPr lang="en-US" altLang="en-US" sz="2500" dirty="0"/>
          </a:p>
          <a:p>
            <a:pPr marL="0" indent="0">
              <a:buNone/>
            </a:pPr>
            <a:r>
              <a:rPr lang="en-US" sz="2500" dirty="0"/>
              <a:t>4)b*(</a:t>
            </a:r>
            <a:r>
              <a:rPr lang="en-US" sz="2500" dirty="0" err="1"/>
              <a:t>ab</a:t>
            </a:r>
            <a:r>
              <a:rPr lang="en-US" sz="2500" dirty="0"/>
              <a:t>*</a:t>
            </a:r>
            <a:r>
              <a:rPr lang="en-US" sz="2500" dirty="0" err="1"/>
              <a:t>ab</a:t>
            </a:r>
            <a:r>
              <a:rPr lang="en-US" sz="2500" dirty="0"/>
              <a:t>*)* a b*  or   b*a b* (</a:t>
            </a:r>
            <a:r>
              <a:rPr lang="en-US" sz="2500" dirty="0" err="1"/>
              <a:t>ab</a:t>
            </a:r>
            <a:r>
              <a:rPr lang="en-US" sz="2500" dirty="0"/>
              <a:t>*</a:t>
            </a:r>
            <a:r>
              <a:rPr lang="en-US" sz="2500" dirty="0" err="1"/>
              <a:t>ab</a:t>
            </a:r>
            <a:r>
              <a:rPr lang="en-US" sz="2500" dirty="0"/>
              <a:t>*)* 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5) (1 </a:t>
            </a:r>
            <a:r>
              <a:rPr lang="en-US" altLang="en-US" sz="2500" dirty="0"/>
              <a:t>| 01)* 00 1*</a:t>
            </a:r>
            <a:endParaRPr lang="en-US" altLang="en-US" sz="2500" dirty="0"/>
          </a:p>
          <a:p>
            <a:pPr marL="0" indent="0">
              <a:buNone/>
            </a:pPr>
            <a:r>
              <a:rPr lang="en-US" sz="2500" dirty="0"/>
              <a:t>6) a (a </a:t>
            </a:r>
            <a:r>
              <a:rPr lang="en-US" altLang="en-US" sz="2500" dirty="0"/>
              <a:t>| b)* a |  b (a |b)* b</a:t>
            </a:r>
            <a:endParaRPr lang="en-US" altLang="en-US" sz="2500" dirty="0"/>
          </a:p>
          <a:p>
            <a:pPr marL="0" indent="0">
              <a:buNone/>
            </a:pPr>
            <a:r>
              <a:rPr lang="en-US" sz="2500" dirty="0"/>
              <a:t>7) (1 </a:t>
            </a:r>
            <a:r>
              <a:rPr lang="en-US" altLang="en-US" sz="2500" dirty="0"/>
              <a:t>| 01 )* ( 0 | </a:t>
            </a:r>
            <a:r>
              <a:rPr lang="en-US" sz="2500" dirty="0"/>
              <a:t>ϵ</a:t>
            </a:r>
            <a:r>
              <a:rPr lang="en-US" sz="2500"/>
              <a:t>)  (</a:t>
            </a:r>
            <a:r>
              <a:rPr lang="en-US" sz="2500" dirty="0"/>
              <a:t>0 </a:t>
            </a:r>
            <a:r>
              <a:rPr lang="en-US" altLang="en-US" sz="2500" dirty="0"/>
              <a:t>| 10</a:t>
            </a:r>
            <a:r>
              <a:rPr lang="en-US" altLang="en-US" sz="2500"/>
              <a:t>)* (1 | </a:t>
            </a:r>
            <a:r>
              <a:rPr lang="en-US" sz="2500"/>
              <a:t>ϵ)</a:t>
            </a:r>
            <a:endParaRPr lang="en-US" sz="2500" dirty="0"/>
          </a:p>
          <a:p>
            <a:pPr marL="0" indent="0">
              <a:buNone/>
            </a:pPr>
            <a:r>
              <a:rPr lang="en-US" sz="2500" dirty="0"/>
              <a:t>8)  (</a:t>
            </a:r>
            <a:r>
              <a:rPr lang="en-US" sz="2500" dirty="0" err="1"/>
              <a:t>ab</a:t>
            </a:r>
            <a:r>
              <a:rPr lang="en-US" sz="2500" dirty="0"/>
              <a:t> </a:t>
            </a:r>
            <a:r>
              <a:rPr lang="en-US" altLang="en-US" sz="2500" dirty="0"/>
              <a:t>| </a:t>
            </a:r>
            <a:r>
              <a:rPr lang="en-US" altLang="en-US" sz="2500" dirty="0" err="1"/>
              <a:t>ba</a:t>
            </a:r>
            <a:r>
              <a:rPr lang="en-US" altLang="en-US" sz="2500" dirty="0"/>
              <a:t> |</a:t>
            </a:r>
            <a:r>
              <a:rPr lang="en-US" altLang="en-US" sz="2500" dirty="0" err="1"/>
              <a:t>aa</a:t>
            </a:r>
            <a:r>
              <a:rPr lang="en-US" altLang="en-US" sz="2500" dirty="0"/>
              <a:t> |bb)*  (a | b)</a:t>
            </a:r>
            <a:endParaRPr lang="en-US" alt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B853A39F-3834-4E2B-A1C8-F422D6D9AD76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5291138" y="5661025"/>
            <a:ext cx="322262" cy="701675"/>
          </a:xfrm>
          <a:prstGeom prst="rect">
            <a:avLst/>
          </a:prstGeom>
          <a:solidFill>
            <a:srgbClr val="F779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rgbClr val="000000"/>
                </a:solidFill>
              </a:rPr>
              <a:t>]</a:t>
            </a:r>
            <a:endParaRPr lang="en-US" altLang="en-US" sz="4000" b="1">
              <a:solidFill>
                <a:srgbClr val="000000"/>
              </a:solidFill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338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rgbClr val="FF0000"/>
                </a:solidFill>
              </a:rPr>
              <a:t>Regular Expression Construction</a:t>
            </a:r>
            <a:endParaRPr lang="en-US" altLang="en-US" sz="3200" b="1" dirty="0">
              <a:solidFill>
                <a:srgbClr val="FF0000"/>
              </a:solidFill>
            </a:endParaRP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388" y="766222"/>
            <a:ext cx="8964612" cy="4678586"/>
          </a:xfrm>
        </p:spPr>
        <p:txBody>
          <a:bodyPr/>
          <a:lstStyle/>
          <a:p>
            <a:pPr marL="351155" indent="-351155" eaLnBrk="1" hangingPunct="1">
              <a:lnSpc>
                <a:spcPct val="110000"/>
              </a:lnSpc>
            </a:pPr>
            <a:r>
              <a:rPr lang="en-US" altLang="en-US" sz="2400" dirty="0">
                <a:solidFill>
                  <a:schemeClr val="folHlink"/>
                </a:solidFill>
              </a:rPr>
              <a:t>Problem</a:t>
            </a:r>
            <a:r>
              <a:rPr lang="en-US" altLang="en-US" sz="2400" dirty="0"/>
              <a:t> : Specify a set of unsigned numbers as a </a:t>
            </a:r>
            <a:endParaRPr lang="en-US" altLang="en-US" sz="2400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en-US" sz="2400" dirty="0"/>
              <a:t>regular expression. (Examples: 1997, 19.97)</a:t>
            </a:r>
            <a:endParaRPr lang="en-US" altLang="en-US" sz="2400" dirty="0"/>
          </a:p>
          <a:p>
            <a:pPr marL="351155" indent="-351155" eaLnBrk="1" hangingPunct="1">
              <a:lnSpc>
                <a:spcPct val="110000"/>
              </a:lnSpc>
            </a:pPr>
            <a:r>
              <a:rPr lang="en-US" altLang="en-US" sz="2400" dirty="0"/>
              <a:t>Observations on numbers: </a:t>
            </a:r>
            <a:endParaRPr lang="en-US" altLang="en-US" sz="2400" dirty="0"/>
          </a:p>
          <a:p>
            <a:pPr marL="854075" lvl="1" indent="-389255" eaLnBrk="1" hangingPunct="1">
              <a:lnSpc>
                <a:spcPct val="110000"/>
              </a:lnSpc>
              <a:buFontTx/>
              <a:buAutoNum type="arabicPeriod"/>
            </a:pPr>
            <a:r>
              <a:rPr lang="en-US" altLang="en-US" sz="2400" dirty="0"/>
              <a:t>Could be made up of one or more digits from set  </a:t>
            </a:r>
            <a:endParaRPr lang="en-US" altLang="en-US" sz="2400" dirty="0"/>
          </a:p>
          <a:p>
            <a:pPr marL="464820" lvl="1" indent="0" eaLnBrk="1" hangingPunct="1">
              <a:lnSpc>
                <a:spcPct val="110000"/>
              </a:lnSpc>
              <a:buNone/>
            </a:pPr>
            <a:r>
              <a:rPr lang="en-US" altLang="en-US" sz="2400" dirty="0"/>
              <a:t>      (0 – 9)</a:t>
            </a:r>
            <a:endParaRPr lang="en-US" altLang="en-US" sz="2400" dirty="0"/>
          </a:p>
          <a:p>
            <a:pPr marL="464820" lvl="1" indent="0" eaLnBrk="1" hangingPunct="1">
              <a:lnSpc>
                <a:spcPct val="110000"/>
              </a:lnSpc>
              <a:buNone/>
            </a:pPr>
            <a:r>
              <a:rPr lang="en-US" altLang="en-US" sz="2400" dirty="0"/>
              <a:t>2. Optionally Can have a decimal point in the end</a:t>
            </a:r>
            <a:endParaRPr lang="en-US" altLang="en-US" sz="2400" dirty="0"/>
          </a:p>
          <a:p>
            <a:pPr marL="464820" lvl="1" indent="0" eaLnBrk="1" hangingPunct="1">
              <a:lnSpc>
                <a:spcPct val="110000"/>
              </a:lnSpc>
              <a:buNone/>
            </a:pPr>
            <a:r>
              <a:rPr lang="en-US" altLang="en-US" sz="2400" dirty="0"/>
              <a:t>   followed by 0 or more digits “.”(0 – 9)* </a:t>
            </a:r>
            <a:endParaRPr lang="en-US" altLang="en-US" sz="2400" dirty="0"/>
          </a:p>
          <a:p>
            <a:pPr marL="464820" lvl="1" indent="0" eaLnBrk="1" hangingPunct="1">
              <a:lnSpc>
                <a:spcPct val="110000"/>
              </a:lnSpc>
              <a:buNone/>
            </a:pPr>
            <a:r>
              <a:rPr lang="en-US" altLang="en-US" sz="2400" dirty="0"/>
              <a:t>3. A number can also start with a Point followed by one or </a:t>
            </a:r>
            <a:endParaRPr lang="en-US" altLang="en-US" sz="2400" dirty="0"/>
          </a:p>
          <a:p>
            <a:pPr marL="464820" lvl="1" indent="0" eaLnBrk="1" hangingPunct="1">
              <a:lnSpc>
                <a:spcPct val="110000"/>
              </a:lnSpc>
              <a:buNone/>
            </a:pPr>
            <a:r>
              <a:rPr lang="en-US" altLang="en-US" sz="2400" dirty="0"/>
              <a:t>   more digits</a:t>
            </a:r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627313" y="5661025"/>
            <a:ext cx="2727325" cy="701675"/>
          </a:xfrm>
          <a:prstGeom prst="rect">
            <a:avLst/>
          </a:prstGeom>
          <a:solidFill>
            <a:srgbClr val="F779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000000"/>
                </a:solidFill>
              </a:rPr>
              <a:t>[“.”(0 – 9)*] ?</a:t>
            </a:r>
            <a:endParaRPr lang="en-US" altLang="en-US" sz="4000" b="1" dirty="0">
              <a:solidFill>
                <a:srgbClr val="000000"/>
              </a:solidFill>
            </a:endParaRP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827088" y="5661025"/>
            <a:ext cx="322262" cy="701675"/>
          </a:xfrm>
          <a:prstGeom prst="rect">
            <a:avLst/>
          </a:prstGeom>
          <a:solidFill>
            <a:srgbClr val="F779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rgbClr val="000000"/>
                </a:solidFill>
              </a:rPr>
              <a:t>[</a:t>
            </a:r>
            <a:endParaRPr lang="en-US" altLang="en-US" sz="4000" b="1">
              <a:solidFill>
                <a:srgbClr val="000000"/>
              </a:solidFill>
            </a:endParaRP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1042988" y="5661025"/>
            <a:ext cx="1628775" cy="701675"/>
          </a:xfrm>
          <a:prstGeom prst="rect">
            <a:avLst/>
          </a:prstGeom>
          <a:solidFill>
            <a:srgbClr val="F779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b="1" dirty="0">
                <a:solidFill>
                  <a:srgbClr val="000000"/>
                </a:solidFill>
              </a:rPr>
              <a:t>(0 – 9)</a:t>
            </a:r>
            <a:r>
              <a:rPr lang="en-US" altLang="en-US" sz="4000" b="1" baseline="30000" dirty="0">
                <a:solidFill>
                  <a:srgbClr val="000000"/>
                </a:solidFill>
              </a:rPr>
              <a:t>+ </a:t>
            </a:r>
            <a:endParaRPr lang="en-US" altLang="en-US" sz="4000" b="1" baseline="30000" dirty="0">
              <a:solidFill>
                <a:srgbClr val="000000"/>
              </a:solidFill>
            </a:endParaRP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5580063" y="5661025"/>
            <a:ext cx="301625" cy="701675"/>
          </a:xfrm>
          <a:prstGeom prst="rect">
            <a:avLst/>
          </a:prstGeom>
          <a:solidFill>
            <a:srgbClr val="F779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rgbClr val="000000"/>
                </a:solidFill>
              </a:rPr>
              <a:t>|</a:t>
            </a:r>
            <a:endParaRPr lang="en-US" altLang="en-US" sz="4000" b="1">
              <a:solidFill>
                <a:srgbClr val="000000"/>
              </a:solidFill>
            </a:endParaRPr>
          </a:p>
        </p:txBody>
      </p:sp>
      <p:sp>
        <p:nvSpPr>
          <p:cNvPr id="28681" name="Text Box 9"/>
          <p:cNvSpPr txBox="1">
            <a:spLocks noChangeArrowheads="1"/>
          </p:cNvSpPr>
          <p:nvPr/>
        </p:nvSpPr>
        <p:spPr bwMode="auto">
          <a:xfrm>
            <a:off x="5795963" y="5661025"/>
            <a:ext cx="2590800" cy="701675"/>
          </a:xfrm>
          <a:prstGeom prst="rect">
            <a:avLst/>
          </a:prstGeom>
          <a:solidFill>
            <a:srgbClr val="F779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rgbClr val="000000"/>
                </a:solidFill>
              </a:rPr>
              <a:t>[“.”(0 – 9) </a:t>
            </a:r>
            <a:r>
              <a:rPr lang="en-US" altLang="en-US" sz="4000" b="1" baseline="30000">
                <a:solidFill>
                  <a:srgbClr val="000000"/>
                </a:solidFill>
              </a:rPr>
              <a:t>+</a:t>
            </a:r>
            <a:r>
              <a:rPr lang="en-US" altLang="en-US" sz="4000" b="1">
                <a:solidFill>
                  <a:srgbClr val="000000"/>
                </a:solidFill>
              </a:rPr>
              <a:t>] </a:t>
            </a:r>
            <a:endParaRPr lang="en-US" altLang="en-US" sz="40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676" grpId="0" build="p"/>
      <p:bldP spid="28677" grpId="0" animBg="1"/>
      <p:bldP spid="28678" grpId="0" animBg="1"/>
      <p:bldP spid="28679" grpId="0" animBg="1"/>
      <p:bldP spid="28680" grpId="0" animBg="1"/>
      <p:bldP spid="2868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0136D209-90BF-4640-9626-CB8332A4479A}" type="slidenum">
              <a:rPr lang="en-US" altLang="en-US" sz="2800" smtClean="0">
                <a:solidFill>
                  <a:srgbClr val="FF99FF"/>
                </a:solidFill>
              </a:rPr>
            </a:fld>
            <a:endParaRPr lang="en-US" altLang="en-US" sz="2800" smtClean="0">
              <a:solidFill>
                <a:srgbClr val="FF99FF"/>
              </a:solidFill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642350" cy="1081087"/>
          </a:xfrm>
        </p:spPr>
        <p:txBody>
          <a:bodyPr/>
          <a:lstStyle/>
          <a:p>
            <a:pPr eaLnBrk="1" hangingPunct="1"/>
            <a:r>
              <a:rPr lang="en-US" altLang="en-US" sz="2800"/>
              <a:t>Regular Expressions for Some Tokens of a Programming Language</a:t>
            </a:r>
            <a:endParaRPr lang="en-US" altLang="en-US" sz="2800"/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6856413" y="5732463"/>
            <a:ext cx="2395537" cy="7207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return ERROR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5732463"/>
            <a:ext cx="6856413" cy="720725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000000"/>
                </a:solidFill>
              </a:rPr>
              <a:t>.</a:t>
            </a:r>
            <a:endParaRPr lang="en-US" altLang="en-US" sz="2800" b="1">
              <a:solidFill>
                <a:srgbClr val="000000"/>
              </a:solidFill>
            </a:endParaRPr>
          </a:p>
        </p:txBody>
      </p:sp>
      <p:sp>
        <p:nvSpPr>
          <p:cNvPr id="29701" name="Rectangle 5"/>
          <p:cNvSpPr>
            <a:spLocks noChangeArrowheads="1"/>
          </p:cNvSpPr>
          <p:nvPr/>
        </p:nvSpPr>
        <p:spPr bwMode="auto">
          <a:xfrm>
            <a:off x="6856413" y="5014913"/>
            <a:ext cx="2395537" cy="717550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return Comment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0" y="5014913"/>
            <a:ext cx="6856413" cy="717550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(‘\*’ [ a – z ] * ‘\n’ ) | (‘ ’)| ‘\n’ | ‘*/’)</a:t>
            </a:r>
            <a:r>
              <a:rPr lang="en-US" altLang="en-US" sz="2800" baseline="30000">
                <a:solidFill>
                  <a:srgbClr val="000000"/>
                </a:solidFill>
              </a:rPr>
              <a:t>+</a:t>
            </a:r>
            <a:r>
              <a:rPr lang="en-US" altLang="en-US" sz="2800">
                <a:solidFill>
                  <a:srgbClr val="000000"/>
                </a:solidFill>
              </a:rPr>
              <a:t> 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6856413" y="4292600"/>
            <a:ext cx="2395537" cy="7223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Return REAL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0" y="4292600"/>
            <a:ext cx="6856413" cy="7223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( [0 – 9 ] + ‘ . ’[ 0 – 9 ] * ) | ( [ ‘ . ’[ 0 – 9 ] +) 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6856413" y="3573463"/>
            <a:ext cx="2395537" cy="719137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 return NUM ]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0" y="3573463"/>
            <a:ext cx="6856413" cy="719137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[ 0 – 9 ] </a:t>
            </a:r>
            <a:r>
              <a:rPr lang="en-US" altLang="en-US" sz="2800" baseline="30000">
                <a:solidFill>
                  <a:srgbClr val="000000"/>
                </a:solidFill>
              </a:rPr>
              <a:t>+</a:t>
            </a:r>
            <a:endParaRPr lang="en-US" altLang="en-US" sz="2800" baseline="30000">
              <a:solidFill>
                <a:srgbClr val="000000"/>
              </a:solidFill>
            </a:endParaRPr>
          </a:p>
        </p:txBody>
      </p:sp>
      <p:sp>
        <p:nvSpPr>
          <p:cNvPr id="29707" name="Rectangle 11"/>
          <p:cNvSpPr>
            <a:spLocks noChangeArrowheads="1"/>
          </p:cNvSpPr>
          <p:nvPr/>
        </p:nvSpPr>
        <p:spPr bwMode="auto">
          <a:xfrm>
            <a:off x="6856413" y="2851150"/>
            <a:ext cx="2395537" cy="7223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 return ID ]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8" name="Rectangle 12"/>
          <p:cNvSpPr>
            <a:spLocks noChangeArrowheads="1"/>
          </p:cNvSpPr>
          <p:nvPr/>
        </p:nvSpPr>
        <p:spPr bwMode="auto">
          <a:xfrm>
            <a:off x="0" y="2851150"/>
            <a:ext cx="6856413" cy="722313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 a – z ] [ a – z 0 – 9 ]*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09" name="Rectangle 13"/>
          <p:cNvSpPr>
            <a:spLocks noChangeArrowheads="1"/>
          </p:cNvSpPr>
          <p:nvPr/>
        </p:nvSpPr>
        <p:spPr bwMode="auto">
          <a:xfrm>
            <a:off x="6856413" y="2133600"/>
            <a:ext cx="2395537" cy="717550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[ Return IF; ]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0" y="2133600"/>
            <a:ext cx="6856413" cy="717550"/>
          </a:xfrm>
          <a:prstGeom prst="rect">
            <a:avLst/>
          </a:prstGeom>
          <a:solidFill>
            <a:srgbClr val="FF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rgbClr val="000000"/>
                </a:solidFill>
              </a:rPr>
              <a:t>if</a:t>
            </a:r>
            <a:endParaRPr lang="en-US" altLang="en-US" sz="2800">
              <a:solidFill>
                <a:srgbClr val="000000"/>
              </a:solidFill>
            </a:endParaRP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6856413" y="1412875"/>
            <a:ext cx="2395537" cy="720725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FFFFFF"/>
                </a:solidFill>
              </a:rPr>
              <a:t>Token Type</a:t>
            </a:r>
            <a:endParaRPr lang="en-US" altLang="en-US" sz="2800" b="1">
              <a:solidFill>
                <a:srgbClr val="FFFFFF"/>
              </a:solidFill>
            </a:endParaRP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0" y="1412875"/>
            <a:ext cx="6856413" cy="720725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2800" b="1">
                <a:solidFill>
                  <a:srgbClr val="FFFFFF"/>
                </a:solidFill>
              </a:rPr>
              <a:t>Regular Expression</a:t>
            </a:r>
            <a:endParaRPr lang="en-US" altLang="en-US" sz="2800" b="1">
              <a:solidFill>
                <a:srgbClr val="FFFFFF"/>
              </a:solidFill>
            </a:endParaRPr>
          </a:p>
        </p:txBody>
      </p:sp>
      <p:sp>
        <p:nvSpPr>
          <p:cNvPr id="27666" name="Line 17"/>
          <p:cNvSpPr>
            <a:spLocks noChangeShapeType="1"/>
          </p:cNvSpPr>
          <p:nvPr/>
        </p:nvSpPr>
        <p:spPr bwMode="auto">
          <a:xfrm>
            <a:off x="0" y="1412875"/>
            <a:ext cx="68564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Line 18"/>
          <p:cNvSpPr>
            <a:spLocks noChangeShapeType="1"/>
          </p:cNvSpPr>
          <p:nvPr/>
        </p:nvSpPr>
        <p:spPr bwMode="auto">
          <a:xfrm>
            <a:off x="0" y="6453188"/>
            <a:ext cx="68564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Line 19"/>
          <p:cNvSpPr>
            <a:spLocks noChangeShapeType="1"/>
          </p:cNvSpPr>
          <p:nvPr/>
        </p:nvSpPr>
        <p:spPr bwMode="auto">
          <a:xfrm>
            <a:off x="0" y="1412875"/>
            <a:ext cx="0" cy="720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Line 20"/>
          <p:cNvSpPr>
            <a:spLocks noChangeShapeType="1"/>
          </p:cNvSpPr>
          <p:nvPr/>
        </p:nvSpPr>
        <p:spPr bwMode="auto">
          <a:xfrm>
            <a:off x="9251950" y="1412875"/>
            <a:ext cx="0" cy="720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Line 21"/>
          <p:cNvSpPr>
            <a:spLocks noChangeShapeType="1"/>
          </p:cNvSpPr>
          <p:nvPr/>
        </p:nvSpPr>
        <p:spPr bwMode="auto">
          <a:xfrm>
            <a:off x="6856413" y="1412875"/>
            <a:ext cx="23955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Line 22"/>
          <p:cNvSpPr>
            <a:spLocks noChangeShapeType="1"/>
          </p:cNvSpPr>
          <p:nvPr/>
        </p:nvSpPr>
        <p:spPr bwMode="auto">
          <a:xfrm>
            <a:off x="0" y="2133600"/>
            <a:ext cx="0" cy="7175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2" name="Line 23"/>
          <p:cNvSpPr>
            <a:spLocks noChangeShapeType="1"/>
          </p:cNvSpPr>
          <p:nvPr/>
        </p:nvSpPr>
        <p:spPr bwMode="auto">
          <a:xfrm>
            <a:off x="9251950" y="2133600"/>
            <a:ext cx="0" cy="7175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3" name="Line 24"/>
          <p:cNvSpPr>
            <a:spLocks noChangeShapeType="1"/>
          </p:cNvSpPr>
          <p:nvPr/>
        </p:nvSpPr>
        <p:spPr bwMode="auto">
          <a:xfrm>
            <a:off x="0" y="2851150"/>
            <a:ext cx="0" cy="722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4" name="Line 25"/>
          <p:cNvSpPr>
            <a:spLocks noChangeShapeType="1"/>
          </p:cNvSpPr>
          <p:nvPr/>
        </p:nvSpPr>
        <p:spPr bwMode="auto">
          <a:xfrm>
            <a:off x="9251950" y="2851150"/>
            <a:ext cx="0" cy="722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5" name="Line 26"/>
          <p:cNvSpPr>
            <a:spLocks noChangeShapeType="1"/>
          </p:cNvSpPr>
          <p:nvPr/>
        </p:nvSpPr>
        <p:spPr bwMode="auto">
          <a:xfrm>
            <a:off x="0" y="3573463"/>
            <a:ext cx="0" cy="7191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6" name="Line 27"/>
          <p:cNvSpPr>
            <a:spLocks noChangeShapeType="1"/>
          </p:cNvSpPr>
          <p:nvPr/>
        </p:nvSpPr>
        <p:spPr bwMode="auto">
          <a:xfrm>
            <a:off x="9251950" y="3573463"/>
            <a:ext cx="0" cy="7191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7" name="Line 28"/>
          <p:cNvSpPr>
            <a:spLocks noChangeShapeType="1"/>
          </p:cNvSpPr>
          <p:nvPr/>
        </p:nvSpPr>
        <p:spPr bwMode="auto">
          <a:xfrm>
            <a:off x="0" y="4292600"/>
            <a:ext cx="0" cy="722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8" name="Line 29"/>
          <p:cNvSpPr>
            <a:spLocks noChangeShapeType="1"/>
          </p:cNvSpPr>
          <p:nvPr/>
        </p:nvSpPr>
        <p:spPr bwMode="auto">
          <a:xfrm>
            <a:off x="9251950" y="4292600"/>
            <a:ext cx="0" cy="722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9" name="Line 30"/>
          <p:cNvSpPr>
            <a:spLocks noChangeShapeType="1"/>
          </p:cNvSpPr>
          <p:nvPr/>
        </p:nvSpPr>
        <p:spPr bwMode="auto">
          <a:xfrm>
            <a:off x="0" y="5014913"/>
            <a:ext cx="0" cy="7175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0" name="Line 31"/>
          <p:cNvSpPr>
            <a:spLocks noChangeShapeType="1"/>
          </p:cNvSpPr>
          <p:nvPr/>
        </p:nvSpPr>
        <p:spPr bwMode="auto">
          <a:xfrm>
            <a:off x="9251950" y="5014913"/>
            <a:ext cx="0" cy="7175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1" name="Line 32"/>
          <p:cNvSpPr>
            <a:spLocks noChangeShapeType="1"/>
          </p:cNvSpPr>
          <p:nvPr/>
        </p:nvSpPr>
        <p:spPr bwMode="auto">
          <a:xfrm>
            <a:off x="0" y="5732463"/>
            <a:ext cx="0" cy="720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2" name="Line 33"/>
          <p:cNvSpPr>
            <a:spLocks noChangeShapeType="1"/>
          </p:cNvSpPr>
          <p:nvPr/>
        </p:nvSpPr>
        <p:spPr bwMode="auto">
          <a:xfrm>
            <a:off x="9251950" y="5732463"/>
            <a:ext cx="0" cy="720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3" name="Line 34"/>
          <p:cNvSpPr>
            <a:spLocks noChangeShapeType="1"/>
          </p:cNvSpPr>
          <p:nvPr/>
        </p:nvSpPr>
        <p:spPr bwMode="auto">
          <a:xfrm>
            <a:off x="6856413" y="6453188"/>
            <a:ext cx="23955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nimBg="1"/>
      <p:bldP spid="29700" grpId="0" animBg="1"/>
      <p:bldP spid="29701" grpId="0" animBg="1"/>
      <p:bldP spid="29702" grpId="0" animBg="1"/>
      <p:bldP spid="29703" grpId="0" animBg="1"/>
      <p:bldP spid="29704" grpId="0" animBg="1"/>
      <p:bldP spid="29705" grpId="0" animBg="1"/>
      <p:bldP spid="29706" grpId="0" animBg="1"/>
      <p:bldP spid="29707" grpId="0" animBg="1"/>
      <p:bldP spid="29708" grpId="0" animBg="1"/>
      <p:bldP spid="29709" grpId="0" animBg="1"/>
      <p:bldP spid="29710" grpId="0" animBg="1"/>
      <p:bldP spid="29711" grpId="0" animBg="1"/>
      <p:bldP spid="297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315" y="1349375"/>
            <a:ext cx="8681720" cy="5206365"/>
          </a:xfrm>
        </p:spPr>
        <p:txBody>
          <a:bodyPr/>
          <a:lstStyle/>
          <a:p>
            <a:r>
              <a:rPr lang="en-US" altLang="en-US" sz="2800" dirty="0">
                <a:solidFill>
                  <a:srgbClr val="FF0000"/>
                </a:solidFill>
              </a:rPr>
              <a:t>Regular definition.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 lvl="1"/>
            <a:r>
              <a:rPr lang="en-US" altLang="en-US" sz="2400" dirty="0"/>
              <a:t>gives names to regular expressions to construct more </a:t>
            </a:r>
            <a:endParaRPr lang="en-US" altLang="en-US" sz="2400" dirty="0"/>
          </a:p>
          <a:p>
            <a:pPr marL="457200" lvl="1" indent="0">
              <a:buNone/>
            </a:pPr>
            <a:r>
              <a:rPr lang="en-US" altLang="en-US" sz="2400" dirty="0"/>
              <a:t>complicate regular expressions. </a:t>
            </a:r>
            <a:endParaRPr lang="en-US" altLang="en-US" sz="2400" dirty="0"/>
          </a:p>
          <a:p>
            <a:pPr lvl="3">
              <a:buFontTx/>
              <a:buNone/>
            </a:pPr>
            <a:r>
              <a:rPr lang="en-US" altLang="en-US" sz="2400" dirty="0"/>
              <a:t>d1  -&gt; r1</a:t>
            </a:r>
            <a:endParaRPr lang="en-US" altLang="en-US" sz="2400" dirty="0"/>
          </a:p>
          <a:p>
            <a:pPr lvl="3">
              <a:buFontTx/>
              <a:buNone/>
            </a:pPr>
            <a:r>
              <a:rPr lang="en-US" altLang="en-US" sz="2400" dirty="0"/>
              <a:t>d2 -&gt; r2</a:t>
            </a:r>
            <a:endParaRPr lang="en-US" altLang="en-US" sz="2400" dirty="0"/>
          </a:p>
          <a:p>
            <a:pPr lvl="3">
              <a:buFontTx/>
              <a:buNone/>
            </a:pPr>
            <a:r>
              <a:rPr lang="en-US" altLang="en-US" sz="2400" dirty="0"/>
              <a:t>…</a:t>
            </a:r>
            <a:endParaRPr lang="en-US" altLang="en-US" sz="2400" dirty="0"/>
          </a:p>
          <a:p>
            <a:pPr lvl="3">
              <a:buFontTx/>
              <a:buNone/>
            </a:pPr>
            <a:r>
              <a:rPr lang="en-US" altLang="en-US" sz="2400" dirty="0" err="1"/>
              <a:t>dn</a:t>
            </a:r>
            <a:r>
              <a:rPr lang="en-US" altLang="en-US" sz="2400" dirty="0"/>
              <a:t> -&gt;</a:t>
            </a:r>
            <a:r>
              <a:rPr lang="en-US" altLang="en-US" sz="2400" dirty="0" err="1"/>
              <a:t>rn</a:t>
            </a:r>
            <a:endParaRPr lang="en-US" altLang="en-US" sz="2400" dirty="0"/>
          </a:p>
          <a:p>
            <a:pPr lvl="1"/>
            <a:r>
              <a:rPr lang="en-US" altLang="en-US" sz="2400" dirty="0"/>
              <a:t>example:</a:t>
            </a:r>
            <a:endParaRPr lang="en-US" altLang="en-US" sz="2400" dirty="0"/>
          </a:p>
          <a:p>
            <a:pPr lvl="2">
              <a:buFontTx/>
              <a:buNone/>
            </a:pPr>
            <a:r>
              <a:rPr lang="en-US" altLang="en-US" sz="2400" dirty="0"/>
              <a:t>letter -&gt; A | B | C | … | Z | a | b | …. | z</a:t>
            </a:r>
            <a:endParaRPr lang="en-US" altLang="en-US" sz="2400" dirty="0"/>
          </a:p>
          <a:p>
            <a:pPr lvl="2">
              <a:buFontTx/>
              <a:buNone/>
            </a:pPr>
            <a:r>
              <a:rPr lang="en-US" altLang="en-US" sz="2400" dirty="0"/>
              <a:t>digit -&gt; 0 | 1 | 2 | 3 | 4 | 5 | 6 | 7 | 8 | 9</a:t>
            </a:r>
            <a:endParaRPr lang="en-US" altLang="en-US" sz="2400" dirty="0"/>
          </a:p>
          <a:p>
            <a:pPr lvl="2">
              <a:buFontTx/>
              <a:buNone/>
            </a:pPr>
            <a:r>
              <a:rPr lang="en-US" altLang="en-US" sz="2400" dirty="0"/>
              <a:t>identifier -&gt; letter (letter | digit) *</a:t>
            </a:r>
            <a:endParaRPr lang="en-US" altLang="en-US" sz="2400" dirty="0"/>
          </a:p>
          <a:p>
            <a:pPr lvl="2">
              <a:buFontTx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 Narrow" panose="020B0706020202030204" pitchFamily="34" charset="0"/>
                <a:cs typeface="Arial" panose="020B0704020202020204" pitchFamily="34" charset="0"/>
              </a:defRPr>
            </a:lvl9pPr>
          </a:lstStyle>
          <a:p>
            <a:pPr eaLnBrk="1" hangingPunct="1">
              <a:defRPr/>
            </a:pPr>
            <a:fld id="{FCD4D5FC-150E-41A8-9381-3B13D7ED4D60}" type="slidenum">
              <a:rPr lang="en-US" altLang="en-US" smtClean="0">
                <a:solidFill>
                  <a:srgbClr val="FF99FF"/>
                </a:solidFill>
              </a:rPr>
            </a:fld>
            <a:endParaRPr lang="en-US" altLang="en-US">
              <a:solidFill>
                <a:srgbClr val="FF99FF"/>
              </a:solidFill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07315" y="331788"/>
            <a:ext cx="8229600" cy="706090"/>
          </a:xfrm>
        </p:spPr>
        <p:txBody>
          <a:bodyPr/>
          <a:lstStyle/>
          <a:p>
            <a:pPr algn="l" eaLnBrk="1" hangingPunct="1"/>
            <a:r>
              <a:rPr lang="en-US" altLang="en-US" sz="3200" dirty="0">
                <a:solidFill>
                  <a:srgbClr val="FF0000"/>
                </a:solidFill>
              </a:rPr>
              <a:t>A regular Expression Recognizer</a:t>
            </a:r>
            <a:endParaRPr lang="en-US" altLang="en-US" sz="3200" dirty="0">
              <a:solidFill>
                <a:srgbClr val="FF0000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070" y="1428750"/>
            <a:ext cx="8821420" cy="5241290"/>
          </a:xfrm>
        </p:spPr>
        <p:txBody>
          <a:bodyPr/>
          <a:lstStyle/>
          <a:p>
            <a:pPr marL="685800" indent="-685800" eaLnBrk="1" hangingPunct="1">
              <a:lnSpc>
                <a:spcPct val="110000"/>
              </a:lnSpc>
            </a:pPr>
            <a:r>
              <a:rPr lang="en-US" altLang="en-US" sz="2200" dirty="0"/>
              <a:t>Given an input string,</a:t>
            </a:r>
            <a:endParaRPr lang="en-US" altLang="en-US" sz="2200" dirty="0"/>
          </a:p>
          <a:p>
            <a:pPr marL="685800" indent="-68580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sz="2200" dirty="0"/>
              <a:t>	The function of a “regular Expression Analyzer” is to say </a:t>
            </a:r>
            <a:endParaRPr lang="en-US" altLang="en-US" sz="2200" dirty="0"/>
          </a:p>
          <a:p>
            <a:pPr marL="1828800" lvl="1" indent="-457200" eaLnBrk="1" hangingPunct="1">
              <a:lnSpc>
                <a:spcPct val="110000"/>
              </a:lnSpc>
            </a:pPr>
            <a:r>
              <a:rPr lang="en-US" altLang="en-US" sz="2200" dirty="0"/>
              <a:t>“</a:t>
            </a:r>
            <a:r>
              <a:rPr lang="en-US" altLang="en-US" sz="2200" dirty="0">
                <a:solidFill>
                  <a:schemeClr val="folHlink"/>
                </a:solidFill>
              </a:rPr>
              <a:t>YES</a:t>
            </a:r>
            <a:r>
              <a:rPr lang="en-US" altLang="en-US" sz="2200" dirty="0">
                <a:solidFill>
                  <a:srgbClr val="FFFF00"/>
                </a:solidFill>
              </a:rPr>
              <a:t>,</a:t>
            </a:r>
            <a:r>
              <a:rPr lang="en-US" altLang="en-US" sz="2200" dirty="0"/>
              <a:t> the input is part of the language </a:t>
            </a:r>
            <a:endParaRPr lang="en-US" altLang="en-US" sz="2200" dirty="0"/>
          </a:p>
          <a:p>
            <a:pPr marL="1371600" lvl="1" indent="0" eaLnBrk="1" hangingPunct="1">
              <a:lnSpc>
                <a:spcPct val="110000"/>
              </a:lnSpc>
              <a:buNone/>
            </a:pPr>
            <a:r>
              <a:rPr lang="en-US" altLang="en-US" sz="2200" dirty="0"/>
              <a:t>       generated from the regular expression”</a:t>
            </a:r>
            <a:endParaRPr lang="en-US" altLang="en-US" sz="2200" dirty="0"/>
          </a:p>
          <a:p>
            <a:pPr marL="1828800" lvl="1" indent="-457200" eaLnBrk="1" hangingPunct="1">
              <a:lnSpc>
                <a:spcPct val="110000"/>
              </a:lnSpc>
            </a:pPr>
            <a:r>
              <a:rPr lang="en-US" altLang="en-US" sz="2200" dirty="0"/>
              <a:t>“</a:t>
            </a:r>
            <a:r>
              <a:rPr lang="en-US" altLang="en-US" sz="2200" dirty="0">
                <a:solidFill>
                  <a:srgbClr val="FF6600"/>
                </a:solidFill>
              </a:rPr>
              <a:t>NO</a:t>
            </a:r>
            <a:r>
              <a:rPr lang="en-US" altLang="en-US" sz="2200" dirty="0"/>
              <a:t>, the input isn’t part of the language </a:t>
            </a:r>
            <a:endParaRPr lang="en-US" altLang="en-US" sz="2200" dirty="0"/>
          </a:p>
          <a:p>
            <a:pPr marL="1371600" lvl="1" indent="0" eaLnBrk="1" hangingPunct="1">
              <a:lnSpc>
                <a:spcPct val="110000"/>
              </a:lnSpc>
              <a:buNone/>
            </a:pPr>
            <a:r>
              <a:rPr lang="en-US" altLang="en-US" sz="2200" dirty="0"/>
              <a:t>       generated from the regular expression” </a:t>
            </a:r>
            <a:endParaRPr lang="en-US" altLang="en-US" sz="2200" dirty="0"/>
          </a:p>
          <a:p>
            <a:pPr marL="685800" indent="-685800" eaLnBrk="1" hangingPunct="1">
              <a:lnSpc>
                <a:spcPct val="110000"/>
              </a:lnSpc>
            </a:pPr>
            <a:r>
              <a:rPr lang="en-US" altLang="en-US" sz="2200" dirty="0"/>
              <a:t>Using results from </a:t>
            </a:r>
            <a:r>
              <a:rPr lang="en-US" altLang="en-US" sz="2200" b="1" dirty="0">
                <a:solidFill>
                  <a:schemeClr val="folHlink"/>
                </a:solidFill>
              </a:rPr>
              <a:t>Finite</a:t>
            </a:r>
            <a:r>
              <a:rPr lang="en-US" altLang="en-US" sz="2200" dirty="0">
                <a:solidFill>
                  <a:schemeClr val="folHlink"/>
                </a:solidFill>
              </a:rPr>
              <a:t> </a:t>
            </a:r>
            <a:r>
              <a:rPr lang="en-US" altLang="en-US" sz="2200" b="1" dirty="0">
                <a:solidFill>
                  <a:schemeClr val="folHlink"/>
                </a:solidFill>
              </a:rPr>
              <a:t>Automata</a:t>
            </a:r>
            <a:r>
              <a:rPr lang="en-US" altLang="en-US" sz="2200" dirty="0"/>
              <a:t> theory and   theory of algorithms, we can automate construction of such recognizers from Regular Expressions</a:t>
            </a:r>
            <a:endParaRPr lang="en-US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" y="274955"/>
            <a:ext cx="6409055" cy="1068070"/>
          </a:xfrm>
        </p:spPr>
        <p:txBody>
          <a:bodyPr/>
          <a:lstStyle/>
          <a:p>
            <a:r>
              <a:rPr lang="en-US" sz="3000" b="1" dirty="0">
                <a:solidFill>
                  <a:srgbClr val="FF0000"/>
                </a:solidFill>
              </a:rPr>
              <a:t>Languages Associated with </a:t>
            </a:r>
            <a:br>
              <a:rPr lang="en-US" sz="3000" b="1" dirty="0">
                <a:solidFill>
                  <a:srgbClr val="FF0000"/>
                </a:solidFill>
              </a:rPr>
            </a:br>
            <a:r>
              <a:rPr lang="en-US" sz="3000" b="1" dirty="0">
                <a:solidFill>
                  <a:srgbClr val="FF0000"/>
                </a:solidFill>
              </a:rPr>
              <a:t>Regular Expressions</a:t>
            </a:r>
            <a:endParaRPr lang="en-IN" sz="3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556385"/>
            <a:ext cx="878967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" y="298450"/>
            <a:ext cx="3329305" cy="696595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Example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2225177"/>
            <a:ext cx="9144000" cy="28779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2543810" cy="660400"/>
          </a:xfrm>
        </p:spPr>
        <p:txBody>
          <a:bodyPr/>
          <a:lstStyle/>
          <a:p>
            <a:r>
              <a:rPr lang="en-IN" sz="3400" b="1" dirty="0">
                <a:solidFill>
                  <a:srgbClr val="FF0000"/>
                </a:solidFill>
              </a:rPr>
              <a:t>Example</a:t>
            </a:r>
            <a:endParaRPr lang="en-IN" sz="3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755" y="2492375"/>
            <a:ext cx="8488045" cy="20599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3060700" cy="776605"/>
          </a:xfrm>
        </p:spPr>
        <p:txBody>
          <a:bodyPr/>
          <a:lstStyle/>
          <a:p>
            <a:r>
              <a:rPr lang="en-IN" sz="3400" b="1" dirty="0">
                <a:solidFill>
                  <a:srgbClr val="FF0000"/>
                </a:solidFill>
              </a:rPr>
              <a:t>Example</a:t>
            </a:r>
            <a:endParaRPr lang="en-IN" sz="34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315" y="2332355"/>
            <a:ext cx="8296275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05" y="332740"/>
            <a:ext cx="8229600" cy="670560"/>
          </a:xfrm>
        </p:spPr>
        <p:txBody>
          <a:bodyPr/>
          <a:lstStyle/>
          <a:p>
            <a:br>
              <a:rPr lang="en-US" sz="2600" b="1" dirty="0">
                <a:solidFill>
                  <a:srgbClr val="FF0000"/>
                </a:solidFill>
              </a:rPr>
            </a:br>
            <a:r>
              <a:rPr lang="en-US" sz="2600" b="1" dirty="0">
                <a:solidFill>
                  <a:srgbClr val="FF0000"/>
                </a:solidFill>
              </a:rPr>
              <a:t>More than One Regular Expression for a Language</a:t>
            </a:r>
            <a:endParaRPr lang="en-IN" sz="26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" y="2410460"/>
            <a:ext cx="8670290" cy="2081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4808220" cy="606425"/>
          </a:xfrm>
        </p:spPr>
        <p:txBody>
          <a:bodyPr/>
          <a:lstStyle/>
          <a:p>
            <a:r>
              <a:rPr lang="en-IN" sz="3400" b="1" dirty="0" err="1">
                <a:solidFill>
                  <a:srgbClr val="FF0000"/>
                </a:solidFill>
              </a:rPr>
              <a:t>RegEx</a:t>
            </a:r>
            <a:r>
              <a:rPr lang="en-IN" sz="3400" b="1" dirty="0">
                <a:solidFill>
                  <a:srgbClr val="FF0000"/>
                </a:solidFill>
              </a:rPr>
              <a:t> - idioms</a:t>
            </a:r>
            <a:endParaRPr lang="en-IN" sz="34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700530"/>
            <a:ext cx="8768715" cy="3802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404495"/>
            <a:ext cx="8229600" cy="678815"/>
          </a:xfrm>
        </p:spPr>
        <p:txBody>
          <a:bodyPr/>
          <a:lstStyle/>
          <a:p>
            <a:r>
              <a:rPr lang="en-IN" sz="3200" b="1" dirty="0" err="1">
                <a:solidFill>
                  <a:srgbClr val="FF0000"/>
                </a:solidFill>
              </a:rPr>
              <a:t>Analyzing</a:t>
            </a:r>
            <a:r>
              <a:rPr lang="en-IN" sz="3200" b="1" dirty="0">
                <a:solidFill>
                  <a:srgbClr val="FF0000"/>
                </a:solidFill>
              </a:rPr>
              <a:t> a Simple Regular Expression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" y="2519680"/>
            <a:ext cx="8912860" cy="18186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05" y="274955"/>
            <a:ext cx="7101205" cy="765810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Another Simple Regular Expression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254250"/>
            <a:ext cx="8288020" cy="2527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05" y="332740"/>
            <a:ext cx="7995920" cy="64135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</a:rPr>
              <a:t>Given a Language, Find a Regular Expression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444115"/>
            <a:ext cx="8813165" cy="1981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5754370" cy="633095"/>
          </a:xfrm>
        </p:spPr>
        <p:txBody>
          <a:bodyPr/>
          <a:lstStyle/>
          <a:p>
            <a:r>
              <a:rPr lang="en-GB" sz="3200" b="1" dirty="0">
                <a:solidFill>
                  <a:srgbClr val="0033CC"/>
                </a:solidFill>
              </a:rPr>
              <a:t>Regular Expressions</a:t>
            </a:r>
            <a:endParaRPr lang="en-GB" sz="3200" b="1" dirty="0">
              <a:solidFill>
                <a:srgbClr val="0033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705" y="1484630"/>
            <a:ext cx="8229600" cy="4525963"/>
          </a:xfrm>
        </p:spPr>
        <p:txBody>
          <a:bodyPr/>
          <a:lstStyle/>
          <a:p>
            <a:r>
              <a:rPr lang="en-GB" sz="2400" dirty="0">
                <a:hlinkClick r:id="rId1"/>
              </a:rPr>
              <a:t>https://www.javatpoint.com/examples-of-regular-expression</a:t>
            </a:r>
            <a:endParaRPr lang="en-GB" sz="2400" dirty="0"/>
          </a:p>
          <a:p>
            <a:r>
              <a:rPr lang="en-GB" sz="2400" dirty="0">
                <a:hlinkClick r:id="rId1"/>
              </a:rPr>
              <a:t>https://www.w3schools.com/python/python_regex.asp</a:t>
            </a:r>
            <a:endParaRPr lang="en-GB" sz="2400" dirty="0"/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GB" sz="8000" b="1" i="1" dirty="0">
              <a:solidFill>
                <a:srgbClr val="0033CC"/>
              </a:solidFill>
            </a:endParaRPr>
          </a:p>
          <a:p>
            <a:pPr algn="ctr">
              <a:buNone/>
            </a:pPr>
            <a:r>
              <a:rPr lang="en-GB" sz="8000" b="1" i="1" dirty="0">
                <a:solidFill>
                  <a:srgbClr val="0033CC"/>
                </a:solidFill>
              </a:rPr>
              <a:t>Thank you</a:t>
            </a:r>
            <a:endParaRPr lang="en-GB" sz="8000" b="1" i="1" dirty="0">
              <a:solidFill>
                <a:srgbClr val="00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58731F-1F66-42C7-8158-034F41E1CF8D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默认设计模板">
  <a:themeElements>
    <a:clrScheme name="默认设计模板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704020202020204" pitchFamily="34" charset="0"/>
            <a:cs typeface="Arial" panose="020B0704020202020204" pitchFamily="34" charset="0"/>
            <a:sym typeface="Arial" panose="020B0704020202020204" pitchFamily="34" charset="0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10532</Words>
  <Application>WPS Presentation</Application>
  <PresentationFormat>On-screen Show (4:3)</PresentationFormat>
  <Paragraphs>534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38</vt:i4>
      </vt:variant>
    </vt:vector>
  </HeadingPairs>
  <TitlesOfParts>
    <vt:vector size="61" baseType="lpstr">
      <vt:lpstr>Arial</vt:lpstr>
      <vt:lpstr>SimSun</vt:lpstr>
      <vt:lpstr>Wingdings</vt:lpstr>
      <vt:lpstr>宋体-简</vt:lpstr>
      <vt:lpstr>Calibri</vt:lpstr>
      <vt:lpstr>Helvetica Neue</vt:lpstr>
      <vt:lpstr>Calibri Light</vt:lpstr>
      <vt:lpstr>MS PGothic</vt:lpstr>
      <vt:lpstr>冬青黑体简体中文</vt:lpstr>
      <vt:lpstr>Arial Narrow</vt:lpstr>
      <vt:lpstr>Times New Roman</vt:lpstr>
      <vt:lpstr>Microsoft YaHei</vt:lpstr>
      <vt:lpstr>汉仪旗黑</vt:lpstr>
      <vt:lpstr>Arial Unicode MS</vt:lpstr>
      <vt:lpstr>Calibri Light</vt:lpstr>
      <vt:lpstr>SimSun</vt:lpstr>
      <vt:lpstr>1_默认设计模板</vt:lpstr>
      <vt:lpstr>2_默认设计模板</vt:lpstr>
      <vt:lpstr>4_默认设计模板</vt:lpstr>
      <vt:lpstr>5_默认设计模板</vt:lpstr>
      <vt:lpstr>6_默认设计模板</vt:lpstr>
      <vt:lpstr>7_默认设计模板</vt:lpstr>
      <vt:lpstr>8_默认设计模板</vt:lpstr>
      <vt:lpstr> Compiler Design  SSWTZC373 </vt:lpstr>
      <vt:lpstr>PowerPoint 演示文稿</vt:lpstr>
      <vt:lpstr>Lexical Analyzer (A.k.a. Scanner)</vt:lpstr>
      <vt:lpstr>The Role of a Lexical Analyzer</vt:lpstr>
      <vt:lpstr>PowerPoint 演示文稿</vt:lpstr>
      <vt:lpstr>Tokens, Patterns and Lexemes</vt:lpstr>
      <vt:lpstr>Tokens Example</vt:lpstr>
      <vt:lpstr>Specifications of Tokens</vt:lpstr>
      <vt:lpstr>The Principle of Longest match</vt:lpstr>
      <vt:lpstr>Typical Tokens in Programming Languages</vt:lpstr>
      <vt:lpstr>Tokens of a Typical Language</vt:lpstr>
      <vt:lpstr>Tokens of a Typical Language</vt:lpstr>
      <vt:lpstr>Formal Definition of Languages</vt:lpstr>
      <vt:lpstr>Formal Language Definition ( Contd. )</vt:lpstr>
      <vt:lpstr>Regular Expressions</vt:lpstr>
      <vt:lpstr>PowerPoint 演示文稿</vt:lpstr>
      <vt:lpstr>PowerPoint 演示文稿</vt:lpstr>
      <vt:lpstr>Operations with Regular Expressions</vt:lpstr>
      <vt:lpstr>Regular Expression Example</vt:lpstr>
      <vt:lpstr>Table of Operators &amp; Abbreviations</vt:lpstr>
      <vt:lpstr>Problems</vt:lpstr>
      <vt:lpstr>PowerPoint 演示文稿</vt:lpstr>
      <vt:lpstr>Solution</vt:lpstr>
      <vt:lpstr>Regular Expression Construction</vt:lpstr>
      <vt:lpstr>Regular Expressions for Some Tokens of a Programming Language</vt:lpstr>
      <vt:lpstr>PowerPoint 演示文稿</vt:lpstr>
      <vt:lpstr>A regular Expression Recognizer</vt:lpstr>
      <vt:lpstr>Languages Associated with  Regular Expressions</vt:lpstr>
      <vt:lpstr>Example</vt:lpstr>
      <vt:lpstr>Example</vt:lpstr>
      <vt:lpstr>Example</vt:lpstr>
      <vt:lpstr> More than One Regular Expression for a Language</vt:lpstr>
      <vt:lpstr>RegEx - idioms</vt:lpstr>
      <vt:lpstr>Analyzing a Simple Regular Expression</vt:lpstr>
      <vt:lpstr>Another Simple Regular Expression</vt:lpstr>
      <vt:lpstr>Given a Language, Find a Regular Expression</vt:lpstr>
      <vt:lpstr>Regular Expressions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xelpmoc</cp:lastModifiedBy>
  <cp:revision>464</cp:revision>
  <dcterms:created xsi:type="dcterms:W3CDTF">2026-08-01T05:02:47Z</dcterms:created>
  <dcterms:modified xsi:type="dcterms:W3CDTF">2026-08-01T05:02:47Z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5BF61165DD699AFCDD817369BE05BAD7_42</vt:lpwstr>
  </property>
  <property fmtid="{D5CDD505-2E9C-101B-9397-08002B2CF9AE}" pid="3" name="KSOProductBuildVer">
    <vt:lpwstr>1033-12.1.23152.23152</vt:lpwstr>
  </property>
</Properties>
</file>