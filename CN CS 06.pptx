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24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</p:sldMasterIdLst>
  <p:notesMasterIdLst>
    <p:notesMasterId r:id="rId45"/>
  </p:notesMasterIdLst>
  <p:handoutMasterIdLst>
    <p:handoutMasterId r:id="rId46"/>
  </p:handoutMasterIdLst>
  <p:sldIdLst>
    <p:sldId id="256" r:id="rId3"/>
    <p:sldId id="1547" r:id="rId4"/>
    <p:sldId id="260" r:id="rId5"/>
    <p:sldId id="257" r:id="rId6"/>
    <p:sldId id="259" r:id="rId7"/>
    <p:sldId id="1548" r:id="rId8"/>
    <p:sldId id="1549" r:id="rId9"/>
    <p:sldId id="1550" r:id="rId10"/>
    <p:sldId id="1551" r:id="rId11"/>
    <p:sldId id="1552" r:id="rId12"/>
    <p:sldId id="1553" r:id="rId13"/>
    <p:sldId id="1554" r:id="rId14"/>
    <p:sldId id="1555" r:id="rId15"/>
    <p:sldId id="1556" r:id="rId16"/>
    <p:sldId id="1557" r:id="rId17"/>
    <p:sldId id="1558" r:id="rId18"/>
    <p:sldId id="1559" r:id="rId19"/>
    <p:sldId id="1560" r:id="rId20"/>
    <p:sldId id="1561" r:id="rId21"/>
    <p:sldId id="1562" r:id="rId22"/>
    <p:sldId id="1563" r:id="rId23"/>
    <p:sldId id="1564" r:id="rId24"/>
    <p:sldId id="1565" r:id="rId25"/>
    <p:sldId id="1566" r:id="rId26"/>
    <p:sldId id="1567" r:id="rId27"/>
    <p:sldId id="1568" r:id="rId28"/>
    <p:sldId id="1569" r:id="rId29"/>
    <p:sldId id="1570" r:id="rId30"/>
    <p:sldId id="1571" r:id="rId31"/>
    <p:sldId id="1572" r:id="rId32"/>
    <p:sldId id="1573" r:id="rId33"/>
    <p:sldId id="1574" r:id="rId34"/>
    <p:sldId id="1575" r:id="rId35"/>
    <p:sldId id="1576" r:id="rId36"/>
    <p:sldId id="1577" r:id="rId37"/>
    <p:sldId id="1578" r:id="rId38"/>
    <p:sldId id="1579" r:id="rId39"/>
    <p:sldId id="1580" r:id="rId40"/>
    <p:sldId id="1581" r:id="rId41"/>
    <p:sldId id="1582" r:id="rId42"/>
    <p:sldId id="267" r:id="rId43"/>
    <p:sldId id="26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customXml" Target="../customXml/item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987E23A3-E61E-4A94-BD41-181359DB51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1A8F3E1-6ABB-46B1-8F79-E70911FE47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0CED1-4683-4880-B5DE-0F9730384628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A712777-0629-4166-9CBF-D42E270F24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D131CFC-A983-4BD6-87CA-EC981C3D98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B1F45-3417-4A90-ADC3-13D226273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985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3C171-5AF8-4CB4-ADC2-D7E28C1AC82E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B8D05-8E28-4CFA-B10C-B254E05403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18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1AC68D-457B-4EB0-8349-28F8608E5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4DBDB28-6D03-4D62-9999-ED3CE530C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0CA45F-0ECF-4179-A8F3-CF02E2927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BFC597-6ED3-473C-8E00-570EEA6D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1820D15-1338-4FA4-81B8-62DCDE69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1C89-4E4A-406B-8392-F67A056F84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6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129044-241A-4B49-AA71-29622874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56BF08-5525-44E1-9CBC-08F4DB382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3032EA1-BDF6-47D5-83C1-17F10E9FC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62C8C8-E692-417E-939F-5D54D715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26E870-228C-40FA-96BF-E5EAA547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1C89-4E4A-406B-8392-F67A056F84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98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FFE598-368F-4BAF-8459-9D2DD6DC4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B0ED5C5-FE6F-4DE5-808A-1DC288741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7EA050-88EF-4E74-9B6A-9DBD30B2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65ABF41-748C-4D7D-89DB-B28F1289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EF4CFF-2C80-4B1F-8301-6FD056AB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1C89-4E4A-406B-8392-F67A056F84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08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A699B8-99C5-412F-8417-9C592063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02F8A2-2B55-4D26-B5B4-91F3E6410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374EA15-1FFC-4439-8E00-3F41E10D2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6885A66-6587-4159-B995-66D9D8AD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250D78-2958-4FD0-9FB6-7C280366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226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1FADC9-3DFF-4B64-8515-E2DB0079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27E80FF-9B8F-4423-A75A-7B1373EE2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2DF7B69-9360-452F-AD9A-F64EB5ED6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D548944-61FB-4CC1-AA32-54593DC6D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5BC2F6F-452B-412E-AC68-5DEC3BFB3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FC04886-CF78-4E91-9538-612E7452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4EF4EA3-9E30-45F9-88D2-1BBDEBCB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47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210C51-8D30-4EE6-A7DC-49370F95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88B016C-D836-49DE-A7A8-7FF54E82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91790BF-9870-4AE2-B899-648B9736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AE68A3D-EE19-4B90-8E3C-D6620D33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DE1B44-FB6B-4D81-9F50-34BECB1D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80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DB1CB4-6396-4D24-BE77-A0447346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A58F8B-9FC1-4CA5-92FF-3A7B12BEF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D27F549-A937-4E7A-A987-D9FB149B1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DCC5333-FCB4-4EA2-BD6A-03644F0E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B95B3CF-6AB7-4541-90C4-3B68C8FC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06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A88944-BD39-468F-B01D-7BC9565E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7B6C8D0-A64C-4ED5-844B-E99968AD1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649E219-18AC-4B43-B226-317682842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8552A45-41DB-44BE-A633-0A829775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7B37505-4B21-4668-B749-3CD1715A5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47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8056C4-2765-4D17-8460-E3B99894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0181CB3-32F0-4496-B213-50DE6B447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0528562-AF09-4AE8-84CC-AC006E77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77EE95F-09D7-46BB-B9B6-ED427A7C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99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FA46257-E188-4C8C-9090-F6B8779B0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B368D73-3B3D-4E98-AE84-9B4A8312F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3898B74-BE35-4ED9-8C0D-AB9E7107C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40DEA6-0D1A-4F24-8409-32793E90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248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744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A3767B4-AB52-97DB-868B-0ADC105B2775}"/>
              </a:ext>
            </a:extLst>
          </p:cNvPr>
          <p:cNvSpPr txBox="1"/>
          <p:nvPr/>
        </p:nvSpPr>
        <p:spPr>
          <a:xfrm>
            <a:off x="4368800" y="6596064"/>
            <a:ext cx="7823200" cy="219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825" b="1" dirty="0">
                <a:solidFill>
                  <a:srgbClr val="101141"/>
                </a:solidFill>
                <a:latin typeface="Arial" panose="020B0604020202020204"/>
                <a:cs typeface="Arial" panose="020B0604020202020204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 panose="020B0604020202020204"/>
                <a:cs typeface="Arial" panose="020B0604020202020204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xmlns="" id="{D53B34A8-0D61-F94D-6658-E372B624D1E3}"/>
              </a:ext>
            </a:extLst>
          </p:cNvPr>
          <p:cNvGrpSpPr>
            <a:grpSpLocks/>
          </p:cNvGrpSpPr>
          <p:nvPr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083C1FF3-223D-D196-8F91-0C0F3EA0863C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7B744F7F-4651-793A-5732-F50EF06918EF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3C477641-1E9D-E30D-B181-37D02FDD2925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xmlns="" id="{97259A23-A641-FB0C-BC74-37332053B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xmlns="" id="{9E0C1B94-82C2-5DD5-B490-266791DAF886}"/>
              </a:ext>
            </a:extLst>
          </p:cNvPr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9F720400-26CF-D2DC-6C4C-2B45A327999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EB7E4CE-2A0F-8349-D6C7-69B8AD57124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7FD90075-DE4A-617E-1F44-CC1E651762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xmlns="" id="{C0086D47-2149-6DDE-D807-14849A95CE69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7316EFD5-8FC9-2939-8ADD-EF3DA674F11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81D64989-6811-D3DC-10E8-8D7B51CEDD0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697419B5-7B46-C0F5-2683-9DB043E89DB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1358035" cy="4906962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anose="020B0604020202020204" pitchFamily="34" charset="0"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082676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xmlns="" id="{7F62397A-7720-6902-D87D-83F75699E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400" y="6629400"/>
            <a:ext cx="5384800" cy="2286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xmlns="" id="{D95EBA3B-2C3A-83C0-6E1A-C21276EC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42200" y="6596064"/>
            <a:ext cx="2844800" cy="2619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73CF5B-AF6F-4DC3-9E62-6ACC09636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4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 sz="1800"/>
          </a:p>
        </p:txBody>
      </p:sp>
      <p:sp>
        <p:nvSpPr>
          <p:cNvPr id="27" name="Rectangle 3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28" name="Rectangle 4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29" name="Rectangle 5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30" name="Picture 10" descr="Picture 10"/>
          <p:cNvPicPr>
            <a:picLocks noChangeAspect="1"/>
          </p:cNvPicPr>
          <p:nvPr/>
        </p:nvPicPr>
        <p:blipFill>
          <a:blip r:embed="rId3"/>
          <a:srcRect t="2" b="28592"/>
          <a:stretch>
            <a:fillRect/>
          </a:stretch>
        </p:blipFill>
        <p:spPr>
          <a:xfrm>
            <a:off x="101600" y="3352800"/>
            <a:ext cx="27432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Box 8"/>
          <p:cNvSpPr txBox="1"/>
          <p:nvPr/>
        </p:nvSpPr>
        <p:spPr>
          <a:xfrm>
            <a:off x="-40642" y="5257801"/>
            <a:ext cx="2824483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sz="2900" dirty="0"/>
              <a:t>BITS</a:t>
            </a:r>
            <a:r>
              <a:rPr sz="2900" b="0" dirty="0"/>
              <a:t> </a:t>
            </a:r>
            <a:r>
              <a:rPr sz="2900" b="0" dirty="0" err="1"/>
              <a:t>Pilani</a:t>
            </a:r>
            <a:endParaRPr sz="2900" b="0" dirty="0"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52800" y="5410200"/>
            <a:ext cx="8026400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40896" indent="-183696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2pPr>
            <a:lvl3pPr marL="1085850" indent="-171450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3pPr>
            <a:lvl4pPr marL="15773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4pPr>
            <a:lvl5pPr marL="20345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10925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63D8738E-0221-4D62-B029-49DE045C1179}"/>
              </a:ext>
            </a:extLst>
          </p:cNvPr>
          <p:cNvGrpSpPr/>
          <p:nvPr userDrawn="1"/>
        </p:nvGrpSpPr>
        <p:grpSpPr>
          <a:xfrm>
            <a:off x="-79293" y="-641099"/>
            <a:ext cx="12356572" cy="8253818"/>
            <a:chOff x="-59470" y="-641099"/>
            <a:chExt cx="9267429" cy="825381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xmlns="" id="{6FB9BF06-D4F4-462B-8CAF-F7AA8C4CBC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xmlns="" id="{E7369A73-8C94-4131-B664-BDA73406BE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xmlns="" id="{940D2137-4506-475E-BDBD-01C8F9AB32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xmlns="" id="{C9477889-6CB3-410D-8BC9-E4C3C61859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xmlns="" id="{5359F3D2-27DE-4C2B-9063-2466CC0C13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xmlns="" id="{9E9826F6-77EC-4995-BFD7-0318A680BA1A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6" name="Group 6">
                <a:extLst>
                  <a:ext uri="{FF2B5EF4-FFF2-40B4-BE49-F238E27FC236}">
                    <a16:creationId xmlns:a16="http://schemas.microsoft.com/office/drawing/2014/main" xmlns="" id="{32D72169-E06F-45D8-A5EC-D681EB602EE5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3" name="Rectangle 6">
                  <a:extLst>
                    <a:ext uri="{FF2B5EF4-FFF2-40B4-BE49-F238E27FC236}">
                      <a16:creationId xmlns:a16="http://schemas.microsoft.com/office/drawing/2014/main" xmlns="" id="{31663E90-6CD3-4B00-A313-2FF6AA636CAA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4" name="Rectangle 7">
                  <a:extLst>
                    <a:ext uri="{FF2B5EF4-FFF2-40B4-BE49-F238E27FC236}">
                      <a16:creationId xmlns:a16="http://schemas.microsoft.com/office/drawing/2014/main" xmlns="" id="{991F866D-51D8-403E-B66D-97E9D9FB560B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5" name="Rectangle 8">
                  <a:extLst>
                    <a:ext uri="{FF2B5EF4-FFF2-40B4-BE49-F238E27FC236}">
                      <a16:creationId xmlns:a16="http://schemas.microsoft.com/office/drawing/2014/main" xmlns="" id="{35316865-7F39-4EDA-9213-10248D1FBE99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47" name="Group 10">
                <a:extLst>
                  <a:ext uri="{FF2B5EF4-FFF2-40B4-BE49-F238E27FC236}">
                    <a16:creationId xmlns:a16="http://schemas.microsoft.com/office/drawing/2014/main" xmlns="" id="{2D2DD56F-AE09-49F0-9B99-D2EE701D8FF5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0" name="Rectangle 10">
                  <a:extLst>
                    <a:ext uri="{FF2B5EF4-FFF2-40B4-BE49-F238E27FC236}">
                      <a16:creationId xmlns:a16="http://schemas.microsoft.com/office/drawing/2014/main" xmlns="" id="{DAEB79DB-4734-4234-BD44-76AB6ABA11F2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1" name="Rectangle 11">
                  <a:extLst>
                    <a:ext uri="{FF2B5EF4-FFF2-40B4-BE49-F238E27FC236}">
                      <a16:creationId xmlns:a16="http://schemas.microsoft.com/office/drawing/2014/main" xmlns="" id="{508D804C-A4C7-412F-8063-43C12673820B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2" name="Rectangle 12">
                  <a:extLst>
                    <a:ext uri="{FF2B5EF4-FFF2-40B4-BE49-F238E27FC236}">
                      <a16:creationId xmlns:a16="http://schemas.microsoft.com/office/drawing/2014/main" xmlns="" id="{827A04DF-D4FE-44C0-87D7-AF2AA37D3F9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48" name="Picture 14" descr="Picture 14">
                <a:extLst>
                  <a:ext uri="{FF2B5EF4-FFF2-40B4-BE49-F238E27FC236}">
                    <a16:creationId xmlns:a16="http://schemas.microsoft.com/office/drawing/2014/main" xmlns="" id="{5DC18BF1-5331-4F2F-A174-787311906D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49" name="TextBox 14">
                <a:extLst>
                  <a:ext uri="{FF2B5EF4-FFF2-40B4-BE49-F238E27FC236}">
                    <a16:creationId xmlns:a16="http://schemas.microsoft.com/office/drawing/2014/main" xmlns="" id="{BA5796A7-03C0-4F17-B86D-A3B33F3BC2CE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xmlns="" id="{8C31F058-777D-4D47-AD29-CC17547B02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020132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4F1635D6-F918-E4B0-D8DF-45976B43E5CC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509FF428-FD03-A3ED-E874-F7399C457B5A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A493EE98-E537-385E-2051-74DF0B3608DF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E4627D7-A115-550F-D7B3-42FC43297FF1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9" name="Picture 10" descr="Picture 10">
            <a:extLst>
              <a:ext uri="{FF2B5EF4-FFF2-40B4-BE49-F238E27FC236}">
                <a16:creationId xmlns:a16="http://schemas.microsoft.com/office/drawing/2014/main" xmlns="" id="{D695F453-58E4-7D66-AB7F-98878BD64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" b="28592"/>
          <a:stretch>
            <a:fillRect/>
          </a:stretch>
        </p:blipFill>
        <p:spPr>
          <a:xfrm>
            <a:off x="101600" y="3352800"/>
            <a:ext cx="27432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xmlns="" id="{93711A98-B303-E78D-34AC-04374950E07A}"/>
              </a:ext>
            </a:extLst>
          </p:cNvPr>
          <p:cNvSpPr txBox="1"/>
          <p:nvPr userDrawn="1"/>
        </p:nvSpPr>
        <p:spPr>
          <a:xfrm>
            <a:off x="-40642" y="5257801"/>
            <a:ext cx="2824483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sz="2900" dirty="0"/>
              <a:t>BITS</a:t>
            </a:r>
            <a:r>
              <a:rPr sz="2900" b="0" dirty="0"/>
              <a:t> </a:t>
            </a:r>
            <a:r>
              <a:rPr sz="2900" b="0" dirty="0" err="1"/>
              <a:t>Pilani</a:t>
            </a:r>
            <a:endParaRPr sz="2900" b="0" dirty="0"/>
          </a:p>
        </p:txBody>
      </p:sp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3556000" y="3898061"/>
            <a:ext cx="80264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79091009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 sz="1800"/>
          </a:p>
        </p:txBody>
      </p:sp>
      <p:sp>
        <p:nvSpPr>
          <p:cNvPr id="27" name="Rectangle 3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28" name="Rectangle 4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29" name="Rectangle 5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30" name="Picture 10" descr="Picture 10"/>
          <p:cNvPicPr>
            <a:picLocks noChangeAspect="1"/>
          </p:cNvPicPr>
          <p:nvPr/>
        </p:nvPicPr>
        <p:blipFill>
          <a:blip r:embed="rId3"/>
          <a:srcRect t="2" b="28592"/>
          <a:stretch>
            <a:fillRect/>
          </a:stretch>
        </p:blipFill>
        <p:spPr>
          <a:xfrm>
            <a:off x="101600" y="3352800"/>
            <a:ext cx="27432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Box 8"/>
          <p:cNvSpPr txBox="1"/>
          <p:nvPr/>
        </p:nvSpPr>
        <p:spPr>
          <a:xfrm>
            <a:off x="-40642" y="5257801"/>
            <a:ext cx="2824483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sz="2900" dirty="0"/>
              <a:t>BITS</a:t>
            </a:r>
            <a:r>
              <a:rPr sz="2900" b="0" dirty="0"/>
              <a:t> </a:t>
            </a:r>
            <a:r>
              <a:rPr sz="2900" b="0" dirty="0" err="1"/>
              <a:t>Pilani</a:t>
            </a:r>
            <a:endParaRPr sz="2900" b="0" dirty="0"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52800" y="5410200"/>
            <a:ext cx="8026400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40896" indent="-183696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2pPr>
            <a:lvl3pPr marL="1085850" indent="-171450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3pPr>
            <a:lvl4pPr marL="15773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4pPr>
            <a:lvl5pPr marL="20345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731257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 2"/>
          <p:cNvSpPr/>
          <p:nvPr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pic>
        <p:nvPicPr>
          <p:cNvPr id="44" name="Picture 8" descr="Picture 8"/>
          <p:cNvPicPr>
            <a:picLocks noChangeAspect="1"/>
          </p:cNvPicPr>
          <p:nvPr/>
        </p:nvPicPr>
        <p:blipFill>
          <a:blip r:embed="rId3"/>
          <a:srcRect t="2677" b="2677"/>
          <a:stretch>
            <a:fillRect/>
          </a:stretch>
        </p:blipFill>
        <p:spPr>
          <a:xfrm>
            <a:off x="8839201" y="0"/>
            <a:ext cx="2925233" cy="69215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Rectangle 4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46" name="Rectangle 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47" name="Rectangle 6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48" name="TextBox 7"/>
          <p:cNvSpPr txBox="1"/>
          <p:nvPr/>
        </p:nvSpPr>
        <p:spPr>
          <a:xfrm>
            <a:off x="9204959" y="762001"/>
            <a:ext cx="2824483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sz="2900"/>
              <a:t>BITS</a:t>
            </a:r>
            <a:r>
              <a:rPr sz="2900" b="0"/>
              <a:t> Pilani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06400" y="4648200"/>
            <a:ext cx="1127760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 b="1" spc="-150"/>
            </a:lvl1pPr>
            <a:lvl2pPr marL="865414" indent="-408214">
              <a:lnSpc>
                <a:spcPts val="4200"/>
              </a:lnSpc>
              <a:spcBef>
                <a:spcPts val="0"/>
              </a:spcBef>
              <a:buFontTx/>
              <a:defRPr sz="4000" b="1" spc="-150"/>
            </a:lvl2pPr>
            <a:lvl3pPr marL="1295400" indent="-3810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3pPr>
            <a:lvl4pPr marL="18288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4pPr>
            <a:lvl5pPr marL="22860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3264696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63D8738E-0221-4D62-B029-49DE045C1179}"/>
              </a:ext>
            </a:extLst>
          </p:cNvPr>
          <p:cNvGrpSpPr/>
          <p:nvPr userDrawn="1"/>
        </p:nvGrpSpPr>
        <p:grpSpPr>
          <a:xfrm>
            <a:off x="-79293" y="-641099"/>
            <a:ext cx="12356572" cy="8253818"/>
            <a:chOff x="-59470" y="-641099"/>
            <a:chExt cx="9267429" cy="825381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xmlns="" id="{6FB9BF06-D4F4-462B-8CAF-F7AA8C4CBC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xmlns="" id="{E7369A73-8C94-4131-B664-BDA73406BE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xmlns="" id="{940D2137-4506-475E-BDBD-01C8F9AB32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xmlns="" id="{C9477889-6CB3-410D-8BC9-E4C3C61859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xmlns="" id="{5359F3D2-27DE-4C2B-9063-2466CC0C13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xmlns="" id="{9E9826F6-77EC-4995-BFD7-0318A680BA1A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6" name="Group 6">
                <a:extLst>
                  <a:ext uri="{FF2B5EF4-FFF2-40B4-BE49-F238E27FC236}">
                    <a16:creationId xmlns:a16="http://schemas.microsoft.com/office/drawing/2014/main" xmlns="" id="{32D72169-E06F-45D8-A5EC-D681EB602EE5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3" name="Rectangle 6">
                  <a:extLst>
                    <a:ext uri="{FF2B5EF4-FFF2-40B4-BE49-F238E27FC236}">
                      <a16:creationId xmlns:a16="http://schemas.microsoft.com/office/drawing/2014/main" xmlns="" id="{31663E90-6CD3-4B00-A313-2FF6AA636CAA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4" name="Rectangle 7">
                  <a:extLst>
                    <a:ext uri="{FF2B5EF4-FFF2-40B4-BE49-F238E27FC236}">
                      <a16:creationId xmlns:a16="http://schemas.microsoft.com/office/drawing/2014/main" xmlns="" id="{991F866D-51D8-403E-B66D-97E9D9FB560B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5" name="Rectangle 8">
                  <a:extLst>
                    <a:ext uri="{FF2B5EF4-FFF2-40B4-BE49-F238E27FC236}">
                      <a16:creationId xmlns:a16="http://schemas.microsoft.com/office/drawing/2014/main" xmlns="" id="{35316865-7F39-4EDA-9213-10248D1FBE99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47" name="Group 10">
                <a:extLst>
                  <a:ext uri="{FF2B5EF4-FFF2-40B4-BE49-F238E27FC236}">
                    <a16:creationId xmlns:a16="http://schemas.microsoft.com/office/drawing/2014/main" xmlns="" id="{2D2DD56F-AE09-49F0-9B99-D2EE701D8FF5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0" name="Rectangle 10">
                  <a:extLst>
                    <a:ext uri="{FF2B5EF4-FFF2-40B4-BE49-F238E27FC236}">
                      <a16:creationId xmlns:a16="http://schemas.microsoft.com/office/drawing/2014/main" xmlns="" id="{DAEB79DB-4734-4234-BD44-76AB6ABA11F2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1" name="Rectangle 11">
                  <a:extLst>
                    <a:ext uri="{FF2B5EF4-FFF2-40B4-BE49-F238E27FC236}">
                      <a16:creationId xmlns:a16="http://schemas.microsoft.com/office/drawing/2014/main" xmlns="" id="{508D804C-A4C7-412F-8063-43C12673820B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2" name="Rectangle 12">
                  <a:extLst>
                    <a:ext uri="{FF2B5EF4-FFF2-40B4-BE49-F238E27FC236}">
                      <a16:creationId xmlns:a16="http://schemas.microsoft.com/office/drawing/2014/main" xmlns="" id="{827A04DF-D4FE-44C0-87D7-AF2AA37D3F9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48" name="Picture 14" descr="Picture 14">
                <a:extLst>
                  <a:ext uri="{FF2B5EF4-FFF2-40B4-BE49-F238E27FC236}">
                    <a16:creationId xmlns:a16="http://schemas.microsoft.com/office/drawing/2014/main" xmlns="" id="{5DC18BF1-5331-4F2F-A174-787311906D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49" name="TextBox 14">
                <a:extLst>
                  <a:ext uri="{FF2B5EF4-FFF2-40B4-BE49-F238E27FC236}">
                    <a16:creationId xmlns:a16="http://schemas.microsoft.com/office/drawing/2014/main" xmlns="" id="{BA5796A7-03C0-4F17-B86D-A3B33F3BC2CE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xmlns="" id="{8C31F058-777D-4D47-AD29-CC17547B02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799959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FFD8716B-A31C-47B4-A0C5-7548CDD430C6}"/>
              </a:ext>
            </a:extLst>
          </p:cNvPr>
          <p:cNvGrpSpPr/>
          <p:nvPr userDrawn="1"/>
        </p:nvGrpSpPr>
        <p:grpSpPr>
          <a:xfrm>
            <a:off x="-79293" y="-641099"/>
            <a:ext cx="12356572" cy="8253818"/>
            <a:chOff x="-59470" y="-641099"/>
            <a:chExt cx="9267429" cy="825381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xmlns="" id="{5680844E-99C5-4EC4-B180-E92A119739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xmlns="" id="{3DF246C4-7681-40D2-BD7F-05D1FC48F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xmlns="" id="{1C3A5CD5-E5A4-4ACE-A91A-27B1E844C5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xmlns="" id="{9469C547-61A0-45EB-B6FA-25B60785AF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xmlns="" id="{217C0F69-5C4A-46A1-81DF-1368943C85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xmlns="" id="{5F7D3B5F-9C84-4CDD-ADC5-1C7AEA7FFA30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8" name="Group 6">
                <a:extLst>
                  <a:ext uri="{FF2B5EF4-FFF2-40B4-BE49-F238E27FC236}">
                    <a16:creationId xmlns:a16="http://schemas.microsoft.com/office/drawing/2014/main" xmlns="" id="{94E0EC27-CD44-4116-BDFE-8C07A845F21D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5" name="Rectangle 6">
                  <a:extLst>
                    <a:ext uri="{FF2B5EF4-FFF2-40B4-BE49-F238E27FC236}">
                      <a16:creationId xmlns:a16="http://schemas.microsoft.com/office/drawing/2014/main" xmlns="" id="{A6BF9062-0344-4685-A2A4-47E7FFFD73B2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6" name="Rectangle 7">
                  <a:extLst>
                    <a:ext uri="{FF2B5EF4-FFF2-40B4-BE49-F238E27FC236}">
                      <a16:creationId xmlns:a16="http://schemas.microsoft.com/office/drawing/2014/main" xmlns="" id="{64025BE1-99DE-43D5-BA61-5EE12DD7C1C7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7" name="Rectangle 8">
                  <a:extLst>
                    <a:ext uri="{FF2B5EF4-FFF2-40B4-BE49-F238E27FC236}">
                      <a16:creationId xmlns:a16="http://schemas.microsoft.com/office/drawing/2014/main" xmlns="" id="{074D5DEA-390A-4108-83CB-EE96445CE40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49" name="Group 10">
                <a:extLst>
                  <a:ext uri="{FF2B5EF4-FFF2-40B4-BE49-F238E27FC236}">
                    <a16:creationId xmlns:a16="http://schemas.microsoft.com/office/drawing/2014/main" xmlns="" id="{552E09F6-519C-4756-9EA7-45D6DCBE310D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2" name="Rectangle 10">
                  <a:extLst>
                    <a:ext uri="{FF2B5EF4-FFF2-40B4-BE49-F238E27FC236}">
                      <a16:creationId xmlns:a16="http://schemas.microsoft.com/office/drawing/2014/main" xmlns="" id="{F6963B12-636B-4383-B53F-0920A9A2D2A0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3" name="Rectangle 11">
                  <a:extLst>
                    <a:ext uri="{FF2B5EF4-FFF2-40B4-BE49-F238E27FC236}">
                      <a16:creationId xmlns:a16="http://schemas.microsoft.com/office/drawing/2014/main" xmlns="" id="{6D65AAF7-65CB-490D-AE4C-56EB3A380F6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4" name="Rectangle 12">
                  <a:extLst>
                    <a:ext uri="{FF2B5EF4-FFF2-40B4-BE49-F238E27FC236}">
                      <a16:creationId xmlns:a16="http://schemas.microsoft.com/office/drawing/2014/main" xmlns="" id="{82692E83-6BB2-4F17-81B3-5FB0B92EA780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50" name="Picture 14" descr="Picture 14">
                <a:extLst>
                  <a:ext uri="{FF2B5EF4-FFF2-40B4-BE49-F238E27FC236}">
                    <a16:creationId xmlns:a16="http://schemas.microsoft.com/office/drawing/2014/main" xmlns="" id="{70822080-A35E-497B-A345-0B4F6B3CEC3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1" name="TextBox 14">
                <a:extLst>
                  <a:ext uri="{FF2B5EF4-FFF2-40B4-BE49-F238E27FC236}">
                    <a16:creationId xmlns:a16="http://schemas.microsoft.com/office/drawing/2014/main" xmlns="" id="{35FF49B6-322B-45EA-ADB7-89C68BCD8C5E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xmlns="" id="{5201B7A3-E0CF-49C7-BCF5-6D53993FB4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1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604000" y="1600201"/>
            <a:ext cx="5384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buSzTx/>
              <a:buFontTx/>
              <a:buNone/>
              <a:defRPr sz="2800"/>
            </a:lvl1pPr>
            <a:lvl2pPr marL="957262" indent="-500062">
              <a:spcBef>
                <a:spcPts val="600"/>
              </a:spcBef>
              <a:buFontTx/>
              <a:defRPr sz="2800"/>
            </a:lvl2pPr>
            <a:lvl3pPr marL="1234439" indent="-320039">
              <a:spcBef>
                <a:spcPts val="600"/>
              </a:spcBef>
              <a:buFontTx/>
              <a:defRPr sz="2800"/>
            </a:lvl3pPr>
            <a:lvl4pPr marL="1727200" indent="-355600">
              <a:spcBef>
                <a:spcPts val="600"/>
              </a:spcBef>
              <a:buFontTx/>
              <a:defRPr sz="2800"/>
            </a:lvl4pPr>
            <a:lvl5pPr marL="2184400" indent="-355600">
              <a:spcBef>
                <a:spcPts val="600"/>
              </a:spcBef>
              <a:buFontTx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5533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83C6F3F4-5751-43BB-8C7D-E213EC59F5AA}"/>
              </a:ext>
            </a:extLst>
          </p:cNvPr>
          <p:cNvGrpSpPr/>
          <p:nvPr userDrawn="1"/>
        </p:nvGrpSpPr>
        <p:grpSpPr>
          <a:xfrm>
            <a:off x="-79293" y="-641099"/>
            <a:ext cx="12356572" cy="8253818"/>
            <a:chOff x="-59470" y="-641099"/>
            <a:chExt cx="9267429" cy="825381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xmlns="" id="{3100B7FA-AEEE-4B3E-BF82-561149B2BC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xmlns="" id="{CA1F78BE-6A45-4BEE-B3D7-5B27F29777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xmlns="" id="{4F972F80-0475-4E37-81F3-DF25FE0B49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xmlns="" id="{0C8BCD8D-488C-4254-8236-C54B88630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xmlns="" id="{2EDFD120-14DA-495A-8AED-AED69AF682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xmlns="" id="{B2740D71-E14A-4547-9EF5-592B9A01A999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9" name="Group 6">
                <a:extLst>
                  <a:ext uri="{FF2B5EF4-FFF2-40B4-BE49-F238E27FC236}">
                    <a16:creationId xmlns:a16="http://schemas.microsoft.com/office/drawing/2014/main" xmlns="" id="{20AE3508-2CAE-49F6-9380-FEBEC6AE18A1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6" name="Rectangle 6">
                  <a:extLst>
                    <a:ext uri="{FF2B5EF4-FFF2-40B4-BE49-F238E27FC236}">
                      <a16:creationId xmlns:a16="http://schemas.microsoft.com/office/drawing/2014/main" xmlns="" id="{24132926-3854-4E73-9F61-FFAE5A7A1A47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7" name="Rectangle 7">
                  <a:extLst>
                    <a:ext uri="{FF2B5EF4-FFF2-40B4-BE49-F238E27FC236}">
                      <a16:creationId xmlns:a16="http://schemas.microsoft.com/office/drawing/2014/main" xmlns="" id="{62E95AD1-C80F-4E74-A9C5-D34DE62DE821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8" name="Rectangle 8">
                  <a:extLst>
                    <a:ext uri="{FF2B5EF4-FFF2-40B4-BE49-F238E27FC236}">
                      <a16:creationId xmlns:a16="http://schemas.microsoft.com/office/drawing/2014/main" xmlns="" id="{CCFFD9FF-0E13-4ACB-BF93-17B024793B98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50" name="Group 10">
                <a:extLst>
                  <a:ext uri="{FF2B5EF4-FFF2-40B4-BE49-F238E27FC236}">
                    <a16:creationId xmlns:a16="http://schemas.microsoft.com/office/drawing/2014/main" xmlns="" id="{0D855871-BE12-498A-AB58-46EF62159C4F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3" name="Rectangle 10">
                  <a:extLst>
                    <a:ext uri="{FF2B5EF4-FFF2-40B4-BE49-F238E27FC236}">
                      <a16:creationId xmlns:a16="http://schemas.microsoft.com/office/drawing/2014/main" xmlns="" id="{C977D99F-D1F8-45A3-ADF9-564B6E2C33B2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4" name="Rectangle 11">
                  <a:extLst>
                    <a:ext uri="{FF2B5EF4-FFF2-40B4-BE49-F238E27FC236}">
                      <a16:creationId xmlns:a16="http://schemas.microsoft.com/office/drawing/2014/main" xmlns="" id="{31017A24-6422-4F19-B9AA-92767E4CE1B0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5" name="Rectangle 12">
                  <a:extLst>
                    <a:ext uri="{FF2B5EF4-FFF2-40B4-BE49-F238E27FC236}">
                      <a16:creationId xmlns:a16="http://schemas.microsoft.com/office/drawing/2014/main" xmlns="" id="{9653E56F-820B-4B37-B055-A3C49FF7E2F4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51" name="Picture 14" descr="Picture 14">
                <a:extLst>
                  <a:ext uri="{FF2B5EF4-FFF2-40B4-BE49-F238E27FC236}">
                    <a16:creationId xmlns:a16="http://schemas.microsoft.com/office/drawing/2014/main" xmlns="" id="{E9AFB7EB-F4A0-4F61-B3FC-95170197BC5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2" name="TextBox 14">
                <a:extLst>
                  <a:ext uri="{FF2B5EF4-FFF2-40B4-BE49-F238E27FC236}">
                    <a16:creationId xmlns:a16="http://schemas.microsoft.com/office/drawing/2014/main" xmlns="" id="{0A56C53E-F093-4235-B0C3-8FDF84D95BFF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xmlns="" id="{B0F0EE30-1431-48B8-8A47-F3CED9AB29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19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8270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8" y="1535112"/>
            <a:ext cx="5389033" cy="8270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5297622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>
            <a:alpha val="7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DD5745CB-06AA-4B81-957F-FB40813E1114}"/>
              </a:ext>
            </a:extLst>
          </p:cNvPr>
          <p:cNvGrpSpPr/>
          <p:nvPr userDrawn="1"/>
        </p:nvGrpSpPr>
        <p:grpSpPr>
          <a:xfrm>
            <a:off x="-79293" y="-641099"/>
            <a:ext cx="12356572" cy="8253818"/>
            <a:chOff x="-59470" y="-641099"/>
            <a:chExt cx="9267429" cy="825381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xmlns="" id="{9CF6619D-D89D-4695-84F2-4D14B9CE5C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xmlns="" id="{3F684C8C-B74B-40AF-ABA0-D163472572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xmlns="" id="{9347B43F-FF3F-4A48-9060-6D5ED0C6A5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xmlns="" id="{E002E591-4F7B-48A9-9F72-9E4DE09C2B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xmlns="" id="{09B02342-AE14-4FD7-923C-6D9B53B916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xmlns="" id="{12F6725C-53D2-4236-87F9-62DF3413A481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8" name="Group 6">
                <a:extLst>
                  <a:ext uri="{FF2B5EF4-FFF2-40B4-BE49-F238E27FC236}">
                    <a16:creationId xmlns:a16="http://schemas.microsoft.com/office/drawing/2014/main" xmlns="" id="{5D5570D8-518F-4A65-AB4C-10057F149106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5" name="Rectangle 6">
                  <a:extLst>
                    <a:ext uri="{FF2B5EF4-FFF2-40B4-BE49-F238E27FC236}">
                      <a16:creationId xmlns:a16="http://schemas.microsoft.com/office/drawing/2014/main" xmlns="" id="{F8BC0A35-0293-4229-B935-BFF81052072D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6" name="Rectangle 7">
                  <a:extLst>
                    <a:ext uri="{FF2B5EF4-FFF2-40B4-BE49-F238E27FC236}">
                      <a16:creationId xmlns:a16="http://schemas.microsoft.com/office/drawing/2014/main" xmlns="" id="{F86283D0-4A1E-43CD-B49A-B5DEF391613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7" name="Rectangle 8">
                  <a:extLst>
                    <a:ext uri="{FF2B5EF4-FFF2-40B4-BE49-F238E27FC236}">
                      <a16:creationId xmlns:a16="http://schemas.microsoft.com/office/drawing/2014/main" xmlns="" id="{21009D49-5D49-47D3-9581-2B06B0F95B53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49" name="Group 10">
                <a:extLst>
                  <a:ext uri="{FF2B5EF4-FFF2-40B4-BE49-F238E27FC236}">
                    <a16:creationId xmlns:a16="http://schemas.microsoft.com/office/drawing/2014/main" xmlns="" id="{F6AC508B-8E77-4674-8422-3B4DA12D07FD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2" name="Rectangle 10">
                  <a:extLst>
                    <a:ext uri="{FF2B5EF4-FFF2-40B4-BE49-F238E27FC236}">
                      <a16:creationId xmlns:a16="http://schemas.microsoft.com/office/drawing/2014/main" xmlns="" id="{EF35E278-0085-4428-A96D-7CA4168C754B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3" name="Rectangle 11">
                  <a:extLst>
                    <a:ext uri="{FF2B5EF4-FFF2-40B4-BE49-F238E27FC236}">
                      <a16:creationId xmlns:a16="http://schemas.microsoft.com/office/drawing/2014/main" xmlns="" id="{476F634D-3AEE-4698-B03A-21206F970959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4" name="Rectangle 12">
                  <a:extLst>
                    <a:ext uri="{FF2B5EF4-FFF2-40B4-BE49-F238E27FC236}">
                      <a16:creationId xmlns:a16="http://schemas.microsoft.com/office/drawing/2014/main" xmlns="" id="{3EC4A554-78FE-4858-9D34-5D12D86AB4F8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50" name="Picture 14" descr="Picture 14">
                <a:extLst>
                  <a:ext uri="{FF2B5EF4-FFF2-40B4-BE49-F238E27FC236}">
                    <a16:creationId xmlns:a16="http://schemas.microsoft.com/office/drawing/2014/main" xmlns="" id="{D53E0125-E6C8-4170-8576-A8B945924E8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1" name="TextBox 14">
                <a:extLst>
                  <a:ext uri="{FF2B5EF4-FFF2-40B4-BE49-F238E27FC236}">
                    <a16:creationId xmlns:a16="http://schemas.microsoft.com/office/drawing/2014/main" xmlns="" id="{3BF71A74-AAB4-4ED8-9AC1-98341ED06B55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xmlns="" id="{AF9A04AC-78E1-4BBC-9A65-F911836357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24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272011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EBA91D93-81E9-4E44-BA3B-BFC4DB61B9B1}"/>
              </a:ext>
            </a:extLst>
          </p:cNvPr>
          <p:cNvGrpSpPr/>
          <p:nvPr userDrawn="1"/>
        </p:nvGrpSpPr>
        <p:grpSpPr>
          <a:xfrm>
            <a:off x="-79293" y="-641099"/>
            <a:ext cx="12356572" cy="8253818"/>
            <a:chOff x="-59470" y="-641099"/>
            <a:chExt cx="9267429" cy="825381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xmlns="" id="{A03074E5-C395-4142-B82C-55575CC375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xmlns="" id="{5043B723-FDC1-4C80-B36E-65A0302A4A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xmlns="" id="{5DB4FDD8-D8D7-4A39-973E-FF204CF26F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xmlns="" id="{276FF869-530C-4BCB-92FE-054992EB10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xmlns="" id="{D919A7FA-FDD4-4C10-97CC-BCD6F27C1D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xmlns="" id="{CCCFF274-1225-4563-806D-A565D4704B4E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9" name="Group 6">
                <a:extLst>
                  <a:ext uri="{FF2B5EF4-FFF2-40B4-BE49-F238E27FC236}">
                    <a16:creationId xmlns:a16="http://schemas.microsoft.com/office/drawing/2014/main" xmlns="" id="{A78C547C-62FD-49F4-8220-87E6108E1DC0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6" name="Rectangle 6">
                  <a:extLst>
                    <a:ext uri="{FF2B5EF4-FFF2-40B4-BE49-F238E27FC236}">
                      <a16:creationId xmlns:a16="http://schemas.microsoft.com/office/drawing/2014/main" xmlns="" id="{E131FBB3-C3F0-4F2C-AA58-58B5D5B147F0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7" name="Rectangle 7">
                  <a:extLst>
                    <a:ext uri="{FF2B5EF4-FFF2-40B4-BE49-F238E27FC236}">
                      <a16:creationId xmlns:a16="http://schemas.microsoft.com/office/drawing/2014/main" xmlns="" id="{7C694F41-E945-4E8B-BA86-DC9A598526C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8" name="Rectangle 8">
                  <a:extLst>
                    <a:ext uri="{FF2B5EF4-FFF2-40B4-BE49-F238E27FC236}">
                      <a16:creationId xmlns:a16="http://schemas.microsoft.com/office/drawing/2014/main" xmlns="" id="{857E2CF2-3046-46A4-889D-40063CCC6F3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50" name="Group 10">
                <a:extLst>
                  <a:ext uri="{FF2B5EF4-FFF2-40B4-BE49-F238E27FC236}">
                    <a16:creationId xmlns:a16="http://schemas.microsoft.com/office/drawing/2014/main" xmlns="" id="{EC7C1379-6432-4776-8A30-B023A4412329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3" name="Rectangle 10">
                  <a:extLst>
                    <a:ext uri="{FF2B5EF4-FFF2-40B4-BE49-F238E27FC236}">
                      <a16:creationId xmlns:a16="http://schemas.microsoft.com/office/drawing/2014/main" xmlns="" id="{A8A7BDE8-B2DB-48A5-BEC9-63C3D85E29DE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4" name="Rectangle 11">
                  <a:extLst>
                    <a:ext uri="{FF2B5EF4-FFF2-40B4-BE49-F238E27FC236}">
                      <a16:creationId xmlns:a16="http://schemas.microsoft.com/office/drawing/2014/main" xmlns="" id="{13B51388-D487-404B-8E80-29EBE51F59E4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55" name="Rectangle 12">
                  <a:extLst>
                    <a:ext uri="{FF2B5EF4-FFF2-40B4-BE49-F238E27FC236}">
                      <a16:creationId xmlns:a16="http://schemas.microsoft.com/office/drawing/2014/main" xmlns="" id="{0726AA02-C9CE-4E8C-A77E-9A458E9F0225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51" name="Picture 14" descr="Picture 14">
                <a:extLst>
                  <a:ext uri="{FF2B5EF4-FFF2-40B4-BE49-F238E27FC236}">
                    <a16:creationId xmlns:a16="http://schemas.microsoft.com/office/drawing/2014/main" xmlns="" id="{F4752845-A425-4626-8999-478B6153E30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2" name="TextBox 14">
                <a:extLst>
                  <a:ext uri="{FF2B5EF4-FFF2-40B4-BE49-F238E27FC236}">
                    <a16:creationId xmlns:a16="http://schemas.microsoft.com/office/drawing/2014/main" xmlns="" id="{E2DF6F5B-D493-4810-B293-745C2BA1A0FC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xmlns="" id="{09623608-3D09-45A2-8F67-52AC08DC49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27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766733" y="1600201"/>
            <a:ext cx="6815667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90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599" y="1600201"/>
            <a:ext cx="4011087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2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9218979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xmlns="" id="{0635ADB2-6EA8-4BAD-8DAD-0182A2D9B5D3}"/>
              </a:ext>
            </a:extLst>
          </p:cNvPr>
          <p:cNvGrpSpPr/>
          <p:nvPr userDrawn="1"/>
        </p:nvGrpSpPr>
        <p:grpSpPr>
          <a:xfrm>
            <a:off x="-79293" y="-641099"/>
            <a:ext cx="12356572" cy="8253818"/>
            <a:chOff x="-59470" y="-641099"/>
            <a:chExt cx="9267429" cy="8253818"/>
          </a:xfrm>
        </p:grpSpPr>
        <p:pic>
          <p:nvPicPr>
            <p:cNvPr id="77" name="Graphic 76">
              <a:extLst>
                <a:ext uri="{FF2B5EF4-FFF2-40B4-BE49-F238E27FC236}">
                  <a16:creationId xmlns:a16="http://schemas.microsoft.com/office/drawing/2014/main" xmlns="" id="{A2BB439D-C20C-4C61-883B-5D07B84E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xmlns="" id="{A2344A81-D7C5-4E75-BD95-2C31857749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xmlns="" id="{493B14BD-1E4B-4DAF-8B9A-008ACC84DB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80" name="Graphic 79">
              <a:extLst>
                <a:ext uri="{FF2B5EF4-FFF2-40B4-BE49-F238E27FC236}">
                  <a16:creationId xmlns:a16="http://schemas.microsoft.com/office/drawing/2014/main" xmlns="" id="{1017A1EE-D786-4AD9-8114-7031497F1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xmlns="" id="{5EB74B49-6A5D-4E90-A8EF-F1A27B22DD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xmlns="" id="{80B25D4E-B9E2-4A64-A8A8-6B92913B4C6C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84" name="Group 6">
                <a:extLst>
                  <a:ext uri="{FF2B5EF4-FFF2-40B4-BE49-F238E27FC236}">
                    <a16:creationId xmlns:a16="http://schemas.microsoft.com/office/drawing/2014/main" xmlns="" id="{A2EA67C3-44DA-4665-8AE2-141440DB23E2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91" name="Rectangle 6">
                  <a:extLst>
                    <a:ext uri="{FF2B5EF4-FFF2-40B4-BE49-F238E27FC236}">
                      <a16:creationId xmlns:a16="http://schemas.microsoft.com/office/drawing/2014/main" xmlns="" id="{D463F1CA-4C9D-4BCC-B0BD-14721FADA3F5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92" name="Rectangle 7">
                  <a:extLst>
                    <a:ext uri="{FF2B5EF4-FFF2-40B4-BE49-F238E27FC236}">
                      <a16:creationId xmlns:a16="http://schemas.microsoft.com/office/drawing/2014/main" xmlns="" id="{2EF7E6B7-9421-4BAA-AB81-AE89E08FDF0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93" name="Rectangle 8">
                  <a:extLst>
                    <a:ext uri="{FF2B5EF4-FFF2-40B4-BE49-F238E27FC236}">
                      <a16:creationId xmlns:a16="http://schemas.microsoft.com/office/drawing/2014/main" xmlns="" id="{AFEE1048-04C1-4DCE-8973-4784C897E7F9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85" name="Group 10">
                <a:extLst>
                  <a:ext uri="{FF2B5EF4-FFF2-40B4-BE49-F238E27FC236}">
                    <a16:creationId xmlns:a16="http://schemas.microsoft.com/office/drawing/2014/main" xmlns="" id="{62DA8075-114E-4D1A-8199-46D51587204A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88" name="Rectangle 10">
                  <a:extLst>
                    <a:ext uri="{FF2B5EF4-FFF2-40B4-BE49-F238E27FC236}">
                      <a16:creationId xmlns:a16="http://schemas.microsoft.com/office/drawing/2014/main" xmlns="" id="{42070327-4A30-4BA2-A8E6-6E330B5F30EB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89" name="Rectangle 11">
                  <a:extLst>
                    <a:ext uri="{FF2B5EF4-FFF2-40B4-BE49-F238E27FC236}">
                      <a16:creationId xmlns:a16="http://schemas.microsoft.com/office/drawing/2014/main" xmlns="" id="{EB4AF601-277A-494B-9871-87FBA75E5451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90" name="Rectangle 12">
                  <a:extLst>
                    <a:ext uri="{FF2B5EF4-FFF2-40B4-BE49-F238E27FC236}">
                      <a16:creationId xmlns:a16="http://schemas.microsoft.com/office/drawing/2014/main" xmlns="" id="{AB04FF31-B9E9-4A43-98B4-8DB577BD383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86" name="Picture 14" descr="Picture 14">
                <a:extLst>
                  <a:ext uri="{FF2B5EF4-FFF2-40B4-BE49-F238E27FC236}">
                    <a16:creationId xmlns:a16="http://schemas.microsoft.com/office/drawing/2014/main" xmlns="" id="{F8C276B3-EE15-4980-9AC5-AF2F16814A5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87" name="TextBox 14">
                <a:extLst>
                  <a:ext uri="{FF2B5EF4-FFF2-40B4-BE49-F238E27FC236}">
                    <a16:creationId xmlns:a16="http://schemas.microsoft.com/office/drawing/2014/main" xmlns="" id="{D133DA9B-065F-4040-94C1-D75BBB8A8147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xmlns="" id="{DD930F25-DAB1-4FE7-A1F6-75A37FD151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337" name="Title Text"/>
          <p:cNvSpPr txBox="1">
            <a:spLocks noGrp="1"/>
          </p:cNvSpPr>
          <p:nvPr>
            <p:ph type="title"/>
          </p:nvPr>
        </p:nvSpPr>
        <p:spPr>
          <a:xfrm>
            <a:off x="2389718" y="5407025"/>
            <a:ext cx="7315201" cy="3048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1800" spc="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8" y="5711825"/>
            <a:ext cx="7315201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600"/>
            </a:lvl1pPr>
            <a:lvl2pPr marL="0" indent="457200">
              <a:spcBef>
                <a:spcPts val="300"/>
              </a:spcBef>
              <a:buSzTx/>
              <a:buFontTx/>
              <a:buNone/>
              <a:defRPr sz="1600"/>
            </a:lvl2pPr>
            <a:lvl3pPr marL="0" indent="914400">
              <a:spcBef>
                <a:spcPts val="300"/>
              </a:spcBef>
              <a:buSzTx/>
              <a:buFontTx/>
              <a:buNone/>
              <a:defRPr sz="1600"/>
            </a:lvl3pPr>
            <a:lvl4pPr marL="0" indent="1371600">
              <a:spcBef>
                <a:spcPts val="300"/>
              </a:spcBef>
              <a:buSzTx/>
              <a:buFontTx/>
              <a:buNone/>
              <a:defRPr sz="1600"/>
            </a:lvl4pPr>
            <a:lvl5pPr marL="0" indent="1828800">
              <a:spcBef>
                <a:spcPts val="300"/>
              </a:spcBef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8" y="1828800"/>
            <a:ext cx="7315201" cy="3429000"/>
          </a:xfrm>
          <a:prstGeom prst="rect">
            <a:avLst/>
          </a:prstGeom>
          <a:ln w="57150">
            <a:solidFill>
              <a:srgbClr val="DCE6F2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6146827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83BBAD0-43A5-4D32-8FC9-062F956D4D42}"/>
              </a:ext>
            </a:extLst>
          </p:cNvPr>
          <p:cNvGrpSpPr/>
          <p:nvPr userDrawn="1"/>
        </p:nvGrpSpPr>
        <p:grpSpPr>
          <a:xfrm>
            <a:off x="-79293" y="-641099"/>
            <a:ext cx="12356572" cy="8253818"/>
            <a:chOff x="-59470" y="-641099"/>
            <a:chExt cx="9267429" cy="825381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xmlns="" id="{68C4D830-E082-446B-B643-5F87F72600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xmlns="" id="{1C9D4848-2B9E-4B8D-B630-AD31B35203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xmlns="" id="{635F0174-0096-461B-8212-566B0011E8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xmlns="" id="{1B104A8E-51B2-42E7-B651-568B9D1D36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xmlns="" id="{62F3D4CE-0862-4E00-B299-11A67A5904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1C5A1F24-1ABA-4385-8DF2-98C8D03B2CCD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30" name="Group 6"/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327" name="Rectangle 6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328" name="Rectangle 7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329" name="Rectangle 8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334" name="Group 10"/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31" name="Rectangle 10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332" name="Rectangle 11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333" name="Rectangle 12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335" name="Picture 14" descr="Picture 14"/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36" name="TextBox 14"/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xmlns="" id="{B778ADC1-BEF0-4061-926A-4839BEC48F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792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image" Target="../media/image8.jpe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FD961AE-01FE-4E7F-AF74-CFEC5D90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F9FC92-7924-4452-BBC0-DB112ED8D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E19652-ECCD-48DB-BE94-1C68A87AA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E03F7E-54E3-4B60-A0C0-14F04187E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4E1B61-94FE-4BE6-A879-F9D19B3B7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21C89-4E4A-406B-8392-F67A056F84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93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4" r:id="rId13"/>
    <p:sldLayoutId id="2147483665" r:id="rId14"/>
    <p:sldLayoutId id="2147483666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57718" y="6217852"/>
            <a:ext cx="279882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xmlns="" id="{BC5692C0-A143-3571-7EE1-32346BE8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1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</p:sldLayoutIdLst>
  <p:transition spd="med"/>
  <p:txStyles>
    <p:titleStyle>
      <a:lvl1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4572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9144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3716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8288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gaia.cs.umass.edu/kurose_ross/interactive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xmlns="" id="{6B4EA8C7-D7DC-AAB6-F030-CFB2684739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3886200"/>
            <a:ext cx="8274570" cy="91065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pc="-200"/>
            </a:lvl1pPr>
          </a:lstStyle>
          <a:p>
            <a:pPr algn="ctr"/>
            <a:r>
              <a:rPr lang="en-IN" sz="6600" dirty="0">
                <a:solidFill>
                  <a:schemeClr val="bg1"/>
                </a:solidFill>
                <a:latin typeface="Times New Roman" panose="02020603050405020304" pitchFamily="18" charset="0"/>
                <a:ea typeface="Ubuntu" panose="020B0504030602030204" pitchFamily="34" charset="0"/>
              </a:rPr>
              <a:t>Computer </a:t>
            </a:r>
            <a:r>
              <a:rPr lang="en-IN" sz="6600" dirty="0">
                <a:solidFill>
                  <a:schemeClr val="bg1"/>
                </a:solidFill>
                <a:latin typeface="Times New Roman" panose="02020603050405020304" pitchFamily="18" charset="0"/>
              </a:rPr>
              <a:t>Networks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xmlns="" id="{98943538-8B93-5D12-646F-DD350E0577E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5402705" y="5395209"/>
            <a:ext cx="6019800" cy="5334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buClr>
                <a:schemeClr val="lt1"/>
              </a:buClr>
              <a:buSzPts val="2400"/>
            </a:pPr>
            <a:r>
              <a:rPr lang="en-US" sz="2400" b="1" dirty="0" smtClean="0"/>
              <a:t>Prabhu Subramanian</a:t>
            </a:r>
            <a:endParaRPr lang="en-US" sz="2400" b="1" dirty="0"/>
          </a:p>
          <a:p>
            <a:pPr lvl="0">
              <a:buClr>
                <a:schemeClr val="lt1"/>
              </a:buClr>
              <a:buSzPts val="2400"/>
            </a:pPr>
            <a:r>
              <a:rPr lang="en-US" sz="2400" b="1" smtClean="0"/>
              <a:t>prabhus</a:t>
            </a:r>
            <a:r>
              <a:rPr lang="en-US" sz="2400" b="1" smtClean="0"/>
              <a:t>@wilp.bits-pilani.ac.in </a:t>
            </a:r>
            <a:endParaRPr lang="en-US" sz="2400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>
            <a:extLst>
              <a:ext uri="{FF2B5EF4-FFF2-40B4-BE49-F238E27FC236}">
                <a16:creationId xmlns:a16="http://schemas.microsoft.com/office/drawing/2014/main" xmlns="" id="{F2263745-3CAE-516E-E0AB-1C77C3F00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4" y="2457450"/>
            <a:ext cx="5076825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Slide Number Placeholder 2">
            <a:extLst>
              <a:ext uri="{FF2B5EF4-FFF2-40B4-BE49-F238E27FC236}">
                <a16:creationId xmlns:a16="http://schemas.microsoft.com/office/drawing/2014/main" xmlns="" id="{E4FD0579-1766-353F-578D-035E79BF1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055B8FDB-D63F-4C69-8E37-1D0C4F91AA8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8437" name="Google Shape;190;g2231df5f08c_0_0">
            <a:extLst>
              <a:ext uri="{FF2B5EF4-FFF2-40B4-BE49-F238E27FC236}">
                <a16:creationId xmlns:a16="http://schemas.microsoft.com/office/drawing/2014/main" xmlns="" id="{1724DF81-CB38-5CE6-577B-982632189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1" y="374649"/>
            <a:ext cx="72104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SzPts val="4400"/>
              <a:buFontTx/>
              <a:buNone/>
            </a:pPr>
            <a:r>
              <a:rPr lang="en-US" altLang="en-US" sz="3300" b="1" dirty="0"/>
              <a:t>  IMP Note to Self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82EF57-6DE5-354B-661F-E8F1742B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378D3494-7A2D-FA16-5E89-D8CCFDD9198C}"/>
              </a:ext>
            </a:extLst>
          </p:cNvPr>
          <p:cNvSpPr txBox="1">
            <a:spLocks/>
          </p:cNvSpPr>
          <p:nvPr/>
        </p:nvSpPr>
        <p:spPr>
          <a:xfrm>
            <a:off x="569625" y="1493838"/>
            <a:ext cx="11032761" cy="4906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 fontScale="77500" lnSpcReduction="20000"/>
          </a:bodyPr>
          <a:lstStyle>
            <a:lvl1pPr marL="342900" marR="0" indent="-685800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824592" marR="0" indent="-367392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1257300" marR="0" indent="-342900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1783079" marR="0" indent="-411479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2240279" marR="0" indent="-411479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marL="719138" indent="-44926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It is important  to know that just login to the session does not guarantee the  attendance.</a:t>
            </a:r>
          </a:p>
          <a:p>
            <a:pPr marL="719138" indent="-44926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Once you join the session, continue till the end to consider you as present in the class.</a:t>
            </a:r>
          </a:p>
          <a:p>
            <a:pPr marL="719138" indent="-44926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IMPORTANTLY, you need to make the class more interactive by responding to Professors queries in the session.</a:t>
            </a:r>
          </a:p>
          <a:p>
            <a:pPr marL="719138" indent="-449263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Whenever Professor calls your number / name, you need to respond, otherwise it will be considered as ABSENT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xmlns="" id="{E5B81B82-6722-E8D7-444B-729DD031BBCE}"/>
              </a:ext>
            </a:extLst>
          </p:cNvPr>
          <p:cNvSpPr txBox="1">
            <a:spLocks/>
          </p:cNvSpPr>
          <p:nvPr/>
        </p:nvSpPr>
        <p:spPr>
          <a:xfrm>
            <a:off x="0" y="592112"/>
            <a:ext cx="7520066" cy="73202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783771" marR="0" indent="-326571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marL="0" indent="0">
              <a:buNone/>
            </a:pPr>
            <a:r>
              <a:rPr lang="en-IN" sz="4000" b="1" dirty="0"/>
              <a:t>Important Note to Students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19808122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xmlns="" id="{0708FDF9-98D8-82DA-F401-4BCA6F29EBE4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1866900" y="4977984"/>
            <a:ext cx="8458200" cy="1167984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algn="ctr">
              <a:defRPr spc="-200"/>
            </a:pPr>
            <a:r>
              <a:rPr lang="en-US" dirty="0"/>
              <a:t>SEWI ZC467 - COMPUTER NETWORKS</a:t>
            </a:r>
          </a:p>
          <a:p>
            <a:pPr algn="ctr">
              <a:defRPr spc="-200"/>
            </a:pPr>
            <a:r>
              <a:rPr lang="en-US" dirty="0"/>
              <a:t>Lecture No. 06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83F85C7C-7385-39B1-3982-76AC85264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754" y="1591115"/>
            <a:ext cx="10827942" cy="452596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IN" sz="2800" dirty="0"/>
              <a:t>TCP: Segment structure, Setup, Termination, State transitions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IN" sz="2800" dirty="0"/>
              <a:t>TCP Flow Control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IN" sz="2800" dirty="0"/>
              <a:t>TCP Connection Management 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endParaRPr lang="en-US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5FA9FF9-52F1-1240-493E-7704B983A740}"/>
              </a:ext>
            </a:extLst>
          </p:cNvPr>
          <p:cNvSpPr txBox="1"/>
          <p:nvPr/>
        </p:nvSpPr>
        <p:spPr>
          <a:xfrm>
            <a:off x="277000" y="516071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07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12B8A8-42E3-BB35-72C4-64A982FD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C8DC2B2-64D5-DA81-2640-7CBD3B852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644" y="1426089"/>
            <a:ext cx="6785455" cy="28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CBEB105-C5BA-F481-3845-A627269F7CAE}"/>
              </a:ext>
            </a:extLst>
          </p:cNvPr>
          <p:cNvSpPr txBox="1"/>
          <p:nvPr/>
        </p:nvSpPr>
        <p:spPr>
          <a:xfrm>
            <a:off x="2741544" y="443677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u="none" strike="noStrike" baseline="0" dirty="0">
                <a:latin typeface="+mj-lt"/>
              </a:rPr>
              <a:t>TCP send and receive buffers</a:t>
            </a:r>
            <a:endParaRPr lang="en-IN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6705A5E-4B36-AE88-1E28-3AD2A7AE798C}"/>
              </a:ext>
            </a:extLst>
          </p:cNvPr>
          <p:cNvSpPr txBox="1"/>
          <p:nvPr/>
        </p:nvSpPr>
        <p:spPr>
          <a:xfrm>
            <a:off x="406399" y="4831746"/>
            <a:ext cx="11331713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/>
              <a:t>The maximum amount of data that can be grabbed and placed in a segment is limited by the </a:t>
            </a:r>
            <a:r>
              <a:rPr lang="en-US" sz="1800" b="1" i="0" u="none" strike="noStrike" baseline="0" dirty="0"/>
              <a:t>maximum segment size </a:t>
            </a:r>
            <a:r>
              <a:rPr lang="en-IN" sz="1800" b="1" i="0" u="none" strike="noStrike" baseline="0" dirty="0"/>
              <a:t>(MSS)</a:t>
            </a:r>
            <a:r>
              <a:rPr lang="en-IN" sz="1800" b="0" i="0" u="none" strike="noStrike" baseline="0" dirty="0"/>
              <a:t>.</a:t>
            </a:r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/>
              <a:t>The MSS is typically set by first determining the length of the largest link-layer frame that can be sent by the local sending host (the so-called </a:t>
            </a:r>
            <a:r>
              <a:rPr lang="en-US" sz="1800" b="1" i="0" u="none" strike="noStrike" baseline="0" dirty="0"/>
              <a:t>maximum</a:t>
            </a:r>
            <a:r>
              <a:rPr lang="en-IN" sz="1800" b="1" i="0" u="none" strike="noStrike" baseline="0" dirty="0"/>
              <a:t>transmission unit</a:t>
            </a:r>
            <a:r>
              <a:rPr lang="en-IN" sz="1800" b="0" i="0" u="none" strike="noStrike" baseline="0" dirty="0"/>
              <a:t>, </a:t>
            </a:r>
            <a:r>
              <a:rPr lang="en-IN" sz="1800" b="1" i="0" u="none" strike="noStrike" baseline="0" dirty="0"/>
              <a:t>MTU</a:t>
            </a:r>
            <a:r>
              <a:rPr lang="en-IN" sz="1800" b="0" i="0" u="none" strike="noStrike" baseline="0" dirty="0"/>
              <a:t>),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D50FAA9F-B25E-A8B3-DDFF-E4437D12EE4F}"/>
              </a:ext>
            </a:extLst>
          </p:cNvPr>
          <p:cNvSpPr txBox="1">
            <a:spLocks/>
          </p:cNvSpPr>
          <p:nvPr/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-228600" algn="l" defTabSz="914400" rtl="0" eaLnBrk="1" latinLnBrk="0" hangingPunct="1">
              <a:lnSpc>
                <a:spcPts val="36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b="1" kern="1200" spc="-15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ea typeface="ＭＳ Ｐゴシック" charset="0"/>
                <a:cs typeface="+mj-cs"/>
              </a:rPr>
              <a:t>TCP: Overview  RFCs: </a:t>
            </a:r>
            <a:r>
              <a:rPr lang="en-US" sz="2000" dirty="0">
                <a:ea typeface="ＭＳ Ｐゴシック" charset="0"/>
                <a:cs typeface="+mj-cs"/>
              </a:rPr>
              <a:t>793,1122,1323, 2018, 2581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452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DFEC88D-2383-B1CE-16DD-9BBCF4440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E79F368C-5CB0-1200-DD55-4013EE7128EC}"/>
              </a:ext>
            </a:extLst>
          </p:cNvPr>
          <p:cNvSpPr txBox="1">
            <a:spLocks/>
          </p:cNvSpPr>
          <p:nvPr/>
        </p:nvSpPr>
        <p:spPr>
          <a:xfrm>
            <a:off x="406400" y="152400"/>
            <a:ext cx="963701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-228600" algn="l" defTabSz="914400" rtl="0" eaLnBrk="1" latinLnBrk="0" hangingPunct="1">
              <a:lnSpc>
                <a:spcPts val="36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b="1" kern="1200" spc="-15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ea typeface="ＭＳ Ｐゴシック" charset="0"/>
                <a:cs typeface="+mj-cs"/>
              </a:rPr>
              <a:t>TCP: Overview  RFCs: </a:t>
            </a:r>
            <a:r>
              <a:rPr lang="en-US" sz="2500" dirty="0">
                <a:ea typeface="ＭＳ Ｐゴシック" charset="0"/>
                <a:cs typeface="+mj-cs"/>
              </a:rPr>
              <a:t>793,1122,1323, 2018, 2581</a:t>
            </a:r>
            <a:endParaRPr lang="en-IN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DBB34D4-FA8B-05B0-9137-728A9B1AB37B}"/>
              </a:ext>
            </a:extLst>
          </p:cNvPr>
          <p:cNvSpPr txBox="1"/>
          <p:nvPr/>
        </p:nvSpPr>
        <p:spPr>
          <a:xfrm>
            <a:off x="338306" y="1542951"/>
            <a:ext cx="42336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CC0000"/>
                </a:solidFill>
              </a:rPr>
              <a:t>point-to-point: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one sender, one receiver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CC0000"/>
                </a:solidFill>
              </a:rPr>
              <a:t>reliable, in-order </a:t>
            </a:r>
            <a:r>
              <a:rPr lang="en-US" altLang="en-US" sz="2400" i="1" dirty="0">
                <a:solidFill>
                  <a:srgbClr val="CC0000"/>
                </a:solidFill>
              </a:rPr>
              <a:t>byte steam: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no </a:t>
            </a:r>
            <a:r>
              <a:rPr lang="ja-JP" altLang="en-US" sz="2400" dirty="0"/>
              <a:t>“</a:t>
            </a:r>
            <a:r>
              <a:rPr lang="en-US" altLang="ja-JP" sz="2400" dirty="0"/>
              <a:t>message boundaries</a:t>
            </a:r>
            <a:r>
              <a:rPr lang="ja-JP" altLang="en-US" sz="2400" dirty="0"/>
              <a:t>”</a:t>
            </a:r>
            <a:endParaRPr lang="en-US" altLang="ja-JP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CC0000"/>
                </a:solidFill>
              </a:rPr>
              <a:t>pipelined: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TCP </a:t>
            </a:r>
            <a:r>
              <a:rPr lang="en-US" altLang="en-US" sz="2400" dirty="0">
                <a:solidFill>
                  <a:srgbClr val="0000FF"/>
                </a:solidFill>
              </a:rPr>
              <a:t>congestion</a:t>
            </a:r>
            <a:r>
              <a:rPr lang="en-US" altLang="en-US" sz="2400" dirty="0"/>
              <a:t> and </a:t>
            </a:r>
            <a:r>
              <a:rPr lang="en-US" altLang="en-US" sz="2400" dirty="0">
                <a:solidFill>
                  <a:srgbClr val="0000FF"/>
                </a:solidFill>
              </a:rPr>
              <a:t>flow control</a:t>
            </a:r>
            <a:r>
              <a:rPr lang="en-US" altLang="en-US" sz="2400" dirty="0"/>
              <a:t> set </a:t>
            </a:r>
            <a:r>
              <a:rPr lang="en-US" altLang="en-US" sz="2400" dirty="0">
                <a:solidFill>
                  <a:srgbClr val="008000"/>
                </a:solidFill>
              </a:rPr>
              <a:t>window size</a:t>
            </a:r>
            <a:endParaRPr lang="en-US" altLang="en-US" sz="2400" i="1" dirty="0">
              <a:solidFill>
                <a:srgbClr val="008000"/>
              </a:solidFill>
            </a:endParaRPr>
          </a:p>
          <a:p>
            <a:endParaRPr lang="en-US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773AC5F-A102-217B-76D2-EA1AEA0466AB}"/>
              </a:ext>
            </a:extLst>
          </p:cNvPr>
          <p:cNvSpPr txBox="1"/>
          <p:nvPr/>
        </p:nvSpPr>
        <p:spPr>
          <a:xfrm>
            <a:off x="5099725" y="1536174"/>
            <a:ext cx="60943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charset="0"/>
              <a:buChar char="v"/>
              <a:defRPr/>
            </a:pPr>
            <a:r>
              <a:rPr lang="en-US" sz="2400" dirty="0">
                <a:solidFill>
                  <a:srgbClr val="CC0000"/>
                </a:solidFill>
                <a:ea typeface="ＭＳ Ｐゴシック" charset="0"/>
                <a:cs typeface="+mn-cs"/>
              </a:rPr>
              <a:t>full duplex data: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ea typeface="ＭＳ Ｐゴシック" charset="0"/>
              </a:rPr>
              <a:t>bi-directional data flow in same connection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ea typeface="ＭＳ Ｐゴシック" charset="0"/>
              </a:rPr>
              <a:t>MSS: </a:t>
            </a:r>
            <a:r>
              <a:rPr lang="en-US" sz="2400" dirty="0">
                <a:solidFill>
                  <a:srgbClr val="0000FF"/>
                </a:solidFill>
                <a:ea typeface="ＭＳ Ｐゴシック" charset="0"/>
              </a:rPr>
              <a:t>maximum segment size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solidFill>
                  <a:srgbClr val="CC0000"/>
                </a:solidFill>
                <a:ea typeface="ＭＳ Ｐゴシック" charset="0"/>
                <a:cs typeface="+mn-cs"/>
              </a:rPr>
              <a:t>connection-oriented:</a:t>
            </a:r>
            <a:r>
              <a:rPr lang="en-US" sz="2400" dirty="0">
                <a:ea typeface="ＭＳ Ｐゴシック" charset="0"/>
                <a:cs typeface="+mn-cs"/>
              </a:rPr>
              <a:t>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ea typeface="ＭＳ Ｐゴシック" charset="0"/>
              </a:rPr>
              <a:t>handshaking (exchange of control </a:t>
            </a:r>
            <a:r>
              <a:rPr lang="en-US" sz="2400" dirty="0" err="1">
                <a:ea typeface="ＭＳ Ｐゴシック" charset="0"/>
              </a:rPr>
              <a:t>msgs</a:t>
            </a:r>
            <a:r>
              <a:rPr lang="en-US" sz="2400" dirty="0">
                <a:ea typeface="ＭＳ Ｐゴシック" charset="0"/>
              </a:rPr>
              <a:t>) </a:t>
            </a:r>
            <a:r>
              <a:rPr lang="en-US" sz="2400" dirty="0" err="1">
                <a:ea typeface="ＭＳ Ｐゴシック" charset="0"/>
              </a:rPr>
              <a:t>inits</a:t>
            </a:r>
            <a:r>
              <a:rPr lang="en-US" sz="2400" dirty="0">
                <a:ea typeface="ＭＳ Ｐゴシック" charset="0"/>
              </a:rPr>
              <a:t> sender, receiver state before data exchange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solidFill>
                  <a:srgbClr val="CC0000"/>
                </a:solidFill>
                <a:ea typeface="ＭＳ Ｐゴシック" charset="0"/>
                <a:cs typeface="+mn-cs"/>
              </a:rPr>
              <a:t>flow controlled: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solidFill>
                  <a:srgbClr val="008000"/>
                </a:solidFill>
                <a:ea typeface="ＭＳ Ｐゴシック" charset="0"/>
              </a:rPr>
              <a:t>sender will not overwhelm receiver</a:t>
            </a:r>
          </a:p>
        </p:txBody>
      </p:sp>
    </p:spTree>
    <p:extLst>
      <p:ext uri="{BB962C8B-B14F-4D97-AF65-F5344CB8AC3E}">
        <p14:creationId xmlns:p14="http://schemas.microsoft.com/office/powerpoint/2010/main" val="236898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0D839ED-5816-0B5D-D040-1E9F7DBAD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863A3D-3E23-E077-6283-349B4C2323CC}"/>
              </a:ext>
            </a:extLst>
          </p:cNvPr>
          <p:cNvSpPr txBox="1">
            <a:spLocks/>
          </p:cNvSpPr>
          <p:nvPr/>
        </p:nvSpPr>
        <p:spPr>
          <a:xfrm>
            <a:off x="78644" y="380919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segment structure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570FA687-AD1B-5D42-AC51-A63BBE8C1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073" y="1560062"/>
            <a:ext cx="3951287" cy="482441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3DC4A7D8-4231-4233-C1BC-BACFAFCD7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348" y="1675949"/>
            <a:ext cx="3951287" cy="48053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EF4BC7DE-2320-1DFE-D97C-44881CF575C1}"/>
              </a:ext>
            </a:extLst>
          </p:cNvPr>
          <p:cNvGrpSpPr/>
          <p:nvPr/>
        </p:nvGrpSpPr>
        <p:grpSpPr>
          <a:xfrm>
            <a:off x="4495573" y="1661303"/>
            <a:ext cx="3450544" cy="401997"/>
            <a:chOff x="4495573" y="1661303"/>
            <a:chExt cx="3450544" cy="401997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xmlns="" id="{85EE8016-10A2-6770-A610-858326CC6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573" y="1661303"/>
              <a:ext cx="16637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source port #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xmlns="" id="{7B7581E8-48EE-C2FD-079D-7D5D3C015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992" y="1666425"/>
              <a:ext cx="13811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dest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port #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Line 8">
            <a:extLst>
              <a:ext uri="{FF2B5EF4-FFF2-40B4-BE49-F238E27FC236}">
                <a16:creationId xmlns:a16="http://schemas.microsoft.com/office/drawing/2014/main" xmlns="" id="{FA3A1153-A7FF-BF34-CF58-CCA314E16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9523" y="2050599"/>
            <a:ext cx="3946525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xmlns="" id="{58A06499-FBBA-6CEA-1DC0-2AEC745222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2430012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7C0AF6E3-5A6A-B11C-BBEE-438F4B502160}"/>
              </a:ext>
            </a:extLst>
          </p:cNvPr>
          <p:cNvGrpSpPr/>
          <p:nvPr/>
        </p:nvGrpSpPr>
        <p:grpSpPr>
          <a:xfrm>
            <a:off x="4324123" y="1145724"/>
            <a:ext cx="3935412" cy="366713"/>
            <a:chOff x="4324123" y="1145724"/>
            <a:chExt cx="3935412" cy="366713"/>
          </a:xfrm>
        </p:grpSpPr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xmlns="" id="{A5784B1B-BDE5-2A11-B0D9-8DA11B710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2248" y="1145724"/>
              <a:ext cx="857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xmlns="" id="{467C5D3A-12BA-51C4-7706-73DD8588F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xmlns="" id="{B46660B3-D695-A237-38F4-E4949B8908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4" name="Line 16">
            <a:extLst>
              <a:ext uri="{FF2B5EF4-FFF2-40B4-BE49-F238E27FC236}">
                <a16:creationId xmlns:a16="http://schemas.microsoft.com/office/drawing/2014/main" xmlns="" id="{9A6892A6-3DF9-5EC7-2768-FA24E92A4E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2698" y="2811012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xmlns="" id="{270758B3-D901-B146-2BC7-2E1DCFB801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7935" y="3206299"/>
            <a:ext cx="39512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xmlns="" id="{C0C0AC8D-1A2D-D02D-FFC8-940878276C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3596824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xmlns="" id="{66551031-2C89-0243-9B57-3CC3BF08F7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4158799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xmlns="" id="{0D85F697-2951-0365-678E-AD253D02114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3735" y="2814187"/>
            <a:ext cx="4763" cy="7778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xmlns="" id="{96FDBFB1-F089-53C1-EA55-36F9B5F56D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68735" y="2814187"/>
            <a:ext cx="0" cy="392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20" name="Line 30">
            <a:extLst>
              <a:ext uri="{FF2B5EF4-FFF2-40B4-BE49-F238E27FC236}">
                <a16:creationId xmlns:a16="http://schemas.microsoft.com/office/drawing/2014/main" xmlns="" id="{5EBCDD95-2423-865F-F967-71B4F0632D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4748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21" name="Line 31">
            <a:extLst>
              <a:ext uri="{FF2B5EF4-FFF2-40B4-BE49-F238E27FC236}">
                <a16:creationId xmlns:a16="http://schemas.microsoft.com/office/drawing/2014/main" xmlns="" id="{3A80AC64-556B-9B31-7AB0-546368B1A3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55998" y="2818949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22" name="Text Box 38">
            <a:extLst>
              <a:ext uri="{FF2B5EF4-FFF2-40B4-BE49-F238E27FC236}">
                <a16:creationId xmlns:a16="http://schemas.microsoft.com/office/drawing/2014/main" xmlns="" id="{40AB0927-0ACE-8D9F-D0D8-33A217C4B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6966" y="2822952"/>
            <a:ext cx="482824" cy="407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not</a:t>
            </a:r>
          </a:p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used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xmlns="" id="{4010A61A-517B-3FF2-801F-6540905778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3766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2AAD54D3-F571-6003-2DC3-EE4031B19DA0}"/>
              </a:ext>
            </a:extLst>
          </p:cNvPr>
          <p:cNvGrpSpPr/>
          <p:nvPr/>
        </p:nvGrpSpPr>
        <p:grpSpPr>
          <a:xfrm>
            <a:off x="6405335" y="2817362"/>
            <a:ext cx="5252586" cy="731484"/>
            <a:chOff x="6405335" y="2817362"/>
            <a:chExt cx="5252586" cy="731484"/>
          </a:xfrm>
        </p:grpSpPr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xmlns="" id="{0801E5C6-F799-745F-AFC5-157E93644C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5335" y="2817362"/>
              <a:ext cx="17462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receive window</a:t>
              </a:r>
            </a:p>
          </p:txBody>
        </p:sp>
        <p:sp>
          <p:nvSpPr>
            <p:cNvPr id="26" name="Text Box 49">
              <a:extLst>
                <a:ext uri="{FF2B5EF4-FFF2-40B4-BE49-F238E27FC236}">
                  <a16:creationId xmlns:a16="http://schemas.microsoft.com/office/drawing/2014/main" xmlns="" id="{B3EF6150-7538-6CE3-87E6-D70B07D29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4900" y="2847115"/>
              <a:ext cx="2933021" cy="701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flow control: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# bytes receiver willing to accept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7" name="Line 53">
              <a:extLst>
                <a:ext uri="{FF2B5EF4-FFF2-40B4-BE49-F238E27FC236}">
                  <a16:creationId xmlns:a16="http://schemas.microsoft.com/office/drawing/2014/main" xmlns="" id="{144AA7F2-8677-0CE3-B0B3-A4800198E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42852" y="3044701"/>
              <a:ext cx="582048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54829F19-D828-6BE9-5D2F-E6654E5751B0}"/>
              </a:ext>
            </a:extLst>
          </p:cNvPr>
          <p:cNvGrpSpPr/>
          <p:nvPr/>
        </p:nvGrpSpPr>
        <p:grpSpPr>
          <a:xfrm>
            <a:off x="4979760" y="1674436"/>
            <a:ext cx="7040433" cy="1034129"/>
            <a:chOff x="4979760" y="1674436"/>
            <a:chExt cx="7040433" cy="1034129"/>
          </a:xfrm>
        </p:grpSpPr>
        <p:sp>
          <p:nvSpPr>
            <p:cNvPr id="29" name="Text Box 15">
              <a:extLst>
                <a:ext uri="{FF2B5EF4-FFF2-40B4-BE49-F238E27FC236}">
                  <a16:creationId xmlns:a16="http://schemas.microsoft.com/office/drawing/2014/main" xmlns="" id="{FD72CFC8-F9CE-D6D6-10DE-B9C2A3EAE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9760" y="2029962"/>
              <a:ext cx="24860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sequence number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0" name="Text Box 50">
              <a:extLst>
                <a:ext uri="{FF2B5EF4-FFF2-40B4-BE49-F238E27FC236}">
                  <a16:creationId xmlns:a16="http://schemas.microsoft.com/office/drawing/2014/main" xmlns="" id="{1B4206CE-2173-80C9-79DF-E9412712A7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4900" y="1674436"/>
              <a:ext cx="3295293" cy="1034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segment seq  #: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counting bytes of data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into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bytestream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(not segments!)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1" name="Line 55">
              <a:extLst>
                <a:ext uri="{FF2B5EF4-FFF2-40B4-BE49-F238E27FC236}">
                  <a16:creationId xmlns:a16="http://schemas.microsoft.com/office/drawing/2014/main" xmlns="" id="{933537C4-E5AF-F07C-ABD9-B484D16F6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24797" y="2244436"/>
              <a:ext cx="800102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96C6CCC7-0F02-E3ED-AF33-E7E74C7EB6D7}"/>
              </a:ext>
            </a:extLst>
          </p:cNvPr>
          <p:cNvGrpSpPr/>
          <p:nvPr/>
        </p:nvGrpSpPr>
        <p:grpSpPr>
          <a:xfrm>
            <a:off x="5398860" y="4614412"/>
            <a:ext cx="5770816" cy="1113459"/>
            <a:chOff x="5398860" y="4614412"/>
            <a:chExt cx="5770816" cy="1113459"/>
          </a:xfrm>
        </p:grpSpPr>
        <p:sp>
          <p:nvSpPr>
            <p:cNvPr id="33" name="Text Box 14">
              <a:extLst>
                <a:ext uri="{FF2B5EF4-FFF2-40B4-BE49-F238E27FC236}">
                  <a16:creationId xmlns:a16="http://schemas.microsoft.com/office/drawing/2014/main" xmlns="" id="{A263E83F-BBA7-55E8-58C5-C8304F1AA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8860" y="4614412"/>
              <a:ext cx="2005013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(variable length)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2D8109CB-CA84-F955-2239-9D343EC5F348}"/>
                </a:ext>
              </a:extLst>
            </p:cNvPr>
            <p:cNvSpPr txBox="1"/>
            <p:nvPr/>
          </p:nvSpPr>
          <p:spPr>
            <a:xfrm>
              <a:off x="8980285" y="4638342"/>
              <a:ext cx="2189391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sent by application into TCP socket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7E22001D-69C4-117E-1D6A-EBE776899766}"/>
                </a:ext>
              </a:extLst>
            </p:cNvPr>
            <p:cNvCxnSpPr>
              <a:cxnSpLocks/>
            </p:cNvCxnSpPr>
            <p:nvPr/>
          </p:nvCxnSpPr>
          <p:spPr>
            <a:xfrm>
              <a:off x="6727821" y="5150307"/>
              <a:ext cx="2149479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xmlns="" id="{87EA79BE-448D-EE3A-A294-9BC724077971}"/>
              </a:ext>
            </a:extLst>
          </p:cNvPr>
          <p:cNvGrpSpPr/>
          <p:nvPr/>
        </p:nvGrpSpPr>
        <p:grpSpPr>
          <a:xfrm>
            <a:off x="230393" y="1952743"/>
            <a:ext cx="7771793" cy="1241280"/>
            <a:chOff x="230393" y="1952743"/>
            <a:chExt cx="7771793" cy="1241280"/>
          </a:xfrm>
        </p:grpSpPr>
        <p:sp>
          <p:nvSpPr>
            <p:cNvPr id="37" name="Text Box 35">
              <a:extLst>
                <a:ext uri="{FF2B5EF4-FFF2-40B4-BE49-F238E27FC236}">
                  <a16:creationId xmlns:a16="http://schemas.microsoft.com/office/drawing/2014/main" xmlns="" id="{6899B92B-7887-63C6-925C-57509DAAE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7297" y="2855469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A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xmlns="" id="{554FF008-095C-1371-CA3E-24305FAA27A1}"/>
                </a:ext>
              </a:extLst>
            </p:cNvPr>
            <p:cNvGrpSpPr/>
            <p:nvPr/>
          </p:nvGrpSpPr>
          <p:grpSpPr>
            <a:xfrm>
              <a:off x="230393" y="1952743"/>
              <a:ext cx="7771793" cy="971860"/>
              <a:chOff x="217867" y="1965269"/>
              <a:chExt cx="7771793" cy="971860"/>
            </a:xfrm>
          </p:grpSpPr>
          <p:sp>
            <p:nvSpPr>
              <p:cNvPr id="39" name="Text Box 17">
                <a:extLst>
                  <a:ext uri="{FF2B5EF4-FFF2-40B4-BE49-F238E27FC236}">
                    <a16:creationId xmlns:a16="http://schemas.microsoft.com/office/drawing/2014/main" xmlns="" id="{1631971B-05E0-04C6-5886-8E59C728ED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9710" y="2430012"/>
                <a:ext cx="3409950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40" name="Text Box 42">
                <a:extLst>
                  <a:ext uri="{FF2B5EF4-FFF2-40B4-BE49-F238E27FC236}">
                    <a16:creationId xmlns:a16="http://schemas.microsoft.com/office/drawing/2014/main" xmlns="" id="{A0D85165-F855-5D57-2E4F-1A1C88367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867" y="1965269"/>
                <a:ext cx="3287333" cy="7017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ACK: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seq # of next expected byte; A bit: this is an ACK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" name="Line 46">
                <a:extLst>
                  <a:ext uri="{FF2B5EF4-FFF2-40B4-BE49-F238E27FC236}">
                    <a16:creationId xmlns:a16="http://schemas.microsoft.com/office/drawing/2014/main" xmlns="" id="{90E87B39-3080-B929-D7A3-67D32E415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2417523"/>
                <a:ext cx="2076276" cy="519606"/>
              </a:xfrm>
              <a:custGeom>
                <a:avLst/>
                <a:gdLst>
                  <a:gd name="connsiteX0" fmla="*/ 0 w 2082626"/>
                  <a:gd name="connsiteY0" fmla="*/ 0 h 560881"/>
                  <a:gd name="connsiteX1" fmla="*/ 2082626 w 2082626"/>
                  <a:gd name="connsiteY1" fmla="*/ 560881 h 560881"/>
                  <a:gd name="connsiteX0" fmla="*/ 0 w 2076276"/>
                  <a:gd name="connsiteY0" fmla="*/ 0 h 519606"/>
                  <a:gd name="connsiteX1" fmla="*/ 2076276 w 2076276"/>
                  <a:gd name="connsiteY1" fmla="*/ 519606 h 519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76276" h="519606">
                    <a:moveTo>
                      <a:pt x="0" y="0"/>
                    </a:moveTo>
                    <a:cubicBezTo>
                      <a:pt x="694209" y="186960"/>
                      <a:pt x="1382067" y="332646"/>
                      <a:pt x="2076276" y="519606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" name="Line 46">
                <a:extLst>
                  <a:ext uri="{FF2B5EF4-FFF2-40B4-BE49-F238E27FC236}">
                    <a16:creationId xmlns:a16="http://schemas.microsoft.com/office/drawing/2014/main" xmlns="" id="{1C6CD6BB-0E90-2679-5AE3-B56B593C5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2404996"/>
                <a:ext cx="1263476" cy="215853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F8B6F014-CE5B-8387-942B-E980BB95690F}"/>
              </a:ext>
            </a:extLst>
          </p:cNvPr>
          <p:cNvGrpSpPr/>
          <p:nvPr/>
        </p:nvGrpSpPr>
        <p:grpSpPr>
          <a:xfrm>
            <a:off x="1895418" y="3659802"/>
            <a:ext cx="5828956" cy="1090980"/>
            <a:chOff x="1895418" y="3659802"/>
            <a:chExt cx="5828956" cy="1090980"/>
          </a:xfrm>
        </p:grpSpPr>
        <p:sp>
          <p:nvSpPr>
            <p:cNvPr id="44" name="Text Box 40">
              <a:extLst>
                <a:ext uri="{FF2B5EF4-FFF2-40B4-BE49-F238E27FC236}">
                  <a16:creationId xmlns:a16="http://schemas.microsoft.com/office/drawing/2014/main" xmlns="" id="{ADBF51AC-3BFB-F82D-E52D-2693EF61E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361" y="3659802"/>
              <a:ext cx="289401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options (variable length)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5" name="Text Box 42">
              <a:extLst>
                <a:ext uri="{FF2B5EF4-FFF2-40B4-BE49-F238E27FC236}">
                  <a16:creationId xmlns:a16="http://schemas.microsoft.com/office/drawing/2014/main" xmlns="" id="{A0128F77-6BA6-7D4D-A6A4-B754C99F2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5418" y="4326050"/>
              <a:ext cx="1688926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options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xmlns="" id="{0ACF2713-7606-7E91-6E3F-A6BEE63482EB}"/>
                </a:ext>
              </a:extLst>
            </p:cNvPr>
            <p:cNvCxnSpPr>
              <a:cxnSpLocks/>
              <a:stCxn id="45" idx="3"/>
              <a:endCxn id="44" idx="1"/>
            </p:cNvCxnSpPr>
            <p:nvPr/>
          </p:nvCxnSpPr>
          <p:spPr>
            <a:xfrm flipV="1">
              <a:off x="3584344" y="3859857"/>
              <a:ext cx="1246017" cy="67855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9B849BCC-9ADC-972B-763A-5D76488A1142}"/>
              </a:ext>
            </a:extLst>
          </p:cNvPr>
          <p:cNvGrpSpPr/>
          <p:nvPr/>
        </p:nvGrpSpPr>
        <p:grpSpPr>
          <a:xfrm>
            <a:off x="318075" y="2819126"/>
            <a:ext cx="4456458" cy="424732"/>
            <a:chOff x="318075" y="2819126"/>
            <a:chExt cx="4456458" cy="424732"/>
          </a:xfrm>
        </p:grpSpPr>
        <p:sp>
          <p:nvSpPr>
            <p:cNvPr id="48" name="Text Box 37">
              <a:extLst>
                <a:ext uri="{FF2B5EF4-FFF2-40B4-BE49-F238E27FC236}">
                  <a16:creationId xmlns:a16="http://schemas.microsoft.com/office/drawing/2014/main" xmlns="" id="{A212B1A7-7EBC-5048-95FF-AFFBFD5C4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8884" y="2826980"/>
              <a:ext cx="495649" cy="407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head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len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xmlns="" id="{3AD14467-9FB8-E245-E3F4-CF9022D00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075" y="2819126"/>
              <a:ext cx="3287333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length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(of TCP header)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xmlns="" id="{5A1DDD11-2FD8-EFD2-1093-53F0BE5A7550}"/>
                </a:ext>
              </a:extLst>
            </p:cNvPr>
            <p:cNvCxnSpPr>
              <a:cxnSpLocks/>
            </p:cNvCxnSpPr>
            <p:nvPr/>
          </p:nvCxnSpPr>
          <p:spPr>
            <a:xfrm>
              <a:off x="3544867" y="3031480"/>
              <a:ext cx="783888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7DC01BE6-3BB4-4A6D-E8A5-BCD01EE52D14}"/>
              </a:ext>
            </a:extLst>
          </p:cNvPr>
          <p:cNvGrpSpPr/>
          <p:nvPr/>
        </p:nvGrpSpPr>
        <p:grpSpPr>
          <a:xfrm>
            <a:off x="-24878" y="3174115"/>
            <a:ext cx="6031751" cy="424732"/>
            <a:chOff x="-24878" y="3174115"/>
            <a:chExt cx="6031751" cy="424732"/>
          </a:xfrm>
        </p:grpSpPr>
        <p:sp>
          <p:nvSpPr>
            <p:cNvPr id="52" name="Text Box 24">
              <a:extLst>
                <a:ext uri="{FF2B5EF4-FFF2-40B4-BE49-F238E27FC236}">
                  <a16:creationId xmlns:a16="http://schemas.microsoft.com/office/drawing/2014/main" xmlns="" id="{0F3409ED-29A1-0BBC-303A-0E00A0C69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4023" y="3203124"/>
              <a:ext cx="1212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checksum</a:t>
              </a:r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xmlns="" id="{5752A93C-7ACA-2B77-EFC0-040EA371D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878" y="3174115"/>
              <a:ext cx="3595495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Internet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checksum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xmlns="" id="{F179144C-989D-AED4-6790-0C93C8B68EF1}"/>
                </a:ext>
              </a:extLst>
            </p:cNvPr>
            <p:cNvCxnSpPr>
              <a:cxnSpLocks/>
              <a:stCxn id="53" idx="3"/>
              <a:endCxn id="52" idx="1"/>
            </p:cNvCxnSpPr>
            <p:nvPr/>
          </p:nvCxnSpPr>
          <p:spPr>
            <a:xfrm>
              <a:off x="3570617" y="3386481"/>
              <a:ext cx="1223406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Line 10">
            <a:extLst>
              <a:ext uri="{FF2B5EF4-FFF2-40B4-BE49-F238E27FC236}">
                <a16:creationId xmlns:a16="http://schemas.microsoft.com/office/drawing/2014/main" xmlns="" id="{C0F43915-8B9B-EAA8-408B-866E28BF79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89447" y="1679374"/>
            <a:ext cx="1761" cy="36518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6" name="Line 26">
            <a:extLst>
              <a:ext uri="{FF2B5EF4-FFF2-40B4-BE49-F238E27FC236}">
                <a16:creationId xmlns:a16="http://schemas.microsoft.com/office/drawing/2014/main" xmlns="" id="{EF957196-4FB0-7645-9D0E-DE3C32C12F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0711" y="2804662"/>
            <a:ext cx="0" cy="392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57" name="Line 27">
            <a:extLst>
              <a:ext uri="{FF2B5EF4-FFF2-40B4-BE49-F238E27FC236}">
                <a16:creationId xmlns:a16="http://schemas.microsoft.com/office/drawing/2014/main" xmlns="" id="{50575B92-FE68-3B91-228C-E25CD76F28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92924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58" name="Line 28">
            <a:extLst>
              <a:ext uri="{FF2B5EF4-FFF2-40B4-BE49-F238E27FC236}">
                <a16:creationId xmlns:a16="http://schemas.microsoft.com/office/drawing/2014/main" xmlns="" id="{B0DECB28-D40F-27E6-4EBE-483967FD18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0374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xmlns="" id="{279AE393-C598-03C2-BFA9-7A7124BA1348}"/>
              </a:ext>
            </a:extLst>
          </p:cNvPr>
          <p:cNvGrpSpPr/>
          <p:nvPr/>
        </p:nvGrpSpPr>
        <p:grpSpPr>
          <a:xfrm>
            <a:off x="172543" y="2863949"/>
            <a:ext cx="6190466" cy="2660551"/>
            <a:chOff x="172543" y="2863949"/>
            <a:chExt cx="6190466" cy="2660551"/>
          </a:xfrm>
        </p:grpSpPr>
        <p:sp>
          <p:nvSpPr>
            <p:cNvPr id="60" name="Text Box 44">
              <a:extLst>
                <a:ext uri="{FF2B5EF4-FFF2-40B4-BE49-F238E27FC236}">
                  <a16:creationId xmlns:a16="http://schemas.microsoft.com/office/drawing/2014/main" xmlns="" id="{4B93567C-F74A-7AFA-C218-D1D5B4084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43" y="4822769"/>
              <a:ext cx="3419248" cy="701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RST, SYN, FIN: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connection management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xmlns="" id="{D9D46477-6349-D81B-3989-30FA8B0EE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336" y="3152325"/>
              <a:ext cx="2678659" cy="2026938"/>
            </a:xfrm>
            <a:custGeom>
              <a:avLst/>
              <a:gdLst>
                <a:gd name="T0" fmla="*/ 0 w 1458"/>
                <a:gd name="T1" fmla="*/ 2147483647 h 444"/>
                <a:gd name="T2" fmla="*/ 2147483647 w 1458"/>
                <a:gd name="T3" fmla="*/ 0 h 444"/>
                <a:gd name="T4" fmla="*/ 2147483647 w 1458"/>
                <a:gd name="T5" fmla="*/ 2147483647 h 444"/>
                <a:gd name="T6" fmla="*/ 0 60000 65536"/>
                <a:gd name="T7" fmla="*/ 0 60000 65536"/>
                <a:gd name="T8" fmla="*/ 0 60000 65536"/>
                <a:gd name="connsiteX0" fmla="*/ 0 w 10533"/>
                <a:gd name="connsiteY0" fmla="*/ 10875 h 10875"/>
                <a:gd name="connsiteX1" fmla="*/ 9093 w 10533"/>
                <a:gd name="connsiteY1" fmla="*/ 0 h 10875"/>
                <a:gd name="connsiteX2" fmla="*/ 10533 w 10533"/>
                <a:gd name="connsiteY2" fmla="*/ 135 h 10875"/>
                <a:gd name="connsiteX0" fmla="*/ 0 w 11345"/>
                <a:gd name="connsiteY0" fmla="*/ 13363 h 13363"/>
                <a:gd name="connsiteX1" fmla="*/ 9905 w 11345"/>
                <a:gd name="connsiteY1" fmla="*/ 0 h 13363"/>
                <a:gd name="connsiteX2" fmla="*/ 11345 w 11345"/>
                <a:gd name="connsiteY2" fmla="*/ 135 h 13363"/>
                <a:gd name="connsiteX0" fmla="*/ 0 w 11465"/>
                <a:gd name="connsiteY0" fmla="*/ 23977 h 23977"/>
                <a:gd name="connsiteX1" fmla="*/ 10025 w 11465"/>
                <a:gd name="connsiteY1" fmla="*/ 0 h 23977"/>
                <a:gd name="connsiteX2" fmla="*/ 11465 w 11465"/>
                <a:gd name="connsiteY2" fmla="*/ 135 h 23977"/>
                <a:gd name="connsiteX0" fmla="*/ 0 w 11405"/>
                <a:gd name="connsiteY0" fmla="*/ 28694 h 28694"/>
                <a:gd name="connsiteX1" fmla="*/ 9965 w 11405"/>
                <a:gd name="connsiteY1" fmla="*/ 0 h 28694"/>
                <a:gd name="connsiteX2" fmla="*/ 11405 w 11405"/>
                <a:gd name="connsiteY2" fmla="*/ 135 h 28694"/>
                <a:gd name="connsiteX0" fmla="*/ 0 w 11391"/>
                <a:gd name="connsiteY0" fmla="*/ 28694 h 28694"/>
                <a:gd name="connsiteX1" fmla="*/ 9965 w 11391"/>
                <a:gd name="connsiteY1" fmla="*/ 0 h 28694"/>
                <a:gd name="connsiteX2" fmla="*/ 11391 w 11391"/>
                <a:gd name="connsiteY2" fmla="*/ 0 h 28694"/>
                <a:gd name="connsiteX0" fmla="*/ 0 w 11877"/>
                <a:gd name="connsiteY0" fmla="*/ 32885 h 32885"/>
                <a:gd name="connsiteX1" fmla="*/ 10451 w 11877"/>
                <a:gd name="connsiteY1" fmla="*/ 0 h 32885"/>
                <a:gd name="connsiteX2" fmla="*/ 11877 w 11877"/>
                <a:gd name="connsiteY2" fmla="*/ 0 h 32885"/>
                <a:gd name="connsiteX0" fmla="*/ 0 w 11573"/>
                <a:gd name="connsiteY0" fmla="*/ 32885 h 32885"/>
                <a:gd name="connsiteX1" fmla="*/ 10147 w 11573"/>
                <a:gd name="connsiteY1" fmla="*/ 0 h 32885"/>
                <a:gd name="connsiteX2" fmla="*/ 11573 w 11573"/>
                <a:gd name="connsiteY2" fmla="*/ 0 h 32885"/>
                <a:gd name="connsiteX0" fmla="*/ 0 w 11573"/>
                <a:gd name="connsiteY0" fmla="*/ 28757 h 28757"/>
                <a:gd name="connsiteX1" fmla="*/ 10147 w 11573"/>
                <a:gd name="connsiteY1" fmla="*/ 0 h 28757"/>
                <a:gd name="connsiteX2" fmla="*/ 11573 w 11573"/>
                <a:gd name="connsiteY2" fmla="*/ 0 h 2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73" h="28757">
                  <a:moveTo>
                    <a:pt x="0" y="28757"/>
                  </a:moveTo>
                  <a:lnTo>
                    <a:pt x="10147" y="0"/>
                  </a:lnTo>
                  <a:lnTo>
                    <a:pt x="11573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xmlns="" id="{95347042-6DD3-E93B-A368-9E48577FB851}"/>
                </a:ext>
              </a:extLst>
            </p:cNvPr>
            <p:cNvGrpSpPr/>
            <p:nvPr/>
          </p:nvGrpSpPr>
          <p:grpSpPr>
            <a:xfrm>
              <a:off x="5775299" y="2863949"/>
              <a:ext cx="587710" cy="339181"/>
              <a:chOff x="5775299" y="2863949"/>
              <a:chExt cx="587710" cy="339181"/>
            </a:xfrm>
          </p:grpSpPr>
          <p:sp>
            <p:nvSpPr>
              <p:cNvPr id="63" name="Text Box 25">
                <a:extLst>
                  <a:ext uri="{FF2B5EF4-FFF2-40B4-BE49-F238E27FC236}">
                    <a16:creationId xmlns:a16="http://schemas.microsoft.com/office/drawing/2014/main" xmlns="" id="{FBDF492F-3F68-5CB0-2671-2146B307DF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766" y="2864576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F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Text Box 32">
                <a:extLst>
                  <a:ext uri="{FF2B5EF4-FFF2-40B4-BE49-F238E27FC236}">
                    <a16:creationId xmlns:a16="http://schemas.microsoft.com/office/drawing/2014/main" xmlns="" id="{666D197C-5030-7864-1516-28320E2CEB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9184" y="2863949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S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5" name="Text Box 33">
                <a:extLst>
                  <a:ext uri="{FF2B5EF4-FFF2-40B4-BE49-F238E27FC236}">
                    <a16:creationId xmlns:a16="http://schemas.microsoft.com/office/drawing/2014/main" xmlns="" id="{508010F9-40A6-E422-C389-97953E3DC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52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R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D62FB62B-8F78-736C-4738-C19C04E8655B}"/>
              </a:ext>
            </a:extLst>
          </p:cNvPr>
          <p:cNvGrpSpPr/>
          <p:nvPr/>
        </p:nvGrpSpPr>
        <p:grpSpPr>
          <a:xfrm>
            <a:off x="5277007" y="2859957"/>
            <a:ext cx="2976178" cy="719405"/>
            <a:chOff x="5277007" y="2859957"/>
            <a:chExt cx="2976178" cy="719405"/>
          </a:xfrm>
        </p:grpSpPr>
        <p:sp>
          <p:nvSpPr>
            <p:cNvPr id="67" name="Text Box 23">
              <a:extLst>
                <a:ext uri="{FF2B5EF4-FFF2-40B4-BE49-F238E27FC236}">
                  <a16:creationId xmlns:a16="http://schemas.microsoft.com/office/drawing/2014/main" xmlns="" id="{02B200D0-2CE5-07FC-9C45-8AD958C4A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0735" y="3212649"/>
              <a:ext cx="18224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Urg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data pointer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xmlns="" id="{533B6B86-59CE-EC4F-A112-0A3E5B29B9B9}"/>
                </a:ext>
              </a:extLst>
            </p:cNvPr>
            <p:cNvGrpSpPr/>
            <p:nvPr/>
          </p:nvGrpSpPr>
          <p:grpSpPr>
            <a:xfrm>
              <a:off x="5277007" y="2859957"/>
              <a:ext cx="627836" cy="345695"/>
              <a:chOff x="5527528" y="3067992"/>
              <a:chExt cx="627836" cy="345695"/>
            </a:xfrm>
          </p:grpSpPr>
          <p:sp>
            <p:nvSpPr>
              <p:cNvPr id="69" name="Text Box 34">
                <a:extLst>
                  <a:ext uri="{FF2B5EF4-FFF2-40B4-BE49-F238E27FC236}">
                    <a16:creationId xmlns:a16="http://schemas.microsoft.com/office/drawing/2014/main" xmlns="" id="{5FAFCCF2-536D-989F-CC4F-ED5368288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4900" y="3067992"/>
                <a:ext cx="290464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P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0" name="Text Box 36">
                <a:extLst>
                  <a:ext uri="{FF2B5EF4-FFF2-40B4-BE49-F238E27FC236}">
                    <a16:creationId xmlns:a16="http://schemas.microsoft.com/office/drawing/2014/main" xmlns="" id="{E96ADF20-E476-3325-B644-058D28F89D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7528" y="3075133"/>
                <a:ext cx="31611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U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71" name="Line 39">
            <a:extLst>
              <a:ext uri="{FF2B5EF4-FFF2-40B4-BE49-F238E27FC236}">
                <a16:creationId xmlns:a16="http://schemas.microsoft.com/office/drawing/2014/main" xmlns="" id="{ED03C30D-F462-E92C-C2DC-50CBA545F2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8305" y="2821148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72" name="Line 39">
            <a:extLst>
              <a:ext uri="{FF2B5EF4-FFF2-40B4-BE49-F238E27FC236}">
                <a16:creationId xmlns:a16="http://schemas.microsoft.com/office/drawing/2014/main" xmlns="" id="{43083303-003A-D79B-70A7-527066A63C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8693" y="2812182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xmlns="" id="{B0D0A326-5F55-2F5F-40CE-EBD862FEEA51}"/>
              </a:ext>
            </a:extLst>
          </p:cNvPr>
          <p:cNvGrpSpPr/>
          <p:nvPr/>
        </p:nvGrpSpPr>
        <p:grpSpPr>
          <a:xfrm>
            <a:off x="182880" y="2863950"/>
            <a:ext cx="5235245" cy="1390074"/>
            <a:chOff x="182880" y="2863950"/>
            <a:chExt cx="5235245" cy="139007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xmlns="" id="{C2000917-7943-BC87-232E-6429BEEDF640}"/>
                </a:ext>
              </a:extLst>
            </p:cNvPr>
            <p:cNvGrpSpPr/>
            <p:nvPr/>
          </p:nvGrpSpPr>
          <p:grpSpPr>
            <a:xfrm>
              <a:off x="4962499" y="2863950"/>
              <a:ext cx="455626" cy="338554"/>
              <a:chOff x="4962499" y="2863950"/>
              <a:chExt cx="455626" cy="338554"/>
            </a:xfrm>
          </p:grpSpPr>
          <p:sp>
            <p:nvSpPr>
              <p:cNvPr id="77" name="Text Box 33">
                <a:extLst>
                  <a:ext uri="{FF2B5EF4-FFF2-40B4-BE49-F238E27FC236}">
                    <a16:creationId xmlns:a16="http://schemas.microsoft.com/office/drawing/2014/main" xmlns="" id="{C3626723-0E09-6B3A-280A-C3A33CA280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24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C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8" name="Text Box 33">
                <a:extLst>
                  <a:ext uri="{FF2B5EF4-FFF2-40B4-BE49-F238E27FC236}">
                    <a16:creationId xmlns:a16="http://schemas.microsoft.com/office/drawing/2014/main" xmlns="" id="{EE061467-9378-57B0-0971-715090A087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124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E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75" name="Text Box 44">
              <a:extLst>
                <a:ext uri="{FF2B5EF4-FFF2-40B4-BE49-F238E27FC236}">
                  <a16:creationId xmlns:a16="http://schemas.microsoft.com/office/drawing/2014/main" xmlns="" id="{A443F29A-B248-81D8-3ED9-BFE1B392D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" y="3829292"/>
              <a:ext cx="3384479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C, E: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congestion notification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76" name="Freeform 48">
              <a:extLst>
                <a:ext uri="{FF2B5EF4-FFF2-40B4-BE49-F238E27FC236}">
                  <a16:creationId xmlns:a16="http://schemas.microsoft.com/office/drawing/2014/main" xmlns="" id="{67F49226-86B6-9CF8-8AD4-8ECDAC283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195" y="3136684"/>
              <a:ext cx="1749482" cy="914811"/>
            </a:xfrm>
            <a:custGeom>
              <a:avLst/>
              <a:gdLst>
                <a:gd name="T0" fmla="*/ 0 w 1458"/>
                <a:gd name="T1" fmla="*/ 2147483647 h 444"/>
                <a:gd name="T2" fmla="*/ 2147483647 w 1458"/>
                <a:gd name="T3" fmla="*/ 0 h 444"/>
                <a:gd name="T4" fmla="*/ 2147483647 w 1458"/>
                <a:gd name="T5" fmla="*/ 2147483647 h 444"/>
                <a:gd name="T6" fmla="*/ 0 60000 65536"/>
                <a:gd name="T7" fmla="*/ 0 60000 65536"/>
                <a:gd name="T8" fmla="*/ 0 60000 65536"/>
                <a:gd name="connsiteX0" fmla="*/ 0 w 10533"/>
                <a:gd name="connsiteY0" fmla="*/ 10875 h 10875"/>
                <a:gd name="connsiteX1" fmla="*/ 9093 w 10533"/>
                <a:gd name="connsiteY1" fmla="*/ 0 h 10875"/>
                <a:gd name="connsiteX2" fmla="*/ 10533 w 10533"/>
                <a:gd name="connsiteY2" fmla="*/ 135 h 10875"/>
                <a:gd name="connsiteX0" fmla="*/ 0 w 11345"/>
                <a:gd name="connsiteY0" fmla="*/ 13363 h 13363"/>
                <a:gd name="connsiteX1" fmla="*/ 9905 w 11345"/>
                <a:gd name="connsiteY1" fmla="*/ 0 h 13363"/>
                <a:gd name="connsiteX2" fmla="*/ 11345 w 11345"/>
                <a:gd name="connsiteY2" fmla="*/ 135 h 13363"/>
                <a:gd name="connsiteX0" fmla="*/ 0 w 11465"/>
                <a:gd name="connsiteY0" fmla="*/ 23977 h 23977"/>
                <a:gd name="connsiteX1" fmla="*/ 10025 w 11465"/>
                <a:gd name="connsiteY1" fmla="*/ 0 h 23977"/>
                <a:gd name="connsiteX2" fmla="*/ 11465 w 11465"/>
                <a:gd name="connsiteY2" fmla="*/ 135 h 23977"/>
                <a:gd name="connsiteX0" fmla="*/ 0 w 11405"/>
                <a:gd name="connsiteY0" fmla="*/ 28694 h 28694"/>
                <a:gd name="connsiteX1" fmla="*/ 9965 w 11405"/>
                <a:gd name="connsiteY1" fmla="*/ 0 h 28694"/>
                <a:gd name="connsiteX2" fmla="*/ 11405 w 11405"/>
                <a:gd name="connsiteY2" fmla="*/ 135 h 28694"/>
                <a:gd name="connsiteX0" fmla="*/ 0 w 11391"/>
                <a:gd name="connsiteY0" fmla="*/ 28694 h 28694"/>
                <a:gd name="connsiteX1" fmla="*/ 9965 w 11391"/>
                <a:gd name="connsiteY1" fmla="*/ 0 h 28694"/>
                <a:gd name="connsiteX2" fmla="*/ 11391 w 11391"/>
                <a:gd name="connsiteY2" fmla="*/ 0 h 28694"/>
                <a:gd name="connsiteX0" fmla="*/ 0 w 11391"/>
                <a:gd name="connsiteY0" fmla="*/ 28743 h 28743"/>
                <a:gd name="connsiteX1" fmla="*/ 6388 w 11391"/>
                <a:gd name="connsiteY1" fmla="*/ 0 h 28743"/>
                <a:gd name="connsiteX2" fmla="*/ 11391 w 11391"/>
                <a:gd name="connsiteY2" fmla="*/ 49 h 28743"/>
                <a:gd name="connsiteX0" fmla="*/ 0 w 7455"/>
                <a:gd name="connsiteY0" fmla="*/ 28792 h 28792"/>
                <a:gd name="connsiteX1" fmla="*/ 6388 w 7455"/>
                <a:gd name="connsiteY1" fmla="*/ 49 h 28792"/>
                <a:gd name="connsiteX2" fmla="*/ 7455 w 7455"/>
                <a:gd name="connsiteY2" fmla="*/ 0 h 28792"/>
                <a:gd name="connsiteX0" fmla="*/ 0 w 9679"/>
                <a:gd name="connsiteY0" fmla="*/ 9983 h 9983"/>
                <a:gd name="connsiteX1" fmla="*/ 8569 w 9679"/>
                <a:gd name="connsiteY1" fmla="*/ 0 h 9983"/>
                <a:gd name="connsiteX2" fmla="*/ 9679 w 9679"/>
                <a:gd name="connsiteY2" fmla="*/ 34 h 9983"/>
                <a:gd name="connsiteX0" fmla="*/ 0 w 10062"/>
                <a:gd name="connsiteY0" fmla="*/ 10017 h 10017"/>
                <a:gd name="connsiteX1" fmla="*/ 8853 w 10062"/>
                <a:gd name="connsiteY1" fmla="*/ 17 h 10017"/>
                <a:gd name="connsiteX2" fmla="*/ 10062 w 10062"/>
                <a:gd name="connsiteY2" fmla="*/ 0 h 1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62" h="10017">
                  <a:moveTo>
                    <a:pt x="0" y="10017"/>
                  </a:moveTo>
                  <a:lnTo>
                    <a:pt x="8853" y="17"/>
                  </a:lnTo>
                  <a:lnTo>
                    <a:pt x="10062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094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0AC451-8627-AEE3-9626-2D6CCEAD0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C524EF-C46C-E6C9-5213-E2AC532279BF}"/>
              </a:ext>
            </a:extLst>
          </p:cNvPr>
          <p:cNvSpPr txBox="1">
            <a:spLocks/>
          </p:cNvSpPr>
          <p:nvPr/>
        </p:nvSpPr>
        <p:spPr>
          <a:xfrm>
            <a:off x="798690" y="289325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TCP sequence numbers, ACKs</a:t>
            </a:r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D9C6C8B2-BDC6-D63A-062C-3F6156765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71" y="1355712"/>
            <a:ext cx="5096669" cy="131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4950" marR="0" lvl="0" indent="-1238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Sequence numbers:</a:t>
            </a:r>
          </a:p>
          <a:p>
            <a:pPr marL="635000" marR="0" lvl="1" indent="-27781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byte stream “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number” of first byte in segment’s data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" name="Group 192">
            <a:extLst>
              <a:ext uri="{FF2B5EF4-FFF2-40B4-BE49-F238E27FC236}">
                <a16:creationId xmlns:a16="http://schemas.microsoft.com/office/drawing/2014/main" xmlns="" id="{C0ADB146-871F-E781-5B65-5436830746A2}"/>
              </a:ext>
            </a:extLst>
          </p:cNvPr>
          <p:cNvGrpSpPr>
            <a:grpSpLocks/>
          </p:cNvGrpSpPr>
          <p:nvPr/>
        </p:nvGrpSpPr>
        <p:grpSpPr bwMode="auto">
          <a:xfrm>
            <a:off x="7783528" y="3989281"/>
            <a:ext cx="3086106" cy="2541588"/>
            <a:chOff x="3520" y="2404"/>
            <a:chExt cx="1944" cy="1601"/>
          </a:xfrm>
        </p:grpSpPr>
        <p:sp>
          <p:nvSpPr>
            <p:cNvPr id="5" name="Rectangle 167">
              <a:extLst>
                <a:ext uri="{FF2B5EF4-FFF2-40B4-BE49-F238E27FC236}">
                  <a16:creationId xmlns:a16="http://schemas.microsoft.com/office/drawing/2014/main" xmlns="" id="{C22D4DDE-BB04-A911-C472-9670959AC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3589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" name="Group 148">
              <a:extLst>
                <a:ext uri="{FF2B5EF4-FFF2-40B4-BE49-F238E27FC236}">
                  <a16:creationId xmlns:a16="http://schemas.microsoft.com/office/drawing/2014/main" xmlns="" id="{C01906B9-046C-2499-EDB3-8A5BD2E54F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1" y="3291"/>
              <a:ext cx="1252" cy="714"/>
              <a:chOff x="1974" y="2984"/>
              <a:chExt cx="1252" cy="714"/>
            </a:xfrm>
          </p:grpSpPr>
          <p:sp>
            <p:nvSpPr>
              <p:cNvPr id="9" name="Rectangle 149">
                <a:extLst>
                  <a:ext uri="{FF2B5EF4-FFF2-40B4-BE49-F238E27FC236}">
                    <a16:creationId xmlns:a16="http://schemas.microsoft.com/office/drawing/2014/main" xmlns="" id="{404F57DA-D6F1-894F-73ED-2425A749B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" name="Text Box 150">
                <a:extLst>
                  <a:ext uri="{FF2B5EF4-FFF2-40B4-BE49-F238E27FC236}">
                    <a16:creationId xmlns:a16="http://schemas.microsoft.com/office/drawing/2014/main" xmlns="" id="{04068D31-3C27-15DF-8866-B07569FBB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source port #</a:t>
                </a:r>
              </a:p>
            </p:txBody>
          </p:sp>
          <p:sp>
            <p:nvSpPr>
              <p:cNvPr id="11" name="Text Box 151">
                <a:extLst>
                  <a:ext uri="{FF2B5EF4-FFF2-40B4-BE49-F238E27FC236}">
                    <a16:creationId xmlns:a16="http://schemas.microsoft.com/office/drawing/2014/main" xmlns="" id="{5B54838E-A4C8-6319-C80A-71311D4179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dest port #</a:t>
                </a:r>
              </a:p>
            </p:txBody>
          </p:sp>
          <p:sp>
            <p:nvSpPr>
              <p:cNvPr id="12" name="Text Box 152">
                <a:extLst>
                  <a:ext uri="{FF2B5EF4-FFF2-40B4-BE49-F238E27FC236}">
                    <a16:creationId xmlns:a16="http://schemas.microsoft.com/office/drawing/2014/main" xmlns="" id="{49542C57-34CA-6822-4312-79C0D0B473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sequence number</a:t>
                </a:r>
              </a:p>
            </p:txBody>
          </p:sp>
          <p:sp>
            <p:nvSpPr>
              <p:cNvPr id="13" name="Text Box 153">
                <a:extLst>
                  <a:ext uri="{FF2B5EF4-FFF2-40B4-BE49-F238E27FC236}">
                    <a16:creationId xmlns:a16="http://schemas.microsoft.com/office/drawing/2014/main" xmlns="" id="{9CBEE022-1FC6-EF18-0D54-66BE6CCBDC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4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14" name="Text Box 154">
                <a:extLst>
                  <a:ext uri="{FF2B5EF4-FFF2-40B4-BE49-F238E27FC236}">
                    <a16:creationId xmlns:a16="http://schemas.microsoft.com/office/drawing/2014/main" xmlns="" id="{F14FEBDC-D421-EF3F-FAC8-5C39F496D8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checksum</a:t>
                </a:r>
              </a:p>
            </p:txBody>
          </p:sp>
          <p:sp>
            <p:nvSpPr>
              <p:cNvPr id="15" name="Line 155">
                <a:extLst>
                  <a:ext uri="{FF2B5EF4-FFF2-40B4-BE49-F238E27FC236}">
                    <a16:creationId xmlns:a16="http://schemas.microsoft.com/office/drawing/2014/main" xmlns="" id="{61F3AFA3-31A3-D442-7F15-74E26B6B09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" name="Line 156">
                <a:extLst>
                  <a:ext uri="{FF2B5EF4-FFF2-40B4-BE49-F238E27FC236}">
                    <a16:creationId xmlns:a16="http://schemas.microsoft.com/office/drawing/2014/main" xmlns="" id="{B396799B-02AD-1FEA-BCD2-25B61272D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" name="Line 157">
                <a:extLst>
                  <a:ext uri="{FF2B5EF4-FFF2-40B4-BE49-F238E27FC236}">
                    <a16:creationId xmlns:a16="http://schemas.microsoft.com/office/drawing/2014/main" xmlns="" id="{EEA97A32-BA4E-5C1F-ACF2-F0CAC2BB6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" name="Line 158">
                <a:extLst>
                  <a:ext uri="{FF2B5EF4-FFF2-40B4-BE49-F238E27FC236}">
                    <a16:creationId xmlns:a16="http://schemas.microsoft.com/office/drawing/2014/main" xmlns="" id="{09487E37-2F06-C5CD-9190-7EEB34024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" name="Line 159">
                <a:extLst>
                  <a:ext uri="{FF2B5EF4-FFF2-40B4-BE49-F238E27FC236}">
                    <a16:creationId xmlns:a16="http://schemas.microsoft.com/office/drawing/2014/main" xmlns="" id="{85832AB8-6A98-40FB-EF88-7F147774F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" name="Line 160">
                <a:extLst>
                  <a:ext uri="{FF2B5EF4-FFF2-40B4-BE49-F238E27FC236}">
                    <a16:creationId xmlns:a16="http://schemas.microsoft.com/office/drawing/2014/main" xmlns="" id="{E609FD7A-8642-0AAB-B50D-3EF5E85C5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" name="Text Box 161">
                <a:extLst>
                  <a:ext uri="{FF2B5EF4-FFF2-40B4-BE49-F238E27FC236}">
                    <a16:creationId xmlns:a16="http://schemas.microsoft.com/office/drawing/2014/main" xmlns="" id="{F2B45462-4F4F-DDC5-A5A7-AD7EA6A370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rwnd</a:t>
                </a:r>
              </a:p>
            </p:txBody>
          </p:sp>
          <p:sp>
            <p:nvSpPr>
              <p:cNvPr id="22" name="Text Box 162">
                <a:extLst>
                  <a:ext uri="{FF2B5EF4-FFF2-40B4-BE49-F238E27FC236}">
                    <a16:creationId xmlns:a16="http://schemas.microsoft.com/office/drawing/2014/main" xmlns="" id="{B3324FFF-9EF3-1FCE-7381-70A32DDD8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urg pointer</a:t>
                </a:r>
              </a:p>
            </p:txBody>
          </p:sp>
          <p:sp>
            <p:nvSpPr>
              <p:cNvPr id="23" name="Line 163">
                <a:extLst>
                  <a:ext uri="{FF2B5EF4-FFF2-40B4-BE49-F238E27FC236}">
                    <a16:creationId xmlns:a16="http://schemas.microsoft.com/office/drawing/2014/main" xmlns="" id="{53FA9362-B425-680B-1670-9EF3762D4B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" name="Line 164">
                <a:extLst>
                  <a:ext uri="{FF2B5EF4-FFF2-40B4-BE49-F238E27FC236}">
                    <a16:creationId xmlns:a16="http://schemas.microsoft.com/office/drawing/2014/main" xmlns="" id="{CA4D9958-80F1-ABC9-B56C-8786863CA0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7" name="Text Box 166">
              <a:extLst>
                <a:ext uri="{FF2B5EF4-FFF2-40B4-BE49-F238E27FC236}">
                  <a16:creationId xmlns:a16="http://schemas.microsoft.com/office/drawing/2014/main" xmlns="" id="{DA43973E-3868-0730-66E4-0FEB2C696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0" y="3092"/>
              <a:ext cx="194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outgoing segment from receiver</a:t>
              </a:r>
            </a:p>
          </p:txBody>
        </p:sp>
        <p:sp>
          <p:nvSpPr>
            <p:cNvPr id="8" name="Freeform 168">
              <a:extLst>
                <a:ext uri="{FF2B5EF4-FFF2-40B4-BE49-F238E27FC236}">
                  <a16:creationId xmlns:a16="http://schemas.microsoft.com/office/drawing/2014/main" xmlns="" id="{F319A765-6CAA-66DE-905C-5A067814352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599" y="2404"/>
              <a:ext cx="107" cy="119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13768 h 9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" name="Group 195">
            <a:extLst>
              <a:ext uri="{FF2B5EF4-FFF2-40B4-BE49-F238E27FC236}">
                <a16:creationId xmlns:a16="http://schemas.microsoft.com/office/drawing/2014/main" xmlns="" id="{8850560B-B256-7274-00B0-DE3EC14CF42A}"/>
              </a:ext>
            </a:extLst>
          </p:cNvPr>
          <p:cNvGrpSpPr>
            <a:grpSpLocks/>
          </p:cNvGrpSpPr>
          <p:nvPr/>
        </p:nvGrpSpPr>
        <p:grpSpPr bwMode="auto">
          <a:xfrm>
            <a:off x="8685214" y="6022869"/>
            <a:ext cx="358775" cy="304800"/>
            <a:chOff x="5144" y="3677"/>
            <a:chExt cx="226" cy="192"/>
          </a:xfrm>
        </p:grpSpPr>
        <p:sp>
          <p:nvSpPr>
            <p:cNvPr id="26" name="Rectangle 194">
              <a:extLst>
                <a:ext uri="{FF2B5EF4-FFF2-40B4-BE49-F238E27FC236}">
                  <a16:creationId xmlns:a16="http://schemas.microsoft.com/office/drawing/2014/main" xmlns="" id="{8D1A31F5-D3CC-F7CD-B3CE-79F76E642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2" y="3716"/>
              <a:ext cx="88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" name="Text Box 193">
              <a:extLst>
                <a:ext uri="{FF2B5EF4-FFF2-40B4-BE49-F238E27FC236}">
                  <a16:creationId xmlns:a16="http://schemas.microsoft.com/office/drawing/2014/main" xmlns="" id="{105B2D3C-F015-A659-314E-DD6C2249C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4" y="3677"/>
              <a:ext cx="22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charset="0"/>
                  <a:ea typeface="ＭＳ Ｐゴシック" charset="0"/>
                  <a:cs typeface="+mn-cs"/>
                </a:rPr>
                <a:t>A</a:t>
              </a:r>
            </a:p>
          </p:txBody>
        </p:sp>
      </p:grpSp>
      <p:sp>
        <p:nvSpPr>
          <p:cNvPr id="28" name="Rectangle 37">
            <a:extLst>
              <a:ext uri="{FF2B5EF4-FFF2-40B4-BE49-F238E27FC236}">
                <a16:creationId xmlns:a16="http://schemas.microsoft.com/office/drawing/2014/main" xmlns="" id="{D39544FD-783D-1B9F-E11E-072E4CE1D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7" y="3123626"/>
            <a:ext cx="65087" cy="6223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" name="Rectangle 39">
            <a:extLst>
              <a:ext uri="{FF2B5EF4-FFF2-40B4-BE49-F238E27FC236}">
                <a16:creationId xmlns:a16="http://schemas.microsoft.com/office/drawing/2014/main" xmlns="" id="{038748F4-22CA-8E5B-3C27-A5DC2B0B7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4" y="3125214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0" name="Rectangle 40">
            <a:extLst>
              <a:ext uri="{FF2B5EF4-FFF2-40B4-BE49-F238E27FC236}">
                <a16:creationId xmlns:a16="http://schemas.microsoft.com/office/drawing/2014/main" xmlns="" id="{7AFFB8D2-E2C8-3A86-0322-5E0077089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1" name="Rectangle 41">
            <a:extLst>
              <a:ext uri="{FF2B5EF4-FFF2-40B4-BE49-F238E27FC236}">
                <a16:creationId xmlns:a16="http://schemas.microsoft.com/office/drawing/2014/main" xmlns="" id="{63F8F177-ACD5-CFC9-F1F9-3E780CBDD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7" y="3123626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2" name="Rectangle 42">
            <a:extLst>
              <a:ext uri="{FF2B5EF4-FFF2-40B4-BE49-F238E27FC236}">
                <a16:creationId xmlns:a16="http://schemas.microsoft.com/office/drawing/2014/main" xmlns="" id="{D5B46E2E-D125-0210-CA72-E1C57A9F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7" y="3123626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" name="Rectangle 43">
            <a:extLst>
              <a:ext uri="{FF2B5EF4-FFF2-40B4-BE49-F238E27FC236}">
                <a16:creationId xmlns:a16="http://schemas.microsoft.com/office/drawing/2014/main" xmlns="" id="{9518D3EB-D8E1-19C5-9C06-7094FBC00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4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4" name="Rectangle 45">
            <a:extLst>
              <a:ext uri="{FF2B5EF4-FFF2-40B4-BE49-F238E27FC236}">
                <a16:creationId xmlns:a16="http://schemas.microsoft.com/office/drawing/2014/main" xmlns="" id="{AF301843-12D3-78D2-0C0A-7F95E69AE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203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5" name="Rectangle 46">
            <a:extLst>
              <a:ext uri="{FF2B5EF4-FFF2-40B4-BE49-F238E27FC236}">
                <a16:creationId xmlns:a16="http://schemas.microsoft.com/office/drawing/2014/main" xmlns="" id="{6BBC2758-059A-AB40-5221-BC654FA74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6" name="Rectangle 47">
            <a:extLst>
              <a:ext uri="{FF2B5EF4-FFF2-40B4-BE49-F238E27FC236}">
                <a16:creationId xmlns:a16="http://schemas.microsoft.com/office/drawing/2014/main" xmlns="" id="{D9E77E0D-42F0-B1FC-523B-94AA04354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Rectangle 50">
            <a:extLst>
              <a:ext uri="{FF2B5EF4-FFF2-40B4-BE49-F238E27FC236}">
                <a16:creationId xmlns:a16="http://schemas.microsoft.com/office/drawing/2014/main" xmlns="" id="{9A089155-2122-2DB0-499D-77ED8757B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902" y="3123626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Rectangle 51">
            <a:extLst>
              <a:ext uri="{FF2B5EF4-FFF2-40B4-BE49-F238E27FC236}">
                <a16:creationId xmlns:a16="http://schemas.microsoft.com/office/drawing/2014/main" xmlns="" id="{05EE326F-DD2F-9D1A-DB64-060310A51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7" y="3125214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Rectangle 52">
            <a:extLst>
              <a:ext uri="{FF2B5EF4-FFF2-40B4-BE49-F238E27FC236}">
                <a16:creationId xmlns:a16="http://schemas.microsoft.com/office/drawing/2014/main" xmlns="" id="{FD82A355-0821-7952-AC37-0D01BAA81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164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0" name="Rectangle 53">
            <a:extLst>
              <a:ext uri="{FF2B5EF4-FFF2-40B4-BE49-F238E27FC236}">
                <a16:creationId xmlns:a16="http://schemas.microsoft.com/office/drawing/2014/main" xmlns="" id="{FE7D1B4A-EDBB-C7B8-7A49-3088A2F95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Rectangle 54">
            <a:extLst>
              <a:ext uri="{FF2B5EF4-FFF2-40B4-BE49-F238E27FC236}">
                <a16:creationId xmlns:a16="http://schemas.microsoft.com/office/drawing/2014/main" xmlns="" id="{6805A87F-452A-E35B-273D-A024020CA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9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2" name="Rectangle 55">
            <a:extLst>
              <a:ext uri="{FF2B5EF4-FFF2-40B4-BE49-F238E27FC236}">
                <a16:creationId xmlns:a16="http://schemas.microsoft.com/office/drawing/2014/main" xmlns="" id="{D585EA83-5F69-A30B-12A3-A57FBA9FC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089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3" name="Rectangle 56">
            <a:extLst>
              <a:ext uri="{FF2B5EF4-FFF2-40B4-BE49-F238E27FC236}">
                <a16:creationId xmlns:a16="http://schemas.microsoft.com/office/drawing/2014/main" xmlns="" id="{8DBE1EDC-31E4-B0EB-BB4E-A9888F153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164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4" name="Rectangle 57">
            <a:extLst>
              <a:ext uri="{FF2B5EF4-FFF2-40B4-BE49-F238E27FC236}">
                <a16:creationId xmlns:a16="http://schemas.microsoft.com/office/drawing/2014/main" xmlns="" id="{4B29EBD6-66B3-B900-AAD1-A37709CA8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414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5" name="Rectangle 58">
            <a:extLst>
              <a:ext uri="{FF2B5EF4-FFF2-40B4-BE49-F238E27FC236}">
                <a16:creationId xmlns:a16="http://schemas.microsoft.com/office/drawing/2014/main" xmlns="" id="{51B2E08F-A5F5-D823-E3B9-4BB019B79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6" name="Rectangle 59">
            <a:extLst>
              <a:ext uri="{FF2B5EF4-FFF2-40B4-BE49-F238E27FC236}">
                <a16:creationId xmlns:a16="http://schemas.microsoft.com/office/drawing/2014/main" xmlns="" id="{FB99C184-BD49-08D9-9FD9-7F38AA066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15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" name="Rectangle 60">
            <a:extLst>
              <a:ext uri="{FF2B5EF4-FFF2-40B4-BE49-F238E27FC236}">
                <a16:creationId xmlns:a16="http://schemas.microsoft.com/office/drawing/2014/main" xmlns="" id="{2E2FAC6E-A020-5696-468D-8A29E2E52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140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8" name="Rectangle 61">
            <a:extLst>
              <a:ext uri="{FF2B5EF4-FFF2-40B4-BE49-F238E27FC236}">
                <a16:creationId xmlns:a16="http://schemas.microsoft.com/office/drawing/2014/main" xmlns="" id="{CABBA237-6AB8-4302-0D35-8D2DDCDD6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4" y="3122039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9" name="Rectangle 62">
            <a:extLst>
              <a:ext uri="{FF2B5EF4-FFF2-40B4-BE49-F238E27FC236}">
                <a16:creationId xmlns:a16="http://schemas.microsoft.com/office/drawing/2014/main" xmlns="" id="{2D7B68EC-23CE-C5FB-456A-2FDA2B05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139" y="3122039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0" name="Rectangle 63">
            <a:extLst>
              <a:ext uri="{FF2B5EF4-FFF2-40B4-BE49-F238E27FC236}">
                <a16:creationId xmlns:a16="http://schemas.microsoft.com/office/drawing/2014/main" xmlns="" id="{0827F3D5-1C2B-3EF4-2037-497E6D9B6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397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1" name="Rectangle 64">
            <a:extLst>
              <a:ext uri="{FF2B5EF4-FFF2-40B4-BE49-F238E27FC236}">
                <a16:creationId xmlns:a16="http://schemas.microsoft.com/office/drawing/2014/main" xmlns="" id="{8BC6E48F-91B5-0557-DEFD-DBB0E98BF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22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2" name="Rectangle 65">
            <a:extLst>
              <a:ext uri="{FF2B5EF4-FFF2-40B4-BE49-F238E27FC236}">
                <a16:creationId xmlns:a16="http://schemas.microsoft.com/office/drawing/2014/main" xmlns="" id="{E4AE3ABA-B569-2E44-F731-05DCEF251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812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3" name="Rectangle 66">
            <a:extLst>
              <a:ext uri="{FF2B5EF4-FFF2-40B4-BE49-F238E27FC236}">
                <a16:creationId xmlns:a16="http://schemas.microsoft.com/office/drawing/2014/main" xmlns="" id="{AD0DDB3C-4C24-038B-9B88-4378D4DBE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7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4" name="Rectangle 68">
            <a:extLst>
              <a:ext uri="{FF2B5EF4-FFF2-40B4-BE49-F238E27FC236}">
                <a16:creationId xmlns:a16="http://schemas.microsoft.com/office/drawing/2014/main" xmlns="" id="{A2BA0610-006A-2DAC-9D03-22EBBEA40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21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5" name="Rectangle 69">
            <a:extLst>
              <a:ext uri="{FF2B5EF4-FFF2-40B4-BE49-F238E27FC236}">
                <a16:creationId xmlns:a16="http://schemas.microsoft.com/office/drawing/2014/main" xmlns="" id="{1A65CD6F-18CE-C9A3-4BB5-7E9F24A40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7052" y="3125214"/>
            <a:ext cx="65087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6" name="Rectangle 70">
            <a:extLst>
              <a:ext uri="{FF2B5EF4-FFF2-40B4-BE49-F238E27FC236}">
                <a16:creationId xmlns:a16="http://schemas.microsoft.com/office/drawing/2014/main" xmlns="" id="{0A04E460-AF8C-8D49-E345-B1FE2E0C6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3889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7" name="Rectangle 71">
            <a:extLst>
              <a:ext uri="{FF2B5EF4-FFF2-40B4-BE49-F238E27FC236}">
                <a16:creationId xmlns:a16="http://schemas.microsoft.com/office/drawing/2014/main" xmlns="" id="{F4B836D5-E608-5F8E-2E1B-FB453589D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231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8" name="Rectangle 72">
            <a:extLst>
              <a:ext uri="{FF2B5EF4-FFF2-40B4-BE49-F238E27FC236}">
                <a16:creationId xmlns:a16="http://schemas.microsoft.com/office/drawing/2014/main" xmlns="" id="{4FBA28EE-6450-ABE9-10D9-1CE2B913E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756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" name="Rectangle 73">
            <a:extLst>
              <a:ext uri="{FF2B5EF4-FFF2-40B4-BE49-F238E27FC236}">
                <a16:creationId xmlns:a16="http://schemas.microsoft.com/office/drawing/2014/main" xmlns="" id="{57AC1751-F082-9A25-9C50-DEB0D445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0" name="Rectangle 74">
            <a:extLst>
              <a:ext uri="{FF2B5EF4-FFF2-40B4-BE49-F238E27FC236}">
                <a16:creationId xmlns:a16="http://schemas.microsoft.com/office/drawing/2014/main" xmlns="" id="{6CF0D77D-A4BD-431A-D6D9-6E83B5468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4889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1" name="Rectangle 75">
            <a:extLst>
              <a:ext uri="{FF2B5EF4-FFF2-40B4-BE49-F238E27FC236}">
                <a16:creationId xmlns:a16="http://schemas.microsoft.com/office/drawing/2014/main" xmlns="" id="{38CB6256-2A88-6C2E-F658-67DBFB1D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1727" y="3123626"/>
            <a:ext cx="65087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2" name="Rectangle 76">
            <a:extLst>
              <a:ext uri="{FF2B5EF4-FFF2-40B4-BE49-F238E27FC236}">
                <a16:creationId xmlns:a16="http://schemas.microsoft.com/office/drawing/2014/main" xmlns="" id="{1FD33530-8764-76F5-408A-0D0704D5D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977" y="3123626"/>
            <a:ext cx="65087" cy="622300"/>
          </a:xfrm>
          <a:prstGeom prst="rect">
            <a:avLst/>
          </a:pr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3" name="Rectangle 78">
            <a:extLst>
              <a:ext uri="{FF2B5EF4-FFF2-40B4-BE49-F238E27FC236}">
                <a16:creationId xmlns:a16="http://schemas.microsoft.com/office/drawing/2014/main" xmlns="" id="{9896491B-D168-214F-B01A-4CBF1D69F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4" y="3861814"/>
            <a:ext cx="3408363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4" name="Rectangle 79">
            <a:extLst>
              <a:ext uri="{FF2B5EF4-FFF2-40B4-BE49-F238E27FC236}">
                <a16:creationId xmlns:a16="http://schemas.microsoft.com/office/drawing/2014/main" xmlns="" id="{8322F1B1-ECB4-C8A6-B9CE-4AD9E29AC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9" y="3014089"/>
            <a:ext cx="3408363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5" name="Line 80">
            <a:extLst>
              <a:ext uri="{FF2B5EF4-FFF2-40B4-BE49-F238E27FC236}">
                <a16:creationId xmlns:a16="http://schemas.microsoft.com/office/drawing/2014/main" xmlns="" id="{93D7A739-28D7-38F0-1A6A-575CA4587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864" y="3976114"/>
            <a:ext cx="8683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6" name="Line 82">
            <a:extLst>
              <a:ext uri="{FF2B5EF4-FFF2-40B4-BE49-F238E27FC236}">
                <a16:creationId xmlns:a16="http://schemas.microsoft.com/office/drawing/2014/main" xmlns="" id="{99D4C609-9FDA-8FF0-3423-2F89F8C2D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5902" y="3977701"/>
            <a:ext cx="86836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7" name="Line 83">
            <a:extLst>
              <a:ext uri="{FF2B5EF4-FFF2-40B4-BE49-F238E27FC236}">
                <a16:creationId xmlns:a16="http://schemas.microsoft.com/office/drawing/2014/main" xmlns="" id="{5D4DD515-11C5-77AE-7474-C9393FD8572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29739" y="3976114"/>
            <a:ext cx="8016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8" name="Line 84">
            <a:extLst>
              <a:ext uri="{FF2B5EF4-FFF2-40B4-BE49-F238E27FC236}">
                <a16:creationId xmlns:a16="http://schemas.microsoft.com/office/drawing/2014/main" xmlns="" id="{E728AF7B-3835-0F2B-89CC-185EFBE79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7" y="3977701"/>
            <a:ext cx="52863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9" name="Line 87">
            <a:extLst>
              <a:ext uri="{FF2B5EF4-FFF2-40B4-BE49-F238E27FC236}">
                <a16:creationId xmlns:a16="http://schemas.microsoft.com/office/drawing/2014/main" xmlns="" id="{112CF66E-0523-7FEB-6C2C-1EFEDA421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2939" y="3999926"/>
            <a:ext cx="0" cy="2333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0" name="Line 88">
            <a:extLst>
              <a:ext uri="{FF2B5EF4-FFF2-40B4-BE49-F238E27FC236}">
                <a16:creationId xmlns:a16="http://schemas.microsoft.com/office/drawing/2014/main" xmlns="" id="{74E5E80B-48BB-CF09-2461-451375453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1664" y="3995164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1" name="Line 89">
            <a:extLst>
              <a:ext uri="{FF2B5EF4-FFF2-40B4-BE49-F238E27FC236}">
                <a16:creationId xmlns:a16="http://schemas.microsoft.com/office/drawing/2014/main" xmlns="" id="{AA704FD2-1F6C-6250-76E3-079369F33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0814" y="3995164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2" name="Line 90">
            <a:extLst>
              <a:ext uri="{FF2B5EF4-FFF2-40B4-BE49-F238E27FC236}">
                <a16:creationId xmlns:a16="http://schemas.microsoft.com/office/drawing/2014/main" xmlns="" id="{7BFD0720-4417-0BC2-7DD3-38189E2A3D5F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8039" y="3995164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3" name="Text Box 91">
            <a:extLst>
              <a:ext uri="{FF2B5EF4-FFF2-40B4-BE49-F238E27FC236}">
                <a16:creationId xmlns:a16="http://schemas.microsoft.com/office/drawing/2014/main" xmlns="" id="{5B6FC90F-9A65-4F78-9437-9FF6D0D7D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114" y="4223764"/>
            <a:ext cx="6937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sent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ACKed</a:t>
            </a:r>
          </a:p>
        </p:txBody>
      </p:sp>
      <p:sp>
        <p:nvSpPr>
          <p:cNvPr id="74" name="Text Box 92">
            <a:extLst>
              <a:ext uri="{FF2B5EF4-FFF2-40B4-BE49-F238E27FC236}">
                <a16:creationId xmlns:a16="http://schemas.microsoft.com/office/drawing/2014/main" xmlns="" id="{50B58D74-C78E-E4E8-A088-78DE1C6FA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188" y="4230114"/>
            <a:ext cx="1139821" cy="684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sent, not-yet 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ACKed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(“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in-flight”)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93">
            <a:extLst>
              <a:ext uri="{FF2B5EF4-FFF2-40B4-BE49-F238E27FC236}">
                <a16:creationId xmlns:a16="http://schemas.microsoft.com/office/drawing/2014/main" xmlns="" id="{75F6A1B1-60A4-4AE8-DD4A-0E7DBD907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9677" y="4225351"/>
            <a:ext cx="1066800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usable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but not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yet sent</a:t>
            </a:r>
          </a:p>
        </p:txBody>
      </p:sp>
      <p:sp>
        <p:nvSpPr>
          <p:cNvPr id="76" name="Text Box 94">
            <a:extLst>
              <a:ext uri="{FF2B5EF4-FFF2-40B4-BE49-F238E27FC236}">
                <a16:creationId xmlns:a16="http://schemas.microsoft.com/office/drawing/2014/main" xmlns="" id="{0A455BDC-5D7C-CE86-2F34-61E0553FC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6914" y="4230114"/>
            <a:ext cx="819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not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usable</a:t>
            </a:r>
          </a:p>
        </p:txBody>
      </p:sp>
      <p:sp>
        <p:nvSpPr>
          <p:cNvPr id="77" name="Text Box 96">
            <a:extLst>
              <a:ext uri="{FF2B5EF4-FFF2-40B4-BE49-F238E27FC236}">
                <a16:creationId xmlns:a16="http://schemas.microsoft.com/office/drawing/2014/main" xmlns="" id="{12C0CF6E-17B6-1308-9A7A-E6847B4F4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9564" y="2658489"/>
            <a:ext cx="11318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window size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N</a:t>
            </a:r>
          </a:p>
        </p:txBody>
      </p:sp>
      <p:grpSp>
        <p:nvGrpSpPr>
          <p:cNvPr id="78" name="Group 99">
            <a:extLst>
              <a:ext uri="{FF2B5EF4-FFF2-40B4-BE49-F238E27FC236}">
                <a16:creationId xmlns:a16="http://schemas.microsoft.com/office/drawing/2014/main" xmlns="" id="{5F399853-4B1E-14EC-8708-1E36308BC1DB}"/>
              </a:ext>
            </a:extLst>
          </p:cNvPr>
          <p:cNvGrpSpPr>
            <a:grpSpLocks/>
          </p:cNvGrpSpPr>
          <p:nvPr/>
        </p:nvGrpSpPr>
        <p:grpSpPr bwMode="auto">
          <a:xfrm>
            <a:off x="8696327" y="2882326"/>
            <a:ext cx="593725" cy="136525"/>
            <a:chOff x="4250" y="1692"/>
            <a:chExt cx="374" cy="86"/>
          </a:xfrm>
        </p:grpSpPr>
        <p:sp>
          <p:nvSpPr>
            <p:cNvPr id="79" name="Line 97">
              <a:extLst>
                <a:ext uri="{FF2B5EF4-FFF2-40B4-BE49-F238E27FC236}">
                  <a16:creationId xmlns:a16="http://schemas.microsoft.com/office/drawing/2014/main" xmlns="" id="{F056C9CA-832E-361C-62CC-312CB9DCD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1738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0" name="Line 98">
              <a:extLst>
                <a:ext uri="{FF2B5EF4-FFF2-40B4-BE49-F238E27FC236}">
                  <a16:creationId xmlns:a16="http://schemas.microsoft.com/office/drawing/2014/main" xmlns="" id="{00EEB283-695C-19BF-73A6-74839D8FC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692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81" name="Group 100">
            <a:extLst>
              <a:ext uri="{FF2B5EF4-FFF2-40B4-BE49-F238E27FC236}">
                <a16:creationId xmlns:a16="http://schemas.microsoft.com/office/drawing/2014/main" xmlns="" id="{A75E5B5B-B1DB-E2CE-7E20-BFDC546FF5E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7804152" y="2907726"/>
            <a:ext cx="593725" cy="136525"/>
            <a:chOff x="4250" y="1692"/>
            <a:chExt cx="374" cy="86"/>
          </a:xfrm>
        </p:grpSpPr>
        <p:sp>
          <p:nvSpPr>
            <p:cNvPr id="82" name="Line 101">
              <a:extLst>
                <a:ext uri="{FF2B5EF4-FFF2-40B4-BE49-F238E27FC236}">
                  <a16:creationId xmlns:a16="http://schemas.microsoft.com/office/drawing/2014/main" xmlns="" id="{DB9C332D-4610-B5BC-158E-B4060DD6E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1745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3" name="Line 102">
              <a:extLst>
                <a:ext uri="{FF2B5EF4-FFF2-40B4-BE49-F238E27FC236}">
                  <a16:creationId xmlns:a16="http://schemas.microsoft.com/office/drawing/2014/main" xmlns="" id="{03A23A3F-60FA-9C35-3304-B483855FF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9" y="1699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4" name="Text Box 196">
            <a:extLst>
              <a:ext uri="{FF2B5EF4-FFF2-40B4-BE49-F238E27FC236}">
                <a16:creationId xmlns:a16="http://schemas.microsoft.com/office/drawing/2014/main" xmlns="" id="{E0D18B0D-D8CD-B13D-220C-F668645AD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014" y="3677664"/>
            <a:ext cx="317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 sequence number space </a:t>
            </a:r>
          </a:p>
        </p:txBody>
      </p:sp>
      <p:grpSp>
        <p:nvGrpSpPr>
          <p:cNvPr id="85" name="Group 199">
            <a:extLst>
              <a:ext uri="{FF2B5EF4-FFF2-40B4-BE49-F238E27FC236}">
                <a16:creationId xmlns:a16="http://schemas.microsoft.com/office/drawing/2014/main" xmlns="" id="{D7FE974E-80C5-6F98-EA7F-687E8A15D20F}"/>
              </a:ext>
            </a:extLst>
          </p:cNvPr>
          <p:cNvGrpSpPr>
            <a:grpSpLocks/>
          </p:cNvGrpSpPr>
          <p:nvPr/>
        </p:nvGrpSpPr>
        <p:grpSpPr bwMode="auto">
          <a:xfrm>
            <a:off x="6321427" y="1140839"/>
            <a:ext cx="2952750" cy="1966912"/>
            <a:chOff x="2600" y="665"/>
            <a:chExt cx="1860" cy="1239"/>
          </a:xfrm>
        </p:grpSpPr>
        <p:sp>
          <p:nvSpPr>
            <p:cNvPr id="86" name="Rectangle 171">
              <a:extLst>
                <a:ext uri="{FF2B5EF4-FFF2-40B4-BE49-F238E27FC236}">
                  <a16:creationId xmlns:a16="http://schemas.microsoft.com/office/drawing/2014/main" xmlns="" id="{9F4F9C91-5894-3990-04E6-62630D2F3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1028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7" name="Group 172">
              <a:extLst>
                <a:ext uri="{FF2B5EF4-FFF2-40B4-BE49-F238E27FC236}">
                  <a16:creationId xmlns:a16="http://schemas.microsoft.com/office/drawing/2014/main" xmlns="" id="{46CECCF2-B88C-9BD7-64DF-0471B1601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0" y="872"/>
              <a:ext cx="1252" cy="714"/>
              <a:chOff x="1976" y="2984"/>
              <a:chExt cx="1252" cy="714"/>
            </a:xfrm>
          </p:grpSpPr>
          <p:sp>
            <p:nvSpPr>
              <p:cNvPr id="90" name="Rectangle 173">
                <a:extLst>
                  <a:ext uri="{FF2B5EF4-FFF2-40B4-BE49-F238E27FC236}">
                    <a16:creationId xmlns:a16="http://schemas.microsoft.com/office/drawing/2014/main" xmlns="" id="{11B47A15-1379-3959-8F97-51E5168D7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1" name="Text Box 174">
                <a:extLst>
                  <a:ext uri="{FF2B5EF4-FFF2-40B4-BE49-F238E27FC236}">
                    <a16:creationId xmlns:a16="http://schemas.microsoft.com/office/drawing/2014/main" xmlns="" id="{E3660670-3742-3CB4-9539-91F2281223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source port #</a:t>
                </a:r>
              </a:p>
            </p:txBody>
          </p:sp>
          <p:sp>
            <p:nvSpPr>
              <p:cNvPr id="92" name="Text Box 175">
                <a:extLst>
                  <a:ext uri="{FF2B5EF4-FFF2-40B4-BE49-F238E27FC236}">
                    <a16:creationId xmlns:a16="http://schemas.microsoft.com/office/drawing/2014/main" xmlns="" id="{3FAC7F55-4C20-3E5F-7ADB-DB22A327C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dest port #</a:t>
                </a:r>
              </a:p>
            </p:txBody>
          </p:sp>
          <p:sp>
            <p:nvSpPr>
              <p:cNvPr id="93" name="Text Box 176">
                <a:extLst>
                  <a:ext uri="{FF2B5EF4-FFF2-40B4-BE49-F238E27FC236}">
                    <a16:creationId xmlns:a16="http://schemas.microsoft.com/office/drawing/2014/main" xmlns="" id="{95D0C0E3-B84C-0A19-56B1-7CA532D286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sequence number</a:t>
                </a:r>
              </a:p>
            </p:txBody>
          </p:sp>
          <p:sp>
            <p:nvSpPr>
              <p:cNvPr id="94" name="Text Box 177">
                <a:extLst>
                  <a:ext uri="{FF2B5EF4-FFF2-40B4-BE49-F238E27FC236}">
                    <a16:creationId xmlns:a16="http://schemas.microsoft.com/office/drawing/2014/main" xmlns="" id="{CAAC8134-CC21-36B3-A6EE-62990961DE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6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95" name="Text Box 178">
                <a:extLst>
                  <a:ext uri="{FF2B5EF4-FFF2-40B4-BE49-F238E27FC236}">
                    <a16:creationId xmlns:a16="http://schemas.microsoft.com/office/drawing/2014/main" xmlns="" id="{9C7FCCB3-772D-33C5-9205-BCD9B73C6A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checksum</a:t>
                </a:r>
              </a:p>
            </p:txBody>
          </p:sp>
          <p:sp>
            <p:nvSpPr>
              <p:cNvPr id="96" name="Line 179">
                <a:extLst>
                  <a:ext uri="{FF2B5EF4-FFF2-40B4-BE49-F238E27FC236}">
                    <a16:creationId xmlns:a16="http://schemas.microsoft.com/office/drawing/2014/main" xmlns="" id="{C908F303-B1D1-895B-BEA4-B7DCFABE3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7" name="Line 180">
                <a:extLst>
                  <a:ext uri="{FF2B5EF4-FFF2-40B4-BE49-F238E27FC236}">
                    <a16:creationId xmlns:a16="http://schemas.microsoft.com/office/drawing/2014/main" xmlns="" id="{DD8FBC95-7C32-02A2-EE13-562F785B7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8" name="Line 181">
                <a:extLst>
                  <a:ext uri="{FF2B5EF4-FFF2-40B4-BE49-F238E27FC236}">
                    <a16:creationId xmlns:a16="http://schemas.microsoft.com/office/drawing/2014/main" xmlns="" id="{ADA8275F-FCD1-9700-7CA5-1B65F0FF3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" name="Line 182">
                <a:extLst>
                  <a:ext uri="{FF2B5EF4-FFF2-40B4-BE49-F238E27FC236}">
                    <a16:creationId xmlns:a16="http://schemas.microsoft.com/office/drawing/2014/main" xmlns="" id="{598FF497-82E5-88FD-02E4-B55D2BF7BF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" name="Line 183">
                <a:extLst>
                  <a:ext uri="{FF2B5EF4-FFF2-40B4-BE49-F238E27FC236}">
                    <a16:creationId xmlns:a16="http://schemas.microsoft.com/office/drawing/2014/main" xmlns="" id="{1C52B91A-44C1-CD42-670A-529D83B9F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1" name="Line 184">
                <a:extLst>
                  <a:ext uri="{FF2B5EF4-FFF2-40B4-BE49-F238E27FC236}">
                    <a16:creationId xmlns:a16="http://schemas.microsoft.com/office/drawing/2014/main" xmlns="" id="{1DDB6B6F-F929-65CF-80A9-1FD5FE1DC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2" name="Text Box 185">
                <a:extLst>
                  <a:ext uri="{FF2B5EF4-FFF2-40B4-BE49-F238E27FC236}">
                    <a16:creationId xmlns:a16="http://schemas.microsoft.com/office/drawing/2014/main" xmlns="" id="{EBE80079-D7B4-B9DB-8867-0EE8C9EF7A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rwnd</a:t>
                </a:r>
              </a:p>
            </p:txBody>
          </p:sp>
          <p:sp>
            <p:nvSpPr>
              <p:cNvPr id="103" name="Text Box 186">
                <a:extLst>
                  <a:ext uri="{FF2B5EF4-FFF2-40B4-BE49-F238E27FC236}">
                    <a16:creationId xmlns:a16="http://schemas.microsoft.com/office/drawing/2014/main" xmlns="" id="{71C7B4AF-0DE6-CB5B-29A3-AB9B18194E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urg pointer</a:t>
                </a:r>
              </a:p>
            </p:txBody>
          </p:sp>
          <p:sp>
            <p:nvSpPr>
              <p:cNvPr id="104" name="Line 187">
                <a:extLst>
                  <a:ext uri="{FF2B5EF4-FFF2-40B4-BE49-F238E27FC236}">
                    <a16:creationId xmlns:a16="http://schemas.microsoft.com/office/drawing/2014/main" xmlns="" id="{A2338C8C-7FA5-5420-1038-10BA6817E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5" name="Line 188">
                <a:extLst>
                  <a:ext uri="{FF2B5EF4-FFF2-40B4-BE49-F238E27FC236}">
                    <a16:creationId xmlns:a16="http://schemas.microsoft.com/office/drawing/2014/main" xmlns="" id="{25E3866F-0352-621C-D35A-6018B8D526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" name="Text Box 189">
              <a:extLst>
                <a:ext uri="{FF2B5EF4-FFF2-40B4-BE49-F238E27FC236}">
                  <a16:creationId xmlns:a16="http://schemas.microsoft.com/office/drawing/2014/main" xmlns="" id="{9FE1C9EE-140D-EC5F-4146-1C7D061F5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665"/>
              <a:ext cx="18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outgoing segment from sender</a:t>
              </a:r>
            </a:p>
          </p:txBody>
        </p:sp>
        <p:sp>
          <p:nvSpPr>
            <p:cNvPr id="89" name="Freeform 190">
              <a:extLst>
                <a:ext uri="{FF2B5EF4-FFF2-40B4-BE49-F238E27FC236}">
                  <a16:creationId xmlns:a16="http://schemas.microsoft.com/office/drawing/2014/main" xmlns="" id="{1A5D0A8F-F14F-9E07-FE68-230EC73CD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1080"/>
              <a:ext cx="107" cy="82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337 h 9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6" name="Rectangle 5">
            <a:extLst>
              <a:ext uri="{FF2B5EF4-FFF2-40B4-BE49-F238E27FC236}">
                <a16:creationId xmlns:a16="http://schemas.microsoft.com/office/drawing/2014/main" xmlns="" id="{65C45FD1-FA27-7194-4AF1-F7DF18F55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71" y="2803512"/>
            <a:ext cx="5096669" cy="176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4950" marR="0" lvl="0" indent="-1238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Acknowledgements</a:t>
            </a:r>
            <a:r>
              <a:rPr kumimoji="0" lang="en-US" altLang="en-US" sz="2800" b="0" i="0" u="sng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: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63500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seq # of next byte expected from other side</a:t>
            </a:r>
          </a:p>
          <a:p>
            <a:pPr marL="63500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cumulative ACK</a:t>
            </a:r>
          </a:p>
        </p:txBody>
      </p:sp>
      <p:sp>
        <p:nvSpPr>
          <p:cNvPr id="107" name="Rectangle 5">
            <a:extLst>
              <a:ext uri="{FF2B5EF4-FFF2-40B4-BE49-F238E27FC236}">
                <a16:creationId xmlns:a16="http://schemas.microsoft.com/office/drawing/2014/main" xmlns="" id="{592A0F2B-0251-6461-362C-FA9459924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71" y="4633906"/>
            <a:ext cx="5096669" cy="173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4950" marR="0" lvl="0" indent="-123825" algn="l" defTabSz="914400" rtl="0" eaLnBrk="0" fontAlgn="base" latinLnBrk="0" hangingPunct="0">
              <a:lnSpc>
                <a:spcPct val="85000"/>
              </a:lnSpc>
              <a:spcBef>
                <a:spcPts val="19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sng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Q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how receiver handles out-of-order segments</a:t>
            </a:r>
          </a:p>
          <a:p>
            <a:pPr marL="63500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sng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spec doesn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’t say, - up to implementor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27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0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5A3561-9AF1-FD3F-EDE9-E1FCA853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D61385-75FC-8199-AD4A-1A59F46B3231}"/>
              </a:ext>
            </a:extLst>
          </p:cNvPr>
          <p:cNvSpPr txBox="1">
            <a:spLocks/>
          </p:cNvSpPr>
          <p:nvPr/>
        </p:nvSpPr>
        <p:spPr>
          <a:xfrm>
            <a:off x="798690" y="289325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TCP sequence numbers, ACKs</a:t>
            </a:r>
            <a:endParaRPr lang="en-US" dirty="0"/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xmlns="" id="{2D7B2F5C-6135-EB47-97F7-83AEA19AA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17" y="4011734"/>
            <a:ext cx="2519185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ACKs receipt of echoed 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‘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xmlns="" id="{736166AE-D959-8702-8986-36045BDA0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477" y="3001865"/>
            <a:ext cx="31872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ACKs receipt of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‘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echoes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back 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‘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xmlns="" id="{E873988F-BCFC-4BAF-56A5-D0854F7BA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011" y="5644479"/>
            <a:ext cx="34018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simple telnet scenario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xmlns="" id="{27A01745-1DB9-87E5-43E5-D9259C3A5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9672" y="1492971"/>
            <a:ext cx="9973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xmlns="" id="{A4A632D0-1648-8301-B6D6-6D5D36821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4390" y="1459336"/>
            <a:ext cx="1008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F0C8B70B-7BA7-7F9E-6512-81FA526586CE}"/>
              </a:ext>
            </a:extLst>
          </p:cNvPr>
          <p:cNvGrpSpPr/>
          <p:nvPr/>
        </p:nvGrpSpPr>
        <p:grpSpPr>
          <a:xfrm>
            <a:off x="1499000" y="2541021"/>
            <a:ext cx="5581275" cy="780392"/>
            <a:chOff x="1499000" y="2541021"/>
            <a:chExt cx="5581275" cy="780392"/>
          </a:xfrm>
        </p:grpSpPr>
        <p:sp>
          <p:nvSpPr>
            <p:cNvPr id="9" name="Line 4">
              <a:extLst>
                <a:ext uri="{FF2B5EF4-FFF2-40B4-BE49-F238E27FC236}">
                  <a16:creationId xmlns:a16="http://schemas.microsoft.com/office/drawing/2014/main" xmlns="" id="{B0CB3965-91B6-597B-4A72-5E83360C5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237" y="2749913"/>
              <a:ext cx="2586037" cy="5715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xmlns="" id="{491F480B-026D-AE2D-D0DF-A0210E506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9000" y="2541021"/>
              <a:ext cx="2725007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 types</a:t>
              </a:r>
              <a:r>
                <a:rPr kumimoji="0" lang="ja-JP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‘</a:t>
              </a:r>
              <a:r>
                <a:rPr kumimoji="0" lang="en-US" altLang="ja-JP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ja-JP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Rectangle 18">
              <a:extLst>
                <a:ext uri="{FF2B5EF4-FFF2-40B4-BE49-F238E27FC236}">
                  <a16:creationId xmlns:a16="http://schemas.microsoft.com/office/drawing/2014/main" xmlns="" id="{6C3B49CF-FE96-12DD-9C81-DE93EFFBB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037" y="2841988"/>
              <a:ext cx="814387" cy="3794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2" name="Text Box 19">
              <a:extLst>
                <a:ext uri="{FF2B5EF4-FFF2-40B4-BE49-F238E27FC236}">
                  <a16:creationId xmlns:a16="http://schemas.microsoft.com/office/drawing/2014/main" xmlns="" id="{9B19C201-2B54-5935-3672-79212852B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272" y="2854620"/>
              <a:ext cx="28200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Seq=42, ACK=79, data = 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‘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164A2071-0323-4F4D-51A8-D6A7426EE634}"/>
              </a:ext>
            </a:extLst>
          </p:cNvPr>
          <p:cNvGrpSpPr/>
          <p:nvPr/>
        </p:nvGrpSpPr>
        <p:grpSpPr>
          <a:xfrm>
            <a:off x="4264368" y="3523026"/>
            <a:ext cx="2813399" cy="800100"/>
            <a:chOff x="4264368" y="3523026"/>
            <a:chExt cx="2813399" cy="800100"/>
          </a:xfrm>
        </p:grpSpPr>
        <p:sp>
          <p:nvSpPr>
            <p:cNvPr id="14" name="Line 10">
              <a:extLst>
                <a:ext uri="{FF2B5EF4-FFF2-40B4-BE49-F238E27FC236}">
                  <a16:creationId xmlns:a16="http://schemas.microsoft.com/office/drawing/2014/main" xmlns="" id="{FCA105A1-39DA-1A13-A60E-17A1749159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4712" y="3523026"/>
              <a:ext cx="2554287" cy="8001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5" name="Rectangle 20">
              <a:extLst>
                <a:ext uri="{FF2B5EF4-FFF2-40B4-BE49-F238E27FC236}">
                  <a16:creationId xmlns:a16="http://schemas.microsoft.com/office/drawing/2014/main" xmlns="" id="{398DDFE3-DCA9-D5F1-EE79-7B1F34E00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1962" y="3800838"/>
              <a:ext cx="823912" cy="2460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xmlns="" id="{A0AA50DD-369F-270A-BE13-BA83D41B0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4368" y="3736718"/>
              <a:ext cx="281339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Seq=79, ACK=43, data = </a:t>
              </a:r>
              <a:r>
                <a:rPr kumimoji="0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‘</a:t>
              </a:r>
              <a:r>
                <a:rPr kumimoji="0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4FA7E5E2-FA2F-F893-7511-5A72FA8B3A68}"/>
              </a:ext>
            </a:extLst>
          </p:cNvPr>
          <p:cNvGrpSpPr/>
          <p:nvPr/>
        </p:nvGrpSpPr>
        <p:grpSpPr>
          <a:xfrm>
            <a:off x="4339949" y="4518388"/>
            <a:ext cx="2590800" cy="506413"/>
            <a:chOff x="4339949" y="4518388"/>
            <a:chExt cx="2590800" cy="506413"/>
          </a:xfrm>
        </p:grpSpPr>
        <p:sp>
          <p:nvSpPr>
            <p:cNvPr id="18" name="Line 3">
              <a:extLst>
                <a:ext uri="{FF2B5EF4-FFF2-40B4-BE49-F238E27FC236}">
                  <a16:creationId xmlns:a16="http://schemas.microsoft.com/office/drawing/2014/main" xmlns="" id="{27B43D5B-C24C-EDAF-5DB8-C1ED0CA85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949" y="4518388"/>
              <a:ext cx="2590800" cy="50641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xmlns="" id="{28944A7C-8CA6-E662-A6BB-130F4D28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8637" y="4648563"/>
              <a:ext cx="958850" cy="3571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0" name="Text Box 23">
              <a:extLst>
                <a:ext uri="{FF2B5EF4-FFF2-40B4-BE49-F238E27FC236}">
                  <a16:creationId xmlns:a16="http://schemas.microsoft.com/office/drawing/2014/main" xmlns="" id="{D3611F93-36B2-5B54-8442-A1731585D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4710" y="4609843"/>
              <a:ext cx="17122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Seq=43, ACK=80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21" name="Line 24">
            <a:extLst>
              <a:ext uri="{FF2B5EF4-FFF2-40B4-BE49-F238E27FC236}">
                <a16:creationId xmlns:a16="http://schemas.microsoft.com/office/drawing/2014/main" xmlns="" id="{6D8DBDE7-11E0-E1EB-6189-ED55426B8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2012" y="2508613"/>
            <a:ext cx="0" cy="2587625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" name="Line 25">
            <a:extLst>
              <a:ext uri="{FF2B5EF4-FFF2-40B4-BE49-F238E27FC236}">
                <a16:creationId xmlns:a16="http://schemas.microsoft.com/office/drawing/2014/main" xmlns="" id="{F4BC273E-1FA9-41B0-5AC6-4D0958768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4249" y="2561001"/>
            <a:ext cx="0" cy="2587625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23" name="Group 27">
            <a:extLst>
              <a:ext uri="{FF2B5EF4-FFF2-40B4-BE49-F238E27FC236}">
                <a16:creationId xmlns:a16="http://schemas.microsoft.com/office/drawing/2014/main" xmlns="" id="{6B8FE3D1-4345-E893-1850-3D19A7805D29}"/>
              </a:ext>
            </a:extLst>
          </p:cNvPr>
          <p:cNvGrpSpPr>
            <a:grpSpLocks/>
          </p:cNvGrpSpPr>
          <p:nvPr/>
        </p:nvGrpSpPr>
        <p:grpSpPr bwMode="auto">
          <a:xfrm>
            <a:off x="3824012" y="1687876"/>
            <a:ext cx="755650" cy="782637"/>
            <a:chOff x="-44" y="1473"/>
            <a:chExt cx="981" cy="1105"/>
          </a:xfrm>
        </p:grpSpPr>
        <p:pic>
          <p:nvPicPr>
            <p:cNvPr id="24" name="Picture 28" descr="desktop_computer_stylized_medium">
              <a:extLst>
                <a:ext uri="{FF2B5EF4-FFF2-40B4-BE49-F238E27FC236}">
                  <a16:creationId xmlns:a16="http://schemas.microsoft.com/office/drawing/2014/main" xmlns="" id="{57AC96A2-7DA3-B6B7-CD5F-77BF1DE6B3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xmlns="" id="{6769AFF8-9495-B977-BA31-531B8BBFB24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30">
            <a:extLst>
              <a:ext uri="{FF2B5EF4-FFF2-40B4-BE49-F238E27FC236}">
                <a16:creationId xmlns:a16="http://schemas.microsoft.com/office/drawing/2014/main" xmlns="" id="{CB98761F-6C8D-445F-BBAE-8D7A4184921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686274" y="1727563"/>
            <a:ext cx="788988" cy="862013"/>
            <a:chOff x="-44" y="1473"/>
            <a:chExt cx="981" cy="1105"/>
          </a:xfrm>
        </p:grpSpPr>
        <p:pic>
          <p:nvPicPr>
            <p:cNvPr id="27" name="Picture 31" descr="desktop_computer_stylized_medium">
              <a:extLst>
                <a:ext uri="{FF2B5EF4-FFF2-40B4-BE49-F238E27FC236}">
                  <a16:creationId xmlns:a16="http://schemas.microsoft.com/office/drawing/2014/main" xmlns="" id="{E1CF08D9-183C-8307-1E93-FC20C0CF6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xmlns="" id="{5D39DA35-3708-0011-2BB4-44EA29919C2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2C444739-D629-9E6B-643A-8F5A06C66B67}"/>
              </a:ext>
            </a:extLst>
          </p:cNvPr>
          <p:cNvGrpSpPr/>
          <p:nvPr/>
        </p:nvGrpSpPr>
        <p:grpSpPr>
          <a:xfrm>
            <a:off x="4692316" y="2815389"/>
            <a:ext cx="1388485" cy="1371600"/>
            <a:chOff x="4692316" y="2815389"/>
            <a:chExt cx="1388485" cy="13716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DA1777C0-F3CC-0B09-2007-4974F9B045C5}"/>
                </a:ext>
              </a:extLst>
            </p:cNvPr>
            <p:cNvSpPr/>
            <p:nvPr/>
          </p:nvSpPr>
          <p:spPr>
            <a:xfrm>
              <a:off x="5566610" y="3721768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xmlns="" id="{0F4356E5-D7A7-2EEE-6C26-B2783243A11C}"/>
                </a:ext>
              </a:extLst>
            </p:cNvPr>
            <p:cNvSpPr/>
            <p:nvPr/>
          </p:nvSpPr>
          <p:spPr>
            <a:xfrm>
              <a:off x="4692316" y="2815389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CB20BD60-75AA-B76A-82F5-BEFD2577AE9E}"/>
                </a:ext>
              </a:extLst>
            </p:cNvPr>
            <p:cNvCxnSpPr/>
            <p:nvPr/>
          </p:nvCxnSpPr>
          <p:spPr>
            <a:xfrm flipH="1" flipV="1">
              <a:off x="5117431" y="3224463"/>
              <a:ext cx="513348" cy="513348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xmlns="" id="{F563C0C0-4654-2286-4554-E78702EC158E}"/>
              </a:ext>
            </a:extLst>
          </p:cNvPr>
          <p:cNvGrpSpPr/>
          <p:nvPr/>
        </p:nvGrpSpPr>
        <p:grpSpPr>
          <a:xfrm>
            <a:off x="4684295" y="3737810"/>
            <a:ext cx="1982043" cy="1307432"/>
            <a:chOff x="4692316" y="2815389"/>
            <a:chExt cx="1982043" cy="130743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xmlns="" id="{ED6C5E5E-EB9B-7B0E-D909-D3EAF02ECA58}"/>
                </a:ext>
              </a:extLst>
            </p:cNvPr>
            <p:cNvSpPr/>
            <p:nvPr/>
          </p:nvSpPr>
          <p:spPr>
            <a:xfrm>
              <a:off x="6160168" y="3657600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84576D37-7F1E-E37E-9890-F64F2920F033}"/>
                </a:ext>
              </a:extLst>
            </p:cNvPr>
            <p:cNvSpPr/>
            <p:nvPr/>
          </p:nvSpPr>
          <p:spPr>
            <a:xfrm>
              <a:off x="4692316" y="2815389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xmlns="" id="{632E7B66-AC48-110B-5966-113091570E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557" y="3224463"/>
              <a:ext cx="970548" cy="521369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AB62105B-A405-8CFF-0C5E-CD5CE358F870}"/>
              </a:ext>
            </a:extLst>
          </p:cNvPr>
          <p:cNvSpPr txBox="1"/>
          <p:nvPr/>
        </p:nvSpPr>
        <p:spPr>
          <a:xfrm>
            <a:off x="8501292" y="1389247"/>
            <a:ext cx="3648122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u="none" strike="noStrike" baseline="0" dirty="0">
                <a:latin typeface="+mj-lt"/>
              </a:rPr>
              <a:t>After the TCP connection is established but before any data is sent, the client is waiting for byte 79 and the server is waiting for byte 42.</a:t>
            </a:r>
            <a:endParaRPr lang="en-IN" b="1" i="1" dirty="0"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7715B623-1432-E103-1EDF-0062670B0656}"/>
              </a:ext>
            </a:extLst>
          </p:cNvPr>
          <p:cNvSpPr txBox="1"/>
          <p:nvPr/>
        </p:nvSpPr>
        <p:spPr>
          <a:xfrm>
            <a:off x="8584924" y="5031896"/>
            <a:ext cx="199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baseline="0" dirty="0">
                <a:latin typeface="Times-Bold"/>
              </a:rPr>
              <a:t>Piggybacked 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69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77C7F5-433C-416A-7640-8B647013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716023-C16C-1948-52B1-B162CFCD6BEA}"/>
              </a:ext>
            </a:extLst>
          </p:cNvPr>
          <p:cNvSpPr txBox="1">
            <a:spLocks/>
          </p:cNvSpPr>
          <p:nvPr/>
        </p:nvSpPr>
        <p:spPr>
          <a:xfrm>
            <a:off x="798690" y="289325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TCP round trip time, timeout</a:t>
            </a:r>
            <a:endParaRPr lang="en-US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xmlns="" id="{2E060E06-C0A6-320F-B5F6-02B4DC8D2D65}"/>
              </a:ext>
            </a:extLst>
          </p:cNvPr>
          <p:cNvSpPr txBox="1">
            <a:spLocks noChangeArrowheads="1"/>
          </p:cNvSpPr>
          <p:nvPr/>
        </p:nvSpPr>
        <p:spPr>
          <a:xfrm>
            <a:off x="673789" y="1393136"/>
            <a:ext cx="521344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to set TCP timeout value?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longer than RTT, but RTT varies!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 short: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premature timeout, unnecessary retransmissions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 long: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slow reaction to segment loss</a:t>
            </a:r>
          </a:p>
        </p:txBody>
      </p:sp>
      <p:sp>
        <p:nvSpPr>
          <p:cNvPr id="4" name="Rectangle 1028">
            <a:extLst>
              <a:ext uri="{FF2B5EF4-FFF2-40B4-BE49-F238E27FC236}">
                <a16:creationId xmlns:a16="http://schemas.microsoft.com/office/drawing/2014/main" xmlns="" id="{C059D2AC-64CF-371F-C134-33F5E1807858}"/>
              </a:ext>
            </a:extLst>
          </p:cNvPr>
          <p:cNvSpPr txBox="1">
            <a:spLocks noChangeArrowheads="1"/>
          </p:cNvSpPr>
          <p:nvPr/>
        </p:nvSpPr>
        <p:spPr>
          <a:xfrm>
            <a:off x="6258838" y="1393136"/>
            <a:ext cx="55659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</a:t>
            </a: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to estimate RTT?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SampleRTT: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measured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time from segment transmission until ACK receipt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ignore retransmissions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SampleRTT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will vary, want estimated RTT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smoother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average several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recent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measurements, not just current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SampleRTT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22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E0BCFA6-44B3-DDC5-1C07-EBA22C64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65D926C-9AE6-C89F-A566-5326B160A958}"/>
              </a:ext>
            </a:extLst>
          </p:cNvPr>
          <p:cNvSpPr/>
          <p:nvPr/>
        </p:nvSpPr>
        <p:spPr>
          <a:xfrm>
            <a:off x="876300" y="1516302"/>
            <a:ext cx="897486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344E3514-6060-3F31-8194-90CE064A4A33}"/>
              </a:ext>
            </a:extLst>
          </p:cNvPr>
          <p:cNvSpPr txBox="1">
            <a:spLocks/>
          </p:cNvSpPr>
          <p:nvPr/>
        </p:nvSpPr>
        <p:spPr>
          <a:xfrm>
            <a:off x="798690" y="289325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TCP round trip time, timeout</a:t>
            </a:r>
            <a:endParaRPr 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xmlns="" id="{2D704B83-3F54-5DD8-AD70-9AE33AD14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1501556"/>
            <a:ext cx="90524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EstimatedRTT = (1-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  <a:sym typeface="Symbol" charset="0"/>
              </a:rPr>
              <a:t>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)*EstimatedRTT +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  <a:sym typeface="Symbol" charset="0"/>
              </a:rPr>
              <a:t>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*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SampleRTT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charset="0"/>
              <a:ea typeface="ＭＳ Ｐゴシック" charset="0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2460052-CB56-3F36-0312-8C5A78366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1993273"/>
            <a:ext cx="7067550" cy="142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US" sz="2400" dirty="0">
                <a:ea typeface="ＭＳ Ｐゴシック" charset="0"/>
              </a:rPr>
              <a:t>exponential weighted moving average (EWMA)</a:t>
            </a: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US" sz="2400" dirty="0">
                <a:ea typeface="ＭＳ Ｐゴシック" charset="0"/>
              </a:rPr>
              <a:t>influence of past sample decreases exponentially fast</a:t>
            </a: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US" sz="2400" dirty="0">
                <a:ea typeface="ＭＳ Ｐゴシック" charset="0"/>
              </a:rPr>
              <a:t>typical value: </a:t>
            </a:r>
            <a:r>
              <a:rPr lang="en-US" sz="2400" dirty="0">
                <a:ea typeface="ＭＳ Ｐゴシック" charset="0"/>
                <a:sym typeface="Symbol" charset="0"/>
              </a:rPr>
              <a:t> =</a:t>
            </a:r>
            <a:r>
              <a:rPr lang="en-US" sz="2400" dirty="0">
                <a:ea typeface="ＭＳ Ｐゴシック" charset="0"/>
              </a:rPr>
              <a:t> 0.125 (1/8)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CF92AD2A-4235-05C3-2B05-523174A6F094}"/>
              </a:ext>
            </a:extLst>
          </p:cNvPr>
          <p:cNvGrpSpPr/>
          <p:nvPr/>
        </p:nvGrpSpPr>
        <p:grpSpPr>
          <a:xfrm>
            <a:off x="5168224" y="2415995"/>
            <a:ext cx="5834876" cy="4007525"/>
            <a:chOff x="1531938" y="2565400"/>
            <a:chExt cx="6448425" cy="4292600"/>
          </a:xfrm>
        </p:grpSpPr>
        <p:grpSp>
          <p:nvGrpSpPr>
            <p:cNvPr id="7" name="Group 14">
              <a:extLst>
                <a:ext uri="{FF2B5EF4-FFF2-40B4-BE49-F238E27FC236}">
                  <a16:creationId xmlns:a16="http://schemas.microsoft.com/office/drawing/2014/main" xmlns="" id="{A44FC87B-F089-2AA2-00A1-50B9B681F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8150" y="2565400"/>
              <a:ext cx="6272213" cy="4292600"/>
              <a:chOff x="782" y="1865"/>
              <a:chExt cx="3951" cy="2704"/>
            </a:xfrm>
          </p:grpSpPr>
          <p:pic>
            <p:nvPicPr>
              <p:cNvPr id="18" name="Picture 12">
                <a:extLst>
                  <a:ext uri="{FF2B5EF4-FFF2-40B4-BE49-F238E27FC236}">
                    <a16:creationId xmlns:a16="http://schemas.microsoft.com/office/drawing/2014/main" xmlns="" id="{FF7F5DEC-1379-7837-8D1E-F2D2928779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2" y="1865"/>
                <a:ext cx="3951" cy="2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" name="Rectangle 13">
                <a:extLst>
                  <a:ext uri="{FF2B5EF4-FFF2-40B4-BE49-F238E27FC236}">
                    <a16:creationId xmlns:a16="http://schemas.microsoft.com/office/drawing/2014/main" xmlns="" id="{2D979996-C2A1-442A-9252-7A1DA04BD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1926"/>
                <a:ext cx="1404" cy="16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" name="Text Box 18">
              <a:extLst>
                <a:ext uri="{FF2B5EF4-FFF2-40B4-BE49-F238E27FC236}">
                  <a16:creationId xmlns:a16="http://schemas.microsoft.com/office/drawing/2014/main" xmlns="" id="{D804F5B5-009A-BC87-2FCD-A10D0ECB6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1531938" y="3535363"/>
              <a:ext cx="428625" cy="1747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RTT (milliseconds)</a:t>
              </a:r>
            </a:p>
          </p:txBody>
        </p:sp>
        <p:sp>
          <p:nvSpPr>
            <p:cNvPr id="9" name="Text Box 19">
              <a:extLst>
                <a:ext uri="{FF2B5EF4-FFF2-40B4-BE49-F238E27FC236}">
                  <a16:creationId xmlns:a16="http://schemas.microsoft.com/office/drawing/2014/main" xmlns="" id="{A47B8DE2-5A1A-287D-D131-B7F9ECAE4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5363" y="3168650"/>
              <a:ext cx="386715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RTT: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gaia.cs.umass.edu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to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fantasia.eurecom.fr</a:t>
              </a:r>
            </a:p>
          </p:txBody>
        </p:sp>
        <p:sp>
          <p:nvSpPr>
            <p:cNvPr id="10" name="Text Box 20">
              <a:extLst>
                <a:ext uri="{FF2B5EF4-FFF2-40B4-BE49-F238E27FC236}">
                  <a16:creationId xmlns:a16="http://schemas.microsoft.com/office/drawing/2014/main" xmlns="" id="{311CC287-812C-3C60-F0BB-4CBD51918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1413" y="5230813"/>
              <a:ext cx="11811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sampleRTT</a:t>
              </a:r>
            </a:p>
          </p:txBody>
        </p:sp>
        <p:sp>
          <p:nvSpPr>
            <p:cNvPr id="11" name="Text Box 21">
              <a:extLst>
                <a:ext uri="{FF2B5EF4-FFF2-40B4-BE49-F238E27FC236}">
                  <a16:creationId xmlns:a16="http://schemas.microsoft.com/office/drawing/2014/main" xmlns="" id="{3053E9D6-1DCA-3970-3EF0-59F59BF31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5063" y="5548313"/>
              <a:ext cx="1431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EstimatedRTT</a:t>
              </a:r>
            </a:p>
          </p:txBody>
        </p:sp>
        <p:sp>
          <p:nvSpPr>
            <p:cNvPr id="12" name="AutoShape 22">
              <a:extLst>
                <a:ext uri="{FF2B5EF4-FFF2-40B4-BE49-F238E27FC236}">
                  <a16:creationId xmlns:a16="http://schemas.microsoft.com/office/drawing/2014/main" xmlns="" id="{A0DE2503-D00E-3469-AECC-9DD3F36A8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513" y="5343525"/>
              <a:ext cx="147637" cy="142875"/>
            </a:xfrm>
            <a:prstGeom prst="diamond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" name="AutoShape 23">
              <a:extLst>
                <a:ext uri="{FF2B5EF4-FFF2-40B4-BE49-F238E27FC236}">
                  <a16:creationId xmlns:a16="http://schemas.microsoft.com/office/drawing/2014/main" xmlns="" id="{205BD364-6C3F-9CF9-3C6B-929E8F20FF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76382">
              <a:off x="6011069" y="5633244"/>
              <a:ext cx="147637" cy="142875"/>
            </a:xfrm>
            <a:prstGeom prst="diamond">
              <a:avLst/>
            </a:pr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" name="Rectangle 24">
              <a:extLst>
                <a:ext uri="{FF2B5EF4-FFF2-40B4-BE49-F238E27FC236}">
                  <a16:creationId xmlns:a16="http://schemas.microsoft.com/office/drawing/2014/main" xmlns="" id="{09F4E986-BE2E-8812-1AE4-2FDC35785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6389688"/>
              <a:ext cx="1863725" cy="4683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xmlns="" id="{C489CEEE-1586-14F7-345C-ED5CCC6C6F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1774" y="6386513"/>
              <a:ext cx="2665413" cy="361950"/>
              <a:chOff x="2343" y="3645"/>
              <a:chExt cx="1679" cy="228"/>
            </a:xfrm>
          </p:grpSpPr>
          <p:sp>
            <p:nvSpPr>
              <p:cNvPr id="16" name="Rectangle 16">
                <a:extLst>
                  <a:ext uri="{FF2B5EF4-FFF2-40B4-BE49-F238E27FC236}">
                    <a16:creationId xmlns:a16="http://schemas.microsoft.com/office/drawing/2014/main" xmlns="" id="{CC1B6D3C-8494-212D-9F90-48EB22593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3695"/>
                <a:ext cx="527" cy="9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" name="Text Box 17">
                <a:extLst>
                  <a:ext uri="{FF2B5EF4-FFF2-40B4-BE49-F238E27FC236}">
                    <a16:creationId xmlns:a16="http://schemas.microsoft.com/office/drawing/2014/main" xmlns="" id="{3AC90552-3F80-F515-7667-DB280C5C7C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3" y="3645"/>
                <a:ext cx="1679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time (seconds)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102D1C8-D217-A403-70CB-92CE7F36C10A}"/>
              </a:ext>
            </a:extLst>
          </p:cNvPr>
          <p:cNvSpPr txBox="1"/>
          <p:nvPr/>
        </p:nvSpPr>
        <p:spPr>
          <a:xfrm>
            <a:off x="0" y="5557696"/>
            <a:ext cx="5168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n-NO" sz="1800" b="1" i="0" u="none" strike="noStrike" baseline="0" dirty="0">
                <a:latin typeface="Courier10PitchBT-Roman"/>
              </a:rPr>
              <a:t>EstimatedRTT = 0.875 • EstimatedRTT + 0.125 • SampleRTT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4050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027AF4-DC73-FDA6-75F2-B1EE9E85C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EA53A7-21D9-D57D-0FFE-C4866A83E046}"/>
              </a:ext>
            </a:extLst>
          </p:cNvPr>
          <p:cNvSpPr txBox="1">
            <a:spLocks/>
          </p:cNvSpPr>
          <p:nvPr/>
        </p:nvSpPr>
        <p:spPr>
          <a:xfrm>
            <a:off x="798690" y="289325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TCP round trip time, timeout</a:t>
            </a:r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1B000386-32A3-750A-0A63-137C5BC860E6}"/>
              </a:ext>
            </a:extLst>
          </p:cNvPr>
          <p:cNvSpPr txBox="1">
            <a:spLocks noChangeArrowheads="1"/>
          </p:cNvSpPr>
          <p:nvPr/>
        </p:nvSpPr>
        <p:spPr>
          <a:xfrm>
            <a:off x="635138" y="1537841"/>
            <a:ext cx="11327678" cy="112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timeout interval: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EstimatedRTT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plus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safety margin”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large variation in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EstimatedRTT: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 a larger safety margin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A4280FFD-8D36-57E5-3608-30ED9C84AD59}"/>
              </a:ext>
            </a:extLst>
          </p:cNvPr>
          <p:cNvGrpSpPr/>
          <p:nvPr/>
        </p:nvGrpSpPr>
        <p:grpSpPr>
          <a:xfrm>
            <a:off x="1061454" y="2679700"/>
            <a:ext cx="9532485" cy="1193800"/>
            <a:chOff x="858254" y="2667000"/>
            <a:chExt cx="9532485" cy="1193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945F8849-D296-1D6A-FB82-C720A342E5CF}"/>
                </a:ext>
              </a:extLst>
            </p:cNvPr>
            <p:cNvSpPr/>
            <p:nvPr/>
          </p:nvSpPr>
          <p:spPr>
            <a:xfrm>
              <a:off x="858254" y="2667000"/>
              <a:ext cx="9532485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13">
              <a:extLst>
                <a:ext uri="{FF2B5EF4-FFF2-40B4-BE49-F238E27FC236}">
                  <a16:creationId xmlns:a16="http://schemas.microsoft.com/office/drawing/2014/main" xmlns="" id="{CCD0DE8D-7CC8-95EF-3F19-283262ABA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79" y="2701243"/>
              <a:ext cx="7918450" cy="692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TimeoutInterval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 = EstimatedRTT + 4*</a:t>
              </a:r>
              <a:r>
                <a:rPr kumimoji="0" 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DevRTT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endParaRPr>
            </a:p>
          </p:txBody>
        </p:sp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xmlns="" id="{C941ECFE-FF48-10C1-5CC8-0894D70F9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854" y="3442606"/>
              <a:ext cx="18113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estimated RTT</a:t>
              </a:r>
            </a:p>
          </p:txBody>
        </p:sp>
        <p:sp>
          <p:nvSpPr>
            <p:cNvPr id="8" name="Text Box 16">
              <a:extLst>
                <a:ext uri="{FF2B5EF4-FFF2-40B4-BE49-F238E27FC236}">
                  <a16:creationId xmlns:a16="http://schemas.microsoft.com/office/drawing/2014/main" xmlns="" id="{3B4B0631-7F13-AD13-E256-865FE2159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6904" y="3461656"/>
              <a:ext cx="19177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“</a:t>
              </a:r>
              <a:r>
                <a:rPr kumimoji="0" lang="en-US" altLang="ja-JP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safety margin</a:t>
              </a:r>
              <a:r>
                <a:rPr kumimoji="0" lang="ja-JP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”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" name="Line 17">
              <a:extLst>
                <a:ext uri="{FF2B5EF4-FFF2-40B4-BE49-F238E27FC236}">
                  <a16:creationId xmlns:a16="http://schemas.microsoft.com/office/drawing/2014/main" xmlns="" id="{AC761061-A8C8-718D-86C8-05005AE303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1779" y="3082243"/>
              <a:ext cx="0" cy="4460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xmlns="" id="{42735867-C7CD-9637-5F49-1AD8A93F7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73529" y="3088593"/>
              <a:ext cx="0" cy="4460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pic>
          <p:nvPicPr>
            <p:cNvPr id="11" name="Picture 20" descr="alarm_clock_ringing">
              <a:extLst>
                <a:ext uri="{FF2B5EF4-FFF2-40B4-BE49-F238E27FC236}">
                  <a16:creationId xmlns:a16="http://schemas.microsoft.com/office/drawing/2014/main" xmlns="" id="{2171D0E7-11B7-5970-22EA-90B593DB8B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5043" y="3238052"/>
              <a:ext cx="646558" cy="622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TextBox 1">
            <a:extLst>
              <a:ext uri="{FF2B5EF4-FFF2-40B4-BE49-F238E27FC236}">
                <a16:creationId xmlns:a16="http://schemas.microsoft.com/office/drawing/2014/main" xmlns="" id="{B9817060-D1F9-819D-FBE3-5C122676A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74" y="6106510"/>
            <a:ext cx="1001864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Check out the online interactive exercises for more examples: 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  <a:hlinkClick r:id="rId3"/>
              </a:rPr>
              <a:t>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  <a:hlinkClick r:id="rId3"/>
              </a:rPr>
              <a:t>ttp://gaia.cs.umass.edu/kurose_ross/interactive/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89BC96FE-9D12-CD5A-4134-4A92F6D5D908}"/>
              </a:ext>
            </a:extLst>
          </p:cNvPr>
          <p:cNvGrpSpPr/>
          <p:nvPr/>
        </p:nvGrpSpPr>
        <p:grpSpPr>
          <a:xfrm>
            <a:off x="1304479" y="4827690"/>
            <a:ext cx="10446405" cy="940044"/>
            <a:chOff x="1837879" y="3151290"/>
            <a:chExt cx="10446405" cy="94004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D6ED91A4-FA70-6E54-4859-F175E2DF7C4E}"/>
                </a:ext>
              </a:extLst>
            </p:cNvPr>
            <p:cNvSpPr/>
            <p:nvPr/>
          </p:nvSpPr>
          <p:spPr>
            <a:xfrm>
              <a:off x="1837879" y="3151290"/>
              <a:ext cx="9532486" cy="5222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xmlns="" id="{8731B137-3892-5C30-B829-7CC94D492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879" y="3151831"/>
              <a:ext cx="100186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DevRTT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 =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(1-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  <a:sym typeface="Symbol" charset="0"/>
                </a:rPr>
                <a:t>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)*</a:t>
              </a:r>
              <a:r>
                <a:rPr kumimoji="0" 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DevRTT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 +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  <a:sym typeface="Symbol" charset="0"/>
                </a:rPr>
                <a:t>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*|</a:t>
              </a:r>
              <a:r>
                <a:rPr kumimoji="0" 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SampleRTT-EstimatedRTT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|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xmlns="" id="{65B12583-67BE-335C-CC77-D62F66A01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8147" y="3694459"/>
              <a:ext cx="338613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(typically,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  <a:sym typeface="Symbol" charset="0"/>
                </a:rPr>
                <a:t>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  <a:sym typeface="Symbol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  <a:sym typeface="Symbol" charset="0"/>
                </a:rPr>
                <a:t>= 0.25)</a:t>
              </a:r>
            </a:p>
          </p:txBody>
        </p:sp>
      </p:grpSp>
      <p:sp>
        <p:nvSpPr>
          <p:cNvPr id="17" name="Rectangle 5">
            <a:extLst>
              <a:ext uri="{FF2B5EF4-FFF2-40B4-BE49-F238E27FC236}">
                <a16:creationId xmlns:a16="http://schemas.microsoft.com/office/drawing/2014/main" xmlns="" id="{0AE31030-B032-BBA4-633F-728106275F52}"/>
              </a:ext>
            </a:extLst>
          </p:cNvPr>
          <p:cNvSpPr txBox="1">
            <a:spLocks noChangeArrowheads="1"/>
          </p:cNvSpPr>
          <p:nvPr/>
        </p:nvSpPr>
        <p:spPr>
          <a:xfrm>
            <a:off x="660538" y="4192141"/>
            <a:ext cx="11327678" cy="54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DevRTT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EWMA of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SampleRTT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deviation from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EstimatedRTT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09287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B115DD3-3B3A-C8A6-B1D5-8F60A3BA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35C38430-472A-E9B3-21D1-935EA9C65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3446" y="865682"/>
            <a:ext cx="10515600" cy="54911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Q1</a:t>
            </a:r>
          </a:p>
          <a:p>
            <a:pPr marL="0" indent="0" algn="just">
              <a:buNone/>
            </a:pPr>
            <a:r>
              <a:rPr lang="en-IN" dirty="0"/>
              <a:t>Suppose that the three measured </a:t>
            </a:r>
            <a:r>
              <a:rPr lang="en-IN" dirty="0" err="1"/>
              <a:t>SampleRTT</a:t>
            </a:r>
            <a:r>
              <a:rPr lang="en-IN" dirty="0"/>
              <a:t> values are 106 </a:t>
            </a:r>
            <a:r>
              <a:rPr lang="en-IN" dirty="0" err="1"/>
              <a:t>ms</a:t>
            </a:r>
            <a:r>
              <a:rPr lang="en-IN" dirty="0"/>
              <a:t>, 120 </a:t>
            </a:r>
            <a:r>
              <a:rPr lang="en-IN" dirty="0" err="1"/>
              <a:t>ms</a:t>
            </a:r>
            <a:r>
              <a:rPr lang="en-IN" dirty="0"/>
              <a:t>, and 140 </a:t>
            </a:r>
            <a:r>
              <a:rPr lang="en-IN" dirty="0" err="1"/>
              <a:t>ms</a:t>
            </a:r>
            <a:r>
              <a:rPr lang="en-IN" dirty="0"/>
              <a:t>, Compute the </a:t>
            </a:r>
            <a:r>
              <a:rPr lang="en-IN" dirty="0" err="1"/>
              <a:t>EstimatedRTT</a:t>
            </a:r>
            <a:r>
              <a:rPr lang="en-IN" dirty="0"/>
              <a:t> after each of these </a:t>
            </a:r>
            <a:r>
              <a:rPr lang="en-IN" dirty="0" err="1"/>
              <a:t>SampleRTT</a:t>
            </a:r>
            <a:r>
              <a:rPr lang="en-IN" dirty="0"/>
              <a:t> values is obtained, using a value of α = 0.125 and assuming that the value of </a:t>
            </a:r>
            <a:r>
              <a:rPr lang="en-IN" dirty="0" err="1"/>
              <a:t>EstimatedRTT</a:t>
            </a:r>
            <a:r>
              <a:rPr lang="en-IN" dirty="0"/>
              <a:t> was 100 </a:t>
            </a:r>
            <a:r>
              <a:rPr lang="en-IN" dirty="0" err="1"/>
              <a:t>ms</a:t>
            </a:r>
            <a:r>
              <a:rPr lang="en-IN" dirty="0"/>
              <a:t> just before the first of these three samples were obtained. Compute also the </a:t>
            </a:r>
            <a:r>
              <a:rPr lang="en-IN" dirty="0" err="1"/>
              <a:t>DevRTT</a:t>
            </a:r>
            <a:r>
              <a:rPr lang="en-IN" dirty="0"/>
              <a:t> after each sample is obtained, assuming a value of β = 0.25 and assuming the value of </a:t>
            </a:r>
            <a:r>
              <a:rPr lang="en-IN" dirty="0" err="1"/>
              <a:t>DevRTT</a:t>
            </a:r>
            <a:r>
              <a:rPr lang="en-IN" dirty="0"/>
              <a:t> was 5 </a:t>
            </a:r>
            <a:r>
              <a:rPr lang="en-IN" dirty="0" err="1"/>
              <a:t>ms</a:t>
            </a:r>
            <a:r>
              <a:rPr lang="en-IN" dirty="0"/>
              <a:t> just before the first of these three samples was obtained. Last, compute the TCP </a:t>
            </a:r>
            <a:r>
              <a:rPr lang="en-IN" dirty="0" err="1"/>
              <a:t>TimeoutInterval</a:t>
            </a:r>
            <a:r>
              <a:rPr lang="en-IN" dirty="0"/>
              <a:t> after each of these samples is obtained.</a:t>
            </a:r>
          </a:p>
        </p:txBody>
      </p:sp>
    </p:spTree>
    <p:extLst>
      <p:ext uri="{BB962C8B-B14F-4D97-AF65-F5344CB8AC3E}">
        <p14:creationId xmlns:p14="http://schemas.microsoft.com/office/powerpoint/2010/main" val="1216701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5B7C3D-CEF6-E9BC-C3C2-F6421E54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577423A1-900F-CBDC-124A-2093880F3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8495" y="880672"/>
            <a:ext cx="10515600" cy="5491163"/>
          </a:xfrm>
        </p:spPr>
        <p:txBody>
          <a:bodyPr/>
          <a:lstStyle/>
          <a:p>
            <a:pPr marL="0" lvl="0" indent="0">
              <a:buNone/>
            </a:pPr>
            <a:r>
              <a:rPr lang="en-IN" dirty="0"/>
              <a:t>Q2</a:t>
            </a:r>
          </a:p>
          <a:p>
            <a:pPr marL="0" lvl="0" indent="0" algn="just">
              <a:buNone/>
            </a:pPr>
            <a:r>
              <a:rPr lang="en-IN" dirty="0"/>
              <a:t>Consider the TCP procedure for estimating RTT. Suppose that </a:t>
            </a:r>
            <a:r>
              <a:rPr lang="en-US" dirty="0">
                <a:sym typeface="Symbol" panose="05050102010706020507" pitchFamily="18" charset="2"/>
              </a:rPr>
              <a:t></a:t>
            </a:r>
            <a:r>
              <a:rPr lang="en-IN" dirty="0"/>
              <a:t> = 0.1. Let SampleRTT</a:t>
            </a:r>
            <a:r>
              <a:rPr lang="en-IN" baseline="-25000" dirty="0"/>
              <a:t>1</a:t>
            </a:r>
            <a:r>
              <a:rPr lang="en-IN" dirty="0"/>
              <a:t> be the most recent sample RTT, let SampleRTT</a:t>
            </a:r>
            <a:r>
              <a:rPr lang="en-IN" baseline="-25000" dirty="0"/>
              <a:t>2</a:t>
            </a:r>
            <a:r>
              <a:rPr lang="en-IN" dirty="0"/>
              <a:t> be the next most recent sample RTT, and so on. </a:t>
            </a:r>
          </a:p>
          <a:p>
            <a:pPr marL="514350" lvl="0" indent="-514350" algn="just">
              <a:buFont typeface="+mj-lt"/>
              <a:buAutoNum type="alphaLcParenR"/>
            </a:pPr>
            <a:r>
              <a:rPr lang="en-IN" dirty="0"/>
              <a:t>For a given TCP connection, suppose four acknowledgments have been returned with corresponding sample RTTs: SampleRTT</a:t>
            </a:r>
            <a:r>
              <a:rPr lang="en-IN" baseline="-25000" dirty="0"/>
              <a:t>4</a:t>
            </a:r>
            <a:r>
              <a:rPr lang="en-IN" dirty="0"/>
              <a:t>, SampleRTT</a:t>
            </a:r>
            <a:r>
              <a:rPr lang="en-IN" baseline="-25000" dirty="0"/>
              <a:t>3</a:t>
            </a:r>
            <a:r>
              <a:rPr lang="en-IN" dirty="0"/>
              <a:t>, SampleRTT</a:t>
            </a:r>
            <a:r>
              <a:rPr lang="en-IN" baseline="-25000" dirty="0"/>
              <a:t>2</a:t>
            </a:r>
            <a:r>
              <a:rPr lang="en-IN" dirty="0"/>
              <a:t>, and SampleRTT</a:t>
            </a:r>
            <a:r>
              <a:rPr lang="en-IN" baseline="-25000" dirty="0"/>
              <a:t>1</a:t>
            </a:r>
            <a:r>
              <a:rPr lang="en-IN" dirty="0"/>
              <a:t>. Express </a:t>
            </a:r>
            <a:r>
              <a:rPr lang="en-IN" dirty="0" err="1"/>
              <a:t>EstimatedRTT</a:t>
            </a:r>
            <a:r>
              <a:rPr lang="en-IN" dirty="0"/>
              <a:t> in terms of the four sample RTTs. </a:t>
            </a:r>
          </a:p>
          <a:p>
            <a:pPr marL="514350" lvl="0" indent="-514350" algn="just">
              <a:buFont typeface="+mj-lt"/>
              <a:buAutoNum type="alphaLcParenR"/>
            </a:pPr>
            <a:r>
              <a:rPr lang="en-IN" dirty="0"/>
              <a:t>Generalize your formula for n sample RTTs. </a:t>
            </a:r>
          </a:p>
          <a:p>
            <a:pPr marL="514350" lvl="0" indent="-514350" algn="just">
              <a:buFont typeface="+mj-lt"/>
              <a:buAutoNum type="alphaLcParenR"/>
            </a:pPr>
            <a:r>
              <a:rPr lang="en-IN" dirty="0"/>
              <a:t>For the formula in part (b) let n approach infinity. Comment on why this averaging procedure is called an exponential moving average.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316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2684EEF-A29A-853A-B9DE-3C8BAF91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A3DCC7-23D4-DA9A-A018-0C9C1AA000F1}"/>
              </a:ext>
            </a:extLst>
          </p:cNvPr>
          <p:cNvSpPr txBox="1">
            <a:spLocks/>
          </p:cNvSpPr>
          <p:nvPr/>
        </p:nvSpPr>
        <p:spPr>
          <a:xfrm>
            <a:off x="399345" y="551522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spc="-5" dirty="0">
                <a:latin typeface="Arial" panose="020B0604020202020204" pitchFamily="34" charset="0"/>
                <a:cs typeface="Arial" panose="020B0604020202020204" pitchFamily="34" charset="0"/>
              </a:rPr>
              <a:t>TCP reliable data</a:t>
            </a:r>
            <a:r>
              <a:rPr lang="en-IN" sz="4000" b="1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4000" b="1" spc="-5" dirty="0">
                <a:latin typeface="Arial" panose="020B0604020202020204" pitchFamily="34" charset="0"/>
                <a:cs typeface="Arial" panose="020B0604020202020204" pitchFamily="34" charset="0"/>
              </a:rPr>
              <a:t>transfer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F9C90885-94FC-8504-0868-0C2272FC6C6A}"/>
              </a:ext>
            </a:extLst>
          </p:cNvPr>
          <p:cNvSpPr txBox="1">
            <a:spLocks noChangeArrowheads="1"/>
          </p:cNvSpPr>
          <p:nvPr/>
        </p:nvSpPr>
        <p:spPr>
          <a:xfrm>
            <a:off x="798689" y="1384386"/>
            <a:ext cx="5383449" cy="4648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6" marR="97155" indent="-342900" algn="just">
              <a:lnSpc>
                <a:spcPct val="200000"/>
              </a:lnSpc>
              <a:spcBef>
                <a:spcPts val="0"/>
              </a:spcBef>
              <a:tabLst>
                <a:tab pos="230504" algn="l"/>
              </a:tabLst>
            </a:pPr>
            <a:r>
              <a:rPr lang="en-US" sz="2400" spc="-5" dirty="0">
                <a:latin typeface="Arial"/>
                <a:cs typeface="Arial"/>
              </a:rPr>
              <a:t>TCP </a:t>
            </a:r>
            <a:r>
              <a:rPr lang="en-US" sz="2400" dirty="0">
                <a:latin typeface="Arial"/>
                <a:cs typeface="Arial"/>
              </a:rPr>
              <a:t>creates </a:t>
            </a:r>
            <a:r>
              <a:rPr lang="en-US" sz="2400" dirty="0" err="1">
                <a:latin typeface="Arial"/>
                <a:cs typeface="Arial"/>
              </a:rPr>
              <a:t>rdt</a:t>
            </a:r>
            <a:r>
              <a:rPr lang="en-US" sz="2400" dirty="0">
                <a:latin typeface="Arial"/>
                <a:cs typeface="Arial"/>
              </a:rPr>
              <a:t>  service </a:t>
            </a:r>
            <a:r>
              <a:rPr lang="en-US" sz="2400" spc="-5" dirty="0">
                <a:latin typeface="Arial"/>
                <a:cs typeface="Arial"/>
              </a:rPr>
              <a:t>on top of</a:t>
            </a:r>
            <a:r>
              <a:rPr lang="en-US" sz="2400" spc="-90" dirty="0">
                <a:latin typeface="Arial"/>
                <a:cs typeface="Arial"/>
              </a:rPr>
              <a:t> </a:t>
            </a:r>
            <a:r>
              <a:rPr lang="en-US" sz="2400" spc="-15" dirty="0">
                <a:latin typeface="Arial"/>
                <a:cs typeface="Arial"/>
              </a:rPr>
              <a:t>IP’s  </a:t>
            </a:r>
            <a:r>
              <a:rPr lang="en-US" sz="2400" spc="-5" dirty="0">
                <a:latin typeface="Arial"/>
                <a:cs typeface="Arial"/>
              </a:rPr>
              <a:t>unreliable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service</a:t>
            </a:r>
          </a:p>
          <a:p>
            <a:pPr marL="529590" lvl="1" indent="-227965" algn="just">
              <a:lnSpc>
                <a:spcPct val="200000"/>
              </a:lnSpc>
              <a:spcBef>
                <a:spcPts val="0"/>
              </a:spcBef>
              <a:buChar char="–"/>
              <a:tabLst>
                <a:tab pos="530225" algn="l"/>
              </a:tabLst>
            </a:pPr>
            <a:r>
              <a:rPr lang="en-US" sz="2000" b="1" spc="-5" dirty="0">
                <a:latin typeface="Arial"/>
                <a:cs typeface="Arial"/>
              </a:rPr>
              <a:t>pipelined</a:t>
            </a:r>
            <a:r>
              <a:rPr lang="en-US" sz="2000" b="1" spc="-3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segments</a:t>
            </a:r>
            <a:endParaRPr lang="en-US" sz="2000" dirty="0">
              <a:latin typeface="Arial"/>
              <a:cs typeface="Arial"/>
            </a:endParaRPr>
          </a:p>
          <a:p>
            <a:pPr marL="529590" lvl="1" indent="-227965" algn="just">
              <a:lnSpc>
                <a:spcPct val="200000"/>
              </a:lnSpc>
              <a:spcBef>
                <a:spcPts val="0"/>
              </a:spcBef>
              <a:buChar char="–"/>
              <a:tabLst>
                <a:tab pos="530225" algn="l"/>
              </a:tabLst>
            </a:pPr>
            <a:r>
              <a:rPr lang="en-US" sz="2000" b="1" spc="-5" dirty="0">
                <a:latin typeface="Arial"/>
                <a:cs typeface="Arial"/>
              </a:rPr>
              <a:t>cumulative</a:t>
            </a:r>
            <a:r>
              <a:rPr lang="en-US" sz="2000" b="1" spc="-20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acks</a:t>
            </a:r>
            <a:endParaRPr lang="en-US" sz="2000" dirty="0">
              <a:latin typeface="Arial"/>
              <a:cs typeface="Arial"/>
            </a:endParaRPr>
          </a:p>
          <a:p>
            <a:pPr marL="529590" marR="5080" lvl="1" indent="-227329" algn="just">
              <a:lnSpc>
                <a:spcPct val="200000"/>
              </a:lnSpc>
              <a:spcBef>
                <a:spcPts val="0"/>
              </a:spcBef>
              <a:buChar char="–"/>
              <a:tabLst>
                <a:tab pos="530225" algn="l"/>
              </a:tabLst>
            </a:pPr>
            <a:r>
              <a:rPr lang="en-US" sz="2000" b="1" spc="-5" dirty="0">
                <a:latin typeface="Arial"/>
                <a:cs typeface="Arial"/>
              </a:rPr>
              <a:t>single  retransmission</a:t>
            </a:r>
            <a:r>
              <a:rPr lang="en-US" sz="2000" b="1" spc="-90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timer</a:t>
            </a:r>
            <a:endParaRPr lang="en-US" sz="2000" dirty="0">
              <a:latin typeface="Arial"/>
              <a:cs typeface="Arial"/>
            </a:endParaRPr>
          </a:p>
          <a:p>
            <a:pPr marL="354966" marR="697865" indent="-342900" algn="just">
              <a:lnSpc>
                <a:spcPct val="200000"/>
              </a:lnSpc>
              <a:spcBef>
                <a:spcPts val="0"/>
              </a:spcBef>
              <a:tabLst>
                <a:tab pos="230504" algn="l"/>
              </a:tabLst>
            </a:pPr>
            <a:r>
              <a:rPr lang="en-US" sz="2400" dirty="0">
                <a:latin typeface="Arial"/>
                <a:cs typeface="Arial"/>
              </a:rPr>
              <a:t>retransmissions  </a:t>
            </a:r>
            <a:r>
              <a:rPr lang="en-US" sz="2400" spc="-5" dirty="0">
                <a:latin typeface="Arial"/>
                <a:cs typeface="Arial"/>
              </a:rPr>
              <a:t>triggered</a:t>
            </a:r>
            <a:r>
              <a:rPr lang="en-US" sz="2400" spc="-25" dirty="0">
                <a:latin typeface="Arial"/>
                <a:cs typeface="Arial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by:</a:t>
            </a:r>
            <a:endParaRPr lang="en-US" sz="2400" dirty="0">
              <a:latin typeface="Arial"/>
              <a:cs typeface="Arial"/>
            </a:endParaRPr>
          </a:p>
          <a:p>
            <a:pPr marL="529590" lvl="1" indent="-227965" algn="just">
              <a:lnSpc>
                <a:spcPct val="200000"/>
              </a:lnSpc>
              <a:spcBef>
                <a:spcPts val="0"/>
              </a:spcBef>
              <a:buChar char="–"/>
              <a:tabLst>
                <a:tab pos="530225" algn="l"/>
              </a:tabLst>
            </a:pPr>
            <a:r>
              <a:rPr lang="en-US" sz="2000" b="1" dirty="0">
                <a:latin typeface="Arial"/>
                <a:cs typeface="Arial"/>
              </a:rPr>
              <a:t>timeout</a:t>
            </a:r>
            <a:r>
              <a:rPr lang="en-US" sz="2000" b="1" spc="-1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events</a:t>
            </a:r>
            <a:endParaRPr lang="en-US" sz="2000" dirty="0">
              <a:latin typeface="Arial"/>
              <a:cs typeface="Arial"/>
            </a:endParaRPr>
          </a:p>
          <a:p>
            <a:pPr marL="529590" lvl="1" indent="-227965" algn="just">
              <a:lnSpc>
                <a:spcPct val="200000"/>
              </a:lnSpc>
              <a:spcBef>
                <a:spcPts val="0"/>
              </a:spcBef>
              <a:buChar char="–"/>
              <a:tabLst>
                <a:tab pos="530225" algn="l"/>
              </a:tabLst>
            </a:pPr>
            <a:r>
              <a:rPr lang="en-US" sz="2000" b="1" spc="-5" dirty="0">
                <a:latin typeface="Arial"/>
                <a:cs typeface="Arial"/>
              </a:rPr>
              <a:t>duplicate</a:t>
            </a:r>
            <a:r>
              <a:rPr lang="en-US" sz="2000" b="1" spc="-1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acks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AB09C477-37A2-4675-DBE9-E8DFEC76DBBD}"/>
              </a:ext>
            </a:extLst>
          </p:cNvPr>
          <p:cNvSpPr txBox="1">
            <a:spLocks noChangeArrowheads="1"/>
          </p:cNvSpPr>
          <p:nvPr/>
        </p:nvSpPr>
        <p:spPr>
          <a:xfrm>
            <a:off x="6728208" y="1446144"/>
            <a:ext cx="4880696" cy="2668656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240" marR="254635" indent="-257175">
              <a:lnSpc>
                <a:spcPct val="220000"/>
              </a:lnSpc>
              <a:spcBef>
                <a:spcPts val="100"/>
              </a:spcBef>
            </a:pPr>
            <a:r>
              <a:rPr lang="en-US" sz="4000" spc="-15" dirty="0">
                <a:latin typeface="Arial"/>
                <a:cs typeface="Arial"/>
              </a:rPr>
              <a:t>let’s </a:t>
            </a:r>
            <a:r>
              <a:rPr lang="en-US" sz="4000" spc="-5" dirty="0">
                <a:latin typeface="Arial"/>
                <a:cs typeface="Arial"/>
              </a:rPr>
              <a:t>initially </a:t>
            </a:r>
            <a:r>
              <a:rPr lang="en-US" sz="4000" dirty="0">
                <a:latin typeface="Arial"/>
                <a:cs typeface="Arial"/>
              </a:rPr>
              <a:t>consider  simplified </a:t>
            </a:r>
            <a:r>
              <a:rPr lang="en-US" sz="4000" spc="-5" dirty="0">
                <a:latin typeface="Arial"/>
                <a:cs typeface="Arial"/>
              </a:rPr>
              <a:t>TCP  </a:t>
            </a:r>
            <a:r>
              <a:rPr lang="en-US" sz="4000" dirty="0">
                <a:latin typeface="Arial"/>
                <a:cs typeface="Arial"/>
              </a:rPr>
              <a:t>sender:</a:t>
            </a:r>
          </a:p>
          <a:p>
            <a:pPr marL="799466" marR="362585" indent="-457200">
              <a:lnSpc>
                <a:spcPct val="220000"/>
              </a:lnSpc>
              <a:spcBef>
                <a:spcPts val="370"/>
              </a:spcBef>
              <a:tabLst>
                <a:tab pos="570230" algn="l"/>
              </a:tabLst>
            </a:pPr>
            <a:r>
              <a:rPr lang="en-US" sz="3200" b="1" spc="-5" dirty="0">
                <a:latin typeface="Arial"/>
                <a:cs typeface="Arial"/>
              </a:rPr>
              <a:t>ignore</a:t>
            </a:r>
            <a:r>
              <a:rPr lang="en-US" sz="3200" b="1" spc="-95" dirty="0">
                <a:latin typeface="Arial"/>
                <a:cs typeface="Arial"/>
              </a:rPr>
              <a:t> </a:t>
            </a:r>
            <a:r>
              <a:rPr lang="en-US" sz="3200" b="1" spc="-5" dirty="0">
                <a:latin typeface="Arial"/>
                <a:cs typeface="Arial"/>
              </a:rPr>
              <a:t>duplicate  acks</a:t>
            </a:r>
            <a:endParaRPr lang="en-US" sz="3200" dirty="0">
              <a:latin typeface="Arial"/>
              <a:cs typeface="Arial"/>
            </a:endParaRPr>
          </a:p>
          <a:p>
            <a:pPr marL="799466" marR="362585" indent="-457200">
              <a:lnSpc>
                <a:spcPct val="220000"/>
              </a:lnSpc>
              <a:spcBef>
                <a:spcPts val="370"/>
              </a:spcBef>
              <a:tabLst>
                <a:tab pos="570230" algn="l"/>
              </a:tabLst>
            </a:pPr>
            <a:r>
              <a:rPr lang="en-US" sz="3200" b="1" spc="-5" dirty="0">
                <a:latin typeface="Arial"/>
                <a:cs typeface="Arial"/>
              </a:rPr>
              <a:t>ignore </a:t>
            </a:r>
            <a:r>
              <a:rPr lang="en-US" sz="3200" b="1" dirty="0">
                <a:latin typeface="Arial"/>
                <a:cs typeface="Arial"/>
              </a:rPr>
              <a:t>flow</a:t>
            </a:r>
            <a:r>
              <a:rPr lang="en-US" sz="3200" b="1" spc="-95" dirty="0">
                <a:latin typeface="Arial"/>
                <a:cs typeface="Arial"/>
              </a:rPr>
              <a:t> </a:t>
            </a:r>
            <a:r>
              <a:rPr lang="en-US" sz="3200" b="1" spc="-5" dirty="0">
                <a:latin typeface="Arial"/>
                <a:cs typeface="Arial"/>
              </a:rPr>
              <a:t>control,  congestion</a:t>
            </a:r>
            <a:r>
              <a:rPr lang="en-US" sz="3200" b="1" spc="-50" dirty="0">
                <a:latin typeface="Arial"/>
                <a:cs typeface="Arial"/>
              </a:rPr>
              <a:t> </a:t>
            </a:r>
            <a:r>
              <a:rPr lang="en-US" sz="3200" b="1" spc="-5" dirty="0">
                <a:latin typeface="Arial"/>
                <a:cs typeface="Arial"/>
              </a:rPr>
              <a:t>control</a:t>
            </a:r>
            <a:endParaRPr lang="en-US"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36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E3F6B2-7433-2EC9-9A53-F09A58C8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18A1C5-5E8E-127A-42DD-AFFF0558CD95}"/>
              </a:ext>
            </a:extLst>
          </p:cNvPr>
          <p:cNvSpPr txBox="1">
            <a:spLocks/>
          </p:cNvSpPr>
          <p:nvPr/>
        </p:nvSpPr>
        <p:spPr>
          <a:xfrm>
            <a:off x="393955" y="548214"/>
            <a:ext cx="10442467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Sender events (simplified)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8A66B7A7-A8B6-D953-30DE-3C24678D6E58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84386"/>
            <a:ext cx="49530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event: data received from application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segment with seq #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seq # is byte-stream number of first data byte in  segment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 timer if not already running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think of timer as for oldest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unACKed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segment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expiration interval: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TimeOutInterval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4A14FB52-588D-9608-05ED-8131F75A7E96}"/>
              </a:ext>
            </a:extLst>
          </p:cNvPr>
          <p:cNvSpPr txBox="1">
            <a:spLocks noChangeArrowheads="1"/>
          </p:cNvSpPr>
          <p:nvPr/>
        </p:nvSpPr>
        <p:spPr>
          <a:xfrm>
            <a:off x="6728208" y="1446144"/>
            <a:ext cx="3810000" cy="19431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event: timeout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retransmit segment that caused timeout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restart timer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68E7868-2B7A-37AB-315B-00312418DDA1}"/>
              </a:ext>
            </a:extLst>
          </p:cNvPr>
          <p:cNvSpPr txBox="1">
            <a:spLocks noChangeArrowheads="1"/>
          </p:cNvSpPr>
          <p:nvPr/>
        </p:nvSpPr>
        <p:spPr>
          <a:xfrm>
            <a:off x="6728208" y="3392552"/>
            <a:ext cx="4920453" cy="3193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event: ACK received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ACK acknowledges previously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unACKed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segments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 what is known to be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ACKed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 timer if there are  still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unACKed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segments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226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0A8FEA-8EDD-9753-8795-9788962F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75A672-2B16-3831-8C09-0807F4BD2041}"/>
              </a:ext>
            </a:extLst>
          </p:cNvPr>
          <p:cNvSpPr txBox="1">
            <a:spLocks/>
          </p:cNvSpPr>
          <p:nvPr/>
        </p:nvSpPr>
        <p:spPr>
          <a:xfrm>
            <a:off x="201440" y="575116"/>
            <a:ext cx="10442467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Sender (simplified)</a:t>
            </a: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xmlns="" id="{1B1740FD-717A-2D06-4A02-092528C0CF0B}"/>
              </a:ext>
            </a:extLst>
          </p:cNvPr>
          <p:cNvGrpSpPr/>
          <p:nvPr/>
        </p:nvGrpSpPr>
        <p:grpSpPr>
          <a:xfrm>
            <a:off x="5004441" y="2564705"/>
            <a:ext cx="864869" cy="769620"/>
            <a:chOff x="3255155" y="2047870"/>
            <a:chExt cx="864869" cy="769620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xmlns="" id="{5BD241F4-E10F-9D64-9C43-F3AC4B2043B0}"/>
                </a:ext>
              </a:extLst>
            </p:cNvPr>
            <p:cNvSpPr/>
            <p:nvPr/>
          </p:nvSpPr>
          <p:spPr>
            <a:xfrm>
              <a:off x="3315893" y="2047870"/>
              <a:ext cx="803910" cy="728980"/>
            </a:xfrm>
            <a:custGeom>
              <a:avLst/>
              <a:gdLst/>
              <a:ahLst/>
              <a:cxnLst/>
              <a:rect l="l" t="t" r="r" b="b"/>
              <a:pathLst>
                <a:path w="803910" h="728980">
                  <a:moveTo>
                    <a:pt x="401824" y="728673"/>
                  </a:moveTo>
                  <a:lnTo>
                    <a:pt x="351419" y="725834"/>
                  </a:lnTo>
                  <a:lnTo>
                    <a:pt x="302883" y="717546"/>
                  </a:lnTo>
                  <a:lnTo>
                    <a:pt x="256592" y="704148"/>
                  </a:lnTo>
                  <a:lnTo>
                    <a:pt x="212923" y="685984"/>
                  </a:lnTo>
                  <a:lnTo>
                    <a:pt x="172252" y="663394"/>
                  </a:lnTo>
                  <a:lnTo>
                    <a:pt x="134955" y="636720"/>
                  </a:lnTo>
                  <a:lnTo>
                    <a:pt x="101410" y="606304"/>
                  </a:lnTo>
                  <a:lnTo>
                    <a:pt x="71992" y="572486"/>
                  </a:lnTo>
                  <a:lnTo>
                    <a:pt x="47079" y="535609"/>
                  </a:lnTo>
                  <a:lnTo>
                    <a:pt x="27046" y="496013"/>
                  </a:lnTo>
                  <a:lnTo>
                    <a:pt x="12271" y="454041"/>
                  </a:lnTo>
                  <a:lnTo>
                    <a:pt x="3130" y="410033"/>
                  </a:lnTo>
                  <a:lnTo>
                    <a:pt x="0" y="364331"/>
                  </a:lnTo>
                  <a:lnTo>
                    <a:pt x="3130" y="318630"/>
                  </a:lnTo>
                  <a:lnTo>
                    <a:pt x="12271" y="274623"/>
                  </a:lnTo>
                  <a:lnTo>
                    <a:pt x="27046" y="232652"/>
                  </a:lnTo>
                  <a:lnTo>
                    <a:pt x="47079" y="193057"/>
                  </a:lnTo>
                  <a:lnTo>
                    <a:pt x="71992" y="156181"/>
                  </a:lnTo>
                  <a:lnTo>
                    <a:pt x="101410" y="122364"/>
                  </a:lnTo>
                  <a:lnTo>
                    <a:pt x="134955" y="91949"/>
                  </a:lnTo>
                  <a:lnTo>
                    <a:pt x="172252" y="65276"/>
                  </a:lnTo>
                  <a:lnTo>
                    <a:pt x="212923" y="42687"/>
                  </a:lnTo>
                  <a:lnTo>
                    <a:pt x="256592" y="24523"/>
                  </a:lnTo>
                  <a:lnTo>
                    <a:pt x="302883" y="11127"/>
                  </a:lnTo>
                  <a:lnTo>
                    <a:pt x="351419" y="2838"/>
                  </a:lnTo>
                  <a:lnTo>
                    <a:pt x="401824" y="0"/>
                  </a:lnTo>
                  <a:lnTo>
                    <a:pt x="452229" y="2838"/>
                  </a:lnTo>
                  <a:lnTo>
                    <a:pt x="500766" y="11127"/>
                  </a:lnTo>
                  <a:lnTo>
                    <a:pt x="547059" y="24523"/>
                  </a:lnTo>
                  <a:lnTo>
                    <a:pt x="590730" y="42687"/>
                  </a:lnTo>
                  <a:lnTo>
                    <a:pt x="631404" y="65276"/>
                  </a:lnTo>
                  <a:lnTo>
                    <a:pt x="668703" y="91949"/>
                  </a:lnTo>
                  <a:lnTo>
                    <a:pt x="702252" y="122364"/>
                  </a:lnTo>
                  <a:lnTo>
                    <a:pt x="731672" y="156181"/>
                  </a:lnTo>
                  <a:lnTo>
                    <a:pt x="756588" y="193057"/>
                  </a:lnTo>
                  <a:lnTo>
                    <a:pt x="776623" y="232652"/>
                  </a:lnTo>
                  <a:lnTo>
                    <a:pt x="791399" y="274623"/>
                  </a:lnTo>
                  <a:lnTo>
                    <a:pt x="800542" y="318630"/>
                  </a:lnTo>
                  <a:lnTo>
                    <a:pt x="803673" y="364331"/>
                  </a:lnTo>
                  <a:lnTo>
                    <a:pt x="800542" y="410033"/>
                  </a:lnTo>
                  <a:lnTo>
                    <a:pt x="791399" y="454041"/>
                  </a:lnTo>
                  <a:lnTo>
                    <a:pt x="776623" y="496013"/>
                  </a:lnTo>
                  <a:lnTo>
                    <a:pt x="756588" y="535609"/>
                  </a:lnTo>
                  <a:lnTo>
                    <a:pt x="731672" y="572486"/>
                  </a:lnTo>
                  <a:lnTo>
                    <a:pt x="702252" y="606304"/>
                  </a:lnTo>
                  <a:lnTo>
                    <a:pt x="668703" y="636720"/>
                  </a:lnTo>
                  <a:lnTo>
                    <a:pt x="631404" y="663394"/>
                  </a:lnTo>
                  <a:lnTo>
                    <a:pt x="590730" y="685984"/>
                  </a:lnTo>
                  <a:lnTo>
                    <a:pt x="547059" y="704148"/>
                  </a:lnTo>
                  <a:lnTo>
                    <a:pt x="500766" y="717546"/>
                  </a:lnTo>
                  <a:lnTo>
                    <a:pt x="452229" y="725834"/>
                  </a:lnTo>
                  <a:lnTo>
                    <a:pt x="401824" y="728673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xmlns="" id="{23A6C5D2-42B8-8924-103A-0017D226B6E8}"/>
                </a:ext>
              </a:extLst>
            </p:cNvPr>
            <p:cNvSpPr/>
            <p:nvPr/>
          </p:nvSpPr>
          <p:spPr>
            <a:xfrm>
              <a:off x="3259918" y="2083590"/>
              <a:ext cx="803910" cy="728980"/>
            </a:xfrm>
            <a:custGeom>
              <a:avLst/>
              <a:gdLst/>
              <a:ahLst/>
              <a:cxnLst/>
              <a:rect l="l" t="t" r="r" b="b"/>
              <a:pathLst>
                <a:path w="803910" h="728980">
                  <a:moveTo>
                    <a:pt x="401849" y="728653"/>
                  </a:moveTo>
                  <a:lnTo>
                    <a:pt x="351444" y="725815"/>
                  </a:lnTo>
                  <a:lnTo>
                    <a:pt x="302906" y="717527"/>
                  </a:lnTo>
                  <a:lnTo>
                    <a:pt x="256614" y="704132"/>
                  </a:lnTo>
                  <a:lnTo>
                    <a:pt x="212942" y="685969"/>
                  </a:lnTo>
                  <a:lnTo>
                    <a:pt x="172268" y="663382"/>
                  </a:lnTo>
                  <a:lnTo>
                    <a:pt x="134969" y="636711"/>
                  </a:lnTo>
                  <a:lnTo>
                    <a:pt x="101421" y="606297"/>
                  </a:lnTo>
                  <a:lnTo>
                    <a:pt x="72000" y="572481"/>
                  </a:lnTo>
                  <a:lnTo>
                    <a:pt x="47085" y="535606"/>
                  </a:lnTo>
                  <a:lnTo>
                    <a:pt x="27050" y="496011"/>
                  </a:lnTo>
                  <a:lnTo>
                    <a:pt x="12273" y="454039"/>
                  </a:lnTo>
                  <a:lnTo>
                    <a:pt x="3131" y="410032"/>
                  </a:lnTo>
                  <a:lnTo>
                    <a:pt x="0" y="364329"/>
                  </a:lnTo>
                  <a:lnTo>
                    <a:pt x="3131" y="318628"/>
                  </a:lnTo>
                  <a:lnTo>
                    <a:pt x="12273" y="274621"/>
                  </a:lnTo>
                  <a:lnTo>
                    <a:pt x="27050" y="232650"/>
                  </a:lnTo>
                  <a:lnTo>
                    <a:pt x="47085" y="193055"/>
                  </a:lnTo>
                  <a:lnTo>
                    <a:pt x="72000" y="156179"/>
                  </a:lnTo>
                  <a:lnTo>
                    <a:pt x="101421" y="122363"/>
                  </a:lnTo>
                  <a:lnTo>
                    <a:pt x="134969" y="91948"/>
                  </a:lnTo>
                  <a:lnTo>
                    <a:pt x="172268" y="65275"/>
                  </a:lnTo>
                  <a:lnTo>
                    <a:pt x="212942" y="42686"/>
                  </a:lnTo>
                  <a:lnTo>
                    <a:pt x="256614" y="24523"/>
                  </a:lnTo>
                  <a:lnTo>
                    <a:pt x="302906" y="11126"/>
                  </a:lnTo>
                  <a:lnTo>
                    <a:pt x="351444" y="2838"/>
                  </a:lnTo>
                  <a:lnTo>
                    <a:pt x="401849" y="0"/>
                  </a:lnTo>
                  <a:lnTo>
                    <a:pt x="452253" y="2838"/>
                  </a:lnTo>
                  <a:lnTo>
                    <a:pt x="500789" y="11126"/>
                  </a:lnTo>
                  <a:lnTo>
                    <a:pt x="547080" y="24523"/>
                  </a:lnTo>
                  <a:lnTo>
                    <a:pt x="590750" y="42686"/>
                  </a:lnTo>
                  <a:lnTo>
                    <a:pt x="631421" y="65275"/>
                  </a:lnTo>
                  <a:lnTo>
                    <a:pt x="668717" y="91948"/>
                  </a:lnTo>
                  <a:lnTo>
                    <a:pt x="702263" y="122363"/>
                  </a:lnTo>
                  <a:lnTo>
                    <a:pt x="731680" y="156179"/>
                  </a:lnTo>
                  <a:lnTo>
                    <a:pt x="756594" y="193055"/>
                  </a:lnTo>
                  <a:lnTo>
                    <a:pt x="776626" y="232650"/>
                  </a:lnTo>
                  <a:lnTo>
                    <a:pt x="791401" y="274621"/>
                  </a:lnTo>
                  <a:lnTo>
                    <a:pt x="800542" y="318628"/>
                  </a:lnTo>
                  <a:lnTo>
                    <a:pt x="803673" y="364329"/>
                  </a:lnTo>
                  <a:lnTo>
                    <a:pt x="800542" y="410032"/>
                  </a:lnTo>
                  <a:lnTo>
                    <a:pt x="791401" y="454039"/>
                  </a:lnTo>
                  <a:lnTo>
                    <a:pt x="776626" y="496011"/>
                  </a:lnTo>
                  <a:lnTo>
                    <a:pt x="756594" y="535606"/>
                  </a:lnTo>
                  <a:lnTo>
                    <a:pt x="731680" y="572481"/>
                  </a:lnTo>
                  <a:lnTo>
                    <a:pt x="702263" y="606297"/>
                  </a:lnTo>
                  <a:lnTo>
                    <a:pt x="668717" y="636711"/>
                  </a:lnTo>
                  <a:lnTo>
                    <a:pt x="631421" y="663382"/>
                  </a:lnTo>
                  <a:lnTo>
                    <a:pt x="590750" y="685969"/>
                  </a:lnTo>
                  <a:lnTo>
                    <a:pt x="547080" y="704132"/>
                  </a:lnTo>
                  <a:lnTo>
                    <a:pt x="500789" y="717527"/>
                  </a:lnTo>
                  <a:lnTo>
                    <a:pt x="452253" y="725815"/>
                  </a:lnTo>
                  <a:lnTo>
                    <a:pt x="401849" y="7286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xmlns="" id="{A12A5DA6-057F-6E7A-9618-45C541CCB4A3}"/>
                </a:ext>
              </a:extLst>
            </p:cNvPr>
            <p:cNvSpPr/>
            <p:nvPr/>
          </p:nvSpPr>
          <p:spPr>
            <a:xfrm>
              <a:off x="3259918" y="2083590"/>
              <a:ext cx="803910" cy="728980"/>
            </a:xfrm>
            <a:custGeom>
              <a:avLst/>
              <a:gdLst/>
              <a:ahLst/>
              <a:cxnLst/>
              <a:rect l="l" t="t" r="r" b="b"/>
              <a:pathLst>
                <a:path w="803910" h="728980">
                  <a:moveTo>
                    <a:pt x="0" y="364329"/>
                  </a:moveTo>
                  <a:lnTo>
                    <a:pt x="3131" y="318628"/>
                  </a:lnTo>
                  <a:lnTo>
                    <a:pt x="12273" y="274621"/>
                  </a:lnTo>
                  <a:lnTo>
                    <a:pt x="27050" y="232650"/>
                  </a:lnTo>
                  <a:lnTo>
                    <a:pt x="47085" y="193055"/>
                  </a:lnTo>
                  <a:lnTo>
                    <a:pt x="72000" y="156179"/>
                  </a:lnTo>
                  <a:lnTo>
                    <a:pt x="101421" y="122363"/>
                  </a:lnTo>
                  <a:lnTo>
                    <a:pt x="134969" y="91948"/>
                  </a:lnTo>
                  <a:lnTo>
                    <a:pt x="172268" y="65275"/>
                  </a:lnTo>
                  <a:lnTo>
                    <a:pt x="212942" y="42686"/>
                  </a:lnTo>
                  <a:lnTo>
                    <a:pt x="256614" y="24523"/>
                  </a:lnTo>
                  <a:lnTo>
                    <a:pt x="302906" y="11126"/>
                  </a:lnTo>
                  <a:lnTo>
                    <a:pt x="351444" y="2838"/>
                  </a:lnTo>
                  <a:lnTo>
                    <a:pt x="401849" y="0"/>
                  </a:lnTo>
                  <a:lnTo>
                    <a:pt x="452253" y="2838"/>
                  </a:lnTo>
                  <a:lnTo>
                    <a:pt x="500789" y="11126"/>
                  </a:lnTo>
                  <a:lnTo>
                    <a:pt x="547080" y="24523"/>
                  </a:lnTo>
                  <a:lnTo>
                    <a:pt x="590750" y="42686"/>
                  </a:lnTo>
                  <a:lnTo>
                    <a:pt x="631421" y="65275"/>
                  </a:lnTo>
                  <a:lnTo>
                    <a:pt x="668717" y="91948"/>
                  </a:lnTo>
                  <a:lnTo>
                    <a:pt x="702263" y="122363"/>
                  </a:lnTo>
                  <a:lnTo>
                    <a:pt x="731680" y="156179"/>
                  </a:lnTo>
                  <a:lnTo>
                    <a:pt x="756594" y="193055"/>
                  </a:lnTo>
                  <a:lnTo>
                    <a:pt x="776626" y="232650"/>
                  </a:lnTo>
                  <a:lnTo>
                    <a:pt x="791401" y="274621"/>
                  </a:lnTo>
                  <a:lnTo>
                    <a:pt x="800542" y="318628"/>
                  </a:lnTo>
                  <a:lnTo>
                    <a:pt x="803673" y="364329"/>
                  </a:lnTo>
                  <a:lnTo>
                    <a:pt x="800542" y="410032"/>
                  </a:lnTo>
                  <a:lnTo>
                    <a:pt x="791401" y="454039"/>
                  </a:lnTo>
                  <a:lnTo>
                    <a:pt x="776626" y="496011"/>
                  </a:lnTo>
                  <a:lnTo>
                    <a:pt x="756594" y="535606"/>
                  </a:lnTo>
                  <a:lnTo>
                    <a:pt x="731680" y="572481"/>
                  </a:lnTo>
                  <a:lnTo>
                    <a:pt x="702263" y="606297"/>
                  </a:lnTo>
                  <a:lnTo>
                    <a:pt x="668717" y="636711"/>
                  </a:lnTo>
                  <a:lnTo>
                    <a:pt x="631421" y="663382"/>
                  </a:lnTo>
                  <a:lnTo>
                    <a:pt x="590750" y="685969"/>
                  </a:lnTo>
                  <a:lnTo>
                    <a:pt x="547080" y="704132"/>
                  </a:lnTo>
                  <a:lnTo>
                    <a:pt x="500789" y="717527"/>
                  </a:lnTo>
                  <a:lnTo>
                    <a:pt x="452253" y="725815"/>
                  </a:lnTo>
                  <a:lnTo>
                    <a:pt x="401849" y="728653"/>
                  </a:lnTo>
                  <a:lnTo>
                    <a:pt x="351444" y="725815"/>
                  </a:lnTo>
                  <a:lnTo>
                    <a:pt x="302906" y="717527"/>
                  </a:lnTo>
                  <a:lnTo>
                    <a:pt x="256614" y="704132"/>
                  </a:lnTo>
                  <a:lnTo>
                    <a:pt x="212942" y="685969"/>
                  </a:lnTo>
                  <a:lnTo>
                    <a:pt x="172268" y="663382"/>
                  </a:lnTo>
                  <a:lnTo>
                    <a:pt x="134969" y="636711"/>
                  </a:lnTo>
                  <a:lnTo>
                    <a:pt x="101421" y="606297"/>
                  </a:lnTo>
                  <a:lnTo>
                    <a:pt x="72000" y="572481"/>
                  </a:lnTo>
                  <a:lnTo>
                    <a:pt x="47085" y="535606"/>
                  </a:lnTo>
                  <a:lnTo>
                    <a:pt x="27050" y="496011"/>
                  </a:lnTo>
                  <a:lnTo>
                    <a:pt x="12273" y="454039"/>
                  </a:lnTo>
                  <a:lnTo>
                    <a:pt x="3131" y="410032"/>
                  </a:lnTo>
                  <a:lnTo>
                    <a:pt x="0" y="36432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9">
            <a:extLst>
              <a:ext uri="{FF2B5EF4-FFF2-40B4-BE49-F238E27FC236}">
                <a16:creationId xmlns:a16="http://schemas.microsoft.com/office/drawing/2014/main" xmlns="" id="{B61230A6-0EA7-0311-8599-3E2126B598D4}"/>
              </a:ext>
            </a:extLst>
          </p:cNvPr>
          <p:cNvSpPr txBox="1"/>
          <p:nvPr/>
        </p:nvSpPr>
        <p:spPr>
          <a:xfrm>
            <a:off x="5200107" y="2621347"/>
            <a:ext cx="445134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50" spc="-5" dirty="0">
                <a:latin typeface="Arial"/>
                <a:cs typeface="Arial"/>
              </a:rPr>
              <a:t>wait  for  event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8" name="object 10">
            <a:extLst>
              <a:ext uri="{FF2B5EF4-FFF2-40B4-BE49-F238E27FC236}">
                <a16:creationId xmlns:a16="http://schemas.microsoft.com/office/drawing/2014/main" xmlns="" id="{BD7ED68C-C96B-24D3-A842-037BE03AA66D}"/>
              </a:ext>
            </a:extLst>
          </p:cNvPr>
          <p:cNvGrpSpPr/>
          <p:nvPr/>
        </p:nvGrpSpPr>
        <p:grpSpPr>
          <a:xfrm>
            <a:off x="4279368" y="2197994"/>
            <a:ext cx="802005" cy="518795"/>
            <a:chOff x="2530082" y="1681159"/>
            <a:chExt cx="802005" cy="518795"/>
          </a:xfrm>
        </p:grpSpPr>
        <p:sp>
          <p:nvSpPr>
            <p:cNvPr id="9" name="object 11">
              <a:extLst>
                <a:ext uri="{FF2B5EF4-FFF2-40B4-BE49-F238E27FC236}">
                  <a16:creationId xmlns:a16="http://schemas.microsoft.com/office/drawing/2014/main" xmlns="" id="{78B2C6D2-A374-B48B-2EF1-9299DE591B8F}"/>
                </a:ext>
              </a:extLst>
            </p:cNvPr>
            <p:cNvSpPr/>
            <p:nvPr/>
          </p:nvSpPr>
          <p:spPr>
            <a:xfrm>
              <a:off x="2534844" y="1685921"/>
              <a:ext cx="755650" cy="486409"/>
            </a:xfrm>
            <a:custGeom>
              <a:avLst/>
              <a:gdLst/>
              <a:ahLst/>
              <a:cxnLst/>
              <a:rect l="l" t="t" r="r" b="b"/>
              <a:pathLst>
                <a:path w="755650" h="486410">
                  <a:moveTo>
                    <a:pt x="0" y="0"/>
                  </a:moveTo>
                  <a:lnTo>
                    <a:pt x="755598" y="4858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xmlns="" id="{BBC1E6AD-4D4A-800F-E159-4F7C3B534737}"/>
                </a:ext>
              </a:extLst>
            </p:cNvPr>
            <p:cNvSpPr/>
            <p:nvPr/>
          </p:nvSpPr>
          <p:spPr>
            <a:xfrm>
              <a:off x="3281918" y="2158510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30">
                  <a:moveTo>
                    <a:pt x="44874" y="36612"/>
                  </a:moveTo>
                  <a:lnTo>
                    <a:pt x="0" y="26467"/>
                  </a:lnTo>
                  <a:lnTo>
                    <a:pt x="17024" y="0"/>
                  </a:lnTo>
                  <a:lnTo>
                    <a:pt x="44874" y="36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xmlns="" id="{83F97344-D2F8-9C82-5B4B-9E94B348A46E}"/>
                </a:ext>
              </a:extLst>
            </p:cNvPr>
            <p:cNvSpPr/>
            <p:nvPr/>
          </p:nvSpPr>
          <p:spPr>
            <a:xfrm>
              <a:off x="3281918" y="2158510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30">
                  <a:moveTo>
                    <a:pt x="0" y="26467"/>
                  </a:moveTo>
                  <a:lnTo>
                    <a:pt x="44874" y="36612"/>
                  </a:lnTo>
                  <a:lnTo>
                    <a:pt x="17024" y="0"/>
                  </a:lnTo>
                  <a:lnTo>
                    <a:pt x="0" y="2646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4">
            <a:extLst>
              <a:ext uri="{FF2B5EF4-FFF2-40B4-BE49-F238E27FC236}">
                <a16:creationId xmlns:a16="http://schemas.microsoft.com/office/drawing/2014/main" xmlns="" id="{473F7A09-D72B-A769-0E80-3D67313645C4}"/>
              </a:ext>
            </a:extLst>
          </p:cNvPr>
          <p:cNvSpPr txBox="1"/>
          <p:nvPr/>
        </p:nvSpPr>
        <p:spPr>
          <a:xfrm>
            <a:off x="3192718" y="2434365"/>
            <a:ext cx="1806575" cy="60452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  <a:tabLst>
                <a:tab pos="750570" algn="l"/>
                <a:tab pos="1647189" algn="l"/>
              </a:tabLst>
            </a:pPr>
            <a:r>
              <a:rPr sz="13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Λ	</a:t>
            </a:r>
            <a:endParaRPr sz="1350">
              <a:latin typeface="Times New Roman"/>
              <a:cs typeface="Times New Roman"/>
            </a:endParaRPr>
          </a:p>
          <a:p>
            <a:pPr marL="20955" marR="5080">
              <a:lnSpc>
                <a:spcPct val="100000"/>
              </a:lnSpc>
              <a:spcBef>
                <a:spcPts val="180"/>
              </a:spcBef>
            </a:pPr>
            <a:r>
              <a:rPr sz="1050" spc="-5" dirty="0">
                <a:latin typeface="Arial"/>
                <a:cs typeface="Arial"/>
              </a:rPr>
              <a:t>NextSeqNum </a:t>
            </a:r>
            <a:r>
              <a:rPr sz="1050" dirty="0">
                <a:latin typeface="Arial"/>
                <a:cs typeface="Arial"/>
              </a:rPr>
              <a:t>= </a:t>
            </a:r>
            <a:r>
              <a:rPr sz="1050" spc="-5" dirty="0">
                <a:latin typeface="Arial"/>
                <a:cs typeface="Arial"/>
              </a:rPr>
              <a:t>InitialSeqNum  SendBase </a:t>
            </a:r>
            <a:r>
              <a:rPr sz="1050" dirty="0">
                <a:latin typeface="Arial"/>
                <a:cs typeface="Arial"/>
              </a:rPr>
              <a:t>=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InitialSeqNum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xmlns="" id="{02DDFC28-24CB-6AB9-6A0C-C6FD4C386540}"/>
              </a:ext>
            </a:extLst>
          </p:cNvPr>
          <p:cNvSpPr txBox="1"/>
          <p:nvPr/>
        </p:nvSpPr>
        <p:spPr>
          <a:xfrm>
            <a:off x="6438354" y="1958075"/>
            <a:ext cx="3009265" cy="78486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25"/>
              </a:spcBef>
            </a:pPr>
            <a:r>
              <a:rPr sz="1200" spc="-5" dirty="0">
                <a:latin typeface="Tahoma"/>
                <a:cs typeface="Tahoma"/>
              </a:rPr>
              <a:t>pass segment to IP (i.e., “send”)  NextSeqNum = NextSeqNum + </a:t>
            </a:r>
            <a:r>
              <a:rPr sz="1200" spc="-10" dirty="0">
                <a:latin typeface="Tahoma"/>
                <a:cs typeface="Tahoma"/>
              </a:rPr>
              <a:t>length(data)  </a:t>
            </a:r>
            <a:r>
              <a:rPr sz="1200" spc="-5" dirty="0">
                <a:latin typeface="Tahoma"/>
                <a:cs typeface="Tahoma"/>
              </a:rPr>
              <a:t>if (timer currently not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running)</a:t>
            </a:r>
            <a:endParaRPr sz="1200">
              <a:latin typeface="Tahoma"/>
              <a:cs typeface="Tahoma"/>
            </a:endParaRPr>
          </a:p>
          <a:p>
            <a:pPr marL="202565">
              <a:lnSpc>
                <a:spcPct val="100000"/>
              </a:lnSpc>
              <a:spcBef>
                <a:spcPts val="75"/>
              </a:spcBef>
            </a:pPr>
            <a:r>
              <a:rPr sz="1200" spc="-5" dirty="0">
                <a:latin typeface="Tahoma"/>
                <a:cs typeface="Tahoma"/>
              </a:rPr>
              <a:t>start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timer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xmlns="" id="{F7519351-2529-69AD-8C93-D9EB56F48FCB}"/>
              </a:ext>
            </a:extLst>
          </p:cNvPr>
          <p:cNvSpPr txBox="1"/>
          <p:nvPr/>
        </p:nvSpPr>
        <p:spPr>
          <a:xfrm>
            <a:off x="6419304" y="1489351"/>
            <a:ext cx="2586990" cy="4516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marR="5080" indent="-19050">
              <a:lnSpc>
                <a:spcPct val="125699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data received from application above  create segment, seq. #: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NextSeqNum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7">
            <a:extLst>
              <a:ext uri="{FF2B5EF4-FFF2-40B4-BE49-F238E27FC236}">
                <a16:creationId xmlns:a16="http://schemas.microsoft.com/office/drawing/2014/main" xmlns="" id="{2B814740-EE76-BF3B-4481-5BDED87A0A52}"/>
              </a:ext>
            </a:extLst>
          </p:cNvPr>
          <p:cNvSpPr/>
          <p:nvPr/>
        </p:nvSpPr>
        <p:spPr>
          <a:xfrm>
            <a:off x="6439151" y="1787229"/>
            <a:ext cx="2075814" cy="0"/>
          </a:xfrm>
          <a:custGeom>
            <a:avLst/>
            <a:gdLst/>
            <a:ahLst/>
            <a:cxnLst/>
            <a:rect l="l" t="t" r="r" b="b"/>
            <a:pathLst>
              <a:path w="2075815">
                <a:moveTo>
                  <a:pt x="0" y="0"/>
                </a:moveTo>
                <a:lnTo>
                  <a:pt x="207524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8">
            <a:extLst>
              <a:ext uri="{FF2B5EF4-FFF2-40B4-BE49-F238E27FC236}">
                <a16:creationId xmlns:a16="http://schemas.microsoft.com/office/drawing/2014/main" xmlns="" id="{9702BF25-BFDD-802F-9E10-0B475E4D04F8}"/>
              </a:ext>
            </a:extLst>
          </p:cNvPr>
          <p:cNvSpPr txBox="1"/>
          <p:nvPr/>
        </p:nvSpPr>
        <p:spPr>
          <a:xfrm>
            <a:off x="6569323" y="3091215"/>
            <a:ext cx="5378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timeout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9">
            <a:extLst>
              <a:ext uri="{FF2B5EF4-FFF2-40B4-BE49-F238E27FC236}">
                <a16:creationId xmlns:a16="http://schemas.microsoft.com/office/drawing/2014/main" xmlns="" id="{5687BBF0-5683-5BFB-91F7-B323D4474D15}"/>
              </a:ext>
            </a:extLst>
          </p:cNvPr>
          <p:cNvSpPr/>
          <p:nvPr/>
        </p:nvSpPr>
        <p:spPr>
          <a:xfrm>
            <a:off x="6582026" y="3337429"/>
            <a:ext cx="2239645" cy="0"/>
          </a:xfrm>
          <a:custGeom>
            <a:avLst/>
            <a:gdLst/>
            <a:ahLst/>
            <a:cxnLst/>
            <a:rect l="l" t="t" r="r" b="b"/>
            <a:pathLst>
              <a:path w="2239645">
                <a:moveTo>
                  <a:pt x="0" y="0"/>
                </a:moveTo>
                <a:lnTo>
                  <a:pt x="223957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0">
            <a:extLst>
              <a:ext uri="{FF2B5EF4-FFF2-40B4-BE49-F238E27FC236}">
                <a16:creationId xmlns:a16="http://schemas.microsoft.com/office/drawing/2014/main" xmlns="" id="{ED811EE4-9D6D-7ED9-BA42-5178E93B299E}"/>
              </a:ext>
            </a:extLst>
          </p:cNvPr>
          <p:cNvSpPr txBox="1"/>
          <p:nvPr/>
        </p:nvSpPr>
        <p:spPr>
          <a:xfrm>
            <a:off x="3679682" y="3332911"/>
            <a:ext cx="5203825" cy="217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4865" marR="5080" indent="-4572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retransmit not-yet-acked segment  with smallest seq.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#</a:t>
            </a:r>
            <a:endParaRPr sz="1200">
              <a:latin typeface="Tahoma"/>
              <a:cs typeface="Tahoma"/>
            </a:endParaRPr>
          </a:p>
          <a:p>
            <a:pPr marL="2907665">
              <a:lnSpc>
                <a:spcPct val="100000"/>
              </a:lnSpc>
            </a:pPr>
            <a:r>
              <a:rPr sz="1200" spc="-5" dirty="0">
                <a:latin typeface="Tahoma"/>
                <a:cs typeface="Tahoma"/>
              </a:rPr>
              <a:t>start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timer</a:t>
            </a:r>
            <a:endParaRPr sz="120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310"/>
              </a:spcBef>
            </a:pPr>
            <a:r>
              <a:rPr sz="1200" spc="-5" dirty="0">
                <a:latin typeface="Tahoma"/>
                <a:cs typeface="Tahoma"/>
              </a:rPr>
              <a:t>ACK received, with ACK field value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y</a:t>
            </a:r>
            <a:endParaRPr sz="1200">
              <a:latin typeface="Tahoma"/>
              <a:cs typeface="Tahoma"/>
            </a:endParaRPr>
          </a:p>
          <a:p>
            <a:pPr marL="180975" marR="3919854" indent="-168910">
              <a:lnSpc>
                <a:spcPct val="100000"/>
              </a:lnSpc>
              <a:spcBef>
                <a:spcPts val="790"/>
              </a:spcBef>
            </a:pPr>
            <a:r>
              <a:rPr sz="1200" spc="-5" dirty="0">
                <a:latin typeface="Arial"/>
                <a:cs typeface="Arial"/>
              </a:rPr>
              <a:t>if </a:t>
            </a:r>
            <a:r>
              <a:rPr sz="1200" dirty="0">
                <a:latin typeface="Arial"/>
                <a:cs typeface="Arial"/>
              </a:rPr>
              <a:t>(y &gt; </a:t>
            </a:r>
            <a:r>
              <a:rPr sz="1200" spc="-5" dirty="0">
                <a:latin typeface="Arial"/>
                <a:cs typeface="Arial"/>
              </a:rPr>
              <a:t>SendBase)</a:t>
            </a:r>
            <a:r>
              <a:rPr sz="1200" spc="-10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{  </a:t>
            </a:r>
            <a:r>
              <a:rPr sz="1200" spc="-5" dirty="0">
                <a:latin typeface="Arial"/>
                <a:cs typeface="Arial"/>
              </a:rPr>
              <a:t>SendBase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180975" marR="180975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/* SendBase–1: last </a:t>
            </a:r>
            <a:r>
              <a:rPr sz="1200" dirty="0">
                <a:latin typeface="Arial"/>
                <a:cs typeface="Arial"/>
              </a:rPr>
              <a:t>cumulatively </a:t>
            </a:r>
            <a:r>
              <a:rPr sz="1200" spc="-5" dirty="0">
                <a:latin typeface="Arial"/>
                <a:cs typeface="Arial"/>
              </a:rPr>
              <a:t>ACKed byte</a:t>
            </a:r>
            <a:r>
              <a:rPr sz="1200" spc="-15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*/  if </a:t>
            </a:r>
            <a:r>
              <a:rPr sz="1200" dirty="0">
                <a:latin typeface="Arial"/>
                <a:cs typeface="Arial"/>
              </a:rPr>
              <a:t>(there </a:t>
            </a:r>
            <a:r>
              <a:rPr sz="1200" spc="-5" dirty="0">
                <a:latin typeface="Arial"/>
                <a:cs typeface="Arial"/>
              </a:rPr>
              <a:t>are </a:t>
            </a:r>
            <a:r>
              <a:rPr sz="1200" dirty="0">
                <a:latin typeface="Arial"/>
                <a:cs typeface="Arial"/>
              </a:rPr>
              <a:t>currently </a:t>
            </a:r>
            <a:r>
              <a:rPr sz="1200" spc="-5" dirty="0">
                <a:latin typeface="Arial"/>
                <a:cs typeface="Arial"/>
              </a:rPr>
              <a:t>not-yet-acked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segments)</a:t>
            </a:r>
            <a:endParaRPr sz="1200">
              <a:latin typeface="Arial"/>
              <a:cs typeface="Arial"/>
            </a:endParaRPr>
          </a:p>
          <a:p>
            <a:pPr marL="307975" marR="3898265" indent="8382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start </a:t>
            </a:r>
            <a:r>
              <a:rPr sz="1200" spc="-5" dirty="0">
                <a:latin typeface="Arial"/>
                <a:cs typeface="Arial"/>
              </a:rPr>
              <a:t>timer  else </a:t>
            </a:r>
            <a:r>
              <a:rPr sz="1200" dirty="0">
                <a:latin typeface="Arial"/>
                <a:cs typeface="Arial"/>
              </a:rPr>
              <a:t>stop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timer</a:t>
            </a:r>
            <a:endParaRPr sz="12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21">
            <a:extLst>
              <a:ext uri="{FF2B5EF4-FFF2-40B4-BE49-F238E27FC236}">
                <a16:creationId xmlns:a16="http://schemas.microsoft.com/office/drawing/2014/main" xmlns="" id="{3B0D5E18-7D14-E772-EC5A-6EA2D06103F3}"/>
              </a:ext>
            </a:extLst>
          </p:cNvPr>
          <p:cNvSpPr/>
          <p:nvPr/>
        </p:nvSpPr>
        <p:spPr>
          <a:xfrm>
            <a:off x="3690002" y="4167277"/>
            <a:ext cx="2474595" cy="0"/>
          </a:xfrm>
          <a:custGeom>
            <a:avLst/>
            <a:gdLst/>
            <a:ahLst/>
            <a:cxnLst/>
            <a:rect l="l" t="t" r="r" b="b"/>
            <a:pathLst>
              <a:path w="2474595">
                <a:moveTo>
                  <a:pt x="0" y="0"/>
                </a:moveTo>
                <a:lnTo>
                  <a:pt x="2474125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2">
            <a:extLst>
              <a:ext uri="{FF2B5EF4-FFF2-40B4-BE49-F238E27FC236}">
                <a16:creationId xmlns:a16="http://schemas.microsoft.com/office/drawing/2014/main" xmlns="" id="{5A735AF6-5133-A01C-051C-6D3460628C23}"/>
              </a:ext>
            </a:extLst>
          </p:cNvPr>
          <p:cNvSpPr/>
          <p:nvPr/>
        </p:nvSpPr>
        <p:spPr>
          <a:xfrm>
            <a:off x="4596007" y="1994690"/>
            <a:ext cx="1917700" cy="1927225"/>
          </a:xfrm>
          <a:custGeom>
            <a:avLst/>
            <a:gdLst/>
            <a:ahLst/>
            <a:cxnLst/>
            <a:rect l="l" t="t" r="r" b="b"/>
            <a:pathLst>
              <a:path w="1917700" h="1927225">
                <a:moveTo>
                  <a:pt x="1056771" y="542433"/>
                </a:moveTo>
                <a:lnTo>
                  <a:pt x="1054655" y="514138"/>
                </a:lnTo>
                <a:lnTo>
                  <a:pt x="1053522" y="483756"/>
                </a:lnTo>
                <a:lnTo>
                  <a:pt x="1053440" y="451653"/>
                </a:lnTo>
                <a:lnTo>
                  <a:pt x="1054479" y="418200"/>
                </a:lnTo>
                <a:lnTo>
                  <a:pt x="1060198" y="348715"/>
                </a:lnTo>
                <a:lnTo>
                  <a:pt x="1071236" y="278250"/>
                </a:lnTo>
                <a:lnTo>
                  <a:pt x="1088147" y="209753"/>
                </a:lnTo>
                <a:lnTo>
                  <a:pt x="1111488" y="146175"/>
                </a:lnTo>
                <a:lnTo>
                  <a:pt x="1141816" y="90463"/>
                </a:lnTo>
                <a:lnTo>
                  <a:pt x="1179685" y="45567"/>
                </a:lnTo>
                <a:lnTo>
                  <a:pt x="1225652" y="14436"/>
                </a:lnTo>
                <a:lnTo>
                  <a:pt x="1280272" y="19"/>
                </a:lnTo>
                <a:lnTo>
                  <a:pt x="1311002" y="0"/>
                </a:lnTo>
                <a:lnTo>
                  <a:pt x="1344103" y="5265"/>
                </a:lnTo>
                <a:lnTo>
                  <a:pt x="1417699" y="33123"/>
                </a:lnTo>
                <a:lnTo>
                  <a:pt x="1458333" y="56453"/>
                </a:lnTo>
                <a:lnTo>
                  <a:pt x="1501616" y="86542"/>
                </a:lnTo>
                <a:lnTo>
                  <a:pt x="1547620" y="123759"/>
                </a:lnTo>
                <a:lnTo>
                  <a:pt x="1590941" y="163917"/>
                </a:lnTo>
                <a:lnTo>
                  <a:pt x="1626413" y="202588"/>
                </a:lnTo>
                <a:lnTo>
                  <a:pt x="1654466" y="239778"/>
                </a:lnTo>
                <a:lnTo>
                  <a:pt x="1675529" y="275490"/>
                </a:lnTo>
                <a:lnTo>
                  <a:pt x="1698407" y="342500"/>
                </a:lnTo>
                <a:lnTo>
                  <a:pt x="1701082" y="373808"/>
                </a:lnTo>
                <a:lnTo>
                  <a:pt x="1698486" y="403657"/>
                </a:lnTo>
                <a:lnTo>
                  <a:pt x="1679203" y="458997"/>
                </a:lnTo>
                <a:lnTo>
                  <a:pt x="1643998" y="508557"/>
                </a:lnTo>
                <a:lnTo>
                  <a:pt x="1596308" y="552375"/>
                </a:lnTo>
                <a:lnTo>
                  <a:pt x="1539573" y="590488"/>
                </a:lnTo>
                <a:lnTo>
                  <a:pt x="1477231" y="622933"/>
                </a:lnTo>
                <a:lnTo>
                  <a:pt x="1412720" y="649748"/>
                </a:lnTo>
                <a:lnTo>
                  <a:pt x="1349478" y="670969"/>
                </a:lnTo>
                <a:lnTo>
                  <a:pt x="1290945" y="686634"/>
                </a:lnTo>
                <a:lnTo>
                  <a:pt x="1240559" y="696780"/>
                </a:lnTo>
                <a:lnTo>
                  <a:pt x="1219495" y="699795"/>
                </a:lnTo>
              </a:path>
              <a:path w="1917700" h="1927225">
                <a:moveTo>
                  <a:pt x="1323170" y="985559"/>
                </a:moveTo>
                <a:lnTo>
                  <a:pt x="1378838" y="966718"/>
                </a:lnTo>
                <a:lnTo>
                  <a:pt x="1442259" y="950087"/>
                </a:lnTo>
                <a:lnTo>
                  <a:pt x="1510741" y="936992"/>
                </a:lnTo>
                <a:lnTo>
                  <a:pt x="1581590" y="928759"/>
                </a:lnTo>
                <a:lnTo>
                  <a:pt x="1652115" y="926712"/>
                </a:lnTo>
                <a:lnTo>
                  <a:pt x="1686414" y="928423"/>
                </a:lnTo>
                <a:lnTo>
                  <a:pt x="1751403" y="938142"/>
                </a:lnTo>
                <a:lnTo>
                  <a:pt x="1809337" y="957360"/>
                </a:lnTo>
                <a:lnTo>
                  <a:pt x="1857523" y="987404"/>
                </a:lnTo>
                <a:lnTo>
                  <a:pt x="1893268" y="1029598"/>
                </a:lnTo>
                <a:lnTo>
                  <a:pt x="1913880" y="1085268"/>
                </a:lnTo>
                <a:lnTo>
                  <a:pt x="1917670" y="1118571"/>
                </a:lnTo>
                <a:lnTo>
                  <a:pt x="1916667" y="1155740"/>
                </a:lnTo>
                <a:lnTo>
                  <a:pt x="1910534" y="1196940"/>
                </a:lnTo>
                <a:lnTo>
                  <a:pt x="1898936" y="1242338"/>
                </a:lnTo>
                <a:lnTo>
                  <a:pt x="1881534" y="1292099"/>
                </a:lnTo>
                <a:lnTo>
                  <a:pt x="1857994" y="1346389"/>
                </a:lnTo>
                <a:lnTo>
                  <a:pt x="1830900" y="1398878"/>
                </a:lnTo>
                <a:lnTo>
                  <a:pt x="1803138" y="1443408"/>
                </a:lnTo>
                <a:lnTo>
                  <a:pt x="1774817" y="1480393"/>
                </a:lnTo>
                <a:lnTo>
                  <a:pt x="1746048" y="1510248"/>
                </a:lnTo>
                <a:lnTo>
                  <a:pt x="1687609" y="1550231"/>
                </a:lnTo>
                <a:lnTo>
                  <a:pt x="1628706" y="1566681"/>
                </a:lnTo>
                <a:lnTo>
                  <a:pt x="1599357" y="1567120"/>
                </a:lnTo>
                <a:lnTo>
                  <a:pt x="1570223" y="1562920"/>
                </a:lnTo>
                <a:lnTo>
                  <a:pt x="1513045" y="1542271"/>
                </a:lnTo>
                <a:lnTo>
                  <a:pt x="1458058" y="1508057"/>
                </a:lnTo>
                <a:lnTo>
                  <a:pt x="1406145" y="1463600"/>
                </a:lnTo>
                <a:lnTo>
                  <a:pt x="1358191" y="1412224"/>
                </a:lnTo>
                <a:lnTo>
                  <a:pt x="1315082" y="1357250"/>
                </a:lnTo>
                <a:lnTo>
                  <a:pt x="1277701" y="1302002"/>
                </a:lnTo>
                <a:lnTo>
                  <a:pt x="1246935" y="1249803"/>
                </a:lnTo>
                <a:lnTo>
                  <a:pt x="1223666" y="1203975"/>
                </a:lnTo>
                <a:lnTo>
                  <a:pt x="1215120" y="1184489"/>
                </a:lnTo>
              </a:path>
              <a:path w="1917700" h="1927225">
                <a:moveTo>
                  <a:pt x="637721" y="1375639"/>
                </a:moveTo>
                <a:lnTo>
                  <a:pt x="640869" y="1403836"/>
                </a:lnTo>
                <a:lnTo>
                  <a:pt x="643111" y="1434156"/>
                </a:lnTo>
                <a:lnTo>
                  <a:pt x="644365" y="1466233"/>
                </a:lnTo>
                <a:lnTo>
                  <a:pt x="644548" y="1499701"/>
                </a:lnTo>
                <a:lnTo>
                  <a:pt x="643577" y="1534194"/>
                </a:lnTo>
                <a:lnTo>
                  <a:pt x="637843" y="1604793"/>
                </a:lnTo>
                <a:lnTo>
                  <a:pt x="626497" y="1675103"/>
                </a:lnTo>
                <a:lnTo>
                  <a:pt x="608878" y="1742196"/>
                </a:lnTo>
                <a:lnTo>
                  <a:pt x="584322" y="1803147"/>
                </a:lnTo>
                <a:lnTo>
                  <a:pt x="552166" y="1855027"/>
                </a:lnTo>
                <a:lnTo>
                  <a:pt x="511745" y="1894911"/>
                </a:lnTo>
                <a:lnTo>
                  <a:pt x="462398" y="1919871"/>
                </a:lnTo>
                <a:lnTo>
                  <a:pt x="403460" y="1926981"/>
                </a:lnTo>
                <a:lnTo>
                  <a:pt x="370188" y="1922927"/>
                </a:lnTo>
                <a:lnTo>
                  <a:pt x="295621" y="1897773"/>
                </a:lnTo>
                <a:lnTo>
                  <a:pt x="254161" y="1875941"/>
                </a:lnTo>
                <a:lnTo>
                  <a:pt x="209806" y="1847451"/>
                </a:lnTo>
                <a:lnTo>
                  <a:pt x="162472" y="1811938"/>
                </a:lnTo>
                <a:lnTo>
                  <a:pt x="117717" y="1773389"/>
                </a:lnTo>
                <a:lnTo>
                  <a:pt x="80860" y="1736040"/>
                </a:lnTo>
                <a:lnTo>
                  <a:pt x="51471" y="1699901"/>
                </a:lnTo>
                <a:lnTo>
                  <a:pt x="29119" y="1664982"/>
                </a:lnTo>
                <a:lnTo>
                  <a:pt x="3814" y="1598854"/>
                </a:lnTo>
                <a:lnTo>
                  <a:pt x="0" y="1567666"/>
                </a:lnTo>
                <a:lnTo>
                  <a:pt x="1505" y="1537743"/>
                </a:lnTo>
                <a:lnTo>
                  <a:pt x="18756" y="1481738"/>
                </a:lnTo>
                <a:lnTo>
                  <a:pt x="52130" y="1430926"/>
                </a:lnTo>
                <a:lnTo>
                  <a:pt x="98188" y="1385397"/>
                </a:lnTo>
                <a:lnTo>
                  <a:pt x="153495" y="1345238"/>
                </a:lnTo>
                <a:lnTo>
                  <a:pt x="214611" y="1310539"/>
                </a:lnTo>
                <a:lnTo>
                  <a:pt x="278100" y="1281386"/>
                </a:lnTo>
                <a:lnTo>
                  <a:pt x="340525" y="1257870"/>
                </a:lnTo>
                <a:lnTo>
                  <a:pt x="398448" y="1240077"/>
                </a:lnTo>
                <a:lnTo>
                  <a:pt x="448431" y="1228097"/>
                </a:lnTo>
                <a:lnTo>
                  <a:pt x="469372" y="1224314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3198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969D05-1174-BB72-220A-77DFA530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8F5B07-71C6-B2F8-E26A-D861DE417454}"/>
              </a:ext>
            </a:extLst>
          </p:cNvPr>
          <p:cNvSpPr txBox="1">
            <a:spLocks/>
          </p:cNvSpPr>
          <p:nvPr/>
        </p:nvSpPr>
        <p:spPr>
          <a:xfrm>
            <a:off x="399345" y="499056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TCP: retransmission scenarios</a:t>
            </a:r>
          </a:p>
        </p:txBody>
      </p:sp>
      <p:sp>
        <p:nvSpPr>
          <p:cNvPr id="3" name="Text Box 105">
            <a:extLst>
              <a:ext uri="{FF2B5EF4-FFF2-40B4-BE49-F238E27FC236}">
                <a16:creationId xmlns:a16="http://schemas.microsoft.com/office/drawing/2014/main" xmlns="" id="{06D882CE-F06D-3AE4-4BC6-96A966CED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024" y="6053304"/>
            <a:ext cx="19224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lost ACK scenario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" name="Text Box 107">
            <a:extLst>
              <a:ext uri="{FF2B5EF4-FFF2-40B4-BE49-F238E27FC236}">
                <a16:creationId xmlns:a16="http://schemas.microsoft.com/office/drawing/2014/main" xmlns="" id="{60947F07-39D1-8D98-D298-759FACDCF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574" y="1363829"/>
            <a:ext cx="77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5" name="Text Box 111">
            <a:extLst>
              <a:ext uri="{FF2B5EF4-FFF2-40B4-BE49-F238E27FC236}">
                <a16:creationId xmlns:a16="http://schemas.microsoft.com/office/drawing/2014/main" xmlns="" id="{3E7227B4-0431-150E-A644-20E0962F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949" y="1381292"/>
            <a:ext cx="776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F3C0C3CE-8535-B9DE-AF3A-CB40AF286D3B}"/>
              </a:ext>
            </a:extLst>
          </p:cNvPr>
          <p:cNvGrpSpPr/>
          <p:nvPr/>
        </p:nvGrpSpPr>
        <p:grpSpPr>
          <a:xfrm>
            <a:off x="1777237" y="2522704"/>
            <a:ext cx="2346325" cy="571500"/>
            <a:chOff x="2032069" y="2342822"/>
            <a:chExt cx="2346325" cy="571500"/>
          </a:xfrm>
        </p:grpSpPr>
        <p:sp>
          <p:nvSpPr>
            <p:cNvPr id="7" name="Line 100">
              <a:extLst>
                <a:ext uri="{FF2B5EF4-FFF2-40B4-BE49-F238E27FC236}">
                  <a16:creationId xmlns:a16="http://schemas.microsoft.com/office/drawing/2014/main" xmlns="" id="{9F420E44-8A55-452D-756E-546570E95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2069" y="2342822"/>
              <a:ext cx="2346325" cy="5715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Rectangle 112">
              <a:extLst>
                <a:ext uri="{FF2B5EF4-FFF2-40B4-BE49-F238E27FC236}">
                  <a16:creationId xmlns:a16="http://schemas.microsoft.com/office/drawing/2014/main" xmlns="" id="{580DB9F1-A240-B4EB-F65E-050CBD29A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331" y="2423785"/>
              <a:ext cx="869950" cy="4016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Text Box 113">
              <a:extLst>
                <a:ext uri="{FF2B5EF4-FFF2-40B4-BE49-F238E27FC236}">
                  <a16:creationId xmlns:a16="http://schemas.microsoft.com/office/drawing/2014/main" xmlns="" id="{0C125B73-AC7A-7ECB-79C0-48DAFF080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6531" y="2476172"/>
              <a:ext cx="20859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Seq=92, 8 bytes of data</a:t>
              </a:r>
            </a:p>
          </p:txBody>
        </p:sp>
      </p:grpSp>
      <p:sp>
        <p:nvSpPr>
          <p:cNvPr id="10" name="Line 118">
            <a:extLst>
              <a:ext uri="{FF2B5EF4-FFF2-40B4-BE49-F238E27FC236}">
                <a16:creationId xmlns:a16="http://schemas.microsoft.com/office/drawing/2014/main" xmlns="" id="{A4937753-ED0E-BE26-C8F8-5DDFC80E3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6599" y="2281404"/>
            <a:ext cx="0" cy="352583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1" name="Line 119">
            <a:extLst>
              <a:ext uri="{FF2B5EF4-FFF2-40B4-BE49-F238E27FC236}">
                <a16:creationId xmlns:a16="http://schemas.microsoft.com/office/drawing/2014/main" xmlns="" id="{3A571026-9F8B-32C3-BF27-EA64F869A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887" y="2276642"/>
            <a:ext cx="0" cy="353853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E31756AF-60E2-404E-2625-7D071B2F6D82}"/>
              </a:ext>
            </a:extLst>
          </p:cNvPr>
          <p:cNvGrpSpPr/>
          <p:nvPr/>
        </p:nvGrpSpPr>
        <p:grpSpPr>
          <a:xfrm>
            <a:off x="1764537" y="4284829"/>
            <a:ext cx="2351087" cy="512763"/>
            <a:chOff x="2019369" y="4104947"/>
            <a:chExt cx="2351087" cy="512763"/>
          </a:xfrm>
        </p:grpSpPr>
        <p:sp>
          <p:nvSpPr>
            <p:cNvPr id="13" name="Line 99">
              <a:extLst>
                <a:ext uri="{FF2B5EF4-FFF2-40B4-BE49-F238E27FC236}">
                  <a16:creationId xmlns:a16="http://schemas.microsoft.com/office/drawing/2014/main" xmlns="" id="{9802497C-5920-A789-3D38-AC1078DD9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369" y="4111297"/>
              <a:ext cx="2351087" cy="50641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" name="Rectangle 122">
              <a:extLst>
                <a:ext uri="{FF2B5EF4-FFF2-40B4-BE49-F238E27FC236}">
                  <a16:creationId xmlns:a16="http://schemas.microsoft.com/office/drawing/2014/main" xmlns="" id="{4D09ED09-42CC-558A-D626-AC5A7F00B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69" y="4104947"/>
              <a:ext cx="989012" cy="4302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" name="Text Box 123">
              <a:extLst>
                <a:ext uri="{FF2B5EF4-FFF2-40B4-BE49-F238E27FC236}">
                  <a16:creationId xmlns:a16="http://schemas.microsoft.com/office/drawing/2014/main" xmlns="" id="{D2C3F61B-501F-9C0F-5247-9E30D68CF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419" y="4185910"/>
              <a:ext cx="20859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Seq=92, 8 bytes of data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9F4EDD7-B302-5AC6-5B2A-D0F952B38E10}"/>
              </a:ext>
            </a:extLst>
          </p:cNvPr>
          <p:cNvGrpSpPr/>
          <p:nvPr/>
        </p:nvGrpSpPr>
        <p:grpSpPr>
          <a:xfrm>
            <a:off x="2602737" y="3184692"/>
            <a:ext cx="1484312" cy="628650"/>
            <a:chOff x="2857569" y="3004810"/>
            <a:chExt cx="1484312" cy="628650"/>
          </a:xfrm>
        </p:grpSpPr>
        <p:sp>
          <p:nvSpPr>
            <p:cNvPr id="17" name="Line 104">
              <a:extLst>
                <a:ext uri="{FF2B5EF4-FFF2-40B4-BE49-F238E27FC236}">
                  <a16:creationId xmlns:a16="http://schemas.microsoft.com/office/drawing/2014/main" xmlns="" id="{707D2261-72C8-6AE6-FD64-3475C6C6E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8706" y="3004810"/>
              <a:ext cx="1273175" cy="42703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" name="Rectangle 114">
              <a:extLst>
                <a:ext uri="{FF2B5EF4-FFF2-40B4-BE49-F238E27FC236}">
                  <a16:creationId xmlns:a16="http://schemas.microsoft.com/office/drawing/2014/main" xmlns="" id="{7AC10BBB-DA5D-B36B-917E-0C0B01492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656" y="3090535"/>
              <a:ext cx="747713" cy="246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" name="Text Box 115">
              <a:extLst>
                <a:ext uri="{FF2B5EF4-FFF2-40B4-BE49-F238E27FC236}">
                  <a16:creationId xmlns:a16="http://schemas.microsoft.com/office/drawing/2014/main" xmlns="" id="{CDD2B8FD-2F67-37CA-8CEF-BB475C42D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281" y="3046085"/>
              <a:ext cx="9493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  <p:sp>
          <p:nvSpPr>
            <p:cNvPr id="20" name="Text Box 124">
              <a:extLst>
                <a:ext uri="{FF2B5EF4-FFF2-40B4-BE49-F238E27FC236}">
                  <a16:creationId xmlns:a16="http://schemas.microsoft.com/office/drawing/2014/main" xmlns="" id="{4A0C6D41-1A96-9375-22F8-F980C0C78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569" y="3236585"/>
              <a:ext cx="3587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9AAD15EA-F3F2-389E-A0AB-035F0873E279}"/>
              </a:ext>
            </a:extLst>
          </p:cNvPr>
          <p:cNvGrpSpPr/>
          <p:nvPr/>
        </p:nvGrpSpPr>
        <p:grpSpPr>
          <a:xfrm>
            <a:off x="1753424" y="4883317"/>
            <a:ext cx="2338388" cy="782637"/>
            <a:chOff x="2008256" y="4703435"/>
            <a:chExt cx="2338388" cy="782637"/>
          </a:xfrm>
        </p:grpSpPr>
        <p:sp>
          <p:nvSpPr>
            <p:cNvPr id="22" name="Line 127">
              <a:extLst>
                <a:ext uri="{FF2B5EF4-FFF2-40B4-BE49-F238E27FC236}">
                  <a16:creationId xmlns:a16="http://schemas.microsoft.com/office/drawing/2014/main" xmlns="" id="{C6C3D030-5BA1-A3D4-DCA9-902E58932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8256" y="4703435"/>
              <a:ext cx="2338388" cy="78263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" name="Rectangle 128">
              <a:extLst>
                <a:ext uri="{FF2B5EF4-FFF2-40B4-BE49-F238E27FC236}">
                  <a16:creationId xmlns:a16="http://schemas.microsoft.com/office/drawing/2014/main" xmlns="" id="{025DEA1B-64E6-B3A4-F885-DC6B4EFCA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694" y="4960610"/>
              <a:ext cx="747712" cy="246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" name="Text Box 129">
              <a:extLst>
                <a:ext uri="{FF2B5EF4-FFF2-40B4-BE49-F238E27FC236}">
                  <a16:creationId xmlns:a16="http://schemas.microsoft.com/office/drawing/2014/main" xmlns="" id="{134B0A20-B6C7-61A7-9621-5656886E0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2319" y="4916160"/>
              <a:ext cx="9493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7B5E5E3A-233B-88B7-1F89-FA3C3594A341}"/>
              </a:ext>
            </a:extLst>
          </p:cNvPr>
          <p:cNvGrpSpPr/>
          <p:nvPr/>
        </p:nvGrpSpPr>
        <p:grpSpPr>
          <a:xfrm>
            <a:off x="1383537" y="2527467"/>
            <a:ext cx="396875" cy="1751012"/>
            <a:chOff x="1638369" y="2347585"/>
            <a:chExt cx="396875" cy="1751012"/>
          </a:xfrm>
        </p:grpSpPr>
        <p:sp>
          <p:nvSpPr>
            <p:cNvPr id="26" name="Text Box 126">
              <a:extLst>
                <a:ext uri="{FF2B5EF4-FFF2-40B4-BE49-F238E27FC236}">
                  <a16:creationId xmlns:a16="http://schemas.microsoft.com/office/drawing/2014/main" xmlns="" id="{9E2203A2-E6C0-E64E-0A14-21C3047FC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1638369" y="2890510"/>
              <a:ext cx="396875" cy="688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grpSp>
          <p:nvGrpSpPr>
            <p:cNvPr id="27" name="Group 134">
              <a:extLst>
                <a:ext uri="{FF2B5EF4-FFF2-40B4-BE49-F238E27FC236}">
                  <a16:creationId xmlns:a16="http://schemas.microsoft.com/office/drawing/2014/main" xmlns="" id="{302629C8-A968-E2C0-4C87-74F1FEAFC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9656" y="2347585"/>
              <a:ext cx="104775" cy="508000"/>
              <a:chOff x="3099" y="1749"/>
              <a:chExt cx="66" cy="320"/>
            </a:xfrm>
          </p:grpSpPr>
          <p:sp>
            <p:nvSpPr>
              <p:cNvPr id="31" name="Line 132">
                <a:extLst>
                  <a:ext uri="{FF2B5EF4-FFF2-40B4-BE49-F238E27FC236}">
                    <a16:creationId xmlns:a16="http://schemas.microsoft.com/office/drawing/2014/main" xmlns="" id="{F69335E3-85BB-3E52-90B6-C9F4C1E83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" name="Line 133">
                <a:extLst>
                  <a:ext uri="{FF2B5EF4-FFF2-40B4-BE49-F238E27FC236}">
                    <a16:creationId xmlns:a16="http://schemas.microsoft.com/office/drawing/2014/main" xmlns="" id="{B925E809-2C36-A05B-F6AC-FE51ECD32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28" name="Group 135">
              <a:extLst>
                <a:ext uri="{FF2B5EF4-FFF2-40B4-BE49-F238E27FC236}">
                  <a16:creationId xmlns:a16="http://schemas.microsoft.com/office/drawing/2014/main" xmlns="" id="{01C26B6F-2DA8-37B9-4753-3C396C86C1DE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774894" y="3590597"/>
              <a:ext cx="104775" cy="508000"/>
              <a:chOff x="3099" y="1749"/>
              <a:chExt cx="66" cy="320"/>
            </a:xfrm>
          </p:grpSpPr>
          <p:sp>
            <p:nvSpPr>
              <p:cNvPr id="29" name="Line 136">
                <a:extLst>
                  <a:ext uri="{FF2B5EF4-FFF2-40B4-BE49-F238E27FC236}">
                    <a16:creationId xmlns:a16="http://schemas.microsoft.com/office/drawing/2014/main" xmlns="" id="{5A643AB0-19C7-BF45-0A1E-48938388A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6" y="1756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" name="Line 137">
                <a:extLst>
                  <a:ext uri="{FF2B5EF4-FFF2-40B4-BE49-F238E27FC236}">
                    <a16:creationId xmlns:a16="http://schemas.microsoft.com/office/drawing/2014/main" xmlns="" id="{5D21EA37-4808-4A6D-8B97-71CA4DB65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1759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33" name="Text Box 172">
            <a:extLst>
              <a:ext uri="{FF2B5EF4-FFF2-40B4-BE49-F238E27FC236}">
                <a16:creationId xmlns:a16="http://schemas.microsoft.com/office/drawing/2014/main" xmlns="" id="{7F625EF1-40E6-49DD-1911-EF012EC3A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4284" y="6053304"/>
            <a:ext cx="2073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premature timeout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4" name="Text Box 177">
            <a:extLst>
              <a:ext uri="{FF2B5EF4-FFF2-40B4-BE49-F238E27FC236}">
                <a16:creationId xmlns:a16="http://schemas.microsoft.com/office/drawing/2014/main" xmlns="" id="{6EFE547A-70B4-5A65-9E68-E26AA139F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2446" y="1363829"/>
            <a:ext cx="77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35" name="Text Box 181">
            <a:extLst>
              <a:ext uri="{FF2B5EF4-FFF2-40B4-BE49-F238E27FC236}">
                <a16:creationId xmlns:a16="http://schemas.microsoft.com/office/drawing/2014/main" xmlns="" id="{43E12FAF-B29D-0AAA-FEC9-686DB86AB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8821" y="1381292"/>
            <a:ext cx="776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A</a:t>
            </a:r>
          </a:p>
        </p:txBody>
      </p:sp>
      <p:sp>
        <p:nvSpPr>
          <p:cNvPr id="36" name="Line 186">
            <a:extLst>
              <a:ext uri="{FF2B5EF4-FFF2-40B4-BE49-F238E27FC236}">
                <a16:creationId xmlns:a16="http://schemas.microsoft.com/office/drawing/2014/main" xmlns="" id="{F4CBD062-8B62-8D00-ACBE-BDFA43419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3471" y="2281404"/>
            <a:ext cx="0" cy="352583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Line 187">
            <a:extLst>
              <a:ext uri="{FF2B5EF4-FFF2-40B4-BE49-F238E27FC236}">
                <a16:creationId xmlns:a16="http://schemas.microsoft.com/office/drawing/2014/main" xmlns="" id="{9E0C1636-F913-B119-BA34-921F1248A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8534" y="2276642"/>
            <a:ext cx="0" cy="353853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Rectangle 188">
            <a:extLst>
              <a:ext uri="{FF2B5EF4-FFF2-40B4-BE49-F238E27FC236}">
                <a16:creationId xmlns:a16="http://schemas.microsoft.com/office/drawing/2014/main" xmlns="" id="{7B824995-CD3F-3ACC-C9C4-D5C6995AE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296" y="4408654"/>
            <a:ext cx="1057275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xmlns="" id="{5F6BCDEF-B6EA-6C60-7622-7E0D55C5B61F}"/>
              </a:ext>
            </a:extLst>
          </p:cNvPr>
          <p:cNvGrpSpPr/>
          <p:nvPr/>
        </p:nvGrpSpPr>
        <p:grpSpPr>
          <a:xfrm>
            <a:off x="7340771" y="4291179"/>
            <a:ext cx="2441575" cy="668338"/>
            <a:chOff x="7595603" y="4111297"/>
            <a:chExt cx="2441575" cy="668338"/>
          </a:xfrm>
        </p:grpSpPr>
        <p:sp>
          <p:nvSpPr>
            <p:cNvPr id="40" name="Line 173">
              <a:extLst>
                <a:ext uri="{FF2B5EF4-FFF2-40B4-BE49-F238E27FC236}">
                  <a16:creationId xmlns:a16="http://schemas.microsoft.com/office/drawing/2014/main" xmlns="" id="{755D35EC-E6CA-A82C-BB3A-CD8D2ADBF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5603" y="4111297"/>
              <a:ext cx="2441575" cy="66516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" name="Text Box 189">
              <a:extLst>
                <a:ext uri="{FF2B5EF4-FFF2-40B4-BE49-F238E27FC236}">
                  <a16:creationId xmlns:a16="http://schemas.microsoft.com/office/drawing/2014/main" xmlns="" id="{D7F7F362-069A-8A0A-FBBF-1181C7542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1753" y="4262110"/>
              <a:ext cx="1212850" cy="517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Seq=92,  8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bytes of data</a:t>
              </a:r>
            </a:p>
          </p:txBody>
        </p:sp>
      </p:grpSp>
      <p:sp>
        <p:nvSpPr>
          <p:cNvPr id="42" name="Rectangle 193">
            <a:extLst>
              <a:ext uri="{FF2B5EF4-FFF2-40B4-BE49-F238E27FC236}">
                <a16:creationId xmlns:a16="http://schemas.microsoft.com/office/drawing/2014/main" xmlns="" id="{93E14C28-AF5A-7F54-D010-89B2EA4CE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5959" y="5251617"/>
            <a:ext cx="747712" cy="2460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819152F0-EA88-B334-A6DE-51629F76CFF8}"/>
              </a:ext>
            </a:extLst>
          </p:cNvPr>
          <p:cNvGrpSpPr/>
          <p:nvPr/>
        </p:nvGrpSpPr>
        <p:grpSpPr>
          <a:xfrm>
            <a:off x="7372521" y="4994442"/>
            <a:ext cx="2338388" cy="782637"/>
            <a:chOff x="7627353" y="4814560"/>
            <a:chExt cx="2338388" cy="782637"/>
          </a:xfrm>
        </p:grpSpPr>
        <p:sp>
          <p:nvSpPr>
            <p:cNvPr id="44" name="Line 192">
              <a:extLst>
                <a:ext uri="{FF2B5EF4-FFF2-40B4-BE49-F238E27FC236}">
                  <a16:creationId xmlns:a16="http://schemas.microsoft.com/office/drawing/2014/main" xmlns="" id="{B76CBC77-507B-E9B7-E307-F1EF0E4383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7353" y="4814560"/>
              <a:ext cx="2338388" cy="78263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5" name="Text Box 194">
              <a:extLst>
                <a:ext uri="{FF2B5EF4-FFF2-40B4-BE49-F238E27FC236}">
                  <a16:creationId xmlns:a16="http://schemas.microsoft.com/office/drawing/2014/main" xmlns="" id="{B6B803A2-7DA9-5198-AF09-6AE94F9DC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1416" y="5027285"/>
              <a:ext cx="9493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ACK=120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596C5A89-E237-E268-AC16-E6983E650A67}"/>
              </a:ext>
            </a:extLst>
          </p:cNvPr>
          <p:cNvGrpSpPr/>
          <p:nvPr/>
        </p:nvGrpSpPr>
        <p:grpSpPr>
          <a:xfrm>
            <a:off x="6980409" y="2527467"/>
            <a:ext cx="396875" cy="1751012"/>
            <a:chOff x="7235241" y="2347585"/>
            <a:chExt cx="396875" cy="1751012"/>
          </a:xfrm>
        </p:grpSpPr>
        <p:sp>
          <p:nvSpPr>
            <p:cNvPr id="47" name="Text Box 191">
              <a:extLst>
                <a:ext uri="{FF2B5EF4-FFF2-40B4-BE49-F238E27FC236}">
                  <a16:creationId xmlns:a16="http://schemas.microsoft.com/office/drawing/2014/main" xmlns="" id="{9371A8A8-7F28-163B-1F52-160FFDAEE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7235241" y="2890510"/>
              <a:ext cx="396875" cy="688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grpSp>
          <p:nvGrpSpPr>
            <p:cNvPr id="48" name="Group 195">
              <a:extLst>
                <a:ext uri="{FF2B5EF4-FFF2-40B4-BE49-F238E27FC236}">
                  <a16:creationId xmlns:a16="http://schemas.microsoft.com/office/drawing/2014/main" xmlns="" id="{BEB9F760-90CB-CEEA-A249-9841022833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6528" y="2347585"/>
              <a:ext cx="104775" cy="508000"/>
              <a:chOff x="3099" y="1749"/>
              <a:chExt cx="66" cy="320"/>
            </a:xfrm>
          </p:grpSpPr>
          <p:sp>
            <p:nvSpPr>
              <p:cNvPr id="52" name="Line 196">
                <a:extLst>
                  <a:ext uri="{FF2B5EF4-FFF2-40B4-BE49-F238E27FC236}">
                    <a16:creationId xmlns:a16="http://schemas.microsoft.com/office/drawing/2014/main" xmlns="" id="{D0FB546D-0E45-6B60-D515-5065908118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3" name="Line 197">
                <a:extLst>
                  <a:ext uri="{FF2B5EF4-FFF2-40B4-BE49-F238E27FC236}">
                    <a16:creationId xmlns:a16="http://schemas.microsoft.com/office/drawing/2014/main" xmlns="" id="{2232EBB6-7191-D2EB-BB91-CFE52E76F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49" name="Group 198">
              <a:extLst>
                <a:ext uri="{FF2B5EF4-FFF2-40B4-BE49-F238E27FC236}">
                  <a16:creationId xmlns:a16="http://schemas.microsoft.com/office/drawing/2014/main" xmlns="" id="{D89BDFF8-3CF2-F37E-CC86-0D2C03CFDDE5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7371766" y="3590597"/>
              <a:ext cx="104775" cy="508000"/>
              <a:chOff x="3099" y="1749"/>
              <a:chExt cx="66" cy="320"/>
            </a:xfrm>
          </p:grpSpPr>
          <p:sp>
            <p:nvSpPr>
              <p:cNvPr id="50" name="Line 199">
                <a:extLst>
                  <a:ext uri="{FF2B5EF4-FFF2-40B4-BE49-F238E27FC236}">
                    <a16:creationId xmlns:a16="http://schemas.microsoft.com/office/drawing/2014/main" xmlns="" id="{1EF715E9-32FE-95C8-F7E4-3C776D0109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7" y="1756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1" name="Line 200">
                <a:extLst>
                  <a:ext uri="{FF2B5EF4-FFF2-40B4-BE49-F238E27FC236}">
                    <a16:creationId xmlns:a16="http://schemas.microsoft.com/office/drawing/2014/main" xmlns="" id="{8DB8CC53-409A-E29D-AF20-C9D590112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1759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7D788D69-7FE6-F771-025F-CD7BDC936EA4}"/>
              </a:ext>
            </a:extLst>
          </p:cNvPr>
          <p:cNvGrpSpPr/>
          <p:nvPr/>
        </p:nvGrpSpPr>
        <p:grpSpPr>
          <a:xfrm>
            <a:off x="7348709" y="3184692"/>
            <a:ext cx="2339975" cy="1944687"/>
            <a:chOff x="7603541" y="3004810"/>
            <a:chExt cx="2339975" cy="1944687"/>
          </a:xfrm>
        </p:grpSpPr>
        <p:sp>
          <p:nvSpPr>
            <p:cNvPr id="55" name="Line 175">
              <a:extLst>
                <a:ext uri="{FF2B5EF4-FFF2-40B4-BE49-F238E27FC236}">
                  <a16:creationId xmlns:a16="http://schemas.microsoft.com/office/drawing/2014/main" xmlns="" id="{325825DC-C2DB-264C-A8BF-33495132A7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03541" y="3004810"/>
              <a:ext cx="2335212" cy="158908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6" name="Group 202">
              <a:extLst>
                <a:ext uri="{FF2B5EF4-FFF2-40B4-BE49-F238E27FC236}">
                  <a16:creationId xmlns:a16="http://schemas.microsoft.com/office/drawing/2014/main" xmlns="" id="{A85E16BC-10D1-C39F-B3CB-FC3E36A728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05241" y="3496935"/>
              <a:ext cx="949325" cy="304800"/>
              <a:chOff x="4215" y="2253"/>
              <a:chExt cx="598" cy="192"/>
            </a:xfrm>
          </p:grpSpPr>
          <p:sp>
            <p:nvSpPr>
              <p:cNvPr id="61" name="Rectangle 184">
                <a:extLst>
                  <a:ext uri="{FF2B5EF4-FFF2-40B4-BE49-F238E27FC236}">
                    <a16:creationId xmlns:a16="http://schemas.microsoft.com/office/drawing/2014/main" xmlns="" id="{61CC3F09-6916-78FC-B77B-FD46F0DB6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Text Box 185">
                <a:extLst>
                  <a:ext uri="{FF2B5EF4-FFF2-40B4-BE49-F238E27FC236}">
                    <a16:creationId xmlns:a16="http://schemas.microsoft.com/office/drawing/2014/main" xmlns="" id="{44F51E49-D1BA-41A4-1D77-94FAA2EC3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ACK=100</a:t>
                </a: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7" name="Line 207">
              <a:extLst>
                <a:ext uri="{FF2B5EF4-FFF2-40B4-BE49-F238E27FC236}">
                  <a16:creationId xmlns:a16="http://schemas.microsoft.com/office/drawing/2014/main" xmlns="" id="{097735FC-B8F7-6904-CA4E-3BB90B7DE8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08303" y="3360410"/>
              <a:ext cx="2335213" cy="158908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8" name="Group 208">
              <a:extLst>
                <a:ext uri="{FF2B5EF4-FFF2-40B4-BE49-F238E27FC236}">
                  <a16:creationId xmlns:a16="http://schemas.microsoft.com/office/drawing/2014/main" xmlns="" id="{2E39C684-9BE7-1E29-64FF-DF2D55BDF3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44953" y="3773160"/>
              <a:ext cx="949325" cy="304800"/>
              <a:chOff x="4215" y="2253"/>
              <a:chExt cx="598" cy="192"/>
            </a:xfrm>
          </p:grpSpPr>
          <p:sp>
            <p:nvSpPr>
              <p:cNvPr id="59" name="Rectangle 209">
                <a:extLst>
                  <a:ext uri="{FF2B5EF4-FFF2-40B4-BE49-F238E27FC236}">
                    <a16:creationId xmlns:a16="http://schemas.microsoft.com/office/drawing/2014/main" xmlns="" id="{68C23F8B-8466-8FA7-8A86-9A20C2827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Text Box 210">
                <a:extLst>
                  <a:ext uri="{FF2B5EF4-FFF2-40B4-BE49-F238E27FC236}">
                    <a16:creationId xmlns:a16="http://schemas.microsoft.com/office/drawing/2014/main" xmlns="" id="{EF814505-5DF8-EADF-B8FA-9EDF14B539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ACK=120</a:t>
                </a: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8C45C4DC-6D64-38D9-EAD3-5F0FB8180C7D}"/>
              </a:ext>
            </a:extLst>
          </p:cNvPr>
          <p:cNvGrpSpPr/>
          <p:nvPr/>
        </p:nvGrpSpPr>
        <p:grpSpPr>
          <a:xfrm>
            <a:off x="5986634" y="4595979"/>
            <a:ext cx="1382712" cy="646113"/>
            <a:chOff x="6241466" y="4416097"/>
            <a:chExt cx="1382712" cy="646113"/>
          </a:xfrm>
        </p:grpSpPr>
        <p:sp>
          <p:nvSpPr>
            <p:cNvPr id="64" name="Text Box 211">
              <a:extLst>
                <a:ext uri="{FF2B5EF4-FFF2-40B4-BE49-F238E27FC236}">
                  <a16:creationId xmlns:a16="http://schemas.microsoft.com/office/drawing/2014/main" xmlns="" id="{1C99A8D6-2BFC-72A7-89FA-8CEF303BF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466" y="4416097"/>
              <a:ext cx="1363662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SendBase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=100</a:t>
              </a:r>
            </a:p>
          </p:txBody>
        </p:sp>
        <p:sp>
          <p:nvSpPr>
            <p:cNvPr id="65" name="Text Box 212">
              <a:extLst>
                <a:ext uri="{FF2B5EF4-FFF2-40B4-BE49-F238E27FC236}">
                  <a16:creationId xmlns:a16="http://schemas.microsoft.com/office/drawing/2014/main" xmlns="" id="{17A9E6BB-4F09-F262-08EF-1D0144D91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0516" y="4757410"/>
              <a:ext cx="1363662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SendBase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=120</a:t>
              </a:r>
            </a:p>
          </p:txBody>
        </p:sp>
      </p:grpSp>
      <p:sp>
        <p:nvSpPr>
          <p:cNvPr id="66" name="Text Box 213">
            <a:extLst>
              <a:ext uri="{FF2B5EF4-FFF2-40B4-BE49-F238E27FC236}">
                <a16:creationId xmlns:a16="http://schemas.microsoft.com/office/drawing/2014/main" xmlns="" id="{DF02C040-A15B-E449-8EE3-A213E7C10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734" y="5611979"/>
            <a:ext cx="13636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SendBase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=120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xmlns="" id="{7AA5EB70-BF5C-5B9F-0EFA-5EFCD5C8D81D}"/>
              </a:ext>
            </a:extLst>
          </p:cNvPr>
          <p:cNvGrpSpPr/>
          <p:nvPr/>
        </p:nvGrpSpPr>
        <p:grpSpPr>
          <a:xfrm>
            <a:off x="6051721" y="2367129"/>
            <a:ext cx="3668713" cy="1112838"/>
            <a:chOff x="6306553" y="2187247"/>
            <a:chExt cx="3668713" cy="1112838"/>
          </a:xfrm>
        </p:grpSpPr>
        <p:sp>
          <p:nvSpPr>
            <p:cNvPr id="68" name="Line 174">
              <a:extLst>
                <a:ext uri="{FF2B5EF4-FFF2-40B4-BE49-F238E27FC236}">
                  <a16:creationId xmlns:a16="http://schemas.microsoft.com/office/drawing/2014/main" xmlns="" id="{A6005C38-8E75-A5E1-B84D-414399F45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8941" y="2342822"/>
              <a:ext cx="2346325" cy="5715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9" name="Rectangle 182">
              <a:extLst>
                <a:ext uri="{FF2B5EF4-FFF2-40B4-BE49-F238E27FC236}">
                  <a16:creationId xmlns:a16="http://schemas.microsoft.com/office/drawing/2014/main" xmlns="" id="{F398F824-20C4-6F6D-5F84-CEBE8E507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2203" y="2423785"/>
              <a:ext cx="869950" cy="4016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0" name="Text Box 183">
              <a:extLst>
                <a:ext uri="{FF2B5EF4-FFF2-40B4-BE49-F238E27FC236}">
                  <a16:creationId xmlns:a16="http://schemas.microsoft.com/office/drawing/2014/main" xmlns="" id="{B5612852-78B7-7FDC-CEA4-485A13154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3403" y="2476172"/>
              <a:ext cx="20859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Seq=92, 8 bytes of data</a:t>
              </a:r>
            </a:p>
          </p:txBody>
        </p:sp>
        <p:grpSp>
          <p:nvGrpSpPr>
            <p:cNvPr id="71" name="Group 206">
              <a:extLst>
                <a:ext uri="{FF2B5EF4-FFF2-40B4-BE49-F238E27FC236}">
                  <a16:creationId xmlns:a16="http://schemas.microsoft.com/office/drawing/2014/main" xmlns="" id="{781EE566-47DB-36E8-DA73-52B8C5DA13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14653" y="2728585"/>
              <a:ext cx="2346325" cy="571500"/>
              <a:chOff x="3759" y="1622"/>
              <a:chExt cx="1478" cy="360"/>
            </a:xfrm>
          </p:grpSpPr>
          <p:sp>
            <p:nvSpPr>
              <p:cNvPr id="73" name="Line 203">
                <a:extLst>
                  <a:ext uri="{FF2B5EF4-FFF2-40B4-BE49-F238E27FC236}">
                    <a16:creationId xmlns:a16="http://schemas.microsoft.com/office/drawing/2014/main" xmlns="" id="{692A6003-394D-1736-9873-B2855861D1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9" y="1622"/>
                <a:ext cx="1478" cy="360"/>
              </a:xfrm>
              <a:prstGeom prst="line">
                <a:avLst/>
              </a:prstGeom>
              <a:noFill/>
              <a:ln w="28575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4" name="Rectangle 204">
                <a:extLst>
                  <a:ext uri="{FF2B5EF4-FFF2-40B4-BE49-F238E27FC236}">
                    <a16:creationId xmlns:a16="http://schemas.microsoft.com/office/drawing/2014/main" xmlns="" id="{AECAC489-395B-458B-507A-B57956EDD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1673"/>
                <a:ext cx="548" cy="25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5" name="Text Box 205">
                <a:extLst>
                  <a:ext uri="{FF2B5EF4-FFF2-40B4-BE49-F238E27FC236}">
                    <a16:creationId xmlns:a16="http://schemas.microsoft.com/office/drawing/2014/main" xmlns="" id="{1F8A3C1F-92B7-53BB-E8E2-DC1244B02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0" y="1706"/>
                <a:ext cx="143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Seq=100, 20 bytes of data</a:t>
                </a:r>
              </a:p>
            </p:txBody>
          </p:sp>
        </p:grpSp>
        <p:sp>
          <p:nvSpPr>
            <p:cNvPr id="72" name="Text Box 214">
              <a:extLst>
                <a:ext uri="{FF2B5EF4-FFF2-40B4-BE49-F238E27FC236}">
                  <a16:creationId xmlns:a16="http://schemas.microsoft.com/office/drawing/2014/main" xmlns="" id="{427DF54F-2885-9BEB-AF6D-D4F088123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6553" y="2187247"/>
              <a:ext cx="1266825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SendBase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=92</a:t>
              </a:r>
            </a:p>
          </p:txBody>
        </p:sp>
      </p:grpSp>
      <p:grpSp>
        <p:nvGrpSpPr>
          <p:cNvPr id="76" name="Group 219">
            <a:extLst>
              <a:ext uri="{FF2B5EF4-FFF2-40B4-BE49-F238E27FC236}">
                <a16:creationId xmlns:a16="http://schemas.microsoft.com/office/drawing/2014/main" xmlns="" id="{666B7889-3AA2-6300-7312-F9BB46FC16E7}"/>
              </a:ext>
            </a:extLst>
          </p:cNvPr>
          <p:cNvGrpSpPr>
            <a:grpSpLocks/>
          </p:cNvGrpSpPr>
          <p:nvPr/>
        </p:nvGrpSpPr>
        <p:grpSpPr bwMode="auto">
          <a:xfrm>
            <a:off x="6931196" y="1643229"/>
            <a:ext cx="630238" cy="533400"/>
            <a:chOff x="-44" y="1473"/>
            <a:chExt cx="981" cy="1105"/>
          </a:xfrm>
        </p:grpSpPr>
        <p:pic>
          <p:nvPicPr>
            <p:cNvPr id="77" name="Picture 220" descr="desktop_computer_stylized_medium">
              <a:extLst>
                <a:ext uri="{FF2B5EF4-FFF2-40B4-BE49-F238E27FC236}">
                  <a16:creationId xmlns:a16="http://schemas.microsoft.com/office/drawing/2014/main" xmlns="" id="{46E0DDB1-FD99-D90D-7E81-B15C7213C1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Freeform 221">
              <a:extLst>
                <a:ext uri="{FF2B5EF4-FFF2-40B4-BE49-F238E27FC236}">
                  <a16:creationId xmlns:a16="http://schemas.microsoft.com/office/drawing/2014/main" xmlns="" id="{23F29B0C-F9A4-B19B-F947-5BD329DF85F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9" name="Group 225">
            <a:extLst>
              <a:ext uri="{FF2B5EF4-FFF2-40B4-BE49-F238E27FC236}">
                <a16:creationId xmlns:a16="http://schemas.microsoft.com/office/drawing/2014/main" xmlns="" id="{272C7F73-B6E4-4FE4-6C1C-2D54CAD42E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498184" y="1649579"/>
            <a:ext cx="631825" cy="622300"/>
            <a:chOff x="-44" y="1473"/>
            <a:chExt cx="981" cy="1105"/>
          </a:xfrm>
        </p:grpSpPr>
        <p:pic>
          <p:nvPicPr>
            <p:cNvPr id="80" name="Picture 226" descr="desktop_computer_stylized_medium">
              <a:extLst>
                <a:ext uri="{FF2B5EF4-FFF2-40B4-BE49-F238E27FC236}">
                  <a16:creationId xmlns:a16="http://schemas.microsoft.com/office/drawing/2014/main" xmlns="" id="{C24CD340-9873-CFA5-5437-016CF111B6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227">
              <a:extLst>
                <a:ext uri="{FF2B5EF4-FFF2-40B4-BE49-F238E27FC236}">
                  <a16:creationId xmlns:a16="http://schemas.microsoft.com/office/drawing/2014/main" xmlns="" id="{914491D3-7308-D365-05E6-5461EA9B06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2" name="Group 228">
            <a:extLst>
              <a:ext uri="{FF2B5EF4-FFF2-40B4-BE49-F238E27FC236}">
                <a16:creationId xmlns:a16="http://schemas.microsoft.com/office/drawing/2014/main" xmlns="" id="{8B1E7250-30D8-A19F-25D3-6E2599356BC2}"/>
              </a:ext>
            </a:extLst>
          </p:cNvPr>
          <p:cNvGrpSpPr>
            <a:grpSpLocks/>
          </p:cNvGrpSpPr>
          <p:nvPr/>
        </p:nvGrpSpPr>
        <p:grpSpPr bwMode="auto">
          <a:xfrm>
            <a:off x="1347024" y="1654342"/>
            <a:ext cx="630238" cy="533400"/>
            <a:chOff x="-44" y="1473"/>
            <a:chExt cx="981" cy="1105"/>
          </a:xfrm>
        </p:grpSpPr>
        <p:pic>
          <p:nvPicPr>
            <p:cNvPr id="83" name="Picture 229" descr="desktop_computer_stylized_medium">
              <a:extLst>
                <a:ext uri="{FF2B5EF4-FFF2-40B4-BE49-F238E27FC236}">
                  <a16:creationId xmlns:a16="http://schemas.microsoft.com/office/drawing/2014/main" xmlns="" id="{1499FF9B-C7AA-67A3-C62E-92CFD5BE9C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Freeform 230">
              <a:extLst>
                <a:ext uri="{FF2B5EF4-FFF2-40B4-BE49-F238E27FC236}">
                  <a16:creationId xmlns:a16="http://schemas.microsoft.com/office/drawing/2014/main" xmlns="" id="{7FCA4BD1-8EC2-50D1-8BD3-8EB611F217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5" name="Group 231">
            <a:extLst>
              <a:ext uri="{FF2B5EF4-FFF2-40B4-BE49-F238E27FC236}">
                <a16:creationId xmlns:a16="http://schemas.microsoft.com/office/drawing/2014/main" xmlns="" id="{80D27A74-3E16-431C-778D-BBA0C8C4839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925124" y="1638467"/>
            <a:ext cx="709613" cy="600075"/>
            <a:chOff x="-44" y="1473"/>
            <a:chExt cx="981" cy="1105"/>
          </a:xfrm>
        </p:grpSpPr>
        <p:pic>
          <p:nvPicPr>
            <p:cNvPr id="86" name="Picture 232" descr="desktop_computer_stylized_medium">
              <a:extLst>
                <a:ext uri="{FF2B5EF4-FFF2-40B4-BE49-F238E27FC236}">
                  <a16:creationId xmlns:a16="http://schemas.microsoft.com/office/drawing/2014/main" xmlns="" id="{D593801E-5B6A-593F-2942-79FDF829E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Freeform 233">
              <a:extLst>
                <a:ext uri="{FF2B5EF4-FFF2-40B4-BE49-F238E27FC236}">
                  <a16:creationId xmlns:a16="http://schemas.microsoft.com/office/drawing/2014/main" xmlns="" id="{85028997-0671-DC26-0D03-2055517BA0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1EB300B4-E026-AF4F-78A5-E37401B9D4F6}"/>
              </a:ext>
            </a:extLst>
          </p:cNvPr>
          <p:cNvSpPr txBox="1"/>
          <p:nvPr/>
        </p:nvSpPr>
        <p:spPr>
          <a:xfrm>
            <a:off x="9718578" y="4688382"/>
            <a:ext cx="1591398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send cumulative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ACK for 120</a:t>
            </a:r>
          </a:p>
        </p:txBody>
      </p:sp>
    </p:spTree>
    <p:extLst>
      <p:ext uri="{BB962C8B-B14F-4D97-AF65-F5344CB8AC3E}">
        <p14:creationId xmlns:p14="http://schemas.microsoft.com/office/powerpoint/2010/main" val="269562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8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4A2DA8-D1E7-F572-0C10-208BD1F2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07D863-638F-0068-FF1C-93AD976DC10C}"/>
              </a:ext>
            </a:extLst>
          </p:cNvPr>
          <p:cNvSpPr txBox="1">
            <a:spLocks/>
          </p:cNvSpPr>
          <p:nvPr/>
        </p:nvSpPr>
        <p:spPr>
          <a:xfrm>
            <a:off x="244054" y="512377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TCP: retransmission scenarios</a:t>
            </a:r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xmlns="" id="{497EB37D-BC28-4158-6612-D6CB7AD53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139" y="5726243"/>
            <a:ext cx="25428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cumulative ACK covers for earlier lost ACK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" name="Line 36">
            <a:extLst>
              <a:ext uri="{FF2B5EF4-FFF2-40B4-BE49-F238E27FC236}">
                <a16:creationId xmlns:a16="http://schemas.microsoft.com/office/drawing/2014/main" xmlns="" id="{3916A1A4-28D0-581F-2B66-B476FA045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9800" y="2588892"/>
            <a:ext cx="2346325" cy="5715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" name="Text Box 39">
            <a:extLst>
              <a:ext uri="{FF2B5EF4-FFF2-40B4-BE49-F238E27FC236}">
                <a16:creationId xmlns:a16="http://schemas.microsoft.com/office/drawing/2014/main" xmlns="" id="{7479F7CD-5194-0955-213D-0778FA0BB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437" y="1417317"/>
            <a:ext cx="77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6" name="Text Box 43">
            <a:extLst>
              <a:ext uri="{FF2B5EF4-FFF2-40B4-BE49-F238E27FC236}">
                <a16:creationId xmlns:a16="http://schemas.microsoft.com/office/drawing/2014/main" xmlns="" id="{93D1F7F9-0997-3725-4C76-C47634544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512" y="1447480"/>
            <a:ext cx="776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A</a:t>
            </a: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xmlns="" id="{F0DA2FA0-112D-56DA-A2F1-F0FE08A49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062" y="2669855"/>
            <a:ext cx="869950" cy="4016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xmlns="" id="{638A6365-DF8A-E16A-85CE-7E7DA0D30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4262" y="2722242"/>
            <a:ext cx="20859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Seq=92, 8 bytes of data</a:t>
            </a:r>
          </a:p>
        </p:txBody>
      </p:sp>
      <p:sp>
        <p:nvSpPr>
          <p:cNvPr id="9" name="Line 49">
            <a:extLst>
              <a:ext uri="{FF2B5EF4-FFF2-40B4-BE49-F238E27FC236}">
                <a16:creationId xmlns:a16="http://schemas.microsoft.com/office/drawing/2014/main" xmlns="" id="{F7F3887D-4252-BD2B-4C85-19D20177D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9162" y="2347592"/>
            <a:ext cx="0" cy="352583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" name="Line 50">
            <a:extLst>
              <a:ext uri="{FF2B5EF4-FFF2-40B4-BE49-F238E27FC236}">
                <a16:creationId xmlns:a16="http://schemas.microsoft.com/office/drawing/2014/main" xmlns="" id="{4105894C-7832-669A-684E-D32BD3FD8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225" y="2342830"/>
            <a:ext cx="0" cy="353853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1B5211F7-32DA-F25B-C52C-9795FB5B768C}"/>
              </a:ext>
            </a:extLst>
          </p:cNvPr>
          <p:cNvGrpSpPr/>
          <p:nvPr/>
        </p:nvGrpSpPr>
        <p:grpSpPr>
          <a:xfrm>
            <a:off x="2009637" y="4671692"/>
            <a:ext cx="2652713" cy="879475"/>
            <a:chOff x="2035037" y="4444549"/>
            <a:chExt cx="2652713" cy="879475"/>
          </a:xfrm>
        </p:grpSpPr>
        <p:sp>
          <p:nvSpPr>
            <p:cNvPr id="12" name="Line 35">
              <a:extLst>
                <a:ext uri="{FF2B5EF4-FFF2-40B4-BE49-F238E27FC236}">
                  <a16:creationId xmlns:a16="http://schemas.microsoft.com/office/drawing/2014/main" xmlns="" id="{39E30E38-36CF-CCFF-B615-C30686A9E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612" y="4444549"/>
              <a:ext cx="2441575" cy="66516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" name="Rectangle 51">
              <a:extLst>
                <a:ext uri="{FF2B5EF4-FFF2-40B4-BE49-F238E27FC236}">
                  <a16:creationId xmlns:a16="http://schemas.microsoft.com/office/drawing/2014/main" xmlns="" id="{104FCC3A-A23A-5C7C-2B28-01182C00D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525" y="4517574"/>
              <a:ext cx="933450" cy="50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" name="Text Box 52">
              <a:extLst>
                <a:ext uri="{FF2B5EF4-FFF2-40B4-BE49-F238E27FC236}">
                  <a16:creationId xmlns:a16="http://schemas.microsoft.com/office/drawing/2014/main" xmlns="" id="{77F48435-010E-2253-1EC2-76314157C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037" y="4604887"/>
              <a:ext cx="2652713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Seq=120,  15 bytes of data</a:t>
              </a:r>
            </a:p>
          </p:txBody>
        </p:sp>
        <p:sp>
          <p:nvSpPr>
            <p:cNvPr id="15" name="Rectangle 55">
              <a:extLst>
                <a:ext uri="{FF2B5EF4-FFF2-40B4-BE49-F238E27FC236}">
                  <a16:creationId xmlns:a16="http://schemas.microsoft.com/office/drawing/2014/main" xmlns="" id="{E931F879-2208-4AFF-7A92-FFEA2A80F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1650" y="5077962"/>
              <a:ext cx="747712" cy="246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6" name="Group 63">
            <a:extLst>
              <a:ext uri="{FF2B5EF4-FFF2-40B4-BE49-F238E27FC236}">
                <a16:creationId xmlns:a16="http://schemas.microsoft.com/office/drawing/2014/main" xmlns="" id="{29EF0E83-A28A-B8B5-DA8A-FC67040E6910}"/>
              </a:ext>
            </a:extLst>
          </p:cNvPr>
          <p:cNvGrpSpPr>
            <a:grpSpLocks/>
          </p:cNvGrpSpPr>
          <p:nvPr/>
        </p:nvGrpSpPr>
        <p:grpSpPr bwMode="auto">
          <a:xfrm>
            <a:off x="2025512" y="2974655"/>
            <a:ext cx="2346325" cy="571500"/>
            <a:chOff x="3759" y="1622"/>
            <a:chExt cx="1478" cy="360"/>
          </a:xfrm>
        </p:grpSpPr>
        <p:sp>
          <p:nvSpPr>
            <p:cNvPr id="17" name="Line 64">
              <a:extLst>
                <a:ext uri="{FF2B5EF4-FFF2-40B4-BE49-F238E27FC236}">
                  <a16:creationId xmlns:a16="http://schemas.microsoft.com/office/drawing/2014/main" xmlns="" id="{E2EFC9D6-D24F-4A68-B973-C90A1AD33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" y="1622"/>
              <a:ext cx="1478" cy="36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" name="Rectangle 65">
              <a:extLst>
                <a:ext uri="{FF2B5EF4-FFF2-40B4-BE49-F238E27FC236}">
                  <a16:creationId xmlns:a16="http://schemas.microsoft.com/office/drawing/2014/main" xmlns="" id="{8E602DAA-1238-1C04-77E1-7F42942C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1673"/>
              <a:ext cx="548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" name="Text Box 66">
              <a:extLst>
                <a:ext uri="{FF2B5EF4-FFF2-40B4-BE49-F238E27FC236}">
                  <a16:creationId xmlns:a16="http://schemas.microsoft.com/office/drawing/2014/main" xmlns="" id="{0C19AB4B-D269-EB8E-5158-13B741F15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" y="1706"/>
              <a:ext cx="143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Seq=100, 20 bytes of data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D93ADD50-8455-AADB-5095-B3E9D8186FFA}"/>
              </a:ext>
            </a:extLst>
          </p:cNvPr>
          <p:cNvGrpSpPr/>
          <p:nvPr/>
        </p:nvGrpSpPr>
        <p:grpSpPr>
          <a:xfrm>
            <a:off x="2030275" y="3250880"/>
            <a:ext cx="2324100" cy="1381125"/>
            <a:chOff x="2030275" y="3011037"/>
            <a:chExt cx="2324100" cy="1381125"/>
          </a:xfrm>
        </p:grpSpPr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xmlns="" id="{E1824F66-CA62-3B66-F790-6F799E0BE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162" y="3372987"/>
              <a:ext cx="3587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</a:t>
              </a:r>
            </a:p>
          </p:txBody>
        </p:sp>
        <p:sp>
          <p:nvSpPr>
            <p:cNvPr id="22" name="Line 37">
              <a:extLst>
                <a:ext uri="{FF2B5EF4-FFF2-40B4-BE49-F238E27FC236}">
                  <a16:creationId xmlns:a16="http://schemas.microsoft.com/office/drawing/2014/main" xmlns="" id="{C85662E3-5728-3DC1-A574-D7866935A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7687" y="3011037"/>
              <a:ext cx="1431925" cy="57308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" name="Group 46">
              <a:extLst>
                <a:ext uri="{FF2B5EF4-FFF2-40B4-BE49-F238E27FC236}">
                  <a16:creationId xmlns:a16="http://schemas.microsoft.com/office/drawing/2014/main" xmlns="" id="{22776AF6-7BEE-6F7D-CB43-5CAFA948CC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9912" y="3211062"/>
              <a:ext cx="949325" cy="304800"/>
              <a:chOff x="4215" y="2253"/>
              <a:chExt cx="598" cy="192"/>
            </a:xfrm>
          </p:grpSpPr>
          <p:sp>
            <p:nvSpPr>
              <p:cNvPr id="28" name="Rectangle 47">
                <a:extLst>
                  <a:ext uri="{FF2B5EF4-FFF2-40B4-BE49-F238E27FC236}">
                    <a16:creationId xmlns:a16="http://schemas.microsoft.com/office/drawing/2014/main" xmlns="" id="{693A5B72-EF9D-2228-0EE1-49B4A9E7B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9" name="Text Box 48">
                <a:extLst>
                  <a:ext uri="{FF2B5EF4-FFF2-40B4-BE49-F238E27FC236}">
                    <a16:creationId xmlns:a16="http://schemas.microsoft.com/office/drawing/2014/main" xmlns="" id="{FDFF8932-2C54-7B12-8692-5C9AE36367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ACK=100</a:t>
                </a: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" name="Line 67">
              <a:extLst>
                <a:ext uri="{FF2B5EF4-FFF2-40B4-BE49-F238E27FC236}">
                  <a16:creationId xmlns:a16="http://schemas.microsoft.com/office/drawing/2014/main" xmlns="" id="{E2948224-633D-8CEF-AAD9-0B11651DDA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0275" y="3366637"/>
              <a:ext cx="2324100" cy="10255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5" name="Group 68">
              <a:extLst>
                <a:ext uri="{FF2B5EF4-FFF2-40B4-BE49-F238E27FC236}">
                  <a16:creationId xmlns:a16="http://schemas.microsoft.com/office/drawing/2014/main" xmlns="" id="{306D93F6-9BEA-7CE8-44C4-F996C1D805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3212" y="3768274"/>
              <a:ext cx="949325" cy="304800"/>
              <a:chOff x="4215" y="2253"/>
              <a:chExt cx="598" cy="192"/>
            </a:xfrm>
          </p:grpSpPr>
          <p:sp>
            <p:nvSpPr>
              <p:cNvPr id="26" name="Rectangle 69">
                <a:extLst>
                  <a:ext uri="{FF2B5EF4-FFF2-40B4-BE49-F238E27FC236}">
                    <a16:creationId xmlns:a16="http://schemas.microsoft.com/office/drawing/2014/main" xmlns="" id="{91C73E0E-C11E-8D6C-4A68-06D4C4C92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" name="Text Box 70">
                <a:extLst>
                  <a:ext uri="{FF2B5EF4-FFF2-40B4-BE49-F238E27FC236}">
                    <a16:creationId xmlns:a16="http://schemas.microsoft.com/office/drawing/2014/main" xmlns="" id="{FB7F8A4F-4121-2370-43F9-CB79EE554E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ACK=120</a:t>
                </a: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30" name="Group 84">
            <a:extLst>
              <a:ext uri="{FF2B5EF4-FFF2-40B4-BE49-F238E27FC236}">
                <a16:creationId xmlns:a16="http://schemas.microsoft.com/office/drawing/2014/main" xmlns="" id="{1FBD5043-3EB4-F6F7-B9D6-53FC39170B0D}"/>
              </a:ext>
            </a:extLst>
          </p:cNvPr>
          <p:cNvGrpSpPr>
            <a:grpSpLocks/>
          </p:cNvGrpSpPr>
          <p:nvPr/>
        </p:nvGrpSpPr>
        <p:grpSpPr bwMode="auto">
          <a:xfrm>
            <a:off x="1598475" y="1709417"/>
            <a:ext cx="630237" cy="533400"/>
            <a:chOff x="-44" y="1473"/>
            <a:chExt cx="981" cy="1105"/>
          </a:xfrm>
        </p:grpSpPr>
        <p:pic>
          <p:nvPicPr>
            <p:cNvPr id="31" name="Picture 85" descr="desktop_computer_stylized_medium">
              <a:extLst>
                <a:ext uri="{FF2B5EF4-FFF2-40B4-BE49-F238E27FC236}">
                  <a16:creationId xmlns:a16="http://schemas.microsoft.com/office/drawing/2014/main" xmlns="" id="{78C26CBE-A29B-652B-70CA-683CBF827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86">
              <a:extLst>
                <a:ext uri="{FF2B5EF4-FFF2-40B4-BE49-F238E27FC236}">
                  <a16:creationId xmlns:a16="http://schemas.microsoft.com/office/drawing/2014/main" xmlns="" id="{64A8E7A9-ECCC-9E39-1DC3-7D2AA13EDE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87">
            <a:extLst>
              <a:ext uri="{FF2B5EF4-FFF2-40B4-BE49-F238E27FC236}">
                <a16:creationId xmlns:a16="http://schemas.microsoft.com/office/drawing/2014/main" xmlns="" id="{FA9FCE8E-709A-A17F-8AFD-19214411B0C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176575" y="1704655"/>
            <a:ext cx="674687" cy="590550"/>
            <a:chOff x="-44" y="1473"/>
            <a:chExt cx="981" cy="1105"/>
          </a:xfrm>
        </p:grpSpPr>
        <p:pic>
          <p:nvPicPr>
            <p:cNvPr id="34" name="Picture 88" descr="desktop_computer_stylized_medium">
              <a:extLst>
                <a:ext uri="{FF2B5EF4-FFF2-40B4-BE49-F238E27FC236}">
                  <a16:creationId xmlns:a16="http://schemas.microsoft.com/office/drawing/2014/main" xmlns="" id="{7DE1AE51-A2B8-7BFA-D61C-5710CAF140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xmlns="" id="{50DD3386-3C19-A1CA-6703-3B7E015B07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5EAA40A3-A551-E499-02EF-56B337B8F3D1}"/>
              </a:ext>
            </a:extLst>
          </p:cNvPr>
          <p:cNvSpPr txBox="1"/>
          <p:nvPr/>
        </p:nvSpPr>
        <p:spPr>
          <a:xfrm>
            <a:off x="6172062" y="3316257"/>
            <a:ext cx="3698599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intervals grow exponentially after</a:t>
            </a:r>
          </a:p>
          <a:p>
            <a:pPr algn="ctr">
              <a:lnSpc>
                <a:spcPct val="150000"/>
              </a:lnSpc>
            </a:pPr>
            <a:r>
              <a:rPr lang="en-IN" sz="18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retransmission.</a:t>
            </a:r>
            <a:endParaRPr lang="en-IN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0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CC6682-F619-3AB5-C636-B45AE519C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34FC8F2E-1CBB-8B74-4450-B1CD325DCEA9}"/>
              </a:ext>
            </a:extLst>
          </p:cNvPr>
          <p:cNvSpPr txBox="1">
            <a:spLocks noChangeArrowheads="1"/>
          </p:cNvSpPr>
          <p:nvPr/>
        </p:nvSpPr>
        <p:spPr>
          <a:xfrm>
            <a:off x="433466" y="60960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Fast  Retransmit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67BFA015-763E-E449-7F4F-B7956A01148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time-out period  often relatively long:</a:t>
            </a:r>
          </a:p>
          <a:p>
            <a:pPr lvl="1"/>
            <a:r>
              <a:rPr lang="en-US" altLang="en-US" sz="2000"/>
              <a:t>long delay before resending lost packet</a:t>
            </a:r>
          </a:p>
          <a:p>
            <a:r>
              <a:rPr lang="en-US" altLang="en-US"/>
              <a:t>detect lost segments via duplicate ACKs.</a:t>
            </a:r>
          </a:p>
          <a:p>
            <a:pPr lvl="1"/>
            <a:r>
              <a:rPr lang="en-US" altLang="en-US" sz="2000"/>
              <a:t>sender often sends many segments back-to-back</a:t>
            </a:r>
          </a:p>
          <a:p>
            <a:pPr lvl="1"/>
            <a:r>
              <a:rPr lang="en-US" altLang="en-US" sz="2000"/>
              <a:t>if segment is lost, there will likely be many duplicate ACKs for that segment</a:t>
            </a:r>
          </a:p>
          <a:p>
            <a:pPr lvl="1"/>
            <a:endParaRPr lang="en-US" altLang="en-US" sz="2000"/>
          </a:p>
          <a:p>
            <a:pPr lvl="1"/>
            <a:endParaRPr lang="en-US" altLang="en-US" sz="20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82FD8AF-BFCA-A5C3-5D90-466357BA9C43}"/>
              </a:ext>
            </a:extLst>
          </p:cNvPr>
          <p:cNvSpPr txBox="1">
            <a:spLocks noChangeArrowheads="1"/>
          </p:cNvSpPr>
          <p:nvPr/>
        </p:nvSpPr>
        <p:spPr>
          <a:xfrm>
            <a:off x="6019800" y="1600200"/>
            <a:ext cx="3962400" cy="4648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/>
              <a:t>If sender receives 3 ACKs for same data, it assumes that segment after ACKed data was lost:</a:t>
            </a:r>
          </a:p>
          <a:p>
            <a:pPr lvl="1"/>
            <a:r>
              <a:rPr lang="en-US" altLang="en-US" sz="2000" u="sng">
                <a:solidFill>
                  <a:srgbClr val="FF0000"/>
                </a:solidFill>
              </a:rPr>
              <a:t>fast retransmit: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  <a:r>
              <a:rPr lang="en-US" altLang="en-US" sz="2000"/>
              <a:t>resend segment before timer expires</a:t>
            </a:r>
          </a:p>
        </p:txBody>
      </p:sp>
    </p:spTree>
    <p:extLst>
      <p:ext uri="{BB962C8B-B14F-4D97-AF65-F5344CB8AC3E}">
        <p14:creationId xmlns:p14="http://schemas.microsoft.com/office/powerpoint/2010/main" val="2878584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CEC6CB-4C60-279D-E410-A630142D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xmlns="" id="{C46DDE0A-9307-5CB7-8A8F-1F57CCD60AE5}"/>
              </a:ext>
            </a:extLst>
          </p:cNvPr>
          <p:cNvSpPr txBox="1">
            <a:spLocks/>
          </p:cNvSpPr>
          <p:nvPr/>
        </p:nvSpPr>
        <p:spPr>
          <a:xfrm>
            <a:off x="347054" y="489184"/>
            <a:ext cx="8811936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IN" sz="4000" b="1" spc="-7" dirty="0">
                <a:latin typeface="Arial" panose="020B0604020202020204" pitchFamily="34" charset="0"/>
                <a:cs typeface="Arial" panose="020B0604020202020204" pitchFamily="34" charset="0"/>
              </a:rPr>
              <a:t>TCP </a:t>
            </a:r>
            <a:r>
              <a:rPr lang="en-IN" sz="4000" b="1" spc="-13" dirty="0">
                <a:latin typeface="Arial" panose="020B0604020202020204" pitchFamily="34" charset="0"/>
                <a:cs typeface="Arial" panose="020B0604020202020204" pitchFamily="34" charset="0"/>
              </a:rPr>
              <a:t>ACK </a:t>
            </a:r>
            <a:r>
              <a:rPr lang="en-IN" sz="4000" b="1" spc="-7" dirty="0">
                <a:latin typeface="Arial" panose="020B0604020202020204" pitchFamily="34" charset="0"/>
                <a:cs typeface="Arial" panose="020B0604020202020204" pitchFamily="34" charset="0"/>
              </a:rPr>
              <a:t>generation </a:t>
            </a:r>
            <a:r>
              <a:rPr lang="en-IN" sz="2000" b="1" spc="7" dirty="0">
                <a:latin typeface="Arial" panose="020B0604020202020204" pitchFamily="34" charset="0"/>
                <a:cs typeface="Arial" panose="020B0604020202020204" pitchFamily="34" charset="0"/>
              </a:rPr>
              <a:t>[RFC </a:t>
            </a:r>
            <a:r>
              <a:rPr lang="en-IN"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1122, </a:t>
            </a:r>
            <a:r>
              <a:rPr lang="en-IN" sz="2000" b="1" spc="7" dirty="0">
                <a:latin typeface="Arial" panose="020B0604020202020204" pitchFamily="34" charset="0"/>
                <a:cs typeface="Arial" panose="020B0604020202020204" pitchFamily="34" charset="0"/>
              </a:rPr>
              <a:t>RFC</a:t>
            </a:r>
            <a:r>
              <a:rPr lang="en-IN" sz="2000" b="1" spc="-18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2581]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xmlns="" id="{FC752138-3B9D-26AC-EFF8-17D795F2FBAB}"/>
              </a:ext>
            </a:extLst>
          </p:cNvPr>
          <p:cNvSpPr txBox="1">
            <a:spLocks/>
          </p:cNvSpPr>
          <p:nvPr/>
        </p:nvSpPr>
        <p:spPr>
          <a:xfrm>
            <a:off x="1480930" y="1652802"/>
            <a:ext cx="4227877" cy="468523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lang="en-US" spc="-7"/>
              <a:t>event at</a:t>
            </a:r>
            <a:r>
              <a:rPr lang="en-US" spc="-27"/>
              <a:t> </a:t>
            </a:r>
            <a:r>
              <a:rPr lang="en-US"/>
              <a:t>receiver</a:t>
            </a:r>
          </a:p>
          <a:p>
            <a:pPr marL="0" marR="6773" indent="0" algn="ctr">
              <a:lnSpc>
                <a:spcPct val="100000"/>
              </a:lnSpc>
              <a:spcBef>
                <a:spcPts val="2180"/>
              </a:spcBef>
              <a:buFont typeface="Arial" panose="020B0604020202020204" pitchFamily="34" charset="0"/>
              <a:buNone/>
            </a:pPr>
            <a:r>
              <a:rPr lang="en-US" sz="1800" spc="-7">
                <a:solidFill>
                  <a:srgbClr val="000000"/>
                </a:solidFill>
              </a:rPr>
              <a:t>arrival of in-order </a:t>
            </a:r>
            <a:r>
              <a:rPr lang="en-US" sz="1800">
                <a:solidFill>
                  <a:srgbClr val="000000"/>
                </a:solidFill>
              </a:rPr>
              <a:t>segment </a:t>
            </a:r>
            <a:r>
              <a:rPr lang="en-US" sz="1800" spc="-7">
                <a:solidFill>
                  <a:srgbClr val="000000"/>
                </a:solidFill>
              </a:rPr>
              <a:t>with  expected </a:t>
            </a:r>
            <a:r>
              <a:rPr lang="en-US" sz="1800">
                <a:solidFill>
                  <a:srgbClr val="000000"/>
                </a:solidFill>
              </a:rPr>
              <a:t>seq </a:t>
            </a:r>
            <a:r>
              <a:rPr lang="en-US" sz="1800" spc="-7">
                <a:solidFill>
                  <a:srgbClr val="000000"/>
                </a:solidFill>
              </a:rPr>
              <a:t>#. </a:t>
            </a:r>
            <a:r>
              <a:rPr lang="en-US" sz="1800" b="1" spc="-7">
                <a:highlight>
                  <a:srgbClr val="FFFF00"/>
                </a:highlight>
              </a:rPr>
              <a:t>All data up to  expected </a:t>
            </a:r>
            <a:r>
              <a:rPr lang="en-US" sz="1800" b="1">
                <a:highlight>
                  <a:srgbClr val="FFFF00"/>
                </a:highlight>
              </a:rPr>
              <a:t>seq # </a:t>
            </a:r>
            <a:r>
              <a:rPr lang="en-US" sz="1800" b="1" spc="-7">
                <a:highlight>
                  <a:srgbClr val="FFFF00"/>
                </a:highlight>
              </a:rPr>
              <a:t>already</a:t>
            </a:r>
            <a:r>
              <a:rPr lang="en-US" sz="1800" b="1" spc="-233">
                <a:highlight>
                  <a:srgbClr val="FFFF00"/>
                </a:highlight>
              </a:rPr>
              <a:t> </a:t>
            </a:r>
            <a:r>
              <a:rPr lang="en-US" sz="1800" b="1" spc="-7">
                <a:highlight>
                  <a:srgbClr val="FFFF00"/>
                </a:highlight>
              </a:rPr>
              <a:t>ACKed</a:t>
            </a:r>
            <a:endParaRPr lang="en-US" sz="1800" b="1">
              <a:highlight>
                <a:srgbClr val="FFFF00"/>
              </a:highlight>
            </a:endParaRPr>
          </a:p>
          <a:p>
            <a:pPr algn="ctr">
              <a:lnSpc>
                <a:spcPct val="100000"/>
              </a:lnSpc>
              <a:spcBef>
                <a:spcPts val="13"/>
              </a:spcBef>
            </a:pPr>
            <a:endParaRPr lang="en-US" sz="1867"/>
          </a:p>
          <a:p>
            <a:pPr marL="0" marR="6773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spc="-7">
                <a:solidFill>
                  <a:srgbClr val="000000"/>
                </a:solidFill>
              </a:rPr>
              <a:t>arrival of in-order </a:t>
            </a:r>
            <a:r>
              <a:rPr lang="en-US" sz="1800">
                <a:solidFill>
                  <a:srgbClr val="000000"/>
                </a:solidFill>
              </a:rPr>
              <a:t>segment </a:t>
            </a:r>
            <a:r>
              <a:rPr lang="en-US" sz="1800" spc="-7">
                <a:solidFill>
                  <a:srgbClr val="000000"/>
                </a:solidFill>
              </a:rPr>
              <a:t>with  expected </a:t>
            </a:r>
            <a:r>
              <a:rPr lang="en-US" sz="1800">
                <a:solidFill>
                  <a:srgbClr val="000000"/>
                </a:solidFill>
              </a:rPr>
              <a:t>seq </a:t>
            </a:r>
            <a:r>
              <a:rPr lang="en-US" sz="1800" spc="-7">
                <a:solidFill>
                  <a:srgbClr val="000000"/>
                </a:solidFill>
                <a:highlight>
                  <a:srgbClr val="FFFF00"/>
                </a:highlight>
              </a:rPr>
              <a:t>#. </a:t>
            </a:r>
            <a:r>
              <a:rPr lang="en-US" sz="1800" b="1" spc="-7">
                <a:solidFill>
                  <a:srgbClr val="000000"/>
                </a:solidFill>
                <a:highlight>
                  <a:srgbClr val="FFFF00"/>
                </a:highlight>
              </a:rPr>
              <a:t>One other  </a:t>
            </a:r>
            <a:r>
              <a:rPr lang="en-US" sz="1800" b="1">
                <a:solidFill>
                  <a:srgbClr val="000000"/>
                </a:solidFill>
                <a:highlight>
                  <a:srgbClr val="FFFF00"/>
                </a:highlight>
              </a:rPr>
              <a:t>segment </a:t>
            </a:r>
            <a:r>
              <a:rPr lang="en-US" sz="1800" b="1" spc="-7">
                <a:solidFill>
                  <a:srgbClr val="000000"/>
                </a:solidFill>
                <a:highlight>
                  <a:srgbClr val="FFFF00"/>
                </a:highlight>
              </a:rPr>
              <a:t>has ACK</a:t>
            </a:r>
            <a:r>
              <a:rPr lang="en-US" sz="1800" b="1" spc="-152">
                <a:solidFill>
                  <a:srgbClr val="000000"/>
                </a:solidFill>
                <a:highlight>
                  <a:srgbClr val="FFFF00"/>
                </a:highlight>
              </a:rPr>
              <a:t> </a:t>
            </a:r>
            <a:r>
              <a:rPr lang="en-US" sz="1800" b="1" spc="-7">
                <a:solidFill>
                  <a:srgbClr val="000000"/>
                </a:solidFill>
                <a:highlight>
                  <a:srgbClr val="FFFF00"/>
                </a:highlight>
              </a:rPr>
              <a:t>pending</a:t>
            </a:r>
            <a:endParaRPr lang="en-US" sz="1800" b="1">
              <a:highlight>
                <a:srgbClr val="FFFF00"/>
              </a:highlight>
            </a:endParaRPr>
          </a:p>
          <a:p>
            <a:pPr algn="ctr">
              <a:lnSpc>
                <a:spcPct val="100000"/>
              </a:lnSpc>
              <a:spcBef>
                <a:spcPts val="13"/>
              </a:spcBef>
            </a:pPr>
            <a:endParaRPr lang="en-US" sz="1867"/>
          </a:p>
          <a:p>
            <a:pPr marL="0" marR="69424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spc="-7">
                <a:solidFill>
                  <a:srgbClr val="000000"/>
                </a:solidFill>
              </a:rPr>
              <a:t>arrival of out-of-order </a:t>
            </a:r>
            <a:r>
              <a:rPr lang="en-US" sz="1800">
                <a:solidFill>
                  <a:srgbClr val="000000"/>
                </a:solidFill>
              </a:rPr>
              <a:t>segment  </a:t>
            </a:r>
            <a:r>
              <a:rPr lang="en-US" sz="1800" spc="-7">
                <a:solidFill>
                  <a:srgbClr val="000000"/>
                </a:solidFill>
              </a:rPr>
              <a:t>higher-than-expect </a:t>
            </a:r>
            <a:r>
              <a:rPr lang="en-US" sz="1800">
                <a:solidFill>
                  <a:srgbClr val="000000"/>
                </a:solidFill>
              </a:rPr>
              <a:t>seq. #</a:t>
            </a:r>
            <a:r>
              <a:rPr lang="en-US" sz="1800" spc="-60">
                <a:solidFill>
                  <a:srgbClr val="000000"/>
                </a:solidFill>
              </a:rPr>
              <a:t> </a:t>
            </a:r>
            <a:r>
              <a:rPr lang="en-US" sz="1800">
                <a:solidFill>
                  <a:srgbClr val="000000"/>
                </a:solidFill>
              </a:rPr>
              <a:t>.</a:t>
            </a:r>
            <a:r>
              <a:rPr lang="en-US" sz="1800" b="1" spc="-7">
                <a:solidFill>
                  <a:srgbClr val="000000"/>
                </a:solidFill>
                <a:highlight>
                  <a:srgbClr val="FFFF00"/>
                </a:highlight>
              </a:rPr>
              <a:t>Gap</a:t>
            </a:r>
            <a:r>
              <a:rPr lang="en-US" sz="1800" b="1" spc="-13">
                <a:solidFill>
                  <a:srgbClr val="000000"/>
                </a:solidFill>
                <a:highlight>
                  <a:srgbClr val="FFFF00"/>
                </a:highlight>
              </a:rPr>
              <a:t> </a:t>
            </a:r>
            <a:r>
              <a:rPr lang="en-US" sz="1800" b="1" spc="-7">
                <a:solidFill>
                  <a:srgbClr val="000000"/>
                </a:solidFill>
                <a:highlight>
                  <a:srgbClr val="FFFF00"/>
                </a:highlight>
              </a:rPr>
              <a:t>detected</a:t>
            </a:r>
            <a:endParaRPr lang="en-US" sz="1800" b="1">
              <a:highlight>
                <a:srgbClr val="FFFF00"/>
              </a:highlight>
            </a:endParaRPr>
          </a:p>
          <a:p>
            <a:pPr algn="ctr">
              <a:lnSpc>
                <a:spcPct val="100000"/>
              </a:lnSpc>
              <a:spcBef>
                <a:spcPts val="13"/>
              </a:spcBef>
            </a:pPr>
            <a:endParaRPr lang="en-US" sz="1867"/>
          </a:p>
          <a:p>
            <a:pPr marL="0" marR="96518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spc="-7">
                <a:solidFill>
                  <a:srgbClr val="000000"/>
                </a:solidFill>
              </a:rPr>
              <a:t>arrival of </a:t>
            </a:r>
            <a:r>
              <a:rPr lang="en-US" sz="1800">
                <a:solidFill>
                  <a:srgbClr val="000000"/>
                </a:solidFill>
              </a:rPr>
              <a:t>segment </a:t>
            </a:r>
            <a:r>
              <a:rPr lang="en-US" sz="1800" spc="-7">
                <a:solidFill>
                  <a:srgbClr val="000000"/>
                </a:solidFill>
              </a:rPr>
              <a:t>that  </a:t>
            </a:r>
            <a:r>
              <a:rPr lang="en-US" sz="1800" b="1" spc="-7">
                <a:solidFill>
                  <a:srgbClr val="000000"/>
                </a:solidFill>
                <a:highlight>
                  <a:srgbClr val="FFFF00"/>
                </a:highlight>
              </a:rPr>
              <a:t>partially or </a:t>
            </a:r>
            <a:r>
              <a:rPr lang="en-US" sz="1800" b="1">
                <a:solidFill>
                  <a:srgbClr val="000000"/>
                </a:solidFill>
                <a:highlight>
                  <a:srgbClr val="FFFF00"/>
                </a:highlight>
              </a:rPr>
              <a:t>completely </a:t>
            </a:r>
            <a:r>
              <a:rPr lang="en-US" sz="1800" b="1" spc="-7">
                <a:solidFill>
                  <a:srgbClr val="000000"/>
                </a:solidFill>
                <a:highlight>
                  <a:srgbClr val="FFFF00"/>
                </a:highlight>
              </a:rPr>
              <a:t>fills</a:t>
            </a:r>
            <a:r>
              <a:rPr lang="en-US" sz="1800" b="1" spc="-120">
                <a:solidFill>
                  <a:srgbClr val="000000"/>
                </a:solidFill>
                <a:highlight>
                  <a:srgbClr val="FFFF00"/>
                </a:highlight>
              </a:rPr>
              <a:t> </a:t>
            </a:r>
            <a:r>
              <a:rPr lang="en-US" sz="1800" b="1" spc="-7">
                <a:solidFill>
                  <a:srgbClr val="000000"/>
                </a:solidFill>
                <a:highlight>
                  <a:srgbClr val="FFFF00"/>
                </a:highlight>
              </a:rPr>
              <a:t>gap</a:t>
            </a:r>
            <a:endParaRPr lang="en-US" sz="1800" b="1" dirty="0">
              <a:highlight>
                <a:srgbClr val="FFFF00"/>
              </a:highlight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xmlns="" id="{25AAC144-049C-9892-C435-63812D8D2823}"/>
              </a:ext>
            </a:extLst>
          </p:cNvPr>
          <p:cNvSpPr txBox="1"/>
          <p:nvPr/>
        </p:nvSpPr>
        <p:spPr>
          <a:xfrm>
            <a:off x="6066631" y="1645821"/>
            <a:ext cx="3920067" cy="48747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i="1" spc="-7" dirty="0">
                <a:solidFill>
                  <a:srgbClr val="CC0000"/>
                </a:solidFill>
                <a:latin typeface="Arial"/>
                <a:cs typeface="Arial"/>
              </a:rPr>
              <a:t>TCP </a:t>
            </a:r>
            <a:r>
              <a:rPr sz="2400" i="1" dirty="0">
                <a:solidFill>
                  <a:srgbClr val="CC0000"/>
                </a:solidFill>
                <a:latin typeface="Arial"/>
                <a:cs typeface="Arial"/>
              </a:rPr>
              <a:t>receiver</a:t>
            </a:r>
            <a:r>
              <a:rPr sz="2400" i="1" spc="-113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i="1" spc="-7" dirty="0">
                <a:solidFill>
                  <a:srgbClr val="CC0000"/>
                </a:solidFill>
                <a:latin typeface="Arial"/>
                <a:cs typeface="Arial"/>
              </a:rPr>
              <a:t>action</a:t>
            </a:r>
            <a:endParaRPr sz="2400" dirty="0">
              <a:latin typeface="Arial"/>
              <a:cs typeface="Arial"/>
            </a:endParaRPr>
          </a:p>
          <a:p>
            <a:pPr marL="16933" algn="ctr">
              <a:spcBef>
                <a:spcPts val="2180"/>
              </a:spcBef>
            </a:pPr>
            <a:r>
              <a:rPr spc="-7" dirty="0">
                <a:latin typeface="Arial"/>
                <a:cs typeface="Arial"/>
              </a:rPr>
              <a:t>delayed ACK</a:t>
            </a:r>
            <a:r>
              <a:rPr b="1" spc="-7" dirty="0">
                <a:solidFill>
                  <a:srgbClr val="FF0000"/>
                </a:solidFill>
                <a:latin typeface="Arial"/>
                <a:cs typeface="Arial"/>
              </a:rPr>
              <a:t>. </a:t>
            </a:r>
            <a:r>
              <a:rPr b="1" spc="-27" dirty="0">
                <a:solidFill>
                  <a:srgbClr val="FF0000"/>
                </a:solidFill>
                <a:latin typeface="Arial"/>
                <a:cs typeface="Arial"/>
              </a:rPr>
              <a:t>Wait </a:t>
            </a:r>
            <a:r>
              <a:rPr b="1" spc="-7" dirty="0">
                <a:solidFill>
                  <a:srgbClr val="FF0000"/>
                </a:solidFill>
                <a:latin typeface="Arial"/>
                <a:cs typeface="Arial"/>
              </a:rPr>
              <a:t>up to</a:t>
            </a:r>
            <a:r>
              <a:rPr b="1" spc="-1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-7" dirty="0">
                <a:solidFill>
                  <a:srgbClr val="FF0000"/>
                </a:solidFill>
                <a:latin typeface="Arial"/>
                <a:cs typeface="Arial"/>
              </a:rPr>
              <a:t>500ms</a:t>
            </a:r>
            <a:endParaRPr b="1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6933" marR="121917" algn="ctr"/>
            <a:r>
              <a:rPr spc="-7" dirty="0">
                <a:latin typeface="Arial"/>
                <a:cs typeface="Arial"/>
              </a:rPr>
              <a:t>for next </a:t>
            </a:r>
            <a:r>
              <a:rPr dirty="0">
                <a:latin typeface="Arial"/>
                <a:cs typeface="Arial"/>
              </a:rPr>
              <a:t>segment. </a:t>
            </a:r>
            <a:r>
              <a:rPr spc="-7" dirty="0">
                <a:latin typeface="Arial"/>
                <a:cs typeface="Arial"/>
              </a:rPr>
              <a:t>If no next</a:t>
            </a:r>
            <a:r>
              <a:rPr spc="-1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segment,  send</a:t>
            </a:r>
            <a:r>
              <a:rPr spc="-113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ACK</a:t>
            </a:r>
            <a:endParaRPr dirty="0">
              <a:latin typeface="Arial"/>
              <a:cs typeface="Arial"/>
            </a:endParaRPr>
          </a:p>
          <a:p>
            <a:pPr algn="ctr">
              <a:spcBef>
                <a:spcPts val="13"/>
              </a:spcBef>
            </a:pPr>
            <a:endParaRPr sz="1867" dirty="0">
              <a:latin typeface="Arial"/>
              <a:cs typeface="Arial"/>
            </a:endParaRPr>
          </a:p>
          <a:p>
            <a:pPr marL="16933" marR="124457" algn="ctr"/>
            <a:r>
              <a:rPr spc="-7" dirty="0">
                <a:latin typeface="Arial"/>
                <a:cs typeface="Arial"/>
              </a:rPr>
              <a:t>immediately </a:t>
            </a:r>
            <a:r>
              <a:rPr dirty="0">
                <a:latin typeface="Arial"/>
                <a:cs typeface="Arial"/>
              </a:rPr>
              <a:t>send </a:t>
            </a:r>
            <a:r>
              <a:rPr b="1" dirty="0">
                <a:solidFill>
                  <a:srgbClr val="FF0000"/>
                </a:solidFill>
                <a:latin typeface="Arial"/>
                <a:cs typeface="Arial"/>
              </a:rPr>
              <a:t>single cumulative  </a:t>
            </a:r>
            <a:r>
              <a:rPr b="1" spc="-7" dirty="0">
                <a:solidFill>
                  <a:srgbClr val="FF0000"/>
                </a:solidFill>
                <a:latin typeface="Arial"/>
                <a:cs typeface="Arial"/>
              </a:rPr>
              <a:t>ACK</a:t>
            </a:r>
            <a:r>
              <a:rPr spc="-7" dirty="0">
                <a:latin typeface="Arial"/>
                <a:cs typeface="Arial"/>
              </a:rPr>
              <a:t>, ACKing both in-order</a:t>
            </a:r>
            <a:r>
              <a:rPr spc="-2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segments</a:t>
            </a:r>
          </a:p>
          <a:p>
            <a:pPr algn="ctr"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algn="ctr">
              <a:spcBef>
                <a:spcPts val="27"/>
              </a:spcBef>
            </a:pPr>
            <a:endParaRPr sz="1733" dirty="0">
              <a:latin typeface="Arial"/>
              <a:cs typeface="Arial"/>
            </a:endParaRPr>
          </a:p>
          <a:p>
            <a:pPr marL="16933" marR="6773" algn="ctr"/>
            <a:r>
              <a:rPr spc="-7" dirty="0">
                <a:latin typeface="Arial"/>
                <a:cs typeface="Arial"/>
              </a:rPr>
              <a:t>immediately </a:t>
            </a:r>
            <a:r>
              <a:rPr dirty="0">
                <a:latin typeface="Arial"/>
                <a:cs typeface="Arial"/>
              </a:rPr>
              <a:t>send </a:t>
            </a:r>
            <a:r>
              <a:rPr b="1" spc="-7" dirty="0">
                <a:solidFill>
                  <a:srgbClr val="FF0000"/>
                </a:solidFill>
                <a:latin typeface="Arial"/>
                <a:cs typeface="Arial"/>
              </a:rPr>
              <a:t>duplicate ACK,</a:t>
            </a:r>
            <a:r>
              <a:rPr spc="-7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pc="-7" dirty="0">
                <a:latin typeface="Arial"/>
                <a:cs typeface="Arial"/>
              </a:rPr>
              <a:t>indicating </a:t>
            </a:r>
            <a:r>
              <a:rPr dirty="0">
                <a:latin typeface="Arial"/>
                <a:cs typeface="Arial"/>
              </a:rPr>
              <a:t>seq. # </a:t>
            </a:r>
            <a:r>
              <a:rPr spc="-7" dirty="0">
                <a:latin typeface="Arial"/>
                <a:cs typeface="Arial"/>
              </a:rPr>
              <a:t>of next expected</a:t>
            </a:r>
            <a:r>
              <a:rPr spc="-12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byte</a:t>
            </a:r>
            <a:endParaRPr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algn="ctr">
              <a:spcBef>
                <a:spcPts val="27"/>
              </a:spcBef>
            </a:pPr>
            <a:endParaRPr sz="1733" dirty="0">
              <a:latin typeface="Arial"/>
              <a:cs typeface="Arial"/>
            </a:endParaRPr>
          </a:p>
          <a:p>
            <a:pPr marL="16933" marR="313259" algn="ctr"/>
            <a:r>
              <a:rPr spc="-7" dirty="0">
                <a:latin typeface="Arial"/>
                <a:cs typeface="Arial"/>
              </a:rPr>
              <a:t>immediate </a:t>
            </a:r>
            <a:r>
              <a:rPr b="1" dirty="0">
                <a:solidFill>
                  <a:srgbClr val="FF0000"/>
                </a:solidFill>
                <a:latin typeface="Arial"/>
                <a:cs typeface="Arial"/>
              </a:rPr>
              <a:t>send </a:t>
            </a:r>
            <a:r>
              <a:rPr b="1" spc="-7" dirty="0">
                <a:solidFill>
                  <a:srgbClr val="FF0000"/>
                </a:solidFill>
                <a:latin typeface="Arial"/>
                <a:cs typeface="Arial"/>
              </a:rPr>
              <a:t>ACK</a:t>
            </a:r>
            <a:r>
              <a:rPr spc="-7" dirty="0">
                <a:latin typeface="Arial"/>
                <a:cs typeface="Arial"/>
              </a:rPr>
              <a:t>, provided</a:t>
            </a:r>
            <a:r>
              <a:rPr spc="-220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that  </a:t>
            </a:r>
            <a:r>
              <a:rPr dirty="0">
                <a:latin typeface="Arial"/>
                <a:cs typeface="Arial"/>
              </a:rPr>
              <a:t>segment starts </a:t>
            </a:r>
            <a:r>
              <a:rPr spc="-7" dirty="0">
                <a:latin typeface="Arial"/>
                <a:cs typeface="Arial"/>
              </a:rPr>
              <a:t>at lower end of</a:t>
            </a:r>
            <a:r>
              <a:rPr spc="-107" dirty="0">
                <a:latin typeface="Arial"/>
                <a:cs typeface="Arial"/>
              </a:rPr>
              <a:t> </a:t>
            </a:r>
            <a:r>
              <a:rPr spc="-7" dirty="0">
                <a:latin typeface="Arial"/>
                <a:cs typeface="Arial"/>
              </a:rPr>
              <a:t>gap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xmlns="" id="{D28A0C3C-42DC-35F7-C0B2-77ED88C07C36}"/>
              </a:ext>
            </a:extLst>
          </p:cNvPr>
          <p:cNvSpPr/>
          <p:nvPr/>
        </p:nvSpPr>
        <p:spPr>
          <a:xfrm>
            <a:off x="2181222" y="1810525"/>
            <a:ext cx="7512473" cy="4353560"/>
          </a:xfrm>
          <a:custGeom>
            <a:avLst/>
            <a:gdLst/>
            <a:ahLst/>
            <a:cxnLst/>
            <a:rect l="l" t="t" r="r" b="b"/>
            <a:pathLst>
              <a:path w="5634355" h="3265170">
                <a:moveTo>
                  <a:pt x="2678914" y="0"/>
                </a:moveTo>
                <a:lnTo>
                  <a:pt x="2678914" y="3264685"/>
                </a:lnTo>
              </a:path>
              <a:path w="5634355" h="3265170">
                <a:moveTo>
                  <a:pt x="11907" y="329801"/>
                </a:moveTo>
                <a:lnTo>
                  <a:pt x="5632833" y="329801"/>
                </a:lnTo>
              </a:path>
              <a:path w="5634355" h="3265170">
                <a:moveTo>
                  <a:pt x="0" y="1120375"/>
                </a:moveTo>
                <a:lnTo>
                  <a:pt x="5620933" y="1120375"/>
                </a:lnTo>
              </a:path>
              <a:path w="5634355" h="3265170">
                <a:moveTo>
                  <a:pt x="13099" y="1944288"/>
                </a:moveTo>
                <a:lnTo>
                  <a:pt x="5634033" y="1944288"/>
                </a:lnTo>
              </a:path>
              <a:path w="5634355" h="3265170">
                <a:moveTo>
                  <a:pt x="8337" y="2761061"/>
                </a:moveTo>
                <a:lnTo>
                  <a:pt x="5629258" y="2761061"/>
                </a:lnTo>
              </a:path>
            </a:pathLst>
          </a:custGeom>
          <a:ln w="28574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44947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D76E3D-A9FD-B7C9-850F-CB81F2F7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6985ED-0F1B-FAAA-A063-595B1DBA9DF7}"/>
              </a:ext>
            </a:extLst>
          </p:cNvPr>
          <p:cNvSpPr txBox="1">
            <a:spLocks/>
          </p:cNvSpPr>
          <p:nvPr/>
        </p:nvSpPr>
        <p:spPr>
          <a:xfrm>
            <a:off x="399345" y="574138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TCP fast retransmit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Line 10">
            <a:extLst>
              <a:ext uri="{FF2B5EF4-FFF2-40B4-BE49-F238E27FC236}">
                <a16:creationId xmlns:a16="http://schemas.microsoft.com/office/drawing/2014/main" xmlns="" id="{2F41225F-15E8-9E5C-360D-96482067AE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7906" y="2212828"/>
            <a:ext cx="0" cy="441347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" name="Line 11">
            <a:extLst>
              <a:ext uri="{FF2B5EF4-FFF2-40B4-BE49-F238E27FC236}">
                <a16:creationId xmlns:a16="http://schemas.microsoft.com/office/drawing/2014/main" xmlns="" id="{19D7A82F-9C57-263D-0B14-8AF2321E5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5173" y="2301282"/>
            <a:ext cx="14666" cy="43250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xmlns="" id="{9F4F4BC0-359A-56FF-898A-59A606C8D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0991" y="1329972"/>
            <a:ext cx="1069083" cy="39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6" name="Text Box 38">
            <a:extLst>
              <a:ext uri="{FF2B5EF4-FFF2-40B4-BE49-F238E27FC236}">
                <a16:creationId xmlns:a16="http://schemas.microsoft.com/office/drawing/2014/main" xmlns="" id="{23EEF476-6A40-1592-167F-C9C1BB104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3982" y="1350243"/>
            <a:ext cx="1073474" cy="39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A</a:t>
            </a:r>
          </a:p>
        </p:txBody>
      </p:sp>
      <p:grpSp>
        <p:nvGrpSpPr>
          <p:cNvPr id="7" name="Group 78">
            <a:extLst>
              <a:ext uri="{FF2B5EF4-FFF2-40B4-BE49-F238E27FC236}">
                <a16:creationId xmlns:a16="http://schemas.microsoft.com/office/drawing/2014/main" xmlns="" id="{9FD30F86-FDE8-FBF6-6271-AC22B0F3D833}"/>
              </a:ext>
            </a:extLst>
          </p:cNvPr>
          <p:cNvGrpSpPr>
            <a:grpSpLocks/>
          </p:cNvGrpSpPr>
          <p:nvPr/>
        </p:nvGrpSpPr>
        <p:grpSpPr bwMode="auto">
          <a:xfrm>
            <a:off x="6206658" y="2535315"/>
            <a:ext cx="548811" cy="4090987"/>
            <a:chOff x="397" y="868"/>
            <a:chExt cx="250" cy="2220"/>
          </a:xfrm>
        </p:grpSpPr>
        <p:sp>
          <p:nvSpPr>
            <p:cNvPr id="8" name="Text Box 50">
              <a:extLst>
                <a:ext uri="{FF2B5EF4-FFF2-40B4-BE49-F238E27FC236}">
                  <a16:creationId xmlns:a16="http://schemas.microsoft.com/office/drawing/2014/main" xmlns="" id="{32EAB590-F9CF-7AA5-6BB8-EA6D69F2E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397" y="1778"/>
              <a:ext cx="250" cy="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xmlns="" id="{DD754900-885A-7DFA-D103-79BFAEF86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" y="868"/>
              <a:ext cx="66" cy="893"/>
              <a:chOff x="3099" y="1749"/>
              <a:chExt cx="66" cy="320"/>
            </a:xfrm>
          </p:grpSpPr>
          <p:sp>
            <p:nvSpPr>
              <p:cNvPr id="13" name="Line 52">
                <a:extLst>
                  <a:ext uri="{FF2B5EF4-FFF2-40B4-BE49-F238E27FC236}">
                    <a16:creationId xmlns:a16="http://schemas.microsoft.com/office/drawing/2014/main" xmlns="" id="{15EDE0DC-8D76-93FA-D7F0-C1A74891E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" name="Line 53">
                <a:extLst>
                  <a:ext uri="{FF2B5EF4-FFF2-40B4-BE49-F238E27FC236}">
                    <a16:creationId xmlns:a16="http://schemas.microsoft.com/office/drawing/2014/main" xmlns="" id="{C85024B0-70D2-689F-D325-79F473D7D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0" name="Group 54">
              <a:extLst>
                <a:ext uri="{FF2B5EF4-FFF2-40B4-BE49-F238E27FC236}">
                  <a16:creationId xmlns:a16="http://schemas.microsoft.com/office/drawing/2014/main" xmlns="" id="{D8B86D8E-CA81-4F3B-B399-2CE594DC5226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485" y="2224"/>
              <a:ext cx="66" cy="864"/>
              <a:chOff x="3099" y="1749"/>
              <a:chExt cx="66" cy="320"/>
            </a:xfrm>
          </p:grpSpPr>
          <p:sp>
            <p:nvSpPr>
              <p:cNvPr id="11" name="Line 55">
                <a:extLst>
                  <a:ext uri="{FF2B5EF4-FFF2-40B4-BE49-F238E27FC236}">
                    <a16:creationId xmlns:a16="http://schemas.microsoft.com/office/drawing/2014/main" xmlns="" id="{30FB1DE7-163A-4531-41F1-3255F09F9C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2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" name="Line 56">
                <a:extLst>
                  <a:ext uri="{FF2B5EF4-FFF2-40B4-BE49-F238E27FC236}">
                    <a16:creationId xmlns:a16="http://schemas.microsoft.com/office/drawing/2014/main" xmlns="" id="{2BF70078-1339-9B90-C3CB-71B57C3F06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1752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A369FFCD-F135-0BD3-345A-23689750218A}"/>
              </a:ext>
            </a:extLst>
          </p:cNvPr>
          <p:cNvGrpSpPr/>
          <p:nvPr/>
        </p:nvGrpSpPr>
        <p:grpSpPr>
          <a:xfrm>
            <a:off x="6613954" y="3287919"/>
            <a:ext cx="3612455" cy="2092660"/>
            <a:chOff x="7013299" y="3003106"/>
            <a:chExt cx="3612455" cy="2092660"/>
          </a:xfrm>
        </p:grpSpPr>
        <p:sp>
          <p:nvSpPr>
            <p:cNvPr id="16" name="Line 12">
              <a:extLst>
                <a:ext uri="{FF2B5EF4-FFF2-40B4-BE49-F238E27FC236}">
                  <a16:creationId xmlns:a16="http://schemas.microsoft.com/office/drawing/2014/main" xmlns="" id="{AAA94AC4-1F56-BA36-D7E2-887D0ED2A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4339" y="3003106"/>
              <a:ext cx="3483853" cy="939821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xmlns="" id="{A90885E8-BC32-8663-11CF-A4277D2DD5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6535" y="3495131"/>
              <a:ext cx="3499219" cy="96377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xmlns="" id="{3A96FA59-E638-DBB4-F0B2-33A840C89D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37252" y="3785544"/>
              <a:ext cx="3466289" cy="103011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xmlns="" id="{288F569F-9FD7-66BC-14E4-A623896102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37252" y="4050906"/>
              <a:ext cx="3450923" cy="104486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" name="Text Box 43">
              <a:extLst>
                <a:ext uri="{FF2B5EF4-FFF2-40B4-BE49-F238E27FC236}">
                  <a16:creationId xmlns:a16="http://schemas.microsoft.com/office/drawing/2014/main" xmlns="" id="{595CF7A5-F857-0B58-AD37-54CF9FB2B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736981">
              <a:off x="7013299" y="3540991"/>
              <a:ext cx="1312756" cy="353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ACK=100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  <p:sp>
          <p:nvSpPr>
            <p:cNvPr id="21" name="Text Box 67">
              <a:extLst>
                <a:ext uri="{FF2B5EF4-FFF2-40B4-BE49-F238E27FC236}">
                  <a16:creationId xmlns:a16="http://schemas.microsoft.com/office/drawing/2014/main" xmlns="" id="{4607BD8E-92F6-D78F-2907-4D7C455FD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635106">
              <a:off x="7025762" y="4030047"/>
              <a:ext cx="1312756" cy="353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ACK=100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  <p:sp>
          <p:nvSpPr>
            <p:cNvPr id="22" name="Text Box 74">
              <a:extLst>
                <a:ext uri="{FF2B5EF4-FFF2-40B4-BE49-F238E27FC236}">
                  <a16:creationId xmlns:a16="http://schemas.microsoft.com/office/drawing/2014/main" xmlns="" id="{031CA292-4EED-6122-5E5D-9E00DCCDE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657108">
              <a:off x="7017491" y="4400415"/>
              <a:ext cx="1312756" cy="353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ACK=100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  <p:sp>
          <p:nvSpPr>
            <p:cNvPr id="23" name="Text Box 77">
              <a:extLst>
                <a:ext uri="{FF2B5EF4-FFF2-40B4-BE49-F238E27FC236}">
                  <a16:creationId xmlns:a16="http://schemas.microsoft.com/office/drawing/2014/main" xmlns="" id="{B205FCC9-81A1-1DC1-8706-6E806960D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628354">
              <a:off x="7020313" y="4687228"/>
              <a:ext cx="1312756" cy="353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ACK=100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" name="Rectangle 84">
            <a:extLst>
              <a:ext uri="{FF2B5EF4-FFF2-40B4-BE49-F238E27FC236}">
                <a16:creationId xmlns:a16="http://schemas.microsoft.com/office/drawing/2014/main" xmlns="" id="{FDFF3540-7A8C-AABC-12EE-8142E4220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460" y="2848589"/>
            <a:ext cx="1047131" cy="2616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5EBCFC12-9FE6-4EBC-0A12-673115C3015D}"/>
              </a:ext>
            </a:extLst>
          </p:cNvPr>
          <p:cNvGrpSpPr/>
          <p:nvPr/>
        </p:nvGrpSpPr>
        <p:grpSpPr>
          <a:xfrm>
            <a:off x="6737907" y="2503864"/>
            <a:ext cx="3503609" cy="1809741"/>
            <a:chOff x="7137252" y="2219051"/>
            <a:chExt cx="3503609" cy="1809741"/>
          </a:xfrm>
        </p:grpSpPr>
        <p:sp>
          <p:nvSpPr>
            <p:cNvPr id="26" name="Line 3">
              <a:extLst>
                <a:ext uri="{FF2B5EF4-FFF2-40B4-BE49-F238E27FC236}">
                  <a16:creationId xmlns:a16="http://schemas.microsoft.com/office/drawing/2014/main" xmlns="" id="{F64FC7FE-BC09-BF3E-AA2A-2B905B5BA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7252" y="2281830"/>
              <a:ext cx="3503609" cy="68551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xmlns="" id="{81B52E0C-7643-1EF7-E792-BFE999809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7252" y="2547191"/>
              <a:ext cx="2430134" cy="48096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" name="Line 14">
              <a:extLst>
                <a:ext uri="{FF2B5EF4-FFF2-40B4-BE49-F238E27FC236}">
                  <a16:creationId xmlns:a16="http://schemas.microsoft.com/office/drawing/2014/main" xmlns="" id="{E72321A9-592D-1849-BE01-7F16F0E1A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7252" y="2812553"/>
              <a:ext cx="3503609" cy="68551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xmlns="" id="{3FA32E1E-8702-E27E-0427-70CBD5402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7252" y="3343275"/>
              <a:ext cx="3503609" cy="68551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xmlns="" id="{43551CC3-74A9-A244-DD26-D4569A2D1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7252" y="3077914"/>
              <a:ext cx="3503609" cy="68551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" name="Text Box 20">
              <a:extLst>
                <a:ext uri="{FF2B5EF4-FFF2-40B4-BE49-F238E27FC236}">
                  <a16:creationId xmlns:a16="http://schemas.microsoft.com/office/drawing/2014/main" xmlns="" id="{C54EAF61-4D61-F62F-D55F-BBFF2AFFA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51039" y="2740684"/>
              <a:ext cx="390753" cy="5307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X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  <p:sp>
          <p:nvSpPr>
            <p:cNvPr id="32" name="Text Box 40">
              <a:extLst>
                <a:ext uri="{FF2B5EF4-FFF2-40B4-BE49-F238E27FC236}">
                  <a16:creationId xmlns:a16="http://schemas.microsoft.com/office/drawing/2014/main" xmlns="" id="{50EEFC28-2F6E-BC4F-16FF-FE2E3F8C7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84648">
              <a:off x="7273253" y="2219051"/>
              <a:ext cx="2122193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Seq=92, 8 bytes of data</a:t>
              </a:r>
            </a:p>
          </p:txBody>
        </p:sp>
        <p:sp>
          <p:nvSpPr>
            <p:cNvPr id="33" name="Text Box 83">
              <a:extLst>
                <a:ext uri="{FF2B5EF4-FFF2-40B4-BE49-F238E27FC236}">
                  <a16:creationId xmlns:a16="http://schemas.microsoft.com/office/drawing/2014/main" xmlns="" id="{21660751-38E9-C96B-77F3-37703F60E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65764">
              <a:off x="7287508" y="2545419"/>
              <a:ext cx="231369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Seq=100, 20 bytes of data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B309F146-C519-A845-0C41-13F295776C14}"/>
              </a:ext>
            </a:extLst>
          </p:cNvPr>
          <p:cNvGrpSpPr/>
          <p:nvPr/>
        </p:nvGrpSpPr>
        <p:grpSpPr>
          <a:xfrm>
            <a:off x="6443091" y="5417398"/>
            <a:ext cx="3833549" cy="696610"/>
            <a:chOff x="6842436" y="5132585"/>
            <a:chExt cx="3833549" cy="696610"/>
          </a:xfrm>
        </p:grpSpPr>
        <p:sp>
          <p:nvSpPr>
            <p:cNvPr id="35" name="Line 24">
              <a:extLst>
                <a:ext uri="{FF2B5EF4-FFF2-40B4-BE49-F238E27FC236}">
                  <a16:creationId xmlns:a16="http://schemas.microsoft.com/office/drawing/2014/main" xmlns="" id="{7E163C99-0D17-5DD5-BD15-504E5CBD1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2376" y="5143678"/>
              <a:ext cx="3503609" cy="68551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" name="Rectangle 85">
              <a:extLst>
                <a:ext uri="{FF2B5EF4-FFF2-40B4-BE49-F238E27FC236}">
                  <a16:creationId xmlns:a16="http://schemas.microsoft.com/office/drawing/2014/main" xmlns="" id="{09C8DD60-C0E9-CECB-2C9D-D4FD7D76E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8171" y="5224724"/>
              <a:ext cx="1047131" cy="2616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" name="Text Box 86">
              <a:extLst>
                <a:ext uri="{FF2B5EF4-FFF2-40B4-BE49-F238E27FC236}">
                  <a16:creationId xmlns:a16="http://schemas.microsoft.com/office/drawing/2014/main" xmlns="" id="{C988603E-C1C6-5FA9-6179-B4E73E69C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2436" y="5132585"/>
              <a:ext cx="3154565" cy="353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Seq=100, 20 bytes of data</a:t>
              </a:r>
            </a:p>
          </p:txBody>
        </p:sp>
      </p:grpSp>
      <p:grpSp>
        <p:nvGrpSpPr>
          <p:cNvPr id="38" name="Group 93">
            <a:extLst>
              <a:ext uri="{FF2B5EF4-FFF2-40B4-BE49-F238E27FC236}">
                <a16:creationId xmlns:a16="http://schemas.microsoft.com/office/drawing/2014/main" xmlns="" id="{5415C4F0-5EC5-3DDC-36BC-090722492EC1}"/>
              </a:ext>
            </a:extLst>
          </p:cNvPr>
          <p:cNvGrpSpPr>
            <a:grpSpLocks/>
          </p:cNvGrpSpPr>
          <p:nvPr/>
        </p:nvGrpSpPr>
        <p:grpSpPr bwMode="auto">
          <a:xfrm>
            <a:off x="6208853" y="1628503"/>
            <a:ext cx="810044" cy="619176"/>
            <a:chOff x="-44" y="1473"/>
            <a:chExt cx="981" cy="1105"/>
          </a:xfrm>
        </p:grpSpPr>
        <p:pic>
          <p:nvPicPr>
            <p:cNvPr id="39" name="Picture 94" descr="desktop_computer_stylized_medium">
              <a:extLst>
                <a:ext uri="{FF2B5EF4-FFF2-40B4-BE49-F238E27FC236}">
                  <a16:creationId xmlns:a16="http://schemas.microsoft.com/office/drawing/2014/main" xmlns="" id="{6C781107-DF65-9F6C-0008-9A62498F56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Freeform 95">
              <a:extLst>
                <a:ext uri="{FF2B5EF4-FFF2-40B4-BE49-F238E27FC236}">
                  <a16:creationId xmlns:a16="http://schemas.microsoft.com/office/drawing/2014/main" xmlns="" id="{B3FF002D-6F7F-C806-E7C3-BD914D70791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" name="Group 96">
            <a:extLst>
              <a:ext uri="{FF2B5EF4-FFF2-40B4-BE49-F238E27FC236}">
                <a16:creationId xmlns:a16="http://schemas.microsoft.com/office/drawing/2014/main" xmlns="" id="{F71AD3E8-BE43-76F2-FA45-DB8C0CEDF32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29275" y="1659831"/>
            <a:ext cx="749093" cy="672617"/>
            <a:chOff x="-44" y="1473"/>
            <a:chExt cx="981" cy="1105"/>
          </a:xfrm>
        </p:grpSpPr>
        <p:pic>
          <p:nvPicPr>
            <p:cNvPr id="42" name="Picture 97" descr="desktop_computer_stylized_medium">
              <a:extLst>
                <a:ext uri="{FF2B5EF4-FFF2-40B4-BE49-F238E27FC236}">
                  <a16:creationId xmlns:a16="http://schemas.microsoft.com/office/drawing/2014/main" xmlns="" id="{6094613C-B5F7-56F8-FFBB-AF0A5ADBD6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Freeform 98">
              <a:extLst>
                <a:ext uri="{FF2B5EF4-FFF2-40B4-BE49-F238E27FC236}">
                  <a16:creationId xmlns:a16="http://schemas.microsoft.com/office/drawing/2014/main" xmlns="" id="{F0D4C90B-D1B1-C007-073D-AC20E874E7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3B0F812E-6D76-5A76-8FDC-4481FDB9933F}"/>
              </a:ext>
            </a:extLst>
          </p:cNvPr>
          <p:cNvGrpSpPr/>
          <p:nvPr/>
        </p:nvGrpSpPr>
        <p:grpSpPr>
          <a:xfrm>
            <a:off x="1404055" y="4875863"/>
            <a:ext cx="5319534" cy="1606314"/>
            <a:chOff x="1803400" y="4591050"/>
            <a:chExt cx="5319534" cy="1606314"/>
          </a:xfrm>
        </p:grpSpPr>
        <p:pic>
          <p:nvPicPr>
            <p:cNvPr id="45" name="Picture 2" descr="Image result for light bulb icon">
              <a:extLst>
                <a:ext uri="{FF2B5EF4-FFF2-40B4-BE49-F238E27FC236}">
                  <a16:creationId xmlns:a16="http://schemas.microsoft.com/office/drawing/2014/main" xmlns="" id="{06CDB64A-0885-8C57-6819-13FECCA2F9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3400" y="4591050"/>
              <a:ext cx="819150" cy="819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 Box 29">
              <a:extLst>
                <a:ext uri="{FF2B5EF4-FFF2-40B4-BE49-F238E27FC236}">
                  <a16:creationId xmlns:a16="http://schemas.microsoft.com/office/drawing/2014/main" xmlns="" id="{DA6C4D83-9DD7-DC1D-65D0-6026DB653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5200" y="4775436"/>
              <a:ext cx="4145527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Receipt of three duplicate ACKs indicates 3 segments received after a missing segment – lost segment is likely. So retransmit!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xmlns="" id="{0A69090B-A62E-047C-5697-F4A47B8BFDD8}"/>
                </a:ext>
              </a:extLst>
            </p:cNvPr>
            <p:cNvCxnSpPr>
              <a:cxnSpLocks/>
            </p:cNvCxnSpPr>
            <p:nvPr/>
          </p:nvCxnSpPr>
          <p:spPr>
            <a:xfrm>
              <a:off x="6359939" y="5143678"/>
              <a:ext cx="762995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3AD247A0-9CDF-B873-625B-5256D6262DB1}"/>
              </a:ext>
            </a:extLst>
          </p:cNvPr>
          <p:cNvGrpSpPr/>
          <p:nvPr/>
        </p:nvGrpSpPr>
        <p:grpSpPr>
          <a:xfrm>
            <a:off x="391366" y="1512348"/>
            <a:ext cx="5214977" cy="2878929"/>
            <a:chOff x="7089911" y="1681505"/>
            <a:chExt cx="5214977" cy="2878929"/>
          </a:xfrm>
        </p:grpSpPr>
        <p:sp>
          <p:nvSpPr>
            <p:cNvPr id="49" name="Rectangle 5">
              <a:extLst>
                <a:ext uri="{FF2B5EF4-FFF2-40B4-BE49-F238E27FC236}">
                  <a16:creationId xmlns:a16="http://schemas.microsoft.com/office/drawing/2014/main" xmlns="" id="{4044A75A-A0E0-3B3B-9A1D-E14CF74B7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0355" y="2207758"/>
              <a:ext cx="4809067" cy="2263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463550" indent="-238125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Pct val="65000"/>
                <a:buFont typeface="Wingdings" pitchFamily="2" charset="2"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if sender receives 3 additional ACKs for same data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triple duplicate ACKs”),</a:t>
              </a: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resend </a:t>
              </a:r>
              <a:r>
                <a:rPr kumimoji="0" lang="en-US" altLang="ja-JP" sz="2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unACKed</a:t>
              </a: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segment with smallest seq #</a:t>
              </a:r>
            </a:p>
            <a:p>
              <a:pPr marL="463550" marR="0" lvl="1" indent="-238125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likely that </a:t>
              </a: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unACKed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segment lost, so don’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wait for timeout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6">
              <a:extLst>
                <a:ext uri="{FF2B5EF4-FFF2-40B4-BE49-F238E27FC236}">
                  <a16:creationId xmlns:a16="http://schemas.microsoft.com/office/drawing/2014/main" xmlns="" id="{A297E063-BD72-C15F-D82D-C6601E59A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9911" y="1910106"/>
              <a:ext cx="5214977" cy="2650328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1" name="Text Box 7">
              <a:extLst>
                <a:ext uri="{FF2B5EF4-FFF2-40B4-BE49-F238E27FC236}">
                  <a16:creationId xmlns:a16="http://schemas.microsoft.com/office/drawing/2014/main" xmlns="" id="{A6199985-1B23-07BF-92AE-1EE0E28E0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8953" y="1681505"/>
              <a:ext cx="2773363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fast retransmit</a:t>
              </a:r>
            </a:p>
          </p:txBody>
        </p:sp>
      </p:grpSp>
      <p:sp>
        <p:nvSpPr>
          <p:cNvPr id="52" name="Text Box 83">
            <a:extLst>
              <a:ext uri="{FF2B5EF4-FFF2-40B4-BE49-F238E27FC236}">
                <a16:creationId xmlns:a16="http://schemas.microsoft.com/office/drawing/2014/main" xmlns="" id="{BF70BE60-B0B6-645C-FB1D-5DC9D8995336}"/>
              </a:ext>
            </a:extLst>
          </p:cNvPr>
          <p:cNvSpPr txBox="1">
            <a:spLocks noChangeArrowheads="1"/>
          </p:cNvSpPr>
          <p:nvPr/>
        </p:nvSpPr>
        <p:spPr bwMode="auto">
          <a:xfrm rot="665764">
            <a:off x="6891478" y="3111839"/>
            <a:ext cx="231369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Seq=120, </a:t>
            </a:r>
            <a:r>
              <a:rPr lang="en-US" sz="1400" kern="0" dirty="0">
                <a:solidFill>
                  <a:srgbClr val="000000"/>
                </a:solidFill>
              </a:rPr>
              <a:t>15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bytes of data</a:t>
            </a:r>
          </a:p>
        </p:txBody>
      </p:sp>
      <p:sp>
        <p:nvSpPr>
          <p:cNvPr id="53" name="Text Box 83">
            <a:extLst>
              <a:ext uri="{FF2B5EF4-FFF2-40B4-BE49-F238E27FC236}">
                <a16:creationId xmlns:a16="http://schemas.microsoft.com/office/drawing/2014/main" xmlns="" id="{5CA32279-E980-1803-9AF1-BB297981EC80}"/>
              </a:ext>
            </a:extLst>
          </p:cNvPr>
          <p:cNvSpPr txBox="1">
            <a:spLocks noChangeArrowheads="1"/>
          </p:cNvSpPr>
          <p:nvPr/>
        </p:nvSpPr>
        <p:spPr bwMode="auto">
          <a:xfrm rot="665764">
            <a:off x="6881539" y="3370253"/>
            <a:ext cx="231369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Seq=135, 6 bytes of data</a:t>
            </a:r>
          </a:p>
        </p:txBody>
      </p:sp>
      <p:sp>
        <p:nvSpPr>
          <p:cNvPr id="54" name="Text Box 83">
            <a:extLst>
              <a:ext uri="{FF2B5EF4-FFF2-40B4-BE49-F238E27FC236}">
                <a16:creationId xmlns:a16="http://schemas.microsoft.com/office/drawing/2014/main" xmlns="" id="{87142E2D-B4DF-080F-7D34-8C75BF089CA6}"/>
              </a:ext>
            </a:extLst>
          </p:cNvPr>
          <p:cNvSpPr txBox="1">
            <a:spLocks noChangeArrowheads="1"/>
          </p:cNvSpPr>
          <p:nvPr/>
        </p:nvSpPr>
        <p:spPr bwMode="auto">
          <a:xfrm rot="665764">
            <a:off x="6891478" y="3618736"/>
            <a:ext cx="231369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Seq=141, 16 bytes of data</a:t>
            </a:r>
          </a:p>
        </p:txBody>
      </p:sp>
    </p:spTree>
    <p:extLst>
      <p:ext uri="{BB962C8B-B14F-4D97-AF65-F5344CB8AC3E}">
        <p14:creationId xmlns:p14="http://schemas.microsoft.com/office/powerpoint/2010/main" val="219167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3CF805-6B21-92A1-D16D-5A1369E5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2B68069B-88BC-79E7-C9A7-113CD0383DE0}"/>
              </a:ext>
            </a:extLst>
          </p:cNvPr>
          <p:cNvSpPr txBox="1">
            <a:spLocks noChangeArrowheads="1"/>
          </p:cNvSpPr>
          <p:nvPr/>
        </p:nvSpPr>
        <p:spPr>
          <a:xfrm>
            <a:off x="478436" y="625499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Flow Control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0231EB45-5864-76C5-F850-807D334A93EE}"/>
              </a:ext>
            </a:extLst>
          </p:cNvPr>
          <p:cNvSpPr txBox="1">
            <a:spLocks noChangeArrowheads="1"/>
          </p:cNvSpPr>
          <p:nvPr/>
        </p:nvSpPr>
        <p:spPr>
          <a:xfrm>
            <a:off x="1697636" y="1959964"/>
            <a:ext cx="38100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receive side of TCP connection has a receive buffer: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6C810043-1E0C-0F86-AC2C-677E57B99EF0}"/>
              </a:ext>
            </a:extLst>
          </p:cNvPr>
          <p:cNvSpPr txBox="1">
            <a:spLocks noChangeArrowheads="1"/>
          </p:cNvSpPr>
          <p:nvPr/>
        </p:nvSpPr>
        <p:spPr>
          <a:xfrm>
            <a:off x="6193436" y="3636364"/>
            <a:ext cx="3810000" cy="2895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i="1">
                <a:solidFill>
                  <a:srgbClr val="FF0000"/>
                </a:solidFill>
              </a:rPr>
              <a:t>speed-matching service:</a:t>
            </a:r>
            <a:r>
              <a:rPr lang="en-US" altLang="en-US" sz="2400"/>
              <a:t> matching  send rate to receiving application’s drain rate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3A06C1DC-3722-DDA5-89FF-62997D37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436" y="5312764"/>
            <a:ext cx="3810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3333CC"/>
              </a:buClr>
              <a:defRPr/>
            </a:pPr>
            <a:r>
              <a:rPr lang="en-US" altLang="en-US">
                <a:solidFill>
                  <a:srgbClr val="000000"/>
                </a:solidFill>
              </a:rPr>
              <a:t>app process may be slow at reading from buffer</a:t>
            </a: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xmlns="" id="{775C4155-5FD0-A745-500B-639159D1547B}"/>
              </a:ext>
            </a:extLst>
          </p:cNvPr>
          <p:cNvGrpSpPr>
            <a:grpSpLocks/>
          </p:cNvGrpSpPr>
          <p:nvPr/>
        </p:nvGrpSpPr>
        <p:grpSpPr bwMode="auto">
          <a:xfrm>
            <a:off x="6345837" y="1426565"/>
            <a:ext cx="3057525" cy="1692275"/>
            <a:chOff x="564" y="803"/>
            <a:chExt cx="1926" cy="1066"/>
          </a:xfrm>
        </p:grpSpPr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xmlns="" id="{422ED285-BD47-DDB2-5F07-1C059E7F2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948"/>
              <a:ext cx="1926" cy="9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xmlns="" id="{34EA92F6-F448-28BC-3281-42F0C93F8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" y="1043"/>
              <a:ext cx="1809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en-US" sz="2000">
                  <a:solidFill>
                    <a:srgbClr val="000000"/>
                  </a:solidFill>
                  <a:latin typeface="Comic Sans MS" panose="030F0702030302020204" pitchFamily="66" charset="0"/>
                </a:rPr>
                <a:t>sender won’t overflow</a:t>
              </a:r>
            </a:p>
            <a:p>
              <a:pPr algn="ctr">
                <a:defRPr/>
              </a:pPr>
              <a:r>
                <a:rPr lang="en-US" altLang="en-US" sz="2000">
                  <a:solidFill>
                    <a:srgbClr val="000000"/>
                  </a:solidFill>
                  <a:latin typeface="Comic Sans MS" panose="030F0702030302020204" pitchFamily="66" charset="0"/>
                </a:rPr>
                <a:t>receiver’s buffer by</a:t>
              </a:r>
            </a:p>
            <a:p>
              <a:pPr algn="ctr">
                <a:defRPr/>
              </a:pPr>
              <a:r>
                <a:rPr lang="en-US" altLang="en-US" sz="2000">
                  <a:solidFill>
                    <a:srgbClr val="000000"/>
                  </a:solidFill>
                  <a:latin typeface="Comic Sans MS" panose="030F0702030302020204" pitchFamily="66" charset="0"/>
                </a:rPr>
                <a:t>transmitting too much,</a:t>
              </a:r>
            </a:p>
            <a:p>
              <a:pPr algn="ctr">
                <a:defRPr/>
              </a:pPr>
              <a:r>
                <a:rPr lang="en-US" altLang="en-US" sz="2000">
                  <a:solidFill>
                    <a:srgbClr val="000000"/>
                  </a:solidFill>
                  <a:latin typeface="Comic Sans MS" panose="030F0702030302020204" pitchFamily="66" charset="0"/>
                </a:rPr>
                <a:t> too fast</a:t>
              </a:r>
              <a:endParaRPr lang="en-US" altLang="en-US" sz="1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9" name="Group 11">
              <a:extLst>
                <a:ext uri="{FF2B5EF4-FFF2-40B4-BE49-F238E27FC236}">
                  <a16:creationId xmlns:a16="http://schemas.microsoft.com/office/drawing/2014/main" xmlns="" id="{4F655933-2F80-AEA6-848C-0DAB0888C2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" y="803"/>
              <a:ext cx="1193" cy="288"/>
              <a:chOff x="3448" y="305"/>
              <a:chExt cx="1193" cy="288"/>
            </a:xfrm>
          </p:grpSpPr>
          <p:sp>
            <p:nvSpPr>
              <p:cNvPr id="10" name="Rectangle 12">
                <a:extLst>
                  <a:ext uri="{FF2B5EF4-FFF2-40B4-BE49-F238E27FC236}">
                    <a16:creationId xmlns:a16="http://schemas.microsoft.com/office/drawing/2014/main" xmlns="" id="{03570A3C-A625-9D37-B7F3-652E0DFE2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6" y="330"/>
                <a:ext cx="1134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IN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1" name="Text Box 13">
                <a:extLst>
                  <a:ext uri="{FF2B5EF4-FFF2-40B4-BE49-F238E27FC236}">
                    <a16:creationId xmlns:a16="http://schemas.microsoft.com/office/drawing/2014/main" xmlns="" id="{AD523418-027B-337C-3C6B-6C8D3A0E5A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8" y="305"/>
                <a:ext cx="11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US" altLang="en-US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flow control</a:t>
                </a:r>
                <a:endParaRPr lang="en-US" altLang="en-US" sz="1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" name="Group 29">
            <a:extLst>
              <a:ext uri="{FF2B5EF4-FFF2-40B4-BE49-F238E27FC236}">
                <a16:creationId xmlns:a16="http://schemas.microsoft.com/office/drawing/2014/main" xmlns="" id="{9EFAB503-B0E7-A11F-0C63-CAE18651BF6D}"/>
              </a:ext>
            </a:extLst>
          </p:cNvPr>
          <p:cNvGrpSpPr>
            <a:grpSpLocks/>
          </p:cNvGrpSpPr>
          <p:nvPr/>
        </p:nvGrpSpPr>
        <p:grpSpPr bwMode="auto">
          <a:xfrm>
            <a:off x="1327749" y="3456978"/>
            <a:ext cx="4746626" cy="1330325"/>
            <a:chOff x="149" y="1884"/>
            <a:chExt cx="2990" cy="838"/>
          </a:xfrm>
        </p:grpSpPr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xmlns="" id="{3C72DDED-C4A9-513D-45BA-A96B19B8A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1884"/>
              <a:ext cx="1433" cy="83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xmlns="" id="{EB48531B-75D3-DB3D-A792-6C102BC9A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" y="2292"/>
              <a:ext cx="576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xmlns="" id="{961BF3BB-91AD-F521-1FE5-7EABD7F91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" y="2120"/>
              <a:ext cx="82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IP</a:t>
              </a:r>
            </a:p>
            <a:p>
              <a:pPr algn="ctr">
                <a:defRPr/>
              </a:pPr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datagrams</a:t>
              </a:r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xmlns="" id="{34148327-7654-2B5D-AF29-FD6B3519E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1892"/>
              <a:ext cx="804" cy="8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xmlns="" id="{BA6CF39E-CDFE-3773-1EC8-75AA40DB7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6" y="2131"/>
              <a:ext cx="6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TCP data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(in buffer)</a:t>
              </a: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xmlns="" id="{2F6A34CE-C108-42A5-49DA-7B75B3E30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" y="2058"/>
              <a:ext cx="867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(currently)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unused buffer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space</a:t>
              </a:r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xmlns="" id="{52D52DD9-9655-26E8-5D8B-AF9A24C60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9" y="2288"/>
              <a:ext cx="489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0" name="Text Box 22">
              <a:extLst>
                <a:ext uri="{FF2B5EF4-FFF2-40B4-BE49-F238E27FC236}">
                  <a16:creationId xmlns:a16="http://schemas.microsoft.com/office/drawing/2014/main" xmlns="" id="{71806E16-DC9A-175E-CF24-762ED1599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2" y="2102"/>
              <a:ext cx="83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application</a:t>
              </a:r>
            </a:p>
            <a:p>
              <a:pPr algn="ctr">
                <a:defRPr/>
              </a:pPr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process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49D4148C-CF7E-1855-C8AB-E0B54E1F36FD}"/>
              </a:ext>
            </a:extLst>
          </p:cNvPr>
          <p:cNvSpPr txBox="1"/>
          <p:nvPr/>
        </p:nvSpPr>
        <p:spPr>
          <a:xfrm>
            <a:off x="5431436" y="5459110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u="none" strike="noStrike" baseline="0" dirty="0"/>
              <a:t>Because TCP is not permitted to overflow the allocated buffer, we must have</a:t>
            </a:r>
          </a:p>
          <a:p>
            <a:pPr algn="ctr"/>
            <a:r>
              <a:rPr lang="en-IN" sz="1800" b="1" i="0" u="none" strike="noStrike" baseline="0" dirty="0" err="1">
                <a:latin typeface="Courier10PitchBT-Roman"/>
              </a:rPr>
              <a:t>LastByteRcvd</a:t>
            </a:r>
            <a:r>
              <a:rPr lang="en-IN" sz="1800" b="1" i="0" u="none" strike="noStrike" baseline="0" dirty="0">
                <a:latin typeface="Courier10PitchBT-Roman"/>
              </a:rPr>
              <a:t> – </a:t>
            </a:r>
            <a:r>
              <a:rPr lang="en-IN" sz="1800" b="1" i="0" u="none" strike="noStrike" baseline="0" dirty="0" err="1">
                <a:latin typeface="Courier10PitchBT-Roman"/>
              </a:rPr>
              <a:t>LastByteRead</a:t>
            </a:r>
            <a:r>
              <a:rPr lang="en-IN" sz="1800" b="1" i="0" u="none" strike="noStrike" baseline="0" dirty="0">
                <a:latin typeface="Courier10PitchBT-Roman"/>
              </a:rPr>
              <a:t> ≤</a:t>
            </a:r>
            <a:r>
              <a:rPr lang="en-IN" sz="1800" b="1" i="0" u="none" strike="noStrike" baseline="0" dirty="0">
                <a:latin typeface="MathematicalPi-One"/>
              </a:rPr>
              <a:t> </a:t>
            </a:r>
            <a:r>
              <a:rPr lang="en-IN" sz="1800" b="1" i="0" u="none" strike="noStrike" baseline="0" dirty="0" err="1">
                <a:latin typeface="Courier10PitchBT-Roman"/>
              </a:rPr>
              <a:t>RcvBuffer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30061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DBAE2C1-909A-02E8-A98A-50592ECF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>
            <a:extLst>
              <a:ext uri="{FF2B5EF4-FFF2-40B4-BE49-F238E27FC236}">
                <a16:creationId xmlns:a16="http://schemas.microsoft.com/office/drawing/2014/main" xmlns="" id="{58399E1B-E96D-4F98-2505-589524BACF19}"/>
              </a:ext>
            </a:extLst>
          </p:cNvPr>
          <p:cNvSpPr txBox="1">
            <a:spLocks noChangeArrowheads="1"/>
          </p:cNvSpPr>
          <p:nvPr/>
        </p:nvSpPr>
        <p:spPr>
          <a:xfrm>
            <a:off x="381001" y="56290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Flow control: how it works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xmlns="" id="{3D14C1A3-ACA3-1FC2-3E68-1D52EDB6FDEE}"/>
              </a:ext>
            </a:extLst>
          </p:cNvPr>
          <p:cNvSpPr txBox="1">
            <a:spLocks noChangeArrowheads="1"/>
          </p:cNvSpPr>
          <p:nvPr/>
        </p:nvSpPr>
        <p:spPr>
          <a:xfrm>
            <a:off x="2057400" y="3516442"/>
            <a:ext cx="4343400" cy="2971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/>
              <a:t>(suppose TCP receiver discards out-of-order segments)</a:t>
            </a:r>
          </a:p>
          <a:p>
            <a:r>
              <a:rPr lang="en-US" altLang="en-US"/>
              <a:t>unused buffer space: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Font typeface="ZapfDingbats" pitchFamily="82" charset="2"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= rwnd (receive window)</a:t>
            </a:r>
            <a:endParaRPr lang="en-US" altLang="en-US" sz="2000"/>
          </a:p>
          <a:p>
            <a:pPr>
              <a:buFont typeface="ZapfDingbats" pitchFamily="82" charset="2"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= RcvBuffer-[LastByteRcvd - LastByteRead]</a:t>
            </a:r>
            <a:endParaRPr lang="en-US" alt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4" name="Rectangle 1028">
            <a:extLst>
              <a:ext uri="{FF2B5EF4-FFF2-40B4-BE49-F238E27FC236}">
                <a16:creationId xmlns:a16="http://schemas.microsoft.com/office/drawing/2014/main" xmlns="" id="{B11F8E2F-760D-26CF-0677-BED5B6031952}"/>
              </a:ext>
            </a:extLst>
          </p:cNvPr>
          <p:cNvSpPr txBox="1">
            <a:spLocks noChangeArrowheads="1"/>
          </p:cNvSpPr>
          <p:nvPr/>
        </p:nvSpPr>
        <p:spPr>
          <a:xfrm>
            <a:off x="6553200" y="1687642"/>
            <a:ext cx="3886200" cy="4648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/>
              <a:t>receiver: advertises unused buffer space by including </a:t>
            </a:r>
            <a:r>
              <a:rPr lang="en-US" altLang="en-US" sz="2000">
                <a:latin typeface="Courier"/>
              </a:rPr>
              <a:t>rwnd </a:t>
            </a:r>
            <a:r>
              <a:rPr lang="en-US" altLang="en-US" sz="2400"/>
              <a:t>value in segment header</a:t>
            </a:r>
          </a:p>
          <a:p>
            <a:r>
              <a:rPr lang="en-US" altLang="en-US" sz="2400"/>
              <a:t>sender: limits # of unACKed bytes to </a:t>
            </a:r>
            <a:r>
              <a:rPr lang="en-US" altLang="en-US" sz="2000">
                <a:latin typeface="Courier New" panose="02070309020205020404" pitchFamily="49" charset="0"/>
              </a:rPr>
              <a:t>rwnd</a:t>
            </a:r>
          </a:p>
          <a:p>
            <a:pPr lvl="1"/>
            <a:r>
              <a:rPr lang="en-US" altLang="en-US" sz="2000"/>
              <a:t>guarantees receiver’s buffer doesn’t overflow</a:t>
            </a:r>
            <a:endParaRPr lang="en-US" altLang="en-US" sz="2000" dirty="0">
              <a:latin typeface="Courier New" panose="02070309020205020404" pitchFamily="49" charset="0"/>
            </a:endParaRPr>
          </a:p>
        </p:txBody>
      </p:sp>
      <p:grpSp>
        <p:nvGrpSpPr>
          <p:cNvPr id="5" name="Group 1046">
            <a:extLst>
              <a:ext uri="{FF2B5EF4-FFF2-40B4-BE49-F238E27FC236}">
                <a16:creationId xmlns:a16="http://schemas.microsoft.com/office/drawing/2014/main" xmlns="" id="{768AB92B-67CD-AEFA-EB37-E506EBDFACFE}"/>
              </a:ext>
            </a:extLst>
          </p:cNvPr>
          <p:cNvGrpSpPr>
            <a:grpSpLocks/>
          </p:cNvGrpSpPr>
          <p:nvPr/>
        </p:nvGrpSpPr>
        <p:grpSpPr bwMode="auto">
          <a:xfrm>
            <a:off x="1846263" y="1528893"/>
            <a:ext cx="4746626" cy="1870075"/>
            <a:chOff x="3030" y="2935"/>
            <a:chExt cx="2990" cy="1178"/>
          </a:xfrm>
        </p:grpSpPr>
        <p:sp>
          <p:nvSpPr>
            <p:cNvPr id="6" name="Rectangle 1030">
              <a:extLst>
                <a:ext uri="{FF2B5EF4-FFF2-40B4-BE49-F238E27FC236}">
                  <a16:creationId xmlns:a16="http://schemas.microsoft.com/office/drawing/2014/main" xmlns="" id="{6E86E75D-B894-B788-382E-AE534F038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2935"/>
              <a:ext cx="1433" cy="83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7" name="Line 1031">
              <a:extLst>
                <a:ext uri="{FF2B5EF4-FFF2-40B4-BE49-F238E27FC236}">
                  <a16:creationId xmlns:a16="http://schemas.microsoft.com/office/drawing/2014/main" xmlns="" id="{221EA6FD-9F35-C001-6214-588AF0A4C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" y="3343"/>
              <a:ext cx="576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" name="Text Box 1032">
              <a:extLst>
                <a:ext uri="{FF2B5EF4-FFF2-40B4-BE49-F238E27FC236}">
                  <a16:creationId xmlns:a16="http://schemas.microsoft.com/office/drawing/2014/main" xmlns="" id="{80F997AF-AB23-D323-0670-A52E95619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0" y="3171"/>
              <a:ext cx="82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IP</a:t>
              </a:r>
            </a:p>
            <a:p>
              <a:pPr algn="ctr">
                <a:defRPr/>
              </a:pPr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datagrams</a:t>
              </a:r>
            </a:p>
          </p:txBody>
        </p:sp>
        <p:sp>
          <p:nvSpPr>
            <p:cNvPr id="9" name="Rectangle 1033">
              <a:extLst>
                <a:ext uri="{FF2B5EF4-FFF2-40B4-BE49-F238E27FC236}">
                  <a16:creationId xmlns:a16="http://schemas.microsoft.com/office/drawing/2014/main" xmlns="" id="{FCD146B4-A70E-4C25-340C-7DB8BBCB9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5" y="2943"/>
              <a:ext cx="804" cy="8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0" name="Text Box 1034">
              <a:extLst>
                <a:ext uri="{FF2B5EF4-FFF2-40B4-BE49-F238E27FC236}">
                  <a16:creationId xmlns:a16="http://schemas.microsoft.com/office/drawing/2014/main" xmlns="" id="{0AA7E9E6-A099-A318-23EF-495FD5544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7" y="3182"/>
              <a:ext cx="6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TCP data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(in buffer)</a:t>
              </a:r>
            </a:p>
          </p:txBody>
        </p:sp>
        <p:sp>
          <p:nvSpPr>
            <p:cNvPr id="11" name="Text Box 1035">
              <a:extLst>
                <a:ext uri="{FF2B5EF4-FFF2-40B4-BE49-F238E27FC236}">
                  <a16:creationId xmlns:a16="http://schemas.microsoft.com/office/drawing/2014/main" xmlns="" id="{149920A5-7507-B42B-6D08-93E0DB258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7" y="3109"/>
              <a:ext cx="867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(currently)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unused buffer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000000"/>
                  </a:solidFill>
                  <a:latin typeface="Comic Sans MS" panose="030F0702030302020204" pitchFamily="66" charset="0"/>
                </a:rPr>
                <a:t>space</a:t>
              </a:r>
            </a:p>
          </p:txBody>
        </p:sp>
        <p:sp>
          <p:nvSpPr>
            <p:cNvPr id="12" name="Line 1037">
              <a:extLst>
                <a:ext uri="{FF2B5EF4-FFF2-40B4-BE49-F238E27FC236}">
                  <a16:creationId xmlns:a16="http://schemas.microsoft.com/office/drawing/2014/main" xmlns="" id="{DEA8BC40-24D9-58F1-1618-B27761989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0" y="3339"/>
              <a:ext cx="489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" name="Text Box 1038">
              <a:extLst>
                <a:ext uri="{FF2B5EF4-FFF2-40B4-BE49-F238E27FC236}">
                  <a16:creationId xmlns:a16="http://schemas.microsoft.com/office/drawing/2014/main" xmlns="" id="{20BD4644-528B-E043-53E7-BB0ABDD00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3" y="3153"/>
              <a:ext cx="83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application</a:t>
              </a:r>
            </a:p>
            <a:p>
              <a:pPr algn="ctr">
                <a:defRPr/>
              </a:pPr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process</a:t>
              </a:r>
            </a:p>
          </p:txBody>
        </p:sp>
        <p:sp>
          <p:nvSpPr>
            <p:cNvPr id="14" name="Text Box 1039">
              <a:extLst>
                <a:ext uri="{FF2B5EF4-FFF2-40B4-BE49-F238E27FC236}">
                  <a16:creationId xmlns:a16="http://schemas.microsoft.com/office/drawing/2014/main" xmlns="" id="{77A4EC6C-FF85-A2F4-AC87-5197D7B2D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6" y="3786"/>
              <a:ext cx="3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 sz="1400">
                  <a:solidFill>
                    <a:srgbClr val="FF0000"/>
                  </a:solidFill>
                  <a:latin typeface="Comic Sans MS" panose="030F0702030302020204" pitchFamily="66" charset="0"/>
                </a:rPr>
                <a:t>rwnd</a:t>
              </a:r>
            </a:p>
          </p:txBody>
        </p:sp>
        <p:sp>
          <p:nvSpPr>
            <p:cNvPr id="15" name="Line 1040">
              <a:extLst>
                <a:ext uri="{FF2B5EF4-FFF2-40B4-BE49-F238E27FC236}">
                  <a16:creationId xmlns:a16="http://schemas.microsoft.com/office/drawing/2014/main" xmlns="" id="{05FFE57E-62CB-D45D-CBD4-8D9FFCAC1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9" y="3888"/>
              <a:ext cx="23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6" name="Line 1041">
              <a:extLst>
                <a:ext uri="{FF2B5EF4-FFF2-40B4-BE49-F238E27FC236}">
                  <a16:creationId xmlns:a16="http://schemas.microsoft.com/office/drawing/2014/main" xmlns="" id="{9CEBCA88-8898-151D-BFB0-EF9CC9FA4E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9" y="3888"/>
              <a:ext cx="19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7" name="Text Box 1042">
              <a:extLst>
                <a:ext uri="{FF2B5EF4-FFF2-40B4-BE49-F238E27FC236}">
                  <a16:creationId xmlns:a16="http://schemas.microsoft.com/office/drawing/2014/main" xmlns="" id="{1DA61E7A-8431-40A1-7291-AFF485BAE2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3921"/>
              <a:ext cx="6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en-US" sz="1400">
                  <a:solidFill>
                    <a:srgbClr val="FF0000"/>
                  </a:solidFill>
                  <a:latin typeface="Comic Sans MS" panose="030F0702030302020204" pitchFamily="66" charset="0"/>
                </a:rPr>
                <a:t>RcvBuffer</a:t>
              </a:r>
            </a:p>
          </p:txBody>
        </p:sp>
        <p:sp>
          <p:nvSpPr>
            <p:cNvPr id="18" name="Line 1043">
              <a:extLst>
                <a:ext uri="{FF2B5EF4-FFF2-40B4-BE49-F238E27FC236}">
                  <a16:creationId xmlns:a16="http://schemas.microsoft.com/office/drawing/2014/main" xmlns="" id="{EA8B5105-2CF8-2C21-500C-995A2D893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9" y="4014"/>
              <a:ext cx="381" cy="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9" name="Line 1045">
              <a:extLst>
                <a:ext uri="{FF2B5EF4-FFF2-40B4-BE49-F238E27FC236}">
                  <a16:creationId xmlns:a16="http://schemas.microsoft.com/office/drawing/2014/main" xmlns="" id="{8526A807-B454-9D96-B67D-DB8761E23E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25" y="4014"/>
              <a:ext cx="387" cy="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defRPr/>
              </a:pPr>
              <a:endParaRPr lang="en-IN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E7511640-C7C0-D3B3-3981-78CEF1066903}"/>
              </a:ext>
            </a:extLst>
          </p:cNvPr>
          <p:cNvSpPr txBox="1"/>
          <p:nvPr/>
        </p:nvSpPr>
        <p:spPr>
          <a:xfrm>
            <a:off x="2171701" y="607366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baseline="0" dirty="0" err="1">
                <a:latin typeface="Courier10PitchBT-Roman"/>
              </a:rPr>
              <a:t>LastByteSent</a:t>
            </a:r>
            <a:r>
              <a:rPr lang="en-IN" sz="1800" b="1" i="0" u="none" strike="noStrike" baseline="0" dirty="0">
                <a:latin typeface="Courier10PitchBT-Roman"/>
              </a:rPr>
              <a:t> – </a:t>
            </a:r>
            <a:r>
              <a:rPr lang="en-IN" sz="1800" b="1" i="0" u="none" strike="noStrike" baseline="0" dirty="0" err="1">
                <a:latin typeface="Courier10PitchBT-Roman"/>
              </a:rPr>
              <a:t>LastByteAcked</a:t>
            </a:r>
            <a:r>
              <a:rPr lang="en-IN" sz="1800" b="1" i="0" u="none" strike="noStrike" baseline="0" dirty="0">
                <a:latin typeface="Courier10PitchBT-Roman"/>
              </a:rPr>
              <a:t> ≤</a:t>
            </a:r>
            <a:r>
              <a:rPr lang="en-IN" sz="1800" b="1" i="0" u="none" strike="noStrike" baseline="0" dirty="0">
                <a:latin typeface="MathematicalPi-One"/>
              </a:rPr>
              <a:t> </a:t>
            </a:r>
            <a:r>
              <a:rPr lang="en-IN" sz="1800" b="1" i="0" u="none" strike="noStrike" baseline="0" dirty="0" err="1">
                <a:latin typeface="Courier10PitchBT-Roman"/>
              </a:rPr>
              <a:t>rwnd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32475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3B21E1-0E2E-C48A-7AA7-7C32555B2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2BAA01-D1D1-01A3-5C68-FB630C423A95}"/>
              </a:ext>
            </a:extLst>
          </p:cNvPr>
          <p:cNvSpPr txBox="1">
            <a:spLocks/>
          </p:cNvSpPr>
          <p:nvPr/>
        </p:nvSpPr>
        <p:spPr>
          <a:xfrm>
            <a:off x="618808" y="604119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flow control</a:t>
            </a:r>
          </a:p>
        </p:txBody>
      </p:sp>
      <p:sp>
        <p:nvSpPr>
          <p:cNvPr id="3" name="Rectangle 72">
            <a:extLst>
              <a:ext uri="{FF2B5EF4-FFF2-40B4-BE49-F238E27FC236}">
                <a16:creationId xmlns:a16="http://schemas.microsoft.com/office/drawing/2014/main" xmlns="" id="{48183436-DA7F-469E-A980-E564E2EC8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8540" y="1399715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" name="Freeform 32">
            <a:extLst>
              <a:ext uri="{FF2B5EF4-FFF2-40B4-BE49-F238E27FC236}">
                <a16:creationId xmlns:a16="http://schemas.microsoft.com/office/drawing/2014/main" xmlns="" id="{F4634BAC-8235-FC81-606F-FC4640C63E06}"/>
              </a:ext>
            </a:extLst>
          </p:cNvPr>
          <p:cNvSpPr>
            <a:spLocks/>
          </p:cNvSpPr>
          <p:nvPr/>
        </p:nvSpPr>
        <p:spPr bwMode="auto">
          <a:xfrm>
            <a:off x="10110115" y="1393365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xmlns="" id="{BE02723A-D6E1-0AD3-76AB-5674F4893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2815" y="1501315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" name="Oval 31">
            <a:extLst>
              <a:ext uri="{FF2B5EF4-FFF2-40B4-BE49-F238E27FC236}">
                <a16:creationId xmlns:a16="http://schemas.microsoft.com/office/drawing/2014/main" xmlns="" id="{2169C8A6-861B-E021-2548-8265B7BE4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565" y="1558465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7" name="Group 47">
            <a:extLst>
              <a:ext uri="{FF2B5EF4-FFF2-40B4-BE49-F238E27FC236}">
                <a16:creationId xmlns:a16="http://schemas.microsoft.com/office/drawing/2014/main" xmlns="" id="{FC4F803F-B830-4403-4235-57B45C621CFC}"/>
              </a:ext>
            </a:extLst>
          </p:cNvPr>
          <p:cNvGrpSpPr>
            <a:grpSpLocks/>
          </p:cNvGrpSpPr>
          <p:nvPr/>
        </p:nvGrpSpPr>
        <p:grpSpPr bwMode="auto">
          <a:xfrm>
            <a:off x="7890790" y="2626852"/>
            <a:ext cx="1795463" cy="688975"/>
            <a:chOff x="1173" y="2345"/>
            <a:chExt cx="1131" cy="434"/>
          </a:xfrm>
        </p:grpSpPr>
        <p:sp>
          <p:nvSpPr>
            <p:cNvPr id="8" name="Rectangle 44">
              <a:extLst>
                <a:ext uri="{FF2B5EF4-FFF2-40B4-BE49-F238E27FC236}">
                  <a16:creationId xmlns:a16="http://schemas.microsoft.com/office/drawing/2014/main" xmlns="" id="{1D6AF047-941F-239C-7F42-A8258324E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Text Box 46">
              <a:extLst>
                <a:ext uri="{FF2B5EF4-FFF2-40B4-BE49-F238E27FC236}">
                  <a16:creationId xmlns:a16="http://schemas.microsoft.com/office/drawing/2014/main" xmlns="" id="{AAA5B78C-FB87-DA16-6225-E4145A1B5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0" name="Oval 48">
            <a:extLst>
              <a:ext uri="{FF2B5EF4-FFF2-40B4-BE49-F238E27FC236}">
                <a16:creationId xmlns:a16="http://schemas.microsoft.com/office/drawing/2014/main" xmlns="" id="{B5205A95-ED60-FC27-F2DE-B0EE49807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9065" y="3650790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" name="Text Box 64">
            <a:extLst>
              <a:ext uri="{FF2B5EF4-FFF2-40B4-BE49-F238E27FC236}">
                <a16:creationId xmlns:a16="http://schemas.microsoft.com/office/drawing/2014/main" xmlns="" id="{38F5F23E-E1F6-F39A-CE6D-7E23B963B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5478" y="3679633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2" name="Oval 65">
            <a:extLst>
              <a:ext uri="{FF2B5EF4-FFF2-40B4-BE49-F238E27FC236}">
                <a16:creationId xmlns:a16="http://schemas.microsoft.com/office/drawing/2014/main" xmlns="" id="{7FD04644-675A-C39C-B268-CED11D4C5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003" y="4636627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" name="Text Box 66">
            <a:extLst>
              <a:ext uri="{FF2B5EF4-FFF2-40B4-BE49-F238E27FC236}">
                <a16:creationId xmlns:a16="http://schemas.microsoft.com/office/drawing/2014/main" xmlns="" id="{96C31840-3CB9-DE34-2078-FFB62D40C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1817" y="4669773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" name="Line 68">
            <a:extLst>
              <a:ext uri="{FF2B5EF4-FFF2-40B4-BE49-F238E27FC236}">
                <a16:creationId xmlns:a16="http://schemas.microsoft.com/office/drawing/2014/main" xmlns="" id="{FEBAAEE4-05D3-8F98-900B-87CC0CB19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6465" y="4385802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" name="Line 69">
            <a:extLst>
              <a:ext uri="{FF2B5EF4-FFF2-40B4-BE49-F238E27FC236}">
                <a16:creationId xmlns:a16="http://schemas.microsoft.com/office/drawing/2014/main" xmlns="" id="{726C0101-3C65-A638-3FF8-0FE46BA899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9165" y="2534777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6" name="Group 56">
            <a:extLst>
              <a:ext uri="{FF2B5EF4-FFF2-40B4-BE49-F238E27FC236}">
                <a16:creationId xmlns:a16="http://schemas.microsoft.com/office/drawing/2014/main" xmlns="" id="{EA85ED6F-BB24-F662-DC6F-57F201C70F29}"/>
              </a:ext>
            </a:extLst>
          </p:cNvPr>
          <p:cNvGrpSpPr>
            <a:grpSpLocks/>
          </p:cNvGrpSpPr>
          <p:nvPr/>
        </p:nvGrpSpPr>
        <p:grpSpPr bwMode="auto">
          <a:xfrm>
            <a:off x="8565478" y="2418890"/>
            <a:ext cx="533400" cy="206375"/>
            <a:chOff x="2003" y="1816"/>
            <a:chExt cx="336" cy="1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0F86F1C7-5316-1715-8FCB-C517DA33E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352A4E01-D6EA-CCD4-F107-35B46FE14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8D814F71-E65A-4EE1-432F-8D5B80B25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6B7A4615-10EB-B368-D424-ECAD6B6B9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" name="Text Box 103">
            <a:extLst>
              <a:ext uri="{FF2B5EF4-FFF2-40B4-BE49-F238E27FC236}">
                <a16:creationId xmlns:a16="http://schemas.microsoft.com/office/drawing/2014/main" xmlns="" id="{D4FC742A-5A95-FF2A-3516-7F7A37DB8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090" y="6138314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22" name="Line 115">
            <a:extLst>
              <a:ext uri="{FF2B5EF4-FFF2-40B4-BE49-F238E27FC236}">
                <a16:creationId xmlns:a16="http://schemas.microsoft.com/office/drawing/2014/main" xmlns="" id="{E8CA6F87-4DF0-E8CA-14A3-8E0AB43F7F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895" y="5734629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" name="Line 118">
            <a:extLst>
              <a:ext uri="{FF2B5EF4-FFF2-40B4-BE49-F238E27FC236}">
                <a16:creationId xmlns:a16="http://schemas.microsoft.com/office/drawing/2014/main" xmlns="" id="{983502E7-2276-5B98-14F3-5ABB901C4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05353" y="5311315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4" name="Group 124">
            <a:extLst>
              <a:ext uri="{FF2B5EF4-FFF2-40B4-BE49-F238E27FC236}">
                <a16:creationId xmlns:a16="http://schemas.microsoft.com/office/drawing/2014/main" xmlns="" id="{F2BDD964-075B-D136-8151-3643A5330A9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343478" y="4904915"/>
            <a:ext cx="869950" cy="906462"/>
            <a:chOff x="-44" y="1473"/>
            <a:chExt cx="981" cy="1105"/>
          </a:xfrm>
        </p:grpSpPr>
        <p:pic>
          <p:nvPicPr>
            <p:cNvPr id="25" name="Picture 125" descr="desktop_computer_stylized_medium">
              <a:extLst>
                <a:ext uri="{FF2B5EF4-FFF2-40B4-BE49-F238E27FC236}">
                  <a16:creationId xmlns:a16="http://schemas.microsoft.com/office/drawing/2014/main" xmlns="" id="{3E472B3C-46B9-CDC2-BC60-CDFB8BAC8E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126">
              <a:extLst>
                <a:ext uri="{FF2B5EF4-FFF2-40B4-BE49-F238E27FC236}">
                  <a16:creationId xmlns:a16="http://schemas.microsoft.com/office/drawing/2014/main" xmlns="" id="{AAE0868C-CE9F-1773-089B-FC76DB8E671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0DD12ED-CBA6-D407-1CCB-D42F61F08AF6}"/>
              </a:ext>
            </a:extLst>
          </p:cNvPr>
          <p:cNvSpPr txBox="1"/>
          <p:nvPr/>
        </p:nvSpPr>
        <p:spPr>
          <a:xfrm>
            <a:off x="532673" y="1751815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28" name="Line 117">
            <a:extLst>
              <a:ext uri="{FF2B5EF4-FFF2-40B4-BE49-F238E27FC236}">
                <a16:creationId xmlns:a16="http://schemas.microsoft.com/office/drawing/2014/main" xmlns="" id="{727E62A2-52F1-C891-08C1-F9D0985539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4593" y="5321490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9504CB8E-70A3-3C0D-E1A0-EEC8B92ABB30}"/>
              </a:ext>
            </a:extLst>
          </p:cNvPr>
          <p:cNvGrpSpPr/>
          <p:nvPr/>
        </p:nvGrpSpPr>
        <p:grpSpPr>
          <a:xfrm>
            <a:off x="5009806" y="3121146"/>
            <a:ext cx="4533734" cy="2971623"/>
            <a:chOff x="5189688" y="2806352"/>
            <a:chExt cx="4533734" cy="297162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xmlns="" id="{E0DA9F98-98E9-5988-51DD-E28FA53BF9BD}"/>
                </a:ext>
              </a:extLst>
            </p:cNvPr>
            <p:cNvGrpSpPr/>
            <p:nvPr/>
          </p:nvGrpSpPr>
          <p:grpSpPr>
            <a:xfrm>
              <a:off x="5189688" y="3080408"/>
              <a:ext cx="3750934" cy="2697567"/>
              <a:chOff x="4633274" y="3577949"/>
              <a:chExt cx="3750934" cy="2697567"/>
            </a:xfrm>
          </p:grpSpPr>
          <p:sp>
            <p:nvSpPr>
              <p:cNvPr id="32" name="Rectangle 91">
                <a:extLst>
                  <a:ext uri="{FF2B5EF4-FFF2-40B4-BE49-F238E27FC236}">
                    <a16:creationId xmlns:a16="http://schemas.microsoft.com/office/drawing/2014/main" xmlns="" id="{D42194DD-12A1-009D-66D3-6CF52F932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xmlns="" id="{F44B3934-B222-AF42-153C-40DA8AEEFB99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38" name="Rectangle 74">
                  <a:extLst>
                    <a:ext uri="{FF2B5EF4-FFF2-40B4-BE49-F238E27FC236}">
                      <a16:creationId xmlns:a16="http://schemas.microsoft.com/office/drawing/2014/main" xmlns="" id="{79049727-E63D-192B-518E-3C42C0DFDF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39" name="Rectangle 92">
                  <a:extLst>
                    <a:ext uri="{FF2B5EF4-FFF2-40B4-BE49-F238E27FC236}">
                      <a16:creationId xmlns:a16="http://schemas.microsoft.com/office/drawing/2014/main" xmlns="" id="{A86E7EBF-A222-50A9-7069-843B6241DE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0" name="Line 75">
                  <a:extLst>
                    <a:ext uri="{FF2B5EF4-FFF2-40B4-BE49-F238E27FC236}">
                      <a16:creationId xmlns:a16="http://schemas.microsoft.com/office/drawing/2014/main" xmlns="" id="{BBDF23D2-B696-A300-36CE-930665E453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1" name="Line 76">
                  <a:extLst>
                    <a:ext uri="{FF2B5EF4-FFF2-40B4-BE49-F238E27FC236}">
                      <a16:creationId xmlns:a16="http://schemas.microsoft.com/office/drawing/2014/main" xmlns="" id="{89D63EBC-23D0-F473-A5DC-3DDAAC3DAB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4" name="Rectangle 86">
                <a:extLst>
                  <a:ext uri="{FF2B5EF4-FFF2-40B4-BE49-F238E27FC236}">
                    <a16:creationId xmlns:a16="http://schemas.microsoft.com/office/drawing/2014/main" xmlns="" id="{5904EE57-8A73-FBD6-19AA-5BC573152B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" name="Text Box 106">
                <a:extLst>
                  <a:ext uri="{FF2B5EF4-FFF2-40B4-BE49-F238E27FC236}">
                    <a16:creationId xmlns:a16="http://schemas.microsoft.com/office/drawing/2014/main" xmlns="" id="{BEF602DC-6069-6BFD-134C-A45764F22E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3274" y="4192806"/>
                <a:ext cx="2332549" cy="1089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Calibri" panose="020F0502020204030204" pitchFamily="34" charset="0"/>
                  </a:rPr>
                  <a:t>Network layer delivering IP datagram payload into TCP socket buffers</a:t>
                </a:r>
              </a:p>
            </p:txBody>
          </p:sp>
          <p:sp>
            <p:nvSpPr>
              <p:cNvPr id="36" name="Line 108">
                <a:extLst>
                  <a:ext uri="{FF2B5EF4-FFF2-40B4-BE49-F238E27FC236}">
                    <a16:creationId xmlns:a16="http://schemas.microsoft.com/office/drawing/2014/main" xmlns="" id="{E5028672-087F-C395-8FB8-AAF7394A6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6339" y="4724124"/>
                <a:ext cx="522908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" name="Text Box 116">
                <a:extLst>
                  <a:ext uri="{FF2B5EF4-FFF2-40B4-BE49-F238E27FC236}">
                    <a16:creationId xmlns:a16="http://schemas.microsoft.com/office/drawing/2014/main" xmlns="" id="{ADDFBB0F-6A7B-6F91-BA5D-7B6B807590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31" name="Curved Down Arrow 5">
              <a:extLst>
                <a:ext uri="{FF2B5EF4-FFF2-40B4-BE49-F238E27FC236}">
                  <a16:creationId xmlns:a16="http://schemas.microsoft.com/office/drawing/2014/main" xmlns="" id="{C941CEEF-83D9-C28F-B435-C2B69A10BE03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8F283FFB-C65E-1884-A569-D5C7A6E185A4}"/>
              </a:ext>
            </a:extLst>
          </p:cNvPr>
          <p:cNvGrpSpPr/>
          <p:nvPr/>
        </p:nvGrpSpPr>
        <p:grpSpPr>
          <a:xfrm>
            <a:off x="4809270" y="1921919"/>
            <a:ext cx="4984933" cy="885919"/>
            <a:chOff x="4989152" y="1607125"/>
            <a:chExt cx="4984933" cy="88591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xmlns="" id="{068C59C2-58A8-55C9-FEA8-107B2E3EFC37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45" name="Line 105">
                <a:extLst>
                  <a:ext uri="{FF2B5EF4-FFF2-40B4-BE49-F238E27FC236}">
                    <a16:creationId xmlns:a16="http://schemas.microsoft.com/office/drawing/2014/main" xmlns="" id="{83B323A0-BB2F-BC1F-5A33-D9F9FD28FC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" name="Text Box 104">
                <a:extLst>
                  <a:ext uri="{FF2B5EF4-FFF2-40B4-BE49-F238E27FC236}">
                    <a16:creationId xmlns:a16="http://schemas.microsoft.com/office/drawing/2014/main" xmlns="" id="{6304BA28-0A73-B6D7-7C85-316071032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47" name="Rectangle 86">
                <a:extLst>
                  <a:ext uri="{FF2B5EF4-FFF2-40B4-BE49-F238E27FC236}">
                    <a16:creationId xmlns:a16="http://schemas.microsoft.com/office/drawing/2014/main" xmlns="" id="{D6519EFE-3063-4BB7-BB08-1C16507C4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4" name="Curved Down Arrow 55">
              <a:extLst>
                <a:ext uri="{FF2B5EF4-FFF2-40B4-BE49-F238E27FC236}">
                  <a16:creationId xmlns:a16="http://schemas.microsoft.com/office/drawing/2014/main" xmlns="" id="{8864F7C4-8D6F-E791-E11E-025D57EE5E2A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223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836C4E3-5526-CB56-E72F-BA7F38902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2DB3FA-0C06-5C79-55FE-43E92CBBAEBB}"/>
              </a:ext>
            </a:extLst>
          </p:cNvPr>
          <p:cNvSpPr txBox="1">
            <a:spLocks/>
          </p:cNvSpPr>
          <p:nvPr/>
        </p:nvSpPr>
        <p:spPr>
          <a:xfrm>
            <a:off x="184093" y="619211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flow control</a:t>
            </a:r>
          </a:p>
        </p:txBody>
      </p:sp>
      <p:sp>
        <p:nvSpPr>
          <p:cNvPr id="3" name="Rectangle 72">
            <a:extLst>
              <a:ext uri="{FF2B5EF4-FFF2-40B4-BE49-F238E27FC236}">
                <a16:creationId xmlns:a16="http://schemas.microsoft.com/office/drawing/2014/main" xmlns="" id="{89F6C3F6-D2DC-24B1-0FB1-1B58046B2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196" y="1429695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" name="Freeform 32">
            <a:extLst>
              <a:ext uri="{FF2B5EF4-FFF2-40B4-BE49-F238E27FC236}">
                <a16:creationId xmlns:a16="http://schemas.microsoft.com/office/drawing/2014/main" xmlns="" id="{F74EAD53-4254-6351-B574-3412E8A906E7}"/>
              </a:ext>
            </a:extLst>
          </p:cNvPr>
          <p:cNvSpPr>
            <a:spLocks/>
          </p:cNvSpPr>
          <p:nvPr/>
        </p:nvSpPr>
        <p:spPr bwMode="auto">
          <a:xfrm>
            <a:off x="10634771" y="1423345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xmlns="" id="{F200206E-AFF6-AB06-732C-7BD85B621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471" y="1531295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" name="Oval 31">
            <a:extLst>
              <a:ext uri="{FF2B5EF4-FFF2-40B4-BE49-F238E27FC236}">
                <a16:creationId xmlns:a16="http://schemas.microsoft.com/office/drawing/2014/main" xmlns="" id="{CA0B00F2-687B-FC4E-0B32-5C4E4A774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7221" y="1588445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7" name="Group 47">
            <a:extLst>
              <a:ext uri="{FF2B5EF4-FFF2-40B4-BE49-F238E27FC236}">
                <a16:creationId xmlns:a16="http://schemas.microsoft.com/office/drawing/2014/main" xmlns="" id="{BDC8EBEE-707C-D4F3-421A-11F2796FD2AE}"/>
              </a:ext>
            </a:extLst>
          </p:cNvPr>
          <p:cNvGrpSpPr>
            <a:grpSpLocks/>
          </p:cNvGrpSpPr>
          <p:nvPr/>
        </p:nvGrpSpPr>
        <p:grpSpPr bwMode="auto">
          <a:xfrm>
            <a:off x="8415446" y="2656832"/>
            <a:ext cx="1795463" cy="688975"/>
            <a:chOff x="1173" y="2345"/>
            <a:chExt cx="1131" cy="434"/>
          </a:xfrm>
        </p:grpSpPr>
        <p:sp>
          <p:nvSpPr>
            <p:cNvPr id="8" name="Rectangle 44">
              <a:extLst>
                <a:ext uri="{FF2B5EF4-FFF2-40B4-BE49-F238E27FC236}">
                  <a16:creationId xmlns:a16="http://schemas.microsoft.com/office/drawing/2014/main" xmlns="" id="{A3237BFB-EB54-9959-8A2B-EFDED9905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Text Box 46">
              <a:extLst>
                <a:ext uri="{FF2B5EF4-FFF2-40B4-BE49-F238E27FC236}">
                  <a16:creationId xmlns:a16="http://schemas.microsoft.com/office/drawing/2014/main" xmlns="" id="{ECB60810-13D9-734E-BD73-A7CABC42C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0" name="Oval 48">
            <a:extLst>
              <a:ext uri="{FF2B5EF4-FFF2-40B4-BE49-F238E27FC236}">
                <a16:creationId xmlns:a16="http://schemas.microsoft.com/office/drawing/2014/main" xmlns="" id="{AF9EF10F-F527-8F57-6BEC-71C89C8DB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3721" y="3680770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" name="Text Box 64">
            <a:extLst>
              <a:ext uri="{FF2B5EF4-FFF2-40B4-BE49-F238E27FC236}">
                <a16:creationId xmlns:a16="http://schemas.microsoft.com/office/drawing/2014/main" xmlns="" id="{F5995B66-E7D3-3B27-1425-0E50D921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0134" y="3709613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2" name="Oval 65">
            <a:extLst>
              <a:ext uri="{FF2B5EF4-FFF2-40B4-BE49-F238E27FC236}">
                <a16:creationId xmlns:a16="http://schemas.microsoft.com/office/drawing/2014/main" xmlns="" id="{235D4CF8-5596-6F00-B7E7-CC576C32D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1659" y="4666607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" name="Text Box 66">
            <a:extLst>
              <a:ext uri="{FF2B5EF4-FFF2-40B4-BE49-F238E27FC236}">
                <a16:creationId xmlns:a16="http://schemas.microsoft.com/office/drawing/2014/main" xmlns="" id="{62306984-F6ED-E2B1-7FAE-3D842C7A8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6473" y="4699753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" name="Line 68">
            <a:extLst>
              <a:ext uri="{FF2B5EF4-FFF2-40B4-BE49-F238E27FC236}">
                <a16:creationId xmlns:a16="http://schemas.microsoft.com/office/drawing/2014/main" xmlns="" id="{4F1F50F5-ADF4-FA71-1F49-CB8E0075CAE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121" y="4415782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" name="Line 69">
            <a:extLst>
              <a:ext uri="{FF2B5EF4-FFF2-40B4-BE49-F238E27FC236}">
                <a16:creationId xmlns:a16="http://schemas.microsoft.com/office/drawing/2014/main" xmlns="" id="{D78DD7C1-2BDD-34B2-C1C4-8096002B4C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3821" y="2564757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6" name="Group 56">
            <a:extLst>
              <a:ext uri="{FF2B5EF4-FFF2-40B4-BE49-F238E27FC236}">
                <a16:creationId xmlns:a16="http://schemas.microsoft.com/office/drawing/2014/main" xmlns="" id="{59076544-BE2E-16BF-FD20-90FFEB1A1DD4}"/>
              </a:ext>
            </a:extLst>
          </p:cNvPr>
          <p:cNvGrpSpPr>
            <a:grpSpLocks/>
          </p:cNvGrpSpPr>
          <p:nvPr/>
        </p:nvGrpSpPr>
        <p:grpSpPr bwMode="auto">
          <a:xfrm>
            <a:off x="9090134" y="2448870"/>
            <a:ext cx="533400" cy="206375"/>
            <a:chOff x="2003" y="1816"/>
            <a:chExt cx="336" cy="1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96FD1788-D106-887C-B55B-B70D584AF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A5439466-C006-ED2F-C41B-6C0F77663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086DB687-590F-93D0-1B5E-1ED806C88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4280CF29-99F3-206C-B077-1B58AEC1D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" name="Text Box 103">
            <a:extLst>
              <a:ext uri="{FF2B5EF4-FFF2-40B4-BE49-F238E27FC236}">
                <a16:creationId xmlns:a16="http://schemas.microsoft.com/office/drawing/2014/main" xmlns="" id="{EAD7ED74-7CAB-6F28-5A5B-C774E435F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4746" y="6168294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22" name="Line 115">
            <a:extLst>
              <a:ext uri="{FF2B5EF4-FFF2-40B4-BE49-F238E27FC236}">
                <a16:creationId xmlns:a16="http://schemas.microsoft.com/office/drawing/2014/main" xmlns="" id="{55A112CC-7755-03B3-97A3-7386C3F84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35551" y="5764609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" name="Line 118">
            <a:extLst>
              <a:ext uri="{FF2B5EF4-FFF2-40B4-BE49-F238E27FC236}">
                <a16:creationId xmlns:a16="http://schemas.microsoft.com/office/drawing/2014/main" xmlns="" id="{F47192A3-CEC5-ED92-4C68-F00DDA034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0009" y="5341295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4" name="Group 124">
            <a:extLst>
              <a:ext uri="{FF2B5EF4-FFF2-40B4-BE49-F238E27FC236}">
                <a16:creationId xmlns:a16="http://schemas.microsoft.com/office/drawing/2014/main" xmlns="" id="{BC81693C-B108-D26D-77E9-88E9260C99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68134" y="4934895"/>
            <a:ext cx="869950" cy="906462"/>
            <a:chOff x="-44" y="1473"/>
            <a:chExt cx="981" cy="1105"/>
          </a:xfrm>
        </p:grpSpPr>
        <p:pic>
          <p:nvPicPr>
            <p:cNvPr id="25" name="Picture 125" descr="desktop_computer_stylized_medium">
              <a:extLst>
                <a:ext uri="{FF2B5EF4-FFF2-40B4-BE49-F238E27FC236}">
                  <a16:creationId xmlns:a16="http://schemas.microsoft.com/office/drawing/2014/main" xmlns="" id="{5A598417-9E93-2074-24BD-538047E16A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126">
              <a:extLst>
                <a:ext uri="{FF2B5EF4-FFF2-40B4-BE49-F238E27FC236}">
                  <a16:creationId xmlns:a16="http://schemas.microsoft.com/office/drawing/2014/main" xmlns="" id="{BC03AA3D-CE13-4315-8D81-582050F528B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C46E7B32-D4F1-9ACF-66B0-42FABDFFE3BF}"/>
              </a:ext>
            </a:extLst>
          </p:cNvPr>
          <p:cNvSpPr txBox="1"/>
          <p:nvPr/>
        </p:nvSpPr>
        <p:spPr>
          <a:xfrm>
            <a:off x="1057329" y="1781795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28" name="Line 117">
            <a:extLst>
              <a:ext uri="{FF2B5EF4-FFF2-40B4-BE49-F238E27FC236}">
                <a16:creationId xmlns:a16="http://schemas.microsoft.com/office/drawing/2014/main" xmlns="" id="{8EC9A4DB-70A9-4E43-5185-3372DF3AFE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9249" y="5351470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C32C72C0-F8F2-0998-E42F-788478D91EEB}"/>
              </a:ext>
            </a:extLst>
          </p:cNvPr>
          <p:cNvGrpSpPr/>
          <p:nvPr/>
        </p:nvGrpSpPr>
        <p:grpSpPr>
          <a:xfrm>
            <a:off x="5534462" y="3151126"/>
            <a:ext cx="4533734" cy="2971623"/>
            <a:chOff x="5189688" y="2806352"/>
            <a:chExt cx="4533734" cy="297162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xmlns="" id="{5B8F3FBD-E336-3145-968A-434E30E1759A}"/>
                </a:ext>
              </a:extLst>
            </p:cNvPr>
            <p:cNvGrpSpPr/>
            <p:nvPr/>
          </p:nvGrpSpPr>
          <p:grpSpPr>
            <a:xfrm>
              <a:off x="5189688" y="3080408"/>
              <a:ext cx="3750934" cy="2697567"/>
              <a:chOff x="4633274" y="3577949"/>
              <a:chExt cx="3750934" cy="2697567"/>
            </a:xfrm>
          </p:grpSpPr>
          <p:sp>
            <p:nvSpPr>
              <p:cNvPr id="32" name="Rectangle 91">
                <a:extLst>
                  <a:ext uri="{FF2B5EF4-FFF2-40B4-BE49-F238E27FC236}">
                    <a16:creationId xmlns:a16="http://schemas.microsoft.com/office/drawing/2014/main" xmlns="" id="{DC868DF7-81F1-EFFD-A9AE-C47F306E8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xmlns="" id="{39C80343-F2E8-19B6-2646-1AA953C58786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38" name="Rectangle 74">
                  <a:extLst>
                    <a:ext uri="{FF2B5EF4-FFF2-40B4-BE49-F238E27FC236}">
                      <a16:creationId xmlns:a16="http://schemas.microsoft.com/office/drawing/2014/main" xmlns="" id="{2F8DCC6B-539D-BFDA-3E5B-D8ED00FBB0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39" name="Rectangle 92">
                  <a:extLst>
                    <a:ext uri="{FF2B5EF4-FFF2-40B4-BE49-F238E27FC236}">
                      <a16:creationId xmlns:a16="http://schemas.microsoft.com/office/drawing/2014/main" xmlns="" id="{0E72F4F1-0A77-9FA9-72E0-62FCD10C89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0" name="Line 75">
                  <a:extLst>
                    <a:ext uri="{FF2B5EF4-FFF2-40B4-BE49-F238E27FC236}">
                      <a16:creationId xmlns:a16="http://schemas.microsoft.com/office/drawing/2014/main" xmlns="" id="{E445A549-41FD-5574-A86C-0E6FBB947C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1" name="Line 76">
                  <a:extLst>
                    <a:ext uri="{FF2B5EF4-FFF2-40B4-BE49-F238E27FC236}">
                      <a16:creationId xmlns:a16="http://schemas.microsoft.com/office/drawing/2014/main" xmlns="" id="{0041E604-BF28-C6D2-F670-CD0ADF391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4" name="Rectangle 86">
                <a:extLst>
                  <a:ext uri="{FF2B5EF4-FFF2-40B4-BE49-F238E27FC236}">
                    <a16:creationId xmlns:a16="http://schemas.microsoft.com/office/drawing/2014/main" xmlns="" id="{12E3B9EE-2B48-7A48-D1C5-69AEE3DAE5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" name="Text Box 106">
                <a:extLst>
                  <a:ext uri="{FF2B5EF4-FFF2-40B4-BE49-F238E27FC236}">
                    <a16:creationId xmlns:a16="http://schemas.microsoft.com/office/drawing/2014/main" xmlns="" id="{BAAB2577-06FE-F705-E839-D73C4C874A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3274" y="4192806"/>
                <a:ext cx="2332549" cy="1089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Calibri" panose="020F0502020204030204" pitchFamily="34" charset="0"/>
                  </a:rPr>
                  <a:t>Network layer delivering IP datagram payload into TCP socket buffers</a:t>
                </a:r>
              </a:p>
            </p:txBody>
          </p:sp>
          <p:sp>
            <p:nvSpPr>
              <p:cNvPr id="36" name="Line 108">
                <a:extLst>
                  <a:ext uri="{FF2B5EF4-FFF2-40B4-BE49-F238E27FC236}">
                    <a16:creationId xmlns:a16="http://schemas.microsoft.com/office/drawing/2014/main" xmlns="" id="{5B7DE329-5DD8-2800-7D7F-B8E48323A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6339" y="4724124"/>
                <a:ext cx="522908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" name="Text Box 116">
                <a:extLst>
                  <a:ext uri="{FF2B5EF4-FFF2-40B4-BE49-F238E27FC236}">
                    <a16:creationId xmlns:a16="http://schemas.microsoft.com/office/drawing/2014/main" xmlns="" id="{985FA8FA-1004-6DA7-1F29-D47073BDF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31" name="Curved Down Arrow 5">
              <a:extLst>
                <a:ext uri="{FF2B5EF4-FFF2-40B4-BE49-F238E27FC236}">
                  <a16:creationId xmlns:a16="http://schemas.microsoft.com/office/drawing/2014/main" xmlns="" id="{37D9DD5D-74CF-9036-20FC-877B6E347F54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EA85BA73-6D96-3B91-064E-82F23E87A8E1}"/>
              </a:ext>
            </a:extLst>
          </p:cNvPr>
          <p:cNvGrpSpPr/>
          <p:nvPr/>
        </p:nvGrpSpPr>
        <p:grpSpPr>
          <a:xfrm>
            <a:off x="5333926" y="1951899"/>
            <a:ext cx="4984933" cy="885919"/>
            <a:chOff x="4989152" y="1607125"/>
            <a:chExt cx="4984933" cy="88591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xmlns="" id="{B01C4147-0BFB-F5B3-811C-3168EF6EFE60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45" name="Line 105">
                <a:extLst>
                  <a:ext uri="{FF2B5EF4-FFF2-40B4-BE49-F238E27FC236}">
                    <a16:creationId xmlns:a16="http://schemas.microsoft.com/office/drawing/2014/main" xmlns="" id="{C5A874F2-F427-C8D6-AD7D-C3CEB4E95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" name="Text Box 104">
                <a:extLst>
                  <a:ext uri="{FF2B5EF4-FFF2-40B4-BE49-F238E27FC236}">
                    <a16:creationId xmlns:a16="http://schemas.microsoft.com/office/drawing/2014/main" xmlns="" id="{265A6131-80E1-9C37-4D01-981860BFA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47" name="Rectangle 86">
                <a:extLst>
                  <a:ext uri="{FF2B5EF4-FFF2-40B4-BE49-F238E27FC236}">
                    <a16:creationId xmlns:a16="http://schemas.microsoft.com/office/drawing/2014/main" xmlns="" id="{3BBDFD5C-8123-7D8A-A695-916B21DA6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4" name="Curved Down Arrow 55">
              <a:extLst>
                <a:ext uri="{FF2B5EF4-FFF2-40B4-BE49-F238E27FC236}">
                  <a16:creationId xmlns:a16="http://schemas.microsoft.com/office/drawing/2014/main" xmlns="" id="{72FF4CBF-050E-5321-A3ED-2A6C7D21AF0E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8" name="Picture 2" descr="Drinking from the Firehose: How VividCortex Compresses its Metrics">
            <a:extLst>
              <a:ext uri="{FF2B5EF4-FFF2-40B4-BE49-F238E27FC236}">
                <a16:creationId xmlns:a16="http://schemas.microsoft.com/office/drawing/2014/main" xmlns="" id="{D5D9A37F-04B7-432C-EE91-6ADE9E4F9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528" y="4828853"/>
            <a:ext cx="3018692" cy="181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Drinking From the Information Firehose">
            <a:extLst>
              <a:ext uri="{FF2B5EF4-FFF2-40B4-BE49-F238E27FC236}">
                <a16:creationId xmlns:a16="http://schemas.microsoft.com/office/drawing/2014/main" xmlns="" id="{33757E90-A23D-68F6-302B-CD55020F2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997" y="3644996"/>
            <a:ext cx="2699594" cy="178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489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A19418-0580-C2B3-9002-D71DAEE70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EF8104-1339-06C9-4CAA-483939E8BF8C}"/>
              </a:ext>
            </a:extLst>
          </p:cNvPr>
          <p:cNvSpPr txBox="1">
            <a:spLocks/>
          </p:cNvSpPr>
          <p:nvPr/>
        </p:nvSpPr>
        <p:spPr>
          <a:xfrm>
            <a:off x="224067" y="575533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flow control</a:t>
            </a:r>
          </a:p>
        </p:txBody>
      </p:sp>
      <p:sp>
        <p:nvSpPr>
          <p:cNvPr id="3" name="Rectangle 72">
            <a:extLst>
              <a:ext uri="{FF2B5EF4-FFF2-40B4-BE49-F238E27FC236}">
                <a16:creationId xmlns:a16="http://schemas.microsoft.com/office/drawing/2014/main" xmlns="" id="{A34318A9-98A1-830F-B29F-D76EFD449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376" y="1354744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" name="Freeform 32">
            <a:extLst>
              <a:ext uri="{FF2B5EF4-FFF2-40B4-BE49-F238E27FC236}">
                <a16:creationId xmlns:a16="http://schemas.microsoft.com/office/drawing/2014/main" xmlns="" id="{8DEC003A-4F6F-7A02-BEB6-69F2F86E5DA6}"/>
              </a:ext>
            </a:extLst>
          </p:cNvPr>
          <p:cNvSpPr>
            <a:spLocks/>
          </p:cNvSpPr>
          <p:nvPr/>
        </p:nvSpPr>
        <p:spPr bwMode="auto">
          <a:xfrm>
            <a:off x="10359951" y="1348394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xmlns="" id="{E6C972AB-E2A7-EE22-DF34-A3908720A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651" y="1456344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" name="Oval 31">
            <a:extLst>
              <a:ext uri="{FF2B5EF4-FFF2-40B4-BE49-F238E27FC236}">
                <a16:creationId xmlns:a16="http://schemas.microsoft.com/office/drawing/2014/main" xmlns="" id="{B0ACFDFB-0BAD-0E8F-99B3-0D47ED028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01" y="1513494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7" name="Group 47">
            <a:extLst>
              <a:ext uri="{FF2B5EF4-FFF2-40B4-BE49-F238E27FC236}">
                <a16:creationId xmlns:a16="http://schemas.microsoft.com/office/drawing/2014/main" xmlns="" id="{2588719D-8A7B-1EDB-DF69-D4E5895491F1}"/>
              </a:ext>
            </a:extLst>
          </p:cNvPr>
          <p:cNvGrpSpPr>
            <a:grpSpLocks/>
          </p:cNvGrpSpPr>
          <p:nvPr/>
        </p:nvGrpSpPr>
        <p:grpSpPr bwMode="auto">
          <a:xfrm>
            <a:off x="8140626" y="2581881"/>
            <a:ext cx="1795463" cy="688975"/>
            <a:chOff x="1173" y="2345"/>
            <a:chExt cx="1131" cy="434"/>
          </a:xfrm>
        </p:grpSpPr>
        <p:sp>
          <p:nvSpPr>
            <p:cNvPr id="8" name="Rectangle 44">
              <a:extLst>
                <a:ext uri="{FF2B5EF4-FFF2-40B4-BE49-F238E27FC236}">
                  <a16:creationId xmlns:a16="http://schemas.microsoft.com/office/drawing/2014/main" xmlns="" id="{AAA42F0C-1358-13AE-577A-49B71E79B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Text Box 46">
              <a:extLst>
                <a:ext uri="{FF2B5EF4-FFF2-40B4-BE49-F238E27FC236}">
                  <a16:creationId xmlns:a16="http://schemas.microsoft.com/office/drawing/2014/main" xmlns="" id="{7875B0EB-0E0D-8AAF-9BB9-074405148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0" name="Oval 48">
            <a:extLst>
              <a:ext uri="{FF2B5EF4-FFF2-40B4-BE49-F238E27FC236}">
                <a16:creationId xmlns:a16="http://schemas.microsoft.com/office/drawing/2014/main" xmlns="" id="{5397797C-CD53-5665-EE74-22466A73D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8901" y="3605819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" name="Text Box 64">
            <a:extLst>
              <a:ext uri="{FF2B5EF4-FFF2-40B4-BE49-F238E27FC236}">
                <a16:creationId xmlns:a16="http://schemas.microsoft.com/office/drawing/2014/main" xmlns="" id="{36743EA5-C46B-2477-2A58-30A2D9646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5314" y="3634662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2" name="Oval 65">
            <a:extLst>
              <a:ext uri="{FF2B5EF4-FFF2-40B4-BE49-F238E27FC236}">
                <a16:creationId xmlns:a16="http://schemas.microsoft.com/office/drawing/2014/main" xmlns="" id="{321F0B7A-E746-DF9C-437E-BD81AA95A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839" y="459165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" name="Text Box 66">
            <a:extLst>
              <a:ext uri="{FF2B5EF4-FFF2-40B4-BE49-F238E27FC236}">
                <a16:creationId xmlns:a16="http://schemas.microsoft.com/office/drawing/2014/main" xmlns="" id="{60E1074C-0121-7427-1C1B-F9C7AEB82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1653" y="4624802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" name="Line 68">
            <a:extLst>
              <a:ext uri="{FF2B5EF4-FFF2-40B4-BE49-F238E27FC236}">
                <a16:creationId xmlns:a16="http://schemas.microsoft.com/office/drawing/2014/main" xmlns="" id="{57468916-24A2-1270-BE13-3AB05F4DA0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6301" y="4340831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" name="Line 69">
            <a:extLst>
              <a:ext uri="{FF2B5EF4-FFF2-40B4-BE49-F238E27FC236}">
                <a16:creationId xmlns:a16="http://schemas.microsoft.com/office/drawing/2014/main" xmlns="" id="{067FB976-B320-95E4-F199-AE80F7AD1E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9001" y="2489806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6" name="Group 56">
            <a:extLst>
              <a:ext uri="{FF2B5EF4-FFF2-40B4-BE49-F238E27FC236}">
                <a16:creationId xmlns:a16="http://schemas.microsoft.com/office/drawing/2014/main" xmlns="" id="{300A84F8-3E9C-F0C4-A33B-B9CB7DD69438}"/>
              </a:ext>
            </a:extLst>
          </p:cNvPr>
          <p:cNvGrpSpPr>
            <a:grpSpLocks/>
          </p:cNvGrpSpPr>
          <p:nvPr/>
        </p:nvGrpSpPr>
        <p:grpSpPr bwMode="auto">
          <a:xfrm>
            <a:off x="8815314" y="2373919"/>
            <a:ext cx="533400" cy="206375"/>
            <a:chOff x="2003" y="1816"/>
            <a:chExt cx="336" cy="1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BF041072-9D44-FB7C-E1D8-21F8AC2C3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196143E5-9183-9F1E-1B24-6AF10B286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E56EA059-5E85-93D0-CBF1-6AF8CD0C3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D1D550CA-D00C-A9B8-6386-989F4FFD9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" name="Text Box 103">
            <a:extLst>
              <a:ext uri="{FF2B5EF4-FFF2-40B4-BE49-F238E27FC236}">
                <a16:creationId xmlns:a16="http://schemas.microsoft.com/office/drawing/2014/main" xmlns="" id="{90CCF10C-F4EE-540C-3F9E-E19AF89BA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9926" y="6093343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22" name="Line 115">
            <a:extLst>
              <a:ext uri="{FF2B5EF4-FFF2-40B4-BE49-F238E27FC236}">
                <a16:creationId xmlns:a16="http://schemas.microsoft.com/office/drawing/2014/main" xmlns="" id="{CC66EE85-BE2C-4975-B8AD-61BC7759B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60731" y="5689658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" name="Line 118">
            <a:extLst>
              <a:ext uri="{FF2B5EF4-FFF2-40B4-BE49-F238E27FC236}">
                <a16:creationId xmlns:a16="http://schemas.microsoft.com/office/drawing/2014/main" xmlns="" id="{B6087ECD-4C7C-7C07-E8B8-470A4B39B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55189" y="5266344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4" name="Group 124">
            <a:extLst>
              <a:ext uri="{FF2B5EF4-FFF2-40B4-BE49-F238E27FC236}">
                <a16:creationId xmlns:a16="http://schemas.microsoft.com/office/drawing/2014/main" xmlns="" id="{5CB74585-D941-C5A1-CDB8-4EC59EDBCE5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93314" y="4859944"/>
            <a:ext cx="869950" cy="906462"/>
            <a:chOff x="-44" y="1473"/>
            <a:chExt cx="981" cy="1105"/>
          </a:xfrm>
        </p:grpSpPr>
        <p:pic>
          <p:nvPicPr>
            <p:cNvPr id="25" name="Picture 125" descr="desktop_computer_stylized_medium">
              <a:extLst>
                <a:ext uri="{FF2B5EF4-FFF2-40B4-BE49-F238E27FC236}">
                  <a16:creationId xmlns:a16="http://schemas.microsoft.com/office/drawing/2014/main" xmlns="" id="{5A55CCA9-BA78-F405-64E7-8DB330E06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126">
              <a:extLst>
                <a:ext uri="{FF2B5EF4-FFF2-40B4-BE49-F238E27FC236}">
                  <a16:creationId xmlns:a16="http://schemas.microsoft.com/office/drawing/2014/main" xmlns="" id="{B7BE6DAD-678F-5A87-B1DF-4C6CB2A44DA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6429117-B7B5-04C5-AA21-E39558243AE8}"/>
              </a:ext>
            </a:extLst>
          </p:cNvPr>
          <p:cNvSpPr txBox="1"/>
          <p:nvPr/>
        </p:nvSpPr>
        <p:spPr>
          <a:xfrm>
            <a:off x="782509" y="1706844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28" name="Line 117">
            <a:extLst>
              <a:ext uri="{FF2B5EF4-FFF2-40B4-BE49-F238E27FC236}">
                <a16:creationId xmlns:a16="http://schemas.microsoft.com/office/drawing/2014/main" xmlns="" id="{018F644A-A7B5-65DE-BF1F-EB5AEF4F4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4429" y="5276519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" name="Rectangle 91">
            <a:extLst>
              <a:ext uri="{FF2B5EF4-FFF2-40B4-BE49-F238E27FC236}">
                <a16:creationId xmlns:a16="http://schemas.microsoft.com/office/drawing/2014/main" xmlns="" id="{EADB1419-67FC-97B5-EE8D-49FD380CC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914" y="4391631"/>
            <a:ext cx="720725" cy="209550"/>
          </a:xfrm>
          <a:prstGeom prst="rect">
            <a:avLst/>
          </a:prstGeom>
          <a:solidFill>
            <a:srgbClr val="0000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61CE3B5B-2009-9B45-7FFE-E83A20049602}"/>
              </a:ext>
            </a:extLst>
          </p:cNvPr>
          <p:cNvGrpSpPr/>
          <p:nvPr/>
        </p:nvGrpSpPr>
        <p:grpSpPr>
          <a:xfrm>
            <a:off x="7971207" y="5323494"/>
            <a:ext cx="1039369" cy="214398"/>
            <a:chOff x="7344839" y="5551212"/>
            <a:chExt cx="1039369" cy="214398"/>
          </a:xfrm>
        </p:grpSpPr>
        <p:sp>
          <p:nvSpPr>
            <p:cNvPr id="31" name="Rectangle 74">
              <a:extLst>
                <a:ext uri="{FF2B5EF4-FFF2-40B4-BE49-F238E27FC236}">
                  <a16:creationId xmlns:a16="http://schemas.microsoft.com/office/drawing/2014/main" xmlns="" id="{1086D4F5-D9BA-9132-8D9E-521EFB67C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4839" y="5556060"/>
              <a:ext cx="1006475" cy="20955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" name="Rectangle 92">
              <a:extLst>
                <a:ext uri="{FF2B5EF4-FFF2-40B4-BE49-F238E27FC236}">
                  <a16:creationId xmlns:a16="http://schemas.microsoft.com/office/drawing/2014/main" xmlns="" id="{D225E184-E335-6E9F-943A-2DE277D81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0783" y="5551212"/>
              <a:ext cx="733425" cy="212725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" name="Line 75">
              <a:extLst>
                <a:ext uri="{FF2B5EF4-FFF2-40B4-BE49-F238E27FC236}">
                  <a16:creationId xmlns:a16="http://schemas.microsoft.com/office/drawing/2014/main" xmlns="" id="{3701FCC5-5973-98D0-AB23-A03528E5A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8859" y="5555058"/>
              <a:ext cx="0" cy="20637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" name="Line 76">
              <a:extLst>
                <a:ext uri="{FF2B5EF4-FFF2-40B4-BE49-F238E27FC236}">
                  <a16:creationId xmlns:a16="http://schemas.microsoft.com/office/drawing/2014/main" xmlns="" id="{AA335385-8C76-C9F6-4526-80348D8A0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1259" y="5555058"/>
              <a:ext cx="0" cy="20637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5" name="Rectangle 86">
            <a:extLst>
              <a:ext uri="{FF2B5EF4-FFF2-40B4-BE49-F238E27FC236}">
                <a16:creationId xmlns:a16="http://schemas.microsoft.com/office/drawing/2014/main" xmlns="" id="{17976C45-F52F-4D8A-2459-3B03AB83C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976" y="3350231"/>
            <a:ext cx="720725" cy="209550"/>
          </a:xfrm>
          <a:prstGeom prst="rect">
            <a:avLst/>
          </a:prstGeom>
          <a:solidFill>
            <a:srgbClr val="0000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6" name="Text Box 116">
            <a:extLst>
              <a:ext uri="{FF2B5EF4-FFF2-40B4-BE49-F238E27FC236}">
                <a16:creationId xmlns:a16="http://schemas.microsoft.com/office/drawing/2014/main" xmlns="" id="{77E16FEC-22C2-45D9-AD83-03DCE909E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889" y="5742998"/>
            <a:ext cx="1133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from sender</a:t>
            </a:r>
          </a:p>
        </p:txBody>
      </p:sp>
      <p:sp>
        <p:nvSpPr>
          <p:cNvPr id="37" name="Curved Down Arrow 5">
            <a:extLst>
              <a:ext uri="{FF2B5EF4-FFF2-40B4-BE49-F238E27FC236}">
                <a16:creationId xmlns:a16="http://schemas.microsoft.com/office/drawing/2014/main" xmlns="" id="{C738A123-AD25-C499-F87D-75A0EF5E85E3}"/>
              </a:ext>
            </a:extLst>
          </p:cNvPr>
          <p:cNvSpPr/>
          <p:nvPr/>
        </p:nvSpPr>
        <p:spPr>
          <a:xfrm>
            <a:off x="8382681" y="3076175"/>
            <a:ext cx="1410695" cy="2718148"/>
          </a:xfrm>
          <a:prstGeom prst="curvedDownArrow">
            <a:avLst>
              <a:gd name="adj1" fmla="val 13767"/>
              <a:gd name="adj2" fmla="val 28170"/>
              <a:gd name="adj3" fmla="val 25000"/>
            </a:avLst>
          </a:prstGeom>
          <a:solidFill>
            <a:srgbClr val="C0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54185B61-CE78-C656-9E4E-456C1C9FF1F8}"/>
              </a:ext>
            </a:extLst>
          </p:cNvPr>
          <p:cNvGrpSpPr/>
          <p:nvPr/>
        </p:nvGrpSpPr>
        <p:grpSpPr>
          <a:xfrm>
            <a:off x="5059106" y="1876948"/>
            <a:ext cx="4984933" cy="885919"/>
            <a:chOff x="4989152" y="1607125"/>
            <a:chExt cx="4984933" cy="88591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xmlns="" id="{1F22F98C-478D-BD6A-1A80-0CE5038CC2F6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41" name="Line 105">
                <a:extLst>
                  <a:ext uri="{FF2B5EF4-FFF2-40B4-BE49-F238E27FC236}">
                    <a16:creationId xmlns:a16="http://schemas.microsoft.com/office/drawing/2014/main" xmlns="" id="{00ABEA45-0BBE-CAC2-0318-822F1292E6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" name="Text Box 104">
                <a:extLst>
                  <a:ext uri="{FF2B5EF4-FFF2-40B4-BE49-F238E27FC236}">
                    <a16:creationId xmlns:a16="http://schemas.microsoft.com/office/drawing/2014/main" xmlns="" id="{D527DF82-7C5C-CB5C-05C4-FE91506651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43" name="Rectangle 86">
                <a:extLst>
                  <a:ext uri="{FF2B5EF4-FFF2-40B4-BE49-F238E27FC236}">
                    <a16:creationId xmlns:a16="http://schemas.microsoft.com/office/drawing/2014/main" xmlns="" id="{FD05E27C-BD3E-1F94-5632-F4120F073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" name="Curved Down Arrow 55">
              <a:extLst>
                <a:ext uri="{FF2B5EF4-FFF2-40B4-BE49-F238E27FC236}">
                  <a16:creationId xmlns:a16="http://schemas.microsoft.com/office/drawing/2014/main" xmlns="" id="{5F3D8A12-A3E4-5FB4-80B4-095C55CBD826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4A016191-6DA2-76C1-9D82-D0DD693A522F}"/>
              </a:ext>
            </a:extLst>
          </p:cNvPr>
          <p:cNvGrpSpPr/>
          <p:nvPr/>
        </p:nvGrpSpPr>
        <p:grpSpPr>
          <a:xfrm>
            <a:off x="1181125" y="3695930"/>
            <a:ext cx="5034986" cy="2800562"/>
            <a:chOff x="4343173" y="1560062"/>
            <a:chExt cx="9034622" cy="4921250"/>
          </a:xfrm>
        </p:grpSpPr>
        <p:sp>
          <p:nvSpPr>
            <p:cNvPr id="45" name="Rectangle 4">
              <a:extLst>
                <a:ext uri="{FF2B5EF4-FFF2-40B4-BE49-F238E27FC236}">
                  <a16:creationId xmlns:a16="http://schemas.microsoft.com/office/drawing/2014/main" xmlns="" id="{69E3B4F1-51BF-7FBB-C84F-71E3201C4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073" y="1560062"/>
              <a:ext cx="3951287" cy="482441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6" name="Rectangle 5">
              <a:extLst>
                <a:ext uri="{FF2B5EF4-FFF2-40B4-BE49-F238E27FC236}">
                  <a16:creationId xmlns:a16="http://schemas.microsoft.com/office/drawing/2014/main" xmlns="" id="{6201E201-2E1B-FD3F-2C60-6FABF4AEE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348" y="1675949"/>
              <a:ext cx="3951287" cy="4805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7" name="Line 8">
              <a:extLst>
                <a:ext uri="{FF2B5EF4-FFF2-40B4-BE49-F238E27FC236}">
                  <a16:creationId xmlns:a16="http://schemas.microsoft.com/office/drawing/2014/main" xmlns="" id="{43EDB639-98DD-D7EC-9418-88BFD48BB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9523" y="2050599"/>
              <a:ext cx="3946525" cy="47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xmlns="" id="{E7515164-90F4-5CEF-CEC0-79FBE3A39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2430012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9" name="Line 16">
              <a:extLst>
                <a:ext uri="{FF2B5EF4-FFF2-40B4-BE49-F238E27FC236}">
                  <a16:creationId xmlns:a16="http://schemas.microsoft.com/office/drawing/2014/main" xmlns="" id="{F11E9703-2667-3C70-92E1-C33A549F5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2698" y="2811012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xmlns="" id="{54B8782B-DD67-CB8D-8123-68E9C36388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7935" y="3206299"/>
              <a:ext cx="3951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1" name="Line 19">
              <a:extLst>
                <a:ext uri="{FF2B5EF4-FFF2-40B4-BE49-F238E27FC236}">
                  <a16:creationId xmlns:a16="http://schemas.microsoft.com/office/drawing/2014/main" xmlns="" id="{E63AEBA8-B255-5BE4-0672-6420C49D8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3596824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2" name="Line 20">
              <a:extLst>
                <a:ext uri="{FF2B5EF4-FFF2-40B4-BE49-F238E27FC236}">
                  <a16:creationId xmlns:a16="http://schemas.microsoft.com/office/drawing/2014/main" xmlns="" id="{9BE10892-824C-AC00-1562-31F70CD12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4158799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3" name="Line 21">
              <a:extLst>
                <a:ext uri="{FF2B5EF4-FFF2-40B4-BE49-F238E27FC236}">
                  <a16:creationId xmlns:a16="http://schemas.microsoft.com/office/drawing/2014/main" xmlns="" id="{F1891309-74A4-2ED7-5802-9665EB65F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03735" y="2814187"/>
              <a:ext cx="4763" cy="7778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xmlns="" id="{6ECF83C9-4EDA-ED5C-3683-63026F97B72B}"/>
                </a:ext>
              </a:extLst>
            </p:cNvPr>
            <p:cNvGrpSpPr/>
            <p:nvPr/>
          </p:nvGrpSpPr>
          <p:grpSpPr>
            <a:xfrm>
              <a:off x="6113100" y="2788385"/>
              <a:ext cx="7264695" cy="1048460"/>
              <a:chOff x="6113100" y="2788385"/>
              <a:chExt cx="7264695" cy="1048460"/>
            </a:xfrm>
          </p:grpSpPr>
          <p:sp>
            <p:nvSpPr>
              <p:cNvPr id="56" name="Text Box 22">
                <a:extLst>
                  <a:ext uri="{FF2B5EF4-FFF2-40B4-BE49-F238E27FC236}">
                    <a16:creationId xmlns:a16="http://schemas.microsoft.com/office/drawing/2014/main" xmlns="" id="{C38C3723-F855-D211-A0F7-62DBD4B5B2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3100" y="2788385"/>
                <a:ext cx="2293763" cy="5247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receive window</a:t>
                </a:r>
              </a:p>
            </p:txBody>
          </p:sp>
          <p:sp>
            <p:nvSpPr>
              <p:cNvPr id="57" name="Text Box 49">
                <a:extLst>
                  <a:ext uri="{FF2B5EF4-FFF2-40B4-BE49-F238E27FC236}">
                    <a16:creationId xmlns:a16="http://schemas.microsoft.com/office/drawing/2014/main" xmlns="" id="{77812FF7-0880-A05B-703E-3ED468884B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4899" y="2847114"/>
                <a:ext cx="4652896" cy="9897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flow control: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# bytes receiver willing to accept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8" name="Line 53">
                <a:extLst>
                  <a:ext uri="{FF2B5EF4-FFF2-40B4-BE49-F238E27FC236}">
                    <a16:creationId xmlns:a16="http://schemas.microsoft.com/office/drawing/2014/main" xmlns="" id="{6B91D3A3-6143-6554-E4D1-901FCC275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42852" y="3044701"/>
                <a:ext cx="582048" cy="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5" name="Line 10">
              <a:extLst>
                <a:ext uri="{FF2B5EF4-FFF2-40B4-BE49-F238E27FC236}">
                  <a16:creationId xmlns:a16="http://schemas.microsoft.com/office/drawing/2014/main" xmlns="" id="{F031FEFC-0ED3-2F32-96ED-180E65128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89447" y="1679374"/>
              <a:ext cx="1761" cy="3651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7272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1BD53B-DDF0-1B80-EB25-2E142B767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98A6F8-869C-F7B9-BA95-661EA59370E8}"/>
              </a:ext>
            </a:extLst>
          </p:cNvPr>
          <p:cNvSpPr txBox="1">
            <a:spLocks/>
          </p:cNvSpPr>
          <p:nvPr/>
        </p:nvSpPr>
        <p:spPr>
          <a:xfrm>
            <a:off x="214074" y="637506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flow control</a:t>
            </a:r>
          </a:p>
        </p:txBody>
      </p:sp>
      <p:sp>
        <p:nvSpPr>
          <p:cNvPr id="3" name="Rectangle 72">
            <a:extLst>
              <a:ext uri="{FF2B5EF4-FFF2-40B4-BE49-F238E27FC236}">
                <a16:creationId xmlns:a16="http://schemas.microsoft.com/office/drawing/2014/main" xmlns="" id="{E737CD94-F831-0FF5-9FE5-EA591E8FF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30" y="1369734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" name="Freeform 32">
            <a:extLst>
              <a:ext uri="{FF2B5EF4-FFF2-40B4-BE49-F238E27FC236}">
                <a16:creationId xmlns:a16="http://schemas.microsoft.com/office/drawing/2014/main" xmlns="" id="{BE3FD072-AEDA-3F17-6CE2-04F41E84A924}"/>
              </a:ext>
            </a:extLst>
          </p:cNvPr>
          <p:cNvSpPr>
            <a:spLocks/>
          </p:cNvSpPr>
          <p:nvPr/>
        </p:nvSpPr>
        <p:spPr bwMode="auto">
          <a:xfrm>
            <a:off x="10125105" y="1363384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xmlns="" id="{2CED86E8-565E-0492-2669-0D37BF949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805" y="1471334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" name="Oval 31">
            <a:extLst>
              <a:ext uri="{FF2B5EF4-FFF2-40B4-BE49-F238E27FC236}">
                <a16:creationId xmlns:a16="http://schemas.microsoft.com/office/drawing/2014/main" xmlns="" id="{1910D26A-08D1-8003-4695-A4ABEBE2B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555" y="1528484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7" name="Group 47">
            <a:extLst>
              <a:ext uri="{FF2B5EF4-FFF2-40B4-BE49-F238E27FC236}">
                <a16:creationId xmlns:a16="http://schemas.microsoft.com/office/drawing/2014/main" xmlns="" id="{DBB91CE0-9841-FAF3-CBDE-BD88B1DEABCC}"/>
              </a:ext>
            </a:extLst>
          </p:cNvPr>
          <p:cNvGrpSpPr>
            <a:grpSpLocks/>
          </p:cNvGrpSpPr>
          <p:nvPr/>
        </p:nvGrpSpPr>
        <p:grpSpPr bwMode="auto">
          <a:xfrm>
            <a:off x="7905780" y="2596871"/>
            <a:ext cx="1795463" cy="688975"/>
            <a:chOff x="1173" y="2345"/>
            <a:chExt cx="1131" cy="434"/>
          </a:xfrm>
        </p:grpSpPr>
        <p:sp>
          <p:nvSpPr>
            <p:cNvPr id="8" name="Rectangle 44">
              <a:extLst>
                <a:ext uri="{FF2B5EF4-FFF2-40B4-BE49-F238E27FC236}">
                  <a16:creationId xmlns:a16="http://schemas.microsoft.com/office/drawing/2014/main" xmlns="" id="{C21C398F-39CF-5705-4DEF-8C3B0FADE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Text Box 46">
              <a:extLst>
                <a:ext uri="{FF2B5EF4-FFF2-40B4-BE49-F238E27FC236}">
                  <a16:creationId xmlns:a16="http://schemas.microsoft.com/office/drawing/2014/main" xmlns="" id="{68A8AD42-0152-2875-275D-755C411D5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0" name="Oval 48">
            <a:extLst>
              <a:ext uri="{FF2B5EF4-FFF2-40B4-BE49-F238E27FC236}">
                <a16:creationId xmlns:a16="http://schemas.microsoft.com/office/drawing/2014/main" xmlns="" id="{05FDCC04-1039-6BD3-D502-5F55FD1C2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4055" y="3620809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" name="Text Box 64">
            <a:extLst>
              <a:ext uri="{FF2B5EF4-FFF2-40B4-BE49-F238E27FC236}">
                <a16:creationId xmlns:a16="http://schemas.microsoft.com/office/drawing/2014/main" xmlns="" id="{B6A45B08-D05F-6A5B-984E-485E24B79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0468" y="3649652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2" name="Oval 65">
            <a:extLst>
              <a:ext uri="{FF2B5EF4-FFF2-40B4-BE49-F238E27FC236}">
                <a16:creationId xmlns:a16="http://schemas.microsoft.com/office/drawing/2014/main" xmlns="" id="{96434980-4CAC-E1D0-0BEE-0355857CB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1993" y="460664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3" name="Text Box 66">
            <a:extLst>
              <a:ext uri="{FF2B5EF4-FFF2-40B4-BE49-F238E27FC236}">
                <a16:creationId xmlns:a16="http://schemas.microsoft.com/office/drawing/2014/main" xmlns="" id="{BDD63175-AC17-BABB-706E-B559EEF79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807" y="4639792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" name="Line 68">
            <a:extLst>
              <a:ext uri="{FF2B5EF4-FFF2-40B4-BE49-F238E27FC236}">
                <a16:creationId xmlns:a16="http://schemas.microsoft.com/office/drawing/2014/main" xmlns="" id="{D9791D04-46CC-65A3-3156-DB462ED77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1455" y="4355821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" name="Line 69">
            <a:extLst>
              <a:ext uri="{FF2B5EF4-FFF2-40B4-BE49-F238E27FC236}">
                <a16:creationId xmlns:a16="http://schemas.microsoft.com/office/drawing/2014/main" xmlns="" id="{03AE3502-33FF-3A19-C932-52AA47D82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4155" y="2504796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6" name="Group 56">
            <a:extLst>
              <a:ext uri="{FF2B5EF4-FFF2-40B4-BE49-F238E27FC236}">
                <a16:creationId xmlns:a16="http://schemas.microsoft.com/office/drawing/2014/main" xmlns="" id="{223E559A-EDE3-E95E-C008-AF1C831612F8}"/>
              </a:ext>
            </a:extLst>
          </p:cNvPr>
          <p:cNvGrpSpPr>
            <a:grpSpLocks/>
          </p:cNvGrpSpPr>
          <p:nvPr/>
        </p:nvGrpSpPr>
        <p:grpSpPr bwMode="auto">
          <a:xfrm>
            <a:off x="8580468" y="2388909"/>
            <a:ext cx="533400" cy="206375"/>
            <a:chOff x="2003" y="1816"/>
            <a:chExt cx="336" cy="1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79ED2375-CCDE-F960-7D80-940CE5268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B73B1E08-6B1C-F891-A585-6E67815D3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687ABBD0-04B1-DA6B-574F-20CA37264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37130DE1-2113-8153-7F69-C9B4A69DA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" name="Text Box 103">
            <a:extLst>
              <a:ext uri="{FF2B5EF4-FFF2-40B4-BE49-F238E27FC236}">
                <a16:creationId xmlns:a16="http://schemas.microsoft.com/office/drawing/2014/main" xmlns="" id="{EB48376E-ED48-9BCA-E22C-B301E7CEF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80" y="6108333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22" name="Line 115">
            <a:extLst>
              <a:ext uri="{FF2B5EF4-FFF2-40B4-BE49-F238E27FC236}">
                <a16:creationId xmlns:a16="http://schemas.microsoft.com/office/drawing/2014/main" xmlns="" id="{E8B2CEA3-034A-E773-EC0A-EF2B05FB0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5885" y="5704648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" name="Line 118">
            <a:extLst>
              <a:ext uri="{FF2B5EF4-FFF2-40B4-BE49-F238E27FC236}">
                <a16:creationId xmlns:a16="http://schemas.microsoft.com/office/drawing/2014/main" xmlns="" id="{D5403041-1119-D176-61AD-8D5D53C60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0343" y="5281334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4" name="Group 124">
            <a:extLst>
              <a:ext uri="{FF2B5EF4-FFF2-40B4-BE49-F238E27FC236}">
                <a16:creationId xmlns:a16="http://schemas.microsoft.com/office/drawing/2014/main" xmlns="" id="{F72D078A-6A83-E2E3-0171-7C482996622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358468" y="4874934"/>
            <a:ext cx="869950" cy="906462"/>
            <a:chOff x="-44" y="1473"/>
            <a:chExt cx="981" cy="1105"/>
          </a:xfrm>
        </p:grpSpPr>
        <p:pic>
          <p:nvPicPr>
            <p:cNvPr id="25" name="Picture 125" descr="desktop_computer_stylized_medium">
              <a:extLst>
                <a:ext uri="{FF2B5EF4-FFF2-40B4-BE49-F238E27FC236}">
                  <a16:creationId xmlns:a16="http://schemas.microsoft.com/office/drawing/2014/main" xmlns="" id="{0370C9C1-6B5D-1A63-F933-E87049010D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126">
              <a:extLst>
                <a:ext uri="{FF2B5EF4-FFF2-40B4-BE49-F238E27FC236}">
                  <a16:creationId xmlns:a16="http://schemas.microsoft.com/office/drawing/2014/main" xmlns="" id="{7E2A726C-1F72-4421-C175-7AB52147FE8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9C92E4FE-98C0-E5D5-E7F5-B6C5E2C6377C}"/>
              </a:ext>
            </a:extLst>
          </p:cNvPr>
          <p:cNvSpPr txBox="1"/>
          <p:nvPr/>
        </p:nvSpPr>
        <p:spPr>
          <a:xfrm>
            <a:off x="547663" y="1721834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9D087C9F-0273-1C5C-2765-562313690887}"/>
              </a:ext>
            </a:extLst>
          </p:cNvPr>
          <p:cNvGrpSpPr/>
          <p:nvPr/>
        </p:nvGrpSpPr>
        <p:grpSpPr>
          <a:xfrm>
            <a:off x="592097" y="3820641"/>
            <a:ext cx="4164772" cy="1950572"/>
            <a:chOff x="363537" y="4127499"/>
            <a:chExt cx="4164772" cy="1950572"/>
          </a:xfrm>
        </p:grpSpPr>
        <p:sp>
          <p:nvSpPr>
            <p:cNvPr id="29" name="Rectangle 110">
              <a:extLst>
                <a:ext uri="{FF2B5EF4-FFF2-40B4-BE49-F238E27FC236}">
                  <a16:creationId xmlns:a16="http://schemas.microsoft.com/office/drawing/2014/main" xmlns="" id="{658FC60C-1EB5-7A38-8ACE-9283559C6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" y="4397375"/>
              <a:ext cx="4134671" cy="168069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0" name="Text Box 111">
              <a:extLst>
                <a:ext uri="{FF2B5EF4-FFF2-40B4-BE49-F238E27FC236}">
                  <a16:creationId xmlns:a16="http://schemas.microsoft.com/office/drawing/2014/main" xmlns="" id="{E36158AE-01ED-EFDC-244D-23F72D3D5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13" y="4549775"/>
              <a:ext cx="4072696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receiver controls sender, so sender won’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overflow receiver’s buffer by transmitting too much, too fast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" name="Group 112">
              <a:extLst>
                <a:ext uri="{FF2B5EF4-FFF2-40B4-BE49-F238E27FC236}">
                  <a16:creationId xmlns:a16="http://schemas.microsoft.com/office/drawing/2014/main" xmlns="" id="{FC21D539-04E3-E922-169E-CD56A24045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438" y="4127499"/>
              <a:ext cx="2003542" cy="523875"/>
              <a:chOff x="3327" y="230"/>
              <a:chExt cx="1176" cy="330"/>
            </a:xfrm>
          </p:grpSpPr>
          <p:sp>
            <p:nvSpPr>
              <p:cNvPr id="32" name="Rectangle 113">
                <a:extLst>
                  <a:ext uri="{FF2B5EF4-FFF2-40B4-BE49-F238E27FC236}">
                    <a16:creationId xmlns:a16="http://schemas.microsoft.com/office/drawing/2014/main" xmlns="" id="{FEC14F60-ECB2-33A8-0FBF-8602FCEAF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9" y="323"/>
                <a:ext cx="1134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3" name="Text Box 114">
                <a:extLst>
                  <a:ext uri="{FF2B5EF4-FFF2-40B4-BE49-F238E27FC236}">
                    <a16:creationId xmlns:a16="http://schemas.microsoft.com/office/drawing/2014/main" xmlns="" id="{3E781036-B9F5-2997-86B2-A03687942A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7" y="230"/>
                <a:ext cx="113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flow control</a:t>
                </a:r>
              </a:p>
            </p:txBody>
          </p:sp>
        </p:grpSp>
      </p:grpSp>
      <p:sp>
        <p:nvSpPr>
          <p:cNvPr id="34" name="Line 117">
            <a:extLst>
              <a:ext uri="{FF2B5EF4-FFF2-40B4-BE49-F238E27FC236}">
                <a16:creationId xmlns:a16="http://schemas.microsoft.com/office/drawing/2014/main" xmlns="" id="{DDD66201-5CD0-1FF1-A50E-1A01BF054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9583" y="5291509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7979EE72-FCC5-AEA3-3313-9D42177CE327}"/>
              </a:ext>
            </a:extLst>
          </p:cNvPr>
          <p:cNvGrpSpPr/>
          <p:nvPr/>
        </p:nvGrpSpPr>
        <p:grpSpPr>
          <a:xfrm>
            <a:off x="7466043" y="3091165"/>
            <a:ext cx="2092487" cy="2971623"/>
            <a:chOff x="7630935" y="2806352"/>
            <a:chExt cx="2092487" cy="297162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xmlns="" id="{1886CE48-E70F-2417-BF3E-9BF027262A49}"/>
                </a:ext>
              </a:extLst>
            </p:cNvPr>
            <p:cNvGrpSpPr/>
            <p:nvPr/>
          </p:nvGrpSpPr>
          <p:grpSpPr>
            <a:xfrm>
              <a:off x="7630935" y="3080408"/>
              <a:ext cx="1309687" cy="2697567"/>
              <a:chOff x="7074521" y="3577949"/>
              <a:chExt cx="1309687" cy="2697567"/>
            </a:xfrm>
          </p:grpSpPr>
          <p:sp>
            <p:nvSpPr>
              <p:cNvPr id="38" name="Rectangle 91">
                <a:extLst>
                  <a:ext uri="{FF2B5EF4-FFF2-40B4-BE49-F238E27FC236}">
                    <a16:creationId xmlns:a16="http://schemas.microsoft.com/office/drawing/2014/main" xmlns="" id="{AF39A1D3-3A69-C2DE-8DCE-594C1F6D7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xmlns="" id="{C6400FC9-327F-BF2D-F4FC-5AE83AE14F1E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42" name="Rectangle 74">
                  <a:extLst>
                    <a:ext uri="{FF2B5EF4-FFF2-40B4-BE49-F238E27FC236}">
                      <a16:creationId xmlns:a16="http://schemas.microsoft.com/office/drawing/2014/main" xmlns="" id="{BBA18A60-4676-DCA1-F139-AE7A75274B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3" name="Rectangle 92">
                  <a:extLst>
                    <a:ext uri="{FF2B5EF4-FFF2-40B4-BE49-F238E27FC236}">
                      <a16:creationId xmlns:a16="http://schemas.microsoft.com/office/drawing/2014/main" xmlns="" id="{B682026A-37AF-3EA3-2C43-2E9AE76A44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4" name="Line 75">
                  <a:extLst>
                    <a:ext uri="{FF2B5EF4-FFF2-40B4-BE49-F238E27FC236}">
                      <a16:creationId xmlns:a16="http://schemas.microsoft.com/office/drawing/2014/main" xmlns="" id="{80B5F81D-A021-64E5-2F60-D578FC6FD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5" name="Line 76">
                  <a:extLst>
                    <a:ext uri="{FF2B5EF4-FFF2-40B4-BE49-F238E27FC236}">
                      <a16:creationId xmlns:a16="http://schemas.microsoft.com/office/drawing/2014/main" xmlns="" id="{FC404D6F-8D52-1E4E-2A34-AFC00A990C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40" name="Rectangle 86">
                <a:extLst>
                  <a:ext uri="{FF2B5EF4-FFF2-40B4-BE49-F238E27FC236}">
                    <a16:creationId xmlns:a16="http://schemas.microsoft.com/office/drawing/2014/main" xmlns="" id="{9E94C90C-2FB7-F9F1-633B-F14A0A481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" name="Text Box 116">
                <a:extLst>
                  <a:ext uri="{FF2B5EF4-FFF2-40B4-BE49-F238E27FC236}">
                    <a16:creationId xmlns:a16="http://schemas.microsoft.com/office/drawing/2014/main" xmlns="" id="{9A331E39-36B2-8852-165B-296B7977E1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37" name="Curved Down Arrow 5">
              <a:extLst>
                <a:ext uri="{FF2B5EF4-FFF2-40B4-BE49-F238E27FC236}">
                  <a16:creationId xmlns:a16="http://schemas.microsoft.com/office/drawing/2014/main" xmlns="" id="{3F2DA42B-1DD4-28A0-47FC-272AEE303250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98851BDC-9FB0-06AB-21D1-4330BCEF44D6}"/>
              </a:ext>
            </a:extLst>
          </p:cNvPr>
          <p:cNvGrpSpPr/>
          <p:nvPr/>
        </p:nvGrpSpPr>
        <p:grpSpPr>
          <a:xfrm>
            <a:off x="4824260" y="1891938"/>
            <a:ext cx="4984933" cy="885919"/>
            <a:chOff x="4989152" y="1607125"/>
            <a:chExt cx="4984933" cy="885919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xmlns="" id="{8DD672D0-A9B5-C1CB-DA34-A07C420B45F6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49" name="Line 105">
                <a:extLst>
                  <a:ext uri="{FF2B5EF4-FFF2-40B4-BE49-F238E27FC236}">
                    <a16:creationId xmlns:a16="http://schemas.microsoft.com/office/drawing/2014/main" xmlns="" id="{2618C03E-C1CA-260F-7509-F1EE5706C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0" name="Text Box 104">
                <a:extLst>
                  <a:ext uri="{FF2B5EF4-FFF2-40B4-BE49-F238E27FC236}">
                    <a16:creationId xmlns:a16="http://schemas.microsoft.com/office/drawing/2014/main" xmlns="" id="{6581F55E-A251-2A4A-B209-862BA80AFA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51" name="Rectangle 86">
                <a:extLst>
                  <a:ext uri="{FF2B5EF4-FFF2-40B4-BE49-F238E27FC236}">
                    <a16:creationId xmlns:a16="http://schemas.microsoft.com/office/drawing/2014/main" xmlns="" id="{8B7FB707-3103-D7DB-C416-91BEF3AAA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8" name="Curved Down Arrow 55">
              <a:extLst>
                <a:ext uri="{FF2B5EF4-FFF2-40B4-BE49-F238E27FC236}">
                  <a16:creationId xmlns:a16="http://schemas.microsoft.com/office/drawing/2014/main" xmlns="" id="{CC60ED3A-4C3F-324B-A580-594CA9E16CF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544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3A3EA8-CCD4-F814-A2B9-057B7227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B096ED-69A3-C349-B8E1-D708D53025E8}"/>
              </a:ext>
            </a:extLst>
          </p:cNvPr>
          <p:cNvSpPr txBox="1">
            <a:spLocks/>
          </p:cNvSpPr>
          <p:nvPr/>
        </p:nvSpPr>
        <p:spPr>
          <a:xfrm>
            <a:off x="543857" y="574138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flow control</a:t>
            </a:r>
          </a:p>
        </p:txBody>
      </p:sp>
      <p:sp>
        <p:nvSpPr>
          <p:cNvPr id="3" name="Rectangle 75">
            <a:extLst>
              <a:ext uri="{FF2B5EF4-FFF2-40B4-BE49-F238E27FC236}">
                <a16:creationId xmlns:a16="http://schemas.microsoft.com/office/drawing/2014/main" xmlns="" id="{46EBBFC3-E534-0613-7365-5F45B93A3A65}"/>
              </a:ext>
            </a:extLst>
          </p:cNvPr>
          <p:cNvSpPr txBox="1">
            <a:spLocks noChangeArrowheads="1"/>
          </p:cNvSpPr>
          <p:nvPr/>
        </p:nvSpPr>
        <p:spPr>
          <a:xfrm>
            <a:off x="414107" y="1770713"/>
            <a:ext cx="5826405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advertises” free buffer space in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field in TCP header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size set via socket options (typical default is 4096 bytes)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 operating systems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autoadjust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limits amount of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unACKed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in-flight”) data to received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endParaRPr kumimoji="0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guarantees receive buffer will not overflow</a:t>
            </a:r>
          </a:p>
        </p:txBody>
      </p:sp>
      <p:grpSp>
        <p:nvGrpSpPr>
          <p:cNvPr id="4" name="Group 72">
            <a:extLst>
              <a:ext uri="{FF2B5EF4-FFF2-40B4-BE49-F238E27FC236}">
                <a16:creationId xmlns:a16="http://schemas.microsoft.com/office/drawing/2014/main" xmlns="" id="{7EFA4B64-E3A9-C499-1351-BBB03DBED6A0}"/>
              </a:ext>
            </a:extLst>
          </p:cNvPr>
          <p:cNvGrpSpPr>
            <a:grpSpLocks/>
          </p:cNvGrpSpPr>
          <p:nvPr/>
        </p:nvGrpSpPr>
        <p:grpSpPr bwMode="auto">
          <a:xfrm>
            <a:off x="7892684" y="2635900"/>
            <a:ext cx="2578100" cy="2155825"/>
            <a:chOff x="512" y="1294"/>
            <a:chExt cx="1888" cy="1358"/>
          </a:xfrm>
        </p:grpSpPr>
        <p:grpSp>
          <p:nvGrpSpPr>
            <p:cNvPr id="5" name="Group 17">
              <a:extLst>
                <a:ext uri="{FF2B5EF4-FFF2-40B4-BE49-F238E27FC236}">
                  <a16:creationId xmlns:a16="http://schemas.microsoft.com/office/drawing/2014/main" xmlns="" id="{EC6C5FDC-F7C2-5978-D8B3-6554714A2B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2" y="1410"/>
              <a:ext cx="336" cy="130"/>
              <a:chOff x="2003" y="1816"/>
              <a:chExt cx="336" cy="130"/>
            </a:xfrm>
          </p:grpSpPr>
          <p:sp>
            <p:nvSpPr>
              <p:cNvPr id="14" name="Rectangle 18">
                <a:extLst>
                  <a:ext uri="{FF2B5EF4-FFF2-40B4-BE49-F238E27FC236}">
                    <a16:creationId xmlns:a16="http://schemas.microsoft.com/office/drawing/2014/main" xmlns="" id="{CF59CF9C-897E-7500-C405-AB3DE1583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816"/>
                <a:ext cx="336" cy="13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" name="Rectangle 19">
                <a:extLst>
                  <a:ext uri="{FF2B5EF4-FFF2-40B4-BE49-F238E27FC236}">
                    <a16:creationId xmlns:a16="http://schemas.microsoft.com/office/drawing/2014/main" xmlns="" id="{4306BC3A-2EB1-765E-7B08-012E695E6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5" y="1833"/>
                <a:ext cx="108" cy="9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" name="Rectangle 20">
                <a:extLst>
                  <a:ext uri="{FF2B5EF4-FFF2-40B4-BE49-F238E27FC236}">
                    <a16:creationId xmlns:a16="http://schemas.microsoft.com/office/drawing/2014/main" xmlns="" id="{6DF8349F-2D91-6EA3-E44E-0C53218D6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1891"/>
                <a:ext cx="28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" name="Rectangle 21">
                <a:extLst>
                  <a:ext uri="{FF2B5EF4-FFF2-40B4-BE49-F238E27FC236}">
                    <a16:creationId xmlns:a16="http://schemas.microsoft.com/office/drawing/2014/main" xmlns="" id="{2874E939-79B1-5442-45F0-5D4B47E48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6" y="1892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" name="Rectangle 52">
              <a:extLst>
                <a:ext uri="{FF2B5EF4-FFF2-40B4-BE49-F238E27FC236}">
                  <a16:creationId xmlns:a16="http://schemas.microsoft.com/office/drawing/2014/main" xmlns="" id="{A4947C60-93AA-702C-2735-F85809F41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1522"/>
              <a:ext cx="1871" cy="896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" name="Line 53">
              <a:extLst>
                <a:ext uri="{FF2B5EF4-FFF2-40B4-BE49-F238E27FC236}">
                  <a16:creationId xmlns:a16="http://schemas.microsoft.com/office/drawing/2014/main" xmlns="" id="{0D0DEB40-5CE9-1053-6034-C8A5E3B5A3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" y="1863"/>
              <a:ext cx="18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AutoShape 54">
              <a:extLst>
                <a:ext uri="{FF2B5EF4-FFF2-40B4-BE49-F238E27FC236}">
                  <a16:creationId xmlns:a16="http://schemas.microsoft.com/office/drawing/2014/main" xmlns="" id="{0896DA53-0DBD-9919-34BD-6B7B00099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0" y="129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Rectangle 55" descr="Dark upward diagonal">
              <a:extLst>
                <a:ext uri="{FF2B5EF4-FFF2-40B4-BE49-F238E27FC236}">
                  <a16:creationId xmlns:a16="http://schemas.microsoft.com/office/drawing/2014/main" xmlns="" id="{DD7F0BC5-0DF9-56A8-7660-EF68AC509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6"/>
              <a:ext cx="1848" cy="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" name="AutoShape 56">
              <a:extLst>
                <a:ext uri="{FF2B5EF4-FFF2-40B4-BE49-F238E27FC236}">
                  <a16:creationId xmlns:a16="http://schemas.microsoft.com/office/drawing/2014/main" xmlns="" id="{0C29049C-6F39-D13F-F16F-DCDAF697D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36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" name="Text Box 57">
              <a:extLst>
                <a:ext uri="{FF2B5EF4-FFF2-40B4-BE49-F238E27FC236}">
                  <a16:creationId xmlns:a16="http://schemas.microsoft.com/office/drawing/2014/main" xmlns="" id="{7D23FE9E-A008-A7BE-2A65-F561D19E5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" y="1568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buffered data</a:t>
              </a:r>
            </a:p>
          </p:txBody>
        </p:sp>
        <p:sp>
          <p:nvSpPr>
            <p:cNvPr id="12" name="Line 58">
              <a:extLst>
                <a:ext uri="{FF2B5EF4-FFF2-40B4-BE49-F238E27FC236}">
                  <a16:creationId xmlns:a16="http://schemas.microsoft.com/office/drawing/2014/main" xmlns="" id="{7A4FA295-2F26-C669-8CA1-1B59695DCB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" y="1857"/>
              <a:ext cx="1878" cy="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" name="Text Box 59">
              <a:extLst>
                <a:ext uri="{FF2B5EF4-FFF2-40B4-BE49-F238E27FC236}">
                  <a16:creationId xmlns:a16="http://schemas.microsoft.com/office/drawing/2014/main" xmlns="" id="{660658C2-85EA-8EA9-B583-0BAF328472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" y="2020"/>
              <a:ext cx="15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free buffer space</a:t>
              </a:r>
            </a:p>
          </p:txBody>
        </p:sp>
      </p:grpSp>
      <p:sp>
        <p:nvSpPr>
          <p:cNvPr id="18" name="Text Box 62">
            <a:extLst>
              <a:ext uri="{FF2B5EF4-FFF2-40B4-BE49-F238E27FC236}">
                <a16:creationId xmlns:a16="http://schemas.microsoft.com/office/drawing/2014/main" xmlns="" id="{21DAE65F-B04B-F1DA-C87E-2EDFD566A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271" y="3780487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rwnd</a:t>
            </a:r>
          </a:p>
        </p:txBody>
      </p:sp>
      <p:sp>
        <p:nvSpPr>
          <p:cNvPr id="19" name="Line 64">
            <a:extLst>
              <a:ext uri="{FF2B5EF4-FFF2-40B4-BE49-F238E27FC236}">
                <a16:creationId xmlns:a16="http://schemas.microsoft.com/office/drawing/2014/main" xmlns="" id="{1AFBB4ED-9840-0EC2-29CB-3EE6E6CF09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6446" y="3513787"/>
            <a:ext cx="0" cy="322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" name="Line 65">
            <a:extLst>
              <a:ext uri="{FF2B5EF4-FFF2-40B4-BE49-F238E27FC236}">
                <a16:creationId xmlns:a16="http://schemas.microsoft.com/office/drawing/2014/main" xmlns="" id="{C6621E12-4A7D-8F3B-019D-B87B50DAF2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16446" y="4039250"/>
            <a:ext cx="0" cy="322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1" name="Line 66">
            <a:extLst>
              <a:ext uri="{FF2B5EF4-FFF2-40B4-BE49-F238E27FC236}">
                <a16:creationId xmlns:a16="http://schemas.microsoft.com/office/drawing/2014/main" xmlns="" id="{A28A124C-78E5-FAA3-21A0-068266794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2459" y="4371037"/>
            <a:ext cx="476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" name="Line 67">
            <a:extLst>
              <a:ext uri="{FF2B5EF4-FFF2-40B4-BE49-F238E27FC236}">
                <a16:creationId xmlns:a16="http://schemas.microsoft.com/office/drawing/2014/main" xmlns="" id="{F7F2BCFD-70E0-DE13-3557-5E5707B4A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1671" y="3502675"/>
            <a:ext cx="196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" name="Line 68">
            <a:extLst>
              <a:ext uri="{FF2B5EF4-FFF2-40B4-BE49-F238E27FC236}">
                <a16:creationId xmlns:a16="http://schemas.microsoft.com/office/drawing/2014/main" xmlns="" id="{086C9062-6BE3-DA4A-B88C-F6A648C71B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4684" y="2977212"/>
            <a:ext cx="476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" name="Line 69">
            <a:extLst>
              <a:ext uri="{FF2B5EF4-FFF2-40B4-BE49-F238E27FC236}">
                <a16:creationId xmlns:a16="http://schemas.microsoft.com/office/drawing/2014/main" xmlns="" id="{A67A9D57-8A47-B180-7818-D95896292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3621" y="2981975"/>
            <a:ext cx="0" cy="17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" name="Line 70">
            <a:extLst>
              <a:ext uri="{FF2B5EF4-FFF2-40B4-BE49-F238E27FC236}">
                <a16:creationId xmlns:a16="http://schemas.microsoft.com/office/drawing/2014/main" xmlns="" id="{98D6FA48-D997-D230-7070-57F09A1E57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034" y="3405837"/>
            <a:ext cx="0" cy="9540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" name="Text Box 71">
            <a:extLst>
              <a:ext uri="{FF2B5EF4-FFF2-40B4-BE49-F238E27FC236}">
                <a16:creationId xmlns:a16="http://schemas.microsoft.com/office/drawing/2014/main" xmlns="" id="{96F86732-9570-AA78-1CE1-9EEDE5CCF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509" y="3142312"/>
            <a:ext cx="1284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</a:p>
        </p:txBody>
      </p:sp>
      <p:sp>
        <p:nvSpPr>
          <p:cNvPr id="27" name="Text Box 73">
            <a:extLst>
              <a:ext uri="{FF2B5EF4-FFF2-40B4-BE49-F238E27FC236}">
                <a16:creationId xmlns:a16="http://schemas.microsoft.com/office/drawing/2014/main" xmlns="" id="{E7ADACFB-00F9-69A8-CBCA-45459AEA6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777" y="4771087"/>
            <a:ext cx="252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segment payloads</a:t>
            </a:r>
          </a:p>
        </p:txBody>
      </p:sp>
      <p:sp>
        <p:nvSpPr>
          <p:cNvPr id="28" name="Text Box 74">
            <a:extLst>
              <a:ext uri="{FF2B5EF4-FFF2-40B4-BE49-F238E27FC236}">
                <a16:creationId xmlns:a16="http://schemas.microsoft.com/office/drawing/2014/main" xmlns="" id="{92A0EF65-04AB-3E24-FE5E-8D9C09063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8802" y="2270775"/>
            <a:ext cx="24785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to application process</a:t>
            </a:r>
          </a:p>
        </p:txBody>
      </p:sp>
      <p:sp>
        <p:nvSpPr>
          <p:cNvPr id="29" name="Text Box 76">
            <a:extLst>
              <a:ext uri="{FF2B5EF4-FFF2-40B4-BE49-F238E27FC236}">
                <a16:creationId xmlns:a16="http://schemas.microsoft.com/office/drawing/2014/main" xmlns="" id="{A868513F-EB05-BAE8-CD64-374CB917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825" y="5423550"/>
            <a:ext cx="35637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receiver-side buffering</a:t>
            </a:r>
          </a:p>
        </p:txBody>
      </p:sp>
    </p:spTree>
    <p:extLst>
      <p:ext uri="{BB962C8B-B14F-4D97-AF65-F5344CB8AC3E}">
        <p14:creationId xmlns:p14="http://schemas.microsoft.com/office/powerpoint/2010/main" val="90487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10FA42-687E-7142-3876-535310F5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2B4768-A858-B36E-EE8E-065F8A9FDF90}"/>
              </a:ext>
            </a:extLst>
          </p:cNvPr>
          <p:cNvSpPr txBox="1">
            <a:spLocks/>
          </p:cNvSpPr>
          <p:nvPr/>
        </p:nvSpPr>
        <p:spPr>
          <a:xfrm>
            <a:off x="319719" y="467537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TCP flow control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75">
            <a:extLst>
              <a:ext uri="{FF2B5EF4-FFF2-40B4-BE49-F238E27FC236}">
                <a16:creationId xmlns:a16="http://schemas.microsoft.com/office/drawing/2014/main" xmlns="" id="{92FE3809-BE5C-14B1-DC9B-07A5A36AAFD5}"/>
              </a:ext>
            </a:extLst>
          </p:cNvPr>
          <p:cNvSpPr txBox="1">
            <a:spLocks noChangeArrowheads="1"/>
          </p:cNvSpPr>
          <p:nvPr/>
        </p:nvSpPr>
        <p:spPr>
          <a:xfrm>
            <a:off x="668940" y="1845664"/>
            <a:ext cx="5826405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advertises” free buffer space in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field in TCP header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size set via socket options (typical default is 4096 bytes)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 operating systems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autoadjust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limits amount of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unACKed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in-flight”) data to received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endParaRPr kumimoji="0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guarantees receive buffer will not overflow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45616727-C368-08F7-AFF2-902FE0776085}"/>
              </a:ext>
            </a:extLst>
          </p:cNvPr>
          <p:cNvGrpSpPr/>
          <p:nvPr/>
        </p:nvGrpSpPr>
        <p:grpSpPr>
          <a:xfrm>
            <a:off x="7363745" y="1428378"/>
            <a:ext cx="4349284" cy="5165818"/>
            <a:chOff x="7334716" y="821871"/>
            <a:chExt cx="4349284" cy="5165818"/>
          </a:xfrm>
        </p:grpSpPr>
        <p:sp>
          <p:nvSpPr>
            <p:cNvPr id="5" name="Text Box 49">
              <a:extLst>
                <a:ext uri="{FF2B5EF4-FFF2-40B4-BE49-F238E27FC236}">
                  <a16:creationId xmlns:a16="http://schemas.microsoft.com/office/drawing/2014/main" xmlns="" id="{30567001-A606-02F1-0A35-54CEA7C0B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4716" y="821871"/>
              <a:ext cx="4349284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flow control: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# bytes receiver willing to accept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E75A3993-FCE3-EF36-45BC-B0F8BEE187A1}"/>
                </a:ext>
              </a:extLst>
            </p:cNvPr>
            <p:cNvGrpSpPr/>
            <p:nvPr/>
          </p:nvGrpSpPr>
          <p:grpSpPr>
            <a:xfrm>
              <a:off x="7490842" y="1445945"/>
              <a:ext cx="3173211" cy="4078555"/>
              <a:chOff x="7157014" y="1873079"/>
              <a:chExt cx="2251592" cy="2800562"/>
            </a:xfrm>
          </p:grpSpPr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xmlns="" id="{43ED4BDC-93FD-43CC-8A07-AF9CB2207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6558" y="1873079"/>
                <a:ext cx="2202048" cy="2745454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xmlns="" id="{14E608DA-BDB8-7917-52CF-10333AD53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58783" y="1939027"/>
                <a:ext cx="2202048" cy="273461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" name="Line 8">
                <a:extLst>
                  <a:ext uri="{FF2B5EF4-FFF2-40B4-BE49-F238E27FC236}">
                    <a16:creationId xmlns:a16="http://schemas.microsoft.com/office/drawing/2014/main" xmlns="" id="{52FE4390-59E8-4F41-0009-BE4A461FC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0553" y="2152232"/>
                <a:ext cx="2199395" cy="27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" name="Line 9">
                <a:extLst>
                  <a:ext uri="{FF2B5EF4-FFF2-40B4-BE49-F238E27FC236}">
                    <a16:creationId xmlns:a16="http://schemas.microsoft.com/office/drawing/2014/main" xmlns="" id="{BCB5E01F-48DC-B08C-4368-AC3BBB38F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7014" y="2368146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3" name="Line 16">
                <a:extLst>
                  <a:ext uri="{FF2B5EF4-FFF2-40B4-BE49-F238E27FC236}">
                    <a16:creationId xmlns:a16="http://schemas.microsoft.com/office/drawing/2014/main" xmlns="" id="{EA900DC9-2B7D-A659-A4D0-E834D91D6C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2322" y="2584964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" name="Line 18">
                <a:extLst>
                  <a:ext uri="{FF2B5EF4-FFF2-40B4-BE49-F238E27FC236}">
                    <a16:creationId xmlns:a16="http://schemas.microsoft.com/office/drawing/2014/main" xmlns="" id="{231330A7-A06E-34B0-37D6-A57B55A95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9668" y="2809912"/>
                <a:ext cx="220204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" name="Line 19">
                <a:extLst>
                  <a:ext uri="{FF2B5EF4-FFF2-40B4-BE49-F238E27FC236}">
                    <a16:creationId xmlns:a16="http://schemas.microsoft.com/office/drawing/2014/main" xmlns="" id="{B727E8D1-E23F-B3BC-71D0-F41F44F14F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7014" y="3032150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" name="Line 20">
                <a:extLst>
                  <a:ext uri="{FF2B5EF4-FFF2-40B4-BE49-F238E27FC236}">
                    <a16:creationId xmlns:a16="http://schemas.microsoft.com/office/drawing/2014/main" xmlns="" id="{F06AB907-92DF-0DB5-2AEB-EFF5AE566E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7014" y="3351956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" name="Line 21">
                <a:extLst>
                  <a:ext uri="{FF2B5EF4-FFF2-40B4-BE49-F238E27FC236}">
                    <a16:creationId xmlns:a16="http://schemas.microsoft.com/office/drawing/2014/main" xmlns="" id="{67D1B133-80AA-C28C-69AF-11F92F7954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49633" y="2586771"/>
                <a:ext cx="2654" cy="442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" name="Text Box 22">
                <a:extLst>
                  <a:ext uri="{FF2B5EF4-FFF2-40B4-BE49-F238E27FC236}">
                    <a16:creationId xmlns:a16="http://schemas.microsoft.com/office/drawing/2014/main" xmlns="" id="{B2F3EFA6-7D45-3B13-77BC-5B468028E8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0544" y="2572087"/>
                <a:ext cx="1124010" cy="2324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receive window</a:t>
                </a:r>
              </a:p>
            </p:txBody>
          </p:sp>
          <p:sp>
            <p:nvSpPr>
              <p:cNvPr id="19" name="Line 10">
                <a:extLst>
                  <a:ext uri="{FF2B5EF4-FFF2-40B4-BE49-F238E27FC236}">
                    <a16:creationId xmlns:a16="http://schemas.microsoft.com/office/drawing/2014/main" xmlns="" id="{7CC512A8-F0B9-85AB-1C6F-1A087DED3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41671" y="1940977"/>
                <a:ext cx="981" cy="2078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7" name="Line 53">
              <a:extLst>
                <a:ext uri="{FF2B5EF4-FFF2-40B4-BE49-F238E27FC236}">
                  <a16:creationId xmlns:a16="http://schemas.microsoft.com/office/drawing/2014/main" xmlns="" id="{898250AE-6DE0-A1D3-3812-ECC2EE06C2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68285" y="1150408"/>
              <a:ext cx="1233771" cy="1404106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Text Box 49">
              <a:extLst>
                <a:ext uri="{FF2B5EF4-FFF2-40B4-BE49-F238E27FC236}">
                  <a16:creationId xmlns:a16="http://schemas.microsoft.com/office/drawing/2014/main" xmlns="" id="{4A01F95B-68D6-8E48-27B3-EF951C8A3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5744" y="5646057"/>
              <a:ext cx="2310027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segment format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1000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A2EB3E-0C56-C554-EA0E-34F4C638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4E6A2D-EC86-4721-EE0D-00CD9F0C0697}"/>
              </a:ext>
            </a:extLst>
          </p:cNvPr>
          <p:cNvSpPr txBox="1">
            <a:spLocks/>
          </p:cNvSpPr>
          <p:nvPr/>
        </p:nvSpPr>
        <p:spPr>
          <a:xfrm>
            <a:off x="199084" y="545691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connection management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51D5251D-04DF-F5EA-E944-4EF2DEAAB33D}"/>
              </a:ext>
            </a:extLst>
          </p:cNvPr>
          <p:cNvSpPr txBox="1">
            <a:spLocks noChangeArrowheads="1"/>
          </p:cNvSpPr>
          <p:nvPr/>
        </p:nvSpPr>
        <p:spPr>
          <a:xfrm>
            <a:off x="935145" y="1389360"/>
            <a:ext cx="11329310" cy="218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before exchanging data, sender/receiver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handshake”: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agree to establish connection (each knowing the other willing to establish connection)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agree on connection parameters (e.g., starting seq #s)</a:t>
            </a:r>
          </a:p>
        </p:txBody>
      </p:sp>
      <p:sp>
        <p:nvSpPr>
          <p:cNvPr id="4" name="Rectangle 62">
            <a:extLst>
              <a:ext uri="{FF2B5EF4-FFF2-40B4-BE49-F238E27FC236}">
                <a16:creationId xmlns:a16="http://schemas.microsoft.com/office/drawing/2014/main" xmlns="" id="{8252A49D-E281-B9FA-6DD6-84E1B5C65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8579" y="2995251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xmlns="" id="{84B3C4F9-A968-3074-1B39-A70E6A757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891" y="3049226"/>
            <a:ext cx="2270125" cy="24717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" name="Line 55">
            <a:extLst>
              <a:ext uri="{FF2B5EF4-FFF2-40B4-BE49-F238E27FC236}">
                <a16:creationId xmlns:a16="http://schemas.microsoft.com/office/drawing/2014/main" xmlns="" id="{C768EA60-CE98-F872-FD55-A5E5438B3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8891" y="3490551"/>
            <a:ext cx="227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xmlns="" id="{2DD2DFFB-A295-83E6-4507-E9555AC90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3179" y="3603264"/>
            <a:ext cx="2335212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state: ESTAB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variables: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 # client-to-server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server-to-client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size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at server,client 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 </a:t>
            </a:r>
          </a:p>
        </p:txBody>
      </p:sp>
      <p:grpSp>
        <p:nvGrpSpPr>
          <p:cNvPr id="8" name="Group 46">
            <a:extLst>
              <a:ext uri="{FF2B5EF4-FFF2-40B4-BE49-F238E27FC236}">
                <a16:creationId xmlns:a16="http://schemas.microsoft.com/office/drawing/2014/main" xmlns="" id="{EE649AA8-E463-5FD6-161A-ECCF8A91A177}"/>
              </a:ext>
            </a:extLst>
          </p:cNvPr>
          <p:cNvGrpSpPr>
            <a:grpSpLocks/>
          </p:cNvGrpSpPr>
          <p:nvPr/>
        </p:nvGrpSpPr>
        <p:grpSpPr bwMode="auto">
          <a:xfrm>
            <a:off x="4129394" y="3404826"/>
            <a:ext cx="438150" cy="206375"/>
            <a:chOff x="344" y="1846"/>
            <a:chExt cx="336" cy="130"/>
          </a:xfrm>
        </p:grpSpPr>
        <p:sp>
          <p:nvSpPr>
            <p:cNvPr id="9" name="Rectangle 47">
              <a:extLst>
                <a:ext uri="{FF2B5EF4-FFF2-40B4-BE49-F238E27FC236}">
                  <a16:creationId xmlns:a16="http://schemas.microsoft.com/office/drawing/2014/main" xmlns="" id="{94300554-5D22-F7B1-3D37-163D44D4E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" name="Rectangle 48">
              <a:extLst>
                <a:ext uri="{FF2B5EF4-FFF2-40B4-BE49-F238E27FC236}">
                  <a16:creationId xmlns:a16="http://schemas.microsoft.com/office/drawing/2014/main" xmlns="" id="{0BC97EBC-541B-58FE-86B4-799AF73DF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" name="Rectangle 49">
              <a:extLst>
                <a:ext uri="{FF2B5EF4-FFF2-40B4-BE49-F238E27FC236}">
                  <a16:creationId xmlns:a16="http://schemas.microsoft.com/office/drawing/2014/main" xmlns="" id="{49B8A2B2-3959-C6C2-5897-637E3684D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" name="Rectangle 50">
              <a:extLst>
                <a:ext uri="{FF2B5EF4-FFF2-40B4-BE49-F238E27FC236}">
                  <a16:creationId xmlns:a16="http://schemas.microsoft.com/office/drawing/2014/main" xmlns="" id="{BC75A555-90D1-56C0-D19A-E462A9712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3" name="Text Box 54">
            <a:extLst>
              <a:ext uri="{FF2B5EF4-FFF2-40B4-BE49-F238E27FC236}">
                <a16:creationId xmlns:a16="http://schemas.microsoft.com/office/drawing/2014/main" xmlns="" id="{5CFB67C8-5775-6B30-A069-3D527EE92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6983" y="3066404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</p:txBody>
      </p:sp>
      <p:sp>
        <p:nvSpPr>
          <p:cNvPr id="14" name="Line 56">
            <a:extLst>
              <a:ext uri="{FF2B5EF4-FFF2-40B4-BE49-F238E27FC236}">
                <a16:creationId xmlns:a16="http://schemas.microsoft.com/office/drawing/2014/main" xmlns="" id="{AF3CF76E-0B88-83A3-9871-E6D85008A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5241" y="4985976"/>
            <a:ext cx="2268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" name="Text Box 57">
            <a:extLst>
              <a:ext uri="{FF2B5EF4-FFF2-40B4-BE49-F238E27FC236}">
                <a16:creationId xmlns:a16="http://schemas.microsoft.com/office/drawing/2014/main" xmlns="" id="{9AD4ABAE-6C8C-807A-6F69-9B84856D8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560" y="5081137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network</a:t>
            </a:r>
          </a:p>
        </p:txBody>
      </p:sp>
      <p:sp>
        <p:nvSpPr>
          <p:cNvPr id="16" name="Rectangle 58">
            <a:extLst>
              <a:ext uri="{FF2B5EF4-FFF2-40B4-BE49-F238E27FC236}">
                <a16:creationId xmlns:a16="http://schemas.microsoft.com/office/drawing/2014/main" xmlns="" id="{99D115E8-01D8-3EB0-5C06-34AB51C10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16" y="5408251"/>
            <a:ext cx="2335213" cy="180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" name="Line 59">
            <a:extLst>
              <a:ext uri="{FF2B5EF4-FFF2-40B4-BE49-F238E27FC236}">
                <a16:creationId xmlns:a16="http://schemas.microsoft.com/office/drawing/2014/main" xmlns="" id="{D35E6BB6-8777-63A1-8134-2CD367312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8891" y="5397139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8" name="Line 60">
            <a:extLst>
              <a:ext uri="{FF2B5EF4-FFF2-40B4-BE49-F238E27FC236}">
                <a16:creationId xmlns:a16="http://schemas.microsoft.com/office/drawing/2014/main" xmlns="" id="{AC4B5959-FF12-06AC-B326-A0D2680F4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2666" y="5368564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xmlns="" id="{106B2E42-35BD-4934-8C13-5BF7C520BB3D}"/>
              </a:ext>
            </a:extLst>
          </p:cNvPr>
          <p:cNvSpPr>
            <a:spLocks/>
          </p:cNvSpPr>
          <p:nvPr/>
        </p:nvSpPr>
        <p:spPr bwMode="auto">
          <a:xfrm flipH="1">
            <a:off x="2775816" y="3052401"/>
            <a:ext cx="468313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Rectangle 63">
            <a:extLst>
              <a:ext uri="{FF2B5EF4-FFF2-40B4-BE49-F238E27FC236}">
                <a16:creationId xmlns:a16="http://schemas.microsoft.com/office/drawing/2014/main" xmlns="" id="{4628726D-C177-39F3-ABCD-95843FDBC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0704" y="3001601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1" name="Rectangle 64">
            <a:extLst>
              <a:ext uri="{FF2B5EF4-FFF2-40B4-BE49-F238E27FC236}">
                <a16:creationId xmlns:a16="http://schemas.microsoft.com/office/drawing/2014/main" xmlns="" id="{54F8E711-8DF2-5E7E-94FA-1AA859390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016" y="3055576"/>
            <a:ext cx="2270125" cy="24717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" name="Line 65">
            <a:extLst>
              <a:ext uri="{FF2B5EF4-FFF2-40B4-BE49-F238E27FC236}">
                <a16:creationId xmlns:a16="http://schemas.microsoft.com/office/drawing/2014/main" xmlns="" id="{25449BAA-875D-4276-E357-6661DB6AA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1016" y="3496901"/>
            <a:ext cx="227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" name="Text Box 66">
            <a:extLst>
              <a:ext uri="{FF2B5EF4-FFF2-40B4-BE49-F238E27FC236}">
                <a16:creationId xmlns:a16="http://schemas.microsoft.com/office/drawing/2014/main" xmlns="" id="{69B86774-DD0D-EA5C-5256-5F9737149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304" y="3609614"/>
            <a:ext cx="2335212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state: ESTAB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Variables: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 # client-to-server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server-to-client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size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at server,client 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 </a:t>
            </a:r>
          </a:p>
        </p:txBody>
      </p:sp>
      <p:grpSp>
        <p:nvGrpSpPr>
          <p:cNvPr id="24" name="Group 67">
            <a:extLst>
              <a:ext uri="{FF2B5EF4-FFF2-40B4-BE49-F238E27FC236}">
                <a16:creationId xmlns:a16="http://schemas.microsoft.com/office/drawing/2014/main" xmlns="" id="{ABD9666B-7D98-7DF5-9237-9B17FE01C1D6}"/>
              </a:ext>
            </a:extLst>
          </p:cNvPr>
          <p:cNvGrpSpPr>
            <a:grpSpLocks/>
          </p:cNvGrpSpPr>
          <p:nvPr/>
        </p:nvGrpSpPr>
        <p:grpSpPr bwMode="auto">
          <a:xfrm>
            <a:off x="8458413" y="3411176"/>
            <a:ext cx="438150" cy="206375"/>
            <a:chOff x="344" y="1846"/>
            <a:chExt cx="336" cy="130"/>
          </a:xfrm>
        </p:grpSpPr>
        <p:sp>
          <p:nvSpPr>
            <p:cNvPr id="25" name="Rectangle 68">
              <a:extLst>
                <a:ext uri="{FF2B5EF4-FFF2-40B4-BE49-F238E27FC236}">
                  <a16:creationId xmlns:a16="http://schemas.microsoft.com/office/drawing/2014/main" xmlns="" id="{2E040232-F2C5-8759-C987-ABA0EB8D5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" name="Rectangle 69">
              <a:extLst>
                <a:ext uri="{FF2B5EF4-FFF2-40B4-BE49-F238E27FC236}">
                  <a16:creationId xmlns:a16="http://schemas.microsoft.com/office/drawing/2014/main" xmlns="" id="{5731AB0E-98D2-B096-6D0D-71282646D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" name="Rectangle 70">
              <a:extLst>
                <a:ext uri="{FF2B5EF4-FFF2-40B4-BE49-F238E27FC236}">
                  <a16:creationId xmlns:a16="http://schemas.microsoft.com/office/drawing/2014/main" xmlns="" id="{7109EE60-89D1-84E3-E743-F963A747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" name="Rectangle 71">
              <a:extLst>
                <a:ext uri="{FF2B5EF4-FFF2-40B4-BE49-F238E27FC236}">
                  <a16:creationId xmlns:a16="http://schemas.microsoft.com/office/drawing/2014/main" xmlns="" id="{7169A7A7-07F0-5684-6D03-9971E35BA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9" name="Text Box 72">
            <a:extLst>
              <a:ext uri="{FF2B5EF4-FFF2-40B4-BE49-F238E27FC236}">
                <a16:creationId xmlns:a16="http://schemas.microsoft.com/office/drawing/2014/main" xmlns="" id="{785F007E-65BE-E3D2-1DF1-698113025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148" y="3084012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</p:txBody>
      </p:sp>
      <p:sp>
        <p:nvSpPr>
          <p:cNvPr id="30" name="Line 73">
            <a:extLst>
              <a:ext uri="{FF2B5EF4-FFF2-40B4-BE49-F238E27FC236}">
                <a16:creationId xmlns:a16="http://schemas.microsoft.com/office/drawing/2014/main" xmlns="" id="{CFFE0517-5047-7DC3-535E-706D2250E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7366" y="4992326"/>
            <a:ext cx="2268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1" name="Text Box 74">
            <a:extLst>
              <a:ext uri="{FF2B5EF4-FFF2-40B4-BE49-F238E27FC236}">
                <a16:creationId xmlns:a16="http://schemas.microsoft.com/office/drawing/2014/main" xmlns="" id="{E537FACF-7C98-BF0E-D264-E554F9B7B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855" y="5073774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network</a:t>
            </a:r>
          </a:p>
        </p:txBody>
      </p:sp>
      <p:sp>
        <p:nvSpPr>
          <p:cNvPr id="32" name="Rectangle 75">
            <a:extLst>
              <a:ext uri="{FF2B5EF4-FFF2-40B4-BE49-F238E27FC236}">
                <a16:creationId xmlns:a16="http://schemas.microsoft.com/office/drawing/2014/main" xmlns="" id="{5DA98CC6-444D-641E-FC74-7E26E2D8B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441" y="5414601"/>
            <a:ext cx="2335213" cy="180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" name="Line 76">
            <a:extLst>
              <a:ext uri="{FF2B5EF4-FFF2-40B4-BE49-F238E27FC236}">
                <a16:creationId xmlns:a16="http://schemas.microsoft.com/office/drawing/2014/main" xmlns="" id="{8D12D9B4-F452-D610-2A51-52DD05C8C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1016" y="5403489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4" name="Line 77">
            <a:extLst>
              <a:ext uri="{FF2B5EF4-FFF2-40B4-BE49-F238E27FC236}">
                <a16:creationId xmlns:a16="http://schemas.microsoft.com/office/drawing/2014/main" xmlns="" id="{08769F19-440D-38DB-BF93-9E065C3E5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9814791" y="5374914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5" name="Freeform 78">
            <a:extLst>
              <a:ext uri="{FF2B5EF4-FFF2-40B4-BE49-F238E27FC236}">
                <a16:creationId xmlns:a16="http://schemas.microsoft.com/office/drawing/2014/main" xmlns="" id="{5B04AEAA-D536-7553-972C-8B70772C4C41}"/>
              </a:ext>
            </a:extLst>
          </p:cNvPr>
          <p:cNvSpPr>
            <a:spLocks/>
          </p:cNvSpPr>
          <p:nvPr/>
        </p:nvSpPr>
        <p:spPr bwMode="auto">
          <a:xfrm>
            <a:off x="9832254" y="2992076"/>
            <a:ext cx="468312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" name="Text Box 83">
            <a:extLst>
              <a:ext uri="{FF2B5EF4-FFF2-40B4-BE49-F238E27FC236}">
                <a16:creationId xmlns:a16="http://schemas.microsoft.com/office/drawing/2014/main" xmlns="" id="{C5C441BE-B9D3-8377-9777-BCDC3926F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948" y="5819609"/>
            <a:ext cx="56333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clientSocket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  </a:t>
            </a:r>
          </a:p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newSocket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("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hostname","port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number");</a:t>
            </a:r>
          </a:p>
        </p:txBody>
      </p:sp>
      <p:sp>
        <p:nvSpPr>
          <p:cNvPr id="37" name="Text Box 85">
            <a:extLst>
              <a:ext uri="{FF2B5EF4-FFF2-40B4-BE49-F238E27FC236}">
                <a16:creationId xmlns:a16="http://schemas.microsoft.com/office/drawing/2014/main" xmlns="" id="{C07230CD-29E4-4F41-7880-1685ED52B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1697" y="5833105"/>
            <a:ext cx="41595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connectionSocket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welcomeSocket.accept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();</a:t>
            </a:r>
          </a:p>
        </p:txBody>
      </p:sp>
      <p:grpSp>
        <p:nvGrpSpPr>
          <p:cNvPr id="38" name="Group 89">
            <a:extLst>
              <a:ext uri="{FF2B5EF4-FFF2-40B4-BE49-F238E27FC236}">
                <a16:creationId xmlns:a16="http://schemas.microsoft.com/office/drawing/2014/main" xmlns="" id="{E258952F-3449-89E4-CD87-CB25452F58D7}"/>
              </a:ext>
            </a:extLst>
          </p:cNvPr>
          <p:cNvGrpSpPr>
            <a:grpSpLocks/>
          </p:cNvGrpSpPr>
          <p:nvPr/>
        </p:nvGrpSpPr>
        <p:grpSpPr bwMode="auto">
          <a:xfrm>
            <a:off x="2299566" y="5084401"/>
            <a:ext cx="698500" cy="612775"/>
            <a:chOff x="-44" y="1473"/>
            <a:chExt cx="981" cy="1105"/>
          </a:xfrm>
        </p:grpSpPr>
        <p:pic>
          <p:nvPicPr>
            <p:cNvPr id="39" name="Picture 90" descr="desktop_computer_stylized_medium">
              <a:extLst>
                <a:ext uri="{FF2B5EF4-FFF2-40B4-BE49-F238E27FC236}">
                  <a16:creationId xmlns:a16="http://schemas.microsoft.com/office/drawing/2014/main" xmlns="" id="{BD00CAC6-44AE-7C15-7AC3-5FE298F9E4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Freeform 91">
              <a:extLst>
                <a:ext uri="{FF2B5EF4-FFF2-40B4-BE49-F238E27FC236}">
                  <a16:creationId xmlns:a16="http://schemas.microsoft.com/office/drawing/2014/main" xmlns="" id="{6F39EAAB-76C9-A5DB-683A-99C0D9BB7A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" name="Group 92">
            <a:extLst>
              <a:ext uri="{FF2B5EF4-FFF2-40B4-BE49-F238E27FC236}">
                <a16:creationId xmlns:a16="http://schemas.microsoft.com/office/drawing/2014/main" xmlns="" id="{7EFA5523-3843-793D-BBBB-E0A93EE7F033}"/>
              </a:ext>
            </a:extLst>
          </p:cNvPr>
          <p:cNvGrpSpPr>
            <a:grpSpLocks/>
          </p:cNvGrpSpPr>
          <p:nvPr/>
        </p:nvGrpSpPr>
        <p:grpSpPr bwMode="auto">
          <a:xfrm>
            <a:off x="10114829" y="4982801"/>
            <a:ext cx="415925" cy="627063"/>
            <a:chOff x="4140" y="429"/>
            <a:chExt cx="1425" cy="2396"/>
          </a:xfrm>
        </p:grpSpPr>
        <p:sp>
          <p:nvSpPr>
            <p:cNvPr id="42" name="Freeform 93">
              <a:extLst>
                <a:ext uri="{FF2B5EF4-FFF2-40B4-BE49-F238E27FC236}">
                  <a16:creationId xmlns:a16="http://schemas.microsoft.com/office/drawing/2014/main" xmlns="" id="{408435A6-7BD1-60D6-7417-C22197EA6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Rectangle 94">
              <a:extLst>
                <a:ext uri="{FF2B5EF4-FFF2-40B4-BE49-F238E27FC236}">
                  <a16:creationId xmlns:a16="http://schemas.microsoft.com/office/drawing/2014/main" xmlns="" id="{681EDD73-53B8-B495-6A22-8993CA79D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50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" name="Freeform 95">
              <a:extLst>
                <a:ext uri="{FF2B5EF4-FFF2-40B4-BE49-F238E27FC236}">
                  <a16:creationId xmlns:a16="http://schemas.microsoft.com/office/drawing/2014/main" xmlns="" id="{BD4E2250-0716-962C-00EF-CD43F1487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Freeform 96">
              <a:extLst>
                <a:ext uri="{FF2B5EF4-FFF2-40B4-BE49-F238E27FC236}">
                  <a16:creationId xmlns:a16="http://schemas.microsoft.com/office/drawing/2014/main" xmlns="" id="{FEE6928A-525D-ACAC-A1F8-C5A24D186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Rectangle 97">
              <a:extLst>
                <a:ext uri="{FF2B5EF4-FFF2-40B4-BE49-F238E27FC236}">
                  <a16:creationId xmlns:a16="http://schemas.microsoft.com/office/drawing/2014/main" xmlns="" id="{881A7AC5-ED94-F0ED-EBCA-342A3E9AF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6"/>
              <a:ext cx="598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7" name="Group 98">
              <a:extLst>
                <a:ext uri="{FF2B5EF4-FFF2-40B4-BE49-F238E27FC236}">
                  <a16:creationId xmlns:a16="http://schemas.microsoft.com/office/drawing/2014/main" xmlns="" id="{DADA8814-DA45-8AC3-9A3B-85952F554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" name="AutoShape 99">
                <a:extLst>
                  <a:ext uri="{FF2B5EF4-FFF2-40B4-BE49-F238E27FC236}">
                    <a16:creationId xmlns:a16="http://schemas.microsoft.com/office/drawing/2014/main" xmlns="" id="{2AFB3EAA-0E7B-8F03-5E36-67AFAA3F1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3" name="AutoShape 100">
                <a:extLst>
                  <a:ext uri="{FF2B5EF4-FFF2-40B4-BE49-F238E27FC236}">
                    <a16:creationId xmlns:a16="http://schemas.microsoft.com/office/drawing/2014/main" xmlns="" id="{273229D9-C770-E75F-C025-11D081D3F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8" name="Rectangle 101">
              <a:extLst>
                <a:ext uri="{FF2B5EF4-FFF2-40B4-BE49-F238E27FC236}">
                  <a16:creationId xmlns:a16="http://schemas.microsoft.com/office/drawing/2014/main" xmlns="" id="{C3DE48E2-3ABB-9D91-612A-7043C6215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9" name="Group 102">
              <a:extLst>
                <a:ext uri="{FF2B5EF4-FFF2-40B4-BE49-F238E27FC236}">
                  <a16:creationId xmlns:a16="http://schemas.microsoft.com/office/drawing/2014/main" xmlns="" id="{0A6B64CA-9857-4EA9-7EF3-36A32C59F6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" name="AutoShape 103">
                <a:extLst>
                  <a:ext uri="{FF2B5EF4-FFF2-40B4-BE49-F238E27FC236}">
                    <a16:creationId xmlns:a16="http://schemas.microsoft.com/office/drawing/2014/main" xmlns="" id="{E2F25EFD-16D7-2F3C-9819-3270DEFFF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1" name="AutoShape 104">
                <a:extLst>
                  <a:ext uri="{FF2B5EF4-FFF2-40B4-BE49-F238E27FC236}">
                    <a16:creationId xmlns:a16="http://schemas.microsoft.com/office/drawing/2014/main" xmlns="" id="{49668BBC-7E25-F975-8F56-BDF1445B7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7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0" name="Rectangle 105">
              <a:extLst>
                <a:ext uri="{FF2B5EF4-FFF2-40B4-BE49-F238E27FC236}">
                  <a16:creationId xmlns:a16="http://schemas.microsoft.com/office/drawing/2014/main" xmlns="" id="{0C7426E8-7774-7B07-C039-D4F47AD04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1" name="Rectangle 106">
              <a:extLst>
                <a:ext uri="{FF2B5EF4-FFF2-40B4-BE49-F238E27FC236}">
                  <a16:creationId xmlns:a16="http://schemas.microsoft.com/office/drawing/2014/main" xmlns="" id="{C7ACC745-BA31-92A8-6D55-69E974811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4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2" name="Group 107">
              <a:extLst>
                <a:ext uri="{FF2B5EF4-FFF2-40B4-BE49-F238E27FC236}">
                  <a16:creationId xmlns:a16="http://schemas.microsoft.com/office/drawing/2014/main" xmlns="" id="{52EA084F-296E-2026-0A60-69848D5EB3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" name="AutoShape 108">
                <a:extLst>
                  <a:ext uri="{FF2B5EF4-FFF2-40B4-BE49-F238E27FC236}">
                    <a16:creationId xmlns:a16="http://schemas.microsoft.com/office/drawing/2014/main" xmlns="" id="{5963FF24-C262-BD24-FB31-58F879338C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25" cy="12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9" name="AutoShape 109">
                <a:extLst>
                  <a:ext uri="{FF2B5EF4-FFF2-40B4-BE49-F238E27FC236}">
                    <a16:creationId xmlns:a16="http://schemas.microsoft.com/office/drawing/2014/main" xmlns="" id="{F40FC309-E358-5344-43FF-42CBBC4D1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1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3" name="Freeform 110">
              <a:extLst>
                <a:ext uri="{FF2B5EF4-FFF2-40B4-BE49-F238E27FC236}">
                  <a16:creationId xmlns:a16="http://schemas.microsoft.com/office/drawing/2014/main" xmlns="" id="{DA5C37F4-B2AE-4FBB-38AC-082527F08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4" name="Group 111">
              <a:extLst>
                <a:ext uri="{FF2B5EF4-FFF2-40B4-BE49-F238E27FC236}">
                  <a16:creationId xmlns:a16="http://schemas.microsoft.com/office/drawing/2014/main" xmlns="" id="{17391936-263C-2C03-690C-C83CE39700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6" name="AutoShape 112">
                <a:extLst>
                  <a:ext uri="{FF2B5EF4-FFF2-40B4-BE49-F238E27FC236}">
                    <a16:creationId xmlns:a16="http://schemas.microsoft.com/office/drawing/2014/main" xmlns="" id="{AFCFFD7B-1A84-E210-CD9F-168891500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7" name="AutoShape 113">
                <a:extLst>
                  <a:ext uri="{FF2B5EF4-FFF2-40B4-BE49-F238E27FC236}">
                    <a16:creationId xmlns:a16="http://schemas.microsoft.com/office/drawing/2014/main" xmlns="" id="{C8B37824-60FD-E71B-D1A3-CCA1DDDEA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1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5" name="Rectangle 114">
              <a:extLst>
                <a:ext uri="{FF2B5EF4-FFF2-40B4-BE49-F238E27FC236}">
                  <a16:creationId xmlns:a16="http://schemas.microsoft.com/office/drawing/2014/main" xmlns="" id="{353BF710-721C-8740-6C5F-950840E1D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6" name="Freeform 115">
              <a:extLst>
                <a:ext uri="{FF2B5EF4-FFF2-40B4-BE49-F238E27FC236}">
                  <a16:creationId xmlns:a16="http://schemas.microsoft.com/office/drawing/2014/main" xmlns="" id="{30EBF71B-9138-2729-B8BA-D7E2572BA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Freeform 116">
              <a:extLst>
                <a:ext uri="{FF2B5EF4-FFF2-40B4-BE49-F238E27FC236}">
                  <a16:creationId xmlns:a16="http://schemas.microsoft.com/office/drawing/2014/main" xmlns="" id="{40A580DC-31D4-26C5-2C46-5EC058378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Oval 117">
              <a:extLst>
                <a:ext uri="{FF2B5EF4-FFF2-40B4-BE49-F238E27FC236}">
                  <a16:creationId xmlns:a16="http://schemas.microsoft.com/office/drawing/2014/main" xmlns="" id="{FE9F3252-1D6C-1205-4A04-5DB1A320F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3"/>
              <a:ext cx="49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" name="Freeform 118">
              <a:extLst>
                <a:ext uri="{FF2B5EF4-FFF2-40B4-BE49-F238E27FC236}">
                  <a16:creationId xmlns:a16="http://schemas.microsoft.com/office/drawing/2014/main" xmlns="" id="{870DB2E6-2E03-5BCF-6615-1618DAA7E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" name="AutoShape 119">
              <a:extLst>
                <a:ext uri="{FF2B5EF4-FFF2-40B4-BE49-F238E27FC236}">
                  <a16:creationId xmlns:a16="http://schemas.microsoft.com/office/drawing/2014/main" xmlns="" id="{619DA3F2-4FE5-5749-CC7E-17BE71411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7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" name="AutoShape 120">
              <a:extLst>
                <a:ext uri="{FF2B5EF4-FFF2-40B4-BE49-F238E27FC236}">
                  <a16:creationId xmlns:a16="http://schemas.microsoft.com/office/drawing/2014/main" xmlns="" id="{9837757A-3B1E-B538-A257-D647D5D7B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0"/>
              <a:ext cx="1071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" name="Oval 121">
              <a:extLst>
                <a:ext uri="{FF2B5EF4-FFF2-40B4-BE49-F238E27FC236}">
                  <a16:creationId xmlns:a16="http://schemas.microsoft.com/office/drawing/2014/main" xmlns="" id="{E6E46A71-AE6E-3405-8D9B-3E319D24E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3" name="Oval 122">
              <a:extLst>
                <a:ext uri="{FF2B5EF4-FFF2-40B4-BE49-F238E27FC236}">
                  <a16:creationId xmlns:a16="http://schemas.microsoft.com/office/drawing/2014/main" xmlns="" id="{FB2A41E6-8548-7CD7-3823-43F8E1082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4" name="Oval 123">
              <a:extLst>
                <a:ext uri="{FF2B5EF4-FFF2-40B4-BE49-F238E27FC236}">
                  <a16:creationId xmlns:a16="http://schemas.microsoft.com/office/drawing/2014/main" xmlns="" id="{DE1F4AE3-755F-C746-8473-14475DE96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5" name="Rectangle 124">
              <a:extLst>
                <a:ext uri="{FF2B5EF4-FFF2-40B4-BE49-F238E27FC236}">
                  <a16:creationId xmlns:a16="http://schemas.microsoft.com/office/drawing/2014/main" xmlns="" id="{40580301-27C6-E098-3C61-1C6DF4B9B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6"/>
              <a:ext cx="82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487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2973541-842E-DD09-E66C-86C706CA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651980-FBEB-7662-1FF5-E91B5A2EC9DC}"/>
              </a:ext>
            </a:extLst>
          </p:cNvPr>
          <p:cNvSpPr txBox="1">
            <a:spLocks/>
          </p:cNvSpPr>
          <p:nvPr/>
        </p:nvSpPr>
        <p:spPr>
          <a:xfrm>
            <a:off x="399345" y="572619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Agreeing to establish a connection</a:t>
            </a:r>
          </a:p>
        </p:txBody>
      </p:sp>
      <p:sp>
        <p:nvSpPr>
          <p:cNvPr id="3" name="Rectangle 63">
            <a:extLst>
              <a:ext uri="{FF2B5EF4-FFF2-40B4-BE49-F238E27FC236}">
                <a16:creationId xmlns:a16="http://schemas.microsoft.com/office/drawing/2014/main" xmlns="" id="{F7D02A19-4E12-5BEB-DE21-A09B78C31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914" y="2385025"/>
            <a:ext cx="5523920" cy="3576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Q: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will 2-way handshake always work in network?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variable delays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retransmitted messages (e.g.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req_conn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(x)) due to message loss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message reordering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c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an’</a:t>
            </a:r>
            <a:r>
              <a:rPr kumimoji="0" lang="en-US" altLang="ja-JP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t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“see” other side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pic>
        <p:nvPicPr>
          <p:cNvPr id="4" name="Picture 62" descr="Alice">
            <a:extLst>
              <a:ext uri="{FF2B5EF4-FFF2-40B4-BE49-F238E27FC236}">
                <a16:creationId xmlns:a16="http://schemas.microsoft.com/office/drawing/2014/main" xmlns="" id="{C8C9370D-C273-47FB-88CC-44F93854A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585" y="2121212"/>
            <a:ext cx="685440" cy="68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3" descr="Bob">
            <a:extLst>
              <a:ext uri="{FF2B5EF4-FFF2-40B4-BE49-F238E27FC236}">
                <a16:creationId xmlns:a16="http://schemas.microsoft.com/office/drawing/2014/main" xmlns="" id="{1FDA80FE-5DB4-27D2-3C03-85FF464F0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477" y="2159187"/>
            <a:ext cx="839663" cy="690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9">
            <a:extLst>
              <a:ext uri="{FF2B5EF4-FFF2-40B4-BE49-F238E27FC236}">
                <a16:creationId xmlns:a16="http://schemas.microsoft.com/office/drawing/2014/main" xmlns="" id="{D5998AA2-A196-10D7-B9E6-D6E5531A9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090" y="1444562"/>
            <a:ext cx="32079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2-way handshake:</a:t>
            </a:r>
          </a:p>
        </p:txBody>
      </p:sp>
      <p:sp>
        <p:nvSpPr>
          <p:cNvPr id="7" name="Line 50">
            <a:extLst>
              <a:ext uri="{FF2B5EF4-FFF2-40B4-BE49-F238E27FC236}">
                <a16:creationId xmlns:a16="http://schemas.microsoft.com/office/drawing/2014/main" xmlns="" id="{C21623EB-CF76-4A6F-0694-D8BA1B3709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0274" y="2916965"/>
            <a:ext cx="1996343" cy="34350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8" name="Line 51">
            <a:extLst>
              <a:ext uri="{FF2B5EF4-FFF2-40B4-BE49-F238E27FC236}">
                <a16:creationId xmlns:a16="http://schemas.microsoft.com/office/drawing/2014/main" xmlns="" id="{6EF6A13A-84ED-FD67-EDFA-709C8B552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0298" y="2827206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9" name="Line 53">
            <a:extLst>
              <a:ext uri="{FF2B5EF4-FFF2-40B4-BE49-F238E27FC236}">
                <a16:creationId xmlns:a16="http://schemas.microsoft.com/office/drawing/2014/main" xmlns="" id="{02B1A616-805E-91D9-5852-33CB89C9A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5185" y="2856551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0" name="Line 54">
            <a:extLst>
              <a:ext uri="{FF2B5EF4-FFF2-40B4-BE49-F238E27FC236}">
                <a16:creationId xmlns:a16="http://schemas.microsoft.com/office/drawing/2014/main" xmlns="" id="{FB9495A7-E1BD-3209-D715-8412B2B4CD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76014" y="3348502"/>
            <a:ext cx="1996343" cy="34350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1" name="Rectangle 56">
            <a:extLst>
              <a:ext uri="{FF2B5EF4-FFF2-40B4-BE49-F238E27FC236}">
                <a16:creationId xmlns:a16="http://schemas.microsoft.com/office/drawing/2014/main" xmlns="" id="{83D51592-82DA-A02D-3A95-786619145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1574" y="2901431"/>
            <a:ext cx="1201662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2" name="Text Box 55">
            <a:extLst>
              <a:ext uri="{FF2B5EF4-FFF2-40B4-BE49-F238E27FC236}">
                <a16:creationId xmlns:a16="http://schemas.microsoft.com/office/drawing/2014/main" xmlns="" id="{43463F60-F4A5-A749-3681-D77453955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394" y="2877265"/>
            <a:ext cx="1116010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Let’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talk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57">
            <a:extLst>
              <a:ext uri="{FF2B5EF4-FFF2-40B4-BE49-F238E27FC236}">
                <a16:creationId xmlns:a16="http://schemas.microsoft.com/office/drawing/2014/main" xmlns="" id="{7098D3E1-E509-EA7D-58C1-9C91B35B4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578" y="3362311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4" name="Text Box 58">
            <a:extLst>
              <a:ext uri="{FF2B5EF4-FFF2-40B4-BE49-F238E27FC236}">
                <a16:creationId xmlns:a16="http://schemas.microsoft.com/office/drawing/2014/main" xmlns="" id="{7E1679F1-6CFF-3811-3EC3-945E0BFFE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5363" y="3338145"/>
            <a:ext cx="487634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OK</a:t>
            </a:r>
          </a:p>
        </p:txBody>
      </p:sp>
      <p:sp>
        <p:nvSpPr>
          <p:cNvPr id="15" name="Text Box 60">
            <a:extLst>
              <a:ext uri="{FF2B5EF4-FFF2-40B4-BE49-F238E27FC236}">
                <a16:creationId xmlns:a16="http://schemas.microsoft.com/office/drawing/2014/main" xmlns="" id="{0BAEB257-FA7A-4518-126F-71F75A32B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169" y="3156900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16" name="Text Box 61">
            <a:extLst>
              <a:ext uri="{FF2B5EF4-FFF2-40B4-BE49-F238E27FC236}">
                <a16:creationId xmlns:a16="http://schemas.microsoft.com/office/drawing/2014/main" xmlns="" id="{5AC16ACF-ACC5-B738-7B5C-CFEF897AD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175" y="3519391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17" name="Oval 66">
            <a:extLst>
              <a:ext uri="{FF2B5EF4-FFF2-40B4-BE49-F238E27FC236}">
                <a16:creationId xmlns:a16="http://schemas.microsoft.com/office/drawing/2014/main" xmlns="" id="{60C0CFDF-64CB-C71B-A6DC-CA1272F5A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181" y="3647126"/>
            <a:ext cx="122093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8" name="Oval 67">
            <a:extLst>
              <a:ext uri="{FF2B5EF4-FFF2-40B4-BE49-F238E27FC236}">
                <a16:creationId xmlns:a16="http://schemas.microsoft.com/office/drawing/2014/main" xmlns="" id="{F502E389-9C15-8BF4-5544-736690F6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925" y="3274278"/>
            <a:ext cx="122095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9" name="Text Box 72">
            <a:extLst>
              <a:ext uri="{FF2B5EF4-FFF2-40B4-BE49-F238E27FC236}">
                <a16:creationId xmlns:a16="http://schemas.microsoft.com/office/drawing/2014/main" xmlns="" id="{A911A270-11F6-3904-3C96-3DAEA6C9A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667" y="5043579"/>
            <a:ext cx="10952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choose 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0" name="Line 73">
            <a:extLst>
              <a:ext uri="{FF2B5EF4-FFF2-40B4-BE49-F238E27FC236}">
                <a16:creationId xmlns:a16="http://schemas.microsoft.com/office/drawing/2014/main" xmlns="" id="{55AA9147-8365-2B10-D2A4-D4B1C8331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8830" y="5231730"/>
            <a:ext cx="1996343" cy="34350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" name="Line 74">
            <a:extLst>
              <a:ext uri="{FF2B5EF4-FFF2-40B4-BE49-F238E27FC236}">
                <a16:creationId xmlns:a16="http://schemas.microsoft.com/office/drawing/2014/main" xmlns="" id="{83C0005C-9511-FE1B-6180-13663FEEE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8854" y="5141970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" name="Line 75">
            <a:extLst>
              <a:ext uri="{FF2B5EF4-FFF2-40B4-BE49-F238E27FC236}">
                <a16:creationId xmlns:a16="http://schemas.microsoft.com/office/drawing/2014/main" xmlns="" id="{768F66A1-9209-3850-45E6-882913EA9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3741" y="5171314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" name="Line 76">
            <a:extLst>
              <a:ext uri="{FF2B5EF4-FFF2-40B4-BE49-F238E27FC236}">
                <a16:creationId xmlns:a16="http://schemas.microsoft.com/office/drawing/2014/main" xmlns="" id="{4C1517C2-1B0C-6547-0CFB-77587473C3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4570" y="5663267"/>
            <a:ext cx="1996343" cy="34350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4" name="Rectangle 77">
            <a:extLst>
              <a:ext uri="{FF2B5EF4-FFF2-40B4-BE49-F238E27FC236}">
                <a16:creationId xmlns:a16="http://schemas.microsoft.com/office/drawing/2014/main" xmlns="" id="{952153B6-21D3-AA7F-3601-8112A949C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230" y="5216194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5" name="Text Box 78">
            <a:extLst>
              <a:ext uri="{FF2B5EF4-FFF2-40B4-BE49-F238E27FC236}">
                <a16:creationId xmlns:a16="http://schemas.microsoft.com/office/drawing/2014/main" xmlns="" id="{323C5EBE-5C61-2B4F-E685-116BE8E1F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467" y="5179945"/>
            <a:ext cx="14462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req_conn(x)</a:t>
            </a:r>
          </a:p>
        </p:txBody>
      </p:sp>
      <p:sp>
        <p:nvSpPr>
          <p:cNvPr id="26" name="Rectangle 79">
            <a:extLst>
              <a:ext uri="{FF2B5EF4-FFF2-40B4-BE49-F238E27FC236}">
                <a16:creationId xmlns:a16="http://schemas.microsoft.com/office/drawing/2014/main" xmlns="" id="{FEF0520F-EC73-2750-B3FE-65A6EB16C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134" y="5677076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7" name="Text Box 81">
            <a:extLst>
              <a:ext uri="{FF2B5EF4-FFF2-40B4-BE49-F238E27FC236}">
                <a16:creationId xmlns:a16="http://schemas.microsoft.com/office/drawing/2014/main" xmlns="" id="{FD230CA7-5036-2E44-869C-8F761322A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723" y="5471664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8" name="Text Box 82">
            <a:extLst>
              <a:ext uri="{FF2B5EF4-FFF2-40B4-BE49-F238E27FC236}">
                <a16:creationId xmlns:a16="http://schemas.microsoft.com/office/drawing/2014/main" xmlns="" id="{22E197B5-65A3-5926-70A4-CE766345B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32" y="5834155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9" name="Oval 83">
            <a:extLst>
              <a:ext uri="{FF2B5EF4-FFF2-40B4-BE49-F238E27FC236}">
                <a16:creationId xmlns:a16="http://schemas.microsoft.com/office/drawing/2014/main" xmlns="" id="{0C1319C3-5AD5-BE77-9CDF-D2BDA0C74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6737" y="5961890"/>
            <a:ext cx="122093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30" name="Oval 84">
            <a:extLst>
              <a:ext uri="{FF2B5EF4-FFF2-40B4-BE49-F238E27FC236}">
                <a16:creationId xmlns:a16="http://schemas.microsoft.com/office/drawing/2014/main" xmlns="" id="{2A134E42-7302-F6E5-4EAD-FE254A674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481" y="5589042"/>
            <a:ext cx="122095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31" name="Rectangle 86">
            <a:extLst>
              <a:ext uri="{FF2B5EF4-FFF2-40B4-BE49-F238E27FC236}">
                <a16:creationId xmlns:a16="http://schemas.microsoft.com/office/drawing/2014/main" xmlns="" id="{D4423BA3-846A-4971-13AF-29B7F2F0F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438" y="5683981"/>
            <a:ext cx="1445850" cy="283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32" name="Text Box 85">
            <a:extLst>
              <a:ext uri="{FF2B5EF4-FFF2-40B4-BE49-F238E27FC236}">
                <a16:creationId xmlns:a16="http://schemas.microsoft.com/office/drawing/2014/main" xmlns="" id="{A17CFA4A-6AA3-A2F5-30FE-05715D6CF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581" y="5642553"/>
            <a:ext cx="1435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acc_conn(x)</a:t>
            </a:r>
          </a:p>
        </p:txBody>
      </p:sp>
      <p:grpSp>
        <p:nvGrpSpPr>
          <p:cNvPr id="33" name="Group 92">
            <a:extLst>
              <a:ext uri="{FF2B5EF4-FFF2-40B4-BE49-F238E27FC236}">
                <a16:creationId xmlns:a16="http://schemas.microsoft.com/office/drawing/2014/main" xmlns="" id="{FDFBC2A9-5E61-83C2-DC80-F67141BFB9E4}"/>
              </a:ext>
            </a:extLst>
          </p:cNvPr>
          <p:cNvGrpSpPr>
            <a:grpSpLocks/>
          </p:cNvGrpSpPr>
          <p:nvPr/>
        </p:nvGrpSpPr>
        <p:grpSpPr bwMode="auto">
          <a:xfrm>
            <a:off x="1426194" y="4561985"/>
            <a:ext cx="775403" cy="566176"/>
            <a:chOff x="-44" y="1473"/>
            <a:chExt cx="981" cy="1105"/>
          </a:xfrm>
        </p:grpSpPr>
        <p:pic>
          <p:nvPicPr>
            <p:cNvPr id="34" name="Picture 93" descr="desktop_computer_stylized_medium">
              <a:extLst>
                <a:ext uri="{FF2B5EF4-FFF2-40B4-BE49-F238E27FC236}">
                  <a16:creationId xmlns:a16="http://schemas.microsoft.com/office/drawing/2014/main" xmlns="" id="{B0D2B898-5AB5-2988-F1C9-3C68968750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94">
              <a:extLst>
                <a:ext uri="{FF2B5EF4-FFF2-40B4-BE49-F238E27FC236}">
                  <a16:creationId xmlns:a16="http://schemas.microsoft.com/office/drawing/2014/main" xmlns="" id="{B48D8945-D073-9554-5F2C-257A9EAB644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" name="Group 95">
            <a:extLst>
              <a:ext uri="{FF2B5EF4-FFF2-40B4-BE49-F238E27FC236}">
                <a16:creationId xmlns:a16="http://schemas.microsoft.com/office/drawing/2014/main" xmlns="" id="{750934E3-3C8E-F844-B6B2-4D372DCA0B6D}"/>
              </a:ext>
            </a:extLst>
          </p:cNvPr>
          <p:cNvGrpSpPr>
            <a:grpSpLocks/>
          </p:cNvGrpSpPr>
          <p:nvPr/>
        </p:nvGrpSpPr>
        <p:grpSpPr bwMode="auto">
          <a:xfrm>
            <a:off x="3803813" y="4541271"/>
            <a:ext cx="318750" cy="557545"/>
            <a:chOff x="4140" y="429"/>
            <a:chExt cx="1425" cy="2396"/>
          </a:xfrm>
        </p:grpSpPr>
        <p:sp>
          <p:nvSpPr>
            <p:cNvPr id="37" name="Freeform 96">
              <a:extLst>
                <a:ext uri="{FF2B5EF4-FFF2-40B4-BE49-F238E27FC236}">
                  <a16:creationId xmlns:a16="http://schemas.microsoft.com/office/drawing/2014/main" xmlns="" id="{D50BC98D-924C-0ED8-28BF-65797126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Rectangle 97">
              <a:extLst>
                <a:ext uri="{FF2B5EF4-FFF2-40B4-BE49-F238E27FC236}">
                  <a16:creationId xmlns:a16="http://schemas.microsoft.com/office/drawing/2014/main" xmlns="" id="{706645C8-6E5B-D94C-0E28-8D5C5087D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9" name="Freeform 98">
              <a:extLst>
                <a:ext uri="{FF2B5EF4-FFF2-40B4-BE49-F238E27FC236}">
                  <a16:creationId xmlns:a16="http://schemas.microsoft.com/office/drawing/2014/main" xmlns="" id="{F5556F34-2FC7-C446-EBED-0E95F7C9F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" name="Freeform 99">
              <a:extLst>
                <a:ext uri="{FF2B5EF4-FFF2-40B4-BE49-F238E27FC236}">
                  <a16:creationId xmlns:a16="http://schemas.microsoft.com/office/drawing/2014/main" xmlns="" id="{9EC6CAFF-FC48-0F8D-6251-721829E7E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Rectangle 100">
              <a:extLst>
                <a:ext uri="{FF2B5EF4-FFF2-40B4-BE49-F238E27FC236}">
                  <a16:creationId xmlns:a16="http://schemas.microsoft.com/office/drawing/2014/main" xmlns="" id="{17E8C5CC-877C-FE32-3C62-59A6883AF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2" name="Group 101">
              <a:extLst>
                <a:ext uri="{FF2B5EF4-FFF2-40B4-BE49-F238E27FC236}">
                  <a16:creationId xmlns:a16="http://schemas.microsoft.com/office/drawing/2014/main" xmlns="" id="{3353F795-02E4-25F4-72E4-A2B6AB7397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7" name="AutoShape 102">
                <a:extLst>
                  <a:ext uri="{FF2B5EF4-FFF2-40B4-BE49-F238E27FC236}">
                    <a16:creationId xmlns:a16="http://schemas.microsoft.com/office/drawing/2014/main" xmlns="" id="{59153FFD-EF58-D500-9E27-EB5FC09E8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8" name="AutoShape 103">
                <a:extLst>
                  <a:ext uri="{FF2B5EF4-FFF2-40B4-BE49-F238E27FC236}">
                    <a16:creationId xmlns:a16="http://schemas.microsoft.com/office/drawing/2014/main" xmlns="" id="{70F870D0-1567-7D07-AF43-6A0F1D6B0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" name="Rectangle 104">
              <a:extLst>
                <a:ext uri="{FF2B5EF4-FFF2-40B4-BE49-F238E27FC236}">
                  <a16:creationId xmlns:a16="http://schemas.microsoft.com/office/drawing/2014/main" xmlns="" id="{02C7F7C0-129C-76F1-1E17-55E8ADB6B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4" name="Group 105">
              <a:extLst>
                <a:ext uri="{FF2B5EF4-FFF2-40B4-BE49-F238E27FC236}">
                  <a16:creationId xmlns:a16="http://schemas.microsoft.com/office/drawing/2014/main" xmlns="" id="{1865C27B-601A-DE92-C7A6-BFDB61E4FF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" name="AutoShape 106">
                <a:extLst>
                  <a:ext uri="{FF2B5EF4-FFF2-40B4-BE49-F238E27FC236}">
                    <a16:creationId xmlns:a16="http://schemas.microsoft.com/office/drawing/2014/main" xmlns="" id="{5FB84097-F8BB-B738-9BC8-4B51E514B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AutoShape 107">
                <a:extLst>
                  <a:ext uri="{FF2B5EF4-FFF2-40B4-BE49-F238E27FC236}">
                    <a16:creationId xmlns:a16="http://schemas.microsoft.com/office/drawing/2014/main" xmlns="" id="{48E0BC5C-B864-B0AA-15A2-CAF61627B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5" name="Rectangle 108">
              <a:extLst>
                <a:ext uri="{FF2B5EF4-FFF2-40B4-BE49-F238E27FC236}">
                  <a16:creationId xmlns:a16="http://schemas.microsoft.com/office/drawing/2014/main" xmlns="" id="{7A5EB856-3DA7-DA38-FD8B-38460FE2D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6" name="Rectangle 109">
              <a:extLst>
                <a:ext uri="{FF2B5EF4-FFF2-40B4-BE49-F238E27FC236}">
                  <a16:creationId xmlns:a16="http://schemas.microsoft.com/office/drawing/2014/main" xmlns="" id="{4F6B00EA-FBF8-C3C3-FC91-ACDB4A607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7" name="Group 110">
              <a:extLst>
                <a:ext uri="{FF2B5EF4-FFF2-40B4-BE49-F238E27FC236}">
                  <a16:creationId xmlns:a16="http://schemas.microsoft.com/office/drawing/2014/main" xmlns="" id="{632DA6D2-A0EC-ECC0-6F6A-E21620CDE7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3" name="AutoShape 111">
                <a:extLst>
                  <a:ext uri="{FF2B5EF4-FFF2-40B4-BE49-F238E27FC236}">
                    <a16:creationId xmlns:a16="http://schemas.microsoft.com/office/drawing/2014/main" xmlns="" id="{B4EE033E-B475-0189-D0DC-5DB1437BA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AutoShape 112">
                <a:extLst>
                  <a:ext uri="{FF2B5EF4-FFF2-40B4-BE49-F238E27FC236}">
                    <a16:creationId xmlns:a16="http://schemas.microsoft.com/office/drawing/2014/main" xmlns="" id="{878837B4-7A80-6085-E307-C008AB3FD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8" name="Freeform 113">
              <a:extLst>
                <a:ext uri="{FF2B5EF4-FFF2-40B4-BE49-F238E27FC236}">
                  <a16:creationId xmlns:a16="http://schemas.microsoft.com/office/drawing/2014/main" xmlns="" id="{61BDADB7-945F-936B-AAA9-179FC748E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9" name="Group 114">
              <a:extLst>
                <a:ext uri="{FF2B5EF4-FFF2-40B4-BE49-F238E27FC236}">
                  <a16:creationId xmlns:a16="http://schemas.microsoft.com/office/drawing/2014/main" xmlns="" id="{E5D46113-7490-D49E-1745-37B5DE2BE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" name="AutoShape 115">
                <a:extLst>
                  <a:ext uri="{FF2B5EF4-FFF2-40B4-BE49-F238E27FC236}">
                    <a16:creationId xmlns:a16="http://schemas.microsoft.com/office/drawing/2014/main" xmlns="" id="{663A779A-86B9-2790-86A3-66415A673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AutoShape 116">
                <a:extLst>
                  <a:ext uri="{FF2B5EF4-FFF2-40B4-BE49-F238E27FC236}">
                    <a16:creationId xmlns:a16="http://schemas.microsoft.com/office/drawing/2014/main" xmlns="" id="{5020C48F-F369-2C2C-5E33-47AA1D906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0" name="Rectangle 117">
              <a:extLst>
                <a:ext uri="{FF2B5EF4-FFF2-40B4-BE49-F238E27FC236}">
                  <a16:creationId xmlns:a16="http://schemas.microsoft.com/office/drawing/2014/main" xmlns="" id="{9B229849-C2CB-F604-39A8-D8AE029F6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 118">
              <a:extLst>
                <a:ext uri="{FF2B5EF4-FFF2-40B4-BE49-F238E27FC236}">
                  <a16:creationId xmlns:a16="http://schemas.microsoft.com/office/drawing/2014/main" xmlns="" id="{A7FE9BBE-94BE-FE59-8349-E5BA28962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" name="Freeform 119">
              <a:extLst>
                <a:ext uri="{FF2B5EF4-FFF2-40B4-BE49-F238E27FC236}">
                  <a16:creationId xmlns:a16="http://schemas.microsoft.com/office/drawing/2014/main" xmlns="" id="{86011232-7500-73E3-FE82-DC79F1B4B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Oval 120">
              <a:extLst>
                <a:ext uri="{FF2B5EF4-FFF2-40B4-BE49-F238E27FC236}">
                  <a16:creationId xmlns:a16="http://schemas.microsoft.com/office/drawing/2014/main" xmlns="" id="{F400C9EC-63FA-A3EC-F38C-2F7EA9775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Freeform 121">
              <a:extLst>
                <a:ext uri="{FF2B5EF4-FFF2-40B4-BE49-F238E27FC236}">
                  <a16:creationId xmlns:a16="http://schemas.microsoft.com/office/drawing/2014/main" xmlns="" id="{F5999C63-8FA6-D511-6CC9-9D0A443C4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AutoShape 122">
              <a:extLst>
                <a:ext uri="{FF2B5EF4-FFF2-40B4-BE49-F238E27FC236}">
                  <a16:creationId xmlns:a16="http://schemas.microsoft.com/office/drawing/2014/main" xmlns="" id="{B388ACBE-6066-C07B-63A1-3782A0D5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AutoShape 123">
              <a:extLst>
                <a:ext uri="{FF2B5EF4-FFF2-40B4-BE49-F238E27FC236}">
                  <a16:creationId xmlns:a16="http://schemas.microsoft.com/office/drawing/2014/main" xmlns="" id="{30D81958-C230-C35B-4118-3685E9683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7" name="Oval 124">
              <a:extLst>
                <a:ext uri="{FF2B5EF4-FFF2-40B4-BE49-F238E27FC236}">
                  <a16:creationId xmlns:a16="http://schemas.microsoft.com/office/drawing/2014/main" xmlns="" id="{658672EC-0AA2-909A-D5E1-2117CF6F3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Oval 125">
              <a:extLst>
                <a:ext uri="{FF2B5EF4-FFF2-40B4-BE49-F238E27FC236}">
                  <a16:creationId xmlns:a16="http://schemas.microsoft.com/office/drawing/2014/main" xmlns="" id="{4010DF0C-810F-6113-B008-869452931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59" name="Oval 126">
              <a:extLst>
                <a:ext uri="{FF2B5EF4-FFF2-40B4-BE49-F238E27FC236}">
                  <a16:creationId xmlns:a16="http://schemas.microsoft.com/office/drawing/2014/main" xmlns="" id="{6CD22B78-C51E-548C-EB55-5B40FD666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0" name="Rectangle 127">
              <a:extLst>
                <a:ext uri="{FF2B5EF4-FFF2-40B4-BE49-F238E27FC236}">
                  <a16:creationId xmlns:a16="http://schemas.microsoft.com/office/drawing/2014/main" xmlns="" id="{6BA9924E-3F56-58AC-1DA5-55E39507F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769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3D6DA6-D26E-A73B-9EBA-77265067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D26931-C7AE-63A8-DD5E-60C2112ADF57}"/>
              </a:ext>
            </a:extLst>
          </p:cNvPr>
          <p:cNvSpPr txBox="1">
            <a:spLocks/>
          </p:cNvSpPr>
          <p:nvPr/>
        </p:nvSpPr>
        <p:spPr>
          <a:xfrm>
            <a:off x="399345" y="544227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2-way handshake scenarios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2483AB99-FE72-A7A3-5AEB-C717DBF4DA3C}"/>
              </a:ext>
            </a:extLst>
          </p:cNvPr>
          <p:cNvGrpSpPr/>
          <p:nvPr/>
        </p:nvGrpSpPr>
        <p:grpSpPr>
          <a:xfrm>
            <a:off x="435655" y="1435139"/>
            <a:ext cx="3855401" cy="3186116"/>
            <a:chOff x="435655" y="1990325"/>
            <a:chExt cx="3855401" cy="3186116"/>
          </a:xfrm>
        </p:grpSpPr>
        <p:sp>
          <p:nvSpPr>
            <p:cNvPr id="4" name="Line 25">
              <a:extLst>
                <a:ext uri="{FF2B5EF4-FFF2-40B4-BE49-F238E27FC236}">
                  <a16:creationId xmlns:a16="http://schemas.microsoft.com/office/drawing/2014/main" xmlns="" id="{EAB9C74D-C107-8EFC-1C9E-63277FB39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61180" y="2545950"/>
              <a:ext cx="1588" cy="247015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" name="Line 39">
              <a:extLst>
                <a:ext uri="{FF2B5EF4-FFF2-40B4-BE49-F238E27FC236}">
                  <a16:creationId xmlns:a16="http://schemas.microsoft.com/office/drawing/2014/main" xmlns="" id="{27687E71-4462-E7EA-58F3-3D4D6955E7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1529" y="2618975"/>
              <a:ext cx="0" cy="252452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" name="Group 93">
              <a:extLst>
                <a:ext uri="{FF2B5EF4-FFF2-40B4-BE49-F238E27FC236}">
                  <a16:creationId xmlns:a16="http://schemas.microsoft.com/office/drawing/2014/main" xmlns="" id="{01999F1D-A56D-F60E-EEF2-119A9A81F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6567" y="4700191"/>
              <a:ext cx="2405063" cy="476250"/>
              <a:chOff x="1097" y="2807"/>
              <a:chExt cx="1515" cy="300"/>
            </a:xfrm>
          </p:grpSpPr>
          <p:sp>
            <p:nvSpPr>
              <p:cNvPr id="68" name="Line 40">
                <a:extLst>
                  <a:ext uri="{FF2B5EF4-FFF2-40B4-BE49-F238E27FC236}">
                    <a16:creationId xmlns:a16="http://schemas.microsoft.com/office/drawing/2014/main" xmlns="" id="{2A24C0CB-FCF5-12EF-C12B-9E25F0D58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7" y="2964"/>
                <a:ext cx="1515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9" name="Text Box 85">
                <a:extLst>
                  <a:ext uri="{FF2B5EF4-FFF2-40B4-BE49-F238E27FC236}">
                    <a16:creationId xmlns:a16="http://schemas.microsoft.com/office/drawing/2014/main" xmlns="" id="{4612F575-6F82-F554-3FF6-DA4BB6FFD7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9" y="2807"/>
                <a:ext cx="706" cy="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connection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x completes</a:t>
                </a:r>
              </a:p>
            </p:txBody>
          </p:sp>
        </p:grpSp>
        <p:grpSp>
          <p:nvGrpSpPr>
            <p:cNvPr id="7" name="Group 102">
              <a:extLst>
                <a:ext uri="{FF2B5EF4-FFF2-40B4-BE49-F238E27FC236}">
                  <a16:creationId xmlns:a16="http://schemas.microsoft.com/office/drawing/2014/main" xmlns="" id="{72631201-B467-267C-F3D9-6F4488973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655" y="1990325"/>
              <a:ext cx="3389313" cy="2136775"/>
              <a:chOff x="484" y="1100"/>
              <a:chExt cx="2135" cy="1346"/>
            </a:xfrm>
          </p:grpSpPr>
          <p:sp>
            <p:nvSpPr>
              <p:cNvPr id="19" name="Text Box 103">
                <a:extLst>
                  <a:ext uri="{FF2B5EF4-FFF2-40B4-BE49-F238E27FC236}">
                    <a16:creationId xmlns:a16="http://schemas.microsoft.com/office/drawing/2014/main" xmlns="" id="{587133AE-CCDA-927B-CF9D-4248AC0A58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" y="1393"/>
                <a:ext cx="613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choose x</a:t>
                </a:r>
              </a:p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" name="Line 104">
                <a:extLst>
                  <a:ext uri="{FF2B5EF4-FFF2-40B4-BE49-F238E27FC236}">
                    <a16:creationId xmlns:a16="http://schemas.microsoft.com/office/drawing/2014/main" xmlns="" id="{69B10724-61E4-3156-5C9C-280578566C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9" y="1516"/>
                <a:ext cx="932" cy="199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" name="Line 105">
                <a:extLst>
                  <a:ext uri="{FF2B5EF4-FFF2-40B4-BE49-F238E27FC236}">
                    <a16:creationId xmlns:a16="http://schemas.microsoft.com/office/drawing/2014/main" xmlns="" id="{15E7326B-7FAE-62D5-330D-BC6279EDB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21" y="1739"/>
                <a:ext cx="990" cy="602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" name="Rectangle 106">
                <a:extLst>
                  <a:ext uri="{FF2B5EF4-FFF2-40B4-BE49-F238E27FC236}">
                    <a16:creationId xmlns:a16="http://schemas.microsoft.com/office/drawing/2014/main" xmlns="" id="{2190B9F9-6213-BDF9-D89A-C389C90B4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9" y="1507"/>
                <a:ext cx="490" cy="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" name="Text Box 107">
                <a:extLst>
                  <a:ext uri="{FF2B5EF4-FFF2-40B4-BE49-F238E27FC236}">
                    <a16:creationId xmlns:a16="http://schemas.microsoft.com/office/drawing/2014/main" xmlns="" id="{DCC275D1-F1F4-E8AA-B166-08D2608539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4" y="1486"/>
                <a:ext cx="8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req_conn(x)</a:t>
                </a:r>
              </a:p>
            </p:txBody>
          </p:sp>
          <p:sp>
            <p:nvSpPr>
              <p:cNvPr id="24" name="Rectangle 108">
                <a:extLst>
                  <a:ext uri="{FF2B5EF4-FFF2-40B4-BE49-F238E27FC236}">
                    <a16:creationId xmlns:a16="http://schemas.microsoft.com/office/drawing/2014/main" xmlns="" id="{5E8E1F7B-AAB5-98CA-5167-C9AE6CFAC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1" y="1774"/>
                <a:ext cx="277" cy="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" name="Text Box 109">
                <a:extLst>
                  <a:ext uri="{FF2B5EF4-FFF2-40B4-BE49-F238E27FC236}">
                    <a16:creationId xmlns:a16="http://schemas.microsoft.com/office/drawing/2014/main" xmlns="" id="{4EE5D5D7-598A-24DC-8976-6549E6A5AA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3" y="1649"/>
                <a:ext cx="48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ESTAB</a:t>
                </a:r>
              </a:p>
            </p:txBody>
          </p:sp>
          <p:sp>
            <p:nvSpPr>
              <p:cNvPr id="26" name="Text Box 110">
                <a:extLst>
                  <a:ext uri="{FF2B5EF4-FFF2-40B4-BE49-F238E27FC236}">
                    <a16:creationId xmlns:a16="http://schemas.microsoft.com/office/drawing/2014/main" xmlns="" id="{3DF52320-6C67-24E1-2863-03E283EE1B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" y="2234"/>
                <a:ext cx="48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ESTAB</a:t>
                </a:r>
              </a:p>
            </p:txBody>
          </p:sp>
          <p:sp>
            <p:nvSpPr>
              <p:cNvPr id="27" name="Oval 111">
                <a:extLst>
                  <a:ext uri="{FF2B5EF4-FFF2-40B4-BE49-F238E27FC236}">
                    <a16:creationId xmlns:a16="http://schemas.microsoft.com/office/drawing/2014/main" xmlns="" id="{7D0B67CF-53DC-4ACA-D34C-4E53EBA92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5" y="2298"/>
                <a:ext cx="57" cy="56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" name="Oval 112">
                <a:extLst>
                  <a:ext uri="{FF2B5EF4-FFF2-40B4-BE49-F238E27FC236}">
                    <a16:creationId xmlns:a16="http://schemas.microsoft.com/office/drawing/2014/main" xmlns="" id="{E5A0A661-3876-A899-30AF-680BD6577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1723"/>
                <a:ext cx="57" cy="56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9" name="Group 113">
                <a:extLst>
                  <a:ext uri="{FF2B5EF4-FFF2-40B4-BE49-F238E27FC236}">
                    <a16:creationId xmlns:a16="http://schemas.microsoft.com/office/drawing/2014/main" xmlns="" id="{630C26F0-0CBF-BDAC-9F25-29316FBB0B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" y="1861"/>
                <a:ext cx="803" cy="212"/>
                <a:chOff x="1065" y="2085"/>
                <a:chExt cx="803" cy="212"/>
              </a:xfrm>
            </p:grpSpPr>
            <p:sp>
              <p:nvSpPr>
                <p:cNvPr id="66" name="Rectangle 114">
                  <a:extLst>
                    <a:ext uri="{FF2B5EF4-FFF2-40B4-BE49-F238E27FC236}">
                      <a16:creationId xmlns:a16="http://schemas.microsoft.com/office/drawing/2014/main" xmlns="" id="{5441153E-9E2C-AA09-A45E-86770FE9A7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37" y="2123"/>
                  <a:ext cx="675" cy="16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7" name="Text Box 115">
                  <a:extLst>
                    <a:ext uri="{FF2B5EF4-FFF2-40B4-BE49-F238E27FC236}">
                      <a16:creationId xmlns:a16="http://schemas.microsoft.com/office/drawing/2014/main" xmlns="" id="{2B8669D0-910D-F270-A5F3-7ED3097A6F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5" y="2085"/>
                  <a:ext cx="80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acc_conn(x)</a:t>
                  </a:r>
                </a:p>
              </p:txBody>
            </p:sp>
          </p:grpSp>
          <p:grpSp>
            <p:nvGrpSpPr>
              <p:cNvPr id="30" name="Group 116">
                <a:extLst>
                  <a:ext uri="{FF2B5EF4-FFF2-40B4-BE49-F238E27FC236}">
                    <a16:creationId xmlns:a16="http://schemas.microsoft.com/office/drawing/2014/main" xmlns="" id="{37CF71FE-ACAA-B6F9-FE45-10E9142579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4" y="1112"/>
                <a:ext cx="391" cy="307"/>
                <a:chOff x="-44" y="1473"/>
                <a:chExt cx="981" cy="1105"/>
              </a:xfrm>
            </p:grpSpPr>
            <p:pic>
              <p:nvPicPr>
                <p:cNvPr id="64" name="Picture 117" descr="desktop_computer_stylized_medium">
                  <a:extLst>
                    <a:ext uri="{FF2B5EF4-FFF2-40B4-BE49-F238E27FC236}">
                      <a16:creationId xmlns:a16="http://schemas.microsoft.com/office/drawing/2014/main" xmlns="" id="{95EFB636-3DAD-EF15-0076-FDA6B4A64DE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5" name="Freeform 118">
                  <a:extLst>
                    <a:ext uri="{FF2B5EF4-FFF2-40B4-BE49-F238E27FC236}">
                      <a16:creationId xmlns:a16="http://schemas.microsoft.com/office/drawing/2014/main" xmlns="" id="{F94BD081-EAE8-9559-BCAD-3D79AD103B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5595 w 356"/>
                    <a:gd name="T3" fmla="*/ 341 h 368"/>
                    <a:gd name="T4" fmla="*/ 6638 w 356"/>
                    <a:gd name="T5" fmla="*/ 7113 h 368"/>
                    <a:gd name="T6" fmla="*/ 1463 w 356"/>
                    <a:gd name="T7" fmla="*/ 889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1" name="Group 119">
                <a:extLst>
                  <a:ext uri="{FF2B5EF4-FFF2-40B4-BE49-F238E27FC236}">
                    <a16:creationId xmlns:a16="http://schemas.microsoft.com/office/drawing/2014/main" xmlns="" id="{E5B79307-A24C-5A1B-CA3E-FB4CCB02FB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3" y="1100"/>
                <a:ext cx="212" cy="323"/>
                <a:chOff x="4140" y="429"/>
                <a:chExt cx="1425" cy="2396"/>
              </a:xfrm>
            </p:grpSpPr>
            <p:sp>
              <p:nvSpPr>
                <p:cNvPr id="32" name="Freeform 120">
                  <a:extLst>
                    <a:ext uri="{FF2B5EF4-FFF2-40B4-BE49-F238E27FC236}">
                      <a16:creationId xmlns:a16="http://schemas.microsoft.com/office/drawing/2014/main" xmlns="" id="{26D0A2EE-9BDF-2528-4CA5-E86F223DC8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7 w 354"/>
                    <a:gd name="T1" fmla="*/ 0 h 2742"/>
                    <a:gd name="T2" fmla="*/ 38 w 354"/>
                    <a:gd name="T3" fmla="*/ 55 h 2742"/>
                    <a:gd name="T4" fmla="*/ 37 w 354"/>
                    <a:gd name="T5" fmla="*/ 425 h 2742"/>
                    <a:gd name="T6" fmla="*/ 0 w 354"/>
                    <a:gd name="T7" fmla="*/ 445 h 2742"/>
                    <a:gd name="T8" fmla="*/ 7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3" name="Rectangle 121">
                  <a:extLst>
                    <a:ext uri="{FF2B5EF4-FFF2-40B4-BE49-F238E27FC236}">
                      <a16:creationId xmlns:a16="http://schemas.microsoft.com/office/drawing/2014/main" xmlns="" id="{38C67F5D-16B1-C178-14CC-3AF7AF6196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429"/>
                  <a:ext cx="1049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34" name="Freeform 122">
                  <a:extLst>
                    <a:ext uri="{FF2B5EF4-FFF2-40B4-BE49-F238E27FC236}">
                      <a16:creationId xmlns:a16="http://schemas.microsoft.com/office/drawing/2014/main" xmlns="" id="{90406245-9D5A-A878-12FE-9EECB12A74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23 w 211"/>
                    <a:gd name="T3" fmla="*/ 36 h 2537"/>
                    <a:gd name="T4" fmla="*/ 2 w 211"/>
                    <a:gd name="T5" fmla="*/ 405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" name="Freeform 123">
                  <a:extLst>
                    <a:ext uri="{FF2B5EF4-FFF2-40B4-BE49-F238E27FC236}">
                      <a16:creationId xmlns:a16="http://schemas.microsoft.com/office/drawing/2014/main" xmlns="" id="{6B2FABE1-EEB4-3035-21B0-B785954372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36 w 328"/>
                    <a:gd name="T3" fmla="*/ 21 h 226"/>
                    <a:gd name="T4" fmla="*/ 36 w 328"/>
                    <a:gd name="T5" fmla="*/ 38 h 226"/>
                    <a:gd name="T6" fmla="*/ 0 w 328"/>
                    <a:gd name="T7" fmla="*/ 1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" name="Rectangle 124">
                  <a:extLst>
                    <a:ext uri="{FF2B5EF4-FFF2-40B4-BE49-F238E27FC236}">
                      <a16:creationId xmlns:a16="http://schemas.microsoft.com/office/drawing/2014/main" xmlns="" id="{76337F1F-009A-0CE1-D251-DCADD1518B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696"/>
                  <a:ext cx="592" cy="4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37" name="Group 125">
                  <a:extLst>
                    <a:ext uri="{FF2B5EF4-FFF2-40B4-BE49-F238E27FC236}">
                      <a16:creationId xmlns:a16="http://schemas.microsoft.com/office/drawing/2014/main" xmlns="" id="{8CBAD6C1-B286-414A-AF61-7767C5A8AC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2" name="AutoShape 126">
                    <a:extLst>
                      <a:ext uri="{FF2B5EF4-FFF2-40B4-BE49-F238E27FC236}">
                        <a16:creationId xmlns:a16="http://schemas.microsoft.com/office/drawing/2014/main" xmlns="" id="{8B37076D-D745-9540-0AA7-9921E42774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66"/>
                    <a:ext cx="721" cy="14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63" name="AutoShape 127">
                    <a:extLst>
                      <a:ext uri="{FF2B5EF4-FFF2-40B4-BE49-F238E27FC236}">
                        <a16:creationId xmlns:a16="http://schemas.microsoft.com/office/drawing/2014/main" xmlns="" id="{1937F431-582B-B7FF-404E-4FCA00F963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1"/>
                    <a:ext cx="688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38" name="Rectangle 128">
                  <a:extLst>
                    <a:ext uri="{FF2B5EF4-FFF2-40B4-BE49-F238E27FC236}">
                      <a16:creationId xmlns:a16="http://schemas.microsoft.com/office/drawing/2014/main" xmlns="" id="{3BF8797C-BD7B-3B96-9F59-8D507EAC31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1" y="1022"/>
                  <a:ext cx="598" cy="4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39" name="Group 129">
                  <a:extLst>
                    <a:ext uri="{FF2B5EF4-FFF2-40B4-BE49-F238E27FC236}">
                      <a16:creationId xmlns:a16="http://schemas.microsoft.com/office/drawing/2014/main" xmlns="" id="{FB9E6FF5-40D1-0D89-71FF-E1E3331038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60" name="AutoShape 130">
                    <a:extLst>
                      <a:ext uri="{FF2B5EF4-FFF2-40B4-BE49-F238E27FC236}">
                        <a16:creationId xmlns:a16="http://schemas.microsoft.com/office/drawing/2014/main" xmlns="" id="{47430484-C6AD-EC2C-C36D-5E9770DDAE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67"/>
                    <a:ext cx="730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61" name="AutoShape 131">
                    <a:extLst>
                      <a:ext uri="{FF2B5EF4-FFF2-40B4-BE49-F238E27FC236}">
                        <a16:creationId xmlns:a16="http://schemas.microsoft.com/office/drawing/2014/main" xmlns="" id="{A1C72356-727B-C322-E49F-59ECF24A44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2"/>
                    <a:ext cx="696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0" name="Rectangle 132">
                  <a:extLst>
                    <a:ext uri="{FF2B5EF4-FFF2-40B4-BE49-F238E27FC236}">
                      <a16:creationId xmlns:a16="http://schemas.microsoft.com/office/drawing/2014/main" xmlns="" id="{203DBEDC-8F86-1D50-B25F-37409493D9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1356"/>
                  <a:ext cx="598" cy="4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1" name="Rectangle 133">
                  <a:extLst>
                    <a:ext uri="{FF2B5EF4-FFF2-40B4-BE49-F238E27FC236}">
                      <a16:creationId xmlns:a16="http://schemas.microsoft.com/office/drawing/2014/main" xmlns="" id="{F453B4D5-2BA2-6D9B-66C7-DD58DE1B5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7" y="1653"/>
                  <a:ext cx="598" cy="52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42" name="Group 134">
                  <a:extLst>
                    <a:ext uri="{FF2B5EF4-FFF2-40B4-BE49-F238E27FC236}">
                      <a16:creationId xmlns:a16="http://schemas.microsoft.com/office/drawing/2014/main" xmlns="" id="{351F4A0C-DFEF-6FF2-062C-2E0DE308E3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8" name="AutoShape 135">
                    <a:extLst>
                      <a:ext uri="{FF2B5EF4-FFF2-40B4-BE49-F238E27FC236}">
                        <a16:creationId xmlns:a16="http://schemas.microsoft.com/office/drawing/2014/main" xmlns="" id="{847AC8AC-6B3E-8B93-E472-1FA8F4E2F4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71"/>
                    <a:ext cx="720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59" name="AutoShape 136">
                    <a:extLst>
                      <a:ext uri="{FF2B5EF4-FFF2-40B4-BE49-F238E27FC236}">
                        <a16:creationId xmlns:a16="http://schemas.microsoft.com/office/drawing/2014/main" xmlns="" id="{541D9493-4B67-DF1C-0B8F-70B45C1E71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5" y="2585"/>
                    <a:ext cx="687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3" name="Freeform 137">
                  <a:extLst>
                    <a:ext uri="{FF2B5EF4-FFF2-40B4-BE49-F238E27FC236}">
                      <a16:creationId xmlns:a16="http://schemas.microsoft.com/office/drawing/2014/main" xmlns="" id="{FE6D83B8-3DFE-55A2-A0C4-65B658EB10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36 w 328"/>
                    <a:gd name="T3" fmla="*/ 20 h 226"/>
                    <a:gd name="T4" fmla="*/ 36 w 328"/>
                    <a:gd name="T5" fmla="*/ 36 h 226"/>
                    <a:gd name="T6" fmla="*/ 0 w 328"/>
                    <a:gd name="T7" fmla="*/ 15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4" name="Group 138">
                  <a:extLst>
                    <a:ext uri="{FF2B5EF4-FFF2-40B4-BE49-F238E27FC236}">
                      <a16:creationId xmlns:a16="http://schemas.microsoft.com/office/drawing/2014/main" xmlns="" id="{D3B11409-0B5D-E7B5-66DE-7513F9DC4B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6" name="AutoShape 139">
                    <a:extLst>
                      <a:ext uri="{FF2B5EF4-FFF2-40B4-BE49-F238E27FC236}">
                        <a16:creationId xmlns:a16="http://schemas.microsoft.com/office/drawing/2014/main" xmlns="" id="{F046C749-1F08-A48B-8CD9-A717F64D64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8"/>
                    <a:ext cx="728" cy="14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57" name="AutoShape 140">
                    <a:extLst>
                      <a:ext uri="{FF2B5EF4-FFF2-40B4-BE49-F238E27FC236}">
                        <a16:creationId xmlns:a16="http://schemas.microsoft.com/office/drawing/2014/main" xmlns="" id="{364F3472-338C-0054-8648-C50282DD42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2"/>
                    <a:ext cx="695" cy="11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5" name="Rectangle 141">
                  <a:extLst>
                    <a:ext uri="{FF2B5EF4-FFF2-40B4-BE49-F238E27FC236}">
                      <a16:creationId xmlns:a16="http://schemas.microsoft.com/office/drawing/2014/main" xmlns="" id="{A57C79E5-B371-9C03-31D1-18F4D9B2F8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9" y="429"/>
                  <a:ext cx="67" cy="229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" name="Freeform 142">
                  <a:extLst>
                    <a:ext uri="{FF2B5EF4-FFF2-40B4-BE49-F238E27FC236}">
                      <a16:creationId xmlns:a16="http://schemas.microsoft.com/office/drawing/2014/main" xmlns="" id="{551D13B4-C731-FD40-F683-76B01FD086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32 w 296"/>
                    <a:gd name="T3" fmla="*/ 22 h 256"/>
                    <a:gd name="T4" fmla="*/ 32 w 296"/>
                    <a:gd name="T5" fmla="*/ 41 h 256"/>
                    <a:gd name="T6" fmla="*/ 0 w 296"/>
                    <a:gd name="T7" fmla="*/ 15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" name="Freeform 143">
                  <a:extLst>
                    <a:ext uri="{FF2B5EF4-FFF2-40B4-BE49-F238E27FC236}">
                      <a16:creationId xmlns:a16="http://schemas.microsoft.com/office/drawing/2014/main" xmlns="" id="{5E03B0D5-190F-0026-6458-43DCBA9925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34 w 304"/>
                    <a:gd name="T3" fmla="*/ 27 h 288"/>
                    <a:gd name="T4" fmla="*/ 31 w 304"/>
                    <a:gd name="T5" fmla="*/ 48 h 288"/>
                    <a:gd name="T6" fmla="*/ 2 w 304"/>
                    <a:gd name="T7" fmla="*/ 2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" name="Oval 144">
                  <a:extLst>
                    <a:ext uri="{FF2B5EF4-FFF2-40B4-BE49-F238E27FC236}">
                      <a16:creationId xmlns:a16="http://schemas.microsoft.com/office/drawing/2014/main" xmlns="" id="{1D33948B-2C6F-C127-A4A6-88AF5F886B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0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9" name="Freeform 145">
                  <a:extLst>
                    <a:ext uri="{FF2B5EF4-FFF2-40B4-BE49-F238E27FC236}">
                      <a16:creationId xmlns:a16="http://schemas.microsoft.com/office/drawing/2014/main" xmlns="" id="{7E2A5724-ED3E-CA6A-BC36-61F2F39740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8 h 240"/>
                    <a:gd name="T2" fmla="*/ 2 w 306"/>
                    <a:gd name="T3" fmla="*/ 40 h 240"/>
                    <a:gd name="T4" fmla="*/ 34 w 306"/>
                    <a:gd name="T5" fmla="*/ 18 h 240"/>
                    <a:gd name="T6" fmla="*/ 32 w 306"/>
                    <a:gd name="T7" fmla="*/ 0 h 240"/>
                    <a:gd name="T8" fmla="*/ 0 w 306"/>
                    <a:gd name="T9" fmla="*/ 1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" name="AutoShape 146">
                  <a:extLst>
                    <a:ext uri="{FF2B5EF4-FFF2-40B4-BE49-F238E27FC236}">
                      <a16:creationId xmlns:a16="http://schemas.microsoft.com/office/drawing/2014/main" xmlns="" id="{CB379C53-B4A2-9C6F-3C9F-999E12E41D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7"/>
                  <a:ext cx="1196" cy="14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1" name="AutoShape 147">
                  <a:extLst>
                    <a:ext uri="{FF2B5EF4-FFF2-40B4-BE49-F238E27FC236}">
                      <a16:creationId xmlns:a16="http://schemas.microsoft.com/office/drawing/2014/main" xmlns="" id="{0E000DB8-3335-E568-3C6F-D4264CD3E3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2714"/>
                  <a:ext cx="1069" cy="8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2" name="Oval 148">
                  <a:extLst>
                    <a:ext uri="{FF2B5EF4-FFF2-40B4-BE49-F238E27FC236}">
                      <a16:creationId xmlns:a16="http://schemas.microsoft.com/office/drawing/2014/main" xmlns="" id="{976F34B9-D077-2F69-C188-5148200D03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0"/>
                  <a:ext cx="155" cy="14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3" name="Oval 149">
                  <a:extLst>
                    <a:ext uri="{FF2B5EF4-FFF2-40B4-BE49-F238E27FC236}">
                      <a16:creationId xmlns:a16="http://schemas.microsoft.com/office/drawing/2014/main" xmlns="" id="{7D3AE59F-4A5C-B8EA-BAA0-32BC9949FF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3" y="2387"/>
                  <a:ext cx="161" cy="14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54" name="Oval 150">
                  <a:extLst>
                    <a:ext uri="{FF2B5EF4-FFF2-40B4-BE49-F238E27FC236}">
                      <a16:creationId xmlns:a16="http://schemas.microsoft.com/office/drawing/2014/main" xmlns="" id="{2FFD8729-ED39-BF1E-17EC-06DEA13205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4" y="2380"/>
                  <a:ext cx="155" cy="141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5" name="Rectangle 151">
                  <a:extLst>
                    <a:ext uri="{FF2B5EF4-FFF2-40B4-BE49-F238E27FC236}">
                      <a16:creationId xmlns:a16="http://schemas.microsoft.com/office/drawing/2014/main" xmlns="" id="{6D42AE5E-A364-6F08-A7E5-C7461621C0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1" y="1838"/>
                  <a:ext cx="87" cy="757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  <p:sp>
          <p:nvSpPr>
            <p:cNvPr id="8" name="Oval 159">
              <a:extLst>
                <a:ext uri="{FF2B5EF4-FFF2-40B4-BE49-F238E27FC236}">
                  <a16:creationId xmlns:a16="http://schemas.microsoft.com/office/drawing/2014/main" xmlns="" id="{B49A7EB9-3E79-3C6A-1912-6FB222BCF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094" y="3893738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Line 169">
              <a:extLst>
                <a:ext uri="{FF2B5EF4-FFF2-40B4-BE49-F238E27FC236}">
                  <a16:creationId xmlns:a16="http://schemas.microsoft.com/office/drawing/2014/main" xmlns="" id="{78CAF6AD-1D82-C67B-BF79-8335DEEC7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1344" y="3966763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" name="Rectangle 170">
              <a:extLst>
                <a:ext uri="{FF2B5EF4-FFF2-40B4-BE49-F238E27FC236}">
                  <a16:creationId xmlns:a16="http://schemas.microsoft.com/office/drawing/2014/main" xmlns="" id="{C17987E6-5D24-F85F-0B49-99256B4BD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44" y="3952476"/>
              <a:ext cx="777875" cy="32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" name="Text Box 171">
              <a:extLst>
                <a:ext uri="{FF2B5EF4-FFF2-40B4-BE49-F238E27FC236}">
                  <a16:creationId xmlns:a16="http://schemas.microsoft.com/office/drawing/2014/main" xmlns="" id="{3EA5253F-DDD6-0DE2-0C28-7CBA77D29E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144" y="3919138"/>
              <a:ext cx="1092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sp>
          <p:nvSpPr>
            <p:cNvPr id="12" name="Oval 172">
              <a:extLst>
                <a:ext uri="{FF2B5EF4-FFF2-40B4-BE49-F238E27FC236}">
                  <a16:creationId xmlns:a16="http://schemas.microsoft.com/office/drawing/2014/main" xmlns="" id="{CB5F7BDD-261B-B64D-92B9-F3A6AAB98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731" y="4250926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" name="Text Box 173">
              <a:extLst>
                <a:ext uri="{FF2B5EF4-FFF2-40B4-BE49-F238E27FC236}">
                  <a16:creationId xmlns:a16="http://schemas.microsoft.com/office/drawing/2014/main" xmlns="" id="{378E18E2-BED4-DE21-CC41-73CFE4C5C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9481" y="4011213"/>
              <a:ext cx="1171575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accept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0F0A1EE5-E3E0-2DD1-1CA5-90A8B07CB97C}"/>
                </a:ext>
              </a:extLst>
            </p:cNvPr>
            <p:cNvGrpSpPr/>
            <p:nvPr/>
          </p:nvGrpSpPr>
          <p:grpSpPr>
            <a:xfrm flipH="1">
              <a:off x="1449388" y="4279047"/>
              <a:ext cx="1539875" cy="390924"/>
              <a:chOff x="796245" y="5993547"/>
              <a:chExt cx="1539875" cy="390924"/>
            </a:xfrm>
          </p:grpSpPr>
          <p:sp>
            <p:nvSpPr>
              <p:cNvPr id="16" name="Line 169">
                <a:extLst>
                  <a:ext uri="{FF2B5EF4-FFF2-40B4-BE49-F238E27FC236}">
                    <a16:creationId xmlns:a16="http://schemas.microsoft.com/office/drawing/2014/main" xmlns="" id="{AF1FF436-4452-81E9-605F-468867AD7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6245" y="6007834"/>
                <a:ext cx="1479550" cy="315913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" name="Rectangle 170">
                <a:extLst>
                  <a:ext uri="{FF2B5EF4-FFF2-40B4-BE49-F238E27FC236}">
                    <a16:creationId xmlns:a16="http://schemas.microsoft.com/office/drawing/2014/main" xmlns="" id="{2554582A-7C6B-24E5-8B77-A4228D9C3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745" y="5993547"/>
                <a:ext cx="859292" cy="39092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" name="Oval 172">
                <a:extLst>
                  <a:ext uri="{FF2B5EF4-FFF2-40B4-BE49-F238E27FC236}">
                    <a16:creationId xmlns:a16="http://schemas.microsoft.com/office/drawing/2014/main" xmlns="" id="{BD7A9F88-6329-027A-114C-23B74B99A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5632" y="6291997"/>
                <a:ext cx="90488" cy="88900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5" name="Text Box 171">
              <a:extLst>
                <a:ext uri="{FF2B5EF4-FFF2-40B4-BE49-F238E27FC236}">
                  <a16:creationId xmlns:a16="http://schemas.microsoft.com/office/drawing/2014/main" xmlns="" id="{A1A1A636-6B62-8DF4-C15B-6D568A6A7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694" y="4283529"/>
              <a:ext cx="107112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ACK(x+1)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xmlns="" id="{9617EC1C-FC91-08A8-186D-E57FD806466E}"/>
              </a:ext>
            </a:extLst>
          </p:cNvPr>
          <p:cNvGrpSpPr/>
          <p:nvPr/>
        </p:nvGrpSpPr>
        <p:grpSpPr>
          <a:xfrm>
            <a:off x="1273629" y="5146706"/>
            <a:ext cx="1773114" cy="1003723"/>
            <a:chOff x="1273629" y="5146706"/>
            <a:chExt cx="1773114" cy="1003723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053ED5E0-B96A-9ECA-539F-A7F9910E93FB}"/>
                </a:ext>
              </a:extLst>
            </p:cNvPr>
            <p:cNvSpPr txBox="1"/>
            <p:nvPr/>
          </p:nvSpPr>
          <p:spPr>
            <a:xfrm>
              <a:off x="1273629" y="5146706"/>
              <a:ext cx="17731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 problem!</a:t>
              </a:r>
            </a:p>
          </p:txBody>
        </p:sp>
        <p:pic>
          <p:nvPicPr>
            <p:cNvPr id="72" name="Picture 71" descr="A picture containing drawing&#10;&#10;Description automatically generated">
              <a:extLst>
                <a:ext uri="{FF2B5EF4-FFF2-40B4-BE49-F238E27FC236}">
                  <a16:creationId xmlns:a16="http://schemas.microsoft.com/office/drawing/2014/main" xmlns="" id="{E6A03638-4E51-1AFF-5FAD-9A40258DA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2470" y="5524500"/>
              <a:ext cx="625929" cy="625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312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4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4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04C257-FAB2-2D6F-C2D7-F76A9699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A3332F-33DE-6C09-E31D-FB073139B8D2}"/>
              </a:ext>
            </a:extLst>
          </p:cNvPr>
          <p:cNvSpPr txBox="1">
            <a:spLocks/>
          </p:cNvSpPr>
          <p:nvPr/>
        </p:nvSpPr>
        <p:spPr>
          <a:xfrm>
            <a:off x="434384" y="469541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2-way handshake scenarios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6FB82B7-E731-29D7-EFC7-54A69EA5BDCD}"/>
              </a:ext>
            </a:extLst>
          </p:cNvPr>
          <p:cNvGrpSpPr/>
          <p:nvPr/>
        </p:nvGrpSpPr>
        <p:grpSpPr>
          <a:xfrm>
            <a:off x="5262108" y="1983508"/>
            <a:ext cx="1530350" cy="4033838"/>
            <a:chOff x="5276623" y="2475192"/>
            <a:chExt cx="1530350" cy="4033838"/>
          </a:xfrm>
        </p:grpSpPr>
        <p:sp>
          <p:nvSpPr>
            <p:cNvPr id="4" name="Line 25">
              <a:extLst>
                <a:ext uri="{FF2B5EF4-FFF2-40B4-BE49-F238E27FC236}">
                  <a16:creationId xmlns:a16="http://schemas.microsoft.com/office/drawing/2014/main" xmlns="" id="{FF9A62A7-421C-C3A0-1CDA-EB6D74995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76623" y="2475192"/>
              <a:ext cx="1588" cy="247015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" name="Line 39">
              <a:extLst>
                <a:ext uri="{FF2B5EF4-FFF2-40B4-BE49-F238E27FC236}">
                  <a16:creationId xmlns:a16="http://schemas.microsoft.com/office/drawing/2014/main" xmlns="" id="{94FABB2C-C613-6E96-2F42-92EF871C21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05386" y="2548217"/>
              <a:ext cx="1587" cy="3960813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710588A5-C0FE-D2C0-1628-89750BE3D51A}"/>
              </a:ext>
            </a:extLst>
          </p:cNvPr>
          <p:cNvGrpSpPr/>
          <p:nvPr/>
        </p:nvGrpSpPr>
        <p:grpSpPr>
          <a:xfrm>
            <a:off x="6768421" y="5356225"/>
            <a:ext cx="847724" cy="336550"/>
            <a:chOff x="11151735" y="5148718"/>
            <a:chExt cx="847724" cy="336550"/>
          </a:xfrm>
        </p:grpSpPr>
        <p:sp>
          <p:nvSpPr>
            <p:cNvPr id="7" name="Text Box 44">
              <a:extLst>
                <a:ext uri="{FF2B5EF4-FFF2-40B4-BE49-F238E27FC236}">
                  <a16:creationId xmlns:a16="http://schemas.microsoft.com/office/drawing/2014/main" xmlns="" id="{2A8F3190-8E22-D34B-ED0C-8B3D07372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27935" y="5148718"/>
              <a:ext cx="771524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8" name="Oval 45">
              <a:extLst>
                <a:ext uri="{FF2B5EF4-FFF2-40B4-BE49-F238E27FC236}">
                  <a16:creationId xmlns:a16="http://schemas.microsoft.com/office/drawing/2014/main" xmlns="" id="{62749E0A-7786-9168-F739-2D23F1EA6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1735" y="5275718"/>
              <a:ext cx="90487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C72D9843-71B5-8274-CF1A-71460ED59417}"/>
              </a:ext>
            </a:extLst>
          </p:cNvPr>
          <p:cNvGrpSpPr/>
          <p:nvPr/>
        </p:nvGrpSpPr>
        <p:grpSpPr>
          <a:xfrm>
            <a:off x="3998688" y="2674935"/>
            <a:ext cx="2841623" cy="2849565"/>
            <a:chOff x="8352974" y="2492829"/>
            <a:chExt cx="2841623" cy="2849565"/>
          </a:xfrm>
        </p:grpSpPr>
        <p:sp>
          <p:nvSpPr>
            <p:cNvPr id="10" name="Text Box 42">
              <a:extLst>
                <a:ext uri="{FF2B5EF4-FFF2-40B4-BE49-F238E27FC236}">
                  <a16:creationId xmlns:a16="http://schemas.microsoft.com/office/drawing/2014/main" xmlns="" id="{2A8FB981-1C88-1081-4F7B-DD4764C59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2974" y="2492829"/>
              <a:ext cx="1273174" cy="752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retransmit</a:t>
              </a: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req_conn(x)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" name="Freeform 43">
              <a:extLst>
                <a:ext uri="{FF2B5EF4-FFF2-40B4-BE49-F238E27FC236}">
                  <a16:creationId xmlns:a16="http://schemas.microsoft.com/office/drawing/2014/main" xmlns="" id="{857355EE-8DCB-D8A7-6831-B19752CDD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7423" y="2783342"/>
              <a:ext cx="1527174" cy="2559052"/>
            </a:xfrm>
            <a:custGeom>
              <a:avLst/>
              <a:gdLst>
                <a:gd name="T0" fmla="*/ 0 w 962"/>
                <a:gd name="T1" fmla="*/ 0 h 1612"/>
                <a:gd name="T2" fmla="*/ 306 w 962"/>
                <a:gd name="T3" fmla="*/ 234 h 1612"/>
                <a:gd name="T4" fmla="*/ 467 w 962"/>
                <a:gd name="T5" fmla="*/ 1342 h 1612"/>
                <a:gd name="T6" fmla="*/ 962 w 962"/>
                <a:gd name="T7" fmla="*/ 1612 h 16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2" h="1612">
                  <a:moveTo>
                    <a:pt x="0" y="0"/>
                  </a:moveTo>
                  <a:cubicBezTo>
                    <a:pt x="50" y="40"/>
                    <a:pt x="228" y="10"/>
                    <a:pt x="306" y="234"/>
                  </a:cubicBezTo>
                  <a:cubicBezTo>
                    <a:pt x="384" y="458"/>
                    <a:pt x="358" y="1112"/>
                    <a:pt x="467" y="1342"/>
                  </a:cubicBezTo>
                  <a:cubicBezTo>
                    <a:pt x="576" y="1572"/>
                    <a:pt x="779" y="1601"/>
                    <a:pt x="962" y="1612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46">
              <a:extLst>
                <a:ext uri="{FF2B5EF4-FFF2-40B4-BE49-F238E27FC236}">
                  <a16:creationId xmlns:a16="http://schemas.microsoft.com/office/drawing/2014/main" xmlns="" id="{6119D8C0-B1B3-2B98-8FD3-8CF31B5EE4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64261" y="3386592"/>
              <a:ext cx="1273174" cy="336550"/>
              <a:chOff x="1065" y="2085"/>
              <a:chExt cx="802" cy="212"/>
            </a:xfrm>
          </p:grpSpPr>
          <p:sp>
            <p:nvSpPr>
              <p:cNvPr id="13" name="Rectangle 47">
                <a:extLst>
                  <a:ext uri="{FF2B5EF4-FFF2-40B4-BE49-F238E27FC236}">
                    <a16:creationId xmlns:a16="http://schemas.microsoft.com/office/drawing/2014/main" xmlns="" id="{B0929F97-2768-9204-FFF7-D29E08079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" name="Text Box 48">
                <a:extLst>
                  <a:ext uri="{FF2B5EF4-FFF2-40B4-BE49-F238E27FC236}">
                    <a16:creationId xmlns:a16="http://schemas.microsoft.com/office/drawing/2014/main" xmlns="" id="{3230E325-3E5F-D3BB-E30F-4B81335A22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req_conn(x)</a:t>
                </a:r>
              </a:p>
            </p:txBody>
          </p:sp>
        </p:grpSp>
      </p:grpSp>
      <p:grpSp>
        <p:nvGrpSpPr>
          <p:cNvPr id="15" name="Group 93">
            <a:extLst>
              <a:ext uri="{FF2B5EF4-FFF2-40B4-BE49-F238E27FC236}">
                <a16:creationId xmlns:a16="http://schemas.microsoft.com/office/drawing/2014/main" xmlns="" id="{F8935351-3CD4-B21D-6016-0476F8913476}"/>
              </a:ext>
            </a:extLst>
          </p:cNvPr>
          <p:cNvGrpSpPr>
            <a:grpSpLocks/>
          </p:cNvGrpSpPr>
          <p:nvPr/>
        </p:nvGrpSpPr>
        <p:grpSpPr bwMode="auto">
          <a:xfrm>
            <a:off x="4105048" y="4123231"/>
            <a:ext cx="3830638" cy="715962"/>
            <a:chOff x="406" y="2807"/>
            <a:chExt cx="2413" cy="451"/>
          </a:xfrm>
        </p:grpSpPr>
        <p:sp>
          <p:nvSpPr>
            <p:cNvPr id="16" name="Line 40">
              <a:extLst>
                <a:ext uri="{FF2B5EF4-FFF2-40B4-BE49-F238E27FC236}">
                  <a16:creationId xmlns:a16="http://schemas.microsoft.com/office/drawing/2014/main" xmlns="" id="{2A61BDCC-04C8-6A90-0D36-C3C9E56DD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" y="2964"/>
              <a:ext cx="15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" name="Text Box 83">
              <a:extLst>
                <a:ext uri="{FF2B5EF4-FFF2-40B4-BE49-F238E27FC236}">
                  <a16:creationId xmlns:a16="http://schemas.microsoft.com/office/drawing/2014/main" xmlns="" id="{CE25CBA6-38F7-71E1-374B-C2742564C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" y="2937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 terminates</a:t>
              </a:r>
            </a:p>
          </p:txBody>
        </p:sp>
        <p:sp>
          <p:nvSpPr>
            <p:cNvPr id="18" name="Text Box 84">
              <a:extLst>
                <a:ext uri="{FF2B5EF4-FFF2-40B4-BE49-F238E27FC236}">
                  <a16:creationId xmlns:a16="http://schemas.microsoft.com/office/drawing/2014/main" xmlns="" id="{FEE2FC38-1A3A-06FC-3DF3-5985FBFB4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1" y="2938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server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forgets x</a:t>
              </a:r>
            </a:p>
          </p:txBody>
        </p:sp>
        <p:sp>
          <p:nvSpPr>
            <p:cNvPr id="19" name="Text Box 85">
              <a:extLst>
                <a:ext uri="{FF2B5EF4-FFF2-40B4-BE49-F238E27FC236}">
                  <a16:creationId xmlns:a16="http://schemas.microsoft.com/office/drawing/2014/main" xmlns="" id="{59929F6C-3E2F-35FF-632D-3CF6EA772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2807"/>
              <a:ext cx="706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connection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 completes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1AC77EC4-3BA5-584C-EF73-58D0CFC066E9}"/>
              </a:ext>
            </a:extLst>
          </p:cNvPr>
          <p:cNvGrpSpPr/>
          <p:nvPr/>
        </p:nvGrpSpPr>
        <p:grpSpPr>
          <a:xfrm>
            <a:off x="4222070" y="1980106"/>
            <a:ext cx="3389313" cy="1671637"/>
            <a:chOff x="7865155" y="1602735"/>
            <a:chExt cx="3389313" cy="1671637"/>
          </a:xfrm>
        </p:grpSpPr>
        <p:sp>
          <p:nvSpPr>
            <p:cNvPr id="21" name="Text Box 103">
              <a:extLst>
                <a:ext uri="{FF2B5EF4-FFF2-40B4-BE49-F238E27FC236}">
                  <a16:creationId xmlns:a16="http://schemas.microsoft.com/office/drawing/2014/main" xmlns="" id="{C307CB3B-9F5C-B9F9-98B9-34B21E8C6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5155" y="1602735"/>
              <a:ext cx="973138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" name="Line 104">
              <a:extLst>
                <a:ext uri="{FF2B5EF4-FFF2-40B4-BE49-F238E27FC236}">
                  <a16:creationId xmlns:a16="http://schemas.microsoft.com/office/drawing/2014/main" xmlns="" id="{F844CC62-7346-B8AA-C066-D345C231D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6718" y="1797997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" name="Line 105">
              <a:extLst>
                <a:ext uri="{FF2B5EF4-FFF2-40B4-BE49-F238E27FC236}">
                  <a16:creationId xmlns:a16="http://schemas.microsoft.com/office/drawing/2014/main" xmlns="" id="{FE583CB2-936F-1FF8-7735-538B489A11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76393" y="2152010"/>
              <a:ext cx="1571625" cy="95567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" name="Rectangle 106">
              <a:extLst>
                <a:ext uri="{FF2B5EF4-FFF2-40B4-BE49-F238E27FC236}">
                  <a16:creationId xmlns:a16="http://schemas.microsoft.com/office/drawing/2014/main" xmlns="" id="{191F9E89-A574-7157-7721-B5ACDCB20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4218" y="1783710"/>
              <a:ext cx="777875" cy="32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" name="Text Box 107">
              <a:extLst>
                <a:ext uri="{FF2B5EF4-FFF2-40B4-BE49-F238E27FC236}">
                  <a16:creationId xmlns:a16="http://schemas.microsoft.com/office/drawing/2014/main" xmlns="" id="{54F136BE-D0BC-6796-69F5-D2B87F58F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4030" y="1750372"/>
              <a:ext cx="12731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req_conn(x)</a:t>
              </a:r>
            </a:p>
          </p:txBody>
        </p:sp>
        <p:sp>
          <p:nvSpPr>
            <p:cNvPr id="26" name="Rectangle 108">
              <a:extLst>
                <a:ext uri="{FF2B5EF4-FFF2-40B4-BE49-F238E27FC236}">
                  <a16:creationId xmlns:a16="http://schemas.microsoft.com/office/drawing/2014/main" xmlns="" id="{610E01ED-892C-BB5A-AA04-539FF1A5F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018" y="2207572"/>
              <a:ext cx="439738" cy="32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" name="Text Box 109">
              <a:extLst>
                <a:ext uri="{FF2B5EF4-FFF2-40B4-BE49-F238E27FC236}">
                  <a16:creationId xmlns:a16="http://schemas.microsoft.com/office/drawing/2014/main" xmlns="" id="{C2B35EF2-CDA3-171F-B585-79DCE43B7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2943" y="2009135"/>
              <a:ext cx="7715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28" name="Text Box 110">
              <a:extLst>
                <a:ext uri="{FF2B5EF4-FFF2-40B4-BE49-F238E27FC236}">
                  <a16:creationId xmlns:a16="http://schemas.microsoft.com/office/drawing/2014/main" xmlns="" id="{9AA43B12-05CC-DB34-A04F-D0174A059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2318" y="2937822"/>
              <a:ext cx="7715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29" name="Oval 111">
              <a:extLst>
                <a:ext uri="{FF2B5EF4-FFF2-40B4-BE49-F238E27FC236}">
                  <a16:creationId xmlns:a16="http://schemas.microsoft.com/office/drawing/2014/main" xmlns="" id="{62BF546E-BFD7-3847-2781-3B2B491E3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5118" y="3039422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" name="Oval 112">
              <a:extLst>
                <a:ext uri="{FF2B5EF4-FFF2-40B4-BE49-F238E27FC236}">
                  <a16:creationId xmlns:a16="http://schemas.microsoft.com/office/drawing/2014/main" xmlns="" id="{1EFF72FE-7BC8-C6DD-B38F-C48BFEF6E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993" y="2126610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1" name="Group 113">
              <a:extLst>
                <a:ext uri="{FF2B5EF4-FFF2-40B4-BE49-F238E27FC236}">
                  <a16:creationId xmlns:a16="http://schemas.microsoft.com/office/drawing/2014/main" xmlns="" id="{0416B2FB-7693-076B-8E30-88EC3AC87B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4043" y="2345685"/>
              <a:ext cx="1274763" cy="336550"/>
              <a:chOff x="1065" y="2085"/>
              <a:chExt cx="803" cy="212"/>
            </a:xfrm>
          </p:grpSpPr>
          <p:sp>
            <p:nvSpPr>
              <p:cNvPr id="32" name="Rectangle 114">
                <a:extLst>
                  <a:ext uri="{FF2B5EF4-FFF2-40B4-BE49-F238E27FC236}">
                    <a16:creationId xmlns:a16="http://schemas.microsoft.com/office/drawing/2014/main" xmlns="" id="{438B67DD-211D-0270-F55C-D4D0A85BA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3" name="Text Box 115">
                <a:extLst>
                  <a:ext uri="{FF2B5EF4-FFF2-40B4-BE49-F238E27FC236}">
                    <a16:creationId xmlns:a16="http://schemas.microsoft.com/office/drawing/2014/main" xmlns="" id="{54EA23CF-4F57-0753-BA63-8DD048AD1F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acc_conn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(x)</a:t>
                </a:r>
              </a:p>
            </p:txBody>
          </p:sp>
        </p:grpSp>
      </p:grpSp>
      <p:grpSp>
        <p:nvGrpSpPr>
          <p:cNvPr id="34" name="Group 116">
            <a:extLst>
              <a:ext uri="{FF2B5EF4-FFF2-40B4-BE49-F238E27FC236}">
                <a16:creationId xmlns:a16="http://schemas.microsoft.com/office/drawing/2014/main" xmlns="" id="{DD0F3F19-E3B3-E3CF-17F3-5851E862CB5F}"/>
              </a:ext>
            </a:extLst>
          </p:cNvPr>
          <p:cNvGrpSpPr>
            <a:grpSpLocks/>
          </p:cNvGrpSpPr>
          <p:nvPr/>
        </p:nvGrpSpPr>
        <p:grpSpPr bwMode="auto">
          <a:xfrm>
            <a:off x="4879295" y="1432418"/>
            <a:ext cx="620713" cy="487363"/>
            <a:chOff x="-44" y="1473"/>
            <a:chExt cx="981" cy="1105"/>
          </a:xfrm>
        </p:grpSpPr>
        <p:pic>
          <p:nvPicPr>
            <p:cNvPr id="35" name="Picture 117" descr="desktop_computer_stylized_medium">
              <a:extLst>
                <a:ext uri="{FF2B5EF4-FFF2-40B4-BE49-F238E27FC236}">
                  <a16:creationId xmlns:a16="http://schemas.microsoft.com/office/drawing/2014/main" xmlns="" id="{7DE837A1-A5D4-0EE4-85DE-F27D981604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Freeform 118">
              <a:extLst>
                <a:ext uri="{FF2B5EF4-FFF2-40B4-BE49-F238E27FC236}">
                  <a16:creationId xmlns:a16="http://schemas.microsoft.com/office/drawing/2014/main" xmlns="" id="{9818DADB-2151-4EB3-7A29-319E1168FB5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7" name="Group 119">
            <a:extLst>
              <a:ext uri="{FF2B5EF4-FFF2-40B4-BE49-F238E27FC236}">
                <a16:creationId xmlns:a16="http://schemas.microsoft.com/office/drawing/2014/main" xmlns="" id="{43B8F439-0201-ADD8-323B-640195B68DA4}"/>
              </a:ext>
            </a:extLst>
          </p:cNvPr>
          <p:cNvGrpSpPr>
            <a:grpSpLocks/>
          </p:cNvGrpSpPr>
          <p:nvPr/>
        </p:nvGrpSpPr>
        <p:grpSpPr bwMode="auto">
          <a:xfrm>
            <a:off x="6687458" y="1413368"/>
            <a:ext cx="336550" cy="512763"/>
            <a:chOff x="4140" y="429"/>
            <a:chExt cx="1425" cy="2396"/>
          </a:xfrm>
        </p:grpSpPr>
        <p:sp>
          <p:nvSpPr>
            <p:cNvPr id="38" name="Freeform 120">
              <a:extLst>
                <a:ext uri="{FF2B5EF4-FFF2-40B4-BE49-F238E27FC236}">
                  <a16:creationId xmlns:a16="http://schemas.microsoft.com/office/drawing/2014/main" xmlns="" id="{AEC44EA5-D579-6178-1D41-8E8A53390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" name="Rectangle 121">
              <a:extLst>
                <a:ext uri="{FF2B5EF4-FFF2-40B4-BE49-F238E27FC236}">
                  <a16:creationId xmlns:a16="http://schemas.microsoft.com/office/drawing/2014/main" xmlns="" id="{45F4D832-9504-AEAB-9D4C-B7220BE1C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" name="Freeform 122">
              <a:extLst>
                <a:ext uri="{FF2B5EF4-FFF2-40B4-BE49-F238E27FC236}">
                  <a16:creationId xmlns:a16="http://schemas.microsoft.com/office/drawing/2014/main" xmlns="" id="{2471A198-ACD7-EDB6-1EB0-ABB2ECFAC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123">
              <a:extLst>
                <a:ext uri="{FF2B5EF4-FFF2-40B4-BE49-F238E27FC236}">
                  <a16:creationId xmlns:a16="http://schemas.microsoft.com/office/drawing/2014/main" xmlns="" id="{2887F6F5-F94D-0917-A6C6-891521EE5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Rectangle 124">
              <a:extLst>
                <a:ext uri="{FF2B5EF4-FFF2-40B4-BE49-F238E27FC236}">
                  <a16:creationId xmlns:a16="http://schemas.microsoft.com/office/drawing/2014/main" xmlns="" id="{091EC69D-1955-21EB-4C50-AECC7A052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" name="Group 125">
              <a:extLst>
                <a:ext uri="{FF2B5EF4-FFF2-40B4-BE49-F238E27FC236}">
                  <a16:creationId xmlns:a16="http://schemas.microsoft.com/office/drawing/2014/main" xmlns="" id="{6651F62E-62D5-56FC-D063-AB07D04918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8" name="AutoShape 126">
                <a:extLst>
                  <a:ext uri="{FF2B5EF4-FFF2-40B4-BE49-F238E27FC236}">
                    <a16:creationId xmlns:a16="http://schemas.microsoft.com/office/drawing/2014/main" xmlns="" id="{FB6CD536-D380-6482-83C9-4B0B6201B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9" name="AutoShape 127">
                <a:extLst>
                  <a:ext uri="{FF2B5EF4-FFF2-40B4-BE49-F238E27FC236}">
                    <a16:creationId xmlns:a16="http://schemas.microsoft.com/office/drawing/2014/main" xmlns="" id="{0686D1BE-20E2-C2B6-4465-1A83F79EA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4" name="Rectangle 128">
              <a:extLst>
                <a:ext uri="{FF2B5EF4-FFF2-40B4-BE49-F238E27FC236}">
                  <a16:creationId xmlns:a16="http://schemas.microsoft.com/office/drawing/2014/main" xmlns="" id="{8F0BB4A7-55E5-C1D8-BDB7-134A772E3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5" name="Group 129">
              <a:extLst>
                <a:ext uri="{FF2B5EF4-FFF2-40B4-BE49-F238E27FC236}">
                  <a16:creationId xmlns:a16="http://schemas.microsoft.com/office/drawing/2014/main" xmlns="" id="{E1BE8C9C-4434-8AF2-599F-6DC5235F89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6" name="AutoShape 130">
                <a:extLst>
                  <a:ext uri="{FF2B5EF4-FFF2-40B4-BE49-F238E27FC236}">
                    <a16:creationId xmlns:a16="http://schemas.microsoft.com/office/drawing/2014/main" xmlns="" id="{BF5C938F-D38E-5BE9-9FF3-DC0BA4D29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7" name="AutoShape 131">
                <a:extLst>
                  <a:ext uri="{FF2B5EF4-FFF2-40B4-BE49-F238E27FC236}">
                    <a16:creationId xmlns:a16="http://schemas.microsoft.com/office/drawing/2014/main" xmlns="" id="{66BA7E09-A091-DAFC-933D-15E2E5D3B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6" name="Rectangle 132">
              <a:extLst>
                <a:ext uri="{FF2B5EF4-FFF2-40B4-BE49-F238E27FC236}">
                  <a16:creationId xmlns:a16="http://schemas.microsoft.com/office/drawing/2014/main" xmlns="" id="{2618B9D6-5467-6C33-9942-93F2FD7E8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7" name="Rectangle 133">
              <a:extLst>
                <a:ext uri="{FF2B5EF4-FFF2-40B4-BE49-F238E27FC236}">
                  <a16:creationId xmlns:a16="http://schemas.microsoft.com/office/drawing/2014/main" xmlns="" id="{B5390BE2-DC43-0AFD-0224-A5BB34477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8" name="Group 134">
              <a:extLst>
                <a:ext uri="{FF2B5EF4-FFF2-40B4-BE49-F238E27FC236}">
                  <a16:creationId xmlns:a16="http://schemas.microsoft.com/office/drawing/2014/main" xmlns="" id="{A8551892-75FF-407D-8E66-A22C1333C7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4" name="AutoShape 135">
                <a:extLst>
                  <a:ext uri="{FF2B5EF4-FFF2-40B4-BE49-F238E27FC236}">
                    <a16:creationId xmlns:a16="http://schemas.microsoft.com/office/drawing/2014/main" xmlns="" id="{D5F7334A-FFEB-FA5F-7456-6D1E09ECB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5" name="AutoShape 136">
                <a:extLst>
                  <a:ext uri="{FF2B5EF4-FFF2-40B4-BE49-F238E27FC236}">
                    <a16:creationId xmlns:a16="http://schemas.microsoft.com/office/drawing/2014/main" xmlns="" id="{D250CB67-0B4B-4E05-6B93-463126669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9" name="Freeform 137">
              <a:extLst>
                <a:ext uri="{FF2B5EF4-FFF2-40B4-BE49-F238E27FC236}">
                  <a16:creationId xmlns:a16="http://schemas.microsoft.com/office/drawing/2014/main" xmlns="" id="{E4EC1000-6C67-20AB-33F9-66ED8320C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0" name="Group 138">
              <a:extLst>
                <a:ext uri="{FF2B5EF4-FFF2-40B4-BE49-F238E27FC236}">
                  <a16:creationId xmlns:a16="http://schemas.microsoft.com/office/drawing/2014/main" xmlns="" id="{431F93AB-B840-CE26-75AC-9728CA857D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2" name="AutoShape 139">
                <a:extLst>
                  <a:ext uri="{FF2B5EF4-FFF2-40B4-BE49-F238E27FC236}">
                    <a16:creationId xmlns:a16="http://schemas.microsoft.com/office/drawing/2014/main" xmlns="" id="{F6D136A8-10BA-5A8B-951F-E23804C05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3" name="AutoShape 140">
                <a:extLst>
                  <a:ext uri="{FF2B5EF4-FFF2-40B4-BE49-F238E27FC236}">
                    <a16:creationId xmlns:a16="http://schemas.microsoft.com/office/drawing/2014/main" xmlns="" id="{80E2B729-C2AE-717E-CBC4-9214315D0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1" name="Rectangle 141">
              <a:extLst>
                <a:ext uri="{FF2B5EF4-FFF2-40B4-BE49-F238E27FC236}">
                  <a16:creationId xmlns:a16="http://schemas.microsoft.com/office/drawing/2014/main" xmlns="" id="{7AF81D49-C1C0-221A-B973-DD5A05646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2" name="Freeform 142">
              <a:extLst>
                <a:ext uri="{FF2B5EF4-FFF2-40B4-BE49-F238E27FC236}">
                  <a16:creationId xmlns:a16="http://schemas.microsoft.com/office/drawing/2014/main" xmlns="" id="{C8CA69C9-6CD0-63E2-39BA-B6E66FB42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Freeform 143">
              <a:extLst>
                <a:ext uri="{FF2B5EF4-FFF2-40B4-BE49-F238E27FC236}">
                  <a16:creationId xmlns:a16="http://schemas.microsoft.com/office/drawing/2014/main" xmlns="" id="{712C5184-1A96-2BC2-FA65-39E88DADB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Oval 144">
              <a:extLst>
                <a:ext uri="{FF2B5EF4-FFF2-40B4-BE49-F238E27FC236}">
                  <a16:creationId xmlns:a16="http://schemas.microsoft.com/office/drawing/2014/main" xmlns="" id="{6E8F892A-A9D2-981E-5BA2-E443D86FE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5" name="Freeform 145">
              <a:extLst>
                <a:ext uri="{FF2B5EF4-FFF2-40B4-BE49-F238E27FC236}">
                  <a16:creationId xmlns:a16="http://schemas.microsoft.com/office/drawing/2014/main" xmlns="" id="{59ECF3DA-052E-1216-3A26-DB8FCBA96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AutoShape 146">
              <a:extLst>
                <a:ext uri="{FF2B5EF4-FFF2-40B4-BE49-F238E27FC236}">
                  <a16:creationId xmlns:a16="http://schemas.microsoft.com/office/drawing/2014/main" xmlns="" id="{8236654F-BD27-EE66-35C8-6D697ABD9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" name="AutoShape 147">
              <a:extLst>
                <a:ext uri="{FF2B5EF4-FFF2-40B4-BE49-F238E27FC236}">
                  <a16:creationId xmlns:a16="http://schemas.microsoft.com/office/drawing/2014/main" xmlns="" id="{ED6FE94A-DEF5-277F-AC28-36C627383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Oval 148">
              <a:extLst>
                <a:ext uri="{FF2B5EF4-FFF2-40B4-BE49-F238E27FC236}">
                  <a16:creationId xmlns:a16="http://schemas.microsoft.com/office/drawing/2014/main" xmlns="" id="{48008AE6-747B-67F4-3641-BABF6F8FB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" name="Oval 149">
              <a:extLst>
                <a:ext uri="{FF2B5EF4-FFF2-40B4-BE49-F238E27FC236}">
                  <a16:creationId xmlns:a16="http://schemas.microsoft.com/office/drawing/2014/main" xmlns="" id="{338AA53E-AE5E-AA06-04F7-2E597D5E9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0" name="Oval 150">
              <a:extLst>
                <a:ext uri="{FF2B5EF4-FFF2-40B4-BE49-F238E27FC236}">
                  <a16:creationId xmlns:a16="http://schemas.microsoft.com/office/drawing/2014/main" xmlns="" id="{18D61A50-E5C9-7E0C-B2E8-59A3FFDA4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" name="Rectangle 151">
              <a:extLst>
                <a:ext uri="{FF2B5EF4-FFF2-40B4-BE49-F238E27FC236}">
                  <a16:creationId xmlns:a16="http://schemas.microsoft.com/office/drawing/2014/main" xmlns="" id="{379CA61F-947C-12AB-960F-A207A6C5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xmlns="" id="{E2FD78A5-E66D-4A4B-34EE-7639F05D4F63}"/>
              </a:ext>
            </a:extLst>
          </p:cNvPr>
          <p:cNvGrpSpPr/>
          <p:nvPr/>
        </p:nvGrpSpPr>
        <p:grpSpPr>
          <a:xfrm>
            <a:off x="4917394" y="5539014"/>
            <a:ext cx="1889805" cy="662028"/>
            <a:chOff x="9620023" y="2667000"/>
            <a:chExt cx="1889805" cy="662028"/>
          </a:xfrm>
        </p:grpSpPr>
        <p:sp>
          <p:nvSpPr>
            <p:cNvPr id="71" name="Line 105">
              <a:extLst>
                <a:ext uri="{FF2B5EF4-FFF2-40B4-BE49-F238E27FC236}">
                  <a16:creationId xmlns:a16="http://schemas.microsoft.com/office/drawing/2014/main" xmlns="" id="{9F9F9D57-092D-12A7-42CC-BD38CBC6D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0023" y="2667000"/>
              <a:ext cx="1889805" cy="66202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2" name="Rectangle 108">
              <a:extLst>
                <a:ext uri="{FF2B5EF4-FFF2-40B4-BE49-F238E27FC236}">
                  <a16:creationId xmlns:a16="http://schemas.microsoft.com/office/drawing/2014/main" xmlns="" id="{EC61167E-554B-16B9-C14A-CA01361FE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2106" y="2824428"/>
              <a:ext cx="855208" cy="397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73" name="Group 113">
              <a:extLst>
                <a:ext uri="{FF2B5EF4-FFF2-40B4-BE49-F238E27FC236}">
                  <a16:creationId xmlns:a16="http://schemas.microsoft.com/office/drawing/2014/main" xmlns="" id="{E524A52F-991A-9FBF-73E1-AB30D07DC7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98301" y="2802885"/>
              <a:ext cx="1274763" cy="336550"/>
              <a:chOff x="1065" y="2085"/>
              <a:chExt cx="803" cy="212"/>
            </a:xfrm>
          </p:grpSpPr>
          <p:sp>
            <p:nvSpPr>
              <p:cNvPr id="74" name="Rectangle 114">
                <a:extLst>
                  <a:ext uri="{FF2B5EF4-FFF2-40B4-BE49-F238E27FC236}">
                    <a16:creationId xmlns:a16="http://schemas.microsoft.com/office/drawing/2014/main" xmlns="" id="{1ACF7258-E43C-6607-2587-D262264F9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5" name="Text Box 115">
                <a:extLst>
                  <a:ext uri="{FF2B5EF4-FFF2-40B4-BE49-F238E27FC236}">
                    <a16:creationId xmlns:a16="http://schemas.microsoft.com/office/drawing/2014/main" xmlns="" id="{771DD7C1-7052-6546-4B7D-C172887DFB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acc_conn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(x)</a:t>
                </a:r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xmlns="" id="{A96088CB-01D5-2D59-1EED-691F72DF8675}"/>
              </a:ext>
            </a:extLst>
          </p:cNvPr>
          <p:cNvGrpSpPr/>
          <p:nvPr/>
        </p:nvGrpSpPr>
        <p:grpSpPr>
          <a:xfrm>
            <a:off x="2687243" y="5895313"/>
            <a:ext cx="7490424" cy="1307176"/>
            <a:chOff x="3717197" y="5550824"/>
            <a:chExt cx="6116329" cy="1307176"/>
          </a:xfrm>
          <a:noFill/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xmlns="" id="{A18035E6-2FA9-FE3D-5470-2FCD09176E61}"/>
                </a:ext>
              </a:extLst>
            </p:cNvPr>
            <p:cNvSpPr/>
            <p:nvPr/>
          </p:nvSpPr>
          <p:spPr>
            <a:xfrm>
              <a:off x="4020455" y="5775778"/>
              <a:ext cx="3788229" cy="10822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6DE88BEF-5E65-032B-DDC0-1831EED4B006}"/>
                </a:ext>
              </a:extLst>
            </p:cNvPr>
            <p:cNvGrpSpPr/>
            <p:nvPr/>
          </p:nvGrpSpPr>
          <p:grpSpPr>
            <a:xfrm>
              <a:off x="3717197" y="5550824"/>
              <a:ext cx="6116329" cy="746167"/>
              <a:chOff x="4631596" y="5566362"/>
              <a:chExt cx="6116329" cy="746167"/>
            </a:xfrm>
            <a:grpFill/>
          </p:grpSpPr>
          <p:sp>
            <p:nvSpPr>
              <p:cNvPr id="79" name="Text Box 49">
                <a:extLst>
                  <a:ext uri="{FF2B5EF4-FFF2-40B4-BE49-F238E27FC236}">
                    <a16:creationId xmlns:a16="http://schemas.microsoft.com/office/drawing/2014/main" xmlns="" id="{57196808-5605-9A7C-8A7C-772F2CBB09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8411" y="5850864"/>
                <a:ext cx="5479514" cy="461665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Problem: half open connection! (no client)</a:t>
                </a:r>
              </a:p>
            </p:txBody>
          </p:sp>
          <p:pic>
            <p:nvPicPr>
              <p:cNvPr id="80" name="Picture 79" descr="A picture containing drawing&#10;&#10;Description automatically generated">
                <a:extLst>
                  <a:ext uri="{FF2B5EF4-FFF2-40B4-BE49-F238E27FC236}">
                    <a16:creationId xmlns:a16="http://schemas.microsoft.com/office/drawing/2014/main" xmlns="" id="{E3C7129A-0408-38A7-EAA5-55301EF65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31596" y="5566362"/>
                <a:ext cx="636815" cy="636815"/>
              </a:xfrm>
              <a:prstGeom prst="rect">
                <a:avLst/>
              </a:prstGeom>
              <a:grpFill/>
            </p:spPr>
          </p:pic>
        </p:grpSp>
      </p:grpSp>
    </p:spTree>
    <p:extLst>
      <p:ext uri="{BB962C8B-B14F-4D97-AF65-F5344CB8AC3E}">
        <p14:creationId xmlns:p14="http://schemas.microsoft.com/office/powerpoint/2010/main" val="171234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BBBD85-7DC0-5E7E-DED6-243C1ADE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DB3E6-905A-F3B4-63B1-58B6AA97080D}"/>
              </a:ext>
            </a:extLst>
          </p:cNvPr>
          <p:cNvSpPr txBox="1">
            <a:spLocks/>
          </p:cNvSpPr>
          <p:nvPr/>
        </p:nvSpPr>
        <p:spPr>
          <a:xfrm>
            <a:off x="798690" y="289325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2-way handshake scenarios</a:t>
            </a:r>
            <a:endParaRPr lang="en-US" sz="4800" dirty="0"/>
          </a:p>
        </p:txBody>
      </p:sp>
      <p:grpSp>
        <p:nvGrpSpPr>
          <p:cNvPr id="3" name="Group 152">
            <a:extLst>
              <a:ext uri="{FF2B5EF4-FFF2-40B4-BE49-F238E27FC236}">
                <a16:creationId xmlns:a16="http://schemas.microsoft.com/office/drawing/2014/main" xmlns="" id="{2579C4F4-9797-48E6-4C20-B128B9164183}"/>
              </a:ext>
            </a:extLst>
          </p:cNvPr>
          <p:cNvGrpSpPr>
            <a:grpSpLocks/>
          </p:cNvGrpSpPr>
          <p:nvPr/>
        </p:nvGrpSpPr>
        <p:grpSpPr bwMode="auto">
          <a:xfrm>
            <a:off x="8173174" y="1342839"/>
            <a:ext cx="3933825" cy="4568825"/>
            <a:chOff x="3150" y="1107"/>
            <a:chExt cx="2478" cy="2878"/>
          </a:xfrm>
        </p:grpSpPr>
        <p:sp>
          <p:nvSpPr>
            <p:cNvPr id="4" name="Line 153">
              <a:extLst>
                <a:ext uri="{FF2B5EF4-FFF2-40B4-BE49-F238E27FC236}">
                  <a16:creationId xmlns:a16="http://schemas.microsoft.com/office/drawing/2014/main" xmlns="" id="{65C37A8C-B542-0466-632A-8C46A9E2FA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2" y="1490"/>
              <a:ext cx="1" cy="249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" name="Text Box 154">
              <a:extLst>
                <a:ext uri="{FF2B5EF4-FFF2-40B4-BE49-F238E27FC236}">
                  <a16:creationId xmlns:a16="http://schemas.microsoft.com/office/drawing/2014/main" xmlns="" id="{312AA625-3736-64E1-DF01-B56F58552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0" y="298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 terminates</a:t>
              </a:r>
            </a:p>
          </p:txBody>
        </p:sp>
        <p:sp>
          <p:nvSpPr>
            <p:cNvPr id="6" name="Line 155">
              <a:extLst>
                <a:ext uri="{FF2B5EF4-FFF2-40B4-BE49-F238E27FC236}">
                  <a16:creationId xmlns:a16="http://schemas.microsoft.com/office/drawing/2014/main" xmlns="" id="{AD92EC11-4231-3D99-6FC8-05DC779F5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5" y="1451"/>
              <a:ext cx="15" cy="154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" name="Line 156">
              <a:extLst>
                <a:ext uri="{FF2B5EF4-FFF2-40B4-BE49-F238E27FC236}">
                  <a16:creationId xmlns:a16="http://schemas.microsoft.com/office/drawing/2014/main" xmlns="" id="{4C443760-F24F-02C1-9C3E-80D211D11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0" y="1726"/>
              <a:ext cx="990" cy="60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Rectangle 157">
              <a:extLst>
                <a:ext uri="{FF2B5EF4-FFF2-40B4-BE49-F238E27FC236}">
                  <a16:creationId xmlns:a16="http://schemas.microsoft.com/office/drawing/2014/main" xmlns="" id="{90DD91A7-707F-F6D0-4089-C05428E4A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1761"/>
              <a:ext cx="277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Text Box 158">
              <a:extLst>
                <a:ext uri="{FF2B5EF4-FFF2-40B4-BE49-F238E27FC236}">
                  <a16:creationId xmlns:a16="http://schemas.microsoft.com/office/drawing/2014/main" xmlns="" id="{C55DA984-80E0-C53D-E01D-FF59DCB44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221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10" name="Oval 159">
              <a:extLst>
                <a:ext uri="{FF2B5EF4-FFF2-40B4-BE49-F238E27FC236}">
                  <a16:creationId xmlns:a16="http://schemas.microsoft.com/office/drawing/2014/main" xmlns="" id="{D4310E69-1912-E1EF-0537-0E5B21BB9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" y="2299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" name="Text Box 160">
              <a:extLst>
                <a:ext uri="{FF2B5EF4-FFF2-40B4-BE49-F238E27FC236}">
                  <a16:creationId xmlns:a16="http://schemas.microsoft.com/office/drawing/2014/main" xmlns="" id="{D85AEDE5-64D9-1BEE-40BE-56F6AAA5E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" y="1380"/>
              <a:ext cx="61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" name="Line 161">
              <a:extLst>
                <a:ext uri="{FF2B5EF4-FFF2-40B4-BE49-F238E27FC236}">
                  <a16:creationId xmlns:a16="http://schemas.microsoft.com/office/drawing/2014/main" xmlns="" id="{8F4F1C25-73A7-EDF8-4063-1545BF25D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503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" name="Rectangle 162">
              <a:extLst>
                <a:ext uri="{FF2B5EF4-FFF2-40B4-BE49-F238E27FC236}">
                  <a16:creationId xmlns:a16="http://schemas.microsoft.com/office/drawing/2014/main" xmlns="" id="{19ACEFF0-8CA4-C0AF-63A1-C8FFEB5B2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" y="1494"/>
              <a:ext cx="490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" name="Text Box 163">
              <a:extLst>
                <a:ext uri="{FF2B5EF4-FFF2-40B4-BE49-F238E27FC236}">
                  <a16:creationId xmlns:a16="http://schemas.microsoft.com/office/drawing/2014/main" xmlns="" id="{F1B465AC-A12A-880B-D3BE-B3DC36ED3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3" y="1473"/>
              <a:ext cx="8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req_conn(x)</a:t>
              </a:r>
            </a:p>
          </p:txBody>
        </p:sp>
        <p:sp>
          <p:nvSpPr>
            <p:cNvPr id="15" name="Text Box 164">
              <a:extLst>
                <a:ext uri="{FF2B5EF4-FFF2-40B4-BE49-F238E27FC236}">
                  <a16:creationId xmlns:a16="http://schemas.microsoft.com/office/drawing/2014/main" xmlns="" id="{01FE7A0D-4DB4-D4D1-7808-1FABC6D8A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2" y="1636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16" name="Oval 165">
              <a:extLst>
                <a:ext uri="{FF2B5EF4-FFF2-40B4-BE49-F238E27FC236}">
                  <a16:creationId xmlns:a16="http://schemas.microsoft.com/office/drawing/2014/main" xmlns="" id="{93C6509F-BB38-CC29-4DF4-9CE24E66C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" y="1710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" name="Group 166">
              <a:extLst>
                <a:ext uri="{FF2B5EF4-FFF2-40B4-BE49-F238E27FC236}">
                  <a16:creationId xmlns:a16="http://schemas.microsoft.com/office/drawing/2014/main" xmlns="" id="{FAFBB33D-79F6-F072-1B75-ABB44BCB8E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6" y="1848"/>
              <a:ext cx="803" cy="212"/>
              <a:chOff x="1065" y="2085"/>
              <a:chExt cx="803" cy="212"/>
            </a:xfrm>
          </p:grpSpPr>
          <p:sp>
            <p:nvSpPr>
              <p:cNvPr id="63" name="Rectangle 167">
                <a:extLst>
                  <a:ext uri="{FF2B5EF4-FFF2-40B4-BE49-F238E27FC236}">
                    <a16:creationId xmlns:a16="http://schemas.microsoft.com/office/drawing/2014/main" xmlns="" id="{D8DE046B-BA2F-DCD4-DE18-4137E79DE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Text Box 168">
                <a:extLst>
                  <a:ext uri="{FF2B5EF4-FFF2-40B4-BE49-F238E27FC236}">
                    <a16:creationId xmlns:a16="http://schemas.microsoft.com/office/drawing/2014/main" xmlns="" id="{00897C03-DD0D-B88F-7681-DFA9CA36A5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acc_conn(x)</a:t>
                </a:r>
              </a:p>
            </p:txBody>
          </p:sp>
        </p:grpSp>
        <p:sp>
          <p:nvSpPr>
            <p:cNvPr id="18" name="Line 169">
              <a:extLst>
                <a:ext uri="{FF2B5EF4-FFF2-40B4-BE49-F238E27FC236}">
                  <a16:creationId xmlns:a16="http://schemas.microsoft.com/office/drawing/2014/main" xmlns="" id="{5B0AD260-4749-6BD1-DE15-E10A41EE4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2345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" name="Rectangle 170">
              <a:extLst>
                <a:ext uri="{FF2B5EF4-FFF2-40B4-BE49-F238E27FC236}">
                  <a16:creationId xmlns:a16="http://schemas.microsoft.com/office/drawing/2014/main" xmlns="" id="{A81A2ECB-97FC-2318-DF78-8538EBCDA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336"/>
              <a:ext cx="490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" name="Text Box 171">
              <a:extLst>
                <a:ext uri="{FF2B5EF4-FFF2-40B4-BE49-F238E27FC236}">
                  <a16:creationId xmlns:a16="http://schemas.microsoft.com/office/drawing/2014/main" xmlns="" id="{C5ADF7CB-22B6-0C17-21A9-4963E05A5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2315"/>
              <a:ext cx="6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sp>
          <p:nvSpPr>
            <p:cNvPr id="21" name="Oval 172">
              <a:extLst>
                <a:ext uri="{FF2B5EF4-FFF2-40B4-BE49-F238E27FC236}">
                  <a16:creationId xmlns:a16="http://schemas.microsoft.com/office/drawing/2014/main" xmlns="" id="{D667CCA7-1AE7-62CF-B91C-5C29AF510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524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" name="Text Box 173">
              <a:extLst>
                <a:ext uri="{FF2B5EF4-FFF2-40B4-BE49-F238E27FC236}">
                  <a16:creationId xmlns:a16="http://schemas.microsoft.com/office/drawing/2014/main" xmlns="" id="{9F940ED7-02B8-D92E-4592-97F601980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0" y="237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accept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grpSp>
          <p:nvGrpSpPr>
            <p:cNvPr id="23" name="Group 174">
              <a:extLst>
                <a:ext uri="{FF2B5EF4-FFF2-40B4-BE49-F238E27FC236}">
                  <a16:creationId xmlns:a16="http://schemas.microsoft.com/office/drawing/2014/main" xmlns="" id="{65FA671A-AF24-6DDE-86A0-662223FB5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6" y="2803"/>
              <a:ext cx="1515" cy="300"/>
              <a:chOff x="3818" y="2796"/>
              <a:chExt cx="1515" cy="300"/>
            </a:xfrm>
          </p:grpSpPr>
          <p:sp>
            <p:nvSpPr>
              <p:cNvPr id="61" name="Line 175">
                <a:extLst>
                  <a:ext uri="{FF2B5EF4-FFF2-40B4-BE49-F238E27FC236}">
                    <a16:creationId xmlns:a16="http://schemas.microsoft.com/office/drawing/2014/main" xmlns="" id="{2D3BD49F-E3E0-BD65-F20F-9C464EE4A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8" y="2951"/>
                <a:ext cx="1515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Text Box 176">
                <a:extLst>
                  <a:ext uri="{FF2B5EF4-FFF2-40B4-BE49-F238E27FC236}">
                    <a16:creationId xmlns:a16="http://schemas.microsoft.com/office/drawing/2014/main" xmlns="" id="{E5594363-8E08-3635-3C16-4DF6457176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9" y="2796"/>
                <a:ext cx="706" cy="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connection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x completes</a:t>
                </a:r>
              </a:p>
            </p:txBody>
          </p:sp>
        </p:grpSp>
        <p:sp>
          <p:nvSpPr>
            <p:cNvPr id="24" name="Text Box 177">
              <a:extLst>
                <a:ext uri="{FF2B5EF4-FFF2-40B4-BE49-F238E27FC236}">
                  <a16:creationId xmlns:a16="http://schemas.microsoft.com/office/drawing/2014/main" xmlns="" id="{68B802BD-5998-9A3C-2633-E8FBC96C4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" y="2962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server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forgets x</a:t>
              </a:r>
            </a:p>
          </p:txBody>
        </p:sp>
        <p:grpSp>
          <p:nvGrpSpPr>
            <p:cNvPr id="25" name="Group 178">
              <a:extLst>
                <a:ext uri="{FF2B5EF4-FFF2-40B4-BE49-F238E27FC236}">
                  <a16:creationId xmlns:a16="http://schemas.microsoft.com/office/drawing/2014/main" xmlns="" id="{6355DB8A-FFC0-32B3-60AC-BB1B850207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0" y="1119"/>
              <a:ext cx="391" cy="307"/>
              <a:chOff x="-44" y="1473"/>
              <a:chExt cx="981" cy="1105"/>
            </a:xfrm>
          </p:grpSpPr>
          <p:pic>
            <p:nvPicPr>
              <p:cNvPr id="59" name="Picture 179" descr="desktop_computer_stylized_medium">
                <a:extLst>
                  <a:ext uri="{FF2B5EF4-FFF2-40B4-BE49-F238E27FC236}">
                    <a16:creationId xmlns:a16="http://schemas.microsoft.com/office/drawing/2014/main" xmlns="" id="{A1296D20-FB35-6A8C-0B44-6A82275F12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" name="Freeform 180">
                <a:extLst>
                  <a:ext uri="{FF2B5EF4-FFF2-40B4-BE49-F238E27FC236}">
                    <a16:creationId xmlns:a16="http://schemas.microsoft.com/office/drawing/2014/main" xmlns="" id="{667E5625-2EE9-C59B-5A5D-16CAF3722D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6" name="Group 181">
              <a:extLst>
                <a:ext uri="{FF2B5EF4-FFF2-40B4-BE49-F238E27FC236}">
                  <a16:creationId xmlns:a16="http://schemas.microsoft.com/office/drawing/2014/main" xmlns="" id="{D0B1BEA5-0CA9-8B3D-C0F0-1F1B9332F8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9" y="1107"/>
              <a:ext cx="212" cy="323"/>
              <a:chOff x="4140" y="429"/>
              <a:chExt cx="1425" cy="2396"/>
            </a:xfrm>
          </p:grpSpPr>
          <p:sp>
            <p:nvSpPr>
              <p:cNvPr id="27" name="Freeform 182">
                <a:extLst>
                  <a:ext uri="{FF2B5EF4-FFF2-40B4-BE49-F238E27FC236}">
                    <a16:creationId xmlns:a16="http://schemas.microsoft.com/office/drawing/2014/main" xmlns="" id="{C97C21A4-3D2B-CB1A-BA4D-A780D2C37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" name="Rectangle 183">
                <a:extLst>
                  <a:ext uri="{FF2B5EF4-FFF2-40B4-BE49-F238E27FC236}">
                    <a16:creationId xmlns:a16="http://schemas.microsoft.com/office/drawing/2014/main" xmlns="" id="{293D62C4-ECC1-E35A-04C2-EA537130F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9" name="Freeform 184">
                <a:extLst>
                  <a:ext uri="{FF2B5EF4-FFF2-40B4-BE49-F238E27FC236}">
                    <a16:creationId xmlns:a16="http://schemas.microsoft.com/office/drawing/2014/main" xmlns="" id="{988DFE72-BDFC-6E36-9734-877B8E911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Freeform 185">
                <a:extLst>
                  <a:ext uri="{FF2B5EF4-FFF2-40B4-BE49-F238E27FC236}">
                    <a16:creationId xmlns:a16="http://schemas.microsoft.com/office/drawing/2014/main" xmlns="" id="{595B1106-08CA-97FF-70C9-7BB6038DE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" name="Rectangle 186">
                <a:extLst>
                  <a:ext uri="{FF2B5EF4-FFF2-40B4-BE49-F238E27FC236}">
                    <a16:creationId xmlns:a16="http://schemas.microsoft.com/office/drawing/2014/main" xmlns="" id="{D74A151D-EA6B-9754-5C14-608D23953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2" name="Group 187">
                <a:extLst>
                  <a:ext uri="{FF2B5EF4-FFF2-40B4-BE49-F238E27FC236}">
                    <a16:creationId xmlns:a16="http://schemas.microsoft.com/office/drawing/2014/main" xmlns="" id="{6025688B-1DCA-F202-293E-65CFBD326C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7" name="AutoShape 188">
                  <a:extLst>
                    <a:ext uri="{FF2B5EF4-FFF2-40B4-BE49-F238E27FC236}">
                      <a16:creationId xmlns:a16="http://schemas.microsoft.com/office/drawing/2014/main" xmlns="" id="{745EE3C1-B4C9-D7EE-0AB2-C8C93FE0BB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8" name="AutoShape 189">
                  <a:extLst>
                    <a:ext uri="{FF2B5EF4-FFF2-40B4-BE49-F238E27FC236}">
                      <a16:creationId xmlns:a16="http://schemas.microsoft.com/office/drawing/2014/main" xmlns="" id="{F88CBFEB-34D8-37D7-3E61-2C0F90B532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3" name="Rectangle 190">
                <a:extLst>
                  <a:ext uri="{FF2B5EF4-FFF2-40B4-BE49-F238E27FC236}">
                    <a16:creationId xmlns:a16="http://schemas.microsoft.com/office/drawing/2014/main" xmlns="" id="{17811558-419D-6353-4E0B-888864878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4" name="Group 191">
                <a:extLst>
                  <a:ext uri="{FF2B5EF4-FFF2-40B4-BE49-F238E27FC236}">
                    <a16:creationId xmlns:a16="http://schemas.microsoft.com/office/drawing/2014/main" xmlns="" id="{68F9FADA-1DBC-8F23-34F7-D710E773E1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5" name="AutoShape 192">
                  <a:extLst>
                    <a:ext uri="{FF2B5EF4-FFF2-40B4-BE49-F238E27FC236}">
                      <a16:creationId xmlns:a16="http://schemas.microsoft.com/office/drawing/2014/main" xmlns="" id="{C4E0683D-07CB-DB0D-1E41-6685A2107D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" name="AutoShape 193">
                  <a:extLst>
                    <a:ext uri="{FF2B5EF4-FFF2-40B4-BE49-F238E27FC236}">
                      <a16:creationId xmlns:a16="http://schemas.microsoft.com/office/drawing/2014/main" xmlns="" id="{30F81CC7-BEDE-3AC5-03B0-DE95810620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5" name="Rectangle 194">
                <a:extLst>
                  <a:ext uri="{FF2B5EF4-FFF2-40B4-BE49-F238E27FC236}">
                    <a16:creationId xmlns:a16="http://schemas.microsoft.com/office/drawing/2014/main" xmlns="" id="{42363EA7-707A-096E-592A-4193AC788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" name="Rectangle 195">
                <a:extLst>
                  <a:ext uri="{FF2B5EF4-FFF2-40B4-BE49-F238E27FC236}">
                    <a16:creationId xmlns:a16="http://schemas.microsoft.com/office/drawing/2014/main" xmlns="" id="{028A2748-615F-598D-D1E9-3AAC94F59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7" name="Group 196">
                <a:extLst>
                  <a:ext uri="{FF2B5EF4-FFF2-40B4-BE49-F238E27FC236}">
                    <a16:creationId xmlns:a16="http://schemas.microsoft.com/office/drawing/2014/main" xmlns="" id="{58A07F7B-6C48-BDB8-CD24-5351717B83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3" name="AutoShape 197">
                  <a:extLst>
                    <a:ext uri="{FF2B5EF4-FFF2-40B4-BE49-F238E27FC236}">
                      <a16:creationId xmlns:a16="http://schemas.microsoft.com/office/drawing/2014/main" xmlns="" id="{FF449D00-9702-7623-441A-A51551A641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4" name="AutoShape 198">
                  <a:extLst>
                    <a:ext uri="{FF2B5EF4-FFF2-40B4-BE49-F238E27FC236}">
                      <a16:creationId xmlns:a16="http://schemas.microsoft.com/office/drawing/2014/main" xmlns="" id="{0FCDCB97-1A67-A375-CB81-0E24D77FFE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8" name="Freeform 199">
                <a:extLst>
                  <a:ext uri="{FF2B5EF4-FFF2-40B4-BE49-F238E27FC236}">
                    <a16:creationId xmlns:a16="http://schemas.microsoft.com/office/drawing/2014/main" xmlns="" id="{F39DEEC5-9563-514F-2D06-FB125149FE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9" name="Group 200">
                <a:extLst>
                  <a:ext uri="{FF2B5EF4-FFF2-40B4-BE49-F238E27FC236}">
                    <a16:creationId xmlns:a16="http://schemas.microsoft.com/office/drawing/2014/main" xmlns="" id="{6D1D98F5-D743-9EF2-BCAD-D284A7A9BA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1" name="AutoShape 201">
                  <a:extLst>
                    <a:ext uri="{FF2B5EF4-FFF2-40B4-BE49-F238E27FC236}">
                      <a16:creationId xmlns:a16="http://schemas.microsoft.com/office/drawing/2014/main" xmlns="" id="{31B4B342-68B8-EB7A-9929-47ECBAF1D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2" name="AutoShape 202">
                  <a:extLst>
                    <a:ext uri="{FF2B5EF4-FFF2-40B4-BE49-F238E27FC236}">
                      <a16:creationId xmlns:a16="http://schemas.microsoft.com/office/drawing/2014/main" xmlns="" id="{A627C321-49A3-8FC2-33E5-F3165B69B1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40" name="Rectangle 203">
                <a:extLst>
                  <a:ext uri="{FF2B5EF4-FFF2-40B4-BE49-F238E27FC236}">
                    <a16:creationId xmlns:a16="http://schemas.microsoft.com/office/drawing/2014/main" xmlns="" id="{80DE0C9B-1855-A9C8-84D8-70114B04A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" name="Freeform 204">
                <a:extLst>
                  <a:ext uri="{FF2B5EF4-FFF2-40B4-BE49-F238E27FC236}">
                    <a16:creationId xmlns:a16="http://schemas.microsoft.com/office/drawing/2014/main" xmlns="" id="{12D4CB22-6AF9-7549-1DE9-69FAE7282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Freeform 205">
                <a:extLst>
                  <a:ext uri="{FF2B5EF4-FFF2-40B4-BE49-F238E27FC236}">
                    <a16:creationId xmlns:a16="http://schemas.microsoft.com/office/drawing/2014/main" xmlns="" id="{6D50F503-DEB4-4427-2B1B-A9E28A3E4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Oval 206">
                <a:extLst>
                  <a:ext uri="{FF2B5EF4-FFF2-40B4-BE49-F238E27FC236}">
                    <a16:creationId xmlns:a16="http://schemas.microsoft.com/office/drawing/2014/main" xmlns="" id="{D0C341E6-0D18-2B45-4247-8B6370BD1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" name="Freeform 207">
                <a:extLst>
                  <a:ext uri="{FF2B5EF4-FFF2-40B4-BE49-F238E27FC236}">
                    <a16:creationId xmlns:a16="http://schemas.microsoft.com/office/drawing/2014/main" xmlns="" id="{636A720B-FF92-35F3-A462-153B599724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AutoShape 208">
                <a:extLst>
                  <a:ext uri="{FF2B5EF4-FFF2-40B4-BE49-F238E27FC236}">
                    <a16:creationId xmlns:a16="http://schemas.microsoft.com/office/drawing/2014/main" xmlns="" id="{D3ABABCC-316C-EC54-31D0-B318773E0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" name="AutoShape 209">
                <a:extLst>
                  <a:ext uri="{FF2B5EF4-FFF2-40B4-BE49-F238E27FC236}">
                    <a16:creationId xmlns:a16="http://schemas.microsoft.com/office/drawing/2014/main" xmlns="" id="{33B3B416-CA0A-A147-DB65-8C0B9CC2E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" name="Oval 210">
                <a:extLst>
                  <a:ext uri="{FF2B5EF4-FFF2-40B4-BE49-F238E27FC236}">
                    <a16:creationId xmlns:a16="http://schemas.microsoft.com/office/drawing/2014/main" xmlns="" id="{BFB0BC2B-7213-861D-7AE0-D5232D01D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" name="Oval 211">
                <a:extLst>
                  <a:ext uri="{FF2B5EF4-FFF2-40B4-BE49-F238E27FC236}">
                    <a16:creationId xmlns:a16="http://schemas.microsoft.com/office/drawing/2014/main" xmlns="" id="{A77B720B-C7F6-E3D9-99B0-E390E20E5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9" name="Oval 212">
                <a:extLst>
                  <a:ext uri="{FF2B5EF4-FFF2-40B4-BE49-F238E27FC236}">
                    <a16:creationId xmlns:a16="http://schemas.microsoft.com/office/drawing/2014/main" xmlns="" id="{8ABFEA6D-0ABB-9BBF-5798-C3271064A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0" name="Rectangle 213">
                <a:extLst>
                  <a:ext uri="{FF2B5EF4-FFF2-40B4-BE49-F238E27FC236}">
                    <a16:creationId xmlns:a16="http://schemas.microsoft.com/office/drawing/2014/main" xmlns="" id="{A1BB81EB-5F74-C746-4230-A9948017F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xmlns="" id="{3FB1CF48-27A2-90E0-0DE1-914FEDF7BDB5}"/>
              </a:ext>
            </a:extLst>
          </p:cNvPr>
          <p:cNvGrpSpPr/>
          <p:nvPr/>
        </p:nvGrpSpPr>
        <p:grpSpPr>
          <a:xfrm>
            <a:off x="6654914" y="5931860"/>
            <a:ext cx="5433944" cy="636815"/>
            <a:chOff x="9372601" y="5739313"/>
            <a:chExt cx="2933699" cy="636815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639AFF53-13E2-FCB9-708E-A72F214F6AED}"/>
                </a:ext>
              </a:extLst>
            </p:cNvPr>
            <p:cNvSpPr txBox="1"/>
            <p:nvPr/>
          </p:nvSpPr>
          <p:spPr>
            <a:xfrm>
              <a:off x="9372601" y="5903267"/>
              <a:ext cx="29336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Problem: dup data accepted!</a:t>
              </a:r>
            </a:p>
          </p:txBody>
        </p:sp>
        <p:pic>
          <p:nvPicPr>
            <p:cNvPr id="67" name="Picture 6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xmlns="" id="{77BBA71A-1417-542F-7ACA-2B0488A1C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9466" y="5739313"/>
              <a:ext cx="636815" cy="636815"/>
            </a:xfrm>
            <a:prstGeom prst="rect">
              <a:avLst/>
            </a:prstGeom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xmlns="" id="{50AC00D7-61BC-05CB-D4E1-223EDFD93397}"/>
              </a:ext>
            </a:extLst>
          </p:cNvPr>
          <p:cNvGrpSpPr/>
          <p:nvPr/>
        </p:nvGrpSpPr>
        <p:grpSpPr>
          <a:xfrm>
            <a:off x="8091532" y="3683267"/>
            <a:ext cx="3997325" cy="2365375"/>
            <a:chOff x="3185703" y="3422010"/>
            <a:chExt cx="3997325" cy="2365375"/>
          </a:xfrm>
        </p:grpSpPr>
        <p:sp>
          <p:nvSpPr>
            <p:cNvPr id="69" name="Freeform 86">
              <a:extLst>
                <a:ext uri="{FF2B5EF4-FFF2-40B4-BE49-F238E27FC236}">
                  <a16:creationId xmlns:a16="http://schemas.microsoft.com/office/drawing/2014/main" xmlns="" id="{6917D9C9-C751-814C-9C46-00DE2A73F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891" y="3661722"/>
              <a:ext cx="1501775" cy="1897063"/>
            </a:xfrm>
            <a:custGeom>
              <a:avLst/>
              <a:gdLst>
                <a:gd name="T0" fmla="*/ 0 w 946"/>
                <a:gd name="T1" fmla="*/ 15 h 1195"/>
                <a:gd name="T2" fmla="*/ 199 w 946"/>
                <a:gd name="T3" fmla="*/ 164 h 1195"/>
                <a:gd name="T4" fmla="*/ 320 w 946"/>
                <a:gd name="T5" fmla="*/ 960 h 1195"/>
                <a:gd name="T6" fmla="*/ 946 w 946"/>
                <a:gd name="T7" fmla="*/ 1138 h 119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6" h="1195">
                  <a:moveTo>
                    <a:pt x="0" y="15"/>
                  </a:moveTo>
                  <a:cubicBezTo>
                    <a:pt x="32" y="40"/>
                    <a:pt x="114" y="0"/>
                    <a:pt x="199" y="164"/>
                  </a:cubicBezTo>
                  <a:cubicBezTo>
                    <a:pt x="284" y="328"/>
                    <a:pt x="195" y="798"/>
                    <a:pt x="320" y="960"/>
                  </a:cubicBezTo>
                  <a:cubicBezTo>
                    <a:pt x="477" y="1195"/>
                    <a:pt x="816" y="1101"/>
                    <a:pt x="946" y="113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Rectangle 88">
              <a:extLst>
                <a:ext uri="{FF2B5EF4-FFF2-40B4-BE49-F238E27FC236}">
                  <a16:creationId xmlns:a16="http://schemas.microsoft.com/office/drawing/2014/main" xmlns="" id="{A41C7A50-CD31-088B-4311-BF27196A1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2728" y="5196835"/>
              <a:ext cx="711200" cy="282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1" name="Text Box 87">
              <a:extLst>
                <a:ext uri="{FF2B5EF4-FFF2-40B4-BE49-F238E27FC236}">
                  <a16:creationId xmlns:a16="http://schemas.microsoft.com/office/drawing/2014/main" xmlns="" id="{0FFBAE77-D32A-8FCC-B802-B6F77CE61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403" y="5152385"/>
              <a:ext cx="1092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sp>
          <p:nvSpPr>
            <p:cNvPr id="72" name="Text Box 89">
              <a:extLst>
                <a:ext uri="{FF2B5EF4-FFF2-40B4-BE49-F238E27FC236}">
                  <a16:creationId xmlns:a16="http://schemas.microsoft.com/office/drawing/2014/main" xmlns="" id="{98362616-2A65-F4BC-5171-A789A294F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703" y="3422010"/>
              <a:ext cx="1273175" cy="752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retransmit</a:t>
              </a: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3" name="Text Box 90">
              <a:extLst>
                <a:ext uri="{FF2B5EF4-FFF2-40B4-BE49-F238E27FC236}">
                  <a16:creationId xmlns:a16="http://schemas.microsoft.com/office/drawing/2014/main" xmlns="" id="{D30D9CA5-DB3C-F610-F7EC-A6997E586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1453" y="5279385"/>
              <a:ext cx="1171575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accept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xmlns="" id="{97A4DB4E-191B-48FB-C72F-91506862F7F1}"/>
              </a:ext>
            </a:extLst>
          </p:cNvPr>
          <p:cNvGrpSpPr/>
          <p:nvPr/>
        </p:nvGrpSpPr>
        <p:grpSpPr>
          <a:xfrm>
            <a:off x="7997186" y="2493962"/>
            <a:ext cx="3646488" cy="2992438"/>
            <a:chOff x="3134903" y="2369497"/>
            <a:chExt cx="3646488" cy="2992438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xmlns="" id="{535C622F-946E-8DB7-D306-B68C3B348990}"/>
                </a:ext>
              </a:extLst>
            </p:cNvPr>
            <p:cNvGrpSpPr/>
            <p:nvPr/>
          </p:nvGrpSpPr>
          <p:grpSpPr>
            <a:xfrm>
              <a:off x="3134903" y="2369497"/>
              <a:ext cx="3646488" cy="2992438"/>
              <a:chOff x="3134903" y="2369497"/>
              <a:chExt cx="3646488" cy="2992438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xmlns="" id="{F57AD233-2990-10D6-7203-2FA3ABEDF3C1}"/>
                  </a:ext>
                </a:extLst>
              </p:cNvPr>
              <p:cNvGrpSpPr/>
              <p:nvPr/>
            </p:nvGrpSpPr>
            <p:grpSpPr>
              <a:xfrm>
                <a:off x="3134903" y="2369497"/>
                <a:ext cx="3646488" cy="2992438"/>
                <a:chOff x="3134903" y="2369497"/>
                <a:chExt cx="3646488" cy="2992438"/>
              </a:xfrm>
            </p:grpSpPr>
            <p:sp>
              <p:nvSpPr>
                <p:cNvPr id="80" name="Text Box 69">
                  <a:extLst>
                    <a:ext uri="{FF2B5EF4-FFF2-40B4-BE49-F238E27FC236}">
                      <a16:creationId xmlns:a16="http://schemas.microsoft.com/office/drawing/2014/main" xmlns="" id="{9371D3FD-94AC-25DA-9D56-35F3BA4855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34903" y="2369497"/>
                  <a:ext cx="1273175" cy="752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retransmit</a:t>
                  </a:r>
                </a:p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req_conn(x)</a:t>
                  </a:r>
                </a:p>
                <a:p>
                  <a:pPr marL="0" marR="0" lvl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81" name="Freeform 70">
                  <a:extLst>
                    <a:ext uri="{FF2B5EF4-FFF2-40B4-BE49-F238E27FC236}">
                      <a16:creationId xmlns:a16="http://schemas.microsoft.com/office/drawing/2014/main" xmlns="" id="{7131F6EF-92EE-70FB-9FA0-7235697A37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9353" y="2671122"/>
                  <a:ext cx="1527175" cy="2559050"/>
                </a:xfrm>
                <a:custGeom>
                  <a:avLst/>
                  <a:gdLst>
                    <a:gd name="T0" fmla="*/ 0 w 962"/>
                    <a:gd name="T1" fmla="*/ 0 h 1612"/>
                    <a:gd name="T2" fmla="*/ 306 w 962"/>
                    <a:gd name="T3" fmla="*/ 234 h 1612"/>
                    <a:gd name="T4" fmla="*/ 467 w 962"/>
                    <a:gd name="T5" fmla="*/ 1342 h 1612"/>
                    <a:gd name="T6" fmla="*/ 962 w 962"/>
                    <a:gd name="T7" fmla="*/ 1612 h 161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62" h="1612">
                      <a:moveTo>
                        <a:pt x="0" y="0"/>
                      </a:moveTo>
                      <a:cubicBezTo>
                        <a:pt x="50" y="40"/>
                        <a:pt x="228" y="10"/>
                        <a:pt x="306" y="234"/>
                      </a:cubicBezTo>
                      <a:cubicBezTo>
                        <a:pt x="384" y="458"/>
                        <a:pt x="358" y="1112"/>
                        <a:pt x="467" y="1342"/>
                      </a:cubicBezTo>
                      <a:cubicBezTo>
                        <a:pt x="576" y="1572"/>
                        <a:pt x="779" y="1601"/>
                        <a:pt x="962" y="1612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000099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2" name="Text Box 71">
                  <a:extLst>
                    <a:ext uri="{FF2B5EF4-FFF2-40B4-BE49-F238E27FC236}">
                      <a16:creationId xmlns:a16="http://schemas.microsoft.com/office/drawing/2014/main" xmlns="" id="{F8DDE4A3-2025-59EF-E875-301A3EF2A2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09866" y="5025385"/>
                  <a:ext cx="771525" cy="3365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ESTAB</a:t>
                  </a:r>
                </a:p>
              </p:txBody>
            </p:sp>
          </p:grpSp>
          <p:sp>
            <p:nvSpPr>
              <p:cNvPr id="79" name="Oval 72">
                <a:extLst>
                  <a:ext uri="{FF2B5EF4-FFF2-40B4-BE49-F238E27FC236}">
                    <a16:creationId xmlns:a16="http://schemas.microsoft.com/office/drawing/2014/main" xmlns="" id="{9E7FAED3-E7D5-03BF-BAE5-E9E4F08D0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3666" y="5152385"/>
                <a:ext cx="90488" cy="88900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76" name="Rectangle 74">
              <a:extLst>
                <a:ext uri="{FF2B5EF4-FFF2-40B4-BE49-F238E27FC236}">
                  <a16:creationId xmlns:a16="http://schemas.microsoft.com/office/drawing/2014/main" xmlns="" id="{C2329DD3-7CC2-F8E4-087A-AD7429772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491" y="4725570"/>
              <a:ext cx="1071563" cy="260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7" name="Text Box 75">
              <a:extLst>
                <a:ext uri="{FF2B5EF4-FFF2-40B4-BE49-F238E27FC236}">
                  <a16:creationId xmlns:a16="http://schemas.microsoft.com/office/drawing/2014/main" xmlns="" id="{B7CB2F21-72A9-BD3A-7A2C-AF65497E8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8441" y="4650731"/>
              <a:ext cx="12731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(x)</a:t>
              </a:r>
            </a:p>
          </p:txBody>
        </p:sp>
      </p:grpSp>
      <p:sp>
        <p:nvSpPr>
          <p:cNvPr id="83" name="Freeform 13">
            <a:extLst>
              <a:ext uri="{FF2B5EF4-FFF2-40B4-BE49-F238E27FC236}">
                <a16:creationId xmlns:a16="http://schemas.microsoft.com/office/drawing/2014/main" xmlns="" id="{0A6CBC6E-37C7-D73F-9261-1E1B67B21807}"/>
              </a:ext>
            </a:extLst>
          </p:cNvPr>
          <p:cNvSpPr/>
          <p:nvPr/>
        </p:nvSpPr>
        <p:spPr>
          <a:xfrm>
            <a:off x="7997371" y="1857830"/>
            <a:ext cx="4194629" cy="3062514"/>
          </a:xfrm>
          <a:custGeom>
            <a:avLst/>
            <a:gdLst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481943 w 3889829"/>
              <a:gd name="connsiteY8" fmla="*/ 2540000 h 3106057"/>
              <a:gd name="connsiteX9" fmla="*/ 1190172 w 3889829"/>
              <a:gd name="connsiteY9" fmla="*/ 2931886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598057 w 3889829"/>
              <a:gd name="connsiteY8" fmla="*/ 2525486 h 3106057"/>
              <a:gd name="connsiteX9" fmla="*/ 1190172 w 3889829"/>
              <a:gd name="connsiteY9" fmla="*/ 2931886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598057 w 3889829"/>
              <a:gd name="connsiteY8" fmla="*/ 2525486 h 3106057"/>
              <a:gd name="connsiteX9" fmla="*/ 2249715 w 3889829"/>
              <a:gd name="connsiteY9" fmla="*/ 2801257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598057 w 3889829"/>
              <a:gd name="connsiteY8" fmla="*/ 2525486 h 3106057"/>
              <a:gd name="connsiteX9" fmla="*/ 2235201 w 3889829"/>
              <a:gd name="connsiteY9" fmla="*/ 2801257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091543"/>
              <a:gd name="connsiteX1" fmla="*/ 1016000 w 3889829"/>
              <a:gd name="connsiteY1" fmla="*/ 29029 h 3091543"/>
              <a:gd name="connsiteX2" fmla="*/ 1611086 w 3889829"/>
              <a:gd name="connsiteY2" fmla="*/ 58057 h 3091543"/>
              <a:gd name="connsiteX3" fmla="*/ 2989943 w 3889829"/>
              <a:gd name="connsiteY3" fmla="*/ 101600 h 3091543"/>
              <a:gd name="connsiteX4" fmla="*/ 3889829 w 3889829"/>
              <a:gd name="connsiteY4" fmla="*/ 87086 h 3091543"/>
              <a:gd name="connsiteX5" fmla="*/ 3860800 w 3889829"/>
              <a:gd name="connsiteY5" fmla="*/ 3091543 h 3091543"/>
              <a:gd name="connsiteX6" fmla="*/ 3468915 w 3889829"/>
              <a:gd name="connsiteY6" fmla="*/ 2540000 h 3091543"/>
              <a:gd name="connsiteX7" fmla="*/ 3265715 w 3889829"/>
              <a:gd name="connsiteY7" fmla="*/ 2510971 h 3091543"/>
              <a:gd name="connsiteX8" fmla="*/ 2598057 w 3889829"/>
              <a:gd name="connsiteY8" fmla="*/ 2525486 h 3091543"/>
              <a:gd name="connsiteX9" fmla="*/ 2235201 w 3889829"/>
              <a:gd name="connsiteY9" fmla="*/ 2801257 h 3091543"/>
              <a:gd name="connsiteX10" fmla="*/ 1088572 w 3889829"/>
              <a:gd name="connsiteY10" fmla="*/ 3033485 h 3091543"/>
              <a:gd name="connsiteX11" fmla="*/ 29029 w 3889829"/>
              <a:gd name="connsiteY11" fmla="*/ 3062514 h 3091543"/>
              <a:gd name="connsiteX12" fmla="*/ 0 w 3889829"/>
              <a:gd name="connsiteY12" fmla="*/ 0 h 3091543"/>
              <a:gd name="connsiteX0" fmla="*/ 0 w 4209143"/>
              <a:gd name="connsiteY0" fmla="*/ 14514 h 3062514"/>
              <a:gd name="connsiteX1" fmla="*/ 1335314 w 4209143"/>
              <a:gd name="connsiteY1" fmla="*/ 0 h 3062514"/>
              <a:gd name="connsiteX2" fmla="*/ 1930400 w 4209143"/>
              <a:gd name="connsiteY2" fmla="*/ 29028 h 3062514"/>
              <a:gd name="connsiteX3" fmla="*/ 3309257 w 4209143"/>
              <a:gd name="connsiteY3" fmla="*/ 72571 h 3062514"/>
              <a:gd name="connsiteX4" fmla="*/ 4209143 w 4209143"/>
              <a:gd name="connsiteY4" fmla="*/ 58057 h 3062514"/>
              <a:gd name="connsiteX5" fmla="*/ 4180114 w 4209143"/>
              <a:gd name="connsiteY5" fmla="*/ 3062514 h 3062514"/>
              <a:gd name="connsiteX6" fmla="*/ 3788229 w 4209143"/>
              <a:gd name="connsiteY6" fmla="*/ 2510971 h 3062514"/>
              <a:gd name="connsiteX7" fmla="*/ 3585029 w 4209143"/>
              <a:gd name="connsiteY7" fmla="*/ 2481942 h 3062514"/>
              <a:gd name="connsiteX8" fmla="*/ 2917371 w 4209143"/>
              <a:gd name="connsiteY8" fmla="*/ 2496457 h 3062514"/>
              <a:gd name="connsiteX9" fmla="*/ 2554515 w 4209143"/>
              <a:gd name="connsiteY9" fmla="*/ 2772228 h 3062514"/>
              <a:gd name="connsiteX10" fmla="*/ 1407886 w 4209143"/>
              <a:gd name="connsiteY10" fmla="*/ 3004456 h 3062514"/>
              <a:gd name="connsiteX11" fmla="*/ 348343 w 4209143"/>
              <a:gd name="connsiteY11" fmla="*/ 3033485 h 3062514"/>
              <a:gd name="connsiteX12" fmla="*/ 0 w 4209143"/>
              <a:gd name="connsiteY12" fmla="*/ 14514 h 3062514"/>
              <a:gd name="connsiteX0" fmla="*/ 0 w 4194629"/>
              <a:gd name="connsiteY0" fmla="*/ 29028 h 3062514"/>
              <a:gd name="connsiteX1" fmla="*/ 1320800 w 4194629"/>
              <a:gd name="connsiteY1" fmla="*/ 0 h 3062514"/>
              <a:gd name="connsiteX2" fmla="*/ 1915886 w 4194629"/>
              <a:gd name="connsiteY2" fmla="*/ 29028 h 3062514"/>
              <a:gd name="connsiteX3" fmla="*/ 3294743 w 4194629"/>
              <a:gd name="connsiteY3" fmla="*/ 72571 h 3062514"/>
              <a:gd name="connsiteX4" fmla="*/ 4194629 w 4194629"/>
              <a:gd name="connsiteY4" fmla="*/ 58057 h 3062514"/>
              <a:gd name="connsiteX5" fmla="*/ 4165600 w 4194629"/>
              <a:gd name="connsiteY5" fmla="*/ 3062514 h 3062514"/>
              <a:gd name="connsiteX6" fmla="*/ 3773715 w 4194629"/>
              <a:gd name="connsiteY6" fmla="*/ 2510971 h 3062514"/>
              <a:gd name="connsiteX7" fmla="*/ 3570515 w 4194629"/>
              <a:gd name="connsiteY7" fmla="*/ 2481942 h 3062514"/>
              <a:gd name="connsiteX8" fmla="*/ 2902857 w 4194629"/>
              <a:gd name="connsiteY8" fmla="*/ 2496457 h 3062514"/>
              <a:gd name="connsiteX9" fmla="*/ 2540001 w 4194629"/>
              <a:gd name="connsiteY9" fmla="*/ 2772228 h 3062514"/>
              <a:gd name="connsiteX10" fmla="*/ 1393372 w 4194629"/>
              <a:gd name="connsiteY10" fmla="*/ 3004456 h 3062514"/>
              <a:gd name="connsiteX11" fmla="*/ 333829 w 4194629"/>
              <a:gd name="connsiteY11" fmla="*/ 3033485 h 3062514"/>
              <a:gd name="connsiteX12" fmla="*/ 0 w 4194629"/>
              <a:gd name="connsiteY12" fmla="*/ 29028 h 3062514"/>
              <a:gd name="connsiteX0" fmla="*/ 0 w 4194629"/>
              <a:gd name="connsiteY0" fmla="*/ 29028 h 3062514"/>
              <a:gd name="connsiteX1" fmla="*/ 1320800 w 4194629"/>
              <a:gd name="connsiteY1" fmla="*/ 0 h 3062514"/>
              <a:gd name="connsiteX2" fmla="*/ 1915886 w 4194629"/>
              <a:gd name="connsiteY2" fmla="*/ 29028 h 3062514"/>
              <a:gd name="connsiteX3" fmla="*/ 3294743 w 4194629"/>
              <a:gd name="connsiteY3" fmla="*/ 72571 h 3062514"/>
              <a:gd name="connsiteX4" fmla="*/ 4194629 w 4194629"/>
              <a:gd name="connsiteY4" fmla="*/ 58057 h 3062514"/>
              <a:gd name="connsiteX5" fmla="*/ 4165600 w 4194629"/>
              <a:gd name="connsiteY5" fmla="*/ 3062514 h 3062514"/>
              <a:gd name="connsiteX6" fmla="*/ 3773715 w 4194629"/>
              <a:gd name="connsiteY6" fmla="*/ 2510971 h 3062514"/>
              <a:gd name="connsiteX7" fmla="*/ 3570515 w 4194629"/>
              <a:gd name="connsiteY7" fmla="*/ 2481942 h 3062514"/>
              <a:gd name="connsiteX8" fmla="*/ 2902857 w 4194629"/>
              <a:gd name="connsiteY8" fmla="*/ 2496457 h 3062514"/>
              <a:gd name="connsiteX9" fmla="*/ 2540001 w 4194629"/>
              <a:gd name="connsiteY9" fmla="*/ 2772228 h 3062514"/>
              <a:gd name="connsiteX10" fmla="*/ 1393372 w 4194629"/>
              <a:gd name="connsiteY10" fmla="*/ 3004456 h 3062514"/>
              <a:gd name="connsiteX11" fmla="*/ 101600 w 4194629"/>
              <a:gd name="connsiteY11" fmla="*/ 3033485 h 3062514"/>
              <a:gd name="connsiteX12" fmla="*/ 0 w 4194629"/>
              <a:gd name="connsiteY12" fmla="*/ 29028 h 3062514"/>
              <a:gd name="connsiteX0" fmla="*/ 0 w 4194629"/>
              <a:gd name="connsiteY0" fmla="*/ 29028 h 3062514"/>
              <a:gd name="connsiteX1" fmla="*/ 1320800 w 4194629"/>
              <a:gd name="connsiteY1" fmla="*/ 0 h 3062514"/>
              <a:gd name="connsiteX2" fmla="*/ 1915886 w 4194629"/>
              <a:gd name="connsiteY2" fmla="*/ 29028 h 3062514"/>
              <a:gd name="connsiteX3" fmla="*/ 3294743 w 4194629"/>
              <a:gd name="connsiteY3" fmla="*/ 72571 h 3062514"/>
              <a:gd name="connsiteX4" fmla="*/ 4194629 w 4194629"/>
              <a:gd name="connsiteY4" fmla="*/ 58057 h 3062514"/>
              <a:gd name="connsiteX5" fmla="*/ 4165600 w 4194629"/>
              <a:gd name="connsiteY5" fmla="*/ 3062514 h 3062514"/>
              <a:gd name="connsiteX6" fmla="*/ 3773715 w 4194629"/>
              <a:gd name="connsiteY6" fmla="*/ 2510971 h 3062514"/>
              <a:gd name="connsiteX7" fmla="*/ 3570515 w 4194629"/>
              <a:gd name="connsiteY7" fmla="*/ 2481942 h 3062514"/>
              <a:gd name="connsiteX8" fmla="*/ 2902857 w 4194629"/>
              <a:gd name="connsiteY8" fmla="*/ 2496457 h 3062514"/>
              <a:gd name="connsiteX9" fmla="*/ 2540001 w 4194629"/>
              <a:gd name="connsiteY9" fmla="*/ 2772228 h 3062514"/>
              <a:gd name="connsiteX10" fmla="*/ 1393372 w 4194629"/>
              <a:gd name="connsiteY10" fmla="*/ 3004456 h 3062514"/>
              <a:gd name="connsiteX11" fmla="*/ 29028 w 4194629"/>
              <a:gd name="connsiteY11" fmla="*/ 3033485 h 3062514"/>
              <a:gd name="connsiteX12" fmla="*/ 0 w 4194629"/>
              <a:gd name="connsiteY12" fmla="*/ 29028 h 3062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194629" h="3062514">
                <a:moveTo>
                  <a:pt x="0" y="29028"/>
                </a:moveTo>
                <a:lnTo>
                  <a:pt x="1320800" y="0"/>
                </a:lnTo>
                <a:lnTo>
                  <a:pt x="1915886" y="29028"/>
                </a:lnTo>
                <a:lnTo>
                  <a:pt x="3294743" y="72571"/>
                </a:lnTo>
                <a:lnTo>
                  <a:pt x="4194629" y="58057"/>
                </a:lnTo>
                <a:lnTo>
                  <a:pt x="4165600" y="3062514"/>
                </a:lnTo>
                <a:lnTo>
                  <a:pt x="3773715" y="2510971"/>
                </a:lnTo>
                <a:lnTo>
                  <a:pt x="3570515" y="2481942"/>
                </a:lnTo>
                <a:lnTo>
                  <a:pt x="2902857" y="2496457"/>
                </a:lnTo>
                <a:lnTo>
                  <a:pt x="2540001" y="2772228"/>
                </a:lnTo>
                <a:lnTo>
                  <a:pt x="1393372" y="3004456"/>
                </a:lnTo>
                <a:lnTo>
                  <a:pt x="29028" y="3033485"/>
                </a:lnTo>
                <a:lnTo>
                  <a:pt x="0" y="29028"/>
                </a:ln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27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501B0B-8B3A-DD96-E7CA-54737122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>
            <a:extLst>
              <a:ext uri="{FF2B5EF4-FFF2-40B4-BE49-F238E27FC236}">
                <a16:creationId xmlns:a16="http://schemas.microsoft.com/office/drawing/2014/main" xmlns="" id="{98739084-357F-EA4F-8F39-1D5C4B59CA10}"/>
              </a:ext>
            </a:extLst>
          </p:cNvPr>
          <p:cNvSpPr txBox="1">
            <a:spLocks/>
          </p:cNvSpPr>
          <p:nvPr/>
        </p:nvSpPr>
        <p:spPr>
          <a:xfrm>
            <a:off x="399345" y="571907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3-way handshake</a:t>
            </a:r>
          </a:p>
        </p:txBody>
      </p:sp>
      <p:sp>
        <p:nvSpPr>
          <p:cNvPr id="76" name="Line 5">
            <a:extLst>
              <a:ext uri="{FF2B5EF4-FFF2-40B4-BE49-F238E27FC236}">
                <a16:creationId xmlns:a16="http://schemas.microsoft.com/office/drawing/2014/main" xmlns="" id="{A7A1BECA-8A57-7347-21BE-FF1EAB4838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6631" y="3204785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77" name="Group 102">
            <a:extLst>
              <a:ext uri="{FF2B5EF4-FFF2-40B4-BE49-F238E27FC236}">
                <a16:creationId xmlns:a16="http://schemas.microsoft.com/office/drawing/2014/main" xmlns="" id="{E155F3D1-F993-613B-BE25-F327F56B7DA6}"/>
              </a:ext>
            </a:extLst>
          </p:cNvPr>
          <p:cNvGrpSpPr>
            <a:grpSpLocks/>
          </p:cNvGrpSpPr>
          <p:nvPr/>
        </p:nvGrpSpPr>
        <p:grpSpPr bwMode="auto">
          <a:xfrm>
            <a:off x="2810669" y="3131760"/>
            <a:ext cx="4494212" cy="955675"/>
            <a:chOff x="810" y="1363"/>
            <a:chExt cx="2831" cy="602"/>
          </a:xfrm>
        </p:grpSpPr>
        <p:sp>
          <p:nvSpPr>
            <p:cNvPr id="78" name="Line 10">
              <a:extLst>
                <a:ext uri="{FF2B5EF4-FFF2-40B4-BE49-F238E27FC236}">
                  <a16:creationId xmlns:a16="http://schemas.microsoft.com/office/drawing/2014/main" xmlns="" id="{BC74AAA4-49CC-5A97-BD6C-3F0F4683F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1502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9" name="Rectangle 12">
              <a:extLst>
                <a:ext uri="{FF2B5EF4-FFF2-40B4-BE49-F238E27FC236}">
                  <a16:creationId xmlns:a16="http://schemas.microsoft.com/office/drawing/2014/main" xmlns="" id="{E5A52933-3A85-0320-914A-B4D7B5499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565"/>
              <a:ext cx="590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0" name="Text Box 13">
              <a:extLst>
                <a:ext uri="{FF2B5EF4-FFF2-40B4-BE49-F238E27FC236}">
                  <a16:creationId xmlns:a16="http://schemas.microsoft.com/office/drawing/2014/main" xmlns="" id="{FB13059D-62F1-3081-D6EA-0573E1053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1624"/>
              <a:ext cx="10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SYNbit=1, Seq=x</a:t>
              </a:r>
            </a:p>
          </p:txBody>
        </p:sp>
        <p:sp>
          <p:nvSpPr>
            <p:cNvPr id="81" name="Text Box 21">
              <a:extLst>
                <a:ext uri="{FF2B5EF4-FFF2-40B4-BE49-F238E27FC236}">
                  <a16:creationId xmlns:a16="http://schemas.microsoft.com/office/drawing/2014/main" xmlns="" id="{7F9167F9-5ACB-F1CD-9BCC-212BE1C59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" y="1363"/>
              <a:ext cx="123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init seq num,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TCP SYN msg</a:t>
              </a:r>
            </a:p>
          </p:txBody>
        </p:sp>
      </p:grpSp>
      <p:sp>
        <p:nvSpPr>
          <p:cNvPr id="82" name="Line 22">
            <a:extLst>
              <a:ext uri="{FF2B5EF4-FFF2-40B4-BE49-F238E27FC236}">
                <a16:creationId xmlns:a16="http://schemas.microsoft.com/office/drawing/2014/main" xmlns="" id="{AE8D0AE7-384A-97D2-F5EC-C98C9E729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844" y="3274635"/>
            <a:ext cx="1587" cy="3417888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3" name="Text Box 92">
            <a:extLst>
              <a:ext uri="{FF2B5EF4-FFF2-40B4-BE49-F238E27FC236}">
                <a16:creationId xmlns:a16="http://schemas.microsoft.com/office/drawing/2014/main" xmlns="" id="{1C5CF882-BE0F-9E95-081A-642612FF6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1831" y="6113085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ESTAB</a:t>
            </a:r>
          </a:p>
        </p:txBody>
      </p:sp>
      <p:grpSp>
        <p:nvGrpSpPr>
          <p:cNvPr id="84" name="Group 109">
            <a:extLst>
              <a:ext uri="{FF2B5EF4-FFF2-40B4-BE49-F238E27FC236}">
                <a16:creationId xmlns:a16="http://schemas.microsoft.com/office/drawing/2014/main" xmlns="" id="{728BD620-BDE9-277F-35C2-23D6D6F27C20}"/>
              </a:ext>
            </a:extLst>
          </p:cNvPr>
          <p:cNvGrpSpPr>
            <a:grpSpLocks/>
          </p:cNvGrpSpPr>
          <p:nvPr/>
        </p:nvGrpSpPr>
        <p:grpSpPr bwMode="auto">
          <a:xfrm>
            <a:off x="4795044" y="3801685"/>
            <a:ext cx="4519612" cy="1425575"/>
            <a:chOff x="2060" y="1785"/>
            <a:chExt cx="2847" cy="898"/>
          </a:xfrm>
        </p:grpSpPr>
        <p:sp>
          <p:nvSpPr>
            <p:cNvPr id="85" name="Line 11">
              <a:extLst>
                <a:ext uri="{FF2B5EF4-FFF2-40B4-BE49-F238E27FC236}">
                  <a16:creationId xmlns:a16="http://schemas.microsoft.com/office/drawing/2014/main" xmlns="" id="{824C5DF0-3C6C-A4B3-5817-D603DCD48B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2031"/>
              <a:ext cx="1580" cy="65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6" name="Rectangle 14">
              <a:extLst>
                <a:ext uri="{FF2B5EF4-FFF2-40B4-BE49-F238E27FC236}">
                  <a16:creationId xmlns:a16="http://schemas.microsoft.com/office/drawing/2014/main" xmlns="" id="{6F502853-A835-1E22-7636-0A3EFF2C3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2206"/>
              <a:ext cx="896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" name="Text Box 83">
              <a:extLst>
                <a:ext uri="{FF2B5EF4-FFF2-40B4-BE49-F238E27FC236}">
                  <a16:creationId xmlns:a16="http://schemas.microsoft.com/office/drawing/2014/main" xmlns="" id="{E23ED17C-49E7-11DE-D204-406ABD15C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" y="2169"/>
              <a:ext cx="153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SYNbit=1, Seq=y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ACKbit=1; ACKnum=x+1</a:t>
              </a:r>
            </a:p>
          </p:txBody>
        </p:sp>
        <p:sp>
          <p:nvSpPr>
            <p:cNvPr id="88" name="Text Box 93">
              <a:extLst>
                <a:ext uri="{FF2B5EF4-FFF2-40B4-BE49-F238E27FC236}">
                  <a16:creationId xmlns:a16="http://schemas.microsoft.com/office/drawing/2014/main" xmlns="" id="{7C1AB129-6928-A6EA-A8A9-C00B1B365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" y="1785"/>
              <a:ext cx="1231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init seq num, y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TCP SYNACK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msg, acking SYN</a:t>
              </a:r>
            </a:p>
          </p:txBody>
        </p:sp>
      </p:grpSp>
      <p:grpSp>
        <p:nvGrpSpPr>
          <p:cNvPr id="89" name="Group 110">
            <a:extLst>
              <a:ext uri="{FF2B5EF4-FFF2-40B4-BE49-F238E27FC236}">
                <a16:creationId xmlns:a16="http://schemas.microsoft.com/office/drawing/2014/main" xmlns="" id="{70C21940-A6C9-D54E-6987-43A6AA795D89}"/>
              </a:ext>
            </a:extLst>
          </p:cNvPr>
          <p:cNvGrpSpPr>
            <a:grpSpLocks/>
          </p:cNvGrpSpPr>
          <p:nvPr/>
        </p:nvGrpSpPr>
        <p:grpSpPr bwMode="auto">
          <a:xfrm>
            <a:off x="2512219" y="4900235"/>
            <a:ext cx="6630987" cy="1373188"/>
            <a:chOff x="622" y="2477"/>
            <a:chExt cx="4177" cy="865"/>
          </a:xfrm>
        </p:grpSpPr>
        <p:sp>
          <p:nvSpPr>
            <p:cNvPr id="90" name="Line 84">
              <a:extLst>
                <a:ext uri="{FF2B5EF4-FFF2-40B4-BE49-F238E27FC236}">
                  <a16:creationId xmlns:a16="http://schemas.microsoft.com/office/drawing/2014/main" xmlns="" id="{E7A65570-1918-456E-A840-FB111354D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" y="2728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1" name="Rectangle 89">
              <a:extLst>
                <a:ext uri="{FF2B5EF4-FFF2-40B4-BE49-F238E27FC236}">
                  <a16:creationId xmlns:a16="http://schemas.microsoft.com/office/drawing/2014/main" xmlns="" id="{D41F7A39-89BE-AE3C-90C1-5EB677E4E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2806"/>
              <a:ext cx="775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" name="Text Box 90">
              <a:extLst>
                <a:ext uri="{FF2B5EF4-FFF2-40B4-BE49-F238E27FC236}">
                  <a16:creationId xmlns:a16="http://schemas.microsoft.com/office/drawing/2014/main" xmlns="" id="{9FC4B63A-D23F-5BA8-2B25-EB4AC3873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2852"/>
              <a:ext cx="15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ACKbit=1, ACKnum=y+1</a:t>
              </a:r>
            </a:p>
          </p:txBody>
        </p:sp>
        <p:sp>
          <p:nvSpPr>
            <p:cNvPr id="93" name="Text Box 94">
              <a:extLst>
                <a:ext uri="{FF2B5EF4-FFF2-40B4-BE49-F238E27FC236}">
                  <a16:creationId xmlns:a16="http://schemas.microsoft.com/office/drawing/2014/main" xmlns="" id="{5EB5BA00-10DB-7968-FD85-4F92E0D8C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" y="2477"/>
              <a:ext cx="1422" cy="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received SYNACK(x) 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indicates server is live;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ACK for SYNACK;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this segment may contain 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client-to-server data</a:t>
              </a:r>
            </a:p>
          </p:txBody>
        </p:sp>
        <p:sp>
          <p:nvSpPr>
            <p:cNvPr id="94" name="Text Box 95">
              <a:extLst>
                <a:ext uri="{FF2B5EF4-FFF2-40B4-BE49-F238E27FC236}">
                  <a16:creationId xmlns:a16="http://schemas.microsoft.com/office/drawing/2014/main" xmlns="" id="{2F8FDB0C-4EFD-E053-D901-5B43BAAD5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" y="3042"/>
              <a:ext cx="1159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received ACK(y)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indicates client is live</a:t>
              </a:r>
            </a:p>
          </p:txBody>
        </p:sp>
      </p:grpSp>
      <p:grpSp>
        <p:nvGrpSpPr>
          <p:cNvPr id="95" name="Group 105">
            <a:extLst>
              <a:ext uri="{FF2B5EF4-FFF2-40B4-BE49-F238E27FC236}">
                <a16:creationId xmlns:a16="http://schemas.microsoft.com/office/drawing/2014/main" xmlns="" id="{93859B3E-8B6E-E794-FFBD-73A630B4A7CC}"/>
              </a:ext>
            </a:extLst>
          </p:cNvPr>
          <p:cNvGrpSpPr>
            <a:grpSpLocks/>
          </p:cNvGrpSpPr>
          <p:nvPr/>
        </p:nvGrpSpPr>
        <p:grpSpPr bwMode="auto">
          <a:xfrm>
            <a:off x="1813719" y="3169860"/>
            <a:ext cx="1030287" cy="700088"/>
            <a:chOff x="182" y="1387"/>
            <a:chExt cx="649" cy="441"/>
          </a:xfrm>
        </p:grpSpPr>
        <p:sp>
          <p:nvSpPr>
            <p:cNvPr id="96" name="Text Box 91">
              <a:extLst>
                <a:ext uri="{FF2B5EF4-FFF2-40B4-BE49-F238E27FC236}">
                  <a16:creationId xmlns:a16="http://schemas.microsoft.com/office/drawing/2014/main" xmlns="" id="{B8BC3190-0D81-6074-AC00-9AECA0542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1616"/>
              <a:ext cx="6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SYNSENT</a:t>
              </a:r>
            </a:p>
          </p:txBody>
        </p:sp>
        <p:sp>
          <p:nvSpPr>
            <p:cNvPr id="97" name="Line 103">
              <a:extLst>
                <a:ext uri="{FF2B5EF4-FFF2-40B4-BE49-F238E27FC236}">
                  <a16:creationId xmlns:a16="http://schemas.microsoft.com/office/drawing/2014/main" xmlns="" id="{B6A24247-CAE9-00D4-F8D1-E0ADC98E0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" y="1387"/>
              <a:ext cx="0" cy="2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8" name="Group 111">
            <a:extLst>
              <a:ext uri="{FF2B5EF4-FFF2-40B4-BE49-F238E27FC236}">
                <a16:creationId xmlns:a16="http://schemas.microsoft.com/office/drawing/2014/main" xmlns="" id="{B7C2DCE3-F55B-F7FD-093B-31CA8C7A759B}"/>
              </a:ext>
            </a:extLst>
          </p:cNvPr>
          <p:cNvGrpSpPr>
            <a:grpSpLocks/>
          </p:cNvGrpSpPr>
          <p:nvPr/>
        </p:nvGrpSpPr>
        <p:grpSpPr bwMode="auto">
          <a:xfrm>
            <a:off x="1815306" y="3830260"/>
            <a:ext cx="771525" cy="1622425"/>
            <a:chOff x="183" y="1803"/>
            <a:chExt cx="486" cy="1022"/>
          </a:xfrm>
        </p:grpSpPr>
        <p:sp>
          <p:nvSpPr>
            <p:cNvPr id="99" name="Text Box 16">
              <a:extLst>
                <a:ext uri="{FF2B5EF4-FFF2-40B4-BE49-F238E27FC236}">
                  <a16:creationId xmlns:a16="http://schemas.microsoft.com/office/drawing/2014/main" xmlns="" id="{37710133-D4F3-53CC-AEEA-50F4FE5D0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" y="2613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100" name="Line 104">
              <a:extLst>
                <a:ext uri="{FF2B5EF4-FFF2-40B4-BE49-F238E27FC236}">
                  <a16:creationId xmlns:a16="http://schemas.microsoft.com/office/drawing/2014/main" xmlns="" id="{A059C134-DF6F-F234-A5B6-BA5CC2B30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" y="1803"/>
              <a:ext cx="0" cy="7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1" name="Group 108">
            <a:extLst>
              <a:ext uri="{FF2B5EF4-FFF2-40B4-BE49-F238E27FC236}">
                <a16:creationId xmlns:a16="http://schemas.microsoft.com/office/drawing/2014/main" xmlns="" id="{270D2BAF-B7FD-5515-D8EF-F037A2890148}"/>
              </a:ext>
            </a:extLst>
          </p:cNvPr>
          <p:cNvGrpSpPr>
            <a:grpSpLocks/>
          </p:cNvGrpSpPr>
          <p:nvPr/>
        </p:nvGrpSpPr>
        <p:grpSpPr bwMode="auto">
          <a:xfrm>
            <a:off x="9268619" y="3225423"/>
            <a:ext cx="1119187" cy="1192212"/>
            <a:chOff x="4878" y="1422"/>
            <a:chExt cx="705" cy="751"/>
          </a:xfrm>
        </p:grpSpPr>
        <p:sp>
          <p:nvSpPr>
            <p:cNvPr id="102" name="Text Box 99">
              <a:extLst>
                <a:ext uri="{FF2B5EF4-FFF2-40B4-BE49-F238E27FC236}">
                  <a16:creationId xmlns:a16="http://schemas.microsoft.com/office/drawing/2014/main" xmlns="" id="{8F445C5E-C1CA-E7F4-0EEB-5BD30D690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8" y="1961"/>
              <a:ext cx="7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 RCVD</a:t>
              </a:r>
            </a:p>
          </p:txBody>
        </p:sp>
        <p:sp>
          <p:nvSpPr>
            <p:cNvPr id="103" name="Line 106">
              <a:extLst>
                <a:ext uri="{FF2B5EF4-FFF2-40B4-BE49-F238E27FC236}">
                  <a16:creationId xmlns:a16="http://schemas.microsoft.com/office/drawing/2014/main" xmlns="" id="{802D5998-872A-D792-6DEC-DECDCC143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9" y="1422"/>
              <a:ext cx="0" cy="5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4" name="Line 107">
            <a:extLst>
              <a:ext uri="{FF2B5EF4-FFF2-40B4-BE49-F238E27FC236}">
                <a16:creationId xmlns:a16="http://schemas.microsoft.com/office/drawing/2014/main" xmlns="" id="{6B57E78F-FEEE-725B-DE63-1E2C99E43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82994" y="4427160"/>
            <a:ext cx="0" cy="1704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5" name="Text Box 114">
            <a:extLst>
              <a:ext uri="{FF2B5EF4-FFF2-40B4-BE49-F238E27FC236}">
                <a16:creationId xmlns:a16="http://schemas.microsoft.com/office/drawing/2014/main" xmlns="" id="{131CB9DF-E427-2958-4A6B-8A0751E7B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197" y="1801872"/>
            <a:ext cx="183903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C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lient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 state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6" name="Text Box 115">
            <a:extLst>
              <a:ext uri="{FF2B5EF4-FFF2-40B4-BE49-F238E27FC236}">
                <a16:creationId xmlns:a16="http://schemas.microsoft.com/office/drawing/2014/main" xmlns="" id="{75B36768-7C0F-28B6-DDD0-075658152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368" y="2515746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sp>
        <p:nvSpPr>
          <p:cNvPr id="107" name="Text Box 116">
            <a:extLst>
              <a:ext uri="{FF2B5EF4-FFF2-40B4-BE49-F238E27FC236}">
                <a16:creationId xmlns:a16="http://schemas.microsoft.com/office/drawing/2014/main" xmlns="" id="{E49A27C9-4BE4-B209-E408-74F66B98B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645" y="1208082"/>
            <a:ext cx="1930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S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erver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 state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8" name="Text Box 117">
            <a:extLst>
              <a:ext uri="{FF2B5EF4-FFF2-40B4-BE49-F238E27FC236}">
                <a16:creationId xmlns:a16="http://schemas.microsoft.com/office/drawing/2014/main" xmlns="" id="{6A423A62-638C-397B-D3EC-B37EAC729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1504" y="2758634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grpSp>
        <p:nvGrpSpPr>
          <p:cNvPr id="109" name="Group 118">
            <a:extLst>
              <a:ext uri="{FF2B5EF4-FFF2-40B4-BE49-F238E27FC236}">
                <a16:creationId xmlns:a16="http://schemas.microsoft.com/office/drawing/2014/main" xmlns="" id="{3FAF1F27-F037-F32B-C10F-4405C1DE2C2E}"/>
              </a:ext>
            </a:extLst>
          </p:cNvPr>
          <p:cNvGrpSpPr>
            <a:grpSpLocks/>
          </p:cNvGrpSpPr>
          <p:nvPr/>
        </p:nvGrpSpPr>
        <p:grpSpPr bwMode="auto">
          <a:xfrm>
            <a:off x="4464473" y="2618933"/>
            <a:ext cx="642937" cy="600075"/>
            <a:chOff x="-44" y="1473"/>
            <a:chExt cx="981" cy="1105"/>
          </a:xfrm>
        </p:grpSpPr>
        <p:pic>
          <p:nvPicPr>
            <p:cNvPr id="110" name="Picture 119" descr="desktop_computer_stylized_medium">
              <a:extLst>
                <a:ext uri="{FF2B5EF4-FFF2-40B4-BE49-F238E27FC236}">
                  <a16:creationId xmlns:a16="http://schemas.microsoft.com/office/drawing/2014/main" xmlns="" id="{93414094-1AE9-F9AC-E0F6-F98F30873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" name="Freeform 120">
              <a:extLst>
                <a:ext uri="{FF2B5EF4-FFF2-40B4-BE49-F238E27FC236}">
                  <a16:creationId xmlns:a16="http://schemas.microsoft.com/office/drawing/2014/main" xmlns="" id="{0CFF9658-D52F-25ED-5CBB-9CE39AF4DF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2" name="Group 121">
            <a:extLst>
              <a:ext uri="{FF2B5EF4-FFF2-40B4-BE49-F238E27FC236}">
                <a16:creationId xmlns:a16="http://schemas.microsoft.com/office/drawing/2014/main" xmlns="" id="{78C13E95-09D9-9D8E-D003-6EB9FD1304B6}"/>
              </a:ext>
            </a:extLst>
          </p:cNvPr>
          <p:cNvGrpSpPr>
            <a:grpSpLocks/>
          </p:cNvGrpSpPr>
          <p:nvPr/>
        </p:nvGrpSpPr>
        <p:grpSpPr bwMode="auto">
          <a:xfrm>
            <a:off x="7221809" y="2706245"/>
            <a:ext cx="336550" cy="512763"/>
            <a:chOff x="4140" y="429"/>
            <a:chExt cx="1425" cy="2396"/>
          </a:xfrm>
        </p:grpSpPr>
        <p:sp>
          <p:nvSpPr>
            <p:cNvPr id="113" name="Freeform 122">
              <a:extLst>
                <a:ext uri="{FF2B5EF4-FFF2-40B4-BE49-F238E27FC236}">
                  <a16:creationId xmlns:a16="http://schemas.microsoft.com/office/drawing/2014/main" xmlns="" id="{5D4C435E-CB47-E75D-8D05-2FEA08C4C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4" name="Rectangle 123">
              <a:extLst>
                <a:ext uri="{FF2B5EF4-FFF2-40B4-BE49-F238E27FC236}">
                  <a16:creationId xmlns:a16="http://schemas.microsoft.com/office/drawing/2014/main" xmlns="" id="{75242D3F-3514-0AEF-20AA-80DE654A8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5" name="Freeform 124">
              <a:extLst>
                <a:ext uri="{FF2B5EF4-FFF2-40B4-BE49-F238E27FC236}">
                  <a16:creationId xmlns:a16="http://schemas.microsoft.com/office/drawing/2014/main" xmlns="" id="{7080A0F8-4647-274D-0394-9A296884B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6" name="Freeform 125">
              <a:extLst>
                <a:ext uri="{FF2B5EF4-FFF2-40B4-BE49-F238E27FC236}">
                  <a16:creationId xmlns:a16="http://schemas.microsoft.com/office/drawing/2014/main" xmlns="" id="{4043D968-2291-90FB-4625-0B2601181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7" name="Rectangle 126">
              <a:extLst>
                <a:ext uri="{FF2B5EF4-FFF2-40B4-BE49-F238E27FC236}">
                  <a16:creationId xmlns:a16="http://schemas.microsoft.com/office/drawing/2014/main" xmlns="" id="{D946670C-1F20-D89F-68AC-10519F69B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18" name="Group 127">
              <a:extLst>
                <a:ext uri="{FF2B5EF4-FFF2-40B4-BE49-F238E27FC236}">
                  <a16:creationId xmlns:a16="http://schemas.microsoft.com/office/drawing/2014/main" xmlns="" id="{D3360174-9337-A509-0A92-EAFA99789E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3" name="AutoShape 128">
                <a:extLst>
                  <a:ext uri="{FF2B5EF4-FFF2-40B4-BE49-F238E27FC236}">
                    <a16:creationId xmlns:a16="http://schemas.microsoft.com/office/drawing/2014/main" xmlns="" id="{6BA12811-F0BA-03A8-8AF4-F2B4063D3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4" name="AutoShape 129">
                <a:extLst>
                  <a:ext uri="{FF2B5EF4-FFF2-40B4-BE49-F238E27FC236}">
                    <a16:creationId xmlns:a16="http://schemas.microsoft.com/office/drawing/2014/main" xmlns="" id="{7B2C350A-F493-04BD-10A6-91F94AC7A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19" name="Rectangle 130">
              <a:extLst>
                <a:ext uri="{FF2B5EF4-FFF2-40B4-BE49-F238E27FC236}">
                  <a16:creationId xmlns:a16="http://schemas.microsoft.com/office/drawing/2014/main" xmlns="" id="{013A620B-321E-DF59-41B6-FBB54BD03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20" name="Group 131">
              <a:extLst>
                <a:ext uri="{FF2B5EF4-FFF2-40B4-BE49-F238E27FC236}">
                  <a16:creationId xmlns:a16="http://schemas.microsoft.com/office/drawing/2014/main" xmlns="" id="{710CEF81-5CDD-1B44-6BF9-C20B8060A9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1" name="AutoShape 132">
                <a:extLst>
                  <a:ext uri="{FF2B5EF4-FFF2-40B4-BE49-F238E27FC236}">
                    <a16:creationId xmlns:a16="http://schemas.microsoft.com/office/drawing/2014/main" xmlns="" id="{6A643CE2-0EB7-922D-C438-81E787DE9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2" name="AutoShape 133">
                <a:extLst>
                  <a:ext uri="{FF2B5EF4-FFF2-40B4-BE49-F238E27FC236}">
                    <a16:creationId xmlns:a16="http://schemas.microsoft.com/office/drawing/2014/main" xmlns="" id="{177A7D3A-2816-06CD-525C-B8027928A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21" name="Rectangle 134">
              <a:extLst>
                <a:ext uri="{FF2B5EF4-FFF2-40B4-BE49-F238E27FC236}">
                  <a16:creationId xmlns:a16="http://schemas.microsoft.com/office/drawing/2014/main" xmlns="" id="{8C493667-E3F8-154E-5E6B-789375D7E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135">
              <a:extLst>
                <a:ext uri="{FF2B5EF4-FFF2-40B4-BE49-F238E27FC236}">
                  <a16:creationId xmlns:a16="http://schemas.microsoft.com/office/drawing/2014/main" xmlns="" id="{E33F348E-3B89-2C6E-9331-F01D0D8F1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23" name="Group 136">
              <a:extLst>
                <a:ext uri="{FF2B5EF4-FFF2-40B4-BE49-F238E27FC236}">
                  <a16:creationId xmlns:a16="http://schemas.microsoft.com/office/drawing/2014/main" xmlns="" id="{E58DD4DE-386F-29D7-0DA2-60EFBE4D3E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9" name="AutoShape 137">
                <a:extLst>
                  <a:ext uri="{FF2B5EF4-FFF2-40B4-BE49-F238E27FC236}">
                    <a16:creationId xmlns:a16="http://schemas.microsoft.com/office/drawing/2014/main" xmlns="" id="{51F46207-B5F2-9E4D-F6C6-07EE32F8C7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0" name="AutoShape 138">
                <a:extLst>
                  <a:ext uri="{FF2B5EF4-FFF2-40B4-BE49-F238E27FC236}">
                    <a16:creationId xmlns:a16="http://schemas.microsoft.com/office/drawing/2014/main" xmlns="" id="{A98C88A0-2445-A504-495C-CAF564AE7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24" name="Freeform 139">
              <a:extLst>
                <a:ext uri="{FF2B5EF4-FFF2-40B4-BE49-F238E27FC236}">
                  <a16:creationId xmlns:a16="http://schemas.microsoft.com/office/drawing/2014/main" xmlns="" id="{C6C667A5-3055-A8CF-FC9F-01A3D3C7D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5" name="Group 140">
              <a:extLst>
                <a:ext uri="{FF2B5EF4-FFF2-40B4-BE49-F238E27FC236}">
                  <a16:creationId xmlns:a16="http://schemas.microsoft.com/office/drawing/2014/main" xmlns="" id="{47680306-CE7B-EFB3-1896-B9B0DADA96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7" name="AutoShape 141">
                <a:extLst>
                  <a:ext uri="{FF2B5EF4-FFF2-40B4-BE49-F238E27FC236}">
                    <a16:creationId xmlns:a16="http://schemas.microsoft.com/office/drawing/2014/main" xmlns="" id="{6A650FC0-7F6A-203E-CA0D-BD8E1F90C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38" name="AutoShape 142">
                <a:extLst>
                  <a:ext uri="{FF2B5EF4-FFF2-40B4-BE49-F238E27FC236}">
                    <a16:creationId xmlns:a16="http://schemas.microsoft.com/office/drawing/2014/main" xmlns="" id="{FA7D42EE-E07C-A592-6F2A-6942283AE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26" name="Rectangle 143">
              <a:extLst>
                <a:ext uri="{FF2B5EF4-FFF2-40B4-BE49-F238E27FC236}">
                  <a16:creationId xmlns:a16="http://schemas.microsoft.com/office/drawing/2014/main" xmlns="" id="{853755AD-ADEF-A963-24B3-0DACBD7F7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Freeform 144">
              <a:extLst>
                <a:ext uri="{FF2B5EF4-FFF2-40B4-BE49-F238E27FC236}">
                  <a16:creationId xmlns:a16="http://schemas.microsoft.com/office/drawing/2014/main" xmlns="" id="{8360AC60-98FD-1C7B-BB2B-091E6521C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Freeform 145">
              <a:extLst>
                <a:ext uri="{FF2B5EF4-FFF2-40B4-BE49-F238E27FC236}">
                  <a16:creationId xmlns:a16="http://schemas.microsoft.com/office/drawing/2014/main" xmlns="" id="{F4809240-50FB-6496-8047-35732FA5D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9" name="Oval 146">
              <a:extLst>
                <a:ext uri="{FF2B5EF4-FFF2-40B4-BE49-F238E27FC236}">
                  <a16:creationId xmlns:a16="http://schemas.microsoft.com/office/drawing/2014/main" xmlns="" id="{FD4A1647-4DCB-045D-D5C1-9EE5464DC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Freeform 147">
              <a:extLst>
                <a:ext uri="{FF2B5EF4-FFF2-40B4-BE49-F238E27FC236}">
                  <a16:creationId xmlns:a16="http://schemas.microsoft.com/office/drawing/2014/main" xmlns="" id="{F1E0C2A1-1817-1713-973E-99FCE465B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AutoShape 148">
              <a:extLst>
                <a:ext uri="{FF2B5EF4-FFF2-40B4-BE49-F238E27FC236}">
                  <a16:creationId xmlns:a16="http://schemas.microsoft.com/office/drawing/2014/main" xmlns="" id="{FE89EE72-9524-2BD3-3432-528A8E424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AutoShape 149">
              <a:extLst>
                <a:ext uri="{FF2B5EF4-FFF2-40B4-BE49-F238E27FC236}">
                  <a16:creationId xmlns:a16="http://schemas.microsoft.com/office/drawing/2014/main" xmlns="" id="{7A3D9DBC-1F6A-6C8F-AE21-A15A866A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150">
              <a:extLst>
                <a:ext uri="{FF2B5EF4-FFF2-40B4-BE49-F238E27FC236}">
                  <a16:creationId xmlns:a16="http://schemas.microsoft.com/office/drawing/2014/main" xmlns="" id="{33ECFF96-CBA5-FC4B-721D-C86650942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Oval 151">
              <a:extLst>
                <a:ext uri="{FF2B5EF4-FFF2-40B4-BE49-F238E27FC236}">
                  <a16:creationId xmlns:a16="http://schemas.microsoft.com/office/drawing/2014/main" xmlns="" id="{1085880F-4925-28B7-F288-DA5DF88F4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5" name="Oval 152">
              <a:extLst>
                <a:ext uri="{FF2B5EF4-FFF2-40B4-BE49-F238E27FC236}">
                  <a16:creationId xmlns:a16="http://schemas.microsoft.com/office/drawing/2014/main" xmlns="" id="{41449DF6-82F8-1A2B-3CC9-E85F0CF4B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153">
              <a:extLst>
                <a:ext uri="{FF2B5EF4-FFF2-40B4-BE49-F238E27FC236}">
                  <a16:creationId xmlns:a16="http://schemas.microsoft.com/office/drawing/2014/main" xmlns="" id="{FC2EB247-59FC-9013-F7BB-B1988AFCD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45" name="Text Box 13">
            <a:extLst>
              <a:ext uri="{FF2B5EF4-FFF2-40B4-BE49-F238E27FC236}">
                <a16:creationId xmlns:a16="http://schemas.microsoft.com/office/drawing/2014/main" xmlns="" id="{446268DE-9E78-8A5A-B2DA-93C1B064A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62" y="2307142"/>
            <a:ext cx="4209864" cy="261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clientSocket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socket(AF_INET, SOCK_STREAM)</a:t>
            </a:r>
          </a:p>
        </p:txBody>
      </p:sp>
      <p:sp>
        <p:nvSpPr>
          <p:cNvPr id="146" name="Text Box 5">
            <a:extLst>
              <a:ext uri="{FF2B5EF4-FFF2-40B4-BE49-F238E27FC236}">
                <a16:creationId xmlns:a16="http://schemas.microsoft.com/office/drawing/2014/main" xmlns="" id="{83CCFF2B-B5D6-8C2D-77B5-ABDEFD309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898" y="1777296"/>
            <a:ext cx="4461478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serverSocket.bind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((‘’,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serverPort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serverSocket.listen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connectionSocket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addr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serverSocket.accept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Text Box 13">
            <a:extLst>
              <a:ext uri="{FF2B5EF4-FFF2-40B4-BE49-F238E27FC236}">
                <a16:creationId xmlns:a16="http://schemas.microsoft.com/office/drawing/2014/main" xmlns="" id="{9122FB1C-4990-6815-56C0-5A1B4E837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3" y="2820956"/>
            <a:ext cx="4433244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clientSocket.connect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((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serverName,serverPort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46864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14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091B7F-C832-548F-EC43-142D004E0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18FDE2-6F29-E69F-F454-7101D2FB9C3B}"/>
              </a:ext>
            </a:extLst>
          </p:cNvPr>
          <p:cNvSpPr txBox="1">
            <a:spLocks/>
          </p:cNvSpPr>
          <p:nvPr/>
        </p:nvSpPr>
        <p:spPr>
          <a:xfrm>
            <a:off x="458023" y="527252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TCP 3-way handshake</a:t>
            </a:r>
          </a:p>
        </p:txBody>
      </p:sp>
      <p:pic>
        <p:nvPicPr>
          <p:cNvPr id="3" name="Picture 2" descr="A pile of snow&#10;&#10;Description automatically generated">
            <a:extLst>
              <a:ext uri="{FF2B5EF4-FFF2-40B4-BE49-F238E27FC236}">
                <a16:creationId xmlns:a16="http://schemas.microsoft.com/office/drawing/2014/main" xmlns="" id="{1AC8667E-9049-2440-C764-750CE6D68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59" y="1462754"/>
            <a:ext cx="7582932" cy="49648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A3A22EC0-3BC9-99B3-22A9-89F871C11A25}"/>
              </a:ext>
            </a:extLst>
          </p:cNvPr>
          <p:cNvGrpSpPr/>
          <p:nvPr/>
        </p:nvGrpSpPr>
        <p:grpSpPr>
          <a:xfrm>
            <a:off x="6866574" y="1490650"/>
            <a:ext cx="1730667" cy="612648"/>
            <a:chOff x="6538586" y="2065751"/>
            <a:chExt cx="1730667" cy="612648"/>
          </a:xfrm>
        </p:grpSpPr>
        <p:sp>
          <p:nvSpPr>
            <p:cNvPr id="5" name="Rounded Rectangular Callout 4">
              <a:extLst>
                <a:ext uri="{FF2B5EF4-FFF2-40B4-BE49-F238E27FC236}">
                  <a16:creationId xmlns:a16="http://schemas.microsoft.com/office/drawing/2014/main" xmlns="" id="{C2C717FB-89C8-DCDC-90DD-C4C799EF82B8}"/>
                </a:ext>
              </a:extLst>
            </p:cNvPr>
            <p:cNvSpPr/>
            <p:nvPr/>
          </p:nvSpPr>
          <p:spPr>
            <a:xfrm>
              <a:off x="6551111" y="2065751"/>
              <a:ext cx="1672748" cy="612648"/>
            </a:xfrm>
            <a:prstGeom prst="wedgeRoundRectCallout">
              <a:avLst>
                <a:gd name="adj1" fmla="val 54830"/>
                <a:gd name="adj2" fmla="val 429311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B1E80853-0094-55E7-4778-11B9AEFA39E9}"/>
                </a:ext>
              </a:extLst>
            </p:cNvPr>
            <p:cNvSpPr txBox="1"/>
            <p:nvPr/>
          </p:nvSpPr>
          <p:spPr>
            <a:xfrm>
              <a:off x="6538586" y="2153433"/>
              <a:ext cx="17306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1. On belay?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5D7FA978-FDF5-051A-B6F2-29D19595066E}"/>
              </a:ext>
            </a:extLst>
          </p:cNvPr>
          <p:cNvGrpSpPr/>
          <p:nvPr/>
        </p:nvGrpSpPr>
        <p:grpSpPr>
          <a:xfrm>
            <a:off x="6142153" y="2705675"/>
            <a:ext cx="1672748" cy="612648"/>
            <a:chOff x="5814165" y="3280776"/>
            <a:chExt cx="1672748" cy="612648"/>
          </a:xfrm>
        </p:grpSpPr>
        <p:sp>
          <p:nvSpPr>
            <p:cNvPr id="8" name="Rounded Rectangular Callout 77">
              <a:extLst>
                <a:ext uri="{FF2B5EF4-FFF2-40B4-BE49-F238E27FC236}">
                  <a16:creationId xmlns:a16="http://schemas.microsoft.com/office/drawing/2014/main" xmlns="" id="{3CE39B21-53E6-EB94-CFCF-1E3A8C9B0974}"/>
                </a:ext>
              </a:extLst>
            </p:cNvPr>
            <p:cNvSpPr/>
            <p:nvPr/>
          </p:nvSpPr>
          <p:spPr>
            <a:xfrm>
              <a:off x="5814165" y="3280776"/>
              <a:ext cx="1672748" cy="612648"/>
            </a:xfrm>
            <a:prstGeom prst="wedgeRoundRectCallout">
              <a:avLst>
                <a:gd name="adj1" fmla="val -120395"/>
                <a:gd name="adj2" fmla="val -120679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8D61BB87-09AE-6080-122E-752F55806CC8}"/>
                </a:ext>
              </a:extLst>
            </p:cNvPr>
            <p:cNvSpPr txBox="1"/>
            <p:nvPr/>
          </p:nvSpPr>
          <p:spPr>
            <a:xfrm>
              <a:off x="5826690" y="3332968"/>
              <a:ext cx="16280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2. Belay on.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B00EC83-9473-5F4F-C147-17093799D3A3}"/>
              </a:ext>
            </a:extLst>
          </p:cNvPr>
          <p:cNvGrpSpPr/>
          <p:nvPr/>
        </p:nvGrpSpPr>
        <p:grpSpPr>
          <a:xfrm>
            <a:off x="8649445" y="3071018"/>
            <a:ext cx="1695712" cy="612648"/>
            <a:chOff x="8321457" y="3646119"/>
            <a:chExt cx="1695712" cy="612648"/>
          </a:xfrm>
        </p:grpSpPr>
        <p:sp>
          <p:nvSpPr>
            <p:cNvPr id="11" name="Rounded Rectangular Callout 79">
              <a:extLst>
                <a:ext uri="{FF2B5EF4-FFF2-40B4-BE49-F238E27FC236}">
                  <a16:creationId xmlns:a16="http://schemas.microsoft.com/office/drawing/2014/main" xmlns="" id="{82AF1D9C-6150-A4E6-856C-0337A77C5A20}"/>
                </a:ext>
              </a:extLst>
            </p:cNvPr>
            <p:cNvSpPr/>
            <p:nvPr/>
          </p:nvSpPr>
          <p:spPr>
            <a:xfrm>
              <a:off x="8344421" y="3646119"/>
              <a:ext cx="1672748" cy="612648"/>
            </a:xfrm>
            <a:prstGeom prst="wedgeRoundRectCallout">
              <a:avLst>
                <a:gd name="adj1" fmla="val -44764"/>
                <a:gd name="adj2" fmla="val 169650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9D01CC38-1CAD-EA6D-0521-949D3FE51D6E}"/>
                </a:ext>
              </a:extLst>
            </p:cNvPr>
            <p:cNvSpPr txBox="1"/>
            <p:nvPr/>
          </p:nvSpPr>
          <p:spPr>
            <a:xfrm>
              <a:off x="8321457" y="3710836"/>
              <a:ext cx="16514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 Climbing.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363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FB2F11-C3CE-E48C-AA3A-7FD196661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2B05C8-E0E1-A9F2-FB50-BF7518F33B29}"/>
              </a:ext>
            </a:extLst>
          </p:cNvPr>
          <p:cNvSpPr txBox="1">
            <a:spLocks/>
          </p:cNvSpPr>
          <p:nvPr/>
        </p:nvSpPr>
        <p:spPr>
          <a:xfrm>
            <a:off x="399345" y="546641"/>
            <a:ext cx="11393310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Closing a TCP connection</a:t>
            </a: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xmlns="" id="{822BDEA5-BE3D-C032-688E-AB00C8F8847A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441263"/>
            <a:ext cx="9698318" cy="4186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client, server each close their side of connection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TCP segment with FIN bit = 1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respond to received FIN with ACK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receiving FIN, ACK can be combined with own FIN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simultaneous FIN exchanges can be handled</a:t>
            </a:r>
          </a:p>
        </p:txBody>
      </p:sp>
    </p:spTree>
    <p:extLst>
      <p:ext uri="{BB962C8B-B14F-4D97-AF65-F5344CB8AC3E}">
        <p14:creationId xmlns:p14="http://schemas.microsoft.com/office/powerpoint/2010/main" val="36803527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06A385-C091-129C-B47C-941E669D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FB4759-6DAF-C7C8-BBF6-CE754F27A3ED}"/>
              </a:ext>
            </a:extLst>
          </p:cNvPr>
          <p:cNvSpPr txBox="1">
            <a:spLocks/>
          </p:cNvSpPr>
          <p:nvPr/>
        </p:nvSpPr>
        <p:spPr>
          <a:xfrm>
            <a:off x="328204" y="512486"/>
            <a:ext cx="10323197" cy="89462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4000" b="1" spc="5" dirty="0">
                <a:latin typeface="Arial"/>
                <a:cs typeface="Arial"/>
              </a:rPr>
              <a:t>TCP: closing </a:t>
            </a:r>
            <a:r>
              <a:rPr lang="en-IN" sz="4000" b="1" spc="10" dirty="0">
                <a:latin typeface="Arial"/>
                <a:cs typeface="Arial"/>
              </a:rPr>
              <a:t>a</a:t>
            </a:r>
            <a:r>
              <a:rPr lang="en-IN" sz="4000" b="1" spc="-30" dirty="0">
                <a:latin typeface="Arial"/>
                <a:cs typeface="Arial"/>
              </a:rPr>
              <a:t> </a:t>
            </a:r>
            <a:r>
              <a:rPr lang="en-IN" sz="4000" b="1" spc="5" dirty="0">
                <a:latin typeface="Arial"/>
                <a:cs typeface="Arial"/>
              </a:rPr>
              <a:t>connection</a:t>
            </a:r>
            <a:endParaRPr lang="en-IN" sz="4000" b="1" dirty="0">
              <a:latin typeface="Arial"/>
              <a:cs typeface="Arial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xmlns="" id="{6112D892-9DF9-B869-6256-018B705646BA}"/>
              </a:ext>
            </a:extLst>
          </p:cNvPr>
          <p:cNvGrpSpPr/>
          <p:nvPr/>
        </p:nvGrpSpPr>
        <p:grpSpPr>
          <a:xfrm>
            <a:off x="3056333" y="2579875"/>
            <a:ext cx="1952625" cy="2971165"/>
            <a:chOff x="3742130" y="1556144"/>
            <a:chExt cx="1952625" cy="2971165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xmlns="" id="{6B43F13E-7679-29E9-BA46-CEFD6456CCBD}"/>
                </a:ext>
              </a:extLst>
            </p:cNvPr>
            <p:cNvSpPr/>
            <p:nvPr/>
          </p:nvSpPr>
          <p:spPr>
            <a:xfrm>
              <a:off x="3746892" y="1560906"/>
              <a:ext cx="1943100" cy="2961640"/>
            </a:xfrm>
            <a:custGeom>
              <a:avLst/>
              <a:gdLst/>
              <a:ahLst/>
              <a:cxnLst/>
              <a:rect l="l" t="t" r="r" b="b"/>
              <a:pathLst>
                <a:path w="1943100" h="2961640">
                  <a:moveTo>
                    <a:pt x="1199" y="0"/>
                  </a:moveTo>
                  <a:lnTo>
                    <a:pt x="0" y="2961084"/>
                  </a:lnTo>
                </a:path>
                <a:path w="1943100" h="2961640">
                  <a:moveTo>
                    <a:pt x="1943096" y="52387"/>
                  </a:moveTo>
                  <a:lnTo>
                    <a:pt x="1941896" y="2615809"/>
                  </a:lnTo>
                </a:path>
              </a:pathLst>
            </a:custGeom>
            <a:ln w="952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xmlns="" id="{4310A180-0AE5-8F3E-14D7-D62521830387}"/>
                </a:ext>
              </a:extLst>
            </p:cNvPr>
            <p:cNvSpPr/>
            <p:nvPr/>
          </p:nvSpPr>
          <p:spPr>
            <a:xfrm>
              <a:off x="3945842" y="2956319"/>
              <a:ext cx="1703705" cy="347345"/>
            </a:xfrm>
            <a:custGeom>
              <a:avLst/>
              <a:gdLst/>
              <a:ahLst/>
              <a:cxnLst/>
              <a:rect l="l" t="t" r="r" b="b"/>
              <a:pathLst>
                <a:path w="1703704" h="347345">
                  <a:moveTo>
                    <a:pt x="1703671" y="0"/>
                  </a:moveTo>
                  <a:lnTo>
                    <a:pt x="0" y="346799"/>
                  </a:lnTo>
                </a:path>
              </a:pathLst>
            </a:custGeom>
            <a:ln w="28574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xmlns="" id="{08F35219-EE64-0CFC-65AD-6D7C3638C345}"/>
                </a:ext>
              </a:extLst>
            </p:cNvPr>
            <p:cNvSpPr/>
            <p:nvPr/>
          </p:nvSpPr>
          <p:spPr>
            <a:xfrm>
              <a:off x="3804479" y="3242580"/>
              <a:ext cx="165074" cy="1210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xmlns="" id="{3FBC85D6-5774-02EB-3094-04068D84F8C2}"/>
                </a:ext>
              </a:extLst>
            </p:cNvPr>
            <p:cNvSpPr/>
            <p:nvPr/>
          </p:nvSpPr>
          <p:spPr>
            <a:xfrm>
              <a:off x="4320766" y="2902744"/>
              <a:ext cx="702945" cy="432434"/>
            </a:xfrm>
            <a:custGeom>
              <a:avLst/>
              <a:gdLst/>
              <a:ahLst/>
              <a:cxnLst/>
              <a:rect l="l" t="t" r="r" b="b"/>
              <a:pathLst>
                <a:path w="702945" h="432435">
                  <a:moveTo>
                    <a:pt x="702473" y="432199"/>
                  </a:moveTo>
                  <a:lnTo>
                    <a:pt x="0" y="432199"/>
                  </a:lnTo>
                  <a:lnTo>
                    <a:pt x="0" y="0"/>
                  </a:lnTo>
                  <a:lnTo>
                    <a:pt x="702473" y="0"/>
                  </a:lnTo>
                  <a:lnTo>
                    <a:pt x="702473" y="432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9">
            <a:extLst>
              <a:ext uri="{FF2B5EF4-FFF2-40B4-BE49-F238E27FC236}">
                <a16:creationId xmlns:a16="http://schemas.microsoft.com/office/drawing/2014/main" xmlns="" id="{D369756E-3F37-924D-C06B-BA8FB9D8FF97}"/>
              </a:ext>
            </a:extLst>
          </p:cNvPr>
          <p:cNvSpPr txBox="1"/>
          <p:nvPr/>
        </p:nvSpPr>
        <p:spPr>
          <a:xfrm>
            <a:off x="938609" y="3502861"/>
            <a:ext cx="8870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FIN_WAIT_2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10">
            <a:extLst>
              <a:ext uri="{FF2B5EF4-FFF2-40B4-BE49-F238E27FC236}">
                <a16:creationId xmlns:a16="http://schemas.microsoft.com/office/drawing/2014/main" xmlns="" id="{ED9CAC35-895A-E40B-9206-7A343BEA10E9}"/>
              </a:ext>
            </a:extLst>
          </p:cNvPr>
          <p:cNvGrpSpPr/>
          <p:nvPr/>
        </p:nvGrpSpPr>
        <p:grpSpPr>
          <a:xfrm>
            <a:off x="1191561" y="3095414"/>
            <a:ext cx="41275" cy="415290"/>
            <a:chOff x="1877358" y="2071683"/>
            <a:chExt cx="41275" cy="415290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xmlns="" id="{3B71281A-1E30-387A-BC33-0154B9173A07}"/>
                </a:ext>
              </a:extLst>
            </p:cNvPr>
            <p:cNvSpPr/>
            <p:nvPr/>
          </p:nvSpPr>
          <p:spPr>
            <a:xfrm>
              <a:off x="1897853" y="2071683"/>
              <a:ext cx="0" cy="367030"/>
            </a:xfrm>
            <a:custGeom>
              <a:avLst/>
              <a:gdLst/>
              <a:ahLst/>
              <a:cxnLst/>
              <a:rect l="l" t="t" r="r" b="b"/>
              <a:pathLst>
                <a:path h="367030">
                  <a:moveTo>
                    <a:pt x="0" y="0"/>
                  </a:moveTo>
                  <a:lnTo>
                    <a:pt x="0" y="3667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xmlns="" id="{DD36DBFF-CE66-8BEF-49D4-4DF698410B7D}"/>
                </a:ext>
              </a:extLst>
            </p:cNvPr>
            <p:cNvSpPr/>
            <p:nvPr/>
          </p:nvSpPr>
          <p:spPr>
            <a:xfrm>
              <a:off x="1882121" y="243839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4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xmlns="" id="{D6D835D5-31C5-D76F-7477-0407E5AAB5C0}"/>
                </a:ext>
              </a:extLst>
            </p:cNvPr>
            <p:cNvSpPr/>
            <p:nvPr/>
          </p:nvSpPr>
          <p:spPr>
            <a:xfrm>
              <a:off x="1882121" y="243839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4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4">
            <a:extLst>
              <a:ext uri="{FF2B5EF4-FFF2-40B4-BE49-F238E27FC236}">
                <a16:creationId xmlns:a16="http://schemas.microsoft.com/office/drawing/2014/main" xmlns="" id="{F6418833-DA9E-2B34-2D81-54738D0DF1D2}"/>
              </a:ext>
            </a:extLst>
          </p:cNvPr>
          <p:cNvSpPr txBox="1"/>
          <p:nvPr/>
        </p:nvSpPr>
        <p:spPr>
          <a:xfrm>
            <a:off x="5911839" y="3087334"/>
            <a:ext cx="9283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CLOSE_WAIT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" name="object 15">
            <a:extLst>
              <a:ext uri="{FF2B5EF4-FFF2-40B4-BE49-F238E27FC236}">
                <a16:creationId xmlns:a16="http://schemas.microsoft.com/office/drawing/2014/main" xmlns="" id="{7D8A98AE-4645-BCE8-0BDE-08D46DDE4952}"/>
              </a:ext>
            </a:extLst>
          </p:cNvPr>
          <p:cNvGrpSpPr/>
          <p:nvPr/>
        </p:nvGrpSpPr>
        <p:grpSpPr>
          <a:xfrm>
            <a:off x="6593426" y="2600115"/>
            <a:ext cx="41275" cy="485140"/>
            <a:chOff x="7279223" y="1576384"/>
            <a:chExt cx="41275" cy="485140"/>
          </a:xfrm>
        </p:grpSpPr>
        <p:sp>
          <p:nvSpPr>
            <p:cNvPr id="15" name="object 16">
              <a:extLst>
                <a:ext uri="{FF2B5EF4-FFF2-40B4-BE49-F238E27FC236}">
                  <a16:creationId xmlns:a16="http://schemas.microsoft.com/office/drawing/2014/main" xmlns="" id="{6A744C19-A0F0-5B69-B615-8E98296F3B6E}"/>
                </a:ext>
              </a:extLst>
            </p:cNvPr>
            <p:cNvSpPr/>
            <p:nvPr/>
          </p:nvSpPr>
          <p:spPr>
            <a:xfrm>
              <a:off x="7299710" y="1576384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h="437514">
                  <a:moveTo>
                    <a:pt x="0" y="0"/>
                  </a:moveTo>
                  <a:lnTo>
                    <a:pt x="0" y="43695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7">
              <a:extLst>
                <a:ext uri="{FF2B5EF4-FFF2-40B4-BE49-F238E27FC236}">
                  <a16:creationId xmlns:a16="http://schemas.microsoft.com/office/drawing/2014/main" xmlns="" id="{48AA78B4-6A07-4FAC-59D7-DC4A9CAF4272}"/>
                </a:ext>
              </a:extLst>
            </p:cNvPr>
            <p:cNvSpPr/>
            <p:nvPr/>
          </p:nvSpPr>
          <p:spPr>
            <a:xfrm>
              <a:off x="7283985" y="2013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8">
              <a:extLst>
                <a:ext uri="{FF2B5EF4-FFF2-40B4-BE49-F238E27FC236}">
                  <a16:creationId xmlns:a16="http://schemas.microsoft.com/office/drawing/2014/main" xmlns="" id="{D07A1867-B5EB-6564-A302-389A843B9C7A}"/>
                </a:ext>
              </a:extLst>
            </p:cNvPr>
            <p:cNvSpPr/>
            <p:nvPr/>
          </p:nvSpPr>
          <p:spPr>
            <a:xfrm>
              <a:off x="7283985" y="2013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9">
            <a:extLst>
              <a:ext uri="{FF2B5EF4-FFF2-40B4-BE49-F238E27FC236}">
                <a16:creationId xmlns:a16="http://schemas.microsoft.com/office/drawing/2014/main" xmlns="" id="{43A3F05F-9ED4-966D-EB6E-FFB482FEE1F1}"/>
              </a:ext>
            </a:extLst>
          </p:cNvPr>
          <p:cNvSpPr txBox="1"/>
          <p:nvPr/>
        </p:nvSpPr>
        <p:spPr>
          <a:xfrm>
            <a:off x="3453204" y="4093410"/>
            <a:ext cx="1139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FINbit=1,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seq=y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9" name="object 20">
            <a:extLst>
              <a:ext uri="{FF2B5EF4-FFF2-40B4-BE49-F238E27FC236}">
                <a16:creationId xmlns:a16="http://schemas.microsoft.com/office/drawing/2014/main" xmlns="" id="{ABCE2A91-E536-F70E-1B2D-11B8248EE090}"/>
              </a:ext>
            </a:extLst>
          </p:cNvPr>
          <p:cNvGrpSpPr/>
          <p:nvPr/>
        </p:nvGrpSpPr>
        <p:grpSpPr>
          <a:xfrm>
            <a:off x="3100382" y="4443211"/>
            <a:ext cx="1869439" cy="473075"/>
            <a:chOff x="3786179" y="3419480"/>
            <a:chExt cx="1869439" cy="473075"/>
          </a:xfrm>
        </p:grpSpPr>
        <p:sp>
          <p:nvSpPr>
            <p:cNvPr id="20" name="object 21">
              <a:extLst>
                <a:ext uri="{FF2B5EF4-FFF2-40B4-BE49-F238E27FC236}">
                  <a16:creationId xmlns:a16="http://schemas.microsoft.com/office/drawing/2014/main" xmlns="" id="{3D17520F-88E0-9491-E754-F81DA1955361}"/>
                </a:ext>
              </a:extLst>
            </p:cNvPr>
            <p:cNvSpPr/>
            <p:nvPr/>
          </p:nvSpPr>
          <p:spPr>
            <a:xfrm>
              <a:off x="3800467" y="3433767"/>
              <a:ext cx="1714500" cy="398145"/>
            </a:xfrm>
            <a:custGeom>
              <a:avLst/>
              <a:gdLst/>
              <a:ahLst/>
              <a:cxnLst/>
              <a:rect l="l" t="t" r="r" b="b"/>
              <a:pathLst>
                <a:path w="1714500" h="398145">
                  <a:moveTo>
                    <a:pt x="0" y="0"/>
                  </a:moveTo>
                  <a:lnTo>
                    <a:pt x="1714171" y="398149"/>
                  </a:lnTo>
                </a:path>
              </a:pathLst>
            </a:custGeom>
            <a:ln w="28574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xmlns="" id="{D58729AF-66A2-D85A-0490-DCBF6B44ADE9}"/>
                </a:ext>
              </a:extLst>
            </p:cNvPr>
            <p:cNvSpPr/>
            <p:nvPr/>
          </p:nvSpPr>
          <p:spPr>
            <a:xfrm>
              <a:off x="5489676" y="3771654"/>
              <a:ext cx="165574" cy="1205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3">
            <a:extLst>
              <a:ext uri="{FF2B5EF4-FFF2-40B4-BE49-F238E27FC236}">
                <a16:creationId xmlns:a16="http://schemas.microsoft.com/office/drawing/2014/main" xmlns="" id="{21AC95ED-A976-1F4F-6E12-9E20367015BD}"/>
              </a:ext>
            </a:extLst>
          </p:cNvPr>
          <p:cNvSpPr txBox="1"/>
          <p:nvPr/>
        </p:nvSpPr>
        <p:spPr>
          <a:xfrm>
            <a:off x="3204363" y="4564896"/>
            <a:ext cx="1712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ACKbit=1;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ACKnum=y+1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3" name="object 24">
            <a:extLst>
              <a:ext uri="{FF2B5EF4-FFF2-40B4-BE49-F238E27FC236}">
                <a16:creationId xmlns:a16="http://schemas.microsoft.com/office/drawing/2014/main" xmlns="" id="{3D6B08D0-A22D-B831-D9B9-FD0CE434D975}"/>
              </a:ext>
            </a:extLst>
          </p:cNvPr>
          <p:cNvGrpSpPr/>
          <p:nvPr/>
        </p:nvGrpSpPr>
        <p:grpSpPr>
          <a:xfrm>
            <a:off x="3086308" y="3185904"/>
            <a:ext cx="1869439" cy="473075"/>
            <a:chOff x="3772105" y="2162173"/>
            <a:chExt cx="1869439" cy="473075"/>
          </a:xfrm>
        </p:grpSpPr>
        <p:sp>
          <p:nvSpPr>
            <p:cNvPr id="24" name="object 25">
              <a:extLst>
                <a:ext uri="{FF2B5EF4-FFF2-40B4-BE49-F238E27FC236}">
                  <a16:creationId xmlns:a16="http://schemas.microsoft.com/office/drawing/2014/main" xmlns="" id="{7F56B47E-E25C-0900-09DC-39618E2326B8}"/>
                </a:ext>
              </a:extLst>
            </p:cNvPr>
            <p:cNvSpPr/>
            <p:nvPr/>
          </p:nvSpPr>
          <p:spPr>
            <a:xfrm>
              <a:off x="3912692" y="2176460"/>
              <a:ext cx="1714500" cy="398780"/>
            </a:xfrm>
            <a:custGeom>
              <a:avLst/>
              <a:gdLst/>
              <a:ahLst/>
              <a:cxnLst/>
              <a:rect l="l" t="t" r="r" b="b"/>
              <a:pathLst>
                <a:path w="1714500" h="398780">
                  <a:moveTo>
                    <a:pt x="1714196" y="0"/>
                  </a:moveTo>
                  <a:lnTo>
                    <a:pt x="0" y="398159"/>
                  </a:lnTo>
                </a:path>
              </a:pathLst>
            </a:custGeom>
            <a:ln w="28574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6">
              <a:extLst>
                <a:ext uri="{FF2B5EF4-FFF2-40B4-BE49-F238E27FC236}">
                  <a16:creationId xmlns:a16="http://schemas.microsoft.com/office/drawing/2014/main" xmlns="" id="{357C7543-2537-6F84-F09E-122F7620931E}"/>
                </a:ext>
              </a:extLst>
            </p:cNvPr>
            <p:cNvSpPr/>
            <p:nvPr/>
          </p:nvSpPr>
          <p:spPr>
            <a:xfrm>
              <a:off x="3772105" y="2514357"/>
              <a:ext cx="165574" cy="1205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xmlns="" id="{86846556-2F6B-2F23-CD85-F6E477C090AE}"/>
              </a:ext>
            </a:extLst>
          </p:cNvPr>
          <p:cNvSpPr txBox="1"/>
          <p:nvPr/>
        </p:nvSpPr>
        <p:spPr>
          <a:xfrm>
            <a:off x="3149595" y="3275452"/>
            <a:ext cx="1711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ACKbit=1;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ACKnum=x+1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" name="object 28">
            <a:extLst>
              <a:ext uri="{FF2B5EF4-FFF2-40B4-BE49-F238E27FC236}">
                <a16:creationId xmlns:a16="http://schemas.microsoft.com/office/drawing/2014/main" xmlns="" id="{C62A7D2A-043D-8713-E3C8-43E1AFB15914}"/>
              </a:ext>
            </a:extLst>
          </p:cNvPr>
          <p:cNvSpPr txBox="1"/>
          <p:nvPr/>
        </p:nvSpPr>
        <p:spPr>
          <a:xfrm>
            <a:off x="2106320" y="3490821"/>
            <a:ext cx="878205" cy="32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r">
              <a:lnSpc>
                <a:spcPts val="1195"/>
              </a:lnSpc>
              <a:spcBef>
                <a:spcPts val="100"/>
              </a:spcBef>
            </a:pPr>
            <a:r>
              <a:rPr sz="1050" spc="-5" dirty="0">
                <a:latin typeface="Tahoma"/>
                <a:cs typeface="Tahoma"/>
              </a:rPr>
              <a:t>wait for</a:t>
            </a:r>
            <a:r>
              <a:rPr sz="1050" spc="-95" dirty="0">
                <a:latin typeface="Tahoma"/>
                <a:cs typeface="Tahoma"/>
              </a:rPr>
              <a:t> </a:t>
            </a:r>
            <a:r>
              <a:rPr sz="1050" spc="-5" dirty="0">
                <a:latin typeface="Tahoma"/>
                <a:cs typeface="Tahoma"/>
              </a:rPr>
              <a:t>server</a:t>
            </a:r>
            <a:endParaRPr sz="1050">
              <a:latin typeface="Tahoma"/>
              <a:cs typeface="Tahoma"/>
            </a:endParaRPr>
          </a:p>
          <a:p>
            <a:pPr marR="5080" algn="r">
              <a:lnSpc>
                <a:spcPts val="1195"/>
              </a:lnSpc>
            </a:pPr>
            <a:r>
              <a:rPr sz="1050" spc="-5" dirty="0">
                <a:latin typeface="Tahoma"/>
                <a:cs typeface="Tahoma"/>
              </a:rPr>
              <a:t>close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xmlns="" id="{3CAEB822-0517-698D-B6C8-1D30ABA35FCE}"/>
              </a:ext>
            </a:extLst>
          </p:cNvPr>
          <p:cNvSpPr txBox="1"/>
          <p:nvPr/>
        </p:nvSpPr>
        <p:spPr>
          <a:xfrm>
            <a:off x="5080785" y="3387237"/>
            <a:ext cx="602615" cy="32956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245"/>
              </a:spcBef>
            </a:pPr>
            <a:r>
              <a:rPr sz="1050" spc="-5" dirty="0">
                <a:latin typeface="Tahoma"/>
                <a:cs typeface="Tahoma"/>
              </a:rPr>
              <a:t>can </a:t>
            </a:r>
            <a:r>
              <a:rPr sz="1050" spc="-10" dirty="0">
                <a:latin typeface="Tahoma"/>
                <a:cs typeface="Tahoma"/>
              </a:rPr>
              <a:t>still  </a:t>
            </a:r>
            <a:r>
              <a:rPr sz="1050" spc="-5" dirty="0">
                <a:latin typeface="Tahoma"/>
                <a:cs typeface="Tahoma"/>
              </a:rPr>
              <a:t>send</a:t>
            </a:r>
            <a:r>
              <a:rPr sz="1050" spc="-90" dirty="0">
                <a:latin typeface="Tahoma"/>
                <a:cs typeface="Tahoma"/>
              </a:rPr>
              <a:t> </a:t>
            </a:r>
            <a:r>
              <a:rPr sz="1050" spc="-5" dirty="0">
                <a:latin typeface="Tahoma"/>
                <a:cs typeface="Tahoma"/>
              </a:rPr>
              <a:t>data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xmlns="" id="{77F52438-0E74-0F73-9756-B7C498DCFF2A}"/>
              </a:ext>
            </a:extLst>
          </p:cNvPr>
          <p:cNvSpPr txBox="1"/>
          <p:nvPr/>
        </p:nvSpPr>
        <p:spPr>
          <a:xfrm>
            <a:off x="5074831" y="4249248"/>
            <a:ext cx="829944" cy="32956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245"/>
              </a:spcBef>
            </a:pPr>
            <a:r>
              <a:rPr sz="1050" spc="-5" dirty="0">
                <a:latin typeface="Tahoma"/>
                <a:cs typeface="Tahoma"/>
              </a:rPr>
              <a:t>can no</a:t>
            </a:r>
            <a:r>
              <a:rPr sz="1050" spc="-6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longer  </a:t>
            </a:r>
            <a:r>
              <a:rPr sz="1050" spc="-5" dirty="0">
                <a:latin typeface="Tahoma"/>
                <a:cs typeface="Tahoma"/>
              </a:rPr>
              <a:t>send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spc="-5" dirty="0">
                <a:latin typeface="Tahoma"/>
                <a:cs typeface="Tahoma"/>
              </a:rPr>
              <a:t>data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30" name="object 31">
            <a:extLst>
              <a:ext uri="{FF2B5EF4-FFF2-40B4-BE49-F238E27FC236}">
                <a16:creationId xmlns:a16="http://schemas.microsoft.com/office/drawing/2014/main" xmlns="" id="{0F183F73-3AC6-4F37-8EEA-17516C55CDD3}"/>
              </a:ext>
            </a:extLst>
          </p:cNvPr>
          <p:cNvGrpSpPr/>
          <p:nvPr/>
        </p:nvGrpSpPr>
        <p:grpSpPr>
          <a:xfrm>
            <a:off x="6588651" y="3297821"/>
            <a:ext cx="41275" cy="660400"/>
            <a:chOff x="7274448" y="2274090"/>
            <a:chExt cx="41275" cy="660400"/>
          </a:xfrm>
        </p:grpSpPr>
        <p:sp>
          <p:nvSpPr>
            <p:cNvPr id="31" name="object 32">
              <a:extLst>
                <a:ext uri="{FF2B5EF4-FFF2-40B4-BE49-F238E27FC236}">
                  <a16:creationId xmlns:a16="http://schemas.microsoft.com/office/drawing/2014/main" xmlns="" id="{478FBB49-EDF4-15BE-D637-486042AEA384}"/>
                </a:ext>
              </a:extLst>
            </p:cNvPr>
            <p:cNvSpPr/>
            <p:nvPr/>
          </p:nvSpPr>
          <p:spPr>
            <a:xfrm>
              <a:off x="7294935" y="2274090"/>
              <a:ext cx="0" cy="612140"/>
            </a:xfrm>
            <a:custGeom>
              <a:avLst/>
              <a:gdLst/>
              <a:ahLst/>
              <a:cxnLst/>
              <a:rect l="l" t="t" r="r" b="b"/>
              <a:pathLst>
                <a:path h="612139">
                  <a:moveTo>
                    <a:pt x="0" y="0"/>
                  </a:moveTo>
                  <a:lnTo>
                    <a:pt x="0" y="61197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3">
              <a:extLst>
                <a:ext uri="{FF2B5EF4-FFF2-40B4-BE49-F238E27FC236}">
                  <a16:creationId xmlns:a16="http://schemas.microsoft.com/office/drawing/2014/main" xmlns="" id="{26160AA8-C641-4C29-FCF6-9D8E49FE3487}"/>
                </a:ext>
              </a:extLst>
            </p:cNvPr>
            <p:cNvSpPr/>
            <p:nvPr/>
          </p:nvSpPr>
          <p:spPr>
            <a:xfrm>
              <a:off x="7279210" y="28860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74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4">
              <a:extLst>
                <a:ext uri="{FF2B5EF4-FFF2-40B4-BE49-F238E27FC236}">
                  <a16:creationId xmlns:a16="http://schemas.microsoft.com/office/drawing/2014/main" xmlns="" id="{BCDAA6A1-5B38-F419-43B4-7E3B85572A0E}"/>
                </a:ext>
              </a:extLst>
            </p:cNvPr>
            <p:cNvSpPr/>
            <p:nvPr/>
          </p:nvSpPr>
          <p:spPr>
            <a:xfrm>
              <a:off x="7279210" y="28860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7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5">
            <a:extLst>
              <a:ext uri="{FF2B5EF4-FFF2-40B4-BE49-F238E27FC236}">
                <a16:creationId xmlns:a16="http://schemas.microsoft.com/office/drawing/2014/main" xmlns="" id="{1D87AAD7-CA6E-7445-C44B-2DC2348438DE}"/>
              </a:ext>
            </a:extLst>
          </p:cNvPr>
          <p:cNvSpPr txBox="1"/>
          <p:nvPr/>
        </p:nvSpPr>
        <p:spPr>
          <a:xfrm>
            <a:off x="6115435" y="3925532"/>
            <a:ext cx="721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LAST_ACK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5" name="object 36">
            <a:extLst>
              <a:ext uri="{FF2B5EF4-FFF2-40B4-BE49-F238E27FC236}">
                <a16:creationId xmlns:a16="http://schemas.microsoft.com/office/drawing/2014/main" xmlns="" id="{0E60A9B4-9C2D-38D8-680B-46A2BC051A24}"/>
              </a:ext>
            </a:extLst>
          </p:cNvPr>
          <p:cNvSpPr txBox="1"/>
          <p:nvPr/>
        </p:nvSpPr>
        <p:spPr>
          <a:xfrm>
            <a:off x="6261882" y="4868505"/>
            <a:ext cx="574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CLOSED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6" name="object 37">
            <a:extLst>
              <a:ext uri="{FF2B5EF4-FFF2-40B4-BE49-F238E27FC236}">
                <a16:creationId xmlns:a16="http://schemas.microsoft.com/office/drawing/2014/main" xmlns="" id="{CAF50525-39EE-D286-FAF4-6269EE45C836}"/>
              </a:ext>
            </a:extLst>
          </p:cNvPr>
          <p:cNvGrpSpPr/>
          <p:nvPr/>
        </p:nvGrpSpPr>
        <p:grpSpPr>
          <a:xfrm>
            <a:off x="6595801" y="4183649"/>
            <a:ext cx="41275" cy="676910"/>
            <a:chOff x="7281598" y="3159918"/>
            <a:chExt cx="41275" cy="676910"/>
          </a:xfrm>
        </p:grpSpPr>
        <p:sp>
          <p:nvSpPr>
            <p:cNvPr id="37" name="object 38">
              <a:extLst>
                <a:ext uri="{FF2B5EF4-FFF2-40B4-BE49-F238E27FC236}">
                  <a16:creationId xmlns:a16="http://schemas.microsoft.com/office/drawing/2014/main" xmlns="" id="{B4335A9F-ABF6-7226-3295-DA1C1A5D7456}"/>
                </a:ext>
              </a:extLst>
            </p:cNvPr>
            <p:cNvSpPr/>
            <p:nvPr/>
          </p:nvSpPr>
          <p:spPr>
            <a:xfrm>
              <a:off x="7302085" y="3159918"/>
              <a:ext cx="0" cy="628650"/>
            </a:xfrm>
            <a:custGeom>
              <a:avLst/>
              <a:gdLst/>
              <a:ahLst/>
              <a:cxnLst/>
              <a:rect l="l" t="t" r="r" b="b"/>
              <a:pathLst>
                <a:path h="628650">
                  <a:moveTo>
                    <a:pt x="0" y="0"/>
                  </a:moveTo>
                  <a:lnTo>
                    <a:pt x="0" y="62864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xmlns="" id="{07442D68-CB7E-A97F-8E91-9D856860B6E5}"/>
                </a:ext>
              </a:extLst>
            </p:cNvPr>
            <p:cNvSpPr/>
            <p:nvPr/>
          </p:nvSpPr>
          <p:spPr>
            <a:xfrm>
              <a:off x="7286360" y="37885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74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40">
              <a:extLst>
                <a:ext uri="{FF2B5EF4-FFF2-40B4-BE49-F238E27FC236}">
                  <a16:creationId xmlns:a16="http://schemas.microsoft.com/office/drawing/2014/main" xmlns="" id="{C4BB14A9-ABE3-E16D-6849-A896E8E6DEF5}"/>
                </a:ext>
              </a:extLst>
            </p:cNvPr>
            <p:cNvSpPr/>
            <p:nvPr/>
          </p:nvSpPr>
          <p:spPr>
            <a:xfrm>
              <a:off x="7286360" y="37885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7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1">
            <a:extLst>
              <a:ext uri="{FF2B5EF4-FFF2-40B4-BE49-F238E27FC236}">
                <a16:creationId xmlns:a16="http://schemas.microsoft.com/office/drawing/2014/main" xmlns="" id="{4A0E11E7-720A-D041-FB55-9F11BAF48A92}"/>
              </a:ext>
            </a:extLst>
          </p:cNvPr>
          <p:cNvSpPr txBox="1"/>
          <p:nvPr/>
        </p:nvSpPr>
        <p:spPr>
          <a:xfrm>
            <a:off x="969565" y="4277956"/>
            <a:ext cx="934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TIMED_WAIT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1" name="object 42">
            <a:extLst>
              <a:ext uri="{FF2B5EF4-FFF2-40B4-BE49-F238E27FC236}">
                <a16:creationId xmlns:a16="http://schemas.microsoft.com/office/drawing/2014/main" xmlns="" id="{DAF21EC7-400D-4A24-63F4-E0E871AC684C}"/>
              </a:ext>
            </a:extLst>
          </p:cNvPr>
          <p:cNvGrpSpPr/>
          <p:nvPr/>
        </p:nvGrpSpPr>
        <p:grpSpPr>
          <a:xfrm>
            <a:off x="1196321" y="3727625"/>
            <a:ext cx="41275" cy="566420"/>
            <a:chOff x="1882118" y="2703894"/>
            <a:chExt cx="41275" cy="566420"/>
          </a:xfrm>
        </p:grpSpPr>
        <p:sp>
          <p:nvSpPr>
            <p:cNvPr id="42" name="object 43">
              <a:extLst>
                <a:ext uri="{FF2B5EF4-FFF2-40B4-BE49-F238E27FC236}">
                  <a16:creationId xmlns:a16="http://schemas.microsoft.com/office/drawing/2014/main" xmlns="" id="{A77A1550-0C69-C0A0-6C5F-C69E61F97D62}"/>
                </a:ext>
              </a:extLst>
            </p:cNvPr>
            <p:cNvSpPr/>
            <p:nvPr/>
          </p:nvSpPr>
          <p:spPr>
            <a:xfrm>
              <a:off x="1902616" y="2703894"/>
              <a:ext cx="0" cy="518159"/>
            </a:xfrm>
            <a:custGeom>
              <a:avLst/>
              <a:gdLst/>
              <a:ahLst/>
              <a:cxnLst/>
              <a:rect l="l" t="t" r="r" b="b"/>
              <a:pathLst>
                <a:path h="518160">
                  <a:moveTo>
                    <a:pt x="0" y="0"/>
                  </a:moveTo>
                  <a:lnTo>
                    <a:pt x="0" y="517923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4">
              <a:extLst>
                <a:ext uri="{FF2B5EF4-FFF2-40B4-BE49-F238E27FC236}">
                  <a16:creationId xmlns:a16="http://schemas.microsoft.com/office/drawing/2014/main" xmlns="" id="{7A2A0611-98CE-16D7-D0C6-51456A015BBA}"/>
                </a:ext>
              </a:extLst>
            </p:cNvPr>
            <p:cNvSpPr/>
            <p:nvPr/>
          </p:nvSpPr>
          <p:spPr>
            <a:xfrm>
              <a:off x="1886881" y="32218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4" y="43224"/>
                  </a:moveTo>
                  <a:lnTo>
                    <a:pt x="0" y="0"/>
                  </a:lnTo>
                  <a:lnTo>
                    <a:pt x="31467" y="0"/>
                  </a:lnTo>
                  <a:lnTo>
                    <a:pt x="15734" y="43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5">
              <a:extLst>
                <a:ext uri="{FF2B5EF4-FFF2-40B4-BE49-F238E27FC236}">
                  <a16:creationId xmlns:a16="http://schemas.microsoft.com/office/drawing/2014/main" xmlns="" id="{041F2429-3FD9-7CEB-CA8E-CCF5B781BA59}"/>
                </a:ext>
              </a:extLst>
            </p:cNvPr>
            <p:cNvSpPr/>
            <p:nvPr/>
          </p:nvSpPr>
          <p:spPr>
            <a:xfrm>
              <a:off x="1886881" y="32218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4" y="43224"/>
                  </a:lnTo>
                  <a:lnTo>
                    <a:pt x="31467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6">
            <a:extLst>
              <a:ext uri="{FF2B5EF4-FFF2-40B4-BE49-F238E27FC236}">
                <a16:creationId xmlns:a16="http://schemas.microsoft.com/office/drawing/2014/main" xmlns="" id="{6816AE55-72BE-92E7-B116-0A407273801C}"/>
              </a:ext>
            </a:extLst>
          </p:cNvPr>
          <p:cNvGrpSpPr/>
          <p:nvPr/>
        </p:nvGrpSpPr>
        <p:grpSpPr>
          <a:xfrm>
            <a:off x="2551496" y="5234972"/>
            <a:ext cx="169545" cy="427990"/>
            <a:chOff x="3237293" y="4211241"/>
            <a:chExt cx="169545" cy="427990"/>
          </a:xfrm>
        </p:grpSpPr>
        <p:sp>
          <p:nvSpPr>
            <p:cNvPr id="46" name="object 47">
              <a:extLst>
                <a:ext uri="{FF2B5EF4-FFF2-40B4-BE49-F238E27FC236}">
                  <a16:creationId xmlns:a16="http://schemas.microsoft.com/office/drawing/2014/main" xmlns="" id="{81A4D07F-76D2-DD4C-94EE-6836606C2DCE}"/>
                </a:ext>
              </a:extLst>
            </p:cNvPr>
            <p:cNvSpPr/>
            <p:nvPr/>
          </p:nvSpPr>
          <p:spPr>
            <a:xfrm>
              <a:off x="3314105" y="4211241"/>
              <a:ext cx="0" cy="427990"/>
            </a:xfrm>
            <a:custGeom>
              <a:avLst/>
              <a:gdLst/>
              <a:ahLst/>
              <a:cxnLst/>
              <a:rect l="l" t="t" r="r" b="b"/>
              <a:pathLst>
                <a:path h="427989">
                  <a:moveTo>
                    <a:pt x="0" y="0"/>
                  </a:moveTo>
                  <a:lnTo>
                    <a:pt x="0" y="427436"/>
                  </a:lnTo>
                </a:path>
              </a:pathLst>
            </a:custGeom>
            <a:ln w="17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8">
              <a:extLst>
                <a:ext uri="{FF2B5EF4-FFF2-40B4-BE49-F238E27FC236}">
                  <a16:creationId xmlns:a16="http://schemas.microsoft.com/office/drawing/2014/main" xmlns="" id="{582580B1-5047-570C-F35E-0C2DE625EABF}"/>
                </a:ext>
              </a:extLst>
            </p:cNvPr>
            <p:cNvSpPr/>
            <p:nvPr/>
          </p:nvSpPr>
          <p:spPr>
            <a:xfrm>
              <a:off x="3237293" y="4630340"/>
              <a:ext cx="169545" cy="0"/>
            </a:xfrm>
            <a:custGeom>
              <a:avLst/>
              <a:gdLst/>
              <a:ahLst/>
              <a:cxnLst/>
              <a:rect l="l" t="t" r="r" b="b"/>
              <a:pathLst>
                <a:path w="169545">
                  <a:moveTo>
                    <a:pt x="0" y="0"/>
                  </a:moveTo>
                  <a:lnTo>
                    <a:pt x="169074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9">
            <a:extLst>
              <a:ext uri="{FF2B5EF4-FFF2-40B4-BE49-F238E27FC236}">
                <a16:creationId xmlns:a16="http://schemas.microsoft.com/office/drawing/2014/main" xmlns="" id="{194BC119-8DCE-D370-2ED2-D3E43E6CFDDD}"/>
              </a:ext>
            </a:extLst>
          </p:cNvPr>
          <p:cNvGrpSpPr/>
          <p:nvPr/>
        </p:nvGrpSpPr>
        <p:grpSpPr>
          <a:xfrm>
            <a:off x="2531271" y="4383661"/>
            <a:ext cx="169545" cy="323215"/>
            <a:chOff x="3217068" y="3359930"/>
            <a:chExt cx="169545" cy="323215"/>
          </a:xfrm>
        </p:grpSpPr>
        <p:sp>
          <p:nvSpPr>
            <p:cNvPr id="49" name="object 50">
              <a:extLst>
                <a:ext uri="{FF2B5EF4-FFF2-40B4-BE49-F238E27FC236}">
                  <a16:creationId xmlns:a16="http://schemas.microsoft.com/office/drawing/2014/main" xmlns="" id="{C8F90A69-F424-1F2E-F8B6-942544CABF3F}"/>
                </a:ext>
              </a:extLst>
            </p:cNvPr>
            <p:cNvSpPr/>
            <p:nvPr/>
          </p:nvSpPr>
          <p:spPr>
            <a:xfrm>
              <a:off x="3314105" y="3368280"/>
              <a:ext cx="0" cy="314325"/>
            </a:xfrm>
            <a:custGeom>
              <a:avLst/>
              <a:gdLst/>
              <a:ahLst/>
              <a:cxnLst/>
              <a:rect l="l" t="t" r="r" b="b"/>
              <a:pathLst>
                <a:path h="314325">
                  <a:moveTo>
                    <a:pt x="0" y="0"/>
                  </a:moveTo>
                  <a:lnTo>
                    <a:pt x="0" y="314311"/>
                  </a:lnTo>
                </a:path>
              </a:pathLst>
            </a:custGeom>
            <a:ln w="17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1">
              <a:extLst>
                <a:ext uri="{FF2B5EF4-FFF2-40B4-BE49-F238E27FC236}">
                  <a16:creationId xmlns:a16="http://schemas.microsoft.com/office/drawing/2014/main" xmlns="" id="{980E93F7-6133-EA62-A2AC-E9CFB495B3D7}"/>
                </a:ext>
              </a:extLst>
            </p:cNvPr>
            <p:cNvSpPr/>
            <p:nvPr/>
          </p:nvSpPr>
          <p:spPr>
            <a:xfrm>
              <a:off x="3217068" y="3364693"/>
              <a:ext cx="169545" cy="0"/>
            </a:xfrm>
            <a:custGeom>
              <a:avLst/>
              <a:gdLst/>
              <a:ahLst/>
              <a:cxnLst/>
              <a:rect l="l" t="t" r="r" b="b"/>
              <a:pathLst>
                <a:path w="169545">
                  <a:moveTo>
                    <a:pt x="0" y="0"/>
                  </a:moveTo>
                  <a:lnTo>
                    <a:pt x="169074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2">
            <a:extLst>
              <a:ext uri="{FF2B5EF4-FFF2-40B4-BE49-F238E27FC236}">
                <a16:creationId xmlns:a16="http://schemas.microsoft.com/office/drawing/2014/main" xmlns="" id="{1AB153B4-31B1-79CF-CB65-150A6B99007A}"/>
              </a:ext>
            </a:extLst>
          </p:cNvPr>
          <p:cNvSpPr txBox="1"/>
          <p:nvPr/>
        </p:nvSpPr>
        <p:spPr>
          <a:xfrm>
            <a:off x="1945112" y="4713591"/>
            <a:ext cx="1002030" cy="473709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indent="360045" algn="r">
              <a:lnSpc>
                <a:spcPts val="1130"/>
              </a:lnSpc>
              <a:spcBef>
                <a:spcPts val="245"/>
              </a:spcBef>
            </a:pPr>
            <a:r>
              <a:rPr sz="1050" spc="-5" dirty="0">
                <a:latin typeface="Tahoma"/>
                <a:cs typeface="Tahoma"/>
              </a:rPr>
              <a:t>timed</a:t>
            </a:r>
            <a:r>
              <a:rPr sz="1050" spc="-100" dirty="0">
                <a:latin typeface="Tahoma"/>
                <a:cs typeface="Tahoma"/>
              </a:rPr>
              <a:t> </a:t>
            </a:r>
            <a:r>
              <a:rPr sz="1050" spc="-5" dirty="0">
                <a:latin typeface="Tahoma"/>
                <a:cs typeface="Tahoma"/>
              </a:rPr>
              <a:t>wait  for</a:t>
            </a:r>
            <a:r>
              <a:rPr sz="1050" spc="-100" dirty="0">
                <a:latin typeface="Tahoma"/>
                <a:cs typeface="Tahoma"/>
              </a:rPr>
              <a:t> </a:t>
            </a:r>
            <a:r>
              <a:rPr sz="1050" spc="-5" dirty="0">
                <a:latin typeface="Tahoma"/>
                <a:cs typeface="Tahoma"/>
              </a:rPr>
              <a:t>2*max  segment</a:t>
            </a:r>
            <a:r>
              <a:rPr sz="1050" spc="-100" dirty="0">
                <a:latin typeface="Tahoma"/>
                <a:cs typeface="Tahoma"/>
              </a:rPr>
              <a:t> </a:t>
            </a:r>
            <a:r>
              <a:rPr sz="1050" spc="-5" dirty="0">
                <a:latin typeface="Tahoma"/>
                <a:cs typeface="Tahoma"/>
              </a:rPr>
              <a:t>lifetime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2" name="object 53">
            <a:extLst>
              <a:ext uri="{FF2B5EF4-FFF2-40B4-BE49-F238E27FC236}">
                <a16:creationId xmlns:a16="http://schemas.microsoft.com/office/drawing/2014/main" xmlns="" id="{5211078D-1E96-54AE-893C-2200B210F5FD}"/>
              </a:ext>
            </a:extLst>
          </p:cNvPr>
          <p:cNvSpPr txBox="1"/>
          <p:nvPr/>
        </p:nvSpPr>
        <p:spPr>
          <a:xfrm>
            <a:off x="1036240" y="5481675"/>
            <a:ext cx="574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CLOSED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3" name="object 54">
            <a:extLst>
              <a:ext uri="{FF2B5EF4-FFF2-40B4-BE49-F238E27FC236}">
                <a16:creationId xmlns:a16="http://schemas.microsoft.com/office/drawing/2014/main" xmlns="" id="{BE7B38F6-5EC9-3E11-223C-508B077E0FDB}"/>
              </a:ext>
            </a:extLst>
          </p:cNvPr>
          <p:cNvGrpSpPr/>
          <p:nvPr/>
        </p:nvGrpSpPr>
        <p:grpSpPr>
          <a:xfrm>
            <a:off x="1187989" y="4497973"/>
            <a:ext cx="41275" cy="989965"/>
            <a:chOff x="1873786" y="3474242"/>
            <a:chExt cx="41275" cy="989965"/>
          </a:xfrm>
        </p:grpSpPr>
        <p:sp>
          <p:nvSpPr>
            <p:cNvPr id="54" name="object 55">
              <a:extLst>
                <a:ext uri="{FF2B5EF4-FFF2-40B4-BE49-F238E27FC236}">
                  <a16:creationId xmlns:a16="http://schemas.microsoft.com/office/drawing/2014/main" xmlns="" id="{7B675BEB-83D5-3142-2EE1-2631560B059E}"/>
                </a:ext>
              </a:extLst>
            </p:cNvPr>
            <p:cNvSpPr/>
            <p:nvPr/>
          </p:nvSpPr>
          <p:spPr>
            <a:xfrm>
              <a:off x="1894281" y="3474242"/>
              <a:ext cx="0" cy="942340"/>
            </a:xfrm>
            <a:custGeom>
              <a:avLst/>
              <a:gdLst/>
              <a:ahLst/>
              <a:cxnLst/>
              <a:rect l="l" t="t" r="r" b="b"/>
              <a:pathLst>
                <a:path h="942339">
                  <a:moveTo>
                    <a:pt x="0" y="0"/>
                  </a:moveTo>
                  <a:lnTo>
                    <a:pt x="0" y="941773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6">
              <a:extLst>
                <a:ext uri="{FF2B5EF4-FFF2-40B4-BE49-F238E27FC236}">
                  <a16:creationId xmlns:a16="http://schemas.microsoft.com/office/drawing/2014/main" xmlns="" id="{FC555F04-6EEF-1B7D-B6CA-F204FDA93BCB}"/>
                </a:ext>
              </a:extLst>
            </p:cNvPr>
            <p:cNvSpPr/>
            <p:nvPr/>
          </p:nvSpPr>
          <p:spPr>
            <a:xfrm>
              <a:off x="1878548" y="441601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4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7">
              <a:extLst>
                <a:ext uri="{FF2B5EF4-FFF2-40B4-BE49-F238E27FC236}">
                  <a16:creationId xmlns:a16="http://schemas.microsoft.com/office/drawing/2014/main" xmlns="" id="{5BE70599-4435-45E9-F12A-516A35210D86}"/>
                </a:ext>
              </a:extLst>
            </p:cNvPr>
            <p:cNvSpPr/>
            <p:nvPr/>
          </p:nvSpPr>
          <p:spPr>
            <a:xfrm>
              <a:off x="1878548" y="441601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4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9">
            <a:extLst>
              <a:ext uri="{FF2B5EF4-FFF2-40B4-BE49-F238E27FC236}">
                <a16:creationId xmlns:a16="http://schemas.microsoft.com/office/drawing/2014/main" xmlns="" id="{04659286-14D6-F5A2-146C-230584C9E910}"/>
              </a:ext>
            </a:extLst>
          </p:cNvPr>
          <p:cNvSpPr txBox="1"/>
          <p:nvPr/>
        </p:nvSpPr>
        <p:spPr>
          <a:xfrm>
            <a:off x="943371" y="2850400"/>
            <a:ext cx="8870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FIN_WAIT_1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8" name="object 60">
            <a:extLst>
              <a:ext uri="{FF2B5EF4-FFF2-40B4-BE49-F238E27FC236}">
                <a16:creationId xmlns:a16="http://schemas.microsoft.com/office/drawing/2014/main" xmlns="" id="{B9AE262D-A4EA-D2E5-F8A5-5C4EE4E6584E}"/>
              </a:ext>
            </a:extLst>
          </p:cNvPr>
          <p:cNvGrpSpPr/>
          <p:nvPr/>
        </p:nvGrpSpPr>
        <p:grpSpPr>
          <a:xfrm>
            <a:off x="1186799" y="2558442"/>
            <a:ext cx="41275" cy="320675"/>
            <a:chOff x="1872596" y="1534711"/>
            <a:chExt cx="41275" cy="320675"/>
          </a:xfrm>
        </p:grpSpPr>
        <p:sp>
          <p:nvSpPr>
            <p:cNvPr id="59" name="object 61">
              <a:extLst>
                <a:ext uri="{FF2B5EF4-FFF2-40B4-BE49-F238E27FC236}">
                  <a16:creationId xmlns:a16="http://schemas.microsoft.com/office/drawing/2014/main" xmlns="" id="{66DB1014-EA43-FC09-0471-97C1B835BFD9}"/>
                </a:ext>
              </a:extLst>
            </p:cNvPr>
            <p:cNvSpPr/>
            <p:nvPr/>
          </p:nvSpPr>
          <p:spPr>
            <a:xfrm>
              <a:off x="1893091" y="1534711"/>
              <a:ext cx="0" cy="273050"/>
            </a:xfrm>
            <a:custGeom>
              <a:avLst/>
              <a:gdLst/>
              <a:ahLst/>
              <a:cxnLst/>
              <a:rect l="l" t="t" r="r" b="b"/>
              <a:pathLst>
                <a:path h="273050">
                  <a:moveTo>
                    <a:pt x="0" y="0"/>
                  </a:moveTo>
                  <a:lnTo>
                    <a:pt x="0" y="27265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2">
              <a:extLst>
                <a:ext uri="{FF2B5EF4-FFF2-40B4-BE49-F238E27FC236}">
                  <a16:creationId xmlns:a16="http://schemas.microsoft.com/office/drawing/2014/main" xmlns="" id="{10DF6001-7CA2-CF9B-EB99-8EB57DC101BE}"/>
                </a:ext>
              </a:extLst>
            </p:cNvPr>
            <p:cNvSpPr/>
            <p:nvPr/>
          </p:nvSpPr>
          <p:spPr>
            <a:xfrm>
              <a:off x="1877358" y="180736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4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3">
              <a:extLst>
                <a:ext uri="{FF2B5EF4-FFF2-40B4-BE49-F238E27FC236}">
                  <a16:creationId xmlns:a16="http://schemas.microsoft.com/office/drawing/2014/main" xmlns="" id="{9234E991-AB11-C253-A5C8-4CFC283DF6B8}"/>
                </a:ext>
              </a:extLst>
            </p:cNvPr>
            <p:cNvSpPr/>
            <p:nvPr/>
          </p:nvSpPr>
          <p:spPr>
            <a:xfrm>
              <a:off x="1877358" y="180736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4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4">
            <a:extLst>
              <a:ext uri="{FF2B5EF4-FFF2-40B4-BE49-F238E27FC236}">
                <a16:creationId xmlns:a16="http://schemas.microsoft.com/office/drawing/2014/main" xmlns="" id="{5F069831-CE28-5935-B676-C1CF43521657}"/>
              </a:ext>
            </a:extLst>
          </p:cNvPr>
          <p:cNvGrpSpPr/>
          <p:nvPr/>
        </p:nvGrpSpPr>
        <p:grpSpPr>
          <a:xfrm>
            <a:off x="3056333" y="2653692"/>
            <a:ext cx="1859914" cy="494665"/>
            <a:chOff x="3742130" y="1629961"/>
            <a:chExt cx="1859914" cy="494665"/>
          </a:xfrm>
        </p:grpSpPr>
        <p:sp>
          <p:nvSpPr>
            <p:cNvPr id="63" name="object 65">
              <a:extLst>
                <a:ext uri="{FF2B5EF4-FFF2-40B4-BE49-F238E27FC236}">
                  <a16:creationId xmlns:a16="http://schemas.microsoft.com/office/drawing/2014/main" xmlns="" id="{7274CD81-4329-169F-9651-E0D197EBDC15}"/>
                </a:ext>
              </a:extLst>
            </p:cNvPr>
            <p:cNvSpPr/>
            <p:nvPr/>
          </p:nvSpPr>
          <p:spPr>
            <a:xfrm>
              <a:off x="3756417" y="1716876"/>
              <a:ext cx="1703705" cy="347345"/>
            </a:xfrm>
            <a:custGeom>
              <a:avLst/>
              <a:gdLst/>
              <a:ahLst/>
              <a:cxnLst/>
              <a:rect l="l" t="t" r="r" b="b"/>
              <a:pathLst>
                <a:path w="1703704" h="347344">
                  <a:moveTo>
                    <a:pt x="0" y="0"/>
                  </a:moveTo>
                  <a:lnTo>
                    <a:pt x="1703646" y="346799"/>
                  </a:lnTo>
                </a:path>
              </a:pathLst>
            </a:custGeom>
            <a:ln w="28574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6">
              <a:extLst>
                <a:ext uri="{FF2B5EF4-FFF2-40B4-BE49-F238E27FC236}">
                  <a16:creationId xmlns:a16="http://schemas.microsoft.com/office/drawing/2014/main" xmlns="" id="{767314B6-1934-91D8-9A7D-917C7AE604A9}"/>
                </a:ext>
              </a:extLst>
            </p:cNvPr>
            <p:cNvSpPr/>
            <p:nvPr/>
          </p:nvSpPr>
          <p:spPr>
            <a:xfrm>
              <a:off x="5436376" y="2003138"/>
              <a:ext cx="165049" cy="1210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7">
              <a:extLst>
                <a:ext uri="{FF2B5EF4-FFF2-40B4-BE49-F238E27FC236}">
                  <a16:creationId xmlns:a16="http://schemas.microsoft.com/office/drawing/2014/main" xmlns="" id="{14B65BCF-9766-8ADA-D529-008096F3CD5F}"/>
                </a:ext>
              </a:extLst>
            </p:cNvPr>
            <p:cNvSpPr/>
            <p:nvPr/>
          </p:nvSpPr>
          <p:spPr>
            <a:xfrm>
              <a:off x="4291016" y="1629961"/>
              <a:ext cx="702945" cy="432434"/>
            </a:xfrm>
            <a:custGeom>
              <a:avLst/>
              <a:gdLst/>
              <a:ahLst/>
              <a:cxnLst/>
              <a:rect l="l" t="t" r="r" b="b"/>
              <a:pathLst>
                <a:path w="702945" h="432435">
                  <a:moveTo>
                    <a:pt x="702448" y="432194"/>
                  </a:moveTo>
                  <a:lnTo>
                    <a:pt x="0" y="432194"/>
                  </a:lnTo>
                  <a:lnTo>
                    <a:pt x="0" y="0"/>
                  </a:lnTo>
                  <a:lnTo>
                    <a:pt x="702448" y="0"/>
                  </a:lnTo>
                  <a:lnTo>
                    <a:pt x="702448" y="432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8">
            <a:extLst>
              <a:ext uri="{FF2B5EF4-FFF2-40B4-BE49-F238E27FC236}">
                <a16:creationId xmlns:a16="http://schemas.microsoft.com/office/drawing/2014/main" xmlns="" id="{BC31EE26-15B1-A3EE-D266-72C140C37A3F}"/>
              </a:ext>
            </a:extLst>
          </p:cNvPr>
          <p:cNvSpPr txBox="1"/>
          <p:nvPr/>
        </p:nvSpPr>
        <p:spPr>
          <a:xfrm>
            <a:off x="3423438" y="2820634"/>
            <a:ext cx="1138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ahoma"/>
                <a:cs typeface="Tahoma"/>
              </a:rPr>
              <a:t>FINbit=1,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5" dirty="0">
                <a:latin typeface="Tahoma"/>
                <a:cs typeface="Tahoma"/>
              </a:rPr>
              <a:t>seq=x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7" name="object 69">
            <a:extLst>
              <a:ext uri="{FF2B5EF4-FFF2-40B4-BE49-F238E27FC236}">
                <a16:creationId xmlns:a16="http://schemas.microsoft.com/office/drawing/2014/main" xmlns="" id="{18C68B33-DAA6-0B90-3A1B-D8264F359750}"/>
              </a:ext>
            </a:extLst>
          </p:cNvPr>
          <p:cNvSpPr txBox="1"/>
          <p:nvPr/>
        </p:nvSpPr>
        <p:spPr>
          <a:xfrm>
            <a:off x="2080099" y="2865744"/>
            <a:ext cx="829944" cy="473709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57785" marR="5080" indent="-45720" algn="just">
              <a:lnSpc>
                <a:spcPts val="1130"/>
              </a:lnSpc>
              <a:spcBef>
                <a:spcPts val="245"/>
              </a:spcBef>
            </a:pPr>
            <a:r>
              <a:rPr sz="1050" spc="-5" dirty="0">
                <a:latin typeface="Tahoma"/>
                <a:cs typeface="Tahoma"/>
              </a:rPr>
              <a:t>can no</a:t>
            </a:r>
            <a:r>
              <a:rPr sz="1050" spc="-6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longer  </a:t>
            </a:r>
            <a:r>
              <a:rPr sz="1050" spc="-5" dirty="0">
                <a:latin typeface="Tahoma"/>
                <a:cs typeface="Tahoma"/>
              </a:rPr>
              <a:t>send but</a:t>
            </a:r>
            <a:r>
              <a:rPr sz="1050" spc="-90" dirty="0">
                <a:latin typeface="Tahoma"/>
                <a:cs typeface="Tahoma"/>
              </a:rPr>
              <a:t> </a:t>
            </a:r>
            <a:r>
              <a:rPr sz="1050" spc="-5" dirty="0">
                <a:latin typeface="Tahoma"/>
                <a:cs typeface="Tahoma"/>
              </a:rPr>
              <a:t>can  receive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spc="-5" dirty="0">
                <a:latin typeface="Tahoma"/>
                <a:cs typeface="Tahoma"/>
              </a:rPr>
              <a:t>data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68" name="object 70">
            <a:extLst>
              <a:ext uri="{FF2B5EF4-FFF2-40B4-BE49-F238E27FC236}">
                <a16:creationId xmlns:a16="http://schemas.microsoft.com/office/drawing/2014/main" xmlns="" id="{F1ADF9BD-30DC-774F-695A-1141CF539489}"/>
              </a:ext>
            </a:extLst>
          </p:cNvPr>
          <p:cNvSpPr txBox="1"/>
          <p:nvPr/>
        </p:nvSpPr>
        <p:spPr>
          <a:xfrm>
            <a:off x="1433908" y="2618990"/>
            <a:ext cx="16256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" dirty="0">
                <a:latin typeface="Courier New"/>
                <a:cs typeface="Courier New"/>
              </a:rPr>
              <a:t>clientSocket.close()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69" name="object 71">
            <a:extLst>
              <a:ext uri="{FF2B5EF4-FFF2-40B4-BE49-F238E27FC236}">
                <a16:creationId xmlns:a16="http://schemas.microsoft.com/office/drawing/2014/main" xmlns="" id="{2B9FB9C1-AFCD-9EF7-8ACC-095BF3C34B7B}"/>
              </a:ext>
            </a:extLst>
          </p:cNvPr>
          <p:cNvSpPr txBox="1"/>
          <p:nvPr/>
        </p:nvSpPr>
        <p:spPr>
          <a:xfrm>
            <a:off x="869032" y="1960827"/>
            <a:ext cx="758825" cy="6038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200" i="1" spc="-5" dirty="0">
                <a:solidFill>
                  <a:srgbClr val="000099"/>
                </a:solidFill>
                <a:latin typeface="Tahoma"/>
                <a:cs typeface="Tahoma"/>
              </a:rPr>
              <a:t>client</a:t>
            </a:r>
            <a:r>
              <a:rPr sz="1200" i="1" spc="-75" dirty="0">
                <a:solidFill>
                  <a:srgbClr val="000099"/>
                </a:solidFill>
                <a:latin typeface="Tahoma"/>
                <a:cs typeface="Tahoma"/>
              </a:rPr>
              <a:t> </a:t>
            </a:r>
            <a:r>
              <a:rPr sz="1200" i="1" spc="-5" dirty="0">
                <a:solidFill>
                  <a:srgbClr val="000099"/>
                </a:solidFill>
                <a:latin typeface="Tahoma"/>
                <a:cs typeface="Tahoma"/>
              </a:rPr>
              <a:t>state</a:t>
            </a:r>
            <a:endParaRPr sz="1200">
              <a:latin typeface="Tahoma"/>
              <a:cs typeface="Tahoma"/>
            </a:endParaRPr>
          </a:p>
          <a:p>
            <a:pPr marL="73660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latin typeface="Tahoma"/>
                <a:cs typeface="Tahoma"/>
              </a:rPr>
              <a:t>ESTAB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0" name="object 72">
            <a:extLst>
              <a:ext uri="{FF2B5EF4-FFF2-40B4-BE49-F238E27FC236}">
                <a16:creationId xmlns:a16="http://schemas.microsoft.com/office/drawing/2014/main" xmlns="" id="{DD7C8AFC-1999-BD07-BF69-C42E931029B7}"/>
              </a:ext>
            </a:extLst>
          </p:cNvPr>
          <p:cNvSpPr txBox="1"/>
          <p:nvPr/>
        </p:nvSpPr>
        <p:spPr>
          <a:xfrm>
            <a:off x="6010436" y="1973924"/>
            <a:ext cx="816610" cy="6038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200" i="1" spc="-5" dirty="0">
                <a:solidFill>
                  <a:srgbClr val="000099"/>
                </a:solidFill>
                <a:latin typeface="Tahoma"/>
                <a:cs typeface="Tahoma"/>
              </a:rPr>
              <a:t>server</a:t>
            </a:r>
            <a:r>
              <a:rPr sz="1200" i="1" spc="-95" dirty="0">
                <a:solidFill>
                  <a:srgbClr val="000099"/>
                </a:solidFill>
                <a:latin typeface="Tahoma"/>
                <a:cs typeface="Tahoma"/>
              </a:rPr>
              <a:t> </a:t>
            </a:r>
            <a:r>
              <a:rPr sz="1200" i="1" spc="-5" dirty="0">
                <a:solidFill>
                  <a:srgbClr val="000099"/>
                </a:solidFill>
                <a:latin typeface="Tahoma"/>
                <a:cs typeface="Tahoma"/>
              </a:rPr>
              <a:t>state</a:t>
            </a:r>
            <a:endParaRPr sz="1200">
              <a:latin typeface="Tahoma"/>
              <a:cs typeface="Tahoma"/>
            </a:endParaRPr>
          </a:p>
          <a:p>
            <a:pPr marL="358775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latin typeface="Tahoma"/>
                <a:cs typeface="Tahoma"/>
              </a:rPr>
              <a:t>ESTAB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71" name="object 73">
            <a:extLst>
              <a:ext uri="{FF2B5EF4-FFF2-40B4-BE49-F238E27FC236}">
                <a16:creationId xmlns:a16="http://schemas.microsoft.com/office/drawing/2014/main" xmlns="" id="{E63A4958-06C6-2911-76F7-31DCAF69E82C}"/>
              </a:ext>
            </a:extLst>
          </p:cNvPr>
          <p:cNvGrpSpPr/>
          <p:nvPr/>
        </p:nvGrpSpPr>
        <p:grpSpPr>
          <a:xfrm>
            <a:off x="2812246" y="2103626"/>
            <a:ext cx="2226945" cy="452755"/>
            <a:chOff x="3498043" y="1079895"/>
            <a:chExt cx="2226945" cy="452755"/>
          </a:xfrm>
        </p:grpSpPr>
        <p:sp>
          <p:nvSpPr>
            <p:cNvPr id="72" name="object 74">
              <a:extLst>
                <a:ext uri="{FF2B5EF4-FFF2-40B4-BE49-F238E27FC236}">
                  <a16:creationId xmlns:a16="http://schemas.microsoft.com/office/drawing/2014/main" xmlns="" id="{ACD72FA0-7333-9664-4A80-64FC180475C7}"/>
                </a:ext>
              </a:extLst>
            </p:cNvPr>
            <p:cNvSpPr/>
            <p:nvPr/>
          </p:nvSpPr>
          <p:spPr>
            <a:xfrm>
              <a:off x="3498043" y="1082277"/>
              <a:ext cx="482199" cy="45005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5">
              <a:extLst>
                <a:ext uri="{FF2B5EF4-FFF2-40B4-BE49-F238E27FC236}">
                  <a16:creationId xmlns:a16="http://schemas.microsoft.com/office/drawing/2014/main" xmlns="" id="{89AC8F20-101E-7192-C144-421CDB764BEF}"/>
                </a:ext>
              </a:extLst>
            </p:cNvPr>
            <p:cNvSpPr/>
            <p:nvPr/>
          </p:nvSpPr>
          <p:spPr>
            <a:xfrm>
              <a:off x="3703517" y="1125450"/>
              <a:ext cx="234449" cy="20608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6">
              <a:extLst>
                <a:ext uri="{FF2B5EF4-FFF2-40B4-BE49-F238E27FC236}">
                  <a16:creationId xmlns:a16="http://schemas.microsoft.com/office/drawing/2014/main" xmlns="" id="{8D0CBB91-C816-E442-A203-15ED550558E0}"/>
                </a:ext>
              </a:extLst>
            </p:cNvPr>
            <p:cNvSpPr/>
            <p:nvPr/>
          </p:nvSpPr>
          <p:spPr>
            <a:xfrm>
              <a:off x="5483964" y="1084657"/>
              <a:ext cx="238074" cy="3675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7">
              <a:extLst>
                <a:ext uri="{FF2B5EF4-FFF2-40B4-BE49-F238E27FC236}">
                  <a16:creationId xmlns:a16="http://schemas.microsoft.com/office/drawing/2014/main" xmlns="" id="{42B951E1-5904-9564-F066-853840E79F11}"/>
                </a:ext>
              </a:extLst>
            </p:cNvPr>
            <p:cNvSpPr/>
            <p:nvPr/>
          </p:nvSpPr>
          <p:spPr>
            <a:xfrm>
              <a:off x="5485214" y="1127512"/>
              <a:ext cx="105410" cy="7620"/>
            </a:xfrm>
            <a:custGeom>
              <a:avLst/>
              <a:gdLst/>
              <a:ahLst/>
              <a:cxnLst/>
              <a:rect l="l" t="t" r="r" b="b"/>
              <a:pathLst>
                <a:path w="105410" h="7619">
                  <a:moveTo>
                    <a:pt x="104849" y="7222"/>
                  </a:moveTo>
                  <a:lnTo>
                    <a:pt x="0" y="7222"/>
                  </a:lnTo>
                  <a:lnTo>
                    <a:pt x="0" y="0"/>
                  </a:lnTo>
                  <a:lnTo>
                    <a:pt x="104849" y="0"/>
                  </a:lnTo>
                  <a:lnTo>
                    <a:pt x="104849" y="72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8">
              <a:extLst>
                <a:ext uri="{FF2B5EF4-FFF2-40B4-BE49-F238E27FC236}">
                  <a16:creationId xmlns:a16="http://schemas.microsoft.com/office/drawing/2014/main" xmlns="" id="{448CFFD2-B29A-DEC2-702E-4992EFB1EC57}"/>
                </a:ext>
              </a:extLst>
            </p:cNvPr>
            <p:cNvSpPr/>
            <p:nvPr/>
          </p:nvSpPr>
          <p:spPr>
            <a:xfrm>
              <a:off x="5485214" y="1127512"/>
              <a:ext cx="105410" cy="7620"/>
            </a:xfrm>
            <a:custGeom>
              <a:avLst/>
              <a:gdLst/>
              <a:ahLst/>
              <a:cxnLst/>
              <a:rect l="l" t="t" r="r" b="b"/>
              <a:pathLst>
                <a:path w="105410" h="7619">
                  <a:moveTo>
                    <a:pt x="0" y="0"/>
                  </a:moveTo>
                  <a:lnTo>
                    <a:pt x="104849" y="0"/>
                  </a:lnTo>
                  <a:lnTo>
                    <a:pt x="104849" y="7222"/>
                  </a:lnTo>
                  <a:lnTo>
                    <a:pt x="0" y="722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9">
              <a:extLst>
                <a:ext uri="{FF2B5EF4-FFF2-40B4-BE49-F238E27FC236}">
                  <a16:creationId xmlns:a16="http://schemas.microsoft.com/office/drawing/2014/main" xmlns="" id="{2BBFF424-BBFA-D318-68BB-D6364ABEB144}"/>
                </a:ext>
              </a:extLst>
            </p:cNvPr>
            <p:cNvSpPr/>
            <p:nvPr/>
          </p:nvSpPr>
          <p:spPr>
            <a:xfrm>
              <a:off x="5580388" y="1122682"/>
              <a:ext cx="102870" cy="24130"/>
            </a:xfrm>
            <a:custGeom>
              <a:avLst/>
              <a:gdLst/>
              <a:ahLst/>
              <a:cxnLst/>
              <a:rect l="l" t="t" r="r" b="b"/>
              <a:pathLst>
                <a:path w="102870" h="24130">
                  <a:moveTo>
                    <a:pt x="97024" y="23777"/>
                  </a:moveTo>
                  <a:lnTo>
                    <a:pt x="5324" y="23777"/>
                  </a:lnTo>
                  <a:lnTo>
                    <a:pt x="0" y="18454"/>
                  </a:lnTo>
                  <a:lnTo>
                    <a:pt x="0" y="5322"/>
                  </a:lnTo>
                  <a:lnTo>
                    <a:pt x="5324" y="0"/>
                  </a:lnTo>
                  <a:lnTo>
                    <a:pt x="93624" y="0"/>
                  </a:lnTo>
                  <a:lnTo>
                    <a:pt x="96649" y="1252"/>
                  </a:lnTo>
                  <a:lnTo>
                    <a:pt x="101099" y="5712"/>
                  </a:lnTo>
                  <a:lnTo>
                    <a:pt x="102349" y="8734"/>
                  </a:lnTo>
                  <a:lnTo>
                    <a:pt x="102349" y="184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80">
              <a:extLst>
                <a:ext uri="{FF2B5EF4-FFF2-40B4-BE49-F238E27FC236}">
                  <a16:creationId xmlns:a16="http://schemas.microsoft.com/office/drawing/2014/main" xmlns="" id="{F5EDB6BB-3493-D44F-697B-600E60B20B90}"/>
                </a:ext>
              </a:extLst>
            </p:cNvPr>
            <p:cNvSpPr/>
            <p:nvPr/>
          </p:nvSpPr>
          <p:spPr>
            <a:xfrm>
              <a:off x="5582813" y="1125195"/>
              <a:ext cx="97649" cy="190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81">
              <a:extLst>
                <a:ext uri="{FF2B5EF4-FFF2-40B4-BE49-F238E27FC236}">
                  <a16:creationId xmlns:a16="http://schemas.microsoft.com/office/drawing/2014/main" xmlns="" id="{38733D90-192A-5ECE-7244-A5369C2EB362}"/>
                </a:ext>
              </a:extLst>
            </p:cNvPr>
            <p:cNvSpPr/>
            <p:nvPr/>
          </p:nvSpPr>
          <p:spPr>
            <a:xfrm>
              <a:off x="5486439" y="1179837"/>
              <a:ext cx="106045" cy="7620"/>
            </a:xfrm>
            <a:custGeom>
              <a:avLst/>
              <a:gdLst/>
              <a:ahLst/>
              <a:cxnLst/>
              <a:rect l="l" t="t" r="r" b="b"/>
              <a:pathLst>
                <a:path w="106045" h="7619">
                  <a:moveTo>
                    <a:pt x="105924" y="7222"/>
                  </a:moveTo>
                  <a:lnTo>
                    <a:pt x="0" y="7222"/>
                  </a:lnTo>
                  <a:lnTo>
                    <a:pt x="0" y="0"/>
                  </a:lnTo>
                  <a:lnTo>
                    <a:pt x="105924" y="0"/>
                  </a:lnTo>
                  <a:lnTo>
                    <a:pt x="105924" y="72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2">
              <a:extLst>
                <a:ext uri="{FF2B5EF4-FFF2-40B4-BE49-F238E27FC236}">
                  <a16:creationId xmlns:a16="http://schemas.microsoft.com/office/drawing/2014/main" xmlns="" id="{2CE8766B-FE4D-E655-8162-590B6482B4C2}"/>
                </a:ext>
              </a:extLst>
            </p:cNvPr>
            <p:cNvSpPr/>
            <p:nvPr/>
          </p:nvSpPr>
          <p:spPr>
            <a:xfrm>
              <a:off x="5486439" y="1179837"/>
              <a:ext cx="106045" cy="7620"/>
            </a:xfrm>
            <a:custGeom>
              <a:avLst/>
              <a:gdLst/>
              <a:ahLst/>
              <a:cxnLst/>
              <a:rect l="l" t="t" r="r" b="b"/>
              <a:pathLst>
                <a:path w="106045" h="7619">
                  <a:moveTo>
                    <a:pt x="0" y="0"/>
                  </a:moveTo>
                  <a:lnTo>
                    <a:pt x="105924" y="0"/>
                  </a:lnTo>
                  <a:lnTo>
                    <a:pt x="105924" y="7222"/>
                  </a:lnTo>
                  <a:lnTo>
                    <a:pt x="0" y="722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3">
              <a:extLst>
                <a:ext uri="{FF2B5EF4-FFF2-40B4-BE49-F238E27FC236}">
                  <a16:creationId xmlns:a16="http://schemas.microsoft.com/office/drawing/2014/main" xmlns="" id="{EB9B38DD-AB9B-2177-5952-005B2E18DD67}"/>
                </a:ext>
              </a:extLst>
            </p:cNvPr>
            <p:cNvSpPr/>
            <p:nvPr/>
          </p:nvSpPr>
          <p:spPr>
            <a:xfrm>
              <a:off x="5579188" y="1175187"/>
              <a:ext cx="104139" cy="21590"/>
            </a:xfrm>
            <a:custGeom>
              <a:avLst/>
              <a:gdLst/>
              <a:ahLst/>
              <a:cxnLst/>
              <a:rect l="l" t="t" r="r" b="b"/>
              <a:pathLst>
                <a:path w="104139" h="21590">
                  <a:moveTo>
                    <a:pt x="98824" y="21509"/>
                  </a:moveTo>
                  <a:lnTo>
                    <a:pt x="4824" y="21509"/>
                  </a:lnTo>
                  <a:lnTo>
                    <a:pt x="0" y="16694"/>
                  </a:lnTo>
                  <a:lnTo>
                    <a:pt x="0" y="4814"/>
                  </a:lnTo>
                  <a:lnTo>
                    <a:pt x="4824" y="0"/>
                  </a:lnTo>
                  <a:lnTo>
                    <a:pt x="95724" y="0"/>
                  </a:lnTo>
                  <a:lnTo>
                    <a:pt x="98449" y="1134"/>
                  </a:lnTo>
                  <a:lnTo>
                    <a:pt x="100474" y="3149"/>
                  </a:lnTo>
                  <a:lnTo>
                    <a:pt x="102499" y="5167"/>
                  </a:lnTo>
                  <a:lnTo>
                    <a:pt x="103624" y="7902"/>
                  </a:lnTo>
                  <a:lnTo>
                    <a:pt x="103624" y="166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4">
              <a:extLst>
                <a:ext uri="{FF2B5EF4-FFF2-40B4-BE49-F238E27FC236}">
                  <a16:creationId xmlns:a16="http://schemas.microsoft.com/office/drawing/2014/main" xmlns="" id="{BD10AF9F-232D-410C-803A-818853D3A392}"/>
                </a:ext>
              </a:extLst>
            </p:cNvPr>
            <p:cNvSpPr/>
            <p:nvPr/>
          </p:nvSpPr>
          <p:spPr>
            <a:xfrm>
              <a:off x="5581613" y="1177510"/>
              <a:ext cx="98799" cy="1670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5">
              <a:extLst>
                <a:ext uri="{FF2B5EF4-FFF2-40B4-BE49-F238E27FC236}">
                  <a16:creationId xmlns:a16="http://schemas.microsoft.com/office/drawing/2014/main" xmlns="" id="{03D7D840-9607-CF40-7AEC-62A5C7E8A1FA}"/>
                </a:ext>
              </a:extLst>
            </p:cNvPr>
            <p:cNvSpPr/>
            <p:nvPr/>
          </p:nvSpPr>
          <p:spPr>
            <a:xfrm>
              <a:off x="5485214" y="1233447"/>
              <a:ext cx="106045" cy="7620"/>
            </a:xfrm>
            <a:custGeom>
              <a:avLst/>
              <a:gdLst/>
              <a:ahLst/>
              <a:cxnLst/>
              <a:rect l="l" t="t" r="r" b="b"/>
              <a:pathLst>
                <a:path w="106045" h="7619">
                  <a:moveTo>
                    <a:pt x="105924" y="7222"/>
                  </a:moveTo>
                  <a:lnTo>
                    <a:pt x="0" y="7222"/>
                  </a:lnTo>
                  <a:lnTo>
                    <a:pt x="0" y="0"/>
                  </a:lnTo>
                  <a:lnTo>
                    <a:pt x="105924" y="0"/>
                  </a:lnTo>
                  <a:lnTo>
                    <a:pt x="105924" y="72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6">
              <a:extLst>
                <a:ext uri="{FF2B5EF4-FFF2-40B4-BE49-F238E27FC236}">
                  <a16:creationId xmlns:a16="http://schemas.microsoft.com/office/drawing/2014/main" xmlns="" id="{E72DE534-DAD4-1A2E-CF9D-117EA029165B}"/>
                </a:ext>
              </a:extLst>
            </p:cNvPr>
            <p:cNvSpPr/>
            <p:nvPr/>
          </p:nvSpPr>
          <p:spPr>
            <a:xfrm>
              <a:off x="5485214" y="1233447"/>
              <a:ext cx="106045" cy="7620"/>
            </a:xfrm>
            <a:custGeom>
              <a:avLst/>
              <a:gdLst/>
              <a:ahLst/>
              <a:cxnLst/>
              <a:rect l="l" t="t" r="r" b="b"/>
              <a:pathLst>
                <a:path w="106045" h="7619">
                  <a:moveTo>
                    <a:pt x="0" y="0"/>
                  </a:moveTo>
                  <a:lnTo>
                    <a:pt x="105924" y="0"/>
                  </a:lnTo>
                  <a:lnTo>
                    <a:pt x="105924" y="7222"/>
                  </a:lnTo>
                  <a:lnTo>
                    <a:pt x="0" y="722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7">
              <a:extLst>
                <a:ext uri="{FF2B5EF4-FFF2-40B4-BE49-F238E27FC236}">
                  <a16:creationId xmlns:a16="http://schemas.microsoft.com/office/drawing/2014/main" xmlns="" id="{D32EA8BD-3111-82A8-8F8C-2ED2D34AF229}"/>
                </a:ext>
              </a:extLst>
            </p:cNvPr>
            <p:cNvSpPr/>
            <p:nvPr/>
          </p:nvSpPr>
          <p:spPr>
            <a:xfrm>
              <a:off x="5487514" y="1281117"/>
              <a:ext cx="106045" cy="8890"/>
            </a:xfrm>
            <a:custGeom>
              <a:avLst/>
              <a:gdLst/>
              <a:ahLst/>
              <a:cxnLst/>
              <a:rect l="l" t="t" r="r" b="b"/>
              <a:pathLst>
                <a:path w="106045" h="8890">
                  <a:moveTo>
                    <a:pt x="105924" y="8344"/>
                  </a:moveTo>
                  <a:lnTo>
                    <a:pt x="0" y="8344"/>
                  </a:lnTo>
                  <a:lnTo>
                    <a:pt x="0" y="0"/>
                  </a:lnTo>
                  <a:lnTo>
                    <a:pt x="105924" y="0"/>
                  </a:lnTo>
                  <a:lnTo>
                    <a:pt x="105924" y="8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8">
              <a:extLst>
                <a:ext uri="{FF2B5EF4-FFF2-40B4-BE49-F238E27FC236}">
                  <a16:creationId xmlns:a16="http://schemas.microsoft.com/office/drawing/2014/main" xmlns="" id="{5B03D632-40D1-125D-9F33-D0347CC91BA8}"/>
                </a:ext>
              </a:extLst>
            </p:cNvPr>
            <p:cNvSpPr/>
            <p:nvPr/>
          </p:nvSpPr>
          <p:spPr>
            <a:xfrm>
              <a:off x="5487514" y="1281117"/>
              <a:ext cx="106045" cy="8890"/>
            </a:xfrm>
            <a:custGeom>
              <a:avLst/>
              <a:gdLst/>
              <a:ahLst/>
              <a:cxnLst/>
              <a:rect l="l" t="t" r="r" b="b"/>
              <a:pathLst>
                <a:path w="106045" h="8890">
                  <a:moveTo>
                    <a:pt x="0" y="0"/>
                  </a:moveTo>
                  <a:lnTo>
                    <a:pt x="105924" y="0"/>
                  </a:lnTo>
                  <a:lnTo>
                    <a:pt x="105924" y="8344"/>
                  </a:lnTo>
                  <a:lnTo>
                    <a:pt x="0" y="834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9">
              <a:extLst>
                <a:ext uri="{FF2B5EF4-FFF2-40B4-BE49-F238E27FC236}">
                  <a16:creationId xmlns:a16="http://schemas.microsoft.com/office/drawing/2014/main" xmlns="" id="{6C6C3AA7-3FED-1A85-9618-9935325E158F}"/>
                </a:ext>
              </a:extLst>
            </p:cNvPr>
            <p:cNvSpPr/>
            <p:nvPr/>
          </p:nvSpPr>
          <p:spPr>
            <a:xfrm>
              <a:off x="5578063" y="1277467"/>
              <a:ext cx="102870" cy="24130"/>
            </a:xfrm>
            <a:custGeom>
              <a:avLst/>
              <a:gdLst/>
              <a:ahLst/>
              <a:cxnLst/>
              <a:rect l="l" t="t" r="r" b="b"/>
              <a:pathLst>
                <a:path w="102870" h="24130">
                  <a:moveTo>
                    <a:pt x="97024" y="23887"/>
                  </a:moveTo>
                  <a:lnTo>
                    <a:pt x="5349" y="23887"/>
                  </a:lnTo>
                  <a:lnTo>
                    <a:pt x="0" y="18539"/>
                  </a:lnTo>
                  <a:lnTo>
                    <a:pt x="0" y="5347"/>
                  </a:lnTo>
                  <a:lnTo>
                    <a:pt x="5349" y="0"/>
                  </a:lnTo>
                  <a:lnTo>
                    <a:pt x="93599" y="0"/>
                  </a:lnTo>
                  <a:lnTo>
                    <a:pt x="96649" y="1257"/>
                  </a:lnTo>
                  <a:lnTo>
                    <a:pt x="98874" y="3497"/>
                  </a:lnTo>
                  <a:lnTo>
                    <a:pt x="101124" y="5737"/>
                  </a:lnTo>
                  <a:lnTo>
                    <a:pt x="102374" y="8774"/>
                  </a:lnTo>
                  <a:lnTo>
                    <a:pt x="102374" y="185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90">
              <a:extLst>
                <a:ext uri="{FF2B5EF4-FFF2-40B4-BE49-F238E27FC236}">
                  <a16:creationId xmlns:a16="http://schemas.microsoft.com/office/drawing/2014/main" xmlns="" id="{6B6FDA1F-75F8-07D2-58B3-A4A4B26355B3}"/>
                </a:ext>
              </a:extLst>
            </p:cNvPr>
            <p:cNvSpPr/>
            <p:nvPr/>
          </p:nvSpPr>
          <p:spPr>
            <a:xfrm>
              <a:off x="5580488" y="1279907"/>
              <a:ext cx="97674" cy="1900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91">
              <a:extLst>
                <a:ext uri="{FF2B5EF4-FFF2-40B4-BE49-F238E27FC236}">
                  <a16:creationId xmlns:a16="http://schemas.microsoft.com/office/drawing/2014/main" xmlns="" id="{71443C4C-C619-C65D-9ECB-2DA057CD7E6C}"/>
                </a:ext>
              </a:extLst>
            </p:cNvPr>
            <p:cNvSpPr/>
            <p:nvPr/>
          </p:nvSpPr>
          <p:spPr>
            <a:xfrm>
              <a:off x="5675438" y="1233125"/>
              <a:ext cx="46599" cy="301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2">
              <a:extLst>
                <a:ext uri="{FF2B5EF4-FFF2-40B4-BE49-F238E27FC236}">
                  <a16:creationId xmlns:a16="http://schemas.microsoft.com/office/drawing/2014/main" xmlns="" id="{E402F65A-4776-B62F-082E-785A4D4A801A}"/>
                </a:ext>
              </a:extLst>
            </p:cNvPr>
            <p:cNvSpPr/>
            <p:nvPr/>
          </p:nvSpPr>
          <p:spPr>
            <a:xfrm>
              <a:off x="5578063" y="1228792"/>
              <a:ext cx="104139" cy="22860"/>
            </a:xfrm>
            <a:custGeom>
              <a:avLst/>
              <a:gdLst/>
              <a:ahLst/>
              <a:cxnLst/>
              <a:rect l="l" t="t" r="r" b="b"/>
              <a:pathLst>
                <a:path w="104139" h="22859">
                  <a:moveTo>
                    <a:pt x="98449" y="22629"/>
                  </a:moveTo>
                  <a:lnTo>
                    <a:pt x="5074" y="22629"/>
                  </a:lnTo>
                  <a:lnTo>
                    <a:pt x="0" y="17564"/>
                  </a:lnTo>
                  <a:lnTo>
                    <a:pt x="0" y="5064"/>
                  </a:lnTo>
                  <a:lnTo>
                    <a:pt x="5074" y="0"/>
                  </a:lnTo>
                  <a:lnTo>
                    <a:pt x="95199" y="0"/>
                  </a:lnTo>
                  <a:lnTo>
                    <a:pt x="98074" y="1192"/>
                  </a:lnTo>
                  <a:lnTo>
                    <a:pt x="100199" y="3312"/>
                  </a:lnTo>
                  <a:lnTo>
                    <a:pt x="102324" y="5434"/>
                  </a:lnTo>
                  <a:lnTo>
                    <a:pt x="103524" y="8314"/>
                  </a:lnTo>
                  <a:lnTo>
                    <a:pt x="103524" y="175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3">
              <a:extLst>
                <a:ext uri="{FF2B5EF4-FFF2-40B4-BE49-F238E27FC236}">
                  <a16:creationId xmlns:a16="http://schemas.microsoft.com/office/drawing/2014/main" xmlns="" id="{915922AF-9A1E-27D7-F7C2-10021131D5BD}"/>
                </a:ext>
              </a:extLst>
            </p:cNvPr>
            <p:cNvSpPr/>
            <p:nvPr/>
          </p:nvSpPr>
          <p:spPr>
            <a:xfrm>
              <a:off x="5580488" y="1084657"/>
              <a:ext cx="99924" cy="36787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4">
              <a:extLst>
                <a:ext uri="{FF2B5EF4-FFF2-40B4-BE49-F238E27FC236}">
                  <a16:creationId xmlns:a16="http://schemas.microsoft.com/office/drawing/2014/main" xmlns="" id="{FE53AA9D-4B4B-8EA7-FE1C-5F807602936A}"/>
                </a:ext>
              </a:extLst>
            </p:cNvPr>
            <p:cNvSpPr/>
            <p:nvPr/>
          </p:nvSpPr>
          <p:spPr>
            <a:xfrm>
              <a:off x="5668538" y="1084657"/>
              <a:ext cx="12065" cy="368300"/>
            </a:xfrm>
            <a:custGeom>
              <a:avLst/>
              <a:gdLst/>
              <a:ahLst/>
              <a:cxnLst/>
              <a:rect l="l" t="t" r="r" b="b"/>
              <a:pathLst>
                <a:path w="12064" h="368300">
                  <a:moveTo>
                    <a:pt x="0" y="0"/>
                  </a:moveTo>
                  <a:lnTo>
                    <a:pt x="11874" y="0"/>
                  </a:lnTo>
                  <a:lnTo>
                    <a:pt x="11874" y="367879"/>
                  </a:lnTo>
                  <a:lnTo>
                    <a:pt x="0" y="3678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5">
              <a:extLst>
                <a:ext uri="{FF2B5EF4-FFF2-40B4-BE49-F238E27FC236}">
                  <a16:creationId xmlns:a16="http://schemas.microsoft.com/office/drawing/2014/main" xmlns="" id="{525B8AB3-586C-F5BC-B067-994F58928DB7}"/>
                </a:ext>
              </a:extLst>
            </p:cNvPr>
            <p:cNvSpPr/>
            <p:nvPr/>
          </p:nvSpPr>
          <p:spPr>
            <a:xfrm>
              <a:off x="5679688" y="1177430"/>
              <a:ext cx="41999" cy="3418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6">
              <a:extLst>
                <a:ext uri="{FF2B5EF4-FFF2-40B4-BE49-F238E27FC236}">
                  <a16:creationId xmlns:a16="http://schemas.microsoft.com/office/drawing/2014/main" xmlns="" id="{B5750729-CEE3-3588-308E-030DEFD1E76F}"/>
                </a:ext>
              </a:extLst>
            </p:cNvPr>
            <p:cNvSpPr/>
            <p:nvPr/>
          </p:nvSpPr>
          <p:spPr>
            <a:xfrm>
              <a:off x="5680238" y="1124945"/>
              <a:ext cx="43199" cy="3851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7">
              <a:extLst>
                <a:ext uri="{FF2B5EF4-FFF2-40B4-BE49-F238E27FC236}">
                  <a16:creationId xmlns:a16="http://schemas.microsoft.com/office/drawing/2014/main" xmlns="" id="{7EEE7AEC-B357-6ACC-6048-67A2D527BA8F}"/>
                </a:ext>
              </a:extLst>
            </p:cNvPr>
            <p:cNvSpPr/>
            <p:nvPr/>
          </p:nvSpPr>
          <p:spPr>
            <a:xfrm>
              <a:off x="5677929" y="1434731"/>
              <a:ext cx="46990" cy="33020"/>
            </a:xfrm>
            <a:custGeom>
              <a:avLst/>
              <a:gdLst/>
              <a:ahLst/>
              <a:cxnLst/>
              <a:rect l="l" t="t" r="r" b="b"/>
              <a:pathLst>
                <a:path w="46989" h="33019">
                  <a:moveTo>
                    <a:pt x="46583" y="5651"/>
                  </a:moveTo>
                  <a:lnTo>
                    <a:pt x="46126" y="3695"/>
                  </a:lnTo>
                  <a:lnTo>
                    <a:pt x="44577" y="812"/>
                  </a:lnTo>
                  <a:lnTo>
                    <a:pt x="43522" y="0"/>
                  </a:lnTo>
                  <a:lnTo>
                    <a:pt x="40132" y="0"/>
                  </a:lnTo>
                  <a:lnTo>
                    <a:pt x="39166" y="1765"/>
                  </a:lnTo>
                  <a:lnTo>
                    <a:pt x="0" y="14808"/>
                  </a:lnTo>
                  <a:lnTo>
                    <a:pt x="279" y="32740"/>
                  </a:lnTo>
                  <a:lnTo>
                    <a:pt x="43256" y="15405"/>
                  </a:lnTo>
                  <a:lnTo>
                    <a:pt x="44704" y="15405"/>
                  </a:lnTo>
                  <a:lnTo>
                    <a:pt x="46583" y="11950"/>
                  </a:lnTo>
                  <a:lnTo>
                    <a:pt x="46583" y="5651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8">
              <a:extLst>
                <a:ext uri="{FF2B5EF4-FFF2-40B4-BE49-F238E27FC236}">
                  <a16:creationId xmlns:a16="http://schemas.microsoft.com/office/drawing/2014/main" xmlns="" id="{4C0CA59B-8147-F80F-B9DC-E2823F849DDF}"/>
                </a:ext>
              </a:extLst>
            </p:cNvPr>
            <p:cNvSpPr/>
            <p:nvPr/>
          </p:nvSpPr>
          <p:spPr>
            <a:xfrm>
              <a:off x="5472089" y="1445474"/>
              <a:ext cx="212090" cy="24130"/>
            </a:xfrm>
            <a:custGeom>
              <a:avLst/>
              <a:gdLst/>
              <a:ahLst/>
              <a:cxnLst/>
              <a:rect l="l" t="t" r="r" b="b"/>
              <a:pathLst>
                <a:path w="212089" h="24130">
                  <a:moveTo>
                    <a:pt x="206549" y="23754"/>
                  </a:moveTo>
                  <a:lnTo>
                    <a:pt x="5324" y="23754"/>
                  </a:lnTo>
                  <a:lnTo>
                    <a:pt x="0" y="18437"/>
                  </a:lnTo>
                  <a:lnTo>
                    <a:pt x="0" y="5317"/>
                  </a:lnTo>
                  <a:lnTo>
                    <a:pt x="5324" y="0"/>
                  </a:lnTo>
                  <a:lnTo>
                    <a:pt x="203124" y="0"/>
                  </a:lnTo>
                  <a:lnTo>
                    <a:pt x="206149" y="1249"/>
                  </a:lnTo>
                  <a:lnTo>
                    <a:pt x="210599" y="5704"/>
                  </a:lnTo>
                  <a:lnTo>
                    <a:pt x="211849" y="8727"/>
                  </a:lnTo>
                  <a:lnTo>
                    <a:pt x="211849" y="1843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9">
              <a:extLst>
                <a:ext uri="{FF2B5EF4-FFF2-40B4-BE49-F238E27FC236}">
                  <a16:creationId xmlns:a16="http://schemas.microsoft.com/office/drawing/2014/main" xmlns="" id="{8434B0E3-E79C-5DC7-7F85-4329AAFA62B7}"/>
                </a:ext>
              </a:extLst>
            </p:cNvPr>
            <p:cNvSpPr/>
            <p:nvPr/>
          </p:nvSpPr>
          <p:spPr>
            <a:xfrm>
              <a:off x="5472089" y="1445474"/>
              <a:ext cx="212090" cy="24130"/>
            </a:xfrm>
            <a:custGeom>
              <a:avLst/>
              <a:gdLst/>
              <a:ahLst/>
              <a:cxnLst/>
              <a:rect l="l" t="t" r="r" b="b"/>
              <a:pathLst>
                <a:path w="212089" h="24130">
                  <a:moveTo>
                    <a:pt x="0" y="11877"/>
                  </a:moveTo>
                  <a:lnTo>
                    <a:pt x="0" y="5317"/>
                  </a:lnTo>
                  <a:lnTo>
                    <a:pt x="5324" y="0"/>
                  </a:lnTo>
                  <a:lnTo>
                    <a:pt x="11899" y="0"/>
                  </a:lnTo>
                  <a:lnTo>
                    <a:pt x="199974" y="0"/>
                  </a:lnTo>
                  <a:lnTo>
                    <a:pt x="203124" y="0"/>
                  </a:lnTo>
                  <a:lnTo>
                    <a:pt x="206149" y="1249"/>
                  </a:lnTo>
                  <a:lnTo>
                    <a:pt x="208374" y="3477"/>
                  </a:lnTo>
                  <a:lnTo>
                    <a:pt x="210599" y="5704"/>
                  </a:lnTo>
                  <a:lnTo>
                    <a:pt x="211849" y="8727"/>
                  </a:lnTo>
                  <a:lnTo>
                    <a:pt x="211849" y="11877"/>
                  </a:lnTo>
                  <a:lnTo>
                    <a:pt x="211849" y="18437"/>
                  </a:lnTo>
                  <a:lnTo>
                    <a:pt x="206549" y="23754"/>
                  </a:lnTo>
                  <a:lnTo>
                    <a:pt x="199974" y="23754"/>
                  </a:lnTo>
                  <a:lnTo>
                    <a:pt x="11899" y="23754"/>
                  </a:lnTo>
                  <a:lnTo>
                    <a:pt x="5324" y="23754"/>
                  </a:lnTo>
                  <a:lnTo>
                    <a:pt x="0" y="18437"/>
                  </a:lnTo>
                  <a:lnTo>
                    <a:pt x="0" y="1187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100">
              <a:extLst>
                <a:ext uri="{FF2B5EF4-FFF2-40B4-BE49-F238E27FC236}">
                  <a16:creationId xmlns:a16="http://schemas.microsoft.com/office/drawing/2014/main" xmlns="" id="{EEBFD0DA-62A7-599B-6534-DFBE721A0901}"/>
                </a:ext>
              </a:extLst>
            </p:cNvPr>
            <p:cNvSpPr/>
            <p:nvPr/>
          </p:nvSpPr>
          <p:spPr>
            <a:xfrm>
              <a:off x="5483964" y="1451412"/>
              <a:ext cx="189349" cy="13162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01">
              <a:extLst>
                <a:ext uri="{FF2B5EF4-FFF2-40B4-BE49-F238E27FC236}">
                  <a16:creationId xmlns:a16="http://schemas.microsoft.com/office/drawing/2014/main" xmlns="" id="{84549478-680A-254B-97B3-78564F1B92BE}"/>
                </a:ext>
              </a:extLst>
            </p:cNvPr>
            <p:cNvSpPr/>
            <p:nvPr/>
          </p:nvSpPr>
          <p:spPr>
            <a:xfrm>
              <a:off x="5483964" y="1451412"/>
              <a:ext cx="189865" cy="13335"/>
            </a:xfrm>
            <a:custGeom>
              <a:avLst/>
              <a:gdLst/>
              <a:ahLst/>
              <a:cxnLst/>
              <a:rect l="l" t="t" r="r" b="b"/>
              <a:pathLst>
                <a:path w="189864" h="13334">
                  <a:moveTo>
                    <a:pt x="0" y="6582"/>
                  </a:moveTo>
                  <a:lnTo>
                    <a:pt x="0" y="2947"/>
                  </a:lnTo>
                  <a:lnTo>
                    <a:pt x="2949" y="0"/>
                  </a:lnTo>
                  <a:lnTo>
                    <a:pt x="6574" y="0"/>
                  </a:lnTo>
                  <a:lnTo>
                    <a:pt x="182774" y="0"/>
                  </a:lnTo>
                  <a:lnTo>
                    <a:pt x="184524" y="0"/>
                  </a:lnTo>
                  <a:lnTo>
                    <a:pt x="186199" y="694"/>
                  </a:lnTo>
                  <a:lnTo>
                    <a:pt x="187424" y="1927"/>
                  </a:lnTo>
                  <a:lnTo>
                    <a:pt x="188674" y="3162"/>
                  </a:lnTo>
                  <a:lnTo>
                    <a:pt x="189349" y="4834"/>
                  </a:lnTo>
                  <a:lnTo>
                    <a:pt x="189349" y="6582"/>
                  </a:lnTo>
                  <a:lnTo>
                    <a:pt x="189349" y="10214"/>
                  </a:lnTo>
                  <a:lnTo>
                    <a:pt x="186399" y="13162"/>
                  </a:lnTo>
                  <a:lnTo>
                    <a:pt x="182774" y="13162"/>
                  </a:lnTo>
                  <a:lnTo>
                    <a:pt x="6574" y="13162"/>
                  </a:lnTo>
                  <a:lnTo>
                    <a:pt x="2949" y="13162"/>
                  </a:lnTo>
                  <a:lnTo>
                    <a:pt x="0" y="10214"/>
                  </a:lnTo>
                  <a:lnTo>
                    <a:pt x="0" y="658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2">
              <a:extLst>
                <a:ext uri="{FF2B5EF4-FFF2-40B4-BE49-F238E27FC236}">
                  <a16:creationId xmlns:a16="http://schemas.microsoft.com/office/drawing/2014/main" xmlns="" id="{7A4DC075-B91A-CC7E-E6B9-C5231280B619}"/>
                </a:ext>
              </a:extLst>
            </p:cNvPr>
            <p:cNvSpPr/>
            <p:nvPr/>
          </p:nvSpPr>
          <p:spPr>
            <a:xfrm>
              <a:off x="5501863" y="1397804"/>
              <a:ext cx="27940" cy="24130"/>
            </a:xfrm>
            <a:custGeom>
              <a:avLst/>
              <a:gdLst/>
              <a:ahLst/>
              <a:cxnLst/>
              <a:rect l="l" t="t" r="r" b="b"/>
              <a:pathLst>
                <a:path w="27939" h="24130">
                  <a:moveTo>
                    <a:pt x="21299" y="23754"/>
                  </a:moveTo>
                  <a:lnTo>
                    <a:pt x="6149" y="23754"/>
                  </a:lnTo>
                  <a:lnTo>
                    <a:pt x="0" y="18437"/>
                  </a:lnTo>
                  <a:lnTo>
                    <a:pt x="0" y="5317"/>
                  </a:lnTo>
                  <a:lnTo>
                    <a:pt x="6149" y="0"/>
                  </a:lnTo>
                  <a:lnTo>
                    <a:pt x="21299" y="0"/>
                  </a:lnTo>
                  <a:lnTo>
                    <a:pt x="27449" y="5317"/>
                  </a:lnTo>
                  <a:lnTo>
                    <a:pt x="27449" y="18437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3">
              <a:extLst>
                <a:ext uri="{FF2B5EF4-FFF2-40B4-BE49-F238E27FC236}">
                  <a16:creationId xmlns:a16="http://schemas.microsoft.com/office/drawing/2014/main" xmlns="" id="{60F0C5C1-D5C0-2FB3-087F-A61E8640A471}"/>
                </a:ext>
              </a:extLst>
            </p:cNvPr>
            <p:cNvSpPr/>
            <p:nvPr/>
          </p:nvSpPr>
          <p:spPr>
            <a:xfrm>
              <a:off x="5532864" y="1398927"/>
              <a:ext cx="28575" cy="22860"/>
            </a:xfrm>
            <a:custGeom>
              <a:avLst/>
              <a:gdLst/>
              <a:ahLst/>
              <a:cxnLst/>
              <a:rect l="l" t="t" r="r" b="b"/>
              <a:pathLst>
                <a:path w="28575" h="22859">
                  <a:moveTo>
                    <a:pt x="22124" y="22632"/>
                  </a:moveTo>
                  <a:lnTo>
                    <a:pt x="6374" y="22632"/>
                  </a:lnTo>
                  <a:lnTo>
                    <a:pt x="0" y="17564"/>
                  </a:lnTo>
                  <a:lnTo>
                    <a:pt x="0" y="5067"/>
                  </a:lnTo>
                  <a:lnTo>
                    <a:pt x="6374" y="0"/>
                  </a:lnTo>
                  <a:lnTo>
                    <a:pt x="22124" y="0"/>
                  </a:lnTo>
                  <a:lnTo>
                    <a:pt x="28499" y="5067"/>
                  </a:lnTo>
                  <a:lnTo>
                    <a:pt x="28499" y="175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4">
              <a:extLst>
                <a:ext uri="{FF2B5EF4-FFF2-40B4-BE49-F238E27FC236}">
                  <a16:creationId xmlns:a16="http://schemas.microsoft.com/office/drawing/2014/main" xmlns="" id="{40492856-4F63-E063-1A9E-C83E13D89D70}"/>
                </a:ext>
              </a:extLst>
            </p:cNvPr>
            <p:cNvSpPr/>
            <p:nvPr/>
          </p:nvSpPr>
          <p:spPr>
            <a:xfrm>
              <a:off x="5564913" y="1397804"/>
              <a:ext cx="27940" cy="22860"/>
            </a:xfrm>
            <a:custGeom>
              <a:avLst/>
              <a:gdLst/>
              <a:ahLst/>
              <a:cxnLst/>
              <a:rect l="l" t="t" r="r" b="b"/>
              <a:pathLst>
                <a:path w="27939" h="22859">
                  <a:moveTo>
                    <a:pt x="21324" y="22629"/>
                  </a:moveTo>
                  <a:lnTo>
                    <a:pt x="6149" y="22629"/>
                  </a:lnTo>
                  <a:lnTo>
                    <a:pt x="0" y="17564"/>
                  </a:lnTo>
                  <a:lnTo>
                    <a:pt x="0" y="5064"/>
                  </a:lnTo>
                  <a:lnTo>
                    <a:pt x="6149" y="0"/>
                  </a:lnTo>
                  <a:lnTo>
                    <a:pt x="21324" y="0"/>
                  </a:lnTo>
                  <a:lnTo>
                    <a:pt x="27449" y="5064"/>
                  </a:lnTo>
                  <a:lnTo>
                    <a:pt x="27449" y="17564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5">
              <a:extLst>
                <a:ext uri="{FF2B5EF4-FFF2-40B4-BE49-F238E27FC236}">
                  <a16:creationId xmlns:a16="http://schemas.microsoft.com/office/drawing/2014/main" xmlns="" id="{AF3688A8-876F-9DC4-47B7-C0CA74260BFF}"/>
                </a:ext>
              </a:extLst>
            </p:cNvPr>
            <p:cNvSpPr/>
            <p:nvPr/>
          </p:nvSpPr>
          <p:spPr>
            <a:xfrm>
              <a:off x="5635238" y="1310809"/>
              <a:ext cx="15875" cy="121920"/>
            </a:xfrm>
            <a:custGeom>
              <a:avLst/>
              <a:gdLst/>
              <a:ahLst/>
              <a:cxnLst/>
              <a:rect l="l" t="t" r="r" b="b"/>
              <a:pathLst>
                <a:path w="15875" h="121919">
                  <a:moveTo>
                    <a:pt x="15399" y="121502"/>
                  </a:moveTo>
                  <a:lnTo>
                    <a:pt x="0" y="121502"/>
                  </a:lnTo>
                  <a:lnTo>
                    <a:pt x="0" y="0"/>
                  </a:lnTo>
                  <a:lnTo>
                    <a:pt x="15399" y="0"/>
                  </a:lnTo>
                  <a:lnTo>
                    <a:pt x="15399" y="121502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6">
              <a:extLst>
                <a:ext uri="{FF2B5EF4-FFF2-40B4-BE49-F238E27FC236}">
                  <a16:creationId xmlns:a16="http://schemas.microsoft.com/office/drawing/2014/main" xmlns="" id="{EE178106-43CC-6158-924D-469023DB32AC}"/>
                </a:ext>
              </a:extLst>
            </p:cNvPr>
            <p:cNvSpPr/>
            <p:nvPr/>
          </p:nvSpPr>
          <p:spPr>
            <a:xfrm>
              <a:off x="5635238" y="1310809"/>
              <a:ext cx="15875" cy="121920"/>
            </a:xfrm>
            <a:custGeom>
              <a:avLst/>
              <a:gdLst/>
              <a:ahLst/>
              <a:cxnLst/>
              <a:rect l="l" t="t" r="r" b="b"/>
              <a:pathLst>
                <a:path w="15875" h="121919">
                  <a:moveTo>
                    <a:pt x="0" y="0"/>
                  </a:moveTo>
                  <a:lnTo>
                    <a:pt x="15399" y="0"/>
                  </a:lnTo>
                  <a:lnTo>
                    <a:pt x="15399" y="121502"/>
                  </a:lnTo>
                  <a:lnTo>
                    <a:pt x="0" y="1215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5" name="Picture 104">
            <a:extLst>
              <a:ext uri="{FF2B5EF4-FFF2-40B4-BE49-F238E27FC236}">
                <a16:creationId xmlns:a16="http://schemas.microsoft.com/office/drawing/2014/main" xmlns="" id="{C2FACD23-DC18-63D0-FD78-D51D87B1946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14888" y="1340566"/>
            <a:ext cx="4791744" cy="50299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25969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6C5C907-FF0D-2284-5408-9CCD41A1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CC3AF3D4-4474-B762-85F8-A7A03A9BE94F}"/>
              </a:ext>
            </a:extLst>
          </p:cNvPr>
          <p:cNvSpPr txBox="1">
            <a:spLocks/>
          </p:cNvSpPr>
          <p:nvPr/>
        </p:nvSpPr>
        <p:spPr>
          <a:xfrm>
            <a:off x="1981200" y="2677618"/>
            <a:ext cx="8229600" cy="1202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  <a:defRPr/>
            </a:pPr>
            <a:r>
              <a:rPr lang="en-US" sz="11000" dirty="0">
                <a:solidFill>
                  <a:schemeClr val="tx1"/>
                </a:solidFill>
                <a:latin typeface="Brush Script MT" panose="03060802040406070304" pitchFamily="66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25461152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FCAB33A-F716-08E3-5D0B-14667BFE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1083AF4-2AC1-BCA4-1D24-9D19A8735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24444" r="27368" b="15557"/>
          <a:stretch>
            <a:fillRect/>
          </a:stretch>
        </p:blipFill>
        <p:spPr>
          <a:xfrm>
            <a:off x="2948942" y="1899406"/>
            <a:ext cx="6850283" cy="3362142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83DFAEEB-2CE4-BC6E-563A-E2FA06913213}"/>
              </a:ext>
            </a:extLst>
          </p:cNvPr>
          <p:cNvSpPr txBox="1">
            <a:spLocks/>
          </p:cNvSpPr>
          <p:nvPr/>
        </p:nvSpPr>
        <p:spPr>
          <a:xfrm>
            <a:off x="1524000" y="695388"/>
            <a:ext cx="9144000" cy="5787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the session before leaving </a:t>
            </a:r>
          </a:p>
        </p:txBody>
      </p:sp>
    </p:spTree>
    <p:extLst>
      <p:ext uri="{BB962C8B-B14F-4D97-AF65-F5344CB8AC3E}">
        <p14:creationId xmlns:p14="http://schemas.microsoft.com/office/powerpoint/2010/main" val="15047055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002533A2C464CBD7F5B3D09DA59C7" ma:contentTypeVersion="28" ma:contentTypeDescription="Create a new document." ma:contentTypeScope="" ma:versionID="1685237c5012c7d90733e3feefc4a729">
  <xsd:schema xmlns:xsd="http://www.w3.org/2001/XMLSchema" xmlns:xs="http://www.w3.org/2001/XMLSchema" xmlns:p="http://schemas.microsoft.com/office/2006/metadata/properties" xmlns:ns2="6fdd37d2-8c27-4924-b2e6-c1d2ce638cc3" targetNamespace="http://schemas.microsoft.com/office/2006/metadata/properties" ma:root="true" ma:fieldsID="c68d5ebc5661ba923e8f5fcf6ca981fc" ns2:_="">
    <xsd:import namespace="6fdd37d2-8c27-4924-b2e6-c1d2ce638c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dd37d2-8c27-4924-b2e6-c1d2ce638c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as_Teacher_Only_SectionGroup xmlns="6fdd37d2-8c27-4924-b2e6-c1d2ce638cc3" xsi:nil="true"/>
    <NotebookType xmlns="6fdd37d2-8c27-4924-b2e6-c1d2ce638cc3" xsi:nil="true"/>
    <LMS_Mappings xmlns="6fdd37d2-8c27-4924-b2e6-c1d2ce638cc3" xsi:nil="true"/>
    <Teams_Channel_Section_Location xmlns="6fdd37d2-8c27-4924-b2e6-c1d2ce638cc3" xsi:nil="true"/>
    <FolderType xmlns="6fdd37d2-8c27-4924-b2e6-c1d2ce638cc3" xsi:nil="true"/>
    <CultureName xmlns="6fdd37d2-8c27-4924-b2e6-c1d2ce638cc3" xsi:nil="true"/>
    <Owner xmlns="6fdd37d2-8c27-4924-b2e6-c1d2ce638cc3">
      <UserInfo>
        <DisplayName/>
        <AccountId xsi:nil="true"/>
        <AccountType/>
      </UserInfo>
    </Owner>
    <Invited_Students xmlns="6fdd37d2-8c27-4924-b2e6-c1d2ce638cc3" xsi:nil="true"/>
    <Math_Settings xmlns="6fdd37d2-8c27-4924-b2e6-c1d2ce638cc3" xsi:nil="true"/>
    <Templates xmlns="6fdd37d2-8c27-4924-b2e6-c1d2ce638cc3" xsi:nil="true"/>
    <AppVersion xmlns="6fdd37d2-8c27-4924-b2e6-c1d2ce638cc3" xsi:nil="true"/>
    <Self_Registration_Enabled xmlns="6fdd37d2-8c27-4924-b2e6-c1d2ce638cc3" xsi:nil="true"/>
    <Distribution_Groups xmlns="6fdd37d2-8c27-4924-b2e6-c1d2ce638cc3" xsi:nil="true"/>
    <TeamsChannelId xmlns="6fdd37d2-8c27-4924-b2e6-c1d2ce638cc3" xsi:nil="true"/>
    <Invited_Teachers xmlns="6fdd37d2-8c27-4924-b2e6-c1d2ce638cc3" xsi:nil="true"/>
    <IsNotebookLocked xmlns="6fdd37d2-8c27-4924-b2e6-c1d2ce638cc3" xsi:nil="true"/>
    <Teachers xmlns="6fdd37d2-8c27-4924-b2e6-c1d2ce638cc3">
      <UserInfo>
        <DisplayName/>
        <AccountId xsi:nil="true"/>
        <AccountType/>
      </UserInfo>
    </Teachers>
    <Students xmlns="6fdd37d2-8c27-4924-b2e6-c1d2ce638cc3">
      <UserInfo>
        <DisplayName/>
        <AccountId xsi:nil="true"/>
        <AccountType/>
      </UserInfo>
    </Students>
    <Student_Groups xmlns="6fdd37d2-8c27-4924-b2e6-c1d2ce638cc3">
      <UserInfo>
        <DisplayName/>
        <AccountId xsi:nil="true"/>
        <AccountType/>
      </UserInfo>
    </Student_Groups>
    <DefaultSectionNames xmlns="6fdd37d2-8c27-4924-b2e6-c1d2ce638cc3" xsi:nil="true"/>
    <Is_Collaboration_Space_Locked xmlns="6fdd37d2-8c27-4924-b2e6-c1d2ce638cc3" xsi:nil="true"/>
  </documentManagement>
</p:properties>
</file>

<file path=customXml/itemProps1.xml><?xml version="1.0" encoding="utf-8"?>
<ds:datastoreItem xmlns:ds="http://schemas.openxmlformats.org/officeDocument/2006/customXml" ds:itemID="{A5C8910F-DCB9-4AD0-8C22-AFFE82508C3B}"/>
</file>

<file path=customXml/itemProps2.xml><?xml version="1.0" encoding="utf-8"?>
<ds:datastoreItem xmlns:ds="http://schemas.openxmlformats.org/officeDocument/2006/customXml" ds:itemID="{23C6159E-631E-42F3-8DC0-2AC4738834B6}"/>
</file>

<file path=customXml/itemProps3.xml><?xml version="1.0" encoding="utf-8"?>
<ds:datastoreItem xmlns:ds="http://schemas.openxmlformats.org/officeDocument/2006/customXml" ds:itemID="{711E124C-D40D-47AD-9E3A-08F20321F82F}"/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2651</Words>
  <Application>Microsoft Office PowerPoint</Application>
  <PresentationFormat>Widescreen</PresentationFormat>
  <Paragraphs>563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66" baseType="lpstr">
      <vt:lpstr>ＭＳ Ｐゴシック</vt:lpstr>
      <vt:lpstr>SimSun</vt:lpstr>
      <vt:lpstr>游ゴシック</vt:lpstr>
      <vt:lpstr>Arial</vt:lpstr>
      <vt:lpstr>Arial Narrow</vt:lpstr>
      <vt:lpstr>Brush Script MT</vt:lpstr>
      <vt:lpstr>Calibri</vt:lpstr>
      <vt:lpstr>Calibri Light</vt:lpstr>
      <vt:lpstr>Comic Sans MS</vt:lpstr>
      <vt:lpstr>Courier</vt:lpstr>
      <vt:lpstr>Courier New</vt:lpstr>
      <vt:lpstr>Courier Std</vt:lpstr>
      <vt:lpstr>Courier10PitchBT-Roman</vt:lpstr>
      <vt:lpstr>Helvetica</vt:lpstr>
      <vt:lpstr>MathematicalPi-One</vt:lpstr>
      <vt:lpstr>Symbol</vt:lpstr>
      <vt:lpstr>Tahoma</vt:lpstr>
      <vt:lpstr>Times New Roman</vt:lpstr>
      <vt:lpstr>Times-Bold</vt:lpstr>
      <vt:lpstr>Ubuntu</vt:lpstr>
      <vt:lpstr>Wingdings</vt:lpstr>
      <vt:lpstr>ZapfDingbats</vt:lpstr>
      <vt:lpstr>Office Theme</vt:lpstr>
      <vt:lpstr>1_Office Theme</vt:lpstr>
      <vt:lpstr>Computer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Animesh  Giri</dc:creator>
  <cp:lastModifiedBy>Prabhu S</cp:lastModifiedBy>
  <cp:revision>50</cp:revision>
  <dcterms:created xsi:type="dcterms:W3CDTF">2021-11-13T15:42:14Z</dcterms:created>
  <dcterms:modified xsi:type="dcterms:W3CDTF">2026-03-07T05:13:59Z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0x0101006F9002533A2C464CBD7F5B3D09DA59C7</vt:lpwstr>
  </property>
</Properties>
</file>